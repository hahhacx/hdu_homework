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charts/chart2.xml" ContentType="application/vnd.openxmlformats-officedocument.drawingml.chart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8" r:id="rId2"/>
    <p:sldId id="263" r:id="rId3"/>
    <p:sldId id="264" r:id="rId4"/>
    <p:sldId id="266" r:id="rId5"/>
    <p:sldId id="259" r:id="rId6"/>
    <p:sldId id="265" r:id="rId7"/>
    <p:sldId id="406" r:id="rId8"/>
    <p:sldId id="409" r:id="rId9"/>
    <p:sldId id="407" r:id="rId10"/>
    <p:sldId id="423" r:id="rId11"/>
    <p:sldId id="425" r:id="rId12"/>
    <p:sldId id="424" r:id="rId13"/>
    <p:sldId id="413" r:id="rId14"/>
    <p:sldId id="426" r:id="rId15"/>
    <p:sldId id="428" r:id="rId16"/>
    <p:sldId id="41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211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8" orient="horz" pos="2170" userDrawn="1">
          <p15:clr>
            <a:srgbClr val="F26B43"/>
          </p15:clr>
        </p15:guide>
        <p15:guide id="9" pos="3837" userDrawn="1">
          <p15:clr>
            <a:srgbClr val="F26B43"/>
          </p15:clr>
        </p15:guide>
        <p15:guide id="10" orient="horz" pos="2704" userDrawn="1">
          <p15:clr>
            <a:srgbClr val="A4A3A4"/>
          </p15:clr>
        </p15:guide>
        <p15:guide id="12" orient="horz" pos="4110" userDrawn="1">
          <p15:clr>
            <a:srgbClr val="A4A3A4"/>
          </p15:clr>
        </p15:guide>
        <p15:guide id="13" pos="665" userDrawn="1">
          <p15:clr>
            <a:srgbClr val="A4A3A4"/>
          </p15:clr>
        </p15:guide>
        <p15:guide id="17" pos="7015" userDrawn="1">
          <p15:clr>
            <a:srgbClr val="A4A3A4"/>
          </p15:clr>
        </p15:guide>
        <p15:guide id="18" pos="3069" userDrawn="1">
          <p15:clr>
            <a:srgbClr val="A4A3A4"/>
          </p15:clr>
        </p15:guide>
        <p15:guide id="19" pos="98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213" initials="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9FD3"/>
    <a:srgbClr val="8EB4E3"/>
    <a:srgbClr val="3E93D1"/>
    <a:srgbClr val="4696D3"/>
    <a:srgbClr val="BFBFBF"/>
    <a:srgbClr val="F3F5F9"/>
    <a:srgbClr val="747474"/>
    <a:srgbClr val="4D77AC"/>
    <a:srgbClr val="3470AB"/>
    <a:srgbClr val="5DA3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3" autoAdjust="0"/>
  </p:normalViewPr>
  <p:slideViewPr>
    <p:cSldViewPr showGuides="1">
      <p:cViewPr varScale="1">
        <p:scale>
          <a:sx n="113" d="100"/>
          <a:sy n="113" d="100"/>
        </p:scale>
        <p:origin x="510" y="108"/>
      </p:cViewPr>
      <p:guideLst>
        <p:guide pos="211"/>
        <p:guide pos="7469"/>
        <p:guide orient="horz" pos="2170"/>
        <p:guide pos="3837"/>
        <p:guide orient="horz" pos="2704"/>
        <p:guide orient="horz" pos="4110"/>
        <p:guide pos="665"/>
        <p:guide pos="7015"/>
        <p:guide pos="3069"/>
        <p:guide pos="9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860" b="0" i="0" u="none" strike="noStrike" baseline="0"/>
              <a:t>老年人社交联系频率统计</a:t>
            </a:r>
            <a:endParaRPr lang="zh-C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每天至少1次</c:v>
                </c:pt>
              </c:strCache>
            </c:strRef>
          </c:tx>
          <c:spPr>
            <a:solidFill>
              <a:schemeClr val="accent1">
                <a:shade val="53000"/>
              </a:schemeClr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C7C4-44E9-B637-FD3C01925FE3}"/>
              </c:ext>
            </c:extLst>
          </c:dPt>
          <c:cat>
            <c:strRef>
              <c:f>Sheet1!$A$2:$A$4</c:f>
              <c:strCache>
                <c:ptCount val="1"/>
                <c:pt idx="0">
                  <c:v>联系频率（每周）/占比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C4-44E9-B637-FD3C01925F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每周2~3次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1"/>
                <c:pt idx="0">
                  <c:v>联系频率（每周）/占比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1"/>
                <c:pt idx="0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7C4-44E9-B637-FD3C01925FE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每周1次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1"/>
                <c:pt idx="0">
                  <c:v>联系频率（每周）/占比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7C4-44E9-B637-FD3C01925FE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每月1次或更少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1"/>
                <c:pt idx="0">
                  <c:v>联系频率（每周）/占比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1"/>
                <c:pt idx="0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7C4-44E9-B637-FD3C01925FE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基本无联系</c:v>
                </c:pt>
              </c:strCache>
            </c:strRef>
          </c:tx>
          <c:spPr>
            <a:solidFill>
              <a:schemeClr val="accent1">
                <a:tint val="54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1"/>
                <c:pt idx="0">
                  <c:v>联系频率（每周）/占比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7C4-44E9-B637-FD3C01925F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6100864"/>
        <c:axId val="186101256"/>
      </c:barChart>
      <c:catAx>
        <c:axId val="186100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6101256"/>
        <c:crosses val="autoZero"/>
        <c:auto val="1"/>
        <c:lblAlgn val="ctr"/>
        <c:lblOffset val="100"/>
        <c:noMultiLvlLbl val="0"/>
      </c:catAx>
      <c:valAx>
        <c:axId val="186101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6100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a89dbfc-3a57-46d4-89d9-ec239aa32fbc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57150">
              <a:solidFill>
                <a:schemeClr val="bg1"/>
              </a:solidFill>
            </a:ln>
            <a:effectLst>
              <a:outerShdw blurRad="254000" dist="88900" dir="11520000" sx="108000" sy="108000" algn="tl" rotWithShape="0">
                <a:prstClr val="black">
                  <a:alpha val="10000"/>
                </a:prstClr>
              </a:outerShdw>
            </a:effectLst>
          </c:spPr>
          <c:dPt>
            <c:idx val="0"/>
            <c:bubble3D val="0"/>
            <c:spPr>
              <a:solidFill>
                <a:srgbClr val="3E93D1"/>
              </a:solidFill>
              <a:ln w="57150">
                <a:solidFill>
                  <a:schemeClr val="bg1"/>
                </a:solidFill>
              </a:ln>
              <a:effectLst>
                <a:outerShdw blurRad="254000" dist="88900" dir="11520000" sx="108000" sy="108000" algn="tl" rotWithShape="0">
                  <a:prstClr val="black">
                    <a:alpha val="1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512-496B-A41B-F7CABF69913D}"/>
              </c:ext>
            </c:extLst>
          </c:dPt>
          <c:dPt>
            <c:idx val="1"/>
            <c:bubble3D val="0"/>
            <c:spPr>
              <a:solidFill>
                <a:srgbClr val="8EB4E3"/>
              </a:solidFill>
              <a:ln w="57150">
                <a:solidFill>
                  <a:schemeClr val="bg1"/>
                </a:solidFill>
              </a:ln>
              <a:effectLst>
                <a:outerShdw blurRad="254000" dist="88900" dir="11520000" sx="108000" sy="108000" algn="tl" rotWithShape="0">
                  <a:prstClr val="black">
                    <a:alpha val="1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512-496B-A41B-F7CABF69913D}"/>
              </c:ext>
            </c:extLst>
          </c:dPt>
          <c:dPt>
            <c:idx val="2"/>
            <c:bubble3D val="0"/>
            <c:spPr>
              <a:solidFill>
                <a:srgbClr val="C6D9F1"/>
              </a:solidFill>
              <a:ln w="57150">
                <a:solidFill>
                  <a:schemeClr val="bg1"/>
                </a:solidFill>
              </a:ln>
              <a:effectLst>
                <a:outerShdw blurRad="254000" dist="88900" dir="11520000" sx="108000" sy="108000" algn="tl" rotWithShape="0">
                  <a:prstClr val="black">
                    <a:alpha val="1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F512-496B-A41B-F7CABF69913D}"/>
              </c:ext>
            </c:extLst>
          </c:dPt>
          <c:dPt>
            <c:idx val="3"/>
            <c:bubble3D val="0"/>
            <c:spPr>
              <a:solidFill>
                <a:schemeClr val="bg1">
                  <a:lumMod val="75000"/>
                </a:schemeClr>
              </a:solidFill>
              <a:ln w="57150">
                <a:solidFill>
                  <a:schemeClr val="bg1"/>
                </a:solidFill>
              </a:ln>
              <a:effectLst>
                <a:outerShdw blurRad="254000" dist="88900" dir="11520000" sx="108000" sy="108000" algn="tl" rotWithShape="0">
                  <a:prstClr val="black">
                    <a:alpha val="1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F512-496B-A41B-F7CABF69913D}"/>
              </c:ext>
            </c:extLst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3.2</c:v>
                </c:pt>
                <c:pt idx="1">
                  <c:v>6.2</c:v>
                </c:pt>
                <c:pt idx="2">
                  <c:v>2.2999999999999998</c:v>
                </c:pt>
                <c:pt idx="3">
                  <c:v>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512-496B-A41B-F7CABF6991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13386d6-f22a-4f78-8f6b-c1542bc79e88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77AE1-5E91-4E1A-9D8E-4B4F7E821279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E9F65-62EF-4111-9AB1-BF2C5B0B80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E9F65-62EF-4111-9AB1-BF2C5B0B803F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10.png"/><Relationship Id="rId2" Type="http://schemas.openxmlformats.org/officeDocument/2006/relationships/tags" Target="../tags/tag2.xml"/><Relationship Id="rId16" Type="http://schemas.openxmlformats.org/officeDocument/2006/relationships/chart" Target="../charts/chart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3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3" Type="http://schemas.openxmlformats.org/officeDocument/2006/relationships/tags" Target="../tags/tag17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21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0" Type="http://schemas.openxmlformats.org/officeDocument/2006/relationships/tags" Target="../tags/tag34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5" Type="http://schemas.openxmlformats.org/officeDocument/2006/relationships/tags" Target="../tags/tag19.xml"/><Relationship Id="rId15" Type="http://schemas.openxmlformats.org/officeDocument/2006/relationships/tags" Target="../tags/tag29.xml"/><Relationship Id="rId10" Type="http://schemas.openxmlformats.org/officeDocument/2006/relationships/tags" Target="../tags/tag24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rgbClr val="0F6FC6">
                <a:alpha val="0"/>
              </a:srgbClr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97"/>
          <a:stretch>
            <a:fillRect/>
          </a:stretch>
        </p:blipFill>
        <p:spPr>
          <a:xfrm>
            <a:off x="0" y="-1"/>
            <a:ext cx="12202375" cy="6858001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20092" y="16272"/>
            <a:ext cx="12222467" cy="6858001"/>
          </a:xfrm>
          <a:prstGeom prst="rect">
            <a:avLst/>
          </a:prstGeom>
          <a:gradFill flip="none" rotWithShape="1">
            <a:gsLst>
              <a:gs pos="76000">
                <a:schemeClr val="bg1">
                  <a:alpha val="0"/>
                </a:schemeClr>
              </a:gs>
              <a:gs pos="39000">
                <a:srgbClr val="80B8E0">
                  <a:alpha val="96000"/>
                </a:srgbClr>
              </a:gs>
              <a:gs pos="0">
                <a:srgbClr val="0070C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948616" y="1345180"/>
            <a:ext cx="3090862" cy="0"/>
          </a:xfrm>
          <a:prstGeom prst="line">
            <a:avLst/>
          </a:prstGeom>
          <a:noFill/>
          <a:ln w="34925" cap="sq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7" name="直接连接符 6"/>
          <p:cNvCxnSpPr/>
          <p:nvPr/>
        </p:nvCxnSpPr>
        <p:spPr>
          <a:xfrm>
            <a:off x="948616" y="1345180"/>
            <a:ext cx="0" cy="4028508"/>
          </a:xfrm>
          <a:prstGeom prst="line">
            <a:avLst/>
          </a:prstGeom>
          <a:ln w="34925" cap="sq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948616" y="5373688"/>
            <a:ext cx="3090862" cy="0"/>
          </a:xfrm>
          <a:prstGeom prst="line">
            <a:avLst/>
          </a:prstGeom>
          <a:ln w="34925" cap="sq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039478" y="1345180"/>
            <a:ext cx="0" cy="1231879"/>
          </a:xfrm>
          <a:prstGeom prst="line">
            <a:avLst/>
          </a:prstGeom>
          <a:ln w="34925" cap="sq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039478" y="4061000"/>
            <a:ext cx="0" cy="1312688"/>
          </a:xfrm>
          <a:prstGeom prst="line">
            <a:avLst/>
          </a:prstGeom>
          <a:ln w="34925" cap="sq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968709" y="1515791"/>
            <a:ext cx="29670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>
                <a:solidFill>
                  <a:schemeClr val="bg1"/>
                </a:solidFill>
                <a:effectLst>
                  <a:outerShdw dist="38100" dir="2700000" algn="tl">
                    <a:srgbClr val="000000">
                      <a:alpha val="10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老友智联</a:t>
            </a:r>
            <a:endParaRPr lang="zh-CN" altLang="en-US" sz="5400" dirty="0">
              <a:solidFill>
                <a:schemeClr val="bg1"/>
              </a:solidFill>
              <a:effectLst>
                <a:outerShdw dist="38100" dir="2700000" algn="tl">
                  <a:srgbClr val="000000">
                    <a:alpha val="10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87487" y="2099533"/>
            <a:ext cx="203584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45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10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87487" y="3632388"/>
            <a:ext cx="5325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en-US" altLang="zh-CN" sz="160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Gen Jyuu Gothic Heavy" panose="020B0702020203020207" pitchFamily="34" charset="-128"/>
                <a:sym typeface="Segoe UI" panose="020B0502040204020203" pitchFamily="34" charset="0"/>
              </a:rPr>
              <a:t>Old Friend Smart Connect · Smart Glasses</a:t>
            </a:r>
            <a:endParaRPr lang="zh-CN" altLang="en-US" sz="1600" dirty="0">
              <a:solidFill>
                <a:prstClr val="whit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cs typeface="Gen Jyuu Gothic Heavy" panose="020B0702020203020207" pitchFamily="34" charset="-128"/>
              <a:sym typeface="Segoe UI" panose="020B0502040204020203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64419" y="4305154"/>
            <a:ext cx="1463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000" dirty="0">
                <a:solidFill>
                  <a:prstClr val="whit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Gen Jyuu Gothic Heavy" panose="020B0702020203020207" pitchFamily="34" charset="-128"/>
                <a:sym typeface="Segoe UI" panose="020B0502040204020203" pitchFamily="34" charset="0"/>
              </a:rPr>
              <a:t>汇报</a:t>
            </a:r>
            <a:r>
              <a:rPr lang="zh-CN" altLang="en-US" sz="2000">
                <a:solidFill>
                  <a:prstClr val="whit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Gen Jyuu Gothic Heavy" panose="020B0702020203020207" pitchFamily="34" charset="-128"/>
                <a:sym typeface="Segoe UI" panose="020B0502040204020203" pitchFamily="34" charset="0"/>
              </a:rPr>
              <a:t>人：</a:t>
            </a:r>
            <a:endParaRPr lang="zh-CN" altLang="en-US" sz="2000" dirty="0">
              <a:solidFill>
                <a:prstClr val="white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Gen Jyuu Gothic Heavy" panose="020B0702020203020207" pitchFamily="34" charset="-128"/>
              <a:sym typeface="Segoe UI" panose="020B0502040204020203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48378" y="2557956"/>
            <a:ext cx="4290938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>
                <a:solidFill>
                  <a:schemeClr val="bg1"/>
                </a:solidFill>
                <a:effectLst>
                  <a:outerShdw dist="38100" dir="2700000" algn="tl">
                    <a:srgbClr val="000000">
                      <a:alpha val="10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智能眼镜</a:t>
            </a:r>
            <a:endParaRPr lang="zh-CN" altLang="en-US" sz="5400" dirty="0">
              <a:solidFill>
                <a:schemeClr val="bg1"/>
              </a:solidFill>
              <a:effectLst>
                <a:outerShdw dist="38100" dir="2700000" algn="tl">
                  <a:srgbClr val="000000">
                    <a:alpha val="10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rgbClr val="0F6FC6">
                <a:alpha val="0"/>
              </a:srgbClr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蓝色的天空和建筑&#10;&#10;描述已自动生成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6177"/>
          <a:stretch>
            <a:fillRect/>
          </a:stretch>
        </p:blipFill>
        <p:spPr>
          <a:xfrm>
            <a:off x="10368" y="0"/>
            <a:ext cx="12272292" cy="685800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 flipH="1">
            <a:off x="-11367" y="0"/>
            <a:ext cx="12222467" cy="6858001"/>
          </a:xfrm>
          <a:prstGeom prst="rect">
            <a:avLst/>
          </a:prstGeom>
          <a:gradFill flip="none" rotWithShape="1">
            <a:gsLst>
              <a:gs pos="100000">
                <a:srgbClr val="80B8E0">
                  <a:alpha val="96000"/>
                </a:srgbClr>
              </a:gs>
              <a:gs pos="0">
                <a:srgbClr val="0070C0">
                  <a:alpha val="7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012183" y="788928"/>
            <a:ext cx="2167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10000"/>
                    </a:srgb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目录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050507" y="1722716"/>
            <a:ext cx="2090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en-US" altLang="zh-CN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10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CONTENTS</a:t>
            </a:r>
            <a:endParaRPr lang="zh-CN" altLang="en-US" sz="20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10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51384" y="2700953"/>
            <a:ext cx="2511053" cy="316835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3400829" y="2700953"/>
            <a:ext cx="2511053" cy="316835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250274" y="2700953"/>
            <a:ext cx="2511053" cy="316835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9099720" y="2700953"/>
            <a:ext cx="2511053" cy="316835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209764" y="2904076"/>
            <a:ext cx="11942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en-US" altLang="zh-CN" sz="9000" dirty="0">
                <a:solidFill>
                  <a:schemeClr val="l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1</a:t>
            </a:r>
            <a:endParaRPr lang="zh-CN" altLang="en-US" sz="9000" dirty="0">
              <a:solidFill>
                <a:schemeClr val="lt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059209" y="2904076"/>
            <a:ext cx="11942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en-US" altLang="zh-CN" sz="9000" dirty="0">
                <a:solidFill>
                  <a:schemeClr val="l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2</a:t>
            </a:r>
            <a:endParaRPr lang="zh-CN" altLang="en-US" sz="9000" dirty="0">
              <a:solidFill>
                <a:schemeClr val="lt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908654" y="2904076"/>
            <a:ext cx="11942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en-US" altLang="zh-CN" sz="9000" dirty="0">
                <a:solidFill>
                  <a:schemeClr val="l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3</a:t>
            </a:r>
            <a:endParaRPr lang="zh-CN" altLang="en-US" sz="9000" dirty="0">
              <a:solidFill>
                <a:schemeClr val="lt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758100" y="2904076"/>
            <a:ext cx="11942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en-US" altLang="zh-CN" sz="9000" dirty="0">
                <a:solidFill>
                  <a:schemeClr val="l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4</a:t>
            </a:r>
            <a:endParaRPr lang="zh-CN" altLang="en-US" sz="9000" dirty="0">
              <a:solidFill>
                <a:schemeClr val="lt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829288" y="4328266"/>
            <a:ext cx="1944216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849731" y="5602055"/>
            <a:ext cx="1944216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3684247" y="4328266"/>
            <a:ext cx="1944216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3684247" y="5602055"/>
            <a:ext cx="1944216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6533692" y="4328266"/>
            <a:ext cx="1944216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6533692" y="5593627"/>
            <a:ext cx="1944216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9398041" y="4328266"/>
            <a:ext cx="1944216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9387174" y="5602055"/>
            <a:ext cx="1944216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712201" y="4629710"/>
            <a:ext cx="22192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en-US" altLang="zh-CN" sz="200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The problem of social silos</a:t>
            </a:r>
            <a:endParaRPr lang="en-US" altLang="zh-CN" sz="2000" dirty="0">
              <a:solidFill>
                <a:prstClr val="whit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546717" y="4635541"/>
            <a:ext cx="22491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en-US" altLang="zh-CN" sz="200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AI smart glasses solution</a:t>
            </a:r>
            <a:endParaRPr lang="en-US" altLang="zh-CN" sz="2000" dirty="0">
              <a:solidFill>
                <a:prstClr val="whit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396162" y="4635208"/>
            <a:ext cx="22192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en-US" altLang="zh-CN" sz="200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Four core functions</a:t>
            </a:r>
            <a:endParaRPr lang="en-US" altLang="zh-CN" sz="2000" dirty="0">
              <a:solidFill>
                <a:prstClr val="whit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9258838" y="4644091"/>
            <a:ext cx="22414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00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User value and elderly-friendly design</a:t>
            </a:r>
            <a:endParaRPr lang="en-US" altLang="zh-CN" sz="2000" dirty="0">
              <a:solidFill>
                <a:prstClr val="whit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rgbClr val="0F6FC6">
                <a:alpha val="0"/>
              </a:srgbClr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蓝色的天空和建筑&#10;&#10;描述已自动生成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6177"/>
          <a:stretch>
            <a:fillRect/>
          </a:stretch>
        </p:blipFill>
        <p:spPr>
          <a:xfrm>
            <a:off x="10368" y="0"/>
            <a:ext cx="12272292" cy="685800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 flipH="1">
            <a:off x="-11367" y="0"/>
            <a:ext cx="12222467" cy="6858001"/>
          </a:xfrm>
          <a:prstGeom prst="rect">
            <a:avLst/>
          </a:prstGeom>
          <a:gradFill flip="none" rotWithShape="1">
            <a:gsLst>
              <a:gs pos="100000">
                <a:srgbClr val="80B8E0">
                  <a:alpha val="96000"/>
                </a:srgbClr>
              </a:gs>
              <a:gs pos="0">
                <a:srgbClr val="0070C0">
                  <a:alpha val="7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5818714" y="3140968"/>
            <a:ext cx="55457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3863752" y="3450787"/>
            <a:ext cx="42476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en-US" altLang="zh-CN" sz="320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The problem of social silos</a:t>
            </a:r>
            <a:endParaRPr lang="en-US" altLang="zh-CN" sz="3200" dirty="0">
              <a:solidFill>
                <a:prstClr val="whit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421813" y="1684084"/>
            <a:ext cx="33483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Part 1</a:t>
            </a:r>
          </a:p>
        </p:txBody>
      </p:sp>
      <p:sp>
        <p:nvSpPr>
          <p:cNvPr id="51" name="矩形 50"/>
          <p:cNvSpPr/>
          <p:nvPr/>
        </p:nvSpPr>
        <p:spPr>
          <a:xfrm>
            <a:off x="3539716" y="1412776"/>
            <a:ext cx="5112569" cy="403244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14"/>
          <p:cNvGraphicFramePr/>
          <p:nvPr/>
        </p:nvGraphicFramePr>
        <p:xfrm>
          <a:off x="465318" y="1824494"/>
          <a:ext cx="5604683" cy="3965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矩形 32"/>
          <p:cNvSpPr/>
          <p:nvPr/>
        </p:nvSpPr>
        <p:spPr>
          <a:xfrm>
            <a:off x="561722" y="1259152"/>
            <a:ext cx="11626275" cy="52209"/>
          </a:xfrm>
          <a:prstGeom prst="rect">
            <a:avLst/>
          </a:prstGeom>
          <a:solidFill>
            <a:srgbClr val="3E9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726418" y="351874"/>
            <a:ext cx="75525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/>
              <a:t>The ‘Isolation Moments’ of the Elderly: An Overlooked Social Crisis.</a:t>
            </a:r>
            <a:endParaRPr lang="zh-CN" altLang="en-US" sz="2800" b="1" dirty="0">
              <a:solidFill>
                <a:srgbClr val="3B90D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20032" y="1159232"/>
            <a:ext cx="406386" cy="518758"/>
          </a:xfrm>
          <a:prstGeom prst="rect">
            <a:avLst/>
          </a:prstGeom>
          <a:solidFill>
            <a:srgbClr val="9BC3E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119519" y="881669"/>
            <a:ext cx="483378" cy="617040"/>
          </a:xfrm>
          <a:prstGeom prst="rect">
            <a:avLst/>
          </a:prstGeom>
          <a:solidFill>
            <a:srgbClr val="3E93D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143735" y="3769185"/>
            <a:ext cx="1152128" cy="36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12</a:t>
            </a:r>
            <a:endParaRPr lang="en-US" altLang="zh-CN" sz="1600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691595" y="2472642"/>
            <a:ext cx="1152128" cy="36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28</a:t>
            </a:r>
            <a:endParaRPr lang="en-US" altLang="zh-CN" sz="1600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219640" y="3792100"/>
            <a:ext cx="1152128" cy="36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12</a:t>
            </a:r>
            <a:endParaRPr lang="en-US" altLang="zh-CN" sz="1600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206721" y="2276179"/>
            <a:ext cx="1152128" cy="36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30</a:t>
            </a:r>
            <a:endParaRPr lang="en-US" altLang="zh-CN" sz="1600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613490" y="3256052"/>
            <a:ext cx="1152128" cy="36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18</a:t>
            </a:r>
            <a:endParaRPr lang="en-US" altLang="zh-CN" sz="1600" dirty="0"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062773" y="2352165"/>
            <a:ext cx="604704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buFont typeface="+mj-lt"/>
              <a:buAutoNum type="arabicPeriod"/>
            </a:pPr>
            <a:r>
              <a:rPr lang="en-US" altLang="zh-CN" sz="1400" b="1"/>
              <a:t>Living Alone, Feeling Lonely: A Stark Reality</a:t>
            </a:r>
            <a:br>
              <a:rPr lang="en-US" altLang="zh-CN" sz="1400"/>
            </a:br>
            <a:r>
              <a:rPr lang="en-US" altLang="zh-CN" sz="1400"/>
              <a:t>In China, over </a:t>
            </a:r>
            <a:r>
              <a:rPr lang="en-US" altLang="zh-CN" sz="1400" b="1"/>
              <a:t>10%</a:t>
            </a:r>
            <a:r>
              <a:rPr lang="en-US" altLang="zh-CN" sz="1400"/>
              <a:t> of elderly people live alone. More alarmingly, nearly </a:t>
            </a:r>
            <a:r>
              <a:rPr lang="en-US" altLang="zh-CN" sz="1400" b="1"/>
              <a:t>80%</a:t>
            </a:r>
            <a:r>
              <a:rPr lang="en-US" altLang="zh-CN" sz="1400"/>
              <a:t> of them connect with family </a:t>
            </a:r>
            <a:r>
              <a:rPr lang="en-US" altLang="zh-CN" sz="1400" b="1"/>
              <a:t>less than once a week</a:t>
            </a:r>
            <a:r>
              <a:rPr lang="en-US" altLang="zh-CN" sz="1400"/>
              <a:t>.</a:t>
            </a:r>
          </a:p>
          <a:p>
            <a:pPr>
              <a:buFont typeface="+mj-lt"/>
              <a:buAutoNum type="arabicPeriod"/>
            </a:pPr>
            <a:r>
              <a:rPr lang="en-US" altLang="zh-CN" sz="1400" b="1"/>
              <a:t>The Digital Divide Deepens Social Isolation</a:t>
            </a:r>
            <a:br>
              <a:rPr lang="en-US" altLang="zh-CN" sz="1400"/>
            </a:br>
            <a:r>
              <a:rPr lang="en-US" altLang="zh-CN" sz="1400"/>
              <a:t>Smartphones and social apps, originally meant to bring people closer, have become barriers: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400"/>
              <a:t>Complex interfaces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400"/>
              <a:t>Small 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400"/>
              <a:t>Complicated steps</a:t>
            </a:r>
            <a:br>
              <a:rPr lang="en-US" altLang="zh-CN" sz="1400"/>
            </a:br>
            <a:r>
              <a:rPr lang="en-US" altLang="zh-CN" sz="1400"/>
              <a:t>Many seniors say: </a:t>
            </a:r>
            <a:r>
              <a:rPr lang="en-US" altLang="zh-CN" sz="1400" i="1"/>
              <a:t>"I’m afraid to press the wrong button, so I don’t touch it."</a:t>
            </a:r>
            <a:endParaRPr lang="en-US" altLang="zh-CN" sz="1400"/>
          </a:p>
          <a:p>
            <a:pPr>
              <a:buFont typeface="+mj-lt"/>
              <a:buAutoNum type="arabicPeriod" startAt="3"/>
            </a:pPr>
            <a:r>
              <a:rPr lang="en-US" altLang="zh-CN" sz="1400" b="1"/>
              <a:t>Psychological Withdrawal Makes Socializing Harder</a:t>
            </a:r>
            <a:br>
              <a:rPr lang="en-US" altLang="zh-CN" sz="1400"/>
            </a:br>
            <a:r>
              <a:rPr lang="en-US" altLang="zh-CN" sz="1400"/>
              <a:t>Aging often comes with </a:t>
            </a:r>
            <a:r>
              <a:rPr lang="en-US" altLang="zh-CN" sz="1400" b="1"/>
              <a:t>self-marginalization</a:t>
            </a:r>
            <a:r>
              <a:rPr lang="en-US" altLang="zh-CN" sz="140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400"/>
              <a:t>Fear of disturbing others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400"/>
              <a:t>Fear of rejection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400"/>
              <a:t>Wanting to speak, but not knowing how</a:t>
            </a:r>
          </a:p>
          <a:p>
            <a:pPr>
              <a:buFont typeface="+mj-lt"/>
              <a:buAutoNum type="arabicPeriod" startAt="4"/>
            </a:pPr>
            <a:r>
              <a:rPr lang="en-US" altLang="zh-CN" sz="1400" b="1"/>
              <a:t>Declining Social Life Hurts Mental and Physical Health</a:t>
            </a:r>
            <a:br>
              <a:rPr lang="en-US" altLang="zh-CN" sz="1400"/>
            </a:br>
            <a:r>
              <a:rPr lang="en-US" altLang="zh-CN" sz="1400"/>
              <a:t>Lack of social interaction greatly increases the risk of </a:t>
            </a:r>
            <a:r>
              <a:rPr lang="en-US" altLang="zh-CN" sz="1400" b="1"/>
              <a:t>depression, anxiety</a:t>
            </a:r>
            <a:r>
              <a:rPr lang="en-US" altLang="zh-CN" sz="1400"/>
              <a:t>, and </a:t>
            </a:r>
            <a:r>
              <a:rPr lang="en-US" altLang="zh-CN" sz="1400" b="1"/>
              <a:t>cognitive decline</a:t>
            </a:r>
            <a:r>
              <a:rPr lang="en-US" altLang="zh-CN" sz="1400"/>
              <a:t> (such as Alzheimer’s).</a:t>
            </a:r>
            <a:br>
              <a:rPr lang="en-US" altLang="zh-CN" sz="1400"/>
            </a:br>
            <a:r>
              <a:rPr lang="en-US" altLang="zh-CN" sz="1400"/>
              <a:t>According to </a:t>
            </a:r>
            <a:r>
              <a:rPr lang="en-US" altLang="zh-CN" sz="1400" i="1"/>
              <a:t>The Lancet</a:t>
            </a:r>
            <a:r>
              <a:rPr lang="en-US" altLang="zh-CN" sz="1400"/>
              <a:t>, loneliness is one of the </a:t>
            </a:r>
            <a:r>
              <a:rPr lang="en-US" altLang="zh-CN" sz="1400" b="1"/>
              <a:t>independent risk factors</a:t>
            </a:r>
            <a:r>
              <a:rPr lang="en-US" altLang="zh-CN" sz="1400"/>
              <a:t> for dementia in the elderly.</a:t>
            </a:r>
          </a:p>
        </p:txBody>
      </p:sp>
      <p:pic>
        <p:nvPicPr>
          <p:cNvPr id="27" name="Picture 2" descr="近1.2亿独居和空巢老人 如何不让他们成为“被人遗忘的孤岛”|养老|独居老人|空巢老人_新浪新闻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325" y="17765"/>
            <a:ext cx="3243672" cy="2282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蓝色的天空和建筑&#10;&#10;描述已自动生成"/>
          <p:cNvPicPr>
            <a:picLocks noChangeAspect="1"/>
          </p:cNvPicPr>
          <p:nvPr/>
        </p:nvPicPr>
        <p:blipFill rotWithShape="1">
          <a:blip r:embed="rId2" cstate="print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904" b="99455" l="23254" r="77352">
                        <a14:foregroundMark x1="65644" y1="41127" x2="66855" y2="99576"/>
                        <a14:foregroundMark x1="73880" y1="76741" x2="68833" y2="83343"/>
                        <a14:foregroundMark x1="76827" y1="93882" x2="77432" y2="98667"/>
                        <a14:foregroundMark x1="54824" y1="13689" x2="51151" y2="12962"/>
                        <a14:foregroundMark x1="55672" y1="14779" x2="51312" y2="12538"/>
                        <a14:foregroundMark x1="51312" y1="12538" x2="51272" y2="12538"/>
                        <a14:foregroundMark x1="55430" y1="13870" x2="50747" y2="12174"/>
                        <a14:foregroundMark x1="50747" y1="12174" x2="50666" y2="12174"/>
                        <a14:foregroundMark x1="53613" y1="13144" x2="53371" y2="14416"/>
                        <a14:foregroundMark x1="54945" y1="13325" x2="51029" y2="12174"/>
                        <a14:foregroundMark x1="57689" y1="14227" x2="46225" y2="9267"/>
                        <a14:foregroundMark x1="58584" y1="15479" x2="47315" y2="11266"/>
                        <a14:foregroundMark x1="58547" y1="15378" x2="48930" y2="11811"/>
                        <a14:foregroundMark x1="55430" y1="13325" x2="48930" y2="10539"/>
                        <a14:foregroundMark x1="47869" y1="9261" x2="46430" y2="9362"/>
                        <a14:foregroundMark x1="41833" y1="19078" x2="41542" y2="19746"/>
                        <a14:foregroundMark x1="47852" y1="9218" x2="45531" y2="8891"/>
                        <a14:foregroundMark x1="47820" y1="9138" x2="45694" y2="9240"/>
                        <a14:backgroundMark x1="59507" y1="15142" x2="55067" y2="11266"/>
                        <a14:backgroundMark x1="55067" y1="11266" x2="48809" y2="9085"/>
                        <a14:backgroundMark x1="48930" y1="9267" x2="47800" y2="9085"/>
                        <a14:backgroundMark x1="45499" y1="9631" x2="43359" y2="16657"/>
                        <a14:backgroundMark x1="43359" y1="16657" x2="42673" y2="17747"/>
                        <a14:backgroundMark x1="45741" y1="9085" x2="45377" y2="9994"/>
                        <a14:backgroundMark x1="45620" y1="9085" x2="44974" y2="9267"/>
                        <a14:backgroundMark x1="43036" y1="19382" x2="41179" y2="18292"/>
                        <a14:backgroundMark x1="44732" y1="10539" x2="44853" y2="9631"/>
                        <a14:backgroundMark x1="45862" y1="9085" x2="45135" y2="9449"/>
                        <a14:backgroundMark x1="42915" y1="17565" x2="41663" y2="18474"/>
                        <a14:backgroundMark x1="45741" y1="9449" x2="45135" y2="9267"/>
                        <a14:backgroundMark x1="45620" y1="8904" x2="44732" y2="8904"/>
                        <a14:backgroundMark x1="42673" y1="17747" x2="41663" y2="18837"/>
                        <a14:backgroundMark x1="60476" y1="15324" x2="58256" y2="14597"/>
                      </a14:backgroundRemoval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00" r="31161"/>
          <a:stretch>
            <a:fillRect/>
          </a:stretch>
        </p:blipFill>
        <p:spPr>
          <a:xfrm>
            <a:off x="6984776" y="-46088"/>
            <a:ext cx="5231904" cy="688781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"/>
            <a:ext cx="12222467" cy="6858000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70000"/>
                </a:schemeClr>
              </a:gs>
              <a:gs pos="49000">
                <a:srgbClr val="80B8E0">
                  <a:alpha val="96000"/>
                </a:srgbClr>
              </a:gs>
              <a:gs pos="0">
                <a:srgbClr val="0070C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23392" y="120857"/>
            <a:ext cx="10522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Digital Tools Don't Fit: Social Platforms That Miss the Elderly's Needs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n-cs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743872" y="692696"/>
            <a:ext cx="1944216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231053" y="817472"/>
            <a:ext cx="5472608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zh-CN" sz="1600" b="1"/>
              <a:t>Active social mechanisms are not friendly to the elderly</a:t>
            </a:r>
            <a:br>
              <a:rPr lang="en-US" altLang="zh-CN" sz="1600"/>
            </a:br>
            <a:r>
              <a:rPr lang="en-US" altLang="zh-CN" sz="1600"/>
              <a:t>Mainstream social platforms (such as WeChat) emphasize </a:t>
            </a:r>
            <a:r>
              <a:rPr lang="en-US" altLang="zh-CN" sz="1600" i="1"/>
              <a:t>"actively adding friends"</a:t>
            </a:r>
            <a:r>
              <a:rPr lang="en-US" altLang="zh-CN" sz="1600"/>
              <a:t> and </a:t>
            </a:r>
            <a:r>
              <a:rPr lang="en-US" altLang="zh-CN" sz="1600" i="1"/>
              <a:t>"initiating conversations"</a:t>
            </a:r>
            <a:r>
              <a:rPr lang="en-US" altLang="zh-CN" sz="1600"/>
              <a:t>, which can be a psychological burden for many elderly people:</a:t>
            </a:r>
            <a:br>
              <a:rPr lang="en-US" altLang="zh-CN" sz="1600"/>
            </a:br>
            <a:r>
              <a:rPr lang="en-US" altLang="zh-CN" sz="1600"/>
              <a:t>“I’m afraid of disturbing them.”</a:t>
            </a:r>
            <a:br>
              <a:rPr lang="en-US" altLang="zh-CN" sz="1600"/>
            </a:br>
            <a:r>
              <a:rPr lang="en-US" altLang="zh-CN" sz="1600"/>
              <a:t>“I don’t know what to say.”</a:t>
            </a:r>
            <a:br>
              <a:rPr lang="en-US" altLang="zh-CN" sz="1600"/>
            </a:br>
            <a:r>
              <a:rPr lang="en-US" altLang="zh-CN" sz="1600"/>
              <a:t>“My family is busy—I don’t dare to call.”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zh-CN" sz="1600" b="1"/>
              <a:t>Complex app operations create a high barrier to use</a:t>
            </a:r>
            <a:br>
              <a:rPr lang="en-US" altLang="zh-CN" sz="1600"/>
            </a:br>
            <a:r>
              <a:rPr lang="en-US" altLang="zh-CN" sz="1600"/>
              <a:t>Social apps often have complicated interfaces and too many features. For elderly users with declining eyesight and finger dexterity:</a:t>
            </a:r>
            <a:br>
              <a:rPr lang="en-US" altLang="zh-CN" sz="1600"/>
            </a:br>
            <a:r>
              <a:rPr lang="en-US" altLang="zh-CN" sz="1600"/>
              <a:t>“The font is too small—I can’t read it.”</a:t>
            </a:r>
            <a:br>
              <a:rPr lang="en-US" altLang="zh-CN" sz="1600"/>
            </a:br>
            <a:r>
              <a:rPr lang="en-US" altLang="zh-CN" sz="1600"/>
              <a:t>“There are too many steps—too much tapping.”</a:t>
            </a:r>
            <a:br>
              <a:rPr lang="en-US" altLang="zh-CN" sz="1600"/>
            </a:br>
            <a:r>
              <a:rPr lang="en-US" altLang="zh-CN" sz="1600"/>
              <a:t>“My children installed the app but never taught me how to use it.”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zh-CN" sz="1600" b="1"/>
              <a:t>Elderly people need a more natural and gentle companion-style interaction</a:t>
            </a:r>
            <a:br>
              <a:rPr lang="en-US" altLang="zh-CN" sz="1600"/>
            </a:br>
            <a:r>
              <a:rPr lang="en-US" altLang="zh-CN" sz="1600"/>
              <a:t>Compared to </a:t>
            </a:r>
            <a:r>
              <a:rPr lang="en-US" altLang="zh-CN" sz="1600" i="1"/>
              <a:t>“having to tap, having to talk, having to initiate”</a:t>
            </a:r>
            <a:r>
              <a:rPr lang="en-US" altLang="zh-CN" sz="1600"/>
              <a:t>,</a:t>
            </a:r>
            <a:br>
              <a:rPr lang="en-US" altLang="zh-CN" sz="1600"/>
            </a:br>
            <a:r>
              <a:rPr lang="en-US" altLang="zh-CN" sz="1600"/>
              <a:t>the elderly are more comfortable with an interaction style of </a:t>
            </a:r>
            <a:r>
              <a:rPr lang="en-US" altLang="zh-CN" sz="1600" i="1"/>
              <a:t>“gentle guidance + natural cues + burden-free conversation”</a:t>
            </a:r>
            <a:r>
              <a:rPr lang="en-US" altLang="zh-CN" sz="1600"/>
              <a:t> —</a:t>
            </a:r>
            <a:br>
              <a:rPr lang="en-US" altLang="zh-CN" sz="1600"/>
            </a:br>
            <a:r>
              <a:rPr lang="en-US" altLang="zh-CN" sz="1600" b="1"/>
              <a:t>this is exactly the starting point of our product design.</a:t>
            </a:r>
            <a:endParaRPr kumimoji="0" lang="zh-CN" altLang="zh-CN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4" name="表格 14"/>
          <p:cNvGraphicFramePr>
            <a:graphicFrameLocks noGrp="1"/>
          </p:cNvGraphicFramePr>
          <p:nvPr/>
        </p:nvGraphicFramePr>
        <p:xfrm>
          <a:off x="107102" y="853509"/>
          <a:ext cx="5601391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6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343">
                <a:tc>
                  <a:txBody>
                    <a:bodyPr/>
                    <a:lstStyle/>
                    <a:p>
                      <a:r>
                        <a:rPr lang="en-US" b="1"/>
                        <a:t>Function Dimension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WeChat / Social Apps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Smart Devices Bought by Children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Our product:</a:t>
                      </a:r>
                    </a:p>
                    <a:p>
                      <a:r>
                        <a:rPr lang="en-US" altLang="zh-CN"/>
                        <a:t>AI Smart Glasses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343">
                <a:tc>
                  <a:txBody>
                    <a:bodyPr/>
                    <a:lstStyle/>
                    <a:p>
                      <a:r>
                        <a:rPr lang="en-US" altLang="zh-CN" sz="1400" b="1"/>
                        <a:t>Interaction Mode</a:t>
                      </a:r>
                      <a:endParaRPr lang="zh-CN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Requires initiating conversation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Passive; operated by family members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Voice-guided interaction, gentle wake-up prompts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343">
                <a:tc>
                  <a:txBody>
                    <a:bodyPr/>
                    <a:lstStyle/>
                    <a:p>
                      <a:r>
                        <a:rPr lang="en-US" altLang="zh-CN" sz="1400" b="1"/>
                        <a:t>Operation Complexity</a:t>
                      </a:r>
                      <a:endParaRPr lang="zh-CN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Relatively high, with many functions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Infrequent use, low engagement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One-button start, automatic response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343">
                <a:tc>
                  <a:txBody>
                    <a:bodyPr/>
                    <a:lstStyle/>
                    <a:p>
                      <a:r>
                        <a:rPr lang="en-US" altLang="zh-CN" sz="1400" b="1"/>
                        <a:t>Learning Cost</a:t>
                      </a:r>
                      <a:endParaRPr lang="zh-CN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High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Relies on others for maintenance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Zero learning curve, ready to use at startup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343">
                <a:tc>
                  <a:txBody>
                    <a:bodyPr/>
                    <a:lstStyle/>
                    <a:p>
                      <a:r>
                        <a:rPr lang="en-US" altLang="zh-CN" sz="1400" b="1"/>
                        <a:t>Social Motivation</a:t>
                      </a:r>
                      <a:endParaRPr lang="zh-CN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Low; fear of rejection or disturbing others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Cannot be used independently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Topic suggestions, natural interaction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343">
                <a:tc>
                  <a:txBody>
                    <a:bodyPr/>
                    <a:lstStyle/>
                    <a:p>
                      <a:r>
                        <a:rPr lang="en-US" altLang="zh-CN" sz="1400" b="1"/>
                        <a:t>Elderly-Friendly Design</a:t>
                      </a:r>
                      <a:endParaRPr lang="zh-CN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Weak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No personalized configuration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Custom fonts, voice, and personalized settings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343">
                <a:tc>
                  <a:txBody>
                    <a:bodyPr/>
                    <a:lstStyle/>
                    <a:p>
                      <a:r>
                        <a:rPr lang="en-US" altLang="zh-CN" sz="1400" b="1"/>
                        <a:t>Companionship</a:t>
                      </a:r>
                      <a:endParaRPr lang="zh-CN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None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None</a:t>
                      </a:r>
                      <a:endParaRPr lang="zh-CN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Virtual companion available daily</a:t>
                      </a:r>
                      <a:endParaRPr lang="zh-CN" alt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rgbClr val="0F6FC6">
                <a:alpha val="0"/>
              </a:srgbClr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蓝色的天空和建筑&#10;&#10;描述已自动生成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6177"/>
          <a:stretch>
            <a:fillRect/>
          </a:stretch>
        </p:blipFill>
        <p:spPr>
          <a:xfrm>
            <a:off x="10368" y="0"/>
            <a:ext cx="12272292" cy="685800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 flipH="1">
            <a:off x="0" y="0"/>
            <a:ext cx="12288688" cy="6858001"/>
          </a:xfrm>
          <a:prstGeom prst="rect">
            <a:avLst/>
          </a:prstGeom>
          <a:gradFill flip="none" rotWithShape="1">
            <a:gsLst>
              <a:gs pos="100000">
                <a:srgbClr val="80B8E0">
                  <a:alpha val="96000"/>
                </a:srgbClr>
              </a:gs>
              <a:gs pos="0">
                <a:srgbClr val="0070C0">
                  <a:alpha val="7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5818714" y="3140968"/>
            <a:ext cx="55457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020512" y="3621042"/>
            <a:ext cx="42476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en-US" altLang="zh-CN" sz="320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AI smart glasses solution</a:t>
            </a:r>
            <a:endParaRPr lang="en-US" altLang="zh-CN" sz="3200" dirty="0">
              <a:solidFill>
                <a:prstClr val="whit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421813" y="1684084"/>
            <a:ext cx="33483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Part 2</a:t>
            </a:r>
          </a:p>
        </p:txBody>
      </p:sp>
      <p:sp>
        <p:nvSpPr>
          <p:cNvPr id="51" name="矩形 50"/>
          <p:cNvSpPr/>
          <p:nvPr/>
        </p:nvSpPr>
        <p:spPr>
          <a:xfrm>
            <a:off x="3539716" y="1412776"/>
            <a:ext cx="5112569" cy="403244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 descr="全球首款GPT-4智能眼镜！Solos AirGo Vision眼镜开启预售_人工智能-中关村在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490" y="4723967"/>
            <a:ext cx="2969222" cy="2069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矩形 32"/>
          <p:cNvSpPr/>
          <p:nvPr/>
        </p:nvSpPr>
        <p:spPr>
          <a:xfrm>
            <a:off x="561722" y="1259152"/>
            <a:ext cx="11626275" cy="52209"/>
          </a:xfrm>
          <a:prstGeom prst="rect">
            <a:avLst/>
          </a:prstGeom>
          <a:solidFill>
            <a:srgbClr val="3E9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思源宋体"/>
              <a:cs typeface="+mn-cs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16917" y="543950"/>
            <a:ext cx="93874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3E93D1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A pair of smart glasses that understand "companionship" makes social interaction occur naturally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E93D1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n-cs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20032" y="1159232"/>
            <a:ext cx="406386" cy="518758"/>
          </a:xfrm>
          <a:prstGeom prst="rect">
            <a:avLst/>
          </a:prstGeom>
          <a:solidFill>
            <a:srgbClr val="9BC3E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思源宋体"/>
              <a:cs typeface="+mn-cs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19519" y="881669"/>
            <a:ext cx="483378" cy="617040"/>
          </a:xfrm>
          <a:prstGeom prst="rect">
            <a:avLst/>
          </a:prstGeom>
          <a:solidFill>
            <a:srgbClr val="4696D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B90D0"/>
              </a:solidFill>
              <a:effectLst/>
              <a:uLnTx/>
              <a:uFillTx/>
              <a:latin typeface="Calibri" panose="020F0502020204030204"/>
              <a:ea typeface="思源宋体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6109360" y="1539889"/>
            <a:ext cx="0" cy="19446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2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椭圆 9"/>
          <p:cNvSpPr/>
          <p:nvPr/>
        </p:nvSpPr>
        <p:spPr bwMode="auto">
          <a:xfrm>
            <a:off x="5563284" y="3305621"/>
            <a:ext cx="1092152" cy="1092468"/>
          </a:xfrm>
          <a:prstGeom prst="ellipse">
            <a:avLst/>
          </a:prstGeom>
          <a:solidFill>
            <a:srgbClr val="9BC3EC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17" tIns="60959" rIns="121917" bIns="60959" numCol="1" rtlCol="0" anchor="t" anchorCtr="0" compatLnSpc="1"/>
          <a:lstStyle/>
          <a:p>
            <a:pPr defTabSz="1219200" fontAlgn="base"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solidFill>
                <a:prstClr val="black"/>
              </a:solidFill>
              <a:latin typeface="思源宋体" panose="02020400000000000000" pitchFamily="18" charset="-122"/>
              <a:ea typeface="思源宋体" panose="02020400000000000000" pitchFamily="18" charset="-122"/>
            </a:endParaRPr>
          </a:p>
        </p:txBody>
      </p:sp>
      <p:sp>
        <p:nvSpPr>
          <p:cNvPr id="11" name="TextBox 38"/>
          <p:cNvSpPr txBox="1"/>
          <p:nvPr/>
        </p:nvSpPr>
        <p:spPr>
          <a:xfrm>
            <a:off x="5677312" y="3544079"/>
            <a:ext cx="850736" cy="615551"/>
          </a:xfrm>
          <a:prstGeom prst="rect">
            <a:avLst/>
          </a:prstGeom>
          <a:noFill/>
        </p:spPr>
        <p:txBody>
          <a:bodyPr wrap="square" lIns="121917" tIns="60959" rIns="121917" bIns="60959" rtlCol="0">
            <a:spAutoFit/>
          </a:bodyPr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8F8F8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VS</a:t>
            </a:r>
            <a:endParaRPr lang="zh-CN" altLang="en-US" sz="3200" b="1" dirty="0">
              <a:solidFill>
                <a:srgbClr val="F8F8F8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 bwMode="auto">
          <a:xfrm>
            <a:off x="6109360" y="4398089"/>
            <a:ext cx="0" cy="19446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2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矩形 27"/>
          <p:cNvSpPr/>
          <p:nvPr/>
        </p:nvSpPr>
        <p:spPr bwMode="auto">
          <a:xfrm>
            <a:off x="7680176" y="1498709"/>
            <a:ext cx="2880319" cy="527797"/>
          </a:xfrm>
          <a:prstGeom prst="rect">
            <a:avLst/>
          </a:prstGeom>
          <a:solidFill>
            <a:srgbClr val="3B90D0"/>
          </a:solidFill>
          <a:ln w="34925">
            <a:solidFill>
              <a:schemeClr val="bg1"/>
            </a:solidFill>
          </a:ln>
          <a:effectLst>
            <a:outerShdw blurRad="63500" dist="38100" dir="16500000" algn="tl" rotWithShape="0">
              <a:prstClr val="black">
                <a:alpha val="22000"/>
              </a:prstClr>
            </a:out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123139" tIns="61569" rIns="123139" bIns="61569" spcCol="0" rtlCol="0" anchor="ctr"/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735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Function Introduction</a:t>
            </a:r>
            <a:endParaRPr lang="zh-CN" altLang="en-US" sz="1735" dirty="0">
              <a:solidFill>
                <a:prstClr val="whit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50217" y="1583119"/>
            <a:ext cx="559297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1"/>
              <a:t>Product Name:</a:t>
            </a:r>
            <a:r>
              <a:rPr lang="en-US" altLang="zh-CN"/>
              <a:t> OldFriend Connect </a:t>
            </a:r>
            <a:r>
              <a:rPr lang="zh-CN" altLang="en-US"/>
              <a:t>👓</a:t>
            </a:r>
            <a:br>
              <a:rPr lang="zh-CN" altLang="en-US"/>
            </a:br>
            <a:r>
              <a:rPr lang="en-US" altLang="zh-CN" b="1"/>
              <a:t>Product Overview:</a:t>
            </a:r>
            <a:br>
              <a:rPr lang="en-US" altLang="zh-CN"/>
            </a:br>
            <a:r>
              <a:rPr lang="en-US" altLang="zh-CN"/>
              <a:t>"OldFriend Connect" is an AI-powered social assistance smart glasses designed specifically for the elderly. It integrates AI semantic recognition, visual analysis, and localized voice prompts to create a natural and gentle interaction experience tailored for seniors. It requires no active operation from the user and does not force conversations; instead, it offers subtle reminders and natural guidance at appropriate moments—making socializing as effortless and natural as taking a walk.</a:t>
            </a:r>
            <a:endParaRPr kumimoji="0" lang="zh-CN" altLang="zh-CN" sz="1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769464" y="2340689"/>
          <a:ext cx="5102604" cy="4114800"/>
        </p:xfrm>
        <a:graphic>
          <a:graphicData uri="http://schemas.openxmlformats.org/drawingml/2006/table">
            <a:tbl>
              <a:tblPr/>
              <a:tblGrid>
                <a:gridCol w="1700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/>
                        <a:t>Function </a:t>
                      </a:r>
                      <a:endParaRPr lang="zh-CN" alt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/>
                        <a:t>Icon</a:t>
                      </a:r>
                      <a:endParaRPr lang="zh-CN" alt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/>
                        <a:t>Brief Description</a:t>
                      </a:r>
                      <a:endParaRPr lang="zh-CN" alt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600"/>
                        <a:t>🧠 </a:t>
                      </a:r>
                      <a:r>
                        <a:rPr lang="en-US" sz="1600"/>
                        <a:t>AI context recognition</a:t>
                      </a:r>
                      <a:endParaRPr lang="zh-CN" alt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Brain + eye icon</a:t>
                      </a:r>
                      <a:endParaRPr lang="zh-CN" alt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Analyze the current scene (face recognition, location, time)</a:t>
                      </a:r>
                      <a:endParaRPr lang="zh-CN" alt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600"/>
                        <a:t>💬 </a:t>
                      </a:r>
                      <a:r>
                        <a:rPr lang="en-US" altLang="zh-CN" sz="1600"/>
                        <a:t>Voice-guided social interaction</a:t>
                      </a:r>
                      <a:endParaRPr lang="zh-CN" alt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Sound wave icon</a:t>
                      </a:r>
                      <a:endParaRPr lang="zh-CN" alt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Prompt greetings and generate topic suggestions</a:t>
                      </a:r>
                      <a:endParaRPr lang="zh-CN" alt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600"/>
                        <a:t>📲 </a:t>
                      </a:r>
                      <a:r>
                        <a:rPr lang="en-US" altLang="zh-CN" sz="1600"/>
                        <a:t>Information companionship</a:t>
                      </a:r>
                      <a:endParaRPr lang="zh-CN" alt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Mobile phone message icon</a:t>
                      </a:r>
                      <a:endParaRPr lang="zh-CN" alt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Family news reporting and guidance on responses</a:t>
                      </a:r>
                      <a:endParaRPr lang="zh-CN" alt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sz="1600"/>
                        <a:t>🔒 </a:t>
                      </a:r>
                      <a:r>
                        <a:rPr lang="en-US" altLang="zh-CN" sz="1600"/>
                        <a:t>Safety reminder</a:t>
                      </a:r>
                      <a:endParaRPr lang="zh-CN" alt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Warning shield icon</a:t>
                      </a:r>
                      <a:endParaRPr lang="zh-CN" alt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/>
                        <a:t>Call fraud detection, voice reminder</a:t>
                      </a:r>
                      <a:endParaRPr lang="zh-CN" alt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195723" y="5413028"/>
            <a:ext cx="1487517" cy="374694"/>
            <a:chOff x="9097948" y="311607"/>
            <a:chExt cx="2907215" cy="579333"/>
          </a:xfrm>
        </p:grpSpPr>
        <p:sp>
          <p:nvSpPr>
            <p:cNvPr id="16" name="圆角矩形 22"/>
            <p:cNvSpPr/>
            <p:nvPr/>
          </p:nvSpPr>
          <p:spPr>
            <a:xfrm>
              <a:off x="9117834" y="311607"/>
              <a:ext cx="2480327" cy="579333"/>
            </a:xfrm>
            <a:prstGeom prst="roundRect">
              <a:avLst/>
            </a:prstGeom>
            <a:solidFill>
              <a:srgbClr val="8EB4E3"/>
            </a:solidFill>
            <a:ln>
              <a:noFill/>
            </a:ln>
            <a:effectLst>
              <a:outerShdw blurRad="152400" dist="152400" dir="5400000" sx="94000" sy="94000" algn="t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1479" tIns="40740" rIns="81479" bIns="40740" rtlCol="0" anchor="ctr"/>
            <a:lstStyle/>
            <a:p>
              <a:pPr algn="ctr" defTabSz="12192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white"/>
                </a:solidFill>
                <a:latin typeface="Calibri" panose="020F0502020204030204"/>
                <a:ea typeface="微软雅黑" panose="020B0503020204020204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9097948" y="360977"/>
              <a:ext cx="2907215" cy="4758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/>
                <a:t>Product picture</a:t>
              </a:r>
              <a:endParaRPr lang="zh-CN" altLang="en-US" sz="140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rgbClr val="0F6FC6">
                <a:alpha val="0"/>
              </a:srgbClr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蓝色的天空和建筑&#10;&#10;描述已自动生成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6177"/>
          <a:stretch>
            <a:fillRect/>
          </a:stretch>
        </p:blipFill>
        <p:spPr>
          <a:xfrm>
            <a:off x="10368" y="0"/>
            <a:ext cx="12272292" cy="685800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 flipH="1">
            <a:off x="0" y="0"/>
            <a:ext cx="12288688" cy="6858001"/>
          </a:xfrm>
          <a:prstGeom prst="rect">
            <a:avLst/>
          </a:prstGeom>
          <a:gradFill flip="none" rotWithShape="1">
            <a:gsLst>
              <a:gs pos="100000">
                <a:srgbClr val="80B8E0">
                  <a:alpha val="96000"/>
                </a:srgbClr>
              </a:gs>
              <a:gs pos="0">
                <a:srgbClr val="0070C0">
                  <a:alpha val="7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5818714" y="3140968"/>
            <a:ext cx="55457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020512" y="3747285"/>
            <a:ext cx="42476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en-US" altLang="zh-CN" sz="320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Four core functions</a:t>
            </a:r>
            <a:endParaRPr lang="en-US" altLang="zh-CN" sz="3200" dirty="0">
              <a:solidFill>
                <a:prstClr val="whit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421813" y="1684084"/>
            <a:ext cx="33483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Part 3</a:t>
            </a:r>
          </a:p>
        </p:txBody>
      </p:sp>
      <p:sp>
        <p:nvSpPr>
          <p:cNvPr id="51" name="矩形 50"/>
          <p:cNvSpPr/>
          <p:nvPr/>
        </p:nvSpPr>
        <p:spPr>
          <a:xfrm>
            <a:off x="3539716" y="1412776"/>
            <a:ext cx="5112569" cy="403244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561722" y="1259152"/>
            <a:ext cx="11626275" cy="52209"/>
          </a:xfrm>
          <a:prstGeom prst="rect">
            <a:avLst/>
          </a:prstGeom>
          <a:solidFill>
            <a:srgbClr val="3E9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思源宋体"/>
              <a:cs typeface="+mn-cs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27710" y="624417"/>
            <a:ext cx="10020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3B90D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Function 1: AI ice-breaking topic generation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3B90D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n-cs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20032" y="1159232"/>
            <a:ext cx="406386" cy="518758"/>
          </a:xfrm>
          <a:prstGeom prst="rect">
            <a:avLst/>
          </a:prstGeom>
          <a:solidFill>
            <a:srgbClr val="9BC3E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思源宋体"/>
              <a:cs typeface="+mn-cs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19519" y="881669"/>
            <a:ext cx="483378" cy="617040"/>
          </a:xfrm>
          <a:prstGeom prst="rect">
            <a:avLst/>
          </a:prstGeom>
          <a:solidFill>
            <a:srgbClr val="4696D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思源宋体"/>
              <a:cs typeface="+mn-cs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07023" y="1502157"/>
            <a:ext cx="513480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Many elderly people want to socialize but don’t know how to start a conversation. Our smart glasses automatically generate natural conversation openers by real-time sensing the environment—such as location, face recognition, and weather information—lowering the barrier to engaging in dialogue.</a:t>
            </a:r>
          </a:p>
          <a:p>
            <a:r>
              <a:rPr lang="zh-CN" altLang="en-US"/>
              <a:t>🌤 </a:t>
            </a:r>
            <a:r>
              <a:rPr lang="en-US" altLang="zh-CN" b="1"/>
              <a:t>Context Awareness + Semantic Generation:</a:t>
            </a:r>
            <a:br>
              <a:rPr lang="zh-CN" altLang="en-US" b="1"/>
            </a:br>
            <a:r>
              <a:rPr lang="en-US" altLang="zh-CN"/>
              <a:t>When the glasses detect that the user is in the park and recognize neighbor Aunt Zhang, it prompts:</a:t>
            </a:r>
            <a:br>
              <a:rPr lang="en-US" altLang="zh-CN"/>
            </a:br>
            <a:r>
              <a:rPr lang="en-US" altLang="zh-CN"/>
              <a:t>“Today’s weather is nice, Aunt Zhang is here. Would you like to take a walk together?”</a:t>
            </a:r>
          </a:p>
          <a:p>
            <a:r>
              <a:rPr lang="zh-CN" altLang="en-US"/>
              <a:t>🧠 </a:t>
            </a:r>
            <a:r>
              <a:rPr lang="fr-FR" altLang="zh-CN" b="1"/>
              <a:t>Interest Profile Supports Conversation Continuation:</a:t>
            </a:r>
            <a:br>
              <a:rPr lang="zh-CN" altLang="en-US"/>
            </a:br>
            <a:r>
              <a:rPr lang="en-US" altLang="zh-CN"/>
              <a:t>Based on past interactions, it suggests “neighborhood topic packs” like “Balcony gardening tips” and “Square dance music recommendations” to keep the conversation going.</a:t>
            </a:r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6233160" y="2054860"/>
            <a:ext cx="5965190" cy="3774440"/>
            <a:chOff x="8936" y="2705"/>
            <a:chExt cx="10254" cy="6832"/>
          </a:xfrm>
        </p:grpSpPr>
        <p:sp>
          <p:nvSpPr>
            <p:cNvPr id="4" name="圆角矩形 3"/>
            <p:cNvSpPr/>
            <p:nvPr/>
          </p:nvSpPr>
          <p:spPr>
            <a:xfrm>
              <a:off x="8936" y="2705"/>
              <a:ext cx="10254" cy="6832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" name="圆角矩形 2"/>
            <p:cNvSpPr/>
            <p:nvPr/>
          </p:nvSpPr>
          <p:spPr>
            <a:xfrm>
              <a:off x="9071" y="2835"/>
              <a:ext cx="9984" cy="6572"/>
            </a:xfrm>
            <a:prstGeom prst="round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561722" y="1259152"/>
            <a:ext cx="11626275" cy="52209"/>
          </a:xfrm>
          <a:prstGeom prst="rect">
            <a:avLst/>
          </a:prstGeom>
          <a:solidFill>
            <a:srgbClr val="3E9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思源宋体"/>
              <a:cs typeface="+mn-cs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27709" y="624417"/>
            <a:ext cx="10547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3B90D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Function 2: Intergenerational Translation Engine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3B90D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n-cs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20032" y="1159232"/>
            <a:ext cx="406386" cy="518758"/>
          </a:xfrm>
          <a:prstGeom prst="rect">
            <a:avLst/>
          </a:prstGeom>
          <a:solidFill>
            <a:srgbClr val="9BC3E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思源宋体"/>
              <a:cs typeface="+mn-cs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19519" y="881669"/>
            <a:ext cx="483378" cy="617040"/>
          </a:xfrm>
          <a:prstGeom prst="rect">
            <a:avLst/>
          </a:prstGeom>
          <a:solidFill>
            <a:srgbClr val="4696D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思源宋体"/>
              <a:cs typeface="+mn-cs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726418" y="1677990"/>
            <a:ext cx="513480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Intergenerational communication often stalls due to “not understanding” or “not expressing clearly.” This product features a semantic reconstruction engine tailored for the elderly, enabling two-way “translation”:</a:t>
            </a:r>
          </a:p>
          <a:p>
            <a:r>
              <a:rPr lang="zh-CN" altLang="en-US"/>
              <a:t>👵 </a:t>
            </a:r>
            <a:r>
              <a:rPr lang="en-US" altLang="zh-CN" b="1"/>
              <a:t>Elderly Expression → Modern Simplified Version:</a:t>
            </a:r>
            <a:br>
              <a:rPr lang="en-US" altLang="zh-CN"/>
            </a:br>
            <a:r>
              <a:rPr lang="en-US" altLang="zh-CN"/>
              <a:t>When an older person says, “I’ll write you a letter,”</a:t>
            </a:r>
            <a:br>
              <a:rPr lang="en-US" altLang="zh-CN"/>
            </a:br>
            <a:r>
              <a:rPr lang="en-US" altLang="zh-CN"/>
              <a:t>the suggestion is replaced with, “Would you prefer to listen to a voice message?”</a:t>
            </a:r>
          </a:p>
          <a:p>
            <a:r>
              <a:rPr lang="zh-CN" altLang="en-US"/>
              <a:t>👦 </a:t>
            </a:r>
            <a:r>
              <a:rPr lang="en-US" altLang="zh-CN" b="1"/>
              <a:t>Youthful Tone → Emotional Softening:</a:t>
            </a:r>
            <a:br>
              <a:rPr lang="en-US" altLang="zh-CN"/>
            </a:br>
            <a:r>
              <a:rPr lang="en-US" altLang="zh-CN"/>
              <a:t>When a grandson sends “Grandpa yyds!”</a:t>
            </a:r>
            <a:br>
              <a:rPr lang="en-US" altLang="zh-CN"/>
            </a:br>
            <a:r>
              <a:rPr lang="en-US" altLang="zh-CN"/>
              <a:t>it is transformed into, “Grandpa, you will always be my hero in my heart!”</a:t>
            </a:r>
          </a:p>
          <a:p>
            <a:r>
              <a:rPr lang="zh-CN" altLang="en-US"/>
              <a:t>🧠 </a:t>
            </a:r>
            <a:r>
              <a:rPr lang="en-US" altLang="zh-CN" b="1"/>
              <a:t>Technical Foundation:</a:t>
            </a:r>
            <a:br>
              <a:rPr lang="en-US" altLang="zh-CN"/>
            </a:br>
            <a:r>
              <a:rPr lang="en-US" altLang="zh-CN"/>
              <a:t>Emotional recognition combined with senior-friendly language training reduces misunderstandings and strengthens family bonds.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233160" y="2054860"/>
            <a:ext cx="5965190" cy="3774440"/>
            <a:chOff x="8936" y="2705"/>
            <a:chExt cx="10254" cy="6832"/>
          </a:xfrm>
        </p:grpSpPr>
        <p:sp>
          <p:nvSpPr>
            <p:cNvPr id="4" name="圆角矩形 3"/>
            <p:cNvSpPr/>
            <p:nvPr/>
          </p:nvSpPr>
          <p:spPr>
            <a:xfrm>
              <a:off x="8936" y="2705"/>
              <a:ext cx="10254" cy="6832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" name="圆角矩形 2"/>
            <p:cNvSpPr/>
            <p:nvPr/>
          </p:nvSpPr>
          <p:spPr>
            <a:xfrm>
              <a:off x="9071" y="2835"/>
              <a:ext cx="9984" cy="6572"/>
            </a:xfrm>
            <a:prstGeom prst="roundRect">
              <a:avLst/>
            </a:prstGeom>
            <a:blipFill rotWithShape="1">
              <a:blip r:embed="rId3"/>
              <a:tile sx="70000" sy="66000" algn="ctr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561722" y="1259152"/>
            <a:ext cx="11626275" cy="52209"/>
          </a:xfrm>
          <a:prstGeom prst="rect">
            <a:avLst/>
          </a:prstGeom>
          <a:solidFill>
            <a:srgbClr val="3E9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思源宋体"/>
              <a:cs typeface="+mn-cs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27710" y="624417"/>
            <a:ext cx="9804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3B90D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Function 3: Virtual Activity Companion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3B90D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n-cs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20032" y="1159232"/>
            <a:ext cx="406386" cy="518758"/>
          </a:xfrm>
          <a:prstGeom prst="rect">
            <a:avLst/>
          </a:prstGeom>
          <a:solidFill>
            <a:srgbClr val="9BC3E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思源宋体"/>
              <a:cs typeface="+mn-cs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19519" y="881669"/>
            <a:ext cx="483378" cy="617040"/>
          </a:xfrm>
          <a:prstGeom prst="rect">
            <a:avLst/>
          </a:prstGeom>
          <a:solidFill>
            <a:srgbClr val="4696D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思源宋体"/>
              <a:cs typeface="+mn-cs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27710" y="1643297"/>
            <a:ext cx="513480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Let the glasses be your “virtual friend,” naturally joining social interactions within your familiar daily rhythm:</a:t>
            </a:r>
          </a:p>
          <a:p>
            <a:r>
              <a:rPr lang="zh-CN" altLang="en-US"/>
              <a:t>🎤 </a:t>
            </a:r>
            <a:r>
              <a:rPr lang="en-US" altLang="zh-CN" b="1"/>
              <a:t>AI Chorus Simulator:</a:t>
            </a:r>
            <a:br>
              <a:rPr lang="en-US" altLang="zh-CN"/>
            </a:br>
            <a:r>
              <a:rPr lang="en-US" altLang="zh-CN"/>
              <a:t>Supports seniors practicing old songs, with AI providing harmony accompaniment and pitch guidance:</a:t>
            </a:r>
            <a:br>
              <a:rPr lang="en-US" altLang="zh-CN"/>
            </a:br>
            <a:r>
              <a:rPr lang="en-US" altLang="zh-CN"/>
              <a:t>“You’re singing with so much feeling! Would you like to invite Old Zhao to practice together?”</a:t>
            </a:r>
          </a:p>
          <a:p>
            <a:r>
              <a:rPr lang="zh-CN" altLang="en-US"/>
              <a:t>🧘 </a:t>
            </a:r>
            <a:r>
              <a:rPr lang="en-US" altLang="zh-CN" b="1"/>
              <a:t>Tai Chi / Square Dance Practice Assistant:</a:t>
            </a:r>
            <a:br>
              <a:rPr lang="en-US" altLang="zh-CN"/>
            </a:br>
            <a:r>
              <a:rPr lang="en-US" altLang="zh-CN"/>
              <a:t>Uses cameras on the temple arms to capture movements and gives voice prompts for rhythm and posture correction.</a:t>
            </a:r>
          </a:p>
          <a:p>
            <a:r>
              <a:rPr lang="en-US" altLang="zh-CN"/>
              <a:t>⭐ </a:t>
            </a:r>
            <a:r>
              <a:rPr lang="en-US" altLang="zh-CN" b="1"/>
              <a:t>Social Task Incentives:</a:t>
            </a:r>
            <a:br>
              <a:rPr lang="en-US" altLang="zh-CN"/>
            </a:br>
            <a:r>
              <a:rPr lang="en-US" altLang="zh-CN"/>
              <a:t>Set goals like: “Call a friend today to earn the ‘Heartwarming Star’ badge” → enhancing social initiative.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233160" y="2054860"/>
            <a:ext cx="5965190" cy="3774440"/>
            <a:chOff x="8936" y="2705"/>
            <a:chExt cx="10254" cy="6832"/>
          </a:xfrm>
        </p:grpSpPr>
        <p:sp>
          <p:nvSpPr>
            <p:cNvPr id="4" name="圆角矩形 3"/>
            <p:cNvSpPr/>
            <p:nvPr/>
          </p:nvSpPr>
          <p:spPr>
            <a:xfrm>
              <a:off x="8936" y="2705"/>
              <a:ext cx="10254" cy="6832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" name="圆角矩形 2"/>
            <p:cNvSpPr/>
            <p:nvPr/>
          </p:nvSpPr>
          <p:spPr>
            <a:xfrm>
              <a:off x="9071" y="2835"/>
              <a:ext cx="9984" cy="6572"/>
            </a:xfrm>
            <a:prstGeom prst="roundRect">
              <a:avLst/>
            </a:prstGeom>
            <a:blipFill rotWithShape="1">
              <a:blip r:embed="rId3"/>
              <a:tile sx="70000" sy="66000" algn="ctr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561722" y="1259152"/>
            <a:ext cx="11626275" cy="52209"/>
          </a:xfrm>
          <a:prstGeom prst="rect">
            <a:avLst/>
          </a:prstGeom>
          <a:solidFill>
            <a:srgbClr val="3E9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思源宋体"/>
              <a:cs typeface="+mn-cs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27710" y="624417"/>
            <a:ext cx="69244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3B90D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Function 4: Anti-Fraud Guardian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3B90D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n-cs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20032" y="1159232"/>
            <a:ext cx="406386" cy="518758"/>
          </a:xfrm>
          <a:prstGeom prst="rect">
            <a:avLst/>
          </a:prstGeom>
          <a:solidFill>
            <a:srgbClr val="9BC3E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思源宋体"/>
              <a:cs typeface="+mn-cs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19519" y="881669"/>
            <a:ext cx="483378" cy="617040"/>
          </a:xfrm>
          <a:prstGeom prst="rect">
            <a:avLst/>
          </a:prstGeom>
          <a:solidFill>
            <a:srgbClr val="4696D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思源宋体"/>
              <a:cs typeface="+mn-cs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27710" y="1498709"/>
            <a:ext cx="513480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Elderly people are often targets of telecom fraud. This feature uses multiple AI technologies as a shield to identify potential risks in real time:</a:t>
            </a:r>
          </a:p>
          <a:p>
            <a:r>
              <a:rPr lang="zh-CN" altLang="en-US"/>
              <a:t>🎙 </a:t>
            </a:r>
            <a:r>
              <a:rPr lang="en-US" altLang="zh-CN" b="1"/>
              <a:t>Voiceprint Recognition:</a:t>
            </a:r>
            <a:br>
              <a:rPr lang="en-US" altLang="zh-CN"/>
            </a:br>
            <a:r>
              <a:rPr lang="en-US" altLang="zh-CN"/>
              <a:t>When a caller claims, “I’m your son, transfer money quickly,”</a:t>
            </a:r>
            <a:br>
              <a:rPr lang="en-US" altLang="zh-CN"/>
            </a:br>
            <a:r>
              <a:rPr lang="en-US" altLang="zh-CN"/>
              <a:t>the system detects a voiceprint mismatch and automatically displays a warning: “Identity anomaly.”</a:t>
            </a:r>
          </a:p>
          <a:p>
            <a:r>
              <a:rPr lang="zh-CN" altLang="en-US"/>
              <a:t>🔍 </a:t>
            </a:r>
            <a:r>
              <a:rPr lang="en-US" altLang="zh-CN" b="1"/>
              <a:t>Keyword Monitoring + Semantic Analysis:</a:t>
            </a:r>
            <a:br>
              <a:rPr lang="en-US" altLang="zh-CN"/>
            </a:br>
            <a:r>
              <a:rPr lang="en-US" altLang="zh-CN"/>
              <a:t>If high-risk words like “transfer,” “prize,” or “guaranteed investment” appear during calls or voice messages,</a:t>
            </a:r>
            <a:br>
              <a:rPr lang="en-US" altLang="zh-CN"/>
            </a:br>
            <a:r>
              <a:rPr lang="en-US" altLang="zh-CN"/>
              <a:t>the AI proactively intervenes, issuing a “risk alert” and suggests confirming with family members.</a:t>
            </a:r>
          </a:p>
          <a:p>
            <a:r>
              <a:rPr lang="zh-CN" altLang="en-US"/>
              <a:t>🔐 </a:t>
            </a:r>
            <a:r>
              <a:rPr lang="en-US" altLang="zh-CN" b="1"/>
              <a:t>User-Friendly Mechanism:</a:t>
            </a:r>
            <a:br>
              <a:rPr lang="en-US" altLang="zh-CN"/>
            </a:br>
            <a:r>
              <a:rPr lang="en-US" altLang="zh-CN"/>
              <a:t>Users can call their children or customer support with one click to get human assistance.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rgbClr val="0F6FC6">
                <a:alpha val="0"/>
              </a:srgbClr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蓝色的天空和建筑&#10;&#10;描述已自动生成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6177"/>
          <a:stretch>
            <a:fillRect/>
          </a:stretch>
        </p:blipFill>
        <p:spPr>
          <a:xfrm>
            <a:off x="10368" y="0"/>
            <a:ext cx="12272292" cy="685800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 flipH="1">
            <a:off x="0" y="0"/>
            <a:ext cx="12288688" cy="6858001"/>
          </a:xfrm>
          <a:prstGeom prst="rect">
            <a:avLst/>
          </a:prstGeom>
          <a:gradFill flip="none" rotWithShape="1">
            <a:gsLst>
              <a:gs pos="100000">
                <a:srgbClr val="80B8E0">
                  <a:alpha val="96000"/>
                </a:srgbClr>
              </a:gs>
              <a:gs pos="0">
                <a:srgbClr val="0070C0">
                  <a:alpha val="7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5818714" y="3140968"/>
            <a:ext cx="55457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3972167" y="3441544"/>
            <a:ext cx="42476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320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User value and elderly-friendly design</a:t>
            </a:r>
            <a:endParaRPr lang="en-US" altLang="zh-CN" sz="3200" dirty="0">
              <a:solidFill>
                <a:prstClr val="whit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421813" y="1684084"/>
            <a:ext cx="33483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Part 4</a:t>
            </a:r>
          </a:p>
        </p:txBody>
      </p:sp>
      <p:sp>
        <p:nvSpPr>
          <p:cNvPr id="51" name="矩形 50"/>
          <p:cNvSpPr/>
          <p:nvPr/>
        </p:nvSpPr>
        <p:spPr>
          <a:xfrm>
            <a:off x="3539716" y="1412776"/>
            <a:ext cx="5112569" cy="403244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561722" y="1259152"/>
            <a:ext cx="11626275" cy="52209"/>
          </a:xfrm>
          <a:prstGeom prst="rect">
            <a:avLst/>
          </a:prstGeom>
          <a:solidFill>
            <a:srgbClr val="3B9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335280" y="621030"/>
            <a:ext cx="84226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  <a:defRPr/>
            </a:pPr>
            <a:r>
              <a:rPr lang="zh-CN" altLang="en-US" sz="3200" noProof="0" dirty="0">
                <a:ln>
                  <a:noFill/>
                </a:ln>
                <a:solidFill>
                  <a:srgbClr val="3B90D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User value and elderly-friendly design</a:t>
            </a:r>
            <a:endParaRPr lang="zh-CN" altLang="en-US" sz="3200" noProof="0" dirty="0">
              <a:ln>
                <a:noFill/>
              </a:ln>
              <a:solidFill>
                <a:srgbClr val="3B90D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20032" y="1159232"/>
            <a:ext cx="406386" cy="518758"/>
          </a:xfrm>
          <a:prstGeom prst="rect">
            <a:avLst/>
          </a:prstGeom>
          <a:solidFill>
            <a:srgbClr val="9BC3E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119519" y="881669"/>
            <a:ext cx="483378" cy="617040"/>
          </a:xfrm>
          <a:prstGeom prst="rect">
            <a:avLst/>
          </a:prstGeom>
          <a:solidFill>
            <a:srgbClr val="4696D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9" name="图表 8"/>
          <p:cNvGraphicFramePr/>
          <p:nvPr>
            <p:custDataLst>
              <p:tags r:id="rId1"/>
            </p:custDataLst>
          </p:nvPr>
        </p:nvGraphicFramePr>
        <p:xfrm>
          <a:off x="3018155" y="2098675"/>
          <a:ext cx="6156960" cy="3920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2" name="圆: 空心 1"/>
          <p:cNvSpPr/>
          <p:nvPr>
            <p:custDataLst>
              <p:tags r:id="rId2"/>
            </p:custDataLst>
          </p:nvPr>
        </p:nvSpPr>
        <p:spPr>
          <a:xfrm>
            <a:off x="4655840" y="2718528"/>
            <a:ext cx="2880320" cy="2880320"/>
          </a:xfrm>
          <a:prstGeom prst="donut">
            <a:avLst>
              <a:gd name="adj" fmla="val 20103"/>
            </a:avLst>
          </a:prstGeom>
          <a:solidFill>
            <a:schemeClr val="bg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" name="组合 2"/>
          <p:cNvGrpSpPr/>
          <p:nvPr>
            <p:custDataLst>
              <p:tags r:id="rId3"/>
            </p:custDataLst>
          </p:nvPr>
        </p:nvGrpSpPr>
        <p:grpSpPr>
          <a:xfrm>
            <a:off x="390391" y="1989136"/>
            <a:ext cx="4350385" cy="1476403"/>
            <a:chOff x="945381" y="2252026"/>
            <a:chExt cx="4350385" cy="1476403"/>
          </a:xfrm>
        </p:grpSpPr>
        <p:sp>
          <p:nvSpPr>
            <p:cNvPr id="10" name="文本框 9"/>
            <p:cNvSpPr txBox="1"/>
            <p:nvPr>
              <p:custDataLst>
                <p:tags r:id="rId13"/>
              </p:custDataLst>
            </p:nvPr>
          </p:nvSpPr>
          <p:spPr>
            <a:xfrm>
              <a:off x="945381" y="2252026"/>
              <a:ext cx="435038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3B90D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Enable natural interaction</a:t>
              </a:r>
            </a:p>
          </p:txBody>
        </p:sp>
        <p:sp>
          <p:nvSpPr>
            <p:cNvPr id="11" name="文本框 10"/>
            <p:cNvSpPr txBox="1"/>
            <p:nvPr>
              <p:custDataLst>
                <p:tags r:id="rId14"/>
              </p:custDataLst>
            </p:nvPr>
          </p:nvSpPr>
          <p:spPr>
            <a:xfrm>
              <a:off x="945381" y="2640674"/>
              <a:ext cx="3240360" cy="1087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It helps users interact smoothly without complicated operations.</a:t>
              </a:r>
            </a:p>
          </p:txBody>
        </p:sp>
      </p:grpSp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>
            <a:off x="119246" y="5229185"/>
            <a:ext cx="4569460" cy="1405010"/>
            <a:chOff x="85591" y="4407495"/>
            <a:chExt cx="4569460" cy="1405010"/>
          </a:xfrm>
        </p:grpSpPr>
        <p:sp>
          <p:nvSpPr>
            <p:cNvPr id="12" name="文本框 11"/>
            <p:cNvSpPr txBox="1"/>
            <p:nvPr>
              <p:custDataLst>
                <p:tags r:id="rId11"/>
              </p:custDataLst>
            </p:nvPr>
          </p:nvSpPr>
          <p:spPr>
            <a:xfrm>
              <a:off x="85591" y="4407495"/>
              <a:ext cx="456946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3B90D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Voice-guided social prompts</a:t>
              </a:r>
            </a:p>
          </p:txBody>
        </p:sp>
        <p:sp>
          <p:nvSpPr>
            <p:cNvPr id="13" name="文本框 12"/>
            <p:cNvSpPr txBox="1"/>
            <p:nvPr>
              <p:custDataLst>
                <p:tags r:id="rId12"/>
              </p:custDataLst>
            </p:nvPr>
          </p:nvSpPr>
          <p:spPr>
            <a:xfrm>
              <a:off x="191001" y="4724750"/>
              <a:ext cx="3240360" cy="1087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It offers voice suggestions to start or continue conversations.</a:t>
              </a:r>
            </a:p>
          </p:txBody>
        </p:sp>
      </p:grpSp>
      <p:grpSp>
        <p:nvGrpSpPr>
          <p:cNvPr id="7" name="组合 6"/>
          <p:cNvGrpSpPr/>
          <p:nvPr>
            <p:custDataLst>
              <p:tags r:id="rId5"/>
            </p:custDataLst>
          </p:nvPr>
        </p:nvGrpSpPr>
        <p:grpSpPr>
          <a:xfrm>
            <a:off x="7035344" y="5136475"/>
            <a:ext cx="4461510" cy="1136405"/>
            <a:chOff x="6785154" y="4407495"/>
            <a:chExt cx="4461510" cy="1136405"/>
          </a:xfrm>
        </p:grpSpPr>
        <p:sp>
          <p:nvSpPr>
            <p:cNvPr id="15" name="文本框 14"/>
            <p:cNvSpPr txBox="1"/>
            <p:nvPr>
              <p:custDataLst>
                <p:tags r:id="rId9"/>
              </p:custDataLst>
            </p:nvPr>
          </p:nvSpPr>
          <p:spPr>
            <a:xfrm>
              <a:off x="6785154" y="4407495"/>
              <a:ext cx="446151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400" dirty="0">
                  <a:solidFill>
                    <a:srgbClr val="3B90D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Auto family message updates</a:t>
              </a:r>
            </a:p>
          </p:txBody>
        </p:sp>
        <p:sp>
          <p:nvSpPr>
            <p:cNvPr id="17" name="文本框 16"/>
            <p:cNvSpPr txBox="1"/>
            <p:nvPr>
              <p:custDataLst>
                <p:tags r:id="rId10"/>
              </p:custDataLst>
            </p:nvPr>
          </p:nvSpPr>
          <p:spPr>
            <a:xfrm>
              <a:off x="8006259" y="4788250"/>
              <a:ext cx="3240360" cy="755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It informs users of family messages and helps reply.</a:t>
              </a:r>
            </a:p>
          </p:txBody>
        </p:sp>
      </p:grpSp>
      <p:pic>
        <p:nvPicPr>
          <p:cNvPr id="4" name="图片 3" descr="未命名项目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19830" y="1412875"/>
            <a:ext cx="4648200" cy="4648200"/>
          </a:xfrm>
          <a:prstGeom prst="rect">
            <a:avLst/>
          </a:prstGeom>
        </p:spPr>
      </p:pic>
      <p:grpSp>
        <p:nvGrpSpPr>
          <p:cNvPr id="8" name="组合 7"/>
          <p:cNvGrpSpPr/>
          <p:nvPr>
            <p:custDataLst>
              <p:tags r:id="rId6"/>
            </p:custDataLst>
          </p:nvPr>
        </p:nvGrpSpPr>
        <p:grpSpPr>
          <a:xfrm>
            <a:off x="7340144" y="2400260"/>
            <a:ext cx="4461510" cy="1136405"/>
            <a:chOff x="6785154" y="4407495"/>
            <a:chExt cx="4461510" cy="1136405"/>
          </a:xfrm>
        </p:grpSpPr>
        <p:sp>
          <p:nvSpPr>
            <p:cNvPr id="19" name="文本框 18"/>
            <p:cNvSpPr txBox="1"/>
            <p:nvPr>
              <p:custDataLst>
                <p:tags r:id="rId7"/>
              </p:custDataLst>
            </p:nvPr>
          </p:nvSpPr>
          <p:spPr>
            <a:xfrm>
              <a:off x="6785154" y="4407495"/>
              <a:ext cx="446151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400" dirty="0">
                  <a:solidFill>
                    <a:srgbClr val="3B90D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Fraud detection in calls</a:t>
              </a:r>
            </a:p>
          </p:txBody>
        </p:sp>
        <p:sp>
          <p:nvSpPr>
            <p:cNvPr id="20" name="文本框 19"/>
            <p:cNvSpPr txBox="1"/>
            <p:nvPr>
              <p:custDataLst>
                <p:tags r:id="rId8"/>
              </p:custDataLst>
            </p:nvPr>
          </p:nvSpPr>
          <p:spPr>
            <a:xfrm>
              <a:off x="8006259" y="4788250"/>
              <a:ext cx="3240360" cy="755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</a:rPr>
                <a:t>It identifies suspicious calls and warns users.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561722" y="1259152"/>
            <a:ext cx="11626275" cy="52209"/>
          </a:xfrm>
          <a:prstGeom prst="rect">
            <a:avLst/>
          </a:prstGeom>
          <a:solidFill>
            <a:srgbClr val="3E9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思源宋体"/>
              <a:cs typeface="+mn-cs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-419735" y="628650"/>
            <a:ext cx="99002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  <a:defRPr/>
            </a:pPr>
            <a:r>
              <a:rPr lang="zh-CN" altLang="en-US" sz="3200" noProof="0" dirty="0">
                <a:ln>
                  <a:noFill/>
                </a:ln>
                <a:solidFill>
                  <a:srgbClr val="3B90D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User value and elderly-friendly design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3B90D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n-cs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20032" y="1159232"/>
            <a:ext cx="406386" cy="518758"/>
          </a:xfrm>
          <a:prstGeom prst="rect">
            <a:avLst/>
          </a:prstGeom>
          <a:solidFill>
            <a:srgbClr val="9BC3E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思源宋体"/>
              <a:cs typeface="+mn-cs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19519" y="881669"/>
            <a:ext cx="483378" cy="617040"/>
          </a:xfrm>
          <a:prstGeom prst="rect">
            <a:avLst/>
          </a:prstGeom>
          <a:solidFill>
            <a:srgbClr val="4696D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思源宋体"/>
              <a:cs typeface="+mn-cs"/>
            </a:endParaRPr>
          </a:p>
        </p:txBody>
      </p:sp>
      <p:pic>
        <p:nvPicPr>
          <p:cNvPr id="2" name="图片 1" descr="未命名项目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7625" y="2132965"/>
            <a:ext cx="4106545" cy="4106545"/>
          </a:xfrm>
          <a:prstGeom prst="rect">
            <a:avLst/>
          </a:prstGeom>
        </p:spPr>
      </p:pic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5463540" y="1988820"/>
            <a:ext cx="6432550" cy="1513840"/>
            <a:chOff x="8604" y="3132"/>
            <a:chExt cx="10130" cy="2384"/>
          </a:xfrm>
        </p:grpSpPr>
        <p:grpSp>
          <p:nvGrpSpPr>
            <p:cNvPr id="91" name="组合 90"/>
            <p:cNvGrpSpPr/>
            <p:nvPr>
              <p:custDataLst>
                <p:tags r:id="rId14"/>
              </p:custDataLst>
            </p:nvPr>
          </p:nvGrpSpPr>
          <p:grpSpPr>
            <a:xfrm>
              <a:off x="8604" y="3132"/>
              <a:ext cx="10131" cy="2385"/>
              <a:chOff x="1055440" y="1840584"/>
              <a:chExt cx="4847746" cy="1516408"/>
            </a:xfrm>
          </p:grpSpPr>
          <p:sp>
            <p:nvSpPr>
              <p:cNvPr id="11" name="矩形 10"/>
              <p:cNvSpPr/>
              <p:nvPr>
                <p:custDataLst>
                  <p:tags r:id="rId18"/>
                </p:custDataLst>
              </p:nvPr>
            </p:nvSpPr>
            <p:spPr>
              <a:xfrm>
                <a:off x="1055440" y="1840584"/>
                <a:ext cx="1516408" cy="1516408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65100" dist="38100" dir="10800000" sx="98000" sy="98000" algn="r" rotWithShape="0">
                  <a:prstClr val="black">
                    <a:alpha val="3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90" name="组合 89"/>
              <p:cNvGrpSpPr/>
              <p:nvPr/>
            </p:nvGrpSpPr>
            <p:grpSpPr>
              <a:xfrm>
                <a:off x="2139800" y="1840584"/>
                <a:ext cx="3763386" cy="1516408"/>
                <a:chOff x="2139800" y="1840584"/>
                <a:chExt cx="3763386" cy="1516408"/>
              </a:xfrm>
            </p:grpSpPr>
            <p:sp>
              <p:nvSpPr>
                <p:cNvPr id="18" name="矩形 17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2571848" y="1840584"/>
                  <a:ext cx="3331338" cy="1516408"/>
                </a:xfrm>
                <a:prstGeom prst="rect">
                  <a:avLst/>
                </a:prstGeom>
                <a:solidFill>
                  <a:srgbClr val="3E93D1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65100" dist="38100" dir="10800000" sx="98000" sy="98000" algn="r" rotWithShape="0">
                    <a:prstClr val="black">
                      <a:alpha val="3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" name="等腰三角形 4"/>
                <p:cNvSpPr/>
                <p:nvPr>
                  <p:custDataLst>
                    <p:tags r:id="rId20"/>
                  </p:custDataLst>
                </p:nvPr>
              </p:nvSpPr>
              <p:spPr>
                <a:xfrm rot="16200000">
                  <a:off x="1597620" y="2382764"/>
                  <a:ext cx="1516407" cy="432048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3E93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80" name="组合 79"/>
            <p:cNvGrpSpPr/>
            <p:nvPr>
              <p:custDataLst>
                <p:tags r:id="rId15"/>
              </p:custDataLst>
            </p:nvPr>
          </p:nvGrpSpPr>
          <p:grpSpPr>
            <a:xfrm>
              <a:off x="11755" y="3472"/>
              <a:ext cx="6910" cy="1750"/>
              <a:chOff x="2695919" y="1959223"/>
              <a:chExt cx="3860311" cy="1112719"/>
            </a:xfrm>
          </p:grpSpPr>
          <p:sp>
            <p:nvSpPr>
              <p:cNvPr id="66" name="文本框 65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2695919" y="1959223"/>
                <a:ext cx="3860311" cy="460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No forced active operation</a:t>
                </a:r>
              </a:p>
            </p:txBody>
          </p:sp>
          <p:sp>
            <p:nvSpPr>
              <p:cNvPr id="67" name="文本框 66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2695919" y="2315293"/>
                <a:ext cx="3391599" cy="756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dirty="0">
                    <a:solidFill>
                      <a:schemeClr val="bg1"/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</a:rPr>
                  <a:t>Users don't need to actively operate it.</a:t>
                </a:r>
              </a:p>
            </p:txBody>
          </p:sp>
        </p:grpSp>
      </p:grpSp>
      <p:sp>
        <p:nvSpPr>
          <p:cNvPr id="50" name="Freeform 42"/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>
            <a:off x="5880291" y="2360078"/>
            <a:ext cx="721419" cy="771329"/>
          </a:xfrm>
          <a:custGeom>
            <a:avLst/>
            <a:gdLst>
              <a:gd name="T0" fmla="*/ 169 w 185"/>
              <a:gd name="T1" fmla="*/ 93 h 198"/>
              <a:gd name="T2" fmla="*/ 147 w 185"/>
              <a:gd name="T3" fmla="*/ 35 h 198"/>
              <a:gd name="T4" fmla="*/ 93 w 185"/>
              <a:gd name="T5" fmla="*/ 0 h 198"/>
              <a:gd name="T6" fmla="*/ 39 w 185"/>
              <a:gd name="T7" fmla="*/ 35 h 198"/>
              <a:gd name="T8" fmla="*/ 22 w 185"/>
              <a:gd name="T9" fmla="*/ 99 h 198"/>
              <a:gd name="T10" fmla="*/ 39 w 185"/>
              <a:gd name="T11" fmla="*/ 162 h 198"/>
              <a:gd name="T12" fmla="*/ 93 w 185"/>
              <a:gd name="T13" fmla="*/ 198 h 198"/>
              <a:gd name="T14" fmla="*/ 147 w 185"/>
              <a:gd name="T15" fmla="*/ 162 h 198"/>
              <a:gd name="T16" fmla="*/ 169 w 185"/>
              <a:gd name="T17" fmla="*/ 104 h 198"/>
              <a:gd name="T18" fmla="*/ 147 w 185"/>
              <a:gd name="T19" fmla="*/ 47 h 198"/>
              <a:gd name="T20" fmla="*/ 159 w 185"/>
              <a:gd name="T21" fmla="*/ 86 h 198"/>
              <a:gd name="T22" fmla="*/ 137 w 185"/>
              <a:gd name="T23" fmla="*/ 74 h 198"/>
              <a:gd name="T24" fmla="*/ 147 w 185"/>
              <a:gd name="T25" fmla="*/ 47 h 198"/>
              <a:gd name="T26" fmla="*/ 93 w 185"/>
              <a:gd name="T27" fmla="*/ 136 h 198"/>
              <a:gd name="T28" fmla="*/ 61 w 185"/>
              <a:gd name="T29" fmla="*/ 117 h 198"/>
              <a:gd name="T30" fmla="*/ 61 w 185"/>
              <a:gd name="T31" fmla="*/ 80 h 198"/>
              <a:gd name="T32" fmla="*/ 93 w 185"/>
              <a:gd name="T33" fmla="*/ 61 h 198"/>
              <a:gd name="T34" fmla="*/ 125 w 185"/>
              <a:gd name="T35" fmla="*/ 80 h 198"/>
              <a:gd name="T36" fmla="*/ 125 w 185"/>
              <a:gd name="T37" fmla="*/ 117 h 198"/>
              <a:gd name="T38" fmla="*/ 123 w 185"/>
              <a:gd name="T39" fmla="*/ 133 h 198"/>
              <a:gd name="T40" fmla="*/ 108 w 185"/>
              <a:gd name="T41" fmla="*/ 142 h 198"/>
              <a:gd name="T42" fmla="*/ 123 w 185"/>
              <a:gd name="T43" fmla="*/ 133 h 198"/>
              <a:gd name="T44" fmla="*/ 66 w 185"/>
              <a:gd name="T45" fmla="*/ 146 h 198"/>
              <a:gd name="T46" fmla="*/ 71 w 185"/>
              <a:gd name="T47" fmla="*/ 138 h 198"/>
              <a:gd name="T48" fmla="*/ 48 w 185"/>
              <a:gd name="T49" fmla="*/ 108 h 198"/>
              <a:gd name="T50" fmla="*/ 48 w 185"/>
              <a:gd name="T51" fmla="*/ 90 h 198"/>
              <a:gd name="T52" fmla="*/ 48 w 185"/>
              <a:gd name="T53" fmla="*/ 108 h 198"/>
              <a:gd name="T54" fmla="*/ 66 w 185"/>
              <a:gd name="T55" fmla="*/ 51 h 198"/>
              <a:gd name="T56" fmla="*/ 71 w 185"/>
              <a:gd name="T57" fmla="*/ 60 h 198"/>
              <a:gd name="T58" fmla="*/ 108 w 185"/>
              <a:gd name="T59" fmla="*/ 55 h 198"/>
              <a:gd name="T60" fmla="*/ 123 w 185"/>
              <a:gd name="T61" fmla="*/ 64 h 198"/>
              <a:gd name="T62" fmla="*/ 108 w 185"/>
              <a:gd name="T63" fmla="*/ 55 h 198"/>
              <a:gd name="T64" fmla="*/ 148 w 185"/>
              <a:gd name="T65" fmla="*/ 99 h 198"/>
              <a:gd name="T66" fmla="*/ 138 w 185"/>
              <a:gd name="T67" fmla="*/ 99 h 198"/>
              <a:gd name="T68" fmla="*/ 93 w 185"/>
              <a:gd name="T69" fmla="*/ 12 h 198"/>
              <a:gd name="T70" fmla="*/ 93 w 185"/>
              <a:gd name="T71" fmla="*/ 48 h 198"/>
              <a:gd name="T72" fmla="*/ 93 w 185"/>
              <a:gd name="T73" fmla="*/ 12 h 198"/>
              <a:gd name="T74" fmla="*/ 39 w 185"/>
              <a:gd name="T75" fmla="*/ 47 h 198"/>
              <a:gd name="T76" fmla="*/ 49 w 185"/>
              <a:gd name="T77" fmla="*/ 73 h 198"/>
              <a:gd name="T78" fmla="*/ 18 w 185"/>
              <a:gd name="T79" fmla="*/ 55 h 198"/>
              <a:gd name="T80" fmla="*/ 18 w 185"/>
              <a:gd name="T81" fmla="*/ 142 h 198"/>
              <a:gd name="T82" fmla="*/ 49 w 185"/>
              <a:gd name="T83" fmla="*/ 124 h 198"/>
              <a:gd name="T84" fmla="*/ 39 w 185"/>
              <a:gd name="T85" fmla="*/ 150 h 198"/>
              <a:gd name="T86" fmla="*/ 69 w 185"/>
              <a:gd name="T87" fmla="*/ 158 h 198"/>
              <a:gd name="T88" fmla="*/ 117 w 185"/>
              <a:gd name="T89" fmla="*/ 158 h 198"/>
              <a:gd name="T90" fmla="*/ 168 w 185"/>
              <a:gd name="T91" fmla="*/ 142 h 198"/>
              <a:gd name="T92" fmla="*/ 132 w 185"/>
              <a:gd name="T93" fmla="*/ 149 h 198"/>
              <a:gd name="T94" fmla="*/ 156 w 185"/>
              <a:gd name="T95" fmla="*/ 107 h 198"/>
              <a:gd name="T96" fmla="*/ 168 w 185"/>
              <a:gd name="T97" fmla="*/ 142 h 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85" h="198">
                <a:moveTo>
                  <a:pt x="164" y="99"/>
                </a:moveTo>
                <a:cubicBezTo>
                  <a:pt x="166" y="97"/>
                  <a:pt x="167" y="95"/>
                  <a:pt x="169" y="93"/>
                </a:cubicBezTo>
                <a:cubicBezTo>
                  <a:pt x="182" y="76"/>
                  <a:pt x="185" y="60"/>
                  <a:pt x="179" y="49"/>
                </a:cubicBezTo>
                <a:cubicBezTo>
                  <a:pt x="175" y="43"/>
                  <a:pt x="167" y="35"/>
                  <a:pt x="147" y="35"/>
                </a:cubicBezTo>
                <a:cubicBezTo>
                  <a:pt x="141" y="35"/>
                  <a:pt x="135" y="36"/>
                  <a:pt x="129" y="37"/>
                </a:cubicBezTo>
                <a:cubicBezTo>
                  <a:pt x="121" y="14"/>
                  <a:pt x="108" y="0"/>
                  <a:pt x="93" y="0"/>
                </a:cubicBezTo>
                <a:cubicBezTo>
                  <a:pt x="78" y="0"/>
                  <a:pt x="65" y="14"/>
                  <a:pt x="57" y="37"/>
                </a:cubicBezTo>
                <a:cubicBezTo>
                  <a:pt x="51" y="36"/>
                  <a:pt x="45" y="35"/>
                  <a:pt x="39" y="35"/>
                </a:cubicBezTo>
                <a:cubicBezTo>
                  <a:pt x="20" y="35"/>
                  <a:pt x="11" y="43"/>
                  <a:pt x="7" y="49"/>
                </a:cubicBezTo>
                <a:cubicBezTo>
                  <a:pt x="0" y="62"/>
                  <a:pt x="6" y="80"/>
                  <a:pt x="22" y="99"/>
                </a:cubicBezTo>
                <a:cubicBezTo>
                  <a:pt x="6" y="117"/>
                  <a:pt x="0" y="135"/>
                  <a:pt x="7" y="148"/>
                </a:cubicBezTo>
                <a:cubicBezTo>
                  <a:pt x="11" y="155"/>
                  <a:pt x="20" y="162"/>
                  <a:pt x="39" y="162"/>
                </a:cubicBezTo>
                <a:cubicBezTo>
                  <a:pt x="45" y="162"/>
                  <a:pt x="51" y="162"/>
                  <a:pt x="57" y="160"/>
                </a:cubicBezTo>
                <a:cubicBezTo>
                  <a:pt x="65" y="183"/>
                  <a:pt x="78" y="198"/>
                  <a:pt x="93" y="198"/>
                </a:cubicBezTo>
                <a:cubicBezTo>
                  <a:pt x="108" y="198"/>
                  <a:pt x="121" y="183"/>
                  <a:pt x="129" y="160"/>
                </a:cubicBezTo>
                <a:cubicBezTo>
                  <a:pt x="135" y="162"/>
                  <a:pt x="141" y="162"/>
                  <a:pt x="147" y="162"/>
                </a:cubicBezTo>
                <a:cubicBezTo>
                  <a:pt x="167" y="162"/>
                  <a:pt x="175" y="155"/>
                  <a:pt x="179" y="148"/>
                </a:cubicBezTo>
                <a:cubicBezTo>
                  <a:pt x="185" y="137"/>
                  <a:pt x="182" y="121"/>
                  <a:pt x="169" y="104"/>
                </a:cubicBezTo>
                <a:cubicBezTo>
                  <a:pt x="167" y="102"/>
                  <a:pt x="166" y="100"/>
                  <a:pt x="164" y="99"/>
                </a:cubicBezTo>
                <a:close/>
                <a:moveTo>
                  <a:pt x="147" y="47"/>
                </a:moveTo>
                <a:cubicBezTo>
                  <a:pt x="158" y="47"/>
                  <a:pt x="165" y="50"/>
                  <a:pt x="168" y="55"/>
                </a:cubicBezTo>
                <a:cubicBezTo>
                  <a:pt x="172" y="62"/>
                  <a:pt x="169" y="73"/>
                  <a:pt x="159" y="86"/>
                </a:cubicBezTo>
                <a:cubicBezTo>
                  <a:pt x="158" y="87"/>
                  <a:pt x="157" y="89"/>
                  <a:pt x="156" y="90"/>
                </a:cubicBezTo>
                <a:cubicBezTo>
                  <a:pt x="150" y="84"/>
                  <a:pt x="144" y="79"/>
                  <a:pt x="137" y="74"/>
                </a:cubicBezTo>
                <a:cubicBezTo>
                  <a:pt x="136" y="65"/>
                  <a:pt x="134" y="56"/>
                  <a:pt x="132" y="49"/>
                </a:cubicBezTo>
                <a:cubicBezTo>
                  <a:pt x="137" y="48"/>
                  <a:pt x="142" y="47"/>
                  <a:pt x="147" y="47"/>
                </a:cubicBezTo>
                <a:close/>
                <a:moveTo>
                  <a:pt x="110" y="127"/>
                </a:moveTo>
                <a:cubicBezTo>
                  <a:pt x="104" y="130"/>
                  <a:pt x="99" y="133"/>
                  <a:pt x="93" y="136"/>
                </a:cubicBezTo>
                <a:cubicBezTo>
                  <a:pt x="88" y="133"/>
                  <a:pt x="82" y="130"/>
                  <a:pt x="77" y="127"/>
                </a:cubicBezTo>
                <a:cubicBezTo>
                  <a:pt x="71" y="124"/>
                  <a:pt x="66" y="121"/>
                  <a:pt x="61" y="117"/>
                </a:cubicBezTo>
                <a:cubicBezTo>
                  <a:pt x="60" y="111"/>
                  <a:pt x="60" y="105"/>
                  <a:pt x="60" y="99"/>
                </a:cubicBezTo>
                <a:cubicBezTo>
                  <a:pt x="60" y="92"/>
                  <a:pt x="60" y="86"/>
                  <a:pt x="61" y="80"/>
                </a:cubicBezTo>
                <a:cubicBezTo>
                  <a:pt x="66" y="77"/>
                  <a:pt x="71" y="73"/>
                  <a:pt x="77" y="70"/>
                </a:cubicBezTo>
                <a:cubicBezTo>
                  <a:pt x="82" y="67"/>
                  <a:pt x="88" y="64"/>
                  <a:pt x="93" y="61"/>
                </a:cubicBezTo>
                <a:cubicBezTo>
                  <a:pt x="99" y="64"/>
                  <a:pt x="104" y="67"/>
                  <a:pt x="110" y="70"/>
                </a:cubicBezTo>
                <a:cubicBezTo>
                  <a:pt x="115" y="73"/>
                  <a:pt x="120" y="77"/>
                  <a:pt x="125" y="80"/>
                </a:cubicBezTo>
                <a:cubicBezTo>
                  <a:pt x="126" y="86"/>
                  <a:pt x="126" y="92"/>
                  <a:pt x="126" y="99"/>
                </a:cubicBezTo>
                <a:cubicBezTo>
                  <a:pt x="126" y="105"/>
                  <a:pt x="126" y="111"/>
                  <a:pt x="125" y="117"/>
                </a:cubicBezTo>
                <a:cubicBezTo>
                  <a:pt x="120" y="121"/>
                  <a:pt x="115" y="124"/>
                  <a:pt x="110" y="127"/>
                </a:cubicBezTo>
                <a:close/>
                <a:moveTo>
                  <a:pt x="123" y="133"/>
                </a:moveTo>
                <a:cubicBezTo>
                  <a:pt x="122" y="138"/>
                  <a:pt x="122" y="142"/>
                  <a:pt x="120" y="146"/>
                </a:cubicBezTo>
                <a:cubicBezTo>
                  <a:pt x="116" y="145"/>
                  <a:pt x="112" y="144"/>
                  <a:pt x="108" y="142"/>
                </a:cubicBezTo>
                <a:cubicBezTo>
                  <a:pt x="110" y="141"/>
                  <a:pt x="113" y="139"/>
                  <a:pt x="116" y="138"/>
                </a:cubicBezTo>
                <a:cubicBezTo>
                  <a:pt x="118" y="136"/>
                  <a:pt x="121" y="135"/>
                  <a:pt x="123" y="133"/>
                </a:cubicBezTo>
                <a:close/>
                <a:moveTo>
                  <a:pt x="78" y="142"/>
                </a:moveTo>
                <a:cubicBezTo>
                  <a:pt x="74" y="144"/>
                  <a:pt x="70" y="145"/>
                  <a:pt x="66" y="146"/>
                </a:cubicBezTo>
                <a:cubicBezTo>
                  <a:pt x="65" y="142"/>
                  <a:pt x="64" y="138"/>
                  <a:pt x="63" y="133"/>
                </a:cubicBezTo>
                <a:cubicBezTo>
                  <a:pt x="65" y="135"/>
                  <a:pt x="68" y="136"/>
                  <a:pt x="71" y="138"/>
                </a:cubicBezTo>
                <a:cubicBezTo>
                  <a:pt x="73" y="139"/>
                  <a:pt x="76" y="141"/>
                  <a:pt x="78" y="142"/>
                </a:cubicBezTo>
                <a:close/>
                <a:moveTo>
                  <a:pt x="48" y="108"/>
                </a:moveTo>
                <a:cubicBezTo>
                  <a:pt x="45" y="105"/>
                  <a:pt x="41" y="102"/>
                  <a:pt x="38" y="99"/>
                </a:cubicBezTo>
                <a:cubicBezTo>
                  <a:pt x="41" y="96"/>
                  <a:pt x="45" y="93"/>
                  <a:pt x="48" y="90"/>
                </a:cubicBezTo>
                <a:cubicBezTo>
                  <a:pt x="48" y="93"/>
                  <a:pt x="48" y="96"/>
                  <a:pt x="48" y="99"/>
                </a:cubicBezTo>
                <a:cubicBezTo>
                  <a:pt x="48" y="102"/>
                  <a:pt x="48" y="105"/>
                  <a:pt x="48" y="108"/>
                </a:cubicBezTo>
                <a:close/>
                <a:moveTo>
                  <a:pt x="63" y="64"/>
                </a:moveTo>
                <a:cubicBezTo>
                  <a:pt x="64" y="60"/>
                  <a:pt x="65" y="55"/>
                  <a:pt x="66" y="51"/>
                </a:cubicBezTo>
                <a:cubicBezTo>
                  <a:pt x="70" y="52"/>
                  <a:pt x="74" y="54"/>
                  <a:pt x="78" y="55"/>
                </a:cubicBezTo>
                <a:cubicBezTo>
                  <a:pt x="76" y="57"/>
                  <a:pt x="73" y="58"/>
                  <a:pt x="71" y="60"/>
                </a:cubicBezTo>
                <a:cubicBezTo>
                  <a:pt x="68" y="61"/>
                  <a:pt x="65" y="63"/>
                  <a:pt x="63" y="64"/>
                </a:cubicBezTo>
                <a:close/>
                <a:moveTo>
                  <a:pt x="108" y="55"/>
                </a:moveTo>
                <a:cubicBezTo>
                  <a:pt x="112" y="54"/>
                  <a:pt x="116" y="52"/>
                  <a:pt x="120" y="51"/>
                </a:cubicBezTo>
                <a:cubicBezTo>
                  <a:pt x="122" y="55"/>
                  <a:pt x="122" y="60"/>
                  <a:pt x="123" y="64"/>
                </a:cubicBezTo>
                <a:cubicBezTo>
                  <a:pt x="121" y="63"/>
                  <a:pt x="118" y="61"/>
                  <a:pt x="116" y="60"/>
                </a:cubicBezTo>
                <a:cubicBezTo>
                  <a:pt x="113" y="58"/>
                  <a:pt x="110" y="57"/>
                  <a:pt x="108" y="55"/>
                </a:cubicBezTo>
                <a:close/>
                <a:moveTo>
                  <a:pt x="138" y="90"/>
                </a:moveTo>
                <a:cubicBezTo>
                  <a:pt x="141" y="93"/>
                  <a:pt x="145" y="96"/>
                  <a:pt x="148" y="99"/>
                </a:cubicBezTo>
                <a:cubicBezTo>
                  <a:pt x="145" y="102"/>
                  <a:pt x="141" y="105"/>
                  <a:pt x="138" y="108"/>
                </a:cubicBezTo>
                <a:cubicBezTo>
                  <a:pt x="138" y="105"/>
                  <a:pt x="138" y="102"/>
                  <a:pt x="138" y="99"/>
                </a:cubicBezTo>
                <a:cubicBezTo>
                  <a:pt x="138" y="96"/>
                  <a:pt x="138" y="93"/>
                  <a:pt x="138" y="90"/>
                </a:cubicBezTo>
                <a:close/>
                <a:moveTo>
                  <a:pt x="93" y="12"/>
                </a:moveTo>
                <a:cubicBezTo>
                  <a:pt x="102" y="12"/>
                  <a:pt x="110" y="22"/>
                  <a:pt x="117" y="40"/>
                </a:cubicBezTo>
                <a:cubicBezTo>
                  <a:pt x="109" y="42"/>
                  <a:pt x="101" y="45"/>
                  <a:pt x="93" y="48"/>
                </a:cubicBezTo>
                <a:cubicBezTo>
                  <a:pt x="85" y="45"/>
                  <a:pt x="77" y="42"/>
                  <a:pt x="69" y="40"/>
                </a:cubicBezTo>
                <a:cubicBezTo>
                  <a:pt x="76" y="22"/>
                  <a:pt x="85" y="12"/>
                  <a:pt x="93" y="12"/>
                </a:cubicBezTo>
                <a:close/>
                <a:moveTo>
                  <a:pt x="18" y="55"/>
                </a:moveTo>
                <a:cubicBezTo>
                  <a:pt x="21" y="50"/>
                  <a:pt x="28" y="47"/>
                  <a:pt x="39" y="47"/>
                </a:cubicBezTo>
                <a:cubicBezTo>
                  <a:pt x="44" y="47"/>
                  <a:pt x="49" y="48"/>
                  <a:pt x="54" y="49"/>
                </a:cubicBezTo>
                <a:cubicBezTo>
                  <a:pt x="52" y="56"/>
                  <a:pt x="50" y="65"/>
                  <a:pt x="49" y="73"/>
                </a:cubicBezTo>
                <a:cubicBezTo>
                  <a:pt x="42" y="79"/>
                  <a:pt x="36" y="84"/>
                  <a:pt x="30" y="90"/>
                </a:cubicBezTo>
                <a:cubicBezTo>
                  <a:pt x="18" y="75"/>
                  <a:pt x="14" y="62"/>
                  <a:pt x="18" y="55"/>
                </a:cubicBezTo>
                <a:close/>
                <a:moveTo>
                  <a:pt x="39" y="150"/>
                </a:moveTo>
                <a:cubicBezTo>
                  <a:pt x="28" y="150"/>
                  <a:pt x="21" y="147"/>
                  <a:pt x="18" y="142"/>
                </a:cubicBezTo>
                <a:cubicBezTo>
                  <a:pt x="14" y="135"/>
                  <a:pt x="18" y="122"/>
                  <a:pt x="30" y="108"/>
                </a:cubicBezTo>
                <a:cubicBezTo>
                  <a:pt x="36" y="113"/>
                  <a:pt x="42" y="119"/>
                  <a:pt x="49" y="124"/>
                </a:cubicBezTo>
                <a:cubicBezTo>
                  <a:pt x="50" y="133"/>
                  <a:pt x="52" y="141"/>
                  <a:pt x="54" y="149"/>
                </a:cubicBezTo>
                <a:cubicBezTo>
                  <a:pt x="49" y="150"/>
                  <a:pt x="44" y="150"/>
                  <a:pt x="39" y="150"/>
                </a:cubicBezTo>
                <a:close/>
                <a:moveTo>
                  <a:pt x="93" y="186"/>
                </a:moveTo>
                <a:cubicBezTo>
                  <a:pt x="85" y="186"/>
                  <a:pt x="76" y="175"/>
                  <a:pt x="69" y="158"/>
                </a:cubicBezTo>
                <a:cubicBezTo>
                  <a:pt x="77" y="155"/>
                  <a:pt x="85" y="153"/>
                  <a:pt x="93" y="149"/>
                </a:cubicBezTo>
                <a:cubicBezTo>
                  <a:pt x="101" y="153"/>
                  <a:pt x="109" y="155"/>
                  <a:pt x="117" y="158"/>
                </a:cubicBezTo>
                <a:cubicBezTo>
                  <a:pt x="110" y="175"/>
                  <a:pt x="102" y="186"/>
                  <a:pt x="93" y="186"/>
                </a:cubicBezTo>
                <a:close/>
                <a:moveTo>
                  <a:pt x="168" y="142"/>
                </a:moveTo>
                <a:cubicBezTo>
                  <a:pt x="165" y="147"/>
                  <a:pt x="158" y="150"/>
                  <a:pt x="147" y="150"/>
                </a:cubicBezTo>
                <a:cubicBezTo>
                  <a:pt x="142" y="150"/>
                  <a:pt x="137" y="150"/>
                  <a:pt x="132" y="149"/>
                </a:cubicBezTo>
                <a:cubicBezTo>
                  <a:pt x="134" y="141"/>
                  <a:pt x="136" y="133"/>
                  <a:pt x="137" y="124"/>
                </a:cubicBezTo>
                <a:cubicBezTo>
                  <a:pt x="144" y="119"/>
                  <a:pt x="150" y="113"/>
                  <a:pt x="156" y="107"/>
                </a:cubicBezTo>
                <a:cubicBezTo>
                  <a:pt x="157" y="109"/>
                  <a:pt x="158" y="110"/>
                  <a:pt x="159" y="111"/>
                </a:cubicBezTo>
                <a:cubicBezTo>
                  <a:pt x="169" y="124"/>
                  <a:pt x="172" y="135"/>
                  <a:pt x="168" y="142"/>
                </a:cubicBezTo>
                <a:close/>
              </a:path>
            </a:pathLst>
          </a:custGeom>
          <a:solidFill>
            <a:srgbClr val="3E93D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3"/>
            </p:custDataLst>
          </p:nvPr>
        </p:nvGrpSpPr>
        <p:grpSpPr>
          <a:xfrm>
            <a:off x="5368925" y="4653280"/>
            <a:ext cx="6433185" cy="1514475"/>
            <a:chOff x="8604" y="3132"/>
            <a:chExt cx="10131" cy="2385"/>
          </a:xfrm>
        </p:grpSpPr>
        <p:grpSp>
          <p:nvGrpSpPr>
            <p:cNvPr id="12" name="组合 11"/>
            <p:cNvGrpSpPr/>
            <p:nvPr>
              <p:custDataLst>
                <p:tags r:id="rId7"/>
              </p:custDataLst>
            </p:nvPr>
          </p:nvGrpSpPr>
          <p:grpSpPr>
            <a:xfrm>
              <a:off x="8604" y="3132"/>
              <a:ext cx="10131" cy="2385"/>
              <a:chOff x="1055440" y="1840584"/>
              <a:chExt cx="4847746" cy="1516408"/>
            </a:xfrm>
          </p:grpSpPr>
          <p:sp>
            <p:nvSpPr>
              <p:cNvPr id="13" name="矩形 12"/>
              <p:cNvSpPr/>
              <p:nvPr>
                <p:custDataLst>
                  <p:tags r:id="rId11"/>
                </p:custDataLst>
              </p:nvPr>
            </p:nvSpPr>
            <p:spPr>
              <a:xfrm>
                <a:off x="1055440" y="1840584"/>
                <a:ext cx="1516408" cy="1516408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65100" dist="38100" dir="10800000" sx="98000" sy="98000" algn="r" rotWithShape="0">
                  <a:prstClr val="black">
                    <a:alpha val="3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14" name="组合 13"/>
              <p:cNvGrpSpPr/>
              <p:nvPr/>
            </p:nvGrpSpPr>
            <p:grpSpPr>
              <a:xfrm>
                <a:off x="2139800" y="1840584"/>
                <a:ext cx="3763386" cy="1516408"/>
                <a:chOff x="2139800" y="1840584"/>
                <a:chExt cx="3763386" cy="1516408"/>
              </a:xfrm>
            </p:grpSpPr>
            <p:sp>
              <p:nvSpPr>
                <p:cNvPr id="15" name="矩形 14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2571848" y="1840584"/>
                  <a:ext cx="3331338" cy="1516408"/>
                </a:xfrm>
                <a:prstGeom prst="rect">
                  <a:avLst/>
                </a:prstGeom>
                <a:solidFill>
                  <a:srgbClr val="3E93D1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65100" dist="38100" dir="10800000" sx="98000" sy="98000" algn="r" rotWithShape="0">
                    <a:prstClr val="black">
                      <a:alpha val="3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6" name="等腰三角形 15"/>
                <p:cNvSpPr/>
                <p:nvPr>
                  <p:custDataLst>
                    <p:tags r:id="rId13"/>
                  </p:custDataLst>
                </p:nvPr>
              </p:nvSpPr>
              <p:spPr>
                <a:xfrm rot="16200000">
                  <a:off x="1597620" y="2382764"/>
                  <a:ext cx="1516407" cy="432048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3E93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>
              <p:custDataLst>
                <p:tags r:id="rId8"/>
              </p:custDataLst>
            </p:nvPr>
          </p:nvGrpSpPr>
          <p:grpSpPr>
            <a:xfrm>
              <a:off x="11755" y="3472"/>
              <a:ext cx="6910" cy="1750"/>
              <a:chOff x="2695919" y="1959223"/>
              <a:chExt cx="3860311" cy="1112719"/>
            </a:xfrm>
          </p:grpSpPr>
          <p:sp>
            <p:nvSpPr>
              <p:cNvPr id="19" name="文本框 18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695919" y="1959223"/>
                <a:ext cx="3860311" cy="460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Gentle, natural reminders</a:t>
                </a:r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2695919" y="2315293"/>
                <a:ext cx="3391599" cy="756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dirty="0">
                    <a:solidFill>
                      <a:schemeClr val="bg1"/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</a:rPr>
                  <a:t>Reminders are given in a soft and natural way.</a:t>
                </a:r>
              </a:p>
            </p:txBody>
          </p:sp>
        </p:grpSp>
      </p:grpSp>
      <p:grpSp>
        <p:nvGrpSpPr>
          <p:cNvPr id="55" name="组合 54"/>
          <p:cNvGrpSpPr/>
          <p:nvPr>
            <p:custDataLst>
              <p:tags r:id="rId4"/>
            </p:custDataLst>
          </p:nvPr>
        </p:nvGrpSpPr>
        <p:grpSpPr>
          <a:xfrm>
            <a:off x="5881542" y="5085945"/>
            <a:ext cx="726971" cy="785622"/>
            <a:chOff x="5256213" y="3148013"/>
            <a:chExt cx="449263" cy="582612"/>
          </a:xfrm>
          <a:solidFill>
            <a:srgbClr val="3E93D1"/>
          </a:solidFill>
        </p:grpSpPr>
        <p:sp>
          <p:nvSpPr>
            <p:cNvPr id="53" name="Freeform 28"/>
            <p:cNvSpPr/>
            <p:nvPr>
              <p:custDataLst>
                <p:tags r:id="rId5"/>
              </p:custDataLst>
            </p:nvPr>
          </p:nvSpPr>
          <p:spPr bwMode="auto">
            <a:xfrm>
              <a:off x="5256213" y="3148013"/>
              <a:ext cx="449263" cy="447675"/>
            </a:xfrm>
            <a:custGeom>
              <a:avLst/>
              <a:gdLst>
                <a:gd name="T0" fmla="*/ 104 w 153"/>
                <a:gd name="T1" fmla="*/ 152 h 152"/>
                <a:gd name="T2" fmla="*/ 102 w 153"/>
                <a:gd name="T3" fmla="*/ 140 h 152"/>
                <a:gd name="T4" fmla="*/ 102 w 153"/>
                <a:gd name="T5" fmla="*/ 140 h 152"/>
                <a:gd name="T6" fmla="*/ 108 w 153"/>
                <a:gd name="T7" fmla="*/ 129 h 152"/>
                <a:gd name="T8" fmla="*/ 116 w 153"/>
                <a:gd name="T9" fmla="*/ 116 h 152"/>
                <a:gd name="T10" fmla="*/ 128 w 153"/>
                <a:gd name="T11" fmla="*/ 109 h 152"/>
                <a:gd name="T12" fmla="*/ 139 w 153"/>
                <a:gd name="T13" fmla="*/ 103 h 152"/>
                <a:gd name="T14" fmla="*/ 136 w 153"/>
                <a:gd name="T15" fmla="*/ 91 h 152"/>
                <a:gd name="T16" fmla="*/ 132 w 153"/>
                <a:gd name="T17" fmla="*/ 77 h 152"/>
                <a:gd name="T18" fmla="*/ 136 w 153"/>
                <a:gd name="T19" fmla="*/ 63 h 152"/>
                <a:gd name="T20" fmla="*/ 139 w 153"/>
                <a:gd name="T21" fmla="*/ 51 h 152"/>
                <a:gd name="T22" fmla="*/ 128 w 153"/>
                <a:gd name="T23" fmla="*/ 45 h 152"/>
                <a:gd name="T24" fmla="*/ 116 w 153"/>
                <a:gd name="T25" fmla="*/ 38 h 152"/>
                <a:gd name="T26" fmla="*/ 108 w 153"/>
                <a:gd name="T27" fmla="*/ 25 h 152"/>
                <a:gd name="T28" fmla="*/ 102 w 153"/>
                <a:gd name="T29" fmla="*/ 14 h 152"/>
                <a:gd name="T30" fmla="*/ 90 w 153"/>
                <a:gd name="T31" fmla="*/ 17 h 152"/>
                <a:gd name="T32" fmla="*/ 76 w 153"/>
                <a:gd name="T33" fmla="*/ 21 h 152"/>
                <a:gd name="T34" fmla="*/ 62 w 153"/>
                <a:gd name="T35" fmla="*/ 17 h 152"/>
                <a:gd name="T36" fmla="*/ 50 w 153"/>
                <a:gd name="T37" fmla="*/ 14 h 152"/>
                <a:gd name="T38" fmla="*/ 44 w 153"/>
                <a:gd name="T39" fmla="*/ 25 h 152"/>
                <a:gd name="T40" fmla="*/ 37 w 153"/>
                <a:gd name="T41" fmla="*/ 38 h 152"/>
                <a:gd name="T42" fmla="*/ 24 w 153"/>
                <a:gd name="T43" fmla="*/ 45 h 152"/>
                <a:gd name="T44" fmla="*/ 13 w 153"/>
                <a:gd name="T45" fmla="*/ 51 h 152"/>
                <a:gd name="T46" fmla="*/ 17 w 153"/>
                <a:gd name="T47" fmla="*/ 63 h 152"/>
                <a:gd name="T48" fmla="*/ 21 w 153"/>
                <a:gd name="T49" fmla="*/ 77 h 152"/>
                <a:gd name="T50" fmla="*/ 17 w 153"/>
                <a:gd name="T51" fmla="*/ 91 h 152"/>
                <a:gd name="T52" fmla="*/ 13 w 153"/>
                <a:gd name="T53" fmla="*/ 103 h 152"/>
                <a:gd name="T54" fmla="*/ 24 w 153"/>
                <a:gd name="T55" fmla="*/ 109 h 152"/>
                <a:gd name="T56" fmla="*/ 37 w 153"/>
                <a:gd name="T57" fmla="*/ 116 h 152"/>
                <a:gd name="T58" fmla="*/ 44 w 153"/>
                <a:gd name="T59" fmla="*/ 129 h 152"/>
                <a:gd name="T60" fmla="*/ 50 w 153"/>
                <a:gd name="T61" fmla="*/ 140 h 152"/>
                <a:gd name="T62" fmla="*/ 49 w 153"/>
                <a:gd name="T63" fmla="*/ 152 h 152"/>
                <a:gd name="T64" fmla="*/ 46 w 153"/>
                <a:gd name="T65" fmla="*/ 151 h 152"/>
                <a:gd name="T66" fmla="*/ 33 w 153"/>
                <a:gd name="T67" fmla="*/ 134 h 152"/>
                <a:gd name="T68" fmla="*/ 28 w 153"/>
                <a:gd name="T69" fmla="*/ 125 h 152"/>
                <a:gd name="T70" fmla="*/ 19 w 153"/>
                <a:gd name="T71" fmla="*/ 120 h 152"/>
                <a:gd name="T72" fmla="*/ 2 w 153"/>
                <a:gd name="T73" fmla="*/ 108 h 152"/>
                <a:gd name="T74" fmla="*/ 6 w 153"/>
                <a:gd name="T75" fmla="*/ 87 h 152"/>
                <a:gd name="T76" fmla="*/ 9 w 153"/>
                <a:gd name="T77" fmla="*/ 77 h 152"/>
                <a:gd name="T78" fmla="*/ 6 w 153"/>
                <a:gd name="T79" fmla="*/ 67 h 152"/>
                <a:gd name="T80" fmla="*/ 2 w 153"/>
                <a:gd name="T81" fmla="*/ 46 h 152"/>
                <a:gd name="T82" fmla="*/ 19 w 153"/>
                <a:gd name="T83" fmla="*/ 34 h 152"/>
                <a:gd name="T84" fmla="*/ 28 w 153"/>
                <a:gd name="T85" fmla="*/ 29 h 152"/>
                <a:gd name="T86" fmla="*/ 33 w 153"/>
                <a:gd name="T87" fmla="*/ 20 h 152"/>
                <a:gd name="T88" fmla="*/ 46 w 153"/>
                <a:gd name="T89" fmla="*/ 3 h 152"/>
                <a:gd name="T90" fmla="*/ 67 w 153"/>
                <a:gd name="T91" fmla="*/ 6 h 152"/>
                <a:gd name="T92" fmla="*/ 76 w 153"/>
                <a:gd name="T93" fmla="*/ 9 h 152"/>
                <a:gd name="T94" fmla="*/ 86 w 153"/>
                <a:gd name="T95" fmla="*/ 6 h 152"/>
                <a:gd name="T96" fmla="*/ 107 w 153"/>
                <a:gd name="T97" fmla="*/ 3 h 152"/>
                <a:gd name="T98" fmla="*/ 119 w 153"/>
                <a:gd name="T99" fmla="*/ 20 h 152"/>
                <a:gd name="T100" fmla="*/ 124 w 153"/>
                <a:gd name="T101" fmla="*/ 29 h 152"/>
                <a:gd name="T102" fmla="*/ 133 w 153"/>
                <a:gd name="T103" fmla="*/ 34 h 152"/>
                <a:gd name="T104" fmla="*/ 150 w 153"/>
                <a:gd name="T105" fmla="*/ 46 h 152"/>
                <a:gd name="T106" fmla="*/ 147 w 153"/>
                <a:gd name="T107" fmla="*/ 67 h 152"/>
                <a:gd name="T108" fmla="*/ 144 w 153"/>
                <a:gd name="T109" fmla="*/ 77 h 152"/>
                <a:gd name="T110" fmla="*/ 147 w 153"/>
                <a:gd name="T111" fmla="*/ 87 h 152"/>
                <a:gd name="T112" fmla="*/ 150 w 153"/>
                <a:gd name="T113" fmla="*/ 108 h 152"/>
                <a:gd name="T114" fmla="*/ 133 w 153"/>
                <a:gd name="T115" fmla="*/ 120 h 152"/>
                <a:gd name="T116" fmla="*/ 124 w 153"/>
                <a:gd name="T117" fmla="*/ 125 h 152"/>
                <a:gd name="T118" fmla="*/ 119 w 153"/>
                <a:gd name="T119" fmla="*/ 134 h 152"/>
                <a:gd name="T120" fmla="*/ 107 w 153"/>
                <a:gd name="T121" fmla="*/ 151 h 152"/>
                <a:gd name="T122" fmla="*/ 104 w 153"/>
                <a:gd name="T123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3" h="152">
                  <a:moveTo>
                    <a:pt x="104" y="152"/>
                  </a:moveTo>
                  <a:cubicBezTo>
                    <a:pt x="102" y="140"/>
                    <a:pt x="102" y="140"/>
                    <a:pt x="102" y="140"/>
                  </a:cubicBezTo>
                  <a:cubicBezTo>
                    <a:pt x="102" y="140"/>
                    <a:pt x="102" y="140"/>
                    <a:pt x="102" y="140"/>
                  </a:cubicBezTo>
                  <a:cubicBezTo>
                    <a:pt x="104" y="139"/>
                    <a:pt x="107" y="132"/>
                    <a:pt x="108" y="129"/>
                  </a:cubicBezTo>
                  <a:cubicBezTo>
                    <a:pt x="111" y="124"/>
                    <a:pt x="113" y="119"/>
                    <a:pt x="116" y="116"/>
                  </a:cubicBezTo>
                  <a:cubicBezTo>
                    <a:pt x="119" y="113"/>
                    <a:pt x="123" y="111"/>
                    <a:pt x="128" y="109"/>
                  </a:cubicBezTo>
                  <a:cubicBezTo>
                    <a:pt x="132" y="108"/>
                    <a:pt x="138" y="105"/>
                    <a:pt x="139" y="103"/>
                  </a:cubicBezTo>
                  <a:cubicBezTo>
                    <a:pt x="140" y="101"/>
                    <a:pt x="137" y="94"/>
                    <a:pt x="136" y="91"/>
                  </a:cubicBezTo>
                  <a:cubicBezTo>
                    <a:pt x="134" y="86"/>
                    <a:pt x="132" y="81"/>
                    <a:pt x="132" y="77"/>
                  </a:cubicBezTo>
                  <a:cubicBezTo>
                    <a:pt x="132" y="73"/>
                    <a:pt x="134" y="68"/>
                    <a:pt x="136" y="63"/>
                  </a:cubicBezTo>
                  <a:cubicBezTo>
                    <a:pt x="137" y="59"/>
                    <a:pt x="140" y="53"/>
                    <a:pt x="139" y="51"/>
                  </a:cubicBezTo>
                  <a:cubicBezTo>
                    <a:pt x="138" y="49"/>
                    <a:pt x="132" y="46"/>
                    <a:pt x="128" y="45"/>
                  </a:cubicBezTo>
                  <a:cubicBezTo>
                    <a:pt x="123" y="43"/>
                    <a:pt x="119" y="40"/>
                    <a:pt x="116" y="38"/>
                  </a:cubicBezTo>
                  <a:cubicBezTo>
                    <a:pt x="113" y="35"/>
                    <a:pt x="111" y="30"/>
                    <a:pt x="108" y="25"/>
                  </a:cubicBezTo>
                  <a:cubicBezTo>
                    <a:pt x="107" y="21"/>
                    <a:pt x="104" y="15"/>
                    <a:pt x="102" y="14"/>
                  </a:cubicBezTo>
                  <a:cubicBezTo>
                    <a:pt x="100" y="13"/>
                    <a:pt x="94" y="16"/>
                    <a:pt x="90" y="17"/>
                  </a:cubicBezTo>
                  <a:cubicBezTo>
                    <a:pt x="85" y="19"/>
                    <a:pt x="80" y="21"/>
                    <a:pt x="76" y="21"/>
                  </a:cubicBezTo>
                  <a:cubicBezTo>
                    <a:pt x="72" y="21"/>
                    <a:pt x="67" y="19"/>
                    <a:pt x="62" y="17"/>
                  </a:cubicBezTo>
                  <a:cubicBezTo>
                    <a:pt x="59" y="16"/>
                    <a:pt x="52" y="13"/>
                    <a:pt x="50" y="14"/>
                  </a:cubicBezTo>
                  <a:cubicBezTo>
                    <a:pt x="48" y="15"/>
                    <a:pt x="46" y="21"/>
                    <a:pt x="44" y="25"/>
                  </a:cubicBezTo>
                  <a:cubicBezTo>
                    <a:pt x="42" y="30"/>
                    <a:pt x="40" y="35"/>
                    <a:pt x="37" y="38"/>
                  </a:cubicBezTo>
                  <a:cubicBezTo>
                    <a:pt x="34" y="40"/>
                    <a:pt x="29" y="43"/>
                    <a:pt x="24" y="45"/>
                  </a:cubicBezTo>
                  <a:cubicBezTo>
                    <a:pt x="21" y="46"/>
                    <a:pt x="14" y="49"/>
                    <a:pt x="13" y="51"/>
                  </a:cubicBezTo>
                  <a:cubicBezTo>
                    <a:pt x="13" y="53"/>
                    <a:pt x="15" y="59"/>
                    <a:pt x="17" y="63"/>
                  </a:cubicBezTo>
                  <a:cubicBezTo>
                    <a:pt x="19" y="68"/>
                    <a:pt x="21" y="73"/>
                    <a:pt x="21" y="77"/>
                  </a:cubicBezTo>
                  <a:cubicBezTo>
                    <a:pt x="21" y="81"/>
                    <a:pt x="19" y="86"/>
                    <a:pt x="17" y="91"/>
                  </a:cubicBezTo>
                  <a:cubicBezTo>
                    <a:pt x="15" y="94"/>
                    <a:pt x="13" y="101"/>
                    <a:pt x="13" y="103"/>
                  </a:cubicBezTo>
                  <a:cubicBezTo>
                    <a:pt x="14" y="105"/>
                    <a:pt x="21" y="108"/>
                    <a:pt x="24" y="109"/>
                  </a:cubicBezTo>
                  <a:cubicBezTo>
                    <a:pt x="29" y="111"/>
                    <a:pt x="34" y="113"/>
                    <a:pt x="37" y="116"/>
                  </a:cubicBezTo>
                  <a:cubicBezTo>
                    <a:pt x="40" y="119"/>
                    <a:pt x="42" y="124"/>
                    <a:pt x="44" y="129"/>
                  </a:cubicBezTo>
                  <a:cubicBezTo>
                    <a:pt x="46" y="132"/>
                    <a:pt x="48" y="139"/>
                    <a:pt x="50" y="140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47" y="151"/>
                    <a:pt x="47" y="151"/>
                    <a:pt x="46" y="151"/>
                  </a:cubicBezTo>
                  <a:cubicBezTo>
                    <a:pt x="39" y="148"/>
                    <a:pt x="36" y="141"/>
                    <a:pt x="33" y="134"/>
                  </a:cubicBezTo>
                  <a:cubicBezTo>
                    <a:pt x="32" y="130"/>
                    <a:pt x="30" y="126"/>
                    <a:pt x="28" y="125"/>
                  </a:cubicBezTo>
                  <a:cubicBezTo>
                    <a:pt x="27" y="123"/>
                    <a:pt x="23" y="122"/>
                    <a:pt x="19" y="120"/>
                  </a:cubicBezTo>
                  <a:cubicBezTo>
                    <a:pt x="12" y="117"/>
                    <a:pt x="5" y="114"/>
                    <a:pt x="2" y="108"/>
                  </a:cubicBezTo>
                  <a:cubicBezTo>
                    <a:pt x="0" y="101"/>
                    <a:pt x="3" y="94"/>
                    <a:pt x="6" y="87"/>
                  </a:cubicBezTo>
                  <a:cubicBezTo>
                    <a:pt x="7" y="83"/>
                    <a:pt x="9" y="79"/>
                    <a:pt x="9" y="77"/>
                  </a:cubicBezTo>
                  <a:cubicBezTo>
                    <a:pt x="9" y="75"/>
                    <a:pt x="7" y="71"/>
                    <a:pt x="6" y="67"/>
                  </a:cubicBezTo>
                  <a:cubicBezTo>
                    <a:pt x="3" y="60"/>
                    <a:pt x="0" y="52"/>
                    <a:pt x="2" y="46"/>
                  </a:cubicBezTo>
                  <a:cubicBezTo>
                    <a:pt x="5" y="40"/>
                    <a:pt x="12" y="37"/>
                    <a:pt x="19" y="34"/>
                  </a:cubicBezTo>
                  <a:cubicBezTo>
                    <a:pt x="23" y="32"/>
                    <a:pt x="27" y="30"/>
                    <a:pt x="28" y="29"/>
                  </a:cubicBezTo>
                  <a:cubicBezTo>
                    <a:pt x="30" y="28"/>
                    <a:pt x="32" y="23"/>
                    <a:pt x="33" y="20"/>
                  </a:cubicBezTo>
                  <a:cubicBezTo>
                    <a:pt x="36" y="13"/>
                    <a:pt x="39" y="6"/>
                    <a:pt x="46" y="3"/>
                  </a:cubicBezTo>
                  <a:cubicBezTo>
                    <a:pt x="52" y="0"/>
                    <a:pt x="59" y="3"/>
                    <a:pt x="67" y="6"/>
                  </a:cubicBezTo>
                  <a:cubicBezTo>
                    <a:pt x="70" y="8"/>
                    <a:pt x="74" y="9"/>
                    <a:pt x="76" y="9"/>
                  </a:cubicBezTo>
                  <a:cubicBezTo>
                    <a:pt x="78" y="9"/>
                    <a:pt x="82" y="8"/>
                    <a:pt x="86" y="6"/>
                  </a:cubicBezTo>
                  <a:cubicBezTo>
                    <a:pt x="93" y="3"/>
                    <a:pt x="101" y="0"/>
                    <a:pt x="107" y="3"/>
                  </a:cubicBezTo>
                  <a:cubicBezTo>
                    <a:pt x="113" y="6"/>
                    <a:pt x="116" y="13"/>
                    <a:pt x="119" y="20"/>
                  </a:cubicBezTo>
                  <a:cubicBezTo>
                    <a:pt x="121" y="23"/>
                    <a:pt x="123" y="28"/>
                    <a:pt x="124" y="29"/>
                  </a:cubicBezTo>
                  <a:cubicBezTo>
                    <a:pt x="125" y="30"/>
                    <a:pt x="130" y="32"/>
                    <a:pt x="133" y="34"/>
                  </a:cubicBezTo>
                  <a:cubicBezTo>
                    <a:pt x="140" y="37"/>
                    <a:pt x="148" y="40"/>
                    <a:pt x="150" y="46"/>
                  </a:cubicBezTo>
                  <a:cubicBezTo>
                    <a:pt x="153" y="52"/>
                    <a:pt x="150" y="60"/>
                    <a:pt x="147" y="67"/>
                  </a:cubicBezTo>
                  <a:cubicBezTo>
                    <a:pt x="146" y="71"/>
                    <a:pt x="144" y="75"/>
                    <a:pt x="144" y="77"/>
                  </a:cubicBezTo>
                  <a:cubicBezTo>
                    <a:pt x="144" y="79"/>
                    <a:pt x="146" y="83"/>
                    <a:pt x="147" y="87"/>
                  </a:cubicBezTo>
                  <a:cubicBezTo>
                    <a:pt x="150" y="94"/>
                    <a:pt x="153" y="101"/>
                    <a:pt x="150" y="108"/>
                  </a:cubicBezTo>
                  <a:cubicBezTo>
                    <a:pt x="148" y="114"/>
                    <a:pt x="140" y="117"/>
                    <a:pt x="133" y="120"/>
                  </a:cubicBezTo>
                  <a:cubicBezTo>
                    <a:pt x="130" y="122"/>
                    <a:pt x="125" y="123"/>
                    <a:pt x="124" y="125"/>
                  </a:cubicBezTo>
                  <a:cubicBezTo>
                    <a:pt x="123" y="126"/>
                    <a:pt x="121" y="130"/>
                    <a:pt x="119" y="134"/>
                  </a:cubicBezTo>
                  <a:cubicBezTo>
                    <a:pt x="116" y="141"/>
                    <a:pt x="113" y="148"/>
                    <a:pt x="107" y="151"/>
                  </a:cubicBezTo>
                  <a:cubicBezTo>
                    <a:pt x="106" y="151"/>
                    <a:pt x="105" y="151"/>
                    <a:pt x="104" y="1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9"/>
            <p:cNvSpPr/>
            <p:nvPr>
              <p:custDataLst>
                <p:tags r:id="rId6"/>
              </p:custDataLst>
            </p:nvPr>
          </p:nvSpPr>
          <p:spPr bwMode="auto">
            <a:xfrm>
              <a:off x="5346701" y="3251200"/>
              <a:ext cx="268288" cy="479425"/>
            </a:xfrm>
            <a:custGeom>
              <a:avLst/>
              <a:gdLst>
                <a:gd name="T0" fmla="*/ 45 w 91"/>
                <a:gd name="T1" fmla="*/ 0 h 163"/>
                <a:gd name="T2" fmla="*/ 0 w 91"/>
                <a:gd name="T3" fmla="*/ 42 h 163"/>
                <a:gd name="T4" fmla="*/ 17 w 91"/>
                <a:gd name="T5" fmla="*/ 74 h 163"/>
                <a:gd name="T6" fmla="*/ 17 w 91"/>
                <a:gd name="T7" fmla="*/ 159 h 163"/>
                <a:gd name="T8" fmla="*/ 20 w 91"/>
                <a:gd name="T9" fmla="*/ 163 h 163"/>
                <a:gd name="T10" fmla="*/ 21 w 91"/>
                <a:gd name="T11" fmla="*/ 163 h 163"/>
                <a:gd name="T12" fmla="*/ 24 w 91"/>
                <a:gd name="T13" fmla="*/ 162 h 163"/>
                <a:gd name="T14" fmla="*/ 45 w 91"/>
                <a:gd name="T15" fmla="*/ 140 h 163"/>
                <a:gd name="T16" fmla="*/ 67 w 91"/>
                <a:gd name="T17" fmla="*/ 162 h 163"/>
                <a:gd name="T18" fmla="*/ 71 w 91"/>
                <a:gd name="T19" fmla="*/ 163 h 163"/>
                <a:gd name="T20" fmla="*/ 74 w 91"/>
                <a:gd name="T21" fmla="*/ 159 h 163"/>
                <a:gd name="T22" fmla="*/ 74 w 91"/>
                <a:gd name="T23" fmla="*/ 74 h 163"/>
                <a:gd name="T24" fmla="*/ 91 w 91"/>
                <a:gd name="T25" fmla="*/ 42 h 163"/>
                <a:gd name="T26" fmla="*/ 45 w 91"/>
                <a:gd name="T27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1" h="163">
                  <a:moveTo>
                    <a:pt x="45" y="0"/>
                  </a:moveTo>
                  <a:cubicBezTo>
                    <a:pt x="20" y="0"/>
                    <a:pt x="0" y="19"/>
                    <a:pt x="0" y="42"/>
                  </a:cubicBezTo>
                  <a:cubicBezTo>
                    <a:pt x="0" y="54"/>
                    <a:pt x="7" y="66"/>
                    <a:pt x="17" y="74"/>
                  </a:cubicBezTo>
                  <a:cubicBezTo>
                    <a:pt x="17" y="159"/>
                    <a:pt x="17" y="159"/>
                    <a:pt x="17" y="159"/>
                  </a:cubicBezTo>
                  <a:cubicBezTo>
                    <a:pt x="17" y="161"/>
                    <a:pt x="18" y="162"/>
                    <a:pt x="20" y="163"/>
                  </a:cubicBezTo>
                  <a:cubicBezTo>
                    <a:pt x="20" y="163"/>
                    <a:pt x="21" y="163"/>
                    <a:pt x="21" y="163"/>
                  </a:cubicBezTo>
                  <a:cubicBezTo>
                    <a:pt x="23" y="163"/>
                    <a:pt x="24" y="163"/>
                    <a:pt x="24" y="162"/>
                  </a:cubicBezTo>
                  <a:cubicBezTo>
                    <a:pt x="45" y="140"/>
                    <a:pt x="45" y="140"/>
                    <a:pt x="45" y="140"/>
                  </a:cubicBezTo>
                  <a:cubicBezTo>
                    <a:pt x="67" y="162"/>
                    <a:pt x="67" y="162"/>
                    <a:pt x="67" y="162"/>
                  </a:cubicBezTo>
                  <a:cubicBezTo>
                    <a:pt x="68" y="163"/>
                    <a:pt x="70" y="163"/>
                    <a:pt x="71" y="163"/>
                  </a:cubicBezTo>
                  <a:cubicBezTo>
                    <a:pt x="73" y="162"/>
                    <a:pt x="74" y="161"/>
                    <a:pt x="74" y="159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84" y="66"/>
                    <a:pt x="91" y="54"/>
                    <a:pt x="91" y="42"/>
                  </a:cubicBezTo>
                  <a:cubicBezTo>
                    <a:pt x="91" y="19"/>
                    <a:pt x="70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rgbClr val="0F6FC6">
                <a:alpha val="0"/>
              </a:srgbClr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97"/>
          <a:stretch>
            <a:fillRect/>
          </a:stretch>
        </p:blipFill>
        <p:spPr>
          <a:xfrm>
            <a:off x="0" y="-1"/>
            <a:ext cx="12202375" cy="6858001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20093" y="16272"/>
            <a:ext cx="12222467" cy="6858001"/>
          </a:xfrm>
          <a:prstGeom prst="rect">
            <a:avLst/>
          </a:prstGeom>
          <a:gradFill flip="none" rotWithShape="1">
            <a:gsLst>
              <a:gs pos="76000">
                <a:schemeClr val="bg1">
                  <a:alpha val="0"/>
                </a:schemeClr>
              </a:gs>
              <a:gs pos="39000">
                <a:srgbClr val="80B8E0">
                  <a:alpha val="96000"/>
                </a:srgbClr>
              </a:gs>
              <a:gs pos="0">
                <a:srgbClr val="0070C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思源宋体"/>
              <a:cs typeface="+mn-cs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48616" y="1345180"/>
            <a:ext cx="3090862" cy="0"/>
          </a:xfrm>
          <a:prstGeom prst="line">
            <a:avLst/>
          </a:prstGeom>
          <a:noFill/>
          <a:ln w="34925" cap="sq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7" name="直接连接符 6"/>
          <p:cNvCxnSpPr/>
          <p:nvPr/>
        </p:nvCxnSpPr>
        <p:spPr>
          <a:xfrm>
            <a:off x="948616" y="1345180"/>
            <a:ext cx="0" cy="4028508"/>
          </a:xfrm>
          <a:prstGeom prst="line">
            <a:avLst/>
          </a:prstGeom>
          <a:ln w="34925" cap="sq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948616" y="5373688"/>
            <a:ext cx="3090862" cy="0"/>
          </a:xfrm>
          <a:prstGeom prst="line">
            <a:avLst/>
          </a:prstGeom>
          <a:ln w="34925" cap="sq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039478" y="1345180"/>
            <a:ext cx="0" cy="1231879"/>
          </a:xfrm>
          <a:prstGeom prst="line">
            <a:avLst/>
          </a:prstGeom>
          <a:ln w="34925" cap="sq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039478" y="4061000"/>
            <a:ext cx="0" cy="1312688"/>
          </a:xfrm>
          <a:prstGeom prst="line">
            <a:avLst/>
          </a:prstGeom>
          <a:ln w="34925" cap="sq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439167" y="2783771"/>
            <a:ext cx="5808961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dist="38100" dir="2700000" algn="tl">
                    <a:srgbClr val="000000">
                      <a:alpha val="10000"/>
                    </a:srgb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THANK YOU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085465" y="3703955"/>
            <a:ext cx="33705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Gen Jyuu Gothic Heavy" panose="020B0702020203020207" pitchFamily="34" charset="-128"/>
                <a:sym typeface="Segoe UI" panose="020B0502040204020203" pitchFamily="34" charset="0"/>
              </a:rPr>
              <a:t> FOR WATCHING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Gen Jyuu Gothic Heavy" panose="020B0702020203020207" pitchFamily="34" charset="-128"/>
              <a:sym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15889763779523,&quot;left&quot;:74.43944881889763,&quot;top&quot;:130.00141732283464,&quot;width&quot;:811.121102362204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15889763779523,&quot;left&quot;:74.43944881889763,&quot;top&quot;:130.00141732283464,&quot;width&quot;:811.121102362204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15889763779523,&quot;left&quot;:74.43944881889763,&quot;top&quot;:130.00141732283464,&quot;width&quot;:811.121102362204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15889763779523,&quot;left&quot;:74.43944881889763,&quot;top&quot;:130.00141732283464,&quot;width&quot;:811.121102362204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15889763779523,&quot;left&quot;:74.43944881889763,&quot;top&quot;:130.00141732283464,&quot;width&quot;:811.121102362204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15889763779523,&quot;left&quot;:74.43944881889763,&quot;top&quot;:130.00141732283464,&quot;width&quot;:811.121102362204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15889763779523,&quot;left&quot;:74.43944881889763,&quot;top&quot;:130.00141732283464,&quot;width&quot;:811.121102362204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15889763779523,&quot;left&quot;:74.43944881889763,&quot;top&quot;:130.00141732283464,&quot;width&quot;:811.121102362204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15889763779523,&quot;left&quot;:74.43944881889763,&quot;top&quot;:130.00141732283464,&quot;width&quot;:811.121102362204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15889763779523,&quot;left&quot;:74.43944881889763,&quot;top&quot;:130.00141732283464,&quot;width&quot;:811.121102362204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15889763779523,&quot;left&quot;:74.43944881889763,&quot;top&quot;:130.00141732283464,&quot;width&quot;:811.121102362204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15889763779523,&quot;left&quot;:74.43944881889763,&quot;top&quot;:130.00141732283464,&quot;width&quot;:811.121102362204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15889763779523,&quot;left&quot;:74.43944881889763,&quot;top&quot;:130.00141732283464,&quot;width&quot;:811.121102362204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15889763779523,&quot;left&quot;:74.43944881889763,&quot;top&quot;:130.00141732283464,&quot;width&quot;:811.121102362204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994488188976,&quot;left&quot;:84.15551181102362,&quot;top&quot;:144.92787401574805,&quot;width&quot;:852.544488188976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994488188976,&quot;left&quot;:84.15551181102362,&quot;top&quot;:144.92787401574805,&quot;width&quot;:852.544488188976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994488188976,&quot;left&quot;:84.15551181102362,&quot;top&quot;:144.92787401574805,&quot;width&quot;:852.544488188976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994488188976,&quot;left&quot;:84.15551181102362,&quot;top&quot;:144.92787401574805,&quot;width&quot;:852.544488188976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994488188976,&quot;left&quot;:84.15551181102362,&quot;top&quot;:144.92787401574805,&quot;width&quot;:852.544488188976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994488188976,&quot;left&quot;:84.15551181102362,&quot;top&quot;:144.92787401574805,&quot;width&quot;:852.544488188976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994488188976,&quot;left&quot;:84.15551181102362,&quot;top&quot;:144.92787401574805,&quot;width&quot;:794.2326771653543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994488188976,&quot;left&quot;:84.15551181102362,&quot;top&quot;:144.92787401574805,&quot;width&quot;:794.2326771653543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994488188976,&quot;left&quot;:84.15551181102362,&quot;top&quot;:144.92787401574805,&quot;width&quot;:852.544488188976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994488188976,&quot;left&quot;:84.15551181102362,&quot;top&quot;:144.92787401574805,&quot;width&quot;:852.544488188976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994488188976,&quot;left&quot;:84.15551181102362,&quot;top&quot;:144.92787401574805,&quot;width&quot;:852.544488188976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994488188976,&quot;left&quot;:84.15551181102362,&quot;top&quot;:144.92787401574805,&quot;width&quot;:852.5444881889764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994488188976,&quot;left&quot;:84.15551181102362,&quot;top&quot;:144.92787401574805,&quot;width&quot;:852.5444881889764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994488188976,&quot;left&quot;:84.15551181102362,&quot;top&quot;:144.92787401574805,&quot;width&quot;:794.2326771653543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994488188976,&quot;left&quot;:84.15551181102362,&quot;top&quot;:144.92787401574805,&quot;width&quot;:794.2326771653543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994488188976,&quot;left&quot;:84.15551181102362,&quot;top&quot;:144.92787401574805,&quot;width&quot;:852.5444881889764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994488188976,&quot;left&quot;:84.15551181102362,&quot;top&quot;:144.92787401574805,&quot;width&quot;:852.544488188976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994488188976,&quot;left&quot;:84.15551181102362,&quot;top&quot;:144.92787401574805,&quot;width&quot;:852.5444881889764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994488188976,&quot;left&quot;:84.15551181102362,&quot;top&quot;:144.92787401574805,&quot;width&quot;:852.5444881889764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994488188976,&quot;left&quot;:84.15551181102362,&quot;top&quot;:144.92787401574805,&quot;width&quot;:852.5444881889764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季度汇报">
      <a:majorFont>
        <a:latin typeface="Calibri"/>
        <a:ea typeface="思源宋体 CN Heavy"/>
        <a:cs typeface=""/>
      </a:majorFont>
      <a:minorFont>
        <a:latin typeface="Calibri"/>
        <a:ea typeface="思源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1382</Words>
  <Application>Microsoft Office PowerPoint</Application>
  <PresentationFormat>宽屏</PresentationFormat>
  <Paragraphs>128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等线</vt:lpstr>
      <vt:lpstr>思源黑体 CN Light</vt:lpstr>
      <vt:lpstr>思源宋体</vt:lpstr>
      <vt:lpstr>思源宋体 CN Heavy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泽辉</cp:lastModifiedBy>
  <cp:revision>334</cp:revision>
  <dcterms:created xsi:type="dcterms:W3CDTF">2020-11-03T02:17:00Z</dcterms:created>
  <dcterms:modified xsi:type="dcterms:W3CDTF">2025-06-12T09:37:37Z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16DBCAF35C70459198F40611CA6D16ED_12</vt:lpwstr>
  </property>
  <property fmtid="{D5CDD505-2E9C-101B-9397-08002B2CF9AE}" pid="3" name="KSOProductBuildVer">
    <vt:lpwstr>2052-12.1.0.21171</vt:lpwstr>
  </property>
</Properties>
</file>