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4" r:id="rId2"/>
    <p:sldId id="257" r:id="rId3"/>
    <p:sldId id="290" r:id="rId4"/>
    <p:sldId id="291" r:id="rId5"/>
    <p:sldId id="263" r:id="rId6"/>
    <p:sldId id="295" r:id="rId7"/>
    <p:sldId id="296" r:id="rId8"/>
    <p:sldId id="297" r:id="rId9"/>
    <p:sldId id="298" r:id="rId10"/>
    <p:sldId id="299" r:id="rId11"/>
    <p:sldId id="292" r:id="rId12"/>
    <p:sldId id="300" r:id="rId13"/>
    <p:sldId id="301" r:id="rId14"/>
    <p:sldId id="302" r:id="rId15"/>
    <p:sldId id="270"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0E419C"/>
    <a:srgbClr val="FEF7F2"/>
    <a:srgbClr val="FFFFFF"/>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4279" autoAdjust="0"/>
  </p:normalViewPr>
  <p:slideViewPr>
    <p:cSldViewPr>
      <p:cViewPr varScale="1">
        <p:scale>
          <a:sx n="99" d="100"/>
          <a:sy n="99" d="100"/>
        </p:scale>
        <p:origin x="440"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1F5FCC-2B4E-4E63-AE43-A06AC1BB4691}" type="datetimeFigureOut">
              <a:rPr lang="zh-CN" altLang="en-US" smtClean="0"/>
              <a:t>2026/3/19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7C2C5-6CB9-4494-AA33-6FA6503D8A6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6325901E-03BB-9AA9-8D62-12997F194F1E}"/>
              </a:ext>
            </a:extLst>
          </p:cNvPr>
          <p:cNvSpPr txBox="1"/>
          <p:nvPr userDrawn="1"/>
        </p:nvSpPr>
        <p:spPr>
          <a:xfrm>
            <a:off x="0" y="6732766"/>
            <a:ext cx="407368" cy="107722"/>
          </a:xfrm>
          <a:prstGeom prst="rect">
            <a:avLst/>
          </a:prstGeom>
          <a:noFill/>
        </p:spPr>
        <p:txBody>
          <a:bodyPr wrap="square" rtlCol="0">
            <a:spAutoFit/>
          </a:bodyPr>
          <a:lstStyle/>
          <a:p>
            <a:r>
              <a:rPr lang="zh-CN" altLang="en-US" sz="100" dirty="0">
                <a:solidFill>
                  <a:schemeClr val="bg1"/>
                </a:solidFill>
              </a:rPr>
              <a:t>木卫林</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3502D5C-AA8C-4595-A33F-B9794B6268AF}" type="datetimeFigureOut">
              <a:rPr lang="zh-CN" altLang="en-US" smtClean="0"/>
              <a:t>2026/3/19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3ABFDCD-7E08-4B74-9118-24CFF7CC0370}"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7.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12.xml"/><Relationship Id="rId7" Type="http://schemas.openxmlformats.org/officeDocument/2006/relationships/image" Target="../media/image14.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image" Target="../media/image17.png"/><Relationship Id="rId4" Type="http://schemas.openxmlformats.org/officeDocument/2006/relationships/slideLayout" Target="../slideLayouts/slideLayout2.xml"/><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image" Target="../media/image18.emf"/></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23105" y="45885"/>
            <a:ext cx="12215105" cy="4201553"/>
          </a:xfrm>
          <a:prstGeom prst="rect">
            <a:avLst/>
          </a:prstGeom>
          <a:solidFill>
            <a:srgbClr val="0E419C"/>
          </a:solidFill>
          <a:ln>
            <a:noFill/>
          </a:ln>
          <a:effectLst>
            <a:outerShdw blurRad="635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sp>
        <p:nvSpPr>
          <p:cNvPr id="7" name="文本框 6"/>
          <p:cNvSpPr txBox="1"/>
          <p:nvPr/>
        </p:nvSpPr>
        <p:spPr>
          <a:xfrm>
            <a:off x="551384" y="2100775"/>
            <a:ext cx="10319300" cy="707886"/>
          </a:xfrm>
          <a:prstGeom prst="rect">
            <a:avLst/>
          </a:prstGeom>
          <a:noFill/>
        </p:spPr>
        <p:txBody>
          <a:bodyPr wrap="none" rtlCol="0">
            <a:spAutoFit/>
          </a:bodyPr>
          <a:lstStyle/>
          <a:p>
            <a:r>
              <a:rPr lang="zh-CN" altLang="en-US" sz="4000" spc="600">
                <a:solidFill>
                  <a:schemeClr val="bg1"/>
                </a:solidFill>
                <a:effectLst>
                  <a:outerShdw blurRad="38100" dist="38100" dir="2700000" algn="tl" rotWithShape="0">
                    <a:prstClr val="black">
                      <a:alpha val="29000"/>
                    </a:prstClr>
                  </a:outerShdw>
                </a:effectLst>
                <a:latin typeface="思源黑体 CN Heavy" panose="020B0A00000000000000" pitchFamily="34" charset="-122"/>
                <a:ea typeface="思源黑体 CN Heavy" panose="020B0A00000000000000" pitchFamily="34" charset="-122"/>
                <a:cs typeface="+mn-ea"/>
                <a:sym typeface="+mn-lt"/>
              </a:rPr>
              <a:t>基于</a:t>
            </a:r>
            <a:r>
              <a:rPr lang="en-US" altLang="zh-CN" sz="4000" spc="600">
                <a:solidFill>
                  <a:schemeClr val="bg1"/>
                </a:solidFill>
                <a:effectLst>
                  <a:outerShdw blurRad="38100" dist="38100" dir="2700000" algn="tl" rotWithShape="0">
                    <a:prstClr val="black">
                      <a:alpha val="29000"/>
                    </a:prstClr>
                  </a:outerShdw>
                </a:effectLst>
                <a:latin typeface="思源黑体 CN Heavy" panose="020B0A00000000000000" pitchFamily="34" charset="-122"/>
                <a:ea typeface="思源黑体 CN Heavy" panose="020B0A00000000000000" pitchFamily="34" charset="-122"/>
                <a:cs typeface="+mn-ea"/>
                <a:sym typeface="+mn-lt"/>
              </a:rPr>
              <a:t>yolov11</a:t>
            </a:r>
            <a:r>
              <a:rPr lang="zh-CN" altLang="en-US" sz="4000" spc="600">
                <a:solidFill>
                  <a:schemeClr val="bg1"/>
                </a:solidFill>
                <a:effectLst>
                  <a:outerShdw blurRad="38100" dist="38100" dir="2700000" algn="tl" rotWithShape="0">
                    <a:prstClr val="black">
                      <a:alpha val="29000"/>
                    </a:prstClr>
                  </a:outerShdw>
                </a:effectLst>
                <a:latin typeface="思源黑体 CN Heavy" panose="020B0A00000000000000" pitchFamily="34" charset="-122"/>
                <a:ea typeface="思源黑体 CN Heavy" panose="020B0A00000000000000" pitchFamily="34" charset="-122"/>
                <a:cs typeface="+mn-ea"/>
                <a:sym typeface="+mn-lt"/>
              </a:rPr>
              <a:t>的浓烟</a:t>
            </a:r>
            <a:r>
              <a:rPr lang="zh-CN" altLang="en-US" sz="4000" spc="600" dirty="0">
                <a:solidFill>
                  <a:schemeClr val="bg1"/>
                </a:solidFill>
                <a:effectLst>
                  <a:outerShdw blurRad="38100" dist="38100" dir="2700000" algn="tl" rotWithShape="0">
                    <a:prstClr val="black">
                      <a:alpha val="29000"/>
                    </a:prstClr>
                  </a:outerShdw>
                </a:effectLst>
                <a:latin typeface="思源黑体 CN Heavy" panose="020B0A00000000000000" pitchFamily="34" charset="-122"/>
                <a:ea typeface="思源黑体 CN Heavy" panose="020B0A00000000000000" pitchFamily="34" charset="-122"/>
                <a:cs typeface="+mn-ea"/>
                <a:sym typeface="+mn-lt"/>
              </a:rPr>
              <a:t>环境人体目标判别</a:t>
            </a:r>
          </a:p>
        </p:txBody>
      </p:sp>
      <p:sp>
        <p:nvSpPr>
          <p:cNvPr id="18" name="文本框 17">
            <a:extLst>
              <a:ext uri="{FF2B5EF4-FFF2-40B4-BE49-F238E27FC236}">
                <a16:creationId xmlns:a16="http://schemas.microsoft.com/office/drawing/2014/main" id="{36CD6654-B0BB-7324-CB4D-C8A3AC22EF93}"/>
              </a:ext>
            </a:extLst>
          </p:cNvPr>
          <p:cNvSpPr txBox="1"/>
          <p:nvPr/>
        </p:nvSpPr>
        <p:spPr>
          <a:xfrm>
            <a:off x="1949710" y="5517237"/>
            <a:ext cx="1697901" cy="369332"/>
          </a:xfrm>
          <a:prstGeom prst="rect">
            <a:avLst/>
          </a:prstGeom>
          <a:noFill/>
        </p:spPr>
        <p:txBody>
          <a:bodyPr wrap="none" rtlCol="0">
            <a:spAutoFit/>
          </a:bodyPr>
          <a:lstStyle/>
          <a:p>
            <a:pPr algn="ctr"/>
            <a:r>
              <a:rPr lang="zh-CN" altLang="en-US" b="1" spc="300">
                <a:solidFill>
                  <a:srgbClr val="122E66"/>
                </a:solidFill>
                <a:cs typeface="+mn-ea"/>
                <a:sym typeface="+mn-lt"/>
              </a:rPr>
              <a:t>汇报人： </a:t>
            </a:r>
            <a:r>
              <a:rPr lang="en-US" altLang="zh-CN" b="1" spc="300">
                <a:solidFill>
                  <a:srgbClr val="122E66"/>
                </a:solidFill>
                <a:cs typeface="+mn-ea"/>
                <a:sym typeface="+mn-lt"/>
              </a:rPr>
              <a:t>xx</a:t>
            </a:r>
            <a:endParaRPr lang="zh-CN" altLang="en-US" b="1" spc="300" dirty="0">
              <a:solidFill>
                <a:srgbClr val="122E66"/>
              </a:solidFill>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1" y="-1"/>
            <a:ext cx="4578845" cy="6858001"/>
          </a:xfrm>
          <a:prstGeom prst="rect">
            <a:avLst/>
          </a:prstGeom>
          <a:solidFill>
            <a:srgbClr val="0E419C"/>
          </a:solidFill>
          <a:ln>
            <a:noFill/>
          </a:ln>
          <a:effectLst>
            <a:outerShdw blurRad="762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sp>
        <p:nvSpPr>
          <p:cNvPr id="7" name="文本框 6"/>
          <p:cNvSpPr txBox="1"/>
          <p:nvPr/>
        </p:nvSpPr>
        <p:spPr>
          <a:xfrm>
            <a:off x="1487488" y="2553785"/>
            <a:ext cx="1569660" cy="830997"/>
          </a:xfrm>
          <a:prstGeom prst="rect">
            <a:avLst/>
          </a:prstGeom>
          <a:noFill/>
        </p:spPr>
        <p:txBody>
          <a:bodyPr wrap="none" rtlCol="0">
            <a:spAutoFit/>
          </a:bodyPr>
          <a:lstStyle/>
          <a:p>
            <a:r>
              <a:rPr lang="zh-CN" altLang="en-US" sz="4800" spc="600" dirty="0">
                <a:solidFill>
                  <a:schemeClr val="bg1"/>
                </a:solidFill>
                <a:effectLst>
                  <a:outerShdw blurRad="50800" dist="38100" algn="l" rotWithShape="0">
                    <a:prstClr val="black">
                      <a:alpha val="40000"/>
                    </a:prstClr>
                  </a:outerShdw>
                </a:effectLst>
                <a:cs typeface="+mn-ea"/>
                <a:sym typeface="+mn-lt"/>
              </a:rPr>
              <a:t>目录</a:t>
            </a:r>
          </a:p>
        </p:txBody>
      </p:sp>
      <p:sp>
        <p:nvSpPr>
          <p:cNvPr id="8" name="文本框 7"/>
          <p:cNvSpPr txBox="1"/>
          <p:nvPr/>
        </p:nvSpPr>
        <p:spPr>
          <a:xfrm>
            <a:off x="1487488" y="3501008"/>
            <a:ext cx="1787669" cy="307777"/>
          </a:xfrm>
          <a:prstGeom prst="rect">
            <a:avLst/>
          </a:prstGeom>
          <a:noFill/>
        </p:spPr>
        <p:txBody>
          <a:bodyPr wrap="none" rtlCol="0">
            <a:spAutoFit/>
          </a:bodyPr>
          <a:lstStyle/>
          <a:p>
            <a:r>
              <a:rPr lang="en-US" altLang="zh-CN" sz="1400" spc="600" dirty="0">
                <a:solidFill>
                  <a:schemeClr val="bg1"/>
                </a:solidFill>
                <a:cs typeface="+mn-ea"/>
                <a:sym typeface="+mn-lt"/>
              </a:rPr>
              <a:t>CONTENTS</a:t>
            </a:r>
            <a:endParaRPr lang="zh-CN" altLang="en-US" sz="1400" spc="600" dirty="0">
              <a:solidFill>
                <a:schemeClr val="bg1"/>
              </a:solidFill>
              <a:cs typeface="+mn-ea"/>
              <a:sym typeface="+mn-lt"/>
            </a:endParaRPr>
          </a:p>
        </p:txBody>
      </p:sp>
      <p:sp>
        <p:nvSpPr>
          <p:cNvPr id="13" name="任意多边形: 形状 12"/>
          <p:cNvSpPr/>
          <p:nvPr/>
        </p:nvSpPr>
        <p:spPr>
          <a:xfrm>
            <a:off x="983433" y="2346008"/>
            <a:ext cx="2592288" cy="1321975"/>
          </a:xfrm>
          <a:custGeom>
            <a:avLst/>
            <a:gdLst>
              <a:gd name="connsiteX0" fmla="*/ 0 w 7010400"/>
              <a:gd name="connsiteY0" fmla="*/ 0 h 1981384"/>
              <a:gd name="connsiteX1" fmla="*/ 7010400 w 7010400"/>
              <a:gd name="connsiteY1" fmla="*/ 0 h 1981384"/>
              <a:gd name="connsiteX2" fmla="*/ 7010400 w 7010400"/>
              <a:gd name="connsiteY2" fmla="*/ 1981384 h 1981384"/>
              <a:gd name="connsiteX3" fmla="*/ 6495669 w 7010400"/>
              <a:gd name="connsiteY3" fmla="*/ 1981384 h 1981384"/>
              <a:gd name="connsiteX4" fmla="*/ 6495669 w 7010400"/>
              <a:gd name="connsiteY4" fmla="*/ 1712044 h 1981384"/>
              <a:gd name="connsiteX5" fmla="*/ 514731 w 7010400"/>
              <a:gd name="connsiteY5" fmla="*/ 1712044 h 1981384"/>
              <a:gd name="connsiteX6" fmla="*/ 514731 w 7010400"/>
              <a:gd name="connsiteY6" fmla="*/ 1981384 h 1981384"/>
              <a:gd name="connsiteX7" fmla="*/ 0 w 7010400"/>
              <a:gd name="connsiteY7" fmla="*/ 1981384 h 1981384"/>
              <a:gd name="connsiteX0-1" fmla="*/ 0 w 7010400"/>
              <a:gd name="connsiteY0-2" fmla="*/ 0 h 1981384"/>
              <a:gd name="connsiteX1-3" fmla="*/ 7010400 w 7010400"/>
              <a:gd name="connsiteY1-4" fmla="*/ 0 h 1981384"/>
              <a:gd name="connsiteX2-5" fmla="*/ 7010400 w 7010400"/>
              <a:gd name="connsiteY2-6" fmla="*/ 1981384 h 1981384"/>
              <a:gd name="connsiteX3-7" fmla="*/ 6495669 w 7010400"/>
              <a:gd name="connsiteY3-8" fmla="*/ 1981384 h 1981384"/>
              <a:gd name="connsiteX4-9" fmla="*/ 6495669 w 7010400"/>
              <a:gd name="connsiteY4-10" fmla="*/ 1712044 h 1981384"/>
              <a:gd name="connsiteX5-11" fmla="*/ 514731 w 7010400"/>
              <a:gd name="connsiteY5-12" fmla="*/ 1981384 h 1981384"/>
              <a:gd name="connsiteX6-13" fmla="*/ 0 w 7010400"/>
              <a:gd name="connsiteY6-14" fmla="*/ 1981384 h 1981384"/>
              <a:gd name="connsiteX7-15" fmla="*/ 0 w 7010400"/>
              <a:gd name="connsiteY7-16" fmla="*/ 0 h 1981384"/>
              <a:gd name="connsiteX0-17" fmla="*/ 6495669 w 7010400"/>
              <a:gd name="connsiteY0-18" fmla="*/ 1712044 h 1981384"/>
              <a:gd name="connsiteX1-19" fmla="*/ 514731 w 7010400"/>
              <a:gd name="connsiteY1-20" fmla="*/ 1981384 h 1981384"/>
              <a:gd name="connsiteX2-21" fmla="*/ 0 w 7010400"/>
              <a:gd name="connsiteY2-22" fmla="*/ 1981384 h 1981384"/>
              <a:gd name="connsiteX3-23" fmla="*/ 0 w 7010400"/>
              <a:gd name="connsiteY3-24" fmla="*/ 0 h 1981384"/>
              <a:gd name="connsiteX4-25" fmla="*/ 7010400 w 7010400"/>
              <a:gd name="connsiteY4-26" fmla="*/ 0 h 1981384"/>
              <a:gd name="connsiteX5-27" fmla="*/ 7010400 w 7010400"/>
              <a:gd name="connsiteY5-28" fmla="*/ 1981384 h 1981384"/>
              <a:gd name="connsiteX6-29" fmla="*/ 6495669 w 7010400"/>
              <a:gd name="connsiteY6-30" fmla="*/ 1981384 h 1981384"/>
              <a:gd name="connsiteX7-31" fmla="*/ 6587109 w 7010400"/>
              <a:gd name="connsiteY7-32" fmla="*/ 1803484 h 1981384"/>
              <a:gd name="connsiteX0-33" fmla="*/ 577469 w 7010400"/>
              <a:gd name="connsiteY0-34" fmla="*/ 3629744 h 3629744"/>
              <a:gd name="connsiteX1-35" fmla="*/ 514731 w 7010400"/>
              <a:gd name="connsiteY1-36" fmla="*/ 1981384 h 3629744"/>
              <a:gd name="connsiteX2-37" fmla="*/ 0 w 7010400"/>
              <a:gd name="connsiteY2-38" fmla="*/ 1981384 h 3629744"/>
              <a:gd name="connsiteX3-39" fmla="*/ 0 w 7010400"/>
              <a:gd name="connsiteY3-40" fmla="*/ 0 h 3629744"/>
              <a:gd name="connsiteX4-41" fmla="*/ 7010400 w 7010400"/>
              <a:gd name="connsiteY4-42" fmla="*/ 0 h 3629744"/>
              <a:gd name="connsiteX5-43" fmla="*/ 7010400 w 7010400"/>
              <a:gd name="connsiteY5-44" fmla="*/ 1981384 h 3629744"/>
              <a:gd name="connsiteX6-45" fmla="*/ 6495669 w 7010400"/>
              <a:gd name="connsiteY6-46" fmla="*/ 1981384 h 3629744"/>
              <a:gd name="connsiteX7-47" fmla="*/ 6587109 w 7010400"/>
              <a:gd name="connsiteY7-48" fmla="*/ 1803484 h 3629744"/>
              <a:gd name="connsiteX0-49" fmla="*/ 514731 w 7010400"/>
              <a:gd name="connsiteY0-50" fmla="*/ 1981384 h 1981384"/>
              <a:gd name="connsiteX1-51" fmla="*/ 0 w 7010400"/>
              <a:gd name="connsiteY1-52" fmla="*/ 1981384 h 1981384"/>
              <a:gd name="connsiteX2-53" fmla="*/ 0 w 7010400"/>
              <a:gd name="connsiteY2-54" fmla="*/ 0 h 1981384"/>
              <a:gd name="connsiteX3-55" fmla="*/ 7010400 w 7010400"/>
              <a:gd name="connsiteY3-56" fmla="*/ 0 h 1981384"/>
              <a:gd name="connsiteX4-57" fmla="*/ 7010400 w 7010400"/>
              <a:gd name="connsiteY4-58" fmla="*/ 1981384 h 1981384"/>
              <a:gd name="connsiteX5-59" fmla="*/ 6495669 w 7010400"/>
              <a:gd name="connsiteY5-60" fmla="*/ 1981384 h 1981384"/>
              <a:gd name="connsiteX6-61" fmla="*/ 6587109 w 7010400"/>
              <a:gd name="connsiteY6-62" fmla="*/ 1803484 h 1981384"/>
              <a:gd name="connsiteX0-63" fmla="*/ 514731 w 7010400"/>
              <a:gd name="connsiteY0-64" fmla="*/ 1981384 h 1981384"/>
              <a:gd name="connsiteX1-65" fmla="*/ 0 w 7010400"/>
              <a:gd name="connsiteY1-66" fmla="*/ 1981384 h 1981384"/>
              <a:gd name="connsiteX2-67" fmla="*/ 0 w 7010400"/>
              <a:gd name="connsiteY2-68" fmla="*/ 0 h 1981384"/>
              <a:gd name="connsiteX3-69" fmla="*/ 7010400 w 7010400"/>
              <a:gd name="connsiteY3-70" fmla="*/ 0 h 1981384"/>
              <a:gd name="connsiteX4-71" fmla="*/ 7010400 w 7010400"/>
              <a:gd name="connsiteY4-72" fmla="*/ 1981384 h 1981384"/>
              <a:gd name="connsiteX5-73" fmla="*/ 6495669 w 7010400"/>
              <a:gd name="connsiteY5-74" fmla="*/ 1981384 h 1981384"/>
              <a:gd name="connsiteX0-75" fmla="*/ 1349388 w 7010400"/>
              <a:gd name="connsiteY0-76" fmla="*/ 1986143 h 1986143"/>
              <a:gd name="connsiteX1-77" fmla="*/ 0 w 7010400"/>
              <a:gd name="connsiteY1-78" fmla="*/ 1981384 h 1986143"/>
              <a:gd name="connsiteX2-79" fmla="*/ 0 w 7010400"/>
              <a:gd name="connsiteY2-80" fmla="*/ 0 h 1986143"/>
              <a:gd name="connsiteX3-81" fmla="*/ 7010400 w 7010400"/>
              <a:gd name="connsiteY3-82" fmla="*/ 0 h 1986143"/>
              <a:gd name="connsiteX4-83" fmla="*/ 7010400 w 7010400"/>
              <a:gd name="connsiteY4-84" fmla="*/ 1981384 h 1986143"/>
              <a:gd name="connsiteX5-85" fmla="*/ 6495669 w 7010400"/>
              <a:gd name="connsiteY5-86" fmla="*/ 1981384 h 1986143"/>
              <a:gd name="connsiteX0-87" fmla="*/ 1349388 w 7010400"/>
              <a:gd name="connsiteY0-88" fmla="*/ 1976626 h 1981384"/>
              <a:gd name="connsiteX1-89" fmla="*/ 0 w 7010400"/>
              <a:gd name="connsiteY1-90" fmla="*/ 1981384 h 1981384"/>
              <a:gd name="connsiteX2-91" fmla="*/ 0 w 7010400"/>
              <a:gd name="connsiteY2-92" fmla="*/ 0 h 1981384"/>
              <a:gd name="connsiteX3-93" fmla="*/ 7010400 w 7010400"/>
              <a:gd name="connsiteY3-94" fmla="*/ 0 h 1981384"/>
              <a:gd name="connsiteX4-95" fmla="*/ 7010400 w 7010400"/>
              <a:gd name="connsiteY4-96" fmla="*/ 1981384 h 1981384"/>
              <a:gd name="connsiteX5-97" fmla="*/ 6495669 w 7010400"/>
              <a:gd name="connsiteY5-98" fmla="*/ 1981384 h 1981384"/>
              <a:gd name="connsiteX0-99" fmla="*/ 1349388 w 7010400"/>
              <a:gd name="connsiteY0-100" fmla="*/ 1981385 h 1981385"/>
              <a:gd name="connsiteX1-101" fmla="*/ 0 w 7010400"/>
              <a:gd name="connsiteY1-102" fmla="*/ 1981384 h 1981385"/>
              <a:gd name="connsiteX2-103" fmla="*/ 0 w 7010400"/>
              <a:gd name="connsiteY2-104" fmla="*/ 0 h 1981385"/>
              <a:gd name="connsiteX3-105" fmla="*/ 7010400 w 7010400"/>
              <a:gd name="connsiteY3-106" fmla="*/ 0 h 1981385"/>
              <a:gd name="connsiteX4-107" fmla="*/ 7010400 w 7010400"/>
              <a:gd name="connsiteY4-108" fmla="*/ 1981384 h 1981385"/>
              <a:gd name="connsiteX5-109" fmla="*/ 6495669 w 7010400"/>
              <a:gd name="connsiteY5-110" fmla="*/ 1981384 h 1981385"/>
              <a:gd name="connsiteX0-111" fmla="*/ 1349388 w 7010400"/>
              <a:gd name="connsiteY0-112" fmla="*/ 1981385 h 1981385"/>
              <a:gd name="connsiteX1-113" fmla="*/ 0 w 7010400"/>
              <a:gd name="connsiteY1-114" fmla="*/ 1981384 h 1981385"/>
              <a:gd name="connsiteX2-115" fmla="*/ 0 w 7010400"/>
              <a:gd name="connsiteY2-116" fmla="*/ 0 h 1981385"/>
              <a:gd name="connsiteX3-117" fmla="*/ 7010400 w 7010400"/>
              <a:gd name="connsiteY3-118" fmla="*/ 0 h 1981385"/>
              <a:gd name="connsiteX4-119" fmla="*/ 7010400 w 7010400"/>
              <a:gd name="connsiteY4-120" fmla="*/ 1981384 h 1981385"/>
              <a:gd name="connsiteX5-121" fmla="*/ 5733943 w 7010400"/>
              <a:gd name="connsiteY5-122" fmla="*/ 1971866 h 1981385"/>
              <a:gd name="connsiteX0-123" fmla="*/ 1349388 w 7010400"/>
              <a:gd name="connsiteY0-124" fmla="*/ 1981385 h 1981385"/>
              <a:gd name="connsiteX1-125" fmla="*/ 0 w 7010400"/>
              <a:gd name="connsiteY1-126" fmla="*/ 1981384 h 1981385"/>
              <a:gd name="connsiteX2-127" fmla="*/ 0 w 7010400"/>
              <a:gd name="connsiteY2-128" fmla="*/ 0 h 1981385"/>
              <a:gd name="connsiteX3-129" fmla="*/ 7010400 w 7010400"/>
              <a:gd name="connsiteY3-130" fmla="*/ 0 h 1981385"/>
              <a:gd name="connsiteX4-131" fmla="*/ 7010400 w 7010400"/>
              <a:gd name="connsiteY4-132" fmla="*/ 1981384 h 1981385"/>
              <a:gd name="connsiteX5-133" fmla="*/ 5733943 w 7010400"/>
              <a:gd name="connsiteY5-134" fmla="*/ 1981384 h 1981385"/>
              <a:gd name="connsiteX0" fmla="*/ 1500505 w 7010400"/>
              <a:gd name="connsiteY0" fmla="*/ 1981385 h 1981385"/>
              <a:gd name="connsiteX1" fmla="*/ 0 w 7010400"/>
              <a:gd name="connsiteY1" fmla="*/ 1981384 h 1981385"/>
              <a:gd name="connsiteX2" fmla="*/ 0 w 7010400"/>
              <a:gd name="connsiteY2" fmla="*/ 0 h 1981385"/>
              <a:gd name="connsiteX3" fmla="*/ 7010400 w 7010400"/>
              <a:gd name="connsiteY3" fmla="*/ 0 h 1981385"/>
              <a:gd name="connsiteX4" fmla="*/ 7010400 w 7010400"/>
              <a:gd name="connsiteY4" fmla="*/ 1981384 h 1981385"/>
              <a:gd name="connsiteX5" fmla="*/ 5733943 w 7010400"/>
              <a:gd name="connsiteY5" fmla="*/ 1981384 h 19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0400" h="1981385">
                <a:moveTo>
                  <a:pt x="1500505" y="1981385"/>
                </a:moveTo>
                <a:lnTo>
                  <a:pt x="0" y="1981384"/>
                </a:lnTo>
                <a:lnTo>
                  <a:pt x="0" y="0"/>
                </a:lnTo>
                <a:lnTo>
                  <a:pt x="7010400" y="0"/>
                </a:lnTo>
                <a:lnTo>
                  <a:pt x="7010400" y="1981384"/>
                </a:lnTo>
                <a:lnTo>
                  <a:pt x="5733943" y="1981384"/>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nvGrpSpPr>
          <p:cNvPr id="6" name="组合 5"/>
          <p:cNvGrpSpPr/>
          <p:nvPr/>
        </p:nvGrpSpPr>
        <p:grpSpPr>
          <a:xfrm>
            <a:off x="6474643" y="1200541"/>
            <a:ext cx="5018314" cy="4561443"/>
            <a:chOff x="6350000" y="1147981"/>
            <a:chExt cx="5018314" cy="4561443"/>
          </a:xfrm>
        </p:grpSpPr>
        <p:grpSp>
          <p:nvGrpSpPr>
            <p:cNvPr id="23" name="组合 22"/>
            <p:cNvGrpSpPr/>
            <p:nvPr/>
          </p:nvGrpSpPr>
          <p:grpSpPr>
            <a:xfrm>
              <a:off x="6350000" y="1147981"/>
              <a:ext cx="5018314" cy="4561443"/>
              <a:chOff x="6350000" y="1147981"/>
              <a:chExt cx="5018314" cy="4561443"/>
            </a:xfrm>
          </p:grpSpPr>
          <p:sp>
            <p:nvSpPr>
              <p:cNvPr id="24" name="矩形: 圆角 23"/>
              <p:cNvSpPr/>
              <p:nvPr/>
            </p:nvSpPr>
            <p:spPr>
              <a:xfrm>
                <a:off x="6350000" y="1147981"/>
                <a:ext cx="5018314" cy="863523"/>
              </a:xfrm>
              <a:prstGeom prst="roundRect">
                <a:avLst>
                  <a:gd name="adj" fmla="val 50000"/>
                </a:avLst>
              </a:prstGeom>
              <a:noFill/>
              <a:ln>
                <a:gradFill flip="none" rotWithShape="1">
                  <a:gsLst>
                    <a:gs pos="0">
                      <a:srgbClr val="0E419C"/>
                    </a:gs>
                    <a:gs pos="70000">
                      <a:srgbClr val="0E419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文本框 24"/>
              <p:cNvSpPr txBox="1"/>
              <p:nvPr/>
            </p:nvSpPr>
            <p:spPr>
              <a:xfrm>
                <a:off x="6481030" y="1287356"/>
                <a:ext cx="850784" cy="584775"/>
              </a:xfrm>
              <a:prstGeom prst="rect">
                <a:avLst/>
              </a:prstGeom>
              <a:noFill/>
            </p:spPr>
            <p:txBody>
              <a:bodyPr wrap="square" anchor="ctr">
                <a:spAutoFit/>
              </a:bodyPr>
              <a:lstStyle>
                <a:defPPr>
                  <a:defRPr lang="zh-CN"/>
                </a:defPPr>
                <a:lvl1pPr>
                  <a:defRPr sz="3200">
                    <a:gradFill flip="none" rotWithShape="1">
                      <a:gsLst>
                        <a:gs pos="0">
                          <a:srgbClr val="0070C0"/>
                        </a:gs>
                        <a:gs pos="100000">
                          <a:srgbClr val="123485"/>
                        </a:gs>
                      </a:gsLst>
                      <a:lin ang="5400000" scaled="1"/>
                      <a:tileRect/>
                    </a:gradFill>
                    <a:latin typeface="思源黑体 CN Bold" panose="020B0800000000000000" pitchFamily="34" charset="-122"/>
                    <a:ea typeface="思源黑体 CN Bold" panose="020B0800000000000000" pitchFamily="34" charset="-122"/>
                  </a:defRPr>
                </a:lvl1pPr>
              </a:lstStyle>
              <a:p>
                <a:pPr algn="ctr"/>
                <a:r>
                  <a:rPr lang="en-US" altLang="zh-CN" dirty="0">
                    <a:gradFill flip="none" rotWithShape="1">
                      <a:gsLst>
                        <a:gs pos="0">
                          <a:srgbClr val="0070C0"/>
                        </a:gs>
                        <a:gs pos="100000">
                          <a:srgbClr val="133789"/>
                        </a:gs>
                      </a:gsLst>
                      <a:lin ang="10800000" scaled="1"/>
                      <a:tileRect/>
                    </a:gradFill>
                    <a:latin typeface="+mn-lt"/>
                    <a:ea typeface="+mn-ea"/>
                    <a:cs typeface="+mn-ea"/>
                    <a:sym typeface="+mn-lt"/>
                  </a:rPr>
                  <a:t>1</a:t>
                </a:r>
                <a:endParaRPr lang="zh-CN" altLang="en-US" dirty="0">
                  <a:gradFill flip="none" rotWithShape="1">
                    <a:gsLst>
                      <a:gs pos="0">
                        <a:srgbClr val="0070C0"/>
                      </a:gs>
                      <a:gs pos="100000">
                        <a:srgbClr val="133789"/>
                      </a:gs>
                    </a:gsLst>
                    <a:lin ang="10800000" scaled="1"/>
                    <a:tileRect/>
                  </a:gradFill>
                  <a:latin typeface="+mn-lt"/>
                  <a:ea typeface="+mn-ea"/>
                  <a:cs typeface="+mn-ea"/>
                  <a:sym typeface="+mn-lt"/>
                </a:endParaRPr>
              </a:p>
            </p:txBody>
          </p:sp>
          <p:sp>
            <p:nvSpPr>
              <p:cNvPr id="26" name="矩形: 圆角 25"/>
              <p:cNvSpPr/>
              <p:nvPr/>
            </p:nvSpPr>
            <p:spPr>
              <a:xfrm>
                <a:off x="6350000" y="2380621"/>
                <a:ext cx="5018314" cy="863523"/>
              </a:xfrm>
              <a:prstGeom prst="roundRect">
                <a:avLst>
                  <a:gd name="adj" fmla="val 50000"/>
                </a:avLst>
              </a:prstGeom>
              <a:noFill/>
              <a:ln>
                <a:gradFill flip="none" rotWithShape="1">
                  <a:gsLst>
                    <a:gs pos="0">
                      <a:srgbClr val="133789"/>
                    </a:gs>
                    <a:gs pos="70000">
                      <a:srgbClr val="2A7DDA">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文本框 26"/>
              <p:cNvSpPr txBox="1"/>
              <p:nvPr/>
            </p:nvSpPr>
            <p:spPr>
              <a:xfrm>
                <a:off x="6481030" y="2520588"/>
                <a:ext cx="850784" cy="584775"/>
              </a:xfrm>
              <a:prstGeom prst="rect">
                <a:avLst/>
              </a:prstGeom>
              <a:noFill/>
            </p:spPr>
            <p:txBody>
              <a:bodyPr wrap="square" anchor="ctr">
                <a:spAutoFit/>
              </a:bodyPr>
              <a:lstStyle>
                <a:defPPr>
                  <a:defRPr lang="zh-CN"/>
                </a:defPPr>
                <a:lvl1pPr>
                  <a:defRPr sz="3200">
                    <a:gradFill flip="none" rotWithShape="1">
                      <a:gsLst>
                        <a:gs pos="0">
                          <a:srgbClr val="0070C0"/>
                        </a:gs>
                        <a:gs pos="100000">
                          <a:srgbClr val="133789"/>
                        </a:gs>
                      </a:gsLst>
                      <a:lin ang="10800000" scaled="1"/>
                      <a:tileRect/>
                    </a:gradFill>
                    <a:latin typeface="思源黑体 CN Bold" panose="020B0800000000000000" pitchFamily="34" charset="-122"/>
                    <a:ea typeface="思源黑体 CN Bold" panose="020B0800000000000000" pitchFamily="34" charset="-122"/>
                  </a:defRPr>
                </a:lvl1pPr>
              </a:lstStyle>
              <a:p>
                <a:pPr algn="ctr"/>
                <a:r>
                  <a:rPr lang="en-US" altLang="zh-CN">
                    <a:latin typeface="+mn-lt"/>
                    <a:ea typeface="+mn-ea"/>
                    <a:cs typeface="+mn-ea"/>
                    <a:sym typeface="+mn-lt"/>
                  </a:rPr>
                  <a:t>2</a:t>
                </a:r>
                <a:endParaRPr lang="zh-CN" altLang="en-US">
                  <a:latin typeface="+mn-lt"/>
                  <a:ea typeface="+mn-ea"/>
                  <a:cs typeface="+mn-ea"/>
                  <a:sym typeface="+mn-lt"/>
                </a:endParaRPr>
              </a:p>
            </p:txBody>
          </p:sp>
          <p:sp>
            <p:nvSpPr>
              <p:cNvPr id="28" name="矩形: 圆角 27"/>
              <p:cNvSpPr/>
              <p:nvPr/>
            </p:nvSpPr>
            <p:spPr>
              <a:xfrm>
                <a:off x="6350000" y="3613261"/>
                <a:ext cx="5018314" cy="863523"/>
              </a:xfrm>
              <a:prstGeom prst="roundRect">
                <a:avLst>
                  <a:gd name="adj" fmla="val 50000"/>
                </a:avLst>
              </a:prstGeom>
              <a:noFill/>
              <a:ln>
                <a:gradFill flip="none" rotWithShape="1">
                  <a:gsLst>
                    <a:gs pos="0">
                      <a:srgbClr val="133789"/>
                    </a:gs>
                    <a:gs pos="70000">
                      <a:srgbClr val="2A7DDA">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p:cNvSpPr txBox="1"/>
              <p:nvPr/>
            </p:nvSpPr>
            <p:spPr>
              <a:xfrm>
                <a:off x="6481030" y="3754409"/>
                <a:ext cx="850784" cy="584775"/>
              </a:xfrm>
              <a:prstGeom prst="rect">
                <a:avLst/>
              </a:prstGeom>
              <a:noFill/>
            </p:spPr>
            <p:txBody>
              <a:bodyPr wrap="square" anchor="ctr">
                <a:spAutoFit/>
              </a:bodyPr>
              <a:lstStyle>
                <a:defPPr>
                  <a:defRPr lang="zh-CN"/>
                </a:defPPr>
                <a:lvl1pPr>
                  <a:defRPr sz="3200">
                    <a:gradFill flip="none" rotWithShape="1">
                      <a:gsLst>
                        <a:gs pos="0">
                          <a:srgbClr val="0070C0"/>
                        </a:gs>
                        <a:gs pos="100000">
                          <a:srgbClr val="133789"/>
                        </a:gs>
                      </a:gsLst>
                      <a:lin ang="10800000" scaled="1"/>
                      <a:tileRect/>
                    </a:gradFill>
                    <a:latin typeface="思源黑体 CN Bold" panose="020B0800000000000000" pitchFamily="34" charset="-122"/>
                    <a:ea typeface="思源黑体 CN Bold" panose="020B0800000000000000" pitchFamily="34" charset="-122"/>
                  </a:defRPr>
                </a:lvl1pPr>
              </a:lstStyle>
              <a:p>
                <a:pPr algn="ctr"/>
                <a:r>
                  <a:rPr lang="en-US" altLang="zh-CN">
                    <a:latin typeface="+mn-lt"/>
                    <a:ea typeface="+mn-ea"/>
                    <a:cs typeface="+mn-ea"/>
                    <a:sym typeface="+mn-lt"/>
                  </a:rPr>
                  <a:t>3</a:t>
                </a:r>
                <a:endParaRPr lang="zh-CN" altLang="en-US">
                  <a:latin typeface="+mn-lt"/>
                  <a:ea typeface="+mn-ea"/>
                  <a:cs typeface="+mn-ea"/>
                  <a:sym typeface="+mn-lt"/>
                </a:endParaRPr>
              </a:p>
            </p:txBody>
          </p:sp>
          <p:sp>
            <p:nvSpPr>
              <p:cNvPr id="30" name="矩形: 圆角 29"/>
              <p:cNvSpPr/>
              <p:nvPr/>
            </p:nvSpPr>
            <p:spPr>
              <a:xfrm>
                <a:off x="6350000" y="4845901"/>
                <a:ext cx="5018314" cy="863523"/>
              </a:xfrm>
              <a:prstGeom prst="roundRect">
                <a:avLst>
                  <a:gd name="adj" fmla="val 50000"/>
                </a:avLst>
              </a:prstGeom>
              <a:noFill/>
              <a:ln>
                <a:gradFill flip="none" rotWithShape="1">
                  <a:gsLst>
                    <a:gs pos="0">
                      <a:srgbClr val="133789"/>
                    </a:gs>
                    <a:gs pos="70000">
                      <a:srgbClr val="2A7DDA">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文本框 30"/>
              <p:cNvSpPr txBox="1"/>
              <p:nvPr/>
            </p:nvSpPr>
            <p:spPr>
              <a:xfrm>
                <a:off x="6481030" y="4992417"/>
                <a:ext cx="850784" cy="584775"/>
              </a:xfrm>
              <a:prstGeom prst="rect">
                <a:avLst/>
              </a:prstGeom>
              <a:noFill/>
            </p:spPr>
            <p:txBody>
              <a:bodyPr wrap="square" anchor="ctr">
                <a:spAutoFit/>
              </a:bodyPr>
              <a:lstStyle>
                <a:defPPr>
                  <a:defRPr lang="zh-CN"/>
                </a:defPPr>
                <a:lvl1pPr>
                  <a:defRPr sz="3200">
                    <a:gradFill flip="none" rotWithShape="1">
                      <a:gsLst>
                        <a:gs pos="0">
                          <a:srgbClr val="0070C0"/>
                        </a:gs>
                        <a:gs pos="100000">
                          <a:srgbClr val="133789"/>
                        </a:gs>
                      </a:gsLst>
                      <a:lin ang="10800000" scaled="1"/>
                      <a:tileRect/>
                    </a:gradFill>
                    <a:latin typeface="思源黑体 CN Bold" panose="020B0800000000000000" pitchFamily="34" charset="-122"/>
                    <a:ea typeface="思源黑体 CN Bold" panose="020B0800000000000000" pitchFamily="34" charset="-122"/>
                  </a:defRPr>
                </a:lvl1pPr>
              </a:lstStyle>
              <a:p>
                <a:pPr algn="ctr"/>
                <a:r>
                  <a:rPr lang="en-US" altLang="zh-CN">
                    <a:latin typeface="+mn-lt"/>
                    <a:ea typeface="+mn-ea"/>
                    <a:cs typeface="+mn-ea"/>
                    <a:sym typeface="+mn-lt"/>
                  </a:rPr>
                  <a:t>4</a:t>
                </a:r>
                <a:endParaRPr lang="zh-CN" altLang="en-US">
                  <a:latin typeface="+mn-lt"/>
                  <a:ea typeface="+mn-ea"/>
                  <a:cs typeface="+mn-ea"/>
                  <a:sym typeface="+mn-lt"/>
                </a:endParaRPr>
              </a:p>
            </p:txBody>
          </p:sp>
        </p:grpSp>
        <p:sp>
          <p:nvSpPr>
            <p:cNvPr id="3" name="文本框 2"/>
            <p:cNvSpPr txBox="1"/>
            <p:nvPr/>
          </p:nvSpPr>
          <p:spPr>
            <a:xfrm>
              <a:off x="7398639" y="1318132"/>
              <a:ext cx="1928733" cy="523220"/>
            </a:xfrm>
            <a:prstGeom prst="rect">
              <a:avLst/>
            </a:prstGeom>
            <a:noFill/>
          </p:spPr>
          <p:txBody>
            <a:bodyPr wrap="none" rtlCol="0">
              <a:spAutoFit/>
            </a:bodyPr>
            <a:lstStyle/>
            <a:p>
              <a:pPr algn="ctr"/>
              <a:r>
                <a:rPr lang="zh-CN" altLang="en-US" sz="2800" spc="600">
                  <a:solidFill>
                    <a:srgbClr val="0E419C"/>
                  </a:solidFill>
                  <a:cs typeface="+mn-ea"/>
                  <a:sym typeface="+mn-lt"/>
                </a:rPr>
                <a:t>背景分析</a:t>
              </a:r>
              <a:endParaRPr lang="zh-CN" altLang="en-US" sz="2800" spc="600" dirty="0">
                <a:solidFill>
                  <a:srgbClr val="0E419C"/>
                </a:solidFill>
                <a:cs typeface="+mn-ea"/>
                <a:sym typeface="+mn-lt"/>
              </a:endParaRPr>
            </a:p>
          </p:txBody>
        </p:sp>
        <p:sp>
          <p:nvSpPr>
            <p:cNvPr id="33" name="文本框 32"/>
            <p:cNvSpPr txBox="1"/>
            <p:nvPr/>
          </p:nvSpPr>
          <p:spPr>
            <a:xfrm>
              <a:off x="7398638" y="5016052"/>
              <a:ext cx="1928734" cy="523220"/>
            </a:xfrm>
            <a:prstGeom prst="rect">
              <a:avLst/>
            </a:prstGeom>
            <a:noFill/>
          </p:spPr>
          <p:txBody>
            <a:bodyPr wrap="none" rtlCol="0">
              <a:spAutoFit/>
            </a:bodyPr>
            <a:lstStyle/>
            <a:p>
              <a:pPr algn="ctr"/>
              <a:r>
                <a:rPr lang="zh-CN" altLang="en-US" sz="2800" spc="600" dirty="0">
                  <a:solidFill>
                    <a:srgbClr val="0E419C"/>
                  </a:solidFill>
                  <a:cs typeface="+mn-ea"/>
                  <a:sym typeface="+mn-lt"/>
                </a:rPr>
                <a:t>实验部分</a:t>
              </a:r>
            </a:p>
          </p:txBody>
        </p:sp>
        <p:sp>
          <p:nvSpPr>
            <p:cNvPr id="34" name="文本框 33"/>
            <p:cNvSpPr txBox="1"/>
            <p:nvPr/>
          </p:nvSpPr>
          <p:spPr>
            <a:xfrm>
              <a:off x="7398638" y="3783412"/>
              <a:ext cx="1928734" cy="523220"/>
            </a:xfrm>
            <a:prstGeom prst="rect">
              <a:avLst/>
            </a:prstGeom>
            <a:noFill/>
          </p:spPr>
          <p:txBody>
            <a:bodyPr wrap="none" rtlCol="0">
              <a:spAutoFit/>
            </a:bodyPr>
            <a:lstStyle/>
            <a:p>
              <a:pPr algn="ctr"/>
              <a:r>
                <a:rPr lang="zh-CN" altLang="en-US" sz="2800" spc="600" dirty="0">
                  <a:solidFill>
                    <a:srgbClr val="0E419C"/>
                  </a:solidFill>
                  <a:cs typeface="+mn-ea"/>
                  <a:sym typeface="+mn-lt"/>
                </a:rPr>
                <a:t>具体方法</a:t>
              </a:r>
            </a:p>
          </p:txBody>
        </p:sp>
        <p:sp>
          <p:nvSpPr>
            <p:cNvPr id="35" name="文本框 34"/>
            <p:cNvSpPr txBox="1"/>
            <p:nvPr/>
          </p:nvSpPr>
          <p:spPr>
            <a:xfrm>
              <a:off x="7398638" y="2550772"/>
              <a:ext cx="1928734" cy="523220"/>
            </a:xfrm>
            <a:prstGeom prst="rect">
              <a:avLst/>
            </a:prstGeom>
            <a:noFill/>
          </p:spPr>
          <p:txBody>
            <a:bodyPr wrap="none" rtlCol="0">
              <a:spAutoFit/>
            </a:bodyPr>
            <a:lstStyle/>
            <a:p>
              <a:pPr algn="ctr"/>
              <a:r>
                <a:rPr lang="zh-CN" altLang="en-US" sz="2800" spc="600" dirty="0">
                  <a:solidFill>
                    <a:srgbClr val="0E419C"/>
                  </a:solidFill>
                  <a:cs typeface="+mn-ea"/>
                  <a:sym typeface="+mn-lt"/>
                </a:rPr>
                <a:t>项目介绍</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5C6A1-76E2-0F3C-2B79-0CDC3D0148BA}"/>
            </a:ext>
          </a:extLst>
        </p:cNvPr>
        <p:cNvGrpSpPr/>
        <p:nvPr/>
      </p:nvGrpSpPr>
      <p:grpSpPr>
        <a:xfrm>
          <a:off x="0" y="0"/>
          <a:ext cx="0" cy="0"/>
          <a:chOff x="0" y="0"/>
          <a:chExt cx="0" cy="0"/>
        </a:xfrm>
      </p:grpSpPr>
      <p:sp>
        <p:nvSpPr>
          <p:cNvPr id="14" name="矩形: 圆角 13">
            <a:extLst>
              <a:ext uri="{FF2B5EF4-FFF2-40B4-BE49-F238E27FC236}">
                <a16:creationId xmlns:a16="http://schemas.microsoft.com/office/drawing/2014/main" id="{A09083D9-9EF4-AF3C-C763-BF395DBE4753}"/>
              </a:ext>
            </a:extLst>
          </p:cNvPr>
          <p:cNvSpPr/>
          <p:nvPr/>
        </p:nvSpPr>
        <p:spPr>
          <a:xfrm>
            <a:off x="7761533" y="3772396"/>
            <a:ext cx="3096344" cy="1296144"/>
          </a:xfrm>
          <a:prstGeom prst="roundRect">
            <a:avLst/>
          </a:prstGeom>
          <a:solidFill>
            <a:schemeClr val="accent5">
              <a:lumMod val="60000"/>
              <a:lumOff val="40000"/>
            </a:schemeClr>
          </a:solidFill>
          <a:ln>
            <a:solidFill>
              <a:schemeClr val="accent5">
                <a:lumMod val="60000"/>
                <a:lumOff val="4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E8F02BA7-9B50-BBEB-7600-73EAE489CC82}"/>
              </a:ext>
            </a:extLst>
          </p:cNvPr>
          <p:cNvSpPr/>
          <p:nvPr/>
        </p:nvSpPr>
        <p:spPr>
          <a:xfrm>
            <a:off x="1415480" y="3771847"/>
            <a:ext cx="3096344" cy="1296144"/>
          </a:xfrm>
          <a:prstGeom prst="roundRect">
            <a:avLst/>
          </a:prstGeom>
          <a:solidFill>
            <a:schemeClr val="accent5">
              <a:lumMod val="60000"/>
              <a:lumOff val="40000"/>
            </a:schemeClr>
          </a:solidFill>
          <a:ln>
            <a:solidFill>
              <a:schemeClr val="accent5">
                <a:lumMod val="60000"/>
                <a:lumOff val="4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a:extLst>
              <a:ext uri="{FF2B5EF4-FFF2-40B4-BE49-F238E27FC236}">
                <a16:creationId xmlns:a16="http://schemas.microsoft.com/office/drawing/2014/main" id="{98D81B89-81BC-C1B2-C3B5-C39E50423BAC}"/>
              </a:ext>
            </a:extLst>
          </p:cNvPr>
          <p:cNvSpPr/>
          <p:nvPr/>
        </p:nvSpPr>
        <p:spPr>
          <a:xfrm>
            <a:off x="1058485" y="1351282"/>
            <a:ext cx="3692781" cy="4012072"/>
          </a:xfrm>
          <a:prstGeom prst="roundRect">
            <a:avLst/>
          </a:prstGeom>
          <a:noFill/>
          <a:ln w="28575">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092F255E-400C-07B9-1E7C-90253E9868A5}"/>
              </a:ext>
            </a:extLst>
          </p:cNvPr>
          <p:cNvGrpSpPr/>
          <p:nvPr/>
        </p:nvGrpSpPr>
        <p:grpSpPr>
          <a:xfrm>
            <a:off x="0" y="1"/>
            <a:ext cx="12192000" cy="716766"/>
            <a:chOff x="0" y="1"/>
            <a:chExt cx="12192000" cy="716766"/>
          </a:xfrm>
        </p:grpSpPr>
        <p:sp>
          <p:nvSpPr>
            <p:cNvPr id="27" name="矩形 26">
              <a:extLst>
                <a:ext uri="{FF2B5EF4-FFF2-40B4-BE49-F238E27FC236}">
                  <a16:creationId xmlns:a16="http://schemas.microsoft.com/office/drawing/2014/main" id="{6E739213-0812-1538-0C0B-A04803A02016}"/>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4BFBB1D2-16D4-7A4D-AB3A-D5219C4D436B}"/>
                </a:ext>
              </a:extLst>
            </p:cNvPr>
            <p:cNvGrpSpPr/>
            <p:nvPr/>
          </p:nvGrpSpPr>
          <p:grpSpPr>
            <a:xfrm>
              <a:off x="5566401" y="159473"/>
              <a:ext cx="6316088" cy="369332"/>
              <a:chOff x="5223501" y="299173"/>
              <a:chExt cx="6316088" cy="369332"/>
            </a:xfrm>
          </p:grpSpPr>
          <p:sp>
            <p:nvSpPr>
              <p:cNvPr id="31" name="文本框 30">
                <a:extLst>
                  <a:ext uri="{FF2B5EF4-FFF2-40B4-BE49-F238E27FC236}">
                    <a16:creationId xmlns:a16="http://schemas.microsoft.com/office/drawing/2014/main" id="{9B851C1B-1219-711F-D0F9-F16A2E1D7FD9}"/>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32" name="文本框 31">
                <a:extLst>
                  <a:ext uri="{FF2B5EF4-FFF2-40B4-BE49-F238E27FC236}">
                    <a16:creationId xmlns:a16="http://schemas.microsoft.com/office/drawing/2014/main" id="{E619A042-E681-52F4-0285-CD3E8FC15F2E}"/>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33" name="文本框 32">
                <a:extLst>
                  <a:ext uri="{FF2B5EF4-FFF2-40B4-BE49-F238E27FC236}">
                    <a16:creationId xmlns:a16="http://schemas.microsoft.com/office/drawing/2014/main" id="{3968DDDA-4441-F0BE-5AFC-AAF4C5D07C72}"/>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34" name="文本框 33">
                <a:extLst>
                  <a:ext uri="{FF2B5EF4-FFF2-40B4-BE49-F238E27FC236}">
                    <a16:creationId xmlns:a16="http://schemas.microsoft.com/office/drawing/2014/main" id="{0EECED33-DF3F-1609-D683-C89746FB5ABA}"/>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37" name="直接连接符 36">
                <a:extLst>
                  <a:ext uri="{FF2B5EF4-FFF2-40B4-BE49-F238E27FC236}">
                    <a16:creationId xmlns:a16="http://schemas.microsoft.com/office/drawing/2014/main" id="{D4204985-C151-184B-6082-105553BED45C}"/>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D2FE01F2-75C2-2055-E681-F69B6D20F68E}"/>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B19E5A80-B796-AD21-5356-BBBE44FC4FF6}"/>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9" name="等腰三角形 28">
              <a:extLst>
                <a:ext uri="{FF2B5EF4-FFF2-40B4-BE49-F238E27FC236}">
                  <a16:creationId xmlns:a16="http://schemas.microsoft.com/office/drawing/2014/main" id="{AC4AA844-A4A3-31A3-8340-EAF8A8690650}"/>
                </a:ext>
              </a:extLst>
            </p:cNvPr>
            <p:cNvSpPr/>
            <p:nvPr/>
          </p:nvSpPr>
          <p:spPr>
            <a:xfrm>
              <a:off x="5731674" y="567541"/>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4F6CB749-68CC-F811-1CAD-57E9E4C74A44}"/>
              </a:ext>
            </a:extLst>
          </p:cNvPr>
          <p:cNvGrpSpPr/>
          <p:nvPr/>
        </p:nvGrpSpPr>
        <p:grpSpPr>
          <a:xfrm>
            <a:off x="309511" y="770246"/>
            <a:ext cx="1546893" cy="461665"/>
            <a:chOff x="934400" y="936575"/>
            <a:chExt cx="1546893" cy="461665"/>
          </a:xfrm>
        </p:grpSpPr>
        <p:sp>
          <p:nvSpPr>
            <p:cNvPr id="44" name="文本框 43">
              <a:extLst>
                <a:ext uri="{FF2B5EF4-FFF2-40B4-BE49-F238E27FC236}">
                  <a16:creationId xmlns:a16="http://schemas.microsoft.com/office/drawing/2014/main" id="{39DC4D78-71F5-F22F-9875-A561C8F27387}"/>
                </a:ext>
              </a:extLst>
            </p:cNvPr>
            <p:cNvSpPr txBox="1"/>
            <p:nvPr/>
          </p:nvSpPr>
          <p:spPr>
            <a:xfrm>
              <a:off x="1065521" y="936575"/>
              <a:ext cx="1415772" cy="461665"/>
            </a:xfrm>
            <a:prstGeom prst="rect">
              <a:avLst/>
            </a:prstGeom>
            <a:noFill/>
          </p:spPr>
          <p:txBody>
            <a:bodyPr wrap="none" rtlCol="0">
              <a:spAutoFit/>
            </a:bodyPr>
            <a:lstStyle/>
            <a:p>
              <a:r>
                <a:rPr lang="zh-CN" altLang="en-US" sz="2400" dirty="0">
                  <a:solidFill>
                    <a:srgbClr val="0E419C"/>
                  </a:solidFill>
                </a:rPr>
                <a:t>问题重述</a:t>
              </a:r>
            </a:p>
          </p:txBody>
        </p:sp>
        <p:sp>
          <p:nvSpPr>
            <p:cNvPr id="45" name="矩形 44">
              <a:extLst>
                <a:ext uri="{FF2B5EF4-FFF2-40B4-BE49-F238E27FC236}">
                  <a16:creationId xmlns:a16="http://schemas.microsoft.com/office/drawing/2014/main" id="{220FADEB-CBB6-A301-1155-5D0C579FBAA0}"/>
                </a:ext>
              </a:extLst>
            </p:cNvPr>
            <p:cNvSpPr/>
            <p:nvPr/>
          </p:nvSpPr>
          <p:spPr>
            <a:xfrm>
              <a:off x="934400" y="963997"/>
              <a:ext cx="45719" cy="371466"/>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图片 3">
            <a:extLst>
              <a:ext uri="{FF2B5EF4-FFF2-40B4-BE49-F238E27FC236}">
                <a16:creationId xmlns:a16="http://schemas.microsoft.com/office/drawing/2014/main" id="{070258AC-5C6F-A0D5-AF2B-E24C543DF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488" y="1513113"/>
            <a:ext cx="2851150" cy="1892300"/>
          </a:xfrm>
          <a:prstGeom prst="rect">
            <a:avLst/>
          </a:prstGeom>
        </p:spPr>
      </p:pic>
      <p:sp>
        <p:nvSpPr>
          <p:cNvPr id="5" name="文本框 4">
            <a:extLst>
              <a:ext uri="{FF2B5EF4-FFF2-40B4-BE49-F238E27FC236}">
                <a16:creationId xmlns:a16="http://schemas.microsoft.com/office/drawing/2014/main" id="{E104E976-1955-4B40-5E0D-1CD5A24C3B53}"/>
              </a:ext>
            </a:extLst>
          </p:cNvPr>
          <p:cNvSpPr txBox="1"/>
          <p:nvPr/>
        </p:nvSpPr>
        <p:spPr>
          <a:xfrm>
            <a:off x="1541769" y="3868813"/>
            <a:ext cx="2851150" cy="1015663"/>
          </a:xfrm>
          <a:prstGeom prst="rect">
            <a:avLst/>
          </a:prstGeom>
          <a:noFill/>
        </p:spPr>
        <p:txBody>
          <a:bodyPr wrap="square" rtlCol="0">
            <a:spAutoFit/>
          </a:bodyPr>
          <a:lstStyle/>
          <a:p>
            <a:pPr algn="ctr"/>
            <a:r>
              <a:rPr lang="zh-CN" altLang="en-US" sz="2000" dirty="0">
                <a:latin typeface="宋体" panose="02010600030101010101" pitchFamily="2" charset="-122"/>
                <a:ea typeface="宋体" panose="02010600030101010101" pitchFamily="2" charset="-122"/>
              </a:rPr>
              <a:t>浓烟环境使得消防人员施救困难，人眼视觉手段几乎失效。</a:t>
            </a:r>
          </a:p>
        </p:txBody>
      </p:sp>
      <p:pic>
        <p:nvPicPr>
          <p:cNvPr id="9" name="图片 8">
            <a:extLst>
              <a:ext uri="{FF2B5EF4-FFF2-40B4-BE49-F238E27FC236}">
                <a16:creationId xmlns:a16="http://schemas.microsoft.com/office/drawing/2014/main" id="{45690AD9-1A0C-D55D-5439-CC6D031BEF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7695" y="1513002"/>
            <a:ext cx="2851150" cy="1901558"/>
          </a:xfrm>
          <a:prstGeom prst="rect">
            <a:avLst/>
          </a:prstGeom>
        </p:spPr>
      </p:pic>
      <p:sp>
        <p:nvSpPr>
          <p:cNvPr id="10" name="文本框 9">
            <a:extLst>
              <a:ext uri="{FF2B5EF4-FFF2-40B4-BE49-F238E27FC236}">
                <a16:creationId xmlns:a16="http://schemas.microsoft.com/office/drawing/2014/main" id="{DA46BAD1-93EE-D903-C369-9E66B0F3CBB1}"/>
              </a:ext>
            </a:extLst>
          </p:cNvPr>
          <p:cNvSpPr txBox="1"/>
          <p:nvPr/>
        </p:nvSpPr>
        <p:spPr>
          <a:xfrm>
            <a:off x="7897695" y="3860150"/>
            <a:ext cx="2851150" cy="1015663"/>
          </a:xfrm>
          <a:prstGeom prst="rect">
            <a:avLst/>
          </a:prstGeom>
          <a:noFill/>
        </p:spPr>
        <p:txBody>
          <a:bodyPr wrap="square" rtlCol="0">
            <a:spAutoFit/>
          </a:bodyPr>
          <a:lstStyle/>
          <a:p>
            <a:pPr algn="ctr"/>
            <a:r>
              <a:rPr lang="zh-CN" altLang="en-US" sz="2000" dirty="0">
                <a:latin typeface="宋体" panose="02010600030101010101" pitchFamily="2" charset="-122"/>
                <a:ea typeface="宋体" panose="02010600030101010101" pitchFamily="2" charset="-122"/>
              </a:rPr>
              <a:t>机器人代替消防员进入火场，利用传感器识别被困人员。</a:t>
            </a:r>
          </a:p>
        </p:txBody>
      </p:sp>
      <p:sp>
        <p:nvSpPr>
          <p:cNvPr id="13" name="矩形: 圆角 12">
            <a:extLst>
              <a:ext uri="{FF2B5EF4-FFF2-40B4-BE49-F238E27FC236}">
                <a16:creationId xmlns:a16="http://schemas.microsoft.com/office/drawing/2014/main" id="{36559FDD-1599-0AFA-9AE4-A2FF2CDC6FC4}"/>
              </a:ext>
            </a:extLst>
          </p:cNvPr>
          <p:cNvSpPr/>
          <p:nvPr/>
        </p:nvSpPr>
        <p:spPr>
          <a:xfrm>
            <a:off x="7464152" y="1351282"/>
            <a:ext cx="3669363" cy="4012072"/>
          </a:xfrm>
          <a:prstGeom prst="roundRect">
            <a:avLst/>
          </a:prstGeom>
          <a:noFill/>
          <a:ln w="28575">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a:extLst>
              <a:ext uri="{FF2B5EF4-FFF2-40B4-BE49-F238E27FC236}">
                <a16:creationId xmlns:a16="http://schemas.microsoft.com/office/drawing/2014/main" id="{9238EB61-DEA0-78A4-98DD-2ECF20B148C8}"/>
              </a:ext>
            </a:extLst>
          </p:cNvPr>
          <p:cNvSpPr/>
          <p:nvPr/>
        </p:nvSpPr>
        <p:spPr>
          <a:xfrm>
            <a:off x="5231026" y="3209276"/>
            <a:ext cx="1895603" cy="6508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3467D66-F90B-1BDC-9FEE-C6727BC95A89}"/>
              </a:ext>
            </a:extLst>
          </p:cNvPr>
          <p:cNvSpPr txBox="1"/>
          <p:nvPr/>
        </p:nvSpPr>
        <p:spPr>
          <a:xfrm>
            <a:off x="5285521" y="2708920"/>
            <a:ext cx="1620957" cy="523220"/>
          </a:xfrm>
          <a:prstGeom prst="rect">
            <a:avLst/>
          </a:prstGeom>
          <a:noFill/>
        </p:spPr>
        <p:txBody>
          <a:bodyPr wrap="none" rtlCol="0">
            <a:spAutoFit/>
          </a:bodyPr>
          <a:lstStyle/>
          <a:p>
            <a:r>
              <a:rPr lang="zh-CN" altLang="en-US" sz="2800" dirty="0">
                <a:latin typeface="宋体" panose="02010600030101010101" pitchFamily="2" charset="-122"/>
                <a:ea typeface="宋体" panose="02010600030101010101" pitchFamily="2" charset="-122"/>
              </a:rPr>
              <a:t>去烟算法</a:t>
            </a:r>
          </a:p>
        </p:txBody>
      </p:sp>
      <p:sp>
        <p:nvSpPr>
          <p:cNvPr id="17" name="文本框 16">
            <a:extLst>
              <a:ext uri="{FF2B5EF4-FFF2-40B4-BE49-F238E27FC236}">
                <a16:creationId xmlns:a16="http://schemas.microsoft.com/office/drawing/2014/main" id="{C76263B7-0B23-8244-7022-7073B2CEF73E}"/>
              </a:ext>
            </a:extLst>
          </p:cNvPr>
          <p:cNvSpPr txBox="1"/>
          <p:nvPr/>
        </p:nvSpPr>
        <p:spPr>
          <a:xfrm>
            <a:off x="4971417" y="3867008"/>
            <a:ext cx="2339102" cy="523220"/>
          </a:xfrm>
          <a:prstGeom prst="rect">
            <a:avLst/>
          </a:prstGeom>
          <a:noFill/>
        </p:spPr>
        <p:txBody>
          <a:bodyPr wrap="none" rtlCol="0">
            <a:spAutoFit/>
          </a:bodyPr>
          <a:lstStyle/>
          <a:p>
            <a:r>
              <a:rPr lang="zh-CN" altLang="en-US" sz="2800" dirty="0">
                <a:latin typeface="宋体" panose="02010600030101010101" pitchFamily="2" charset="-122"/>
                <a:ea typeface="宋体" panose="02010600030101010101" pitchFamily="2" charset="-122"/>
              </a:rPr>
              <a:t>人体识别算法</a:t>
            </a:r>
          </a:p>
        </p:txBody>
      </p:sp>
      <p:grpSp>
        <p:nvGrpSpPr>
          <p:cNvPr id="170" name="组合 169"/>
          <p:cNvGrpSpPr/>
          <p:nvPr/>
        </p:nvGrpSpPr>
        <p:grpSpPr>
          <a:xfrm>
            <a:off x="3602623" y="5985223"/>
            <a:ext cx="4986752" cy="738662"/>
            <a:chOff x="5418441" y="6569552"/>
            <a:chExt cx="1355118" cy="193544"/>
          </a:xfrm>
        </p:grpSpPr>
        <p:sp>
          <p:nvSpPr>
            <p:cNvPr id="168" name="椭圆 167"/>
            <p:cNvSpPr/>
            <p:nvPr/>
          </p:nvSpPr>
          <p:spPr>
            <a:xfrm>
              <a:off x="5418441" y="6569552"/>
              <a:ext cx="1355118" cy="193544"/>
            </a:xfrm>
            <a:prstGeom prst="ellipse">
              <a:avLst/>
            </a:prstGeom>
            <a:gradFill>
              <a:gsLst>
                <a:gs pos="0">
                  <a:schemeClr val="bg1">
                    <a:alpha val="0"/>
                  </a:schemeClr>
                </a:gs>
                <a:gs pos="98000">
                  <a:schemeClr val="bg1"/>
                </a:gs>
              </a:gsLst>
              <a:lin ang="5400000" scaled="1"/>
            </a:gradFill>
            <a:ln w="3175">
              <a:gradFill>
                <a:gsLst>
                  <a:gs pos="24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Medium" panose="020B0500000000000000" pitchFamily="34" charset="-128"/>
                <a:ea typeface="Source Han Sans CN Regular" panose="020B0500000000000000" pitchFamily="34" charset="-128"/>
              </a:endParaRPr>
            </a:p>
          </p:txBody>
        </p:sp>
        <p:sp>
          <p:nvSpPr>
            <p:cNvPr id="169" name="椭圆 168"/>
            <p:cNvSpPr/>
            <p:nvPr/>
          </p:nvSpPr>
          <p:spPr>
            <a:xfrm>
              <a:off x="5661825" y="6569552"/>
              <a:ext cx="856320" cy="111624"/>
            </a:xfrm>
            <a:prstGeom prst="ellipse">
              <a:avLst/>
            </a:prstGeom>
            <a:gradFill>
              <a:gsLst>
                <a:gs pos="0">
                  <a:schemeClr val="bg1">
                    <a:alpha val="0"/>
                  </a:schemeClr>
                </a:gs>
                <a:gs pos="98000">
                  <a:schemeClr val="bg1"/>
                </a:gs>
              </a:gsLst>
              <a:lin ang="5400000" scaled="1"/>
            </a:gradFill>
            <a:ln w="3175">
              <a:gradFill>
                <a:gsLst>
                  <a:gs pos="24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Source Han Sans CN Medium" panose="020B0500000000000000" pitchFamily="34" charset="-128"/>
                <a:ea typeface="Source Han Sans CN Regular" panose="020B0500000000000000" pitchFamily="34" charset="-128"/>
              </a:endParaRPr>
            </a:p>
          </p:txBody>
        </p:sp>
      </p:grpSp>
      <p:sp>
        <p:nvSpPr>
          <p:cNvPr id="18" name="文本框 17"/>
          <p:cNvSpPr txBox="1"/>
          <p:nvPr/>
        </p:nvSpPr>
        <p:spPr>
          <a:xfrm>
            <a:off x="3426978" y="5123096"/>
            <a:ext cx="5427980" cy="1575431"/>
          </a:xfrm>
          <a:prstGeom prst="rect">
            <a:avLst/>
          </a:prstGeom>
          <a:noFill/>
        </p:spPr>
        <p:txBody>
          <a:bodyPr wrap="square" rtlCol="0" anchor="t">
            <a:spAutoFit/>
          </a:bodyPr>
          <a:lstStyle/>
          <a:p>
            <a:pPr lvl="0" algn="ctr">
              <a:lnSpc>
                <a:spcPct val="150000"/>
              </a:lnSpc>
              <a:buClrTx/>
              <a:buSzTx/>
              <a:buFontTx/>
            </a:pPr>
            <a:r>
              <a:rPr lang="zh-CN" altLang="en-US" sz="2000" dirty="0">
                <a:latin typeface="宋体" panose="02010600030101010101" pitchFamily="2" charset="-122"/>
                <a:ea typeface="宋体" panose="02010600030101010101" pitchFamily="2" charset="-122"/>
                <a:sym typeface="+mn-ea"/>
              </a:rPr>
              <a:t>我们团队旨在构建模型，</a:t>
            </a:r>
            <a:endParaRPr lang="en-US" altLang="zh-CN" sz="2000" dirty="0">
              <a:latin typeface="宋体" panose="02010600030101010101" pitchFamily="2" charset="-122"/>
              <a:ea typeface="宋体" panose="02010600030101010101" pitchFamily="2" charset="-122"/>
              <a:sym typeface="+mn-ea"/>
            </a:endParaRPr>
          </a:p>
          <a:p>
            <a:pPr lvl="0" algn="ctr">
              <a:lnSpc>
                <a:spcPct val="150000"/>
              </a:lnSpc>
              <a:buClrTx/>
              <a:buSzTx/>
              <a:buFontTx/>
            </a:pPr>
            <a:r>
              <a:rPr lang="zh-CN" altLang="en-US" sz="2000" dirty="0">
                <a:latin typeface="宋体" panose="02010600030101010101" pitchFamily="2" charset="-122"/>
                <a:ea typeface="宋体" panose="02010600030101010101" pitchFamily="2" charset="-122"/>
                <a:sym typeface="+mn-ea"/>
              </a:rPr>
              <a:t>实现</a:t>
            </a:r>
            <a:r>
              <a:rPr lang="zh-CN" altLang="en-US" sz="2400" b="1" dirty="0">
                <a:latin typeface="宋体" panose="02010600030101010101" pitchFamily="2" charset="-122"/>
                <a:ea typeface="宋体" panose="02010600030101010101" pitchFamily="2" charset="-122"/>
                <a:sym typeface="+mn-ea"/>
              </a:rPr>
              <a:t>去烟算法</a:t>
            </a:r>
            <a:r>
              <a:rPr lang="zh-CN" altLang="en-US" sz="2000" dirty="0">
                <a:latin typeface="宋体" panose="02010600030101010101" pitchFamily="2" charset="-122"/>
                <a:ea typeface="宋体" panose="02010600030101010101" pitchFamily="2" charset="-122"/>
                <a:sym typeface="+mn-ea"/>
              </a:rPr>
              <a:t>和</a:t>
            </a:r>
            <a:r>
              <a:rPr lang="zh-CN" altLang="en-US" sz="2400" b="1" dirty="0">
                <a:latin typeface="宋体" panose="02010600030101010101" pitchFamily="2" charset="-122"/>
                <a:ea typeface="宋体" panose="02010600030101010101" pitchFamily="2" charset="-122"/>
                <a:sym typeface="+mn-ea"/>
              </a:rPr>
              <a:t>人体识别算法</a:t>
            </a:r>
            <a:r>
              <a:rPr lang="zh-CN" altLang="en-US" sz="2000" dirty="0">
                <a:latin typeface="宋体" panose="02010600030101010101" pitchFamily="2" charset="-122"/>
                <a:ea typeface="宋体" panose="02010600030101010101" pitchFamily="2" charset="-122"/>
                <a:sym typeface="+mn-ea"/>
              </a:rPr>
              <a:t>，</a:t>
            </a:r>
            <a:endParaRPr lang="en-US" altLang="zh-CN" sz="2000" dirty="0">
              <a:latin typeface="宋体" panose="02010600030101010101" pitchFamily="2" charset="-122"/>
              <a:ea typeface="宋体" panose="02010600030101010101" pitchFamily="2" charset="-122"/>
              <a:sym typeface="+mn-ea"/>
            </a:endParaRPr>
          </a:p>
          <a:p>
            <a:pPr lvl="0" algn="ctr">
              <a:lnSpc>
                <a:spcPct val="150000"/>
              </a:lnSpc>
              <a:buClrTx/>
              <a:buSzTx/>
              <a:buFontTx/>
            </a:pPr>
            <a:r>
              <a:rPr lang="zh-CN" altLang="en-US" sz="2000" dirty="0">
                <a:latin typeface="宋体" panose="02010600030101010101" pitchFamily="2" charset="-122"/>
                <a:ea typeface="宋体" panose="02010600030101010101" pitchFamily="2" charset="-122"/>
                <a:sym typeface="+mn-ea"/>
              </a:rPr>
              <a:t>并完成</a:t>
            </a:r>
            <a:r>
              <a:rPr lang="zh-CN" altLang="en-US" sz="2400" b="1" dirty="0">
                <a:latin typeface="宋体" panose="02010600030101010101" pitchFamily="2" charset="-122"/>
                <a:ea typeface="宋体" panose="02010600030101010101" pitchFamily="2" charset="-122"/>
                <a:sym typeface="+mn-ea"/>
              </a:rPr>
              <a:t>多模态融合</a:t>
            </a:r>
            <a:r>
              <a:rPr lang="zh-CN" altLang="en-US" sz="2000" dirty="0">
                <a:latin typeface="宋体" panose="02010600030101010101" pitchFamily="2" charset="-122"/>
                <a:ea typeface="宋体" panose="02010600030101010101" pitchFamily="2" charset="-122"/>
                <a:sym typeface="+mn-ea"/>
              </a:rPr>
              <a:t>。</a:t>
            </a:r>
          </a:p>
        </p:txBody>
      </p:sp>
    </p:spTree>
    <p:extLst>
      <p:ext uri="{BB962C8B-B14F-4D97-AF65-F5344CB8AC3E}">
        <p14:creationId xmlns:p14="http://schemas.microsoft.com/office/powerpoint/2010/main" val="921462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0"/>
                                        </p:tgtEl>
                                        <p:attrNameLst>
                                          <p:attrName>style.visibility</p:attrName>
                                        </p:attrNameLst>
                                      </p:cBhvr>
                                      <p:to>
                                        <p:strVal val="visible"/>
                                      </p:to>
                                    </p:set>
                                    <p:anim calcmode="lin" valueType="num">
                                      <p:cBhvr additive="base">
                                        <p:cTn id="11" dur="500" fill="hold"/>
                                        <p:tgtEl>
                                          <p:spTgt spid="170"/>
                                        </p:tgtEl>
                                        <p:attrNameLst>
                                          <p:attrName>ppt_x</p:attrName>
                                        </p:attrNameLst>
                                      </p:cBhvr>
                                      <p:tavLst>
                                        <p:tav tm="0">
                                          <p:val>
                                            <p:strVal val="#ppt_x"/>
                                          </p:val>
                                        </p:tav>
                                        <p:tav tm="100000">
                                          <p:val>
                                            <p:strVal val="#ppt_x"/>
                                          </p:val>
                                        </p:tav>
                                      </p:tavLst>
                                    </p:anim>
                                    <p:anim calcmode="lin" valueType="num">
                                      <p:cBhvr additive="base">
                                        <p:cTn id="12" dur="500" fill="hold"/>
                                        <p:tgtEl>
                                          <p:spTgt spid="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C1687-F5C1-60F2-441E-12808F331AC4}"/>
            </a:ext>
          </a:extLst>
        </p:cNvPr>
        <p:cNvGrpSpPr/>
        <p:nvPr/>
      </p:nvGrpSpPr>
      <p:grpSpPr>
        <a:xfrm>
          <a:off x="0" y="0"/>
          <a:ext cx="0" cy="0"/>
          <a:chOff x="0" y="0"/>
          <a:chExt cx="0" cy="0"/>
        </a:xfrm>
      </p:grpSpPr>
      <p:grpSp>
        <p:nvGrpSpPr>
          <p:cNvPr id="43" name="组合 42">
            <a:extLst>
              <a:ext uri="{FF2B5EF4-FFF2-40B4-BE49-F238E27FC236}">
                <a16:creationId xmlns:a16="http://schemas.microsoft.com/office/drawing/2014/main" id="{3E967682-DE63-2C16-FA2F-9FE69204B532}"/>
              </a:ext>
            </a:extLst>
          </p:cNvPr>
          <p:cNvGrpSpPr/>
          <p:nvPr/>
        </p:nvGrpSpPr>
        <p:grpSpPr>
          <a:xfrm>
            <a:off x="309511" y="770246"/>
            <a:ext cx="1546893" cy="461665"/>
            <a:chOff x="934400" y="936575"/>
            <a:chExt cx="1546893" cy="461665"/>
          </a:xfrm>
        </p:grpSpPr>
        <p:sp>
          <p:nvSpPr>
            <p:cNvPr id="44" name="文本框 43">
              <a:extLst>
                <a:ext uri="{FF2B5EF4-FFF2-40B4-BE49-F238E27FC236}">
                  <a16:creationId xmlns:a16="http://schemas.microsoft.com/office/drawing/2014/main" id="{8CD2B036-F03C-4C73-8570-AFD5C57D52AF}"/>
                </a:ext>
              </a:extLst>
            </p:cNvPr>
            <p:cNvSpPr txBox="1"/>
            <p:nvPr/>
          </p:nvSpPr>
          <p:spPr>
            <a:xfrm>
              <a:off x="1065521" y="936575"/>
              <a:ext cx="1415772" cy="461665"/>
            </a:xfrm>
            <a:prstGeom prst="rect">
              <a:avLst/>
            </a:prstGeom>
            <a:noFill/>
          </p:spPr>
          <p:txBody>
            <a:bodyPr wrap="none" rtlCol="0">
              <a:spAutoFit/>
            </a:bodyPr>
            <a:lstStyle/>
            <a:p>
              <a:r>
                <a:rPr lang="zh-CN" altLang="en-US" sz="2400" dirty="0">
                  <a:solidFill>
                    <a:srgbClr val="0E419C"/>
                  </a:solidFill>
                </a:rPr>
                <a:t>问题分析</a:t>
              </a:r>
            </a:p>
          </p:txBody>
        </p:sp>
        <p:sp>
          <p:nvSpPr>
            <p:cNvPr id="45" name="矩形 44">
              <a:extLst>
                <a:ext uri="{FF2B5EF4-FFF2-40B4-BE49-F238E27FC236}">
                  <a16:creationId xmlns:a16="http://schemas.microsoft.com/office/drawing/2014/main" id="{C211CFA3-53D7-A408-48D7-025A7F46414C}"/>
                </a:ext>
              </a:extLst>
            </p:cNvPr>
            <p:cNvSpPr/>
            <p:nvPr/>
          </p:nvSpPr>
          <p:spPr>
            <a:xfrm>
              <a:off x="934400" y="963997"/>
              <a:ext cx="45719" cy="371466"/>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B783A086-1260-901F-66CD-876365F0E186}"/>
              </a:ext>
            </a:extLst>
          </p:cNvPr>
          <p:cNvGrpSpPr/>
          <p:nvPr/>
        </p:nvGrpSpPr>
        <p:grpSpPr>
          <a:xfrm>
            <a:off x="0" y="1"/>
            <a:ext cx="12192000" cy="716766"/>
            <a:chOff x="0" y="1"/>
            <a:chExt cx="12192000" cy="716766"/>
          </a:xfrm>
        </p:grpSpPr>
        <p:sp>
          <p:nvSpPr>
            <p:cNvPr id="4" name="矩形 3">
              <a:extLst>
                <a:ext uri="{FF2B5EF4-FFF2-40B4-BE49-F238E27FC236}">
                  <a16:creationId xmlns:a16="http://schemas.microsoft.com/office/drawing/2014/main" id="{6DD3D6BE-2B51-C87E-790F-90C289D7FC2A}"/>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AA7E47A-45F1-4306-953C-4C86E4A1514E}"/>
                </a:ext>
              </a:extLst>
            </p:cNvPr>
            <p:cNvGrpSpPr/>
            <p:nvPr/>
          </p:nvGrpSpPr>
          <p:grpSpPr>
            <a:xfrm>
              <a:off x="5566401" y="159473"/>
              <a:ext cx="6316088" cy="369332"/>
              <a:chOff x="5223501" y="299173"/>
              <a:chExt cx="6316088" cy="369332"/>
            </a:xfrm>
          </p:grpSpPr>
          <p:sp>
            <p:nvSpPr>
              <p:cNvPr id="9" name="文本框 8">
                <a:extLst>
                  <a:ext uri="{FF2B5EF4-FFF2-40B4-BE49-F238E27FC236}">
                    <a16:creationId xmlns:a16="http://schemas.microsoft.com/office/drawing/2014/main" id="{55701BBC-1A70-3F08-00D1-D6F90362ACD8}"/>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10" name="文本框 9">
                <a:extLst>
                  <a:ext uri="{FF2B5EF4-FFF2-40B4-BE49-F238E27FC236}">
                    <a16:creationId xmlns:a16="http://schemas.microsoft.com/office/drawing/2014/main" id="{1B2E4EDA-4DC8-7DE3-5534-112840F3EC58}"/>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11" name="文本框 10">
                <a:extLst>
                  <a:ext uri="{FF2B5EF4-FFF2-40B4-BE49-F238E27FC236}">
                    <a16:creationId xmlns:a16="http://schemas.microsoft.com/office/drawing/2014/main" id="{25F4435E-5F14-6CE3-D125-4F7911E3E768}"/>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12" name="文本框 11">
                <a:extLst>
                  <a:ext uri="{FF2B5EF4-FFF2-40B4-BE49-F238E27FC236}">
                    <a16:creationId xmlns:a16="http://schemas.microsoft.com/office/drawing/2014/main" id="{698DB359-B7D2-F832-2687-D09E2E6E00A3}"/>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13" name="直接连接符 12">
                <a:extLst>
                  <a:ext uri="{FF2B5EF4-FFF2-40B4-BE49-F238E27FC236}">
                    <a16:creationId xmlns:a16="http://schemas.microsoft.com/office/drawing/2014/main" id="{79B4B7F2-BA77-2356-978F-14461772DFCC}"/>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6C69032-1444-F588-63C5-5AC15FDEAFC2}"/>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0B32303-C092-294B-5D71-92579B262305}"/>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等腰三角形 5">
              <a:extLst>
                <a:ext uri="{FF2B5EF4-FFF2-40B4-BE49-F238E27FC236}">
                  <a16:creationId xmlns:a16="http://schemas.microsoft.com/office/drawing/2014/main" id="{2657B731-FC7D-6B36-36BD-AA6D0335035B}"/>
                </a:ext>
              </a:extLst>
            </p:cNvPr>
            <p:cNvSpPr/>
            <p:nvPr/>
          </p:nvSpPr>
          <p:spPr>
            <a:xfrm>
              <a:off x="5731674" y="567541"/>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a:extLst>
              <a:ext uri="{FF2B5EF4-FFF2-40B4-BE49-F238E27FC236}">
                <a16:creationId xmlns:a16="http://schemas.microsoft.com/office/drawing/2014/main" id="{FAE39FEB-191D-7112-19A7-5EC60D7B54DE}"/>
              </a:ext>
            </a:extLst>
          </p:cNvPr>
          <p:cNvPicPr>
            <a:picLocks noChangeAspect="1"/>
          </p:cNvPicPr>
          <p:nvPr/>
        </p:nvPicPr>
        <p:blipFill>
          <a:blip r:embed="rId5"/>
          <a:stretch>
            <a:fillRect/>
          </a:stretch>
        </p:blipFill>
        <p:spPr>
          <a:xfrm>
            <a:off x="309511" y="3212976"/>
            <a:ext cx="2513956" cy="1534698"/>
          </a:xfrm>
          <a:prstGeom prst="rect">
            <a:avLst/>
          </a:prstGeom>
        </p:spPr>
      </p:pic>
      <p:pic>
        <p:nvPicPr>
          <p:cNvPr id="19" name="图片 18">
            <a:extLst>
              <a:ext uri="{FF2B5EF4-FFF2-40B4-BE49-F238E27FC236}">
                <a16:creationId xmlns:a16="http://schemas.microsoft.com/office/drawing/2014/main" id="{8A345D20-4D3C-8D05-01A5-778C53ADABA9}"/>
              </a:ext>
            </a:extLst>
          </p:cNvPr>
          <p:cNvPicPr>
            <a:picLocks noChangeAspect="1"/>
          </p:cNvPicPr>
          <p:nvPr/>
        </p:nvPicPr>
        <p:blipFill>
          <a:blip r:embed="rId6"/>
          <a:stretch>
            <a:fillRect/>
          </a:stretch>
        </p:blipFill>
        <p:spPr>
          <a:xfrm>
            <a:off x="9355244" y="3212976"/>
            <a:ext cx="2527245" cy="1544868"/>
          </a:xfrm>
          <a:prstGeom prst="rect">
            <a:avLst/>
          </a:prstGeom>
        </p:spPr>
      </p:pic>
      <p:cxnSp>
        <p:nvCxnSpPr>
          <p:cNvPr id="21" name="直接箭头连接符 20">
            <a:extLst>
              <a:ext uri="{FF2B5EF4-FFF2-40B4-BE49-F238E27FC236}">
                <a16:creationId xmlns:a16="http://schemas.microsoft.com/office/drawing/2014/main" id="{F4D7CD74-E5CF-296F-ED07-F5C527726D69}"/>
              </a:ext>
            </a:extLst>
          </p:cNvPr>
          <p:cNvCxnSpPr/>
          <p:nvPr/>
        </p:nvCxnSpPr>
        <p:spPr>
          <a:xfrm>
            <a:off x="2999656" y="3980325"/>
            <a:ext cx="6192688" cy="0"/>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E8B53DD-D976-9B26-C49C-43B566174F84}"/>
              </a:ext>
            </a:extLst>
          </p:cNvPr>
          <p:cNvCxnSpPr>
            <a:cxnSpLocks/>
          </p:cNvCxnSpPr>
          <p:nvPr/>
        </p:nvCxnSpPr>
        <p:spPr>
          <a:xfrm>
            <a:off x="3719736" y="3980325"/>
            <a:ext cx="0" cy="1176867"/>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A0306EFF-7420-5284-5DD4-0F38860B4D90}"/>
              </a:ext>
            </a:extLst>
          </p:cNvPr>
          <p:cNvSpPr/>
          <p:nvPr/>
        </p:nvSpPr>
        <p:spPr>
          <a:xfrm>
            <a:off x="3658580" y="5140169"/>
            <a:ext cx="122312" cy="122311"/>
          </a:xfrm>
          <a:prstGeom prst="ellipse">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F9F41303-FBDD-1ADF-929A-E752E82045AF}"/>
              </a:ext>
            </a:extLst>
          </p:cNvPr>
          <p:cNvSpPr txBox="1"/>
          <p:nvPr/>
        </p:nvSpPr>
        <p:spPr>
          <a:xfrm>
            <a:off x="1166379" y="4733371"/>
            <a:ext cx="80021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去烟前</a:t>
            </a:r>
          </a:p>
        </p:txBody>
      </p:sp>
      <p:sp>
        <p:nvSpPr>
          <p:cNvPr id="30" name="文本框 29">
            <a:extLst>
              <a:ext uri="{FF2B5EF4-FFF2-40B4-BE49-F238E27FC236}">
                <a16:creationId xmlns:a16="http://schemas.microsoft.com/office/drawing/2014/main" id="{B1643986-48D7-3803-1A61-6754F188B38A}"/>
              </a:ext>
            </a:extLst>
          </p:cNvPr>
          <p:cNvSpPr txBox="1"/>
          <p:nvPr/>
        </p:nvSpPr>
        <p:spPr>
          <a:xfrm>
            <a:off x="10348735" y="4733371"/>
            <a:ext cx="80021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去烟后</a:t>
            </a:r>
          </a:p>
        </p:txBody>
      </p:sp>
      <p:sp>
        <p:nvSpPr>
          <p:cNvPr id="31" name="矩形: 圆角 158">
            <a:extLst>
              <a:ext uri="{FF2B5EF4-FFF2-40B4-BE49-F238E27FC236}">
                <a16:creationId xmlns:a16="http://schemas.microsoft.com/office/drawing/2014/main" id="{D8348584-5C54-EA37-2DB5-1DF2DEA5C49D}"/>
              </a:ext>
            </a:extLst>
          </p:cNvPr>
          <p:cNvSpPr/>
          <p:nvPr/>
        </p:nvSpPr>
        <p:spPr>
          <a:xfrm>
            <a:off x="1599278" y="5338343"/>
            <a:ext cx="3306024" cy="1370772"/>
          </a:xfrm>
          <a:prstGeom prst="roundRect">
            <a:avLst>
              <a:gd name="adj" fmla="val 10382"/>
            </a:avLst>
          </a:prstGeom>
          <a:solidFill>
            <a:schemeClr val="bg1"/>
          </a:solidFill>
          <a:ln w="6350">
            <a:solidFill>
              <a:schemeClr val="accent1">
                <a:lumMod val="20000"/>
                <a:lumOff val="80000"/>
              </a:schemeClr>
            </a:solidFill>
            <a:prstDash val="solid"/>
          </a:ln>
          <a:effectLst>
            <a:outerShdw blurRad="1016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1400" dirty="0">
              <a:solidFill>
                <a:schemeClr val="bg2">
                  <a:lumMod val="25000"/>
                </a:schemeClr>
              </a:solidFill>
              <a:latin typeface="Source Han Sans CN Normal" panose="020B0500000000000000" pitchFamily="34" charset="-128"/>
              <a:ea typeface="Source Han Sans CN Normal" panose="020B0500000000000000" pitchFamily="34" charset="-128"/>
            </a:endParaRPr>
          </a:p>
        </p:txBody>
      </p:sp>
      <p:sp>
        <p:nvSpPr>
          <p:cNvPr id="37" name="文本框 36">
            <a:extLst>
              <a:ext uri="{FF2B5EF4-FFF2-40B4-BE49-F238E27FC236}">
                <a16:creationId xmlns:a16="http://schemas.microsoft.com/office/drawing/2014/main" id="{46836426-9802-C210-F2D2-7D568510AC95}"/>
              </a:ext>
            </a:extLst>
          </p:cNvPr>
          <p:cNvSpPr txBox="1"/>
          <p:nvPr>
            <p:custDataLst>
              <p:tags r:id="rId1"/>
            </p:custDataLst>
          </p:nvPr>
        </p:nvSpPr>
        <p:spPr>
          <a:xfrm>
            <a:off x="1566488" y="5493608"/>
            <a:ext cx="3465141" cy="1045351"/>
          </a:xfrm>
          <a:prstGeom prst="rect">
            <a:avLst/>
          </a:prstGeom>
          <a:noFill/>
        </p:spPr>
        <p:txBody>
          <a:bodyPr wrap="square" rtlCol="0">
            <a:spAutoFit/>
          </a:bodyPr>
          <a:lstStyle/>
          <a:p>
            <a:pPr lvl="0">
              <a:lnSpc>
                <a:spcPct val="120000"/>
              </a:lnSpc>
              <a:spcBef>
                <a:spcPts val="0"/>
              </a:spcBef>
              <a:spcAft>
                <a:spcPts val="0"/>
              </a:spcAft>
            </a:pPr>
            <a:r>
              <a:rPr lang="zh-CN" altLang="en-US" dirty="0">
                <a:latin typeface="宋体" panose="02010600030101010101" pitchFamily="2" charset="-122"/>
                <a:ea typeface="宋体" panose="02010600030101010101" pitchFamily="2" charset="-122"/>
                <a:cs typeface="OPPOSans R" panose="00020600040101010101" pitchFamily="18" charset="-122"/>
                <a:sym typeface="+mn-ea"/>
              </a:rPr>
              <a:t>烟雾衰减补偿：</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烟雾会散射和吸收光线</a:t>
            </a:r>
            <a:r>
              <a:rPr lang="zh-CN" altLang="en-US" sz="1800" dirty="0">
                <a:effectLst/>
                <a:latin typeface="宋体" panose="02010600030101010101" pitchFamily="2" charset="-122"/>
                <a:ea typeface="宋体" panose="02010600030101010101" pitchFamily="2" charset="-122"/>
                <a:cs typeface="楷体" panose="02010609060101010101" pitchFamily="49" charset="-122"/>
              </a:rPr>
              <a:t>，所以</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去烟算法需逆向建模恢复原始场景信息</a:t>
            </a:r>
            <a:endParaRPr lang="zh-CN" altLang="en-US" dirty="0">
              <a:latin typeface="宋体" panose="02010600030101010101" pitchFamily="2" charset="-122"/>
              <a:ea typeface="宋体" panose="02010600030101010101" pitchFamily="2" charset="-122"/>
              <a:cs typeface="OPPOSans R" panose="00020600040101010101" pitchFamily="18" charset="-122"/>
              <a:sym typeface="+mn-ea"/>
            </a:endParaRPr>
          </a:p>
        </p:txBody>
      </p:sp>
      <p:sp>
        <p:nvSpPr>
          <p:cNvPr id="38" name="弧形 37">
            <a:extLst>
              <a:ext uri="{FF2B5EF4-FFF2-40B4-BE49-F238E27FC236}">
                <a16:creationId xmlns:a16="http://schemas.microsoft.com/office/drawing/2014/main" id="{D3A3AFFD-5E46-19B1-29CA-0B113FE62F52}"/>
              </a:ext>
            </a:extLst>
          </p:cNvPr>
          <p:cNvSpPr/>
          <p:nvPr/>
        </p:nvSpPr>
        <p:spPr>
          <a:xfrm flipH="1" flipV="1">
            <a:off x="1565592" y="6389779"/>
            <a:ext cx="494901" cy="31933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39" name="弧形 38">
            <a:extLst>
              <a:ext uri="{FF2B5EF4-FFF2-40B4-BE49-F238E27FC236}">
                <a16:creationId xmlns:a16="http://schemas.microsoft.com/office/drawing/2014/main" id="{117AFC30-7671-5E0C-E538-82FF305F0A91}"/>
              </a:ext>
            </a:extLst>
          </p:cNvPr>
          <p:cNvSpPr/>
          <p:nvPr/>
        </p:nvSpPr>
        <p:spPr>
          <a:xfrm flipV="1">
            <a:off x="4400414" y="6330014"/>
            <a:ext cx="509955" cy="417889"/>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cxnSp>
        <p:nvCxnSpPr>
          <p:cNvPr id="40" name="直接连接符 39">
            <a:extLst>
              <a:ext uri="{FF2B5EF4-FFF2-40B4-BE49-F238E27FC236}">
                <a16:creationId xmlns:a16="http://schemas.microsoft.com/office/drawing/2014/main" id="{255D9069-B311-FE11-DCF4-E807BE271758}"/>
              </a:ext>
            </a:extLst>
          </p:cNvPr>
          <p:cNvCxnSpPr>
            <a:cxnSpLocks/>
          </p:cNvCxnSpPr>
          <p:nvPr/>
        </p:nvCxnSpPr>
        <p:spPr>
          <a:xfrm>
            <a:off x="5962836" y="3140968"/>
            <a:ext cx="0" cy="839357"/>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0C31CA41-43B5-D05C-D9C5-30B8F016D024}"/>
              </a:ext>
            </a:extLst>
          </p:cNvPr>
          <p:cNvSpPr/>
          <p:nvPr/>
        </p:nvSpPr>
        <p:spPr>
          <a:xfrm>
            <a:off x="5901680" y="3064050"/>
            <a:ext cx="122312" cy="122311"/>
          </a:xfrm>
          <a:prstGeom prst="ellipse">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158">
            <a:extLst>
              <a:ext uri="{FF2B5EF4-FFF2-40B4-BE49-F238E27FC236}">
                <a16:creationId xmlns:a16="http://schemas.microsoft.com/office/drawing/2014/main" id="{37D5B3F4-0537-9F10-9380-392032D58D8E}"/>
              </a:ext>
            </a:extLst>
          </p:cNvPr>
          <p:cNvSpPr/>
          <p:nvPr/>
        </p:nvSpPr>
        <p:spPr>
          <a:xfrm>
            <a:off x="4370980" y="1986666"/>
            <a:ext cx="3306024" cy="1011792"/>
          </a:xfrm>
          <a:prstGeom prst="roundRect">
            <a:avLst>
              <a:gd name="adj" fmla="val 10382"/>
            </a:avLst>
          </a:prstGeom>
          <a:solidFill>
            <a:schemeClr val="bg1"/>
          </a:solidFill>
          <a:ln w="6350">
            <a:solidFill>
              <a:schemeClr val="accent1">
                <a:lumMod val="20000"/>
                <a:lumOff val="80000"/>
              </a:schemeClr>
            </a:solidFill>
            <a:prstDash val="solid"/>
          </a:ln>
          <a:effectLst>
            <a:outerShdw blurRad="1016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1400" dirty="0">
              <a:solidFill>
                <a:schemeClr val="bg2">
                  <a:lumMod val="25000"/>
                </a:schemeClr>
              </a:solidFill>
              <a:latin typeface="Source Han Sans CN Normal" panose="020B0500000000000000" pitchFamily="34" charset="-128"/>
              <a:ea typeface="Source Han Sans CN Normal" panose="020B0500000000000000" pitchFamily="34" charset="-128"/>
            </a:endParaRPr>
          </a:p>
        </p:txBody>
      </p:sp>
      <p:sp>
        <p:nvSpPr>
          <p:cNvPr id="47" name="文本框 46">
            <a:extLst>
              <a:ext uri="{FF2B5EF4-FFF2-40B4-BE49-F238E27FC236}">
                <a16:creationId xmlns:a16="http://schemas.microsoft.com/office/drawing/2014/main" id="{64134D6A-96D3-AC78-7EC3-351784A6FCBF}"/>
              </a:ext>
            </a:extLst>
          </p:cNvPr>
          <p:cNvSpPr txBox="1"/>
          <p:nvPr>
            <p:custDataLst>
              <p:tags r:id="rId2"/>
            </p:custDataLst>
          </p:nvPr>
        </p:nvSpPr>
        <p:spPr>
          <a:xfrm>
            <a:off x="4382738" y="2102477"/>
            <a:ext cx="3465141" cy="712952"/>
          </a:xfrm>
          <a:prstGeom prst="rect">
            <a:avLst/>
          </a:prstGeom>
          <a:noFill/>
        </p:spPr>
        <p:txBody>
          <a:bodyPr wrap="square" rtlCol="0">
            <a:spAutoFit/>
          </a:bodyPr>
          <a:lstStyle/>
          <a:p>
            <a:pPr lvl="0">
              <a:lnSpc>
                <a:spcPct val="120000"/>
              </a:lnSpc>
              <a:spcBef>
                <a:spcPts val="0"/>
              </a:spcBef>
              <a:spcAft>
                <a:spcPts val="0"/>
              </a:spcAft>
            </a:pPr>
            <a:r>
              <a:rPr lang="zh-CN" altLang="zh-CN" sz="1800" dirty="0">
                <a:effectLst/>
                <a:latin typeface="宋体" panose="02010600030101010101" pitchFamily="2" charset="-122"/>
                <a:ea typeface="宋体" panose="02010600030101010101" pitchFamily="2" charset="-122"/>
                <a:cs typeface="楷体" panose="02010609060101010101" pitchFamily="49" charset="-122"/>
              </a:rPr>
              <a:t>图像增强</a:t>
            </a:r>
            <a:r>
              <a:rPr lang="zh-CN" altLang="en-US" sz="1800" dirty="0">
                <a:effectLst/>
                <a:latin typeface="宋体" panose="02010600030101010101" pitchFamily="2" charset="-122"/>
                <a:ea typeface="宋体" panose="02010600030101010101" pitchFamily="2" charset="-122"/>
                <a:cs typeface="楷体" panose="02010609060101010101" pitchFamily="49" charset="-122"/>
              </a:rPr>
              <a:t>：由于浓烟环境会对人体</a:t>
            </a:r>
            <a:r>
              <a:rPr lang="zh-CN" altLang="en-US" dirty="0">
                <a:latin typeface="宋体" panose="02010600030101010101" pitchFamily="2" charset="-122"/>
                <a:ea typeface="宋体" panose="02010600030101010101" pitchFamily="2" charset="-122"/>
                <a:cs typeface="楷体" panose="02010609060101010101" pitchFamily="49" charset="-122"/>
              </a:rPr>
              <a:t>遮挡，</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算法需强化关键特征</a:t>
            </a:r>
            <a:endParaRPr lang="zh-CN" altLang="en-US" dirty="0">
              <a:latin typeface="宋体" panose="02010600030101010101" pitchFamily="2" charset="-122"/>
              <a:ea typeface="宋体" panose="02010600030101010101" pitchFamily="2" charset="-122"/>
              <a:cs typeface="OPPOSans R" panose="00020600040101010101" pitchFamily="18" charset="-122"/>
              <a:sym typeface="+mn-ea"/>
            </a:endParaRPr>
          </a:p>
        </p:txBody>
      </p:sp>
      <p:sp>
        <p:nvSpPr>
          <p:cNvPr id="48" name="弧形 47">
            <a:extLst>
              <a:ext uri="{FF2B5EF4-FFF2-40B4-BE49-F238E27FC236}">
                <a16:creationId xmlns:a16="http://schemas.microsoft.com/office/drawing/2014/main" id="{259A5FA0-C77F-5E7E-4975-86B21B7DEA36}"/>
              </a:ext>
            </a:extLst>
          </p:cNvPr>
          <p:cNvSpPr/>
          <p:nvPr/>
        </p:nvSpPr>
        <p:spPr>
          <a:xfrm flipH="1" flipV="1">
            <a:off x="4337294" y="2679122"/>
            <a:ext cx="494901" cy="31933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49" name="弧形 48">
            <a:extLst>
              <a:ext uri="{FF2B5EF4-FFF2-40B4-BE49-F238E27FC236}">
                <a16:creationId xmlns:a16="http://schemas.microsoft.com/office/drawing/2014/main" id="{3C85FCCB-1916-2E62-2CC4-E33B9EFBA570}"/>
              </a:ext>
            </a:extLst>
          </p:cNvPr>
          <p:cNvSpPr/>
          <p:nvPr/>
        </p:nvSpPr>
        <p:spPr>
          <a:xfrm flipV="1">
            <a:off x="7172116" y="2619357"/>
            <a:ext cx="509955" cy="417889"/>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cxnSp>
        <p:nvCxnSpPr>
          <p:cNvPr id="50" name="直接连接符 49">
            <a:extLst>
              <a:ext uri="{FF2B5EF4-FFF2-40B4-BE49-F238E27FC236}">
                <a16:creationId xmlns:a16="http://schemas.microsoft.com/office/drawing/2014/main" id="{447F68C2-A5CB-EF3E-635B-CE7898709909}"/>
              </a:ext>
            </a:extLst>
          </p:cNvPr>
          <p:cNvCxnSpPr>
            <a:cxnSpLocks/>
          </p:cNvCxnSpPr>
          <p:nvPr/>
        </p:nvCxnSpPr>
        <p:spPr>
          <a:xfrm>
            <a:off x="8256240" y="3980325"/>
            <a:ext cx="0" cy="1176867"/>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941F4128-66F4-6773-5251-39C0C99F8234}"/>
              </a:ext>
            </a:extLst>
          </p:cNvPr>
          <p:cNvSpPr/>
          <p:nvPr/>
        </p:nvSpPr>
        <p:spPr>
          <a:xfrm>
            <a:off x="8195084" y="5154031"/>
            <a:ext cx="122312" cy="122311"/>
          </a:xfrm>
          <a:prstGeom prst="ellipse">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158">
            <a:extLst>
              <a:ext uri="{FF2B5EF4-FFF2-40B4-BE49-F238E27FC236}">
                <a16:creationId xmlns:a16="http://schemas.microsoft.com/office/drawing/2014/main" id="{2BF351DB-9E2F-816F-1ACC-3893C66EAAA9}"/>
              </a:ext>
            </a:extLst>
          </p:cNvPr>
          <p:cNvSpPr/>
          <p:nvPr/>
        </p:nvSpPr>
        <p:spPr>
          <a:xfrm>
            <a:off x="6598431" y="5290583"/>
            <a:ext cx="3306024" cy="1051436"/>
          </a:xfrm>
          <a:prstGeom prst="roundRect">
            <a:avLst>
              <a:gd name="adj" fmla="val 10382"/>
            </a:avLst>
          </a:prstGeom>
          <a:solidFill>
            <a:schemeClr val="bg1"/>
          </a:solidFill>
          <a:ln w="6350">
            <a:solidFill>
              <a:schemeClr val="accent1">
                <a:lumMod val="20000"/>
                <a:lumOff val="80000"/>
              </a:schemeClr>
            </a:solidFill>
            <a:prstDash val="solid"/>
          </a:ln>
          <a:effectLst>
            <a:outerShdw blurRad="1016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1400" dirty="0">
              <a:solidFill>
                <a:schemeClr val="bg2">
                  <a:lumMod val="25000"/>
                </a:schemeClr>
              </a:solidFill>
              <a:latin typeface="Source Han Sans CN Normal" panose="020B0500000000000000" pitchFamily="34" charset="-128"/>
              <a:ea typeface="Source Han Sans CN Normal" panose="020B0500000000000000" pitchFamily="34" charset="-128"/>
            </a:endParaRPr>
          </a:p>
        </p:txBody>
      </p:sp>
      <p:sp>
        <p:nvSpPr>
          <p:cNvPr id="55" name="文本框 54">
            <a:extLst>
              <a:ext uri="{FF2B5EF4-FFF2-40B4-BE49-F238E27FC236}">
                <a16:creationId xmlns:a16="http://schemas.microsoft.com/office/drawing/2014/main" id="{52BB1D35-7F48-6DA5-2976-46A98A0514A6}"/>
              </a:ext>
            </a:extLst>
          </p:cNvPr>
          <p:cNvSpPr txBox="1"/>
          <p:nvPr>
            <p:custDataLst>
              <p:tags r:id="rId3"/>
            </p:custDataLst>
          </p:nvPr>
        </p:nvSpPr>
        <p:spPr>
          <a:xfrm>
            <a:off x="6604950" y="5390675"/>
            <a:ext cx="3465141" cy="712952"/>
          </a:xfrm>
          <a:prstGeom prst="rect">
            <a:avLst/>
          </a:prstGeom>
          <a:noFill/>
        </p:spPr>
        <p:txBody>
          <a:bodyPr wrap="square" rtlCol="0">
            <a:spAutoFit/>
          </a:bodyPr>
          <a:lstStyle/>
          <a:p>
            <a:pPr lvl="0">
              <a:lnSpc>
                <a:spcPct val="120000"/>
              </a:lnSpc>
              <a:spcBef>
                <a:spcPts val="0"/>
              </a:spcBef>
              <a:spcAft>
                <a:spcPts val="0"/>
              </a:spcAft>
            </a:pPr>
            <a:r>
              <a:rPr lang="zh-CN" altLang="en-US" dirty="0">
                <a:latin typeface="宋体" panose="02010600030101010101" pitchFamily="2" charset="-122"/>
                <a:ea typeface="宋体" panose="02010600030101010101" pitchFamily="2" charset="-122"/>
                <a:cs typeface="OPPOSans R" panose="00020600040101010101" pitchFamily="18" charset="-122"/>
                <a:sym typeface="+mn-ea"/>
              </a:rPr>
              <a:t>实时性：</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火灾救援场景要求算法快速处理，需优化计算效率</a:t>
            </a:r>
            <a:endParaRPr lang="zh-CN" altLang="en-US" dirty="0">
              <a:latin typeface="宋体" panose="02010600030101010101" pitchFamily="2" charset="-122"/>
              <a:ea typeface="宋体" panose="02010600030101010101" pitchFamily="2" charset="-122"/>
              <a:cs typeface="OPPOSans R" panose="00020600040101010101" pitchFamily="18" charset="-122"/>
              <a:sym typeface="+mn-ea"/>
            </a:endParaRPr>
          </a:p>
        </p:txBody>
      </p:sp>
      <p:sp>
        <p:nvSpPr>
          <p:cNvPr id="56" name="弧形 55">
            <a:extLst>
              <a:ext uri="{FF2B5EF4-FFF2-40B4-BE49-F238E27FC236}">
                <a16:creationId xmlns:a16="http://schemas.microsoft.com/office/drawing/2014/main" id="{6A0B0348-C02E-F128-B943-525C000D007E}"/>
              </a:ext>
            </a:extLst>
          </p:cNvPr>
          <p:cNvSpPr/>
          <p:nvPr/>
        </p:nvSpPr>
        <p:spPr>
          <a:xfrm flipH="1" flipV="1">
            <a:off x="6593364" y="6082436"/>
            <a:ext cx="494900" cy="273823"/>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57" name="弧形 56">
            <a:extLst>
              <a:ext uri="{FF2B5EF4-FFF2-40B4-BE49-F238E27FC236}">
                <a16:creationId xmlns:a16="http://schemas.microsoft.com/office/drawing/2014/main" id="{CA2D4842-A02B-BA1D-9B11-0958455F57C0}"/>
              </a:ext>
            </a:extLst>
          </p:cNvPr>
          <p:cNvSpPr/>
          <p:nvPr/>
        </p:nvSpPr>
        <p:spPr>
          <a:xfrm flipV="1">
            <a:off x="9433226" y="5971890"/>
            <a:ext cx="494901" cy="384370"/>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58" name="椭圆 57">
            <a:extLst>
              <a:ext uri="{FF2B5EF4-FFF2-40B4-BE49-F238E27FC236}">
                <a16:creationId xmlns:a16="http://schemas.microsoft.com/office/drawing/2014/main" id="{6FB43F65-0795-497C-3D9E-91CBC7EF22B4}"/>
              </a:ext>
            </a:extLst>
          </p:cNvPr>
          <p:cNvSpPr/>
          <p:nvPr/>
        </p:nvSpPr>
        <p:spPr>
          <a:xfrm>
            <a:off x="1296500" y="1350729"/>
            <a:ext cx="439936" cy="443718"/>
          </a:xfrm>
          <a:prstGeom prst="ellipse">
            <a:avLst/>
          </a:prstGeom>
          <a:ln>
            <a:solidFill>
              <a:schemeClr val="accent5">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9">
            <a:extLst>
              <a:ext uri="{FF2B5EF4-FFF2-40B4-BE49-F238E27FC236}">
                <a16:creationId xmlns:a16="http://schemas.microsoft.com/office/drawing/2014/main" id="{90280F73-6D15-EA63-258E-CFB7562399BA}"/>
              </a:ext>
            </a:extLst>
          </p:cNvPr>
          <p:cNvSpPr/>
          <p:nvPr/>
        </p:nvSpPr>
        <p:spPr>
          <a:xfrm>
            <a:off x="1516468" y="1236562"/>
            <a:ext cx="9159063" cy="623356"/>
          </a:xfrm>
          <a:prstGeom prst="round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solidFill>
              <a:schemeClr val="accent5">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宋体" panose="02010600030101010101" pitchFamily="2" charset="-122"/>
                <a:ea typeface="宋体" panose="02010600030101010101" pitchFamily="2" charset="-122"/>
              </a:rPr>
              <a:t>去烟算法需解决的问题</a:t>
            </a:r>
          </a:p>
        </p:txBody>
      </p:sp>
    </p:spTree>
    <p:extLst>
      <p:ext uri="{BB962C8B-B14F-4D97-AF65-F5344CB8AC3E}">
        <p14:creationId xmlns:p14="http://schemas.microsoft.com/office/powerpoint/2010/main" val="1124090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a:extLst>
              <a:ext uri="{FF2B5EF4-FFF2-40B4-BE49-F238E27FC236}">
                <a16:creationId xmlns:a16="http://schemas.microsoft.com/office/drawing/2014/main" id="{C9DA75A7-1E0C-5CA3-AB27-5D0257C52D3C}"/>
              </a:ext>
            </a:extLst>
          </p:cNvPr>
          <p:cNvSpPr/>
          <p:nvPr/>
        </p:nvSpPr>
        <p:spPr>
          <a:xfrm>
            <a:off x="1296500" y="1533909"/>
            <a:ext cx="439936" cy="443718"/>
          </a:xfrm>
          <a:prstGeom prst="ellipse">
            <a:avLst/>
          </a:prstGeom>
          <a:ln>
            <a:solidFill>
              <a:schemeClr val="accent5">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a:extLst>
              <a:ext uri="{FF2B5EF4-FFF2-40B4-BE49-F238E27FC236}">
                <a16:creationId xmlns:a16="http://schemas.microsoft.com/office/drawing/2014/main" id="{434CA912-E095-EC37-55B3-68EDEC77EFED}"/>
              </a:ext>
            </a:extLst>
          </p:cNvPr>
          <p:cNvGrpSpPr/>
          <p:nvPr/>
        </p:nvGrpSpPr>
        <p:grpSpPr>
          <a:xfrm>
            <a:off x="309511" y="770246"/>
            <a:ext cx="1546893" cy="461665"/>
            <a:chOff x="934400" y="936575"/>
            <a:chExt cx="1546893" cy="461665"/>
          </a:xfrm>
        </p:grpSpPr>
        <p:sp>
          <p:nvSpPr>
            <p:cNvPr id="44" name="文本框 43">
              <a:extLst>
                <a:ext uri="{FF2B5EF4-FFF2-40B4-BE49-F238E27FC236}">
                  <a16:creationId xmlns:a16="http://schemas.microsoft.com/office/drawing/2014/main" id="{8012B0DF-C96B-0FBA-2080-0683230DB3CB}"/>
                </a:ext>
              </a:extLst>
            </p:cNvPr>
            <p:cNvSpPr txBox="1"/>
            <p:nvPr/>
          </p:nvSpPr>
          <p:spPr>
            <a:xfrm>
              <a:off x="1065521" y="936575"/>
              <a:ext cx="1415772" cy="461665"/>
            </a:xfrm>
            <a:prstGeom prst="rect">
              <a:avLst/>
            </a:prstGeom>
            <a:noFill/>
          </p:spPr>
          <p:txBody>
            <a:bodyPr wrap="none" rtlCol="0">
              <a:spAutoFit/>
            </a:bodyPr>
            <a:lstStyle/>
            <a:p>
              <a:r>
                <a:rPr lang="zh-CN" altLang="en-US" sz="2400" dirty="0">
                  <a:solidFill>
                    <a:srgbClr val="0E419C"/>
                  </a:solidFill>
                </a:rPr>
                <a:t>问题分析</a:t>
              </a:r>
            </a:p>
          </p:txBody>
        </p:sp>
        <p:sp>
          <p:nvSpPr>
            <p:cNvPr id="45" name="矩形 44">
              <a:extLst>
                <a:ext uri="{FF2B5EF4-FFF2-40B4-BE49-F238E27FC236}">
                  <a16:creationId xmlns:a16="http://schemas.microsoft.com/office/drawing/2014/main" id="{143F0AA1-6BBB-1F19-B516-B715BCB89A9E}"/>
                </a:ext>
              </a:extLst>
            </p:cNvPr>
            <p:cNvSpPr/>
            <p:nvPr/>
          </p:nvSpPr>
          <p:spPr>
            <a:xfrm>
              <a:off x="934400" y="963997"/>
              <a:ext cx="45719" cy="371466"/>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53C0923A-F050-0D07-C5EA-F2409AA582BE}"/>
              </a:ext>
            </a:extLst>
          </p:cNvPr>
          <p:cNvGrpSpPr/>
          <p:nvPr/>
        </p:nvGrpSpPr>
        <p:grpSpPr>
          <a:xfrm>
            <a:off x="623392" y="2668755"/>
            <a:ext cx="3466465" cy="3418999"/>
            <a:chOff x="1121" y="3663"/>
            <a:chExt cx="5459" cy="5845"/>
          </a:xfrm>
        </p:grpSpPr>
        <p:sp>
          <p:nvSpPr>
            <p:cNvPr id="4" name="圆角矩形 83">
              <a:extLst>
                <a:ext uri="{FF2B5EF4-FFF2-40B4-BE49-F238E27FC236}">
                  <a16:creationId xmlns:a16="http://schemas.microsoft.com/office/drawing/2014/main" id="{84F256D1-3C71-A462-3C4B-863D0FCFD644}"/>
                </a:ext>
              </a:extLst>
            </p:cNvPr>
            <p:cNvSpPr/>
            <p:nvPr/>
          </p:nvSpPr>
          <p:spPr>
            <a:xfrm>
              <a:off x="2423" y="3663"/>
              <a:ext cx="2894" cy="1618"/>
            </a:xfrm>
            <a:prstGeom prst="roundRect">
              <a:avLst>
                <a:gd name="adj" fmla="val 50000"/>
              </a:avLst>
            </a:prstGeom>
            <a:gradFill flip="none" rotWithShape="1">
              <a:gsLst>
                <a:gs pos="100000">
                  <a:schemeClr val="accent2">
                    <a:lumMod val="20000"/>
                    <a:lumOff val="80000"/>
                  </a:schemeClr>
                </a:gs>
                <a:gs pos="42000">
                  <a:schemeClr val="accent1"/>
                </a:gs>
                <a:gs pos="16000">
                  <a:srgbClr val="093BA2"/>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
          <p:nvSpPr>
            <p:cNvPr id="5" name="TextBox 29">
              <a:extLst>
                <a:ext uri="{FF2B5EF4-FFF2-40B4-BE49-F238E27FC236}">
                  <a16:creationId xmlns:a16="http://schemas.microsoft.com/office/drawing/2014/main" id="{1B250EC5-4B5C-34E8-E984-1827002A7CBE}"/>
                </a:ext>
              </a:extLst>
            </p:cNvPr>
            <p:cNvSpPr txBox="1"/>
            <p:nvPr>
              <p:custDataLst>
                <p:tags r:id="rId3"/>
              </p:custDataLst>
            </p:nvPr>
          </p:nvSpPr>
          <p:spPr>
            <a:xfrm>
              <a:off x="2721" y="3679"/>
              <a:ext cx="2298" cy="693"/>
            </a:xfrm>
            <a:prstGeom prst="rect">
              <a:avLst/>
            </a:prstGeom>
          </p:spPr>
          <p:txBody>
            <a:bodyPr wrap="square" lIns="0" tIns="0" rIns="0" bIns="0" rtlCol="0" anchor="t">
              <a:spAutoFit/>
            </a:bodyPr>
            <a:lstStyle/>
            <a:p>
              <a:pPr algn="ctr">
                <a:lnSpc>
                  <a:spcPct val="120000"/>
                </a:lnSpc>
                <a:spcBef>
                  <a:spcPts val="0"/>
                </a:spcBef>
                <a:spcAft>
                  <a:spcPts val="0"/>
                </a:spcAft>
              </a:pPr>
              <a:r>
                <a:rPr lang="zh-CN" altLang="en-US" sz="2400" spc="160" dirty="0">
                  <a:solidFill>
                    <a:schemeClr val="bg1"/>
                  </a:solidFill>
                  <a:effectLst>
                    <a:glow>
                      <a:schemeClr val="bg1">
                        <a:alpha val="40000"/>
                      </a:schemeClr>
                    </a:glow>
                  </a:effectLst>
                  <a:latin typeface="字体圈欣意冠黑体" panose="00000500000000000000" pitchFamily="2" charset="-122"/>
                  <a:ea typeface="字体圈欣意冠黑体" panose="00000500000000000000" pitchFamily="2" charset="-122"/>
                  <a:cs typeface="OPPOSans R" panose="00020600040101010101" pitchFamily="18" charset="-122"/>
                </a:rPr>
                <a:t>问题一</a:t>
              </a:r>
            </a:p>
          </p:txBody>
        </p:sp>
        <p:grpSp>
          <p:nvGrpSpPr>
            <p:cNvPr id="6" name="组合 5">
              <a:extLst>
                <a:ext uri="{FF2B5EF4-FFF2-40B4-BE49-F238E27FC236}">
                  <a16:creationId xmlns:a16="http://schemas.microsoft.com/office/drawing/2014/main" id="{1C9AC67F-8A56-EF9D-874E-55E98D91766B}"/>
                </a:ext>
              </a:extLst>
            </p:cNvPr>
            <p:cNvGrpSpPr/>
            <p:nvPr/>
          </p:nvGrpSpPr>
          <p:grpSpPr>
            <a:xfrm>
              <a:off x="1121" y="4491"/>
              <a:ext cx="5459" cy="5017"/>
              <a:chOff x="1737" y="4546"/>
              <a:chExt cx="5398" cy="6288"/>
            </a:xfrm>
          </p:grpSpPr>
          <p:sp>
            <p:nvSpPr>
              <p:cNvPr id="12" name="矩形: 圆角 152">
                <a:extLst>
                  <a:ext uri="{FF2B5EF4-FFF2-40B4-BE49-F238E27FC236}">
                    <a16:creationId xmlns:a16="http://schemas.microsoft.com/office/drawing/2014/main" id="{EB106FC3-1F98-936D-2814-3CADE7E4A2DE}"/>
                  </a:ext>
                </a:extLst>
              </p:cNvPr>
              <p:cNvSpPr/>
              <p:nvPr/>
            </p:nvSpPr>
            <p:spPr>
              <a:xfrm>
                <a:off x="1775" y="4546"/>
                <a:ext cx="5360" cy="6237"/>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13" name="弧形 12">
                <a:extLst>
                  <a:ext uri="{FF2B5EF4-FFF2-40B4-BE49-F238E27FC236}">
                    <a16:creationId xmlns:a16="http://schemas.microsoft.com/office/drawing/2014/main" id="{7F47E68E-2424-6888-D19A-6B200D50C236}"/>
                  </a:ext>
                </a:extLst>
              </p:cNvPr>
              <p:cNvSpPr/>
              <p:nvPr/>
            </p:nvSpPr>
            <p:spPr>
              <a:xfrm flipH="1" flipV="1">
                <a:off x="1737" y="9887"/>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14" name="弧形 13">
                <a:extLst>
                  <a:ext uri="{FF2B5EF4-FFF2-40B4-BE49-F238E27FC236}">
                    <a16:creationId xmlns:a16="http://schemas.microsoft.com/office/drawing/2014/main" id="{20505E42-CF44-B5A1-E649-346635387FB9}"/>
                  </a:ext>
                </a:extLst>
              </p:cNvPr>
              <p:cNvSpPr/>
              <p:nvPr/>
            </p:nvSpPr>
            <p:spPr>
              <a:xfrm flipV="1">
                <a:off x="6331" y="9938"/>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grpSp>
        <p:grpSp>
          <p:nvGrpSpPr>
            <p:cNvPr id="9" name="组合 8">
              <a:extLst>
                <a:ext uri="{FF2B5EF4-FFF2-40B4-BE49-F238E27FC236}">
                  <a16:creationId xmlns:a16="http://schemas.microsoft.com/office/drawing/2014/main" id="{323E160F-25F6-C6BD-89EF-A0B30E12B443}"/>
                </a:ext>
              </a:extLst>
            </p:cNvPr>
            <p:cNvGrpSpPr/>
            <p:nvPr/>
          </p:nvGrpSpPr>
          <p:grpSpPr>
            <a:xfrm>
              <a:off x="3081" y="5308"/>
              <a:ext cx="1578" cy="229"/>
              <a:chOff x="8048021" y="2062401"/>
              <a:chExt cx="684000" cy="88380"/>
            </a:xfrm>
          </p:grpSpPr>
          <p:cxnSp>
            <p:nvCxnSpPr>
              <p:cNvPr id="10" name="直线连接符 77">
                <a:extLst>
                  <a:ext uri="{FF2B5EF4-FFF2-40B4-BE49-F238E27FC236}">
                    <a16:creationId xmlns:a16="http://schemas.microsoft.com/office/drawing/2014/main" id="{7E6E606A-2168-1794-322A-8FF6229EF515}"/>
                  </a:ext>
                </a:extLst>
              </p:cNvPr>
              <p:cNvCxnSpPr/>
              <p:nvPr/>
            </p:nvCxnSpPr>
            <p:spPr>
              <a:xfrm>
                <a:off x="8048021" y="2106591"/>
                <a:ext cx="684000" cy="0"/>
              </a:xfrm>
              <a:prstGeom prst="line">
                <a:avLst/>
              </a:prstGeom>
              <a:ln w="31750">
                <a:gradFill flip="none" rotWithShape="1">
                  <a:gsLst>
                    <a:gs pos="0">
                      <a:schemeClr val="accent1">
                        <a:alpha val="0"/>
                      </a:schemeClr>
                    </a:gs>
                    <a:gs pos="60000">
                      <a:schemeClr val="accent1"/>
                    </a:gs>
                    <a:gs pos="4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9F131110-7752-2BEB-0FE9-ED86BCDCAC06}"/>
                  </a:ext>
                </a:extLst>
              </p:cNvPr>
              <p:cNvSpPr/>
              <p:nvPr/>
            </p:nvSpPr>
            <p:spPr>
              <a:xfrm flipV="1">
                <a:off x="8345831" y="2062401"/>
                <a:ext cx="88380" cy="88380"/>
              </a:xfrm>
              <a:prstGeom prst="ellipse">
                <a:avLst/>
              </a:prstGeom>
              <a:solidFill>
                <a:schemeClr val="bg1"/>
              </a:solidFill>
              <a:ln w="31750">
                <a:solidFill>
                  <a:schemeClr val="accent1"/>
                </a:soli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200">
                  <a:solidFill>
                    <a:srgbClr val="FFFFFF"/>
                  </a:solidFill>
                  <a:latin typeface="Source Han Sans CN Normal" panose="020B0500000000000000" pitchFamily="34" charset="-128"/>
                  <a:ea typeface="Source Han Sans CN Normal" panose="020B0500000000000000" pitchFamily="34" charset="-128"/>
                </a:endParaRPr>
              </a:p>
            </p:txBody>
          </p:sp>
        </p:grpSp>
      </p:grpSp>
      <p:sp>
        <p:nvSpPr>
          <p:cNvPr id="15" name="圆角矩形 83">
            <a:extLst>
              <a:ext uri="{FF2B5EF4-FFF2-40B4-BE49-F238E27FC236}">
                <a16:creationId xmlns:a16="http://schemas.microsoft.com/office/drawing/2014/main" id="{9CC766B1-3FD5-26F9-8DB4-92A44B39F1AB}"/>
              </a:ext>
            </a:extLst>
          </p:cNvPr>
          <p:cNvSpPr/>
          <p:nvPr/>
        </p:nvSpPr>
        <p:spPr>
          <a:xfrm>
            <a:off x="5044447" y="2668755"/>
            <a:ext cx="1837690" cy="945515"/>
          </a:xfrm>
          <a:prstGeom prst="roundRect">
            <a:avLst>
              <a:gd name="adj" fmla="val 50000"/>
            </a:avLst>
          </a:prstGeom>
          <a:gradFill flip="none" rotWithShape="1">
            <a:gsLst>
              <a:gs pos="100000">
                <a:schemeClr val="accent2">
                  <a:lumMod val="20000"/>
                  <a:lumOff val="80000"/>
                </a:schemeClr>
              </a:gs>
              <a:gs pos="42000">
                <a:schemeClr val="accent1"/>
              </a:gs>
              <a:gs pos="16000">
                <a:srgbClr val="093BA2"/>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
        <p:nvSpPr>
          <p:cNvPr id="16" name="TextBox 29">
            <a:extLst>
              <a:ext uri="{FF2B5EF4-FFF2-40B4-BE49-F238E27FC236}">
                <a16:creationId xmlns:a16="http://schemas.microsoft.com/office/drawing/2014/main" id="{B9721A6B-C39A-814A-A4A3-AA398FF3B733}"/>
              </a:ext>
            </a:extLst>
          </p:cNvPr>
          <p:cNvSpPr txBox="1"/>
          <p:nvPr>
            <p:custDataLst>
              <p:tags r:id="rId1"/>
            </p:custDataLst>
          </p:nvPr>
        </p:nvSpPr>
        <p:spPr>
          <a:xfrm>
            <a:off x="5233677" y="2678280"/>
            <a:ext cx="1459230" cy="405624"/>
          </a:xfrm>
          <a:prstGeom prst="rect">
            <a:avLst/>
          </a:prstGeom>
        </p:spPr>
        <p:txBody>
          <a:bodyPr wrap="square" lIns="0" tIns="0" rIns="0" bIns="0" rtlCol="0" anchor="t">
            <a:spAutoFit/>
          </a:bodyPr>
          <a:lstStyle/>
          <a:p>
            <a:pPr algn="ctr">
              <a:lnSpc>
                <a:spcPct val="120000"/>
              </a:lnSpc>
              <a:spcBef>
                <a:spcPts val="0"/>
              </a:spcBef>
              <a:spcAft>
                <a:spcPts val="0"/>
              </a:spcAft>
            </a:pPr>
            <a:r>
              <a:rPr lang="zh-CN" altLang="en-US" sz="2400" spc="160" dirty="0">
                <a:solidFill>
                  <a:schemeClr val="bg1"/>
                </a:solidFill>
                <a:effectLst>
                  <a:glow>
                    <a:schemeClr val="bg1">
                      <a:alpha val="40000"/>
                    </a:schemeClr>
                  </a:glow>
                </a:effectLst>
                <a:latin typeface="字体圈欣意冠黑体" panose="00000500000000000000" pitchFamily="2" charset="-122"/>
                <a:ea typeface="字体圈欣意冠黑体" panose="00000500000000000000" pitchFamily="2" charset="-122"/>
                <a:cs typeface="OPPOSans R" panose="00020600040101010101" pitchFamily="18" charset="-122"/>
              </a:rPr>
              <a:t>问题二</a:t>
            </a:r>
          </a:p>
        </p:txBody>
      </p:sp>
      <p:grpSp>
        <p:nvGrpSpPr>
          <p:cNvPr id="17" name="组合 16">
            <a:extLst>
              <a:ext uri="{FF2B5EF4-FFF2-40B4-BE49-F238E27FC236}">
                <a16:creationId xmlns:a16="http://schemas.microsoft.com/office/drawing/2014/main" id="{67CCA034-6711-E4B9-A87F-D7191BAF7504}"/>
              </a:ext>
            </a:extLst>
          </p:cNvPr>
          <p:cNvGrpSpPr/>
          <p:nvPr/>
        </p:nvGrpSpPr>
        <p:grpSpPr>
          <a:xfrm>
            <a:off x="4241807" y="3152625"/>
            <a:ext cx="3442970" cy="2968820"/>
            <a:chOff x="1774" y="4546"/>
            <a:chExt cx="5361" cy="5037"/>
          </a:xfrm>
        </p:grpSpPr>
        <p:sp>
          <p:nvSpPr>
            <p:cNvPr id="18" name="矩形: 圆角 152">
              <a:extLst>
                <a:ext uri="{FF2B5EF4-FFF2-40B4-BE49-F238E27FC236}">
                  <a16:creationId xmlns:a16="http://schemas.microsoft.com/office/drawing/2014/main" id="{D1592809-67A9-3E21-2A6A-B92203F70768}"/>
                </a:ext>
              </a:extLst>
            </p:cNvPr>
            <p:cNvSpPr/>
            <p:nvPr/>
          </p:nvSpPr>
          <p:spPr>
            <a:xfrm>
              <a:off x="1775" y="4546"/>
              <a:ext cx="5360" cy="5023"/>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19" name="弧形 18">
              <a:extLst>
                <a:ext uri="{FF2B5EF4-FFF2-40B4-BE49-F238E27FC236}">
                  <a16:creationId xmlns:a16="http://schemas.microsoft.com/office/drawing/2014/main" id="{94F0FF7A-04DC-C708-925F-EB9E0497525F}"/>
                </a:ext>
              </a:extLst>
            </p:cNvPr>
            <p:cNvSpPr/>
            <p:nvPr/>
          </p:nvSpPr>
          <p:spPr>
            <a:xfrm flipH="1" flipV="1">
              <a:off x="1774" y="8678"/>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22" name="弧形 21">
              <a:extLst>
                <a:ext uri="{FF2B5EF4-FFF2-40B4-BE49-F238E27FC236}">
                  <a16:creationId xmlns:a16="http://schemas.microsoft.com/office/drawing/2014/main" id="{1977B6FB-05E6-81D6-4942-1F62E7C0AA44}"/>
                </a:ext>
              </a:extLst>
            </p:cNvPr>
            <p:cNvSpPr/>
            <p:nvPr/>
          </p:nvSpPr>
          <p:spPr>
            <a:xfrm flipV="1">
              <a:off x="6341" y="8687"/>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grpSp>
      <p:sp>
        <p:nvSpPr>
          <p:cNvPr id="23" name="文本框 22">
            <a:extLst>
              <a:ext uri="{FF2B5EF4-FFF2-40B4-BE49-F238E27FC236}">
                <a16:creationId xmlns:a16="http://schemas.microsoft.com/office/drawing/2014/main" id="{FECF77F0-68E7-C3C1-34C9-A9D578CA09D0}"/>
              </a:ext>
            </a:extLst>
          </p:cNvPr>
          <p:cNvSpPr txBox="1"/>
          <p:nvPr/>
        </p:nvSpPr>
        <p:spPr>
          <a:xfrm>
            <a:off x="4351662" y="3263115"/>
            <a:ext cx="3223260" cy="400110"/>
          </a:xfrm>
          <a:prstGeom prst="rect">
            <a:avLst/>
          </a:prstGeom>
          <a:noFill/>
        </p:spPr>
        <p:txBody>
          <a:bodyPr wrap="square">
            <a:spAutoFit/>
          </a:bodyPr>
          <a:lstStyle/>
          <a:p>
            <a:pPr algn="ctr"/>
            <a:r>
              <a:rPr lang="zh-CN" altLang="en-US" sz="20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rPr>
              <a:t>非目标检测</a:t>
            </a:r>
            <a:endParaRPr lang="zh-CN" altLang="zh-CN" sz="20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endParaRPr>
          </a:p>
        </p:txBody>
      </p:sp>
      <p:grpSp>
        <p:nvGrpSpPr>
          <p:cNvPr id="25" name="组合 24">
            <a:extLst>
              <a:ext uri="{FF2B5EF4-FFF2-40B4-BE49-F238E27FC236}">
                <a16:creationId xmlns:a16="http://schemas.microsoft.com/office/drawing/2014/main" id="{4959C9F7-7D07-97E4-9BCB-D7B8152C236A}"/>
              </a:ext>
            </a:extLst>
          </p:cNvPr>
          <p:cNvGrpSpPr/>
          <p:nvPr/>
        </p:nvGrpSpPr>
        <p:grpSpPr>
          <a:xfrm>
            <a:off x="5462277" y="3630145"/>
            <a:ext cx="1002030" cy="133985"/>
            <a:chOff x="8048021" y="2062401"/>
            <a:chExt cx="684000" cy="88380"/>
          </a:xfrm>
        </p:grpSpPr>
        <p:cxnSp>
          <p:nvCxnSpPr>
            <p:cNvPr id="30" name="直线连接符 77">
              <a:extLst>
                <a:ext uri="{FF2B5EF4-FFF2-40B4-BE49-F238E27FC236}">
                  <a16:creationId xmlns:a16="http://schemas.microsoft.com/office/drawing/2014/main" id="{C1979CDC-188B-311C-50F4-D12AA5937ED1}"/>
                </a:ext>
              </a:extLst>
            </p:cNvPr>
            <p:cNvCxnSpPr/>
            <p:nvPr/>
          </p:nvCxnSpPr>
          <p:spPr>
            <a:xfrm>
              <a:off x="8048021" y="2106591"/>
              <a:ext cx="684000" cy="0"/>
            </a:xfrm>
            <a:prstGeom prst="line">
              <a:avLst/>
            </a:prstGeom>
            <a:ln w="31750">
              <a:gradFill flip="none" rotWithShape="1">
                <a:gsLst>
                  <a:gs pos="0">
                    <a:schemeClr val="accent1">
                      <a:alpha val="0"/>
                    </a:schemeClr>
                  </a:gs>
                  <a:gs pos="60000">
                    <a:schemeClr val="accent1"/>
                  </a:gs>
                  <a:gs pos="4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2B1EB10C-7D37-C65C-860E-8894C61A34B7}"/>
                </a:ext>
              </a:extLst>
            </p:cNvPr>
            <p:cNvSpPr/>
            <p:nvPr/>
          </p:nvSpPr>
          <p:spPr>
            <a:xfrm flipV="1">
              <a:off x="8345831" y="2062401"/>
              <a:ext cx="88380" cy="88380"/>
            </a:xfrm>
            <a:prstGeom prst="ellipse">
              <a:avLst/>
            </a:prstGeom>
            <a:solidFill>
              <a:schemeClr val="bg1"/>
            </a:solidFill>
            <a:ln w="31750">
              <a:solidFill>
                <a:schemeClr val="accent1"/>
              </a:soli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200">
                <a:solidFill>
                  <a:srgbClr val="FFFFFF"/>
                </a:solidFill>
                <a:latin typeface="Source Han Sans CN Normal" panose="020B0500000000000000" pitchFamily="34" charset="-128"/>
                <a:ea typeface="Source Han Sans CN Normal" panose="020B0500000000000000" pitchFamily="34" charset="-128"/>
              </a:endParaRPr>
            </a:p>
          </p:txBody>
        </p:sp>
      </p:grpSp>
      <p:grpSp>
        <p:nvGrpSpPr>
          <p:cNvPr id="46" name="组合 45">
            <a:extLst>
              <a:ext uri="{FF2B5EF4-FFF2-40B4-BE49-F238E27FC236}">
                <a16:creationId xmlns:a16="http://schemas.microsoft.com/office/drawing/2014/main" id="{7EA108D0-A7AB-A9CB-FD08-3E4674A11446}"/>
              </a:ext>
            </a:extLst>
          </p:cNvPr>
          <p:cNvGrpSpPr/>
          <p:nvPr/>
        </p:nvGrpSpPr>
        <p:grpSpPr>
          <a:xfrm>
            <a:off x="7969892" y="2675740"/>
            <a:ext cx="3482340" cy="3437222"/>
            <a:chOff x="1160" y="3663"/>
            <a:chExt cx="5484" cy="5880"/>
          </a:xfrm>
        </p:grpSpPr>
        <p:sp>
          <p:nvSpPr>
            <p:cNvPr id="47" name="圆角矩形 83">
              <a:extLst>
                <a:ext uri="{FF2B5EF4-FFF2-40B4-BE49-F238E27FC236}">
                  <a16:creationId xmlns:a16="http://schemas.microsoft.com/office/drawing/2014/main" id="{CB6C345F-1D01-2EDB-709F-EF4D96547A74}"/>
                </a:ext>
              </a:extLst>
            </p:cNvPr>
            <p:cNvSpPr/>
            <p:nvPr/>
          </p:nvSpPr>
          <p:spPr>
            <a:xfrm>
              <a:off x="2423" y="3663"/>
              <a:ext cx="2894" cy="1618"/>
            </a:xfrm>
            <a:prstGeom prst="roundRect">
              <a:avLst>
                <a:gd name="adj" fmla="val 50000"/>
              </a:avLst>
            </a:prstGeom>
            <a:gradFill flip="none" rotWithShape="1">
              <a:gsLst>
                <a:gs pos="100000">
                  <a:schemeClr val="accent2">
                    <a:lumMod val="20000"/>
                    <a:lumOff val="80000"/>
                  </a:schemeClr>
                </a:gs>
                <a:gs pos="42000">
                  <a:schemeClr val="accent1"/>
                </a:gs>
                <a:gs pos="16000">
                  <a:srgbClr val="093BA2"/>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
          <p:nvSpPr>
            <p:cNvPr id="48" name="TextBox 29">
              <a:extLst>
                <a:ext uri="{FF2B5EF4-FFF2-40B4-BE49-F238E27FC236}">
                  <a16:creationId xmlns:a16="http://schemas.microsoft.com/office/drawing/2014/main" id="{D707118C-0658-9BDD-5A3F-E700E18822BC}"/>
                </a:ext>
              </a:extLst>
            </p:cNvPr>
            <p:cNvSpPr txBox="1"/>
            <p:nvPr>
              <p:custDataLst>
                <p:tags r:id="rId2"/>
              </p:custDataLst>
            </p:nvPr>
          </p:nvSpPr>
          <p:spPr>
            <a:xfrm>
              <a:off x="2721" y="3679"/>
              <a:ext cx="2298" cy="694"/>
            </a:xfrm>
            <a:prstGeom prst="rect">
              <a:avLst/>
            </a:prstGeom>
          </p:spPr>
          <p:txBody>
            <a:bodyPr wrap="square" lIns="0" tIns="0" rIns="0" bIns="0" rtlCol="0" anchor="t">
              <a:spAutoFit/>
            </a:bodyPr>
            <a:lstStyle/>
            <a:p>
              <a:pPr algn="ctr">
                <a:lnSpc>
                  <a:spcPct val="120000"/>
                </a:lnSpc>
                <a:spcBef>
                  <a:spcPts val="0"/>
                </a:spcBef>
                <a:spcAft>
                  <a:spcPts val="0"/>
                </a:spcAft>
              </a:pPr>
              <a:r>
                <a:rPr lang="zh-CN" altLang="en-US" sz="2400" spc="160" dirty="0">
                  <a:solidFill>
                    <a:schemeClr val="bg1"/>
                  </a:solidFill>
                  <a:effectLst>
                    <a:glow>
                      <a:schemeClr val="bg1">
                        <a:alpha val="40000"/>
                      </a:schemeClr>
                    </a:glow>
                  </a:effectLst>
                  <a:latin typeface="字体圈欣意冠黑体" panose="00000500000000000000" pitchFamily="2" charset="-122"/>
                  <a:ea typeface="字体圈欣意冠黑体" panose="00000500000000000000" pitchFamily="2" charset="-122"/>
                  <a:cs typeface="OPPOSans R" panose="00020600040101010101" pitchFamily="18" charset="-122"/>
                </a:rPr>
                <a:t>问题三</a:t>
              </a:r>
            </a:p>
          </p:txBody>
        </p:sp>
        <p:grpSp>
          <p:nvGrpSpPr>
            <p:cNvPr id="49" name="组合 48">
              <a:extLst>
                <a:ext uri="{FF2B5EF4-FFF2-40B4-BE49-F238E27FC236}">
                  <a16:creationId xmlns:a16="http://schemas.microsoft.com/office/drawing/2014/main" id="{BD2D357B-5843-FCC3-CEC5-33AF99EE194D}"/>
                </a:ext>
              </a:extLst>
            </p:cNvPr>
            <p:cNvGrpSpPr/>
            <p:nvPr/>
          </p:nvGrpSpPr>
          <p:grpSpPr>
            <a:xfrm>
              <a:off x="1160" y="4491"/>
              <a:ext cx="5484" cy="5052"/>
              <a:chOff x="1775" y="4546"/>
              <a:chExt cx="5422" cy="6332"/>
            </a:xfrm>
          </p:grpSpPr>
          <p:sp>
            <p:nvSpPr>
              <p:cNvPr id="56" name="矩形: 圆角 152">
                <a:extLst>
                  <a:ext uri="{FF2B5EF4-FFF2-40B4-BE49-F238E27FC236}">
                    <a16:creationId xmlns:a16="http://schemas.microsoft.com/office/drawing/2014/main" id="{D4C73C5B-08BB-DADE-9853-4BB2FDB17C74}"/>
                  </a:ext>
                </a:extLst>
              </p:cNvPr>
              <p:cNvSpPr/>
              <p:nvPr/>
            </p:nvSpPr>
            <p:spPr>
              <a:xfrm>
                <a:off x="1775" y="4546"/>
                <a:ext cx="5360" cy="6332"/>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57" name="弧形 56">
                <a:extLst>
                  <a:ext uri="{FF2B5EF4-FFF2-40B4-BE49-F238E27FC236}">
                    <a16:creationId xmlns:a16="http://schemas.microsoft.com/office/drawing/2014/main" id="{25C715B5-1280-6D44-945A-67C2E7DE8C87}"/>
                  </a:ext>
                </a:extLst>
              </p:cNvPr>
              <p:cNvSpPr/>
              <p:nvPr/>
            </p:nvSpPr>
            <p:spPr>
              <a:xfrm flipH="1" flipV="1">
                <a:off x="1775" y="9982"/>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58" name="弧形 57">
                <a:extLst>
                  <a:ext uri="{FF2B5EF4-FFF2-40B4-BE49-F238E27FC236}">
                    <a16:creationId xmlns:a16="http://schemas.microsoft.com/office/drawing/2014/main" id="{4C6CE42C-7F7F-AB98-1B81-0D6EBE3ECBC9}"/>
                  </a:ext>
                </a:extLst>
              </p:cNvPr>
              <p:cNvSpPr/>
              <p:nvPr/>
            </p:nvSpPr>
            <p:spPr>
              <a:xfrm flipV="1">
                <a:off x="6403" y="9982"/>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grpSp>
        <p:sp>
          <p:nvSpPr>
            <p:cNvPr id="50" name="文本框 49">
              <a:extLst>
                <a:ext uri="{FF2B5EF4-FFF2-40B4-BE49-F238E27FC236}">
                  <a16:creationId xmlns:a16="http://schemas.microsoft.com/office/drawing/2014/main" id="{2F00D362-60E5-8B1E-D1F3-ABD0BC4FACF3}"/>
                </a:ext>
              </a:extLst>
            </p:cNvPr>
            <p:cNvSpPr txBox="1"/>
            <p:nvPr/>
          </p:nvSpPr>
          <p:spPr>
            <a:xfrm>
              <a:off x="1571" y="4680"/>
              <a:ext cx="4598" cy="682"/>
            </a:xfrm>
            <a:prstGeom prst="rect">
              <a:avLst/>
            </a:prstGeom>
            <a:noFill/>
          </p:spPr>
          <p:txBody>
            <a:bodyPr wrap="square">
              <a:spAutoFit/>
            </a:bodyPr>
            <a:lstStyle/>
            <a:p>
              <a:pPr algn="ctr"/>
              <a:r>
                <a:rPr lang="zh-CN" altLang="en-US" sz="20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rPr>
                <a:t>漏识别</a:t>
              </a:r>
              <a:endParaRPr lang="zh-CN" altLang="zh-CN" sz="20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endParaRPr>
            </a:p>
          </p:txBody>
        </p:sp>
        <p:grpSp>
          <p:nvGrpSpPr>
            <p:cNvPr id="53" name="组合 52">
              <a:extLst>
                <a:ext uri="{FF2B5EF4-FFF2-40B4-BE49-F238E27FC236}">
                  <a16:creationId xmlns:a16="http://schemas.microsoft.com/office/drawing/2014/main" id="{A5F6AF98-B69F-5BAF-6FDE-06A9EB4B3773}"/>
                </a:ext>
              </a:extLst>
            </p:cNvPr>
            <p:cNvGrpSpPr/>
            <p:nvPr/>
          </p:nvGrpSpPr>
          <p:grpSpPr>
            <a:xfrm>
              <a:off x="3081" y="5308"/>
              <a:ext cx="1578" cy="229"/>
              <a:chOff x="8048021" y="2062401"/>
              <a:chExt cx="684000" cy="88380"/>
            </a:xfrm>
          </p:grpSpPr>
          <p:cxnSp>
            <p:nvCxnSpPr>
              <p:cNvPr id="54" name="直线连接符 77">
                <a:extLst>
                  <a:ext uri="{FF2B5EF4-FFF2-40B4-BE49-F238E27FC236}">
                    <a16:creationId xmlns:a16="http://schemas.microsoft.com/office/drawing/2014/main" id="{8AFEE76F-427B-B747-3909-41DCCF384A42}"/>
                  </a:ext>
                </a:extLst>
              </p:cNvPr>
              <p:cNvCxnSpPr/>
              <p:nvPr/>
            </p:nvCxnSpPr>
            <p:spPr>
              <a:xfrm>
                <a:off x="8048021" y="2106591"/>
                <a:ext cx="684000" cy="0"/>
              </a:xfrm>
              <a:prstGeom prst="line">
                <a:avLst/>
              </a:prstGeom>
              <a:ln w="31750">
                <a:gradFill flip="none" rotWithShape="1">
                  <a:gsLst>
                    <a:gs pos="0">
                      <a:schemeClr val="accent1">
                        <a:alpha val="0"/>
                      </a:schemeClr>
                    </a:gs>
                    <a:gs pos="60000">
                      <a:schemeClr val="accent1"/>
                    </a:gs>
                    <a:gs pos="4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26E049BA-82AE-A651-5C2E-8CF476135AD9}"/>
                  </a:ext>
                </a:extLst>
              </p:cNvPr>
              <p:cNvSpPr/>
              <p:nvPr/>
            </p:nvSpPr>
            <p:spPr>
              <a:xfrm flipV="1">
                <a:off x="8345831" y="2062401"/>
                <a:ext cx="88380" cy="88380"/>
              </a:xfrm>
              <a:prstGeom prst="ellipse">
                <a:avLst/>
              </a:prstGeom>
              <a:solidFill>
                <a:schemeClr val="bg1"/>
              </a:solidFill>
              <a:ln w="31750">
                <a:solidFill>
                  <a:schemeClr val="accent1"/>
                </a:soli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200">
                  <a:solidFill>
                    <a:srgbClr val="FFFFFF"/>
                  </a:solidFill>
                  <a:latin typeface="Source Han Sans CN Normal" panose="020B0500000000000000" pitchFamily="34" charset="-128"/>
                  <a:ea typeface="Source Han Sans CN Normal" panose="020B0500000000000000" pitchFamily="34" charset="-128"/>
                </a:endParaRPr>
              </a:p>
            </p:txBody>
          </p:sp>
        </p:grpSp>
      </p:grpSp>
      <p:pic>
        <p:nvPicPr>
          <p:cNvPr id="60" name="图片 59">
            <a:extLst>
              <a:ext uri="{FF2B5EF4-FFF2-40B4-BE49-F238E27FC236}">
                <a16:creationId xmlns:a16="http://schemas.microsoft.com/office/drawing/2014/main" id="{BEBB60CF-DEAE-DE11-3689-A82613971F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3698" y="3901012"/>
            <a:ext cx="3281537" cy="1845864"/>
          </a:xfrm>
          <a:prstGeom prst="rect">
            <a:avLst/>
          </a:prstGeom>
        </p:spPr>
      </p:pic>
      <p:pic>
        <p:nvPicPr>
          <p:cNvPr id="62" name="图片 61">
            <a:extLst>
              <a:ext uri="{FF2B5EF4-FFF2-40B4-BE49-F238E27FC236}">
                <a16:creationId xmlns:a16="http://schemas.microsoft.com/office/drawing/2014/main" id="{6C16D33A-A975-7F92-DF17-00CF1920C51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91439" y="3884638"/>
            <a:ext cx="3343706" cy="1880835"/>
          </a:xfrm>
          <a:prstGeom prst="rect">
            <a:avLst/>
          </a:prstGeom>
        </p:spPr>
      </p:pic>
      <p:sp>
        <p:nvSpPr>
          <p:cNvPr id="65" name="文本框 64">
            <a:extLst>
              <a:ext uri="{FF2B5EF4-FFF2-40B4-BE49-F238E27FC236}">
                <a16:creationId xmlns:a16="http://schemas.microsoft.com/office/drawing/2014/main" id="{21671679-EE0C-6393-8D96-56265F182660}"/>
              </a:ext>
            </a:extLst>
          </p:cNvPr>
          <p:cNvSpPr txBox="1"/>
          <p:nvPr/>
        </p:nvSpPr>
        <p:spPr>
          <a:xfrm>
            <a:off x="782010" y="3217834"/>
            <a:ext cx="3223260" cy="400110"/>
          </a:xfrm>
          <a:prstGeom prst="rect">
            <a:avLst/>
          </a:prstGeom>
          <a:noFill/>
        </p:spPr>
        <p:txBody>
          <a:bodyPr wrap="square">
            <a:spAutoFit/>
          </a:bodyPr>
          <a:lstStyle/>
          <a:p>
            <a:pPr algn="ctr"/>
            <a:r>
              <a:rPr lang="zh-CN" altLang="en-US" sz="20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rPr>
              <a:t>误分类</a:t>
            </a:r>
            <a:endParaRPr lang="zh-CN" altLang="zh-CN" sz="20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endParaRPr>
          </a:p>
        </p:txBody>
      </p:sp>
      <p:sp>
        <p:nvSpPr>
          <p:cNvPr id="2" name="矩形: 圆角 1">
            <a:extLst>
              <a:ext uri="{FF2B5EF4-FFF2-40B4-BE49-F238E27FC236}">
                <a16:creationId xmlns:a16="http://schemas.microsoft.com/office/drawing/2014/main" id="{C4992A80-446D-5FD7-C4E8-7074186D791E}"/>
              </a:ext>
            </a:extLst>
          </p:cNvPr>
          <p:cNvSpPr/>
          <p:nvPr/>
        </p:nvSpPr>
        <p:spPr>
          <a:xfrm>
            <a:off x="1516468" y="1419742"/>
            <a:ext cx="9159063" cy="623356"/>
          </a:xfrm>
          <a:prstGeom prst="round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solidFill>
              <a:schemeClr val="accent5">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宋体" panose="02010600030101010101" pitchFamily="2" charset="-122"/>
                <a:ea typeface="宋体" panose="02010600030101010101" pitchFamily="2" charset="-122"/>
              </a:rPr>
              <a:t>人体识别算法中出现的问题</a:t>
            </a:r>
          </a:p>
        </p:txBody>
      </p:sp>
      <p:grpSp>
        <p:nvGrpSpPr>
          <p:cNvPr id="8" name="组合 7">
            <a:extLst>
              <a:ext uri="{FF2B5EF4-FFF2-40B4-BE49-F238E27FC236}">
                <a16:creationId xmlns:a16="http://schemas.microsoft.com/office/drawing/2014/main" id="{E6B32193-EB36-EA6E-7A25-ABBB2D7E5A87}"/>
              </a:ext>
            </a:extLst>
          </p:cNvPr>
          <p:cNvGrpSpPr/>
          <p:nvPr/>
        </p:nvGrpSpPr>
        <p:grpSpPr>
          <a:xfrm>
            <a:off x="0" y="1"/>
            <a:ext cx="12192000" cy="716766"/>
            <a:chOff x="0" y="1"/>
            <a:chExt cx="12192000" cy="716766"/>
          </a:xfrm>
        </p:grpSpPr>
        <p:sp>
          <p:nvSpPr>
            <p:cNvPr id="20" name="矩形 19">
              <a:extLst>
                <a:ext uri="{FF2B5EF4-FFF2-40B4-BE49-F238E27FC236}">
                  <a16:creationId xmlns:a16="http://schemas.microsoft.com/office/drawing/2014/main" id="{15271DDB-69A5-DA78-BC4D-DFDFD0341627}"/>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a:extLst>
                <a:ext uri="{FF2B5EF4-FFF2-40B4-BE49-F238E27FC236}">
                  <a16:creationId xmlns:a16="http://schemas.microsoft.com/office/drawing/2014/main" id="{B59FDBA6-B2B0-5F1E-F595-B2378CFBF2A5}"/>
                </a:ext>
              </a:extLst>
            </p:cNvPr>
            <p:cNvGrpSpPr/>
            <p:nvPr/>
          </p:nvGrpSpPr>
          <p:grpSpPr>
            <a:xfrm>
              <a:off x="5566401" y="159473"/>
              <a:ext cx="6316088" cy="369332"/>
              <a:chOff x="5223501" y="299173"/>
              <a:chExt cx="6316088" cy="369332"/>
            </a:xfrm>
          </p:grpSpPr>
          <p:sp>
            <p:nvSpPr>
              <p:cNvPr id="35" name="文本框 34">
                <a:extLst>
                  <a:ext uri="{FF2B5EF4-FFF2-40B4-BE49-F238E27FC236}">
                    <a16:creationId xmlns:a16="http://schemas.microsoft.com/office/drawing/2014/main" id="{0C9840CB-9E4A-9CCC-E4DD-132F33D36CC7}"/>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30DAACB1-C4C5-30B8-4933-D31B33AB66F4}"/>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51" name="文本框 50">
                <a:extLst>
                  <a:ext uri="{FF2B5EF4-FFF2-40B4-BE49-F238E27FC236}">
                    <a16:creationId xmlns:a16="http://schemas.microsoft.com/office/drawing/2014/main" id="{41A34366-305A-1F45-394C-E0926EB9E353}"/>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52" name="文本框 51">
                <a:extLst>
                  <a:ext uri="{FF2B5EF4-FFF2-40B4-BE49-F238E27FC236}">
                    <a16:creationId xmlns:a16="http://schemas.microsoft.com/office/drawing/2014/main" id="{7DA51711-B71E-2CB7-7FB6-F7E618B382BB}"/>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59" name="直接连接符 58">
                <a:extLst>
                  <a:ext uri="{FF2B5EF4-FFF2-40B4-BE49-F238E27FC236}">
                    <a16:creationId xmlns:a16="http://schemas.microsoft.com/office/drawing/2014/main" id="{0AA19E55-BE48-712A-687A-C610E09AADB1}"/>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B3B43D28-9F85-EA5C-DE58-E546D63438B4}"/>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9AB01A3-7147-AB6E-FEF0-935FC7F0489C}"/>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4" name="等腰三角形 23">
              <a:extLst>
                <a:ext uri="{FF2B5EF4-FFF2-40B4-BE49-F238E27FC236}">
                  <a16:creationId xmlns:a16="http://schemas.microsoft.com/office/drawing/2014/main" id="{8C2E1502-213E-4DCD-158A-B4E48D8DCC73}"/>
                </a:ext>
              </a:extLst>
            </p:cNvPr>
            <p:cNvSpPr/>
            <p:nvPr/>
          </p:nvSpPr>
          <p:spPr>
            <a:xfrm>
              <a:off x="5731674" y="567541"/>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6" name="图片 25" descr="80625ec734b7adc67a6fa9aaa225bef">
            <a:extLst>
              <a:ext uri="{FF2B5EF4-FFF2-40B4-BE49-F238E27FC236}">
                <a16:creationId xmlns:a16="http://schemas.microsoft.com/office/drawing/2014/main" id="{751C0E96-6EDD-9F88-416D-ED4E8F9002BB}"/>
              </a:ext>
            </a:extLst>
          </p:cNvPr>
          <p:cNvPicPr>
            <a:picLocks noChangeAspect="1"/>
          </p:cNvPicPr>
          <p:nvPr/>
        </p:nvPicPr>
        <p:blipFill>
          <a:blip r:embed="rId7"/>
          <a:stretch>
            <a:fillRect/>
          </a:stretch>
        </p:blipFill>
        <p:spPr>
          <a:xfrm>
            <a:off x="8004644" y="3868471"/>
            <a:ext cx="3372196" cy="189700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3430761C-98FB-B127-FBA4-9BA79F683622}"/>
              </a:ext>
            </a:extLst>
          </p:cNvPr>
          <p:cNvSpPr/>
          <p:nvPr/>
        </p:nvSpPr>
        <p:spPr>
          <a:xfrm>
            <a:off x="551384" y="764704"/>
            <a:ext cx="3312368" cy="1645414"/>
          </a:xfrm>
          <a:prstGeom prst="roundRect">
            <a:avLst/>
          </a:prstGeom>
          <a:solidFill>
            <a:schemeClr val="bg1"/>
          </a:solidFill>
          <a:ln w="190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975DAF71-084D-552B-43CC-114693A14C72}"/>
              </a:ext>
            </a:extLst>
          </p:cNvPr>
          <p:cNvGrpSpPr/>
          <p:nvPr/>
        </p:nvGrpSpPr>
        <p:grpSpPr>
          <a:xfrm>
            <a:off x="0" y="1"/>
            <a:ext cx="12192000" cy="707380"/>
            <a:chOff x="0" y="1"/>
            <a:chExt cx="12192000" cy="707380"/>
          </a:xfrm>
        </p:grpSpPr>
        <p:sp>
          <p:nvSpPr>
            <p:cNvPr id="3" name="矩形 2">
              <a:extLst>
                <a:ext uri="{FF2B5EF4-FFF2-40B4-BE49-F238E27FC236}">
                  <a16:creationId xmlns:a16="http://schemas.microsoft.com/office/drawing/2014/main" id="{6FC9EB04-0119-09F2-DBE4-0E99D8E75EC9}"/>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DB718AF0-36C2-1F7F-06C8-986C8360C56A}"/>
                </a:ext>
              </a:extLst>
            </p:cNvPr>
            <p:cNvGrpSpPr/>
            <p:nvPr/>
          </p:nvGrpSpPr>
          <p:grpSpPr>
            <a:xfrm>
              <a:off x="5566401" y="159473"/>
              <a:ext cx="6316088" cy="369332"/>
              <a:chOff x="5223501" y="299173"/>
              <a:chExt cx="6316088" cy="369332"/>
            </a:xfrm>
          </p:grpSpPr>
          <p:sp>
            <p:nvSpPr>
              <p:cNvPr id="6" name="文本框 5">
                <a:extLst>
                  <a:ext uri="{FF2B5EF4-FFF2-40B4-BE49-F238E27FC236}">
                    <a16:creationId xmlns:a16="http://schemas.microsoft.com/office/drawing/2014/main" id="{73DFCC2A-F212-11B7-928E-575C2D3C4168}"/>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a:extLst>
                  <a:ext uri="{FF2B5EF4-FFF2-40B4-BE49-F238E27FC236}">
                    <a16:creationId xmlns:a16="http://schemas.microsoft.com/office/drawing/2014/main" id="{41F4EB72-6269-8410-A634-F34473095FE0}"/>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8" name="文本框 7">
                <a:extLst>
                  <a:ext uri="{FF2B5EF4-FFF2-40B4-BE49-F238E27FC236}">
                    <a16:creationId xmlns:a16="http://schemas.microsoft.com/office/drawing/2014/main" id="{9336E132-112F-7BED-424E-B8EC6455819A}"/>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9" name="文本框 8">
                <a:extLst>
                  <a:ext uri="{FF2B5EF4-FFF2-40B4-BE49-F238E27FC236}">
                    <a16:creationId xmlns:a16="http://schemas.microsoft.com/office/drawing/2014/main" id="{AA804FCA-97E1-C404-67EE-4F36B6E12CE4}"/>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10" name="直接连接符 9">
                <a:extLst>
                  <a:ext uri="{FF2B5EF4-FFF2-40B4-BE49-F238E27FC236}">
                    <a16:creationId xmlns:a16="http://schemas.microsoft.com/office/drawing/2014/main" id="{EB2F3364-098D-D31A-EF90-E753E5EE39C6}"/>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9D59815-3E4A-7A5D-096E-38E558CA05F5}"/>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A3A667F-CBBB-56A5-4435-7D4D7E12B5F3}"/>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等腰三角形 4">
              <a:extLst>
                <a:ext uri="{FF2B5EF4-FFF2-40B4-BE49-F238E27FC236}">
                  <a16:creationId xmlns:a16="http://schemas.microsoft.com/office/drawing/2014/main" id="{22F720D1-254B-447A-52C3-1415021C046F}"/>
                </a:ext>
              </a:extLst>
            </p:cNvPr>
            <p:cNvSpPr/>
            <p:nvPr/>
          </p:nvSpPr>
          <p:spPr>
            <a:xfrm>
              <a:off x="7438585" y="558155"/>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圆角 12">
            <a:extLst>
              <a:ext uri="{FF2B5EF4-FFF2-40B4-BE49-F238E27FC236}">
                <a16:creationId xmlns:a16="http://schemas.microsoft.com/office/drawing/2014/main" id="{189C0657-ADB6-8E40-F78A-462427053CB7}"/>
              </a:ext>
            </a:extLst>
          </p:cNvPr>
          <p:cNvSpPr/>
          <p:nvPr/>
        </p:nvSpPr>
        <p:spPr>
          <a:xfrm>
            <a:off x="191344" y="910806"/>
            <a:ext cx="720080" cy="1353209"/>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去烟算法</a:t>
            </a:r>
          </a:p>
        </p:txBody>
      </p:sp>
      <p:sp>
        <p:nvSpPr>
          <p:cNvPr id="15" name="矩形: 圆角 14">
            <a:extLst>
              <a:ext uri="{FF2B5EF4-FFF2-40B4-BE49-F238E27FC236}">
                <a16:creationId xmlns:a16="http://schemas.microsoft.com/office/drawing/2014/main" id="{858CD843-3798-6418-BB01-904B3659B01F}"/>
              </a:ext>
            </a:extLst>
          </p:cNvPr>
          <p:cNvSpPr/>
          <p:nvPr/>
        </p:nvSpPr>
        <p:spPr>
          <a:xfrm>
            <a:off x="1126656" y="991773"/>
            <a:ext cx="1368152"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暗通道先验</a:t>
            </a:r>
          </a:p>
        </p:txBody>
      </p:sp>
      <p:pic>
        <p:nvPicPr>
          <p:cNvPr id="17" name="图片 16">
            <a:extLst>
              <a:ext uri="{FF2B5EF4-FFF2-40B4-BE49-F238E27FC236}">
                <a16:creationId xmlns:a16="http://schemas.microsoft.com/office/drawing/2014/main" id="{1CF42BD1-49E8-DD54-ED41-1AD6B3809A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2166" y="1551261"/>
            <a:ext cx="1387556" cy="677111"/>
          </a:xfrm>
          <a:prstGeom prst="rect">
            <a:avLst/>
          </a:prstGeom>
        </p:spPr>
      </p:pic>
      <p:sp>
        <p:nvSpPr>
          <p:cNvPr id="16" name="矩形: 圆角 15">
            <a:extLst>
              <a:ext uri="{FF2B5EF4-FFF2-40B4-BE49-F238E27FC236}">
                <a16:creationId xmlns:a16="http://schemas.microsoft.com/office/drawing/2014/main" id="{04D13626-34B2-7807-8CAF-25B0588E3FC5}"/>
              </a:ext>
            </a:extLst>
          </p:cNvPr>
          <p:cNvSpPr/>
          <p:nvPr/>
        </p:nvSpPr>
        <p:spPr>
          <a:xfrm>
            <a:off x="551384" y="2649753"/>
            <a:ext cx="3312368" cy="1944216"/>
          </a:xfrm>
          <a:prstGeom prst="roundRect">
            <a:avLst/>
          </a:prstGeom>
          <a:solidFill>
            <a:schemeClr val="bg1"/>
          </a:solidFill>
          <a:ln w="190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C7BFDBA8-3748-D44B-12EB-19241AC914D4}"/>
              </a:ext>
            </a:extLst>
          </p:cNvPr>
          <p:cNvSpPr/>
          <p:nvPr/>
        </p:nvSpPr>
        <p:spPr>
          <a:xfrm>
            <a:off x="191344" y="2864035"/>
            <a:ext cx="720080" cy="1476164"/>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多模态融合</a:t>
            </a:r>
          </a:p>
        </p:txBody>
      </p:sp>
      <p:sp>
        <p:nvSpPr>
          <p:cNvPr id="22" name="矩形: 圆角 21">
            <a:extLst>
              <a:ext uri="{FF2B5EF4-FFF2-40B4-BE49-F238E27FC236}">
                <a16:creationId xmlns:a16="http://schemas.microsoft.com/office/drawing/2014/main" id="{E1B3C10E-16C7-02FD-C861-F92E1BA532DE}"/>
              </a:ext>
            </a:extLst>
          </p:cNvPr>
          <p:cNvSpPr/>
          <p:nvPr/>
        </p:nvSpPr>
        <p:spPr>
          <a:xfrm>
            <a:off x="1111369" y="2844581"/>
            <a:ext cx="1368152"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特征级融合</a:t>
            </a:r>
          </a:p>
        </p:txBody>
      </p:sp>
      <p:sp>
        <p:nvSpPr>
          <p:cNvPr id="32" name="文本框 31">
            <a:extLst>
              <a:ext uri="{FF2B5EF4-FFF2-40B4-BE49-F238E27FC236}">
                <a16:creationId xmlns:a16="http://schemas.microsoft.com/office/drawing/2014/main" id="{25E6A9BD-D25B-10C1-BBEB-DBF376543259}"/>
              </a:ext>
            </a:extLst>
          </p:cNvPr>
          <p:cNvSpPr txBox="1"/>
          <p:nvPr/>
        </p:nvSpPr>
        <p:spPr>
          <a:xfrm>
            <a:off x="930895" y="3225603"/>
            <a:ext cx="1800493"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如</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特征融合框架</a:t>
            </a:r>
            <a:endParaRPr lang="zh-CN" altLang="en-US" dirty="0">
              <a:latin typeface="宋体" panose="02010600030101010101" pitchFamily="2" charset="-122"/>
              <a:ea typeface="宋体" panose="02010600030101010101" pitchFamily="2" charset="-122"/>
            </a:endParaRPr>
          </a:p>
        </p:txBody>
      </p:sp>
      <p:sp>
        <p:nvSpPr>
          <p:cNvPr id="33" name="矩形: 圆角 32">
            <a:extLst>
              <a:ext uri="{FF2B5EF4-FFF2-40B4-BE49-F238E27FC236}">
                <a16:creationId xmlns:a16="http://schemas.microsoft.com/office/drawing/2014/main" id="{2AEC3771-8B02-B2EE-EF70-61B3E0686CFC}"/>
              </a:ext>
            </a:extLst>
          </p:cNvPr>
          <p:cNvSpPr/>
          <p:nvPr/>
        </p:nvSpPr>
        <p:spPr>
          <a:xfrm>
            <a:off x="1147801" y="3666730"/>
            <a:ext cx="1368152"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决策级融合</a:t>
            </a:r>
          </a:p>
        </p:txBody>
      </p:sp>
      <p:sp>
        <p:nvSpPr>
          <p:cNvPr id="34" name="文本框 33">
            <a:extLst>
              <a:ext uri="{FF2B5EF4-FFF2-40B4-BE49-F238E27FC236}">
                <a16:creationId xmlns:a16="http://schemas.microsoft.com/office/drawing/2014/main" id="{A0A160E9-5B7D-7DEF-8303-E5AAE34CEAF3}"/>
              </a:ext>
            </a:extLst>
          </p:cNvPr>
          <p:cNvSpPr txBox="1"/>
          <p:nvPr/>
        </p:nvSpPr>
        <p:spPr>
          <a:xfrm>
            <a:off x="856464" y="4048852"/>
            <a:ext cx="2056930"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如</a:t>
            </a:r>
            <a:r>
              <a:rPr lang="zh-CN" altLang="en-US" sz="1800" kern="100" dirty="0">
                <a:effectLst/>
                <a:latin typeface="宋体" panose="02010600030101010101" pitchFamily="2" charset="-122"/>
                <a:ea typeface="宋体" panose="02010600030101010101" pitchFamily="2" charset="-122"/>
                <a:cs typeface="楷体" panose="02010609060101010101" pitchFamily="49" charset="-122"/>
              </a:rPr>
              <a:t>多聚焦融合算法</a:t>
            </a:r>
            <a:endParaRPr lang="zh-CN" altLang="en-US" dirty="0">
              <a:latin typeface="宋体" panose="02010600030101010101" pitchFamily="2" charset="-122"/>
              <a:ea typeface="宋体" panose="02010600030101010101" pitchFamily="2" charset="-122"/>
            </a:endParaRPr>
          </a:p>
        </p:txBody>
      </p:sp>
      <p:sp>
        <p:nvSpPr>
          <p:cNvPr id="35" name="矩形: 圆角 34">
            <a:extLst>
              <a:ext uri="{FF2B5EF4-FFF2-40B4-BE49-F238E27FC236}">
                <a16:creationId xmlns:a16="http://schemas.microsoft.com/office/drawing/2014/main" id="{840D0D04-67DD-7759-5ECD-8BAF2C1EC6AA}"/>
              </a:ext>
            </a:extLst>
          </p:cNvPr>
          <p:cNvSpPr/>
          <p:nvPr/>
        </p:nvSpPr>
        <p:spPr>
          <a:xfrm>
            <a:off x="544881" y="4821047"/>
            <a:ext cx="3312368" cy="1476165"/>
          </a:xfrm>
          <a:prstGeom prst="roundRect">
            <a:avLst/>
          </a:prstGeom>
          <a:solidFill>
            <a:schemeClr val="bg1"/>
          </a:solidFill>
          <a:ln w="190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DE635B0-82F3-7EA4-D9A4-729358B9F44B}"/>
              </a:ext>
            </a:extLst>
          </p:cNvPr>
          <p:cNvSpPr/>
          <p:nvPr/>
        </p:nvSpPr>
        <p:spPr>
          <a:xfrm>
            <a:off x="184841" y="5004282"/>
            <a:ext cx="720080" cy="1089985"/>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人体识别</a:t>
            </a:r>
          </a:p>
        </p:txBody>
      </p:sp>
      <p:sp>
        <p:nvSpPr>
          <p:cNvPr id="37" name="矩形: 圆角 36">
            <a:extLst>
              <a:ext uri="{FF2B5EF4-FFF2-40B4-BE49-F238E27FC236}">
                <a16:creationId xmlns:a16="http://schemas.microsoft.com/office/drawing/2014/main" id="{D538AE5C-2A11-50B2-7811-4EFACF73A169}"/>
              </a:ext>
            </a:extLst>
          </p:cNvPr>
          <p:cNvSpPr/>
          <p:nvPr/>
        </p:nvSpPr>
        <p:spPr>
          <a:xfrm>
            <a:off x="943225" y="5004282"/>
            <a:ext cx="1833904"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常规</a:t>
            </a:r>
            <a:r>
              <a:rPr lang="en-US" altLang="zh-CN" b="1" dirty="0">
                <a:latin typeface="宋体" panose="02010600030101010101" pitchFamily="2" charset="-122"/>
                <a:ea typeface="宋体" panose="02010600030101010101" pitchFamily="2" charset="-122"/>
              </a:rPr>
              <a:t>Yolo</a:t>
            </a:r>
            <a:r>
              <a:rPr lang="zh-CN" altLang="en-US" b="1" dirty="0">
                <a:latin typeface="宋体" panose="02010600030101010101" pitchFamily="2" charset="-122"/>
                <a:ea typeface="宋体" panose="02010600030101010101" pitchFamily="2" charset="-122"/>
              </a:rPr>
              <a:t>系列</a:t>
            </a:r>
          </a:p>
        </p:txBody>
      </p:sp>
      <p:pic>
        <p:nvPicPr>
          <p:cNvPr id="43" name="图片 42">
            <a:extLst>
              <a:ext uri="{FF2B5EF4-FFF2-40B4-BE49-F238E27FC236}">
                <a16:creationId xmlns:a16="http://schemas.microsoft.com/office/drawing/2014/main" id="{652C2E3A-EA77-D4FD-3217-1CCDA125B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225" y="5446195"/>
            <a:ext cx="1845704" cy="746044"/>
          </a:xfrm>
          <a:prstGeom prst="rect">
            <a:avLst/>
          </a:prstGeom>
        </p:spPr>
      </p:pic>
      <p:sp>
        <p:nvSpPr>
          <p:cNvPr id="44" name="文本框 43">
            <a:extLst>
              <a:ext uri="{FF2B5EF4-FFF2-40B4-BE49-F238E27FC236}">
                <a16:creationId xmlns:a16="http://schemas.microsoft.com/office/drawing/2014/main" id="{A2EC4D80-18AA-A96F-4332-8EA5D0ACFB7E}"/>
              </a:ext>
            </a:extLst>
          </p:cNvPr>
          <p:cNvSpPr txBox="1"/>
          <p:nvPr/>
        </p:nvSpPr>
        <p:spPr>
          <a:xfrm>
            <a:off x="1416235" y="6339624"/>
            <a:ext cx="1569660" cy="369332"/>
          </a:xfrm>
          <a:prstGeom prst="rect">
            <a:avLst/>
          </a:prstGeom>
          <a:noFill/>
        </p:spPr>
        <p:txBody>
          <a:bodyPr wrap="none" rtlCol="0">
            <a:spAutoFit/>
          </a:bodyPr>
          <a:lstStyle/>
          <a:p>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宋体" panose="02010600030101010101" pitchFamily="2" charset="-122"/>
                <a:ea typeface="宋体" panose="02010600030101010101" pitchFamily="2" charset="-122"/>
              </a:rPr>
              <a:t>相关经典算法</a:t>
            </a:r>
          </a:p>
        </p:txBody>
      </p:sp>
      <p:sp>
        <p:nvSpPr>
          <p:cNvPr id="45" name="箭头: 右 44">
            <a:extLst>
              <a:ext uri="{FF2B5EF4-FFF2-40B4-BE49-F238E27FC236}">
                <a16:creationId xmlns:a16="http://schemas.microsoft.com/office/drawing/2014/main" id="{DB820E95-0275-9906-AC08-F1953995F76B}"/>
              </a:ext>
            </a:extLst>
          </p:cNvPr>
          <p:cNvSpPr/>
          <p:nvPr/>
        </p:nvSpPr>
        <p:spPr>
          <a:xfrm>
            <a:off x="4079776" y="1412776"/>
            <a:ext cx="576064" cy="432048"/>
          </a:xfrm>
          <a:prstGeom prst="rightArrow">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152">
            <a:extLst>
              <a:ext uri="{FF2B5EF4-FFF2-40B4-BE49-F238E27FC236}">
                <a16:creationId xmlns:a16="http://schemas.microsoft.com/office/drawing/2014/main" id="{D3F4FF19-2A6E-7BA1-8FB9-F90483969B25}"/>
              </a:ext>
            </a:extLst>
          </p:cNvPr>
          <p:cNvSpPr/>
          <p:nvPr/>
        </p:nvSpPr>
        <p:spPr>
          <a:xfrm>
            <a:off x="2822252" y="2837127"/>
            <a:ext cx="878080" cy="1531356"/>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46" name="矩形: 圆角 45">
            <a:extLst>
              <a:ext uri="{FF2B5EF4-FFF2-40B4-BE49-F238E27FC236}">
                <a16:creationId xmlns:a16="http://schemas.microsoft.com/office/drawing/2014/main" id="{C8F73990-A8CE-BD2D-363B-D5C8CD2BD99A}"/>
              </a:ext>
            </a:extLst>
          </p:cNvPr>
          <p:cNvSpPr/>
          <p:nvPr/>
        </p:nvSpPr>
        <p:spPr>
          <a:xfrm>
            <a:off x="4943872" y="764704"/>
            <a:ext cx="744996" cy="1645413"/>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宋体" panose="02010600030101010101" pitchFamily="2" charset="-122"/>
                <a:ea typeface="宋体" panose="02010600030101010101" pitchFamily="2" charset="-122"/>
              </a:rPr>
              <a:t>GAN</a:t>
            </a:r>
            <a:r>
              <a:rPr lang="zh-CN" altLang="en-US" b="1" dirty="0">
                <a:latin typeface="宋体" panose="02010600030101010101" pitchFamily="2" charset="-122"/>
                <a:ea typeface="宋体" panose="02010600030101010101" pitchFamily="2" charset="-122"/>
              </a:rPr>
              <a:t>网络</a:t>
            </a:r>
          </a:p>
        </p:txBody>
      </p:sp>
      <p:sp>
        <p:nvSpPr>
          <p:cNvPr id="47" name="文本框 46">
            <a:extLst>
              <a:ext uri="{FF2B5EF4-FFF2-40B4-BE49-F238E27FC236}">
                <a16:creationId xmlns:a16="http://schemas.microsoft.com/office/drawing/2014/main" id="{5CDC290C-DD1B-AB68-D803-4DE884D5C011}"/>
              </a:ext>
            </a:extLst>
          </p:cNvPr>
          <p:cNvSpPr txBox="1"/>
          <p:nvPr/>
        </p:nvSpPr>
        <p:spPr>
          <a:xfrm>
            <a:off x="5719882" y="2060848"/>
            <a:ext cx="2708994" cy="369332"/>
          </a:xfrm>
          <a:prstGeom prst="rect">
            <a:avLst/>
          </a:prstGeom>
          <a:noFill/>
        </p:spPr>
        <p:txBody>
          <a:bodyPr wrap="square" rtlCol="0">
            <a:spAutoFit/>
          </a:bodyPr>
          <a:lstStyle/>
          <a:p>
            <a:pPr algn="ctr"/>
            <a:r>
              <a:rPr lang="zh-CN" altLang="en-US" sz="1800" kern="100" dirty="0">
                <a:effectLst/>
                <a:latin typeface="宋体" panose="02010600030101010101" pitchFamily="2" charset="-122"/>
                <a:ea typeface="宋体" panose="02010600030101010101" pitchFamily="2" charset="-122"/>
                <a:cs typeface="楷体" panose="02010609060101010101" pitchFamily="49" charset="-122"/>
              </a:rPr>
              <a:t>提高清晰度与结构还原度</a:t>
            </a:r>
            <a:endParaRPr lang="zh-CN" altLang="en-US" dirty="0">
              <a:latin typeface="宋体" panose="02010600030101010101" pitchFamily="2" charset="-122"/>
              <a:ea typeface="宋体" panose="02010600030101010101" pitchFamily="2" charset="-122"/>
            </a:endParaRPr>
          </a:p>
        </p:txBody>
      </p:sp>
      <p:pic>
        <p:nvPicPr>
          <p:cNvPr id="48" name="图片 47">
            <a:extLst>
              <a:ext uri="{FF2B5EF4-FFF2-40B4-BE49-F238E27FC236}">
                <a16:creationId xmlns:a16="http://schemas.microsoft.com/office/drawing/2014/main" id="{EB7C3F3F-5435-B4B3-3DD6-87591BB1A336}"/>
              </a:ext>
            </a:extLst>
          </p:cNvPr>
          <p:cNvPicPr>
            <a:picLocks noChangeAspect="1"/>
          </p:cNvPicPr>
          <p:nvPr/>
        </p:nvPicPr>
        <p:blipFill>
          <a:blip r:embed="rId4"/>
          <a:stretch>
            <a:fillRect/>
          </a:stretch>
        </p:blipFill>
        <p:spPr>
          <a:xfrm>
            <a:off x="5735960" y="764704"/>
            <a:ext cx="2690934" cy="1296144"/>
          </a:xfrm>
          <a:prstGeom prst="rect">
            <a:avLst/>
          </a:prstGeom>
        </p:spPr>
      </p:pic>
      <p:sp>
        <p:nvSpPr>
          <p:cNvPr id="31" name="文本框 30">
            <a:extLst>
              <a:ext uri="{FF2B5EF4-FFF2-40B4-BE49-F238E27FC236}">
                <a16:creationId xmlns:a16="http://schemas.microsoft.com/office/drawing/2014/main" id="{F6DBEC1C-34BB-0A8F-EF69-0F5F62D023C9}"/>
              </a:ext>
            </a:extLst>
          </p:cNvPr>
          <p:cNvSpPr txBox="1"/>
          <p:nvPr/>
        </p:nvSpPr>
        <p:spPr>
          <a:xfrm>
            <a:off x="2884560" y="2996703"/>
            <a:ext cx="891528" cy="1200329"/>
          </a:xfrm>
          <a:prstGeom prst="rect">
            <a:avLst/>
          </a:prstGeom>
          <a:noFill/>
        </p:spPr>
        <p:txBody>
          <a:bodyPr wrap="square" rtlCol="0">
            <a:spAutoFit/>
          </a:bodyPr>
          <a:lstStyle/>
          <a:p>
            <a:pPr algn="ctr"/>
            <a:r>
              <a:rPr lang="zh-CN" altLang="en-US" sz="1800" kern="100" dirty="0">
                <a:effectLst/>
                <a:latin typeface="宋体" panose="02010600030101010101" pitchFamily="2" charset="-122"/>
                <a:ea typeface="宋体" panose="02010600030101010101" pitchFamily="2" charset="-122"/>
                <a:cs typeface="楷体" panose="02010609060101010101" pitchFamily="49" charset="-122"/>
              </a:rPr>
              <a:t>存在</a:t>
            </a:r>
            <a:r>
              <a:rPr lang="zh-CN" altLang="zh-CN" sz="1800" kern="100" dirty="0">
                <a:effectLst/>
                <a:latin typeface="宋体" panose="02010600030101010101" pitchFamily="2" charset="-122"/>
                <a:ea typeface="宋体" panose="02010600030101010101" pitchFamily="2" charset="-122"/>
                <a:cs typeface="楷体" panose="02010609060101010101" pitchFamily="49" charset="-122"/>
              </a:rPr>
              <a:t>模型特化、泛化性差</a:t>
            </a:r>
            <a:r>
              <a:rPr lang="zh-CN" altLang="en-US" sz="1800" kern="100" dirty="0">
                <a:effectLst/>
                <a:latin typeface="宋体" panose="02010600030101010101" pitchFamily="2" charset="-122"/>
                <a:ea typeface="宋体" panose="02010600030101010101" pitchFamily="2" charset="-122"/>
                <a:cs typeface="楷体" panose="02010609060101010101" pitchFamily="49" charset="-122"/>
              </a:rPr>
              <a:t>缺点</a:t>
            </a:r>
            <a:endParaRPr lang="zh-CN" altLang="en-US" dirty="0">
              <a:latin typeface="宋体" panose="02010600030101010101" pitchFamily="2" charset="-122"/>
              <a:ea typeface="宋体" panose="02010600030101010101" pitchFamily="2" charset="-122"/>
            </a:endParaRPr>
          </a:p>
        </p:txBody>
      </p:sp>
      <p:sp>
        <p:nvSpPr>
          <p:cNvPr id="50" name="箭头: 右 49">
            <a:extLst>
              <a:ext uri="{FF2B5EF4-FFF2-40B4-BE49-F238E27FC236}">
                <a16:creationId xmlns:a16="http://schemas.microsoft.com/office/drawing/2014/main" id="{D529A5B5-3B2A-E1DE-384E-2CDBC5486655}"/>
              </a:ext>
            </a:extLst>
          </p:cNvPr>
          <p:cNvSpPr/>
          <p:nvPr/>
        </p:nvSpPr>
        <p:spPr>
          <a:xfrm>
            <a:off x="4079776" y="3380845"/>
            <a:ext cx="576064" cy="432048"/>
          </a:xfrm>
          <a:prstGeom prst="rightArrow">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左大括号 50">
            <a:extLst>
              <a:ext uri="{FF2B5EF4-FFF2-40B4-BE49-F238E27FC236}">
                <a16:creationId xmlns:a16="http://schemas.microsoft.com/office/drawing/2014/main" id="{28AF7D70-660D-2CE1-841B-6FE4D7ACD0C6}"/>
              </a:ext>
            </a:extLst>
          </p:cNvPr>
          <p:cNvSpPr/>
          <p:nvPr/>
        </p:nvSpPr>
        <p:spPr>
          <a:xfrm>
            <a:off x="4952867" y="2842048"/>
            <a:ext cx="401831" cy="1509641"/>
          </a:xfrm>
          <a:prstGeom prst="leftBrac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矩形: 圆角 152">
            <a:extLst>
              <a:ext uri="{FF2B5EF4-FFF2-40B4-BE49-F238E27FC236}">
                <a16:creationId xmlns:a16="http://schemas.microsoft.com/office/drawing/2014/main" id="{394AEFCB-411B-CB1A-5FD0-0257EF7455C6}"/>
              </a:ext>
            </a:extLst>
          </p:cNvPr>
          <p:cNvSpPr/>
          <p:nvPr/>
        </p:nvSpPr>
        <p:spPr>
          <a:xfrm>
            <a:off x="2803674" y="936326"/>
            <a:ext cx="901944" cy="1353209"/>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21" name="文本框 20">
            <a:extLst>
              <a:ext uri="{FF2B5EF4-FFF2-40B4-BE49-F238E27FC236}">
                <a16:creationId xmlns:a16="http://schemas.microsoft.com/office/drawing/2014/main" id="{715B1A11-A1D6-03C0-913C-957A605493B5}"/>
              </a:ext>
            </a:extLst>
          </p:cNvPr>
          <p:cNvSpPr txBox="1"/>
          <p:nvPr/>
        </p:nvSpPr>
        <p:spPr>
          <a:xfrm>
            <a:off x="2798389" y="874266"/>
            <a:ext cx="901943" cy="1477328"/>
          </a:xfrm>
          <a:prstGeom prst="rect">
            <a:avLst/>
          </a:prstGeom>
          <a:noFill/>
        </p:spPr>
        <p:txBody>
          <a:bodyPr wrap="square" rtlCol="0">
            <a:spAutoFit/>
          </a:bodyPr>
          <a:lstStyle/>
          <a:p>
            <a:pPr algn="ctr"/>
            <a:r>
              <a:rPr lang="zh-CN" altLang="zh-CN" sz="1800" kern="100" dirty="0">
                <a:effectLst/>
                <a:latin typeface="宋体" panose="02010600030101010101" pitchFamily="2" charset="-122"/>
                <a:ea typeface="宋体" panose="02010600030101010101" pitchFamily="2" charset="-122"/>
                <a:cs typeface="楷体" panose="02010609060101010101" pitchFamily="49" charset="-122"/>
              </a:rPr>
              <a:t>对火场高密度烟雾存在适应性差</a:t>
            </a:r>
            <a:endParaRPr lang="zh-CN" altLang="en-US" dirty="0">
              <a:latin typeface="宋体" panose="02010600030101010101" pitchFamily="2" charset="-122"/>
              <a:ea typeface="宋体" panose="02010600030101010101" pitchFamily="2" charset="-122"/>
            </a:endParaRPr>
          </a:p>
        </p:txBody>
      </p:sp>
      <p:sp>
        <p:nvSpPr>
          <p:cNvPr id="53" name="矩形: 圆角 152">
            <a:extLst>
              <a:ext uri="{FF2B5EF4-FFF2-40B4-BE49-F238E27FC236}">
                <a16:creationId xmlns:a16="http://schemas.microsoft.com/office/drawing/2014/main" id="{2D5116FE-66B0-3208-DAE0-EC8B73FC5888}"/>
              </a:ext>
            </a:extLst>
          </p:cNvPr>
          <p:cNvSpPr/>
          <p:nvPr/>
        </p:nvSpPr>
        <p:spPr>
          <a:xfrm>
            <a:off x="2822253" y="5004282"/>
            <a:ext cx="878080" cy="1187957"/>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38" name="文本框 37">
            <a:extLst>
              <a:ext uri="{FF2B5EF4-FFF2-40B4-BE49-F238E27FC236}">
                <a16:creationId xmlns:a16="http://schemas.microsoft.com/office/drawing/2014/main" id="{DBECDB6B-1987-7690-C91C-78983A09B11A}"/>
              </a:ext>
            </a:extLst>
          </p:cNvPr>
          <p:cNvSpPr txBox="1"/>
          <p:nvPr/>
        </p:nvSpPr>
        <p:spPr>
          <a:xfrm>
            <a:off x="2781805" y="5136595"/>
            <a:ext cx="957692" cy="923330"/>
          </a:xfrm>
          <a:prstGeom prst="rect">
            <a:avLst/>
          </a:prstGeom>
          <a:noFill/>
        </p:spPr>
        <p:txBody>
          <a:bodyPr wrap="square" rtlCol="0">
            <a:spAutoFit/>
          </a:bodyPr>
          <a:lstStyle/>
          <a:p>
            <a:pPr algn="ctr"/>
            <a:r>
              <a:rPr lang="zh-CN" altLang="en-US" sz="1800" kern="100" dirty="0">
                <a:effectLst/>
                <a:latin typeface="宋体" panose="02010600030101010101" pitchFamily="2" charset="-122"/>
                <a:ea typeface="宋体" panose="02010600030101010101" pitchFamily="2" charset="-122"/>
                <a:cs typeface="楷体" panose="02010609060101010101" pitchFamily="49" charset="-122"/>
              </a:rPr>
              <a:t>此场景下</a:t>
            </a:r>
            <a:r>
              <a:rPr lang="zh-CN" altLang="zh-CN" sz="1800" kern="100" dirty="0">
                <a:effectLst/>
                <a:latin typeface="宋体" panose="02010600030101010101" pitchFamily="2" charset="-122"/>
                <a:ea typeface="宋体" panose="02010600030101010101" pitchFamily="2" charset="-122"/>
                <a:cs typeface="楷体" panose="02010609060101010101" pitchFamily="49" charset="-122"/>
              </a:rPr>
              <a:t>鲁棒性不佳</a:t>
            </a:r>
            <a:endParaRPr lang="zh-CN" altLang="en-US" dirty="0">
              <a:latin typeface="宋体" panose="02010600030101010101" pitchFamily="2" charset="-122"/>
              <a:ea typeface="宋体" panose="02010600030101010101" pitchFamily="2" charset="-122"/>
            </a:endParaRPr>
          </a:p>
        </p:txBody>
      </p:sp>
      <p:sp>
        <p:nvSpPr>
          <p:cNvPr id="54" name="矩形: 圆角 53">
            <a:extLst>
              <a:ext uri="{FF2B5EF4-FFF2-40B4-BE49-F238E27FC236}">
                <a16:creationId xmlns:a16="http://schemas.microsoft.com/office/drawing/2014/main" id="{57E89D7E-7916-A463-37DC-D94317D83282}"/>
              </a:ext>
            </a:extLst>
          </p:cNvPr>
          <p:cNvSpPr/>
          <p:nvPr/>
        </p:nvSpPr>
        <p:spPr>
          <a:xfrm>
            <a:off x="5528081" y="2812314"/>
            <a:ext cx="1368152"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00" b="1" kern="100" dirty="0">
                <a:effectLst/>
                <a:latin typeface="宋体" panose="02010600030101010101" pitchFamily="2" charset="-122"/>
                <a:ea typeface="宋体" panose="02010600030101010101" pitchFamily="2" charset="-122"/>
                <a:cs typeface="楷体" panose="02010609060101010101" pitchFamily="49" charset="-122"/>
              </a:rPr>
              <a:t>边缘</a:t>
            </a:r>
            <a:r>
              <a:rPr lang="zh-CN" altLang="en-US" b="1" kern="100" dirty="0">
                <a:latin typeface="宋体" panose="02010600030101010101" pitchFamily="2" charset="-122"/>
                <a:ea typeface="宋体" panose="02010600030101010101" pitchFamily="2" charset="-122"/>
                <a:cs typeface="楷体" panose="02010609060101010101" pitchFamily="49" charset="-122"/>
              </a:rPr>
              <a:t>处理</a:t>
            </a:r>
            <a:endParaRPr lang="zh-CN" altLang="en-US" b="1" dirty="0">
              <a:latin typeface="宋体" panose="02010600030101010101" pitchFamily="2" charset="-122"/>
              <a:ea typeface="宋体" panose="02010600030101010101" pitchFamily="2" charset="-122"/>
            </a:endParaRPr>
          </a:p>
        </p:txBody>
      </p:sp>
      <p:sp>
        <p:nvSpPr>
          <p:cNvPr id="55" name="矩形: 圆角 54">
            <a:extLst>
              <a:ext uri="{FF2B5EF4-FFF2-40B4-BE49-F238E27FC236}">
                <a16:creationId xmlns:a16="http://schemas.microsoft.com/office/drawing/2014/main" id="{FA801595-BCD0-0179-8646-52CA8940D853}"/>
              </a:ext>
            </a:extLst>
          </p:cNvPr>
          <p:cNvSpPr/>
          <p:nvPr/>
        </p:nvSpPr>
        <p:spPr>
          <a:xfrm>
            <a:off x="5554886" y="4076575"/>
            <a:ext cx="1368152"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加权融合</a:t>
            </a:r>
          </a:p>
        </p:txBody>
      </p:sp>
      <p:sp>
        <p:nvSpPr>
          <p:cNvPr id="56" name="矩形: 圆角 152">
            <a:extLst>
              <a:ext uri="{FF2B5EF4-FFF2-40B4-BE49-F238E27FC236}">
                <a16:creationId xmlns:a16="http://schemas.microsoft.com/office/drawing/2014/main" id="{6EE49BB1-E838-270E-5D1D-28CD62D5CCF9}"/>
              </a:ext>
            </a:extLst>
          </p:cNvPr>
          <p:cNvSpPr/>
          <p:nvPr/>
        </p:nvSpPr>
        <p:spPr>
          <a:xfrm>
            <a:off x="7042091" y="2790559"/>
            <a:ext cx="1384803" cy="1662603"/>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r>
              <a:rPr lang="zh-CN"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rPr>
              <a:t>在保持特征完整性的同时突出互补信息，提升鲁棒性</a:t>
            </a:r>
            <a:endParaRPr lang="zh-CN" altLang="en-US" dirty="0">
              <a:solidFill>
                <a:schemeClr val="tx1"/>
              </a:solidFill>
              <a:latin typeface="宋体" panose="02010600030101010101" pitchFamily="2" charset="-122"/>
              <a:ea typeface="宋体" panose="02010600030101010101" pitchFamily="2" charset="-122"/>
            </a:endParaRPr>
          </a:p>
        </p:txBody>
      </p:sp>
      <p:sp>
        <p:nvSpPr>
          <p:cNvPr id="58" name="箭头: 右 57">
            <a:extLst>
              <a:ext uri="{FF2B5EF4-FFF2-40B4-BE49-F238E27FC236}">
                <a16:creationId xmlns:a16="http://schemas.microsoft.com/office/drawing/2014/main" id="{31616ED1-F5BA-938C-03D5-F86913CBDDB1}"/>
              </a:ext>
            </a:extLst>
          </p:cNvPr>
          <p:cNvSpPr/>
          <p:nvPr/>
        </p:nvSpPr>
        <p:spPr>
          <a:xfrm>
            <a:off x="4079776" y="5348914"/>
            <a:ext cx="576064" cy="432048"/>
          </a:xfrm>
          <a:prstGeom prst="rightArrow">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a:extLst>
              <a:ext uri="{FF2B5EF4-FFF2-40B4-BE49-F238E27FC236}">
                <a16:creationId xmlns:a16="http://schemas.microsoft.com/office/drawing/2014/main" id="{3F4EBA7A-7BBA-B8AE-BC88-E879D6B2E825}"/>
              </a:ext>
            </a:extLst>
          </p:cNvPr>
          <p:cNvSpPr/>
          <p:nvPr/>
        </p:nvSpPr>
        <p:spPr>
          <a:xfrm>
            <a:off x="4938613" y="4811192"/>
            <a:ext cx="719425" cy="1476164"/>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宋体" panose="02010600030101010101" pitchFamily="2" charset="-122"/>
                <a:ea typeface="宋体" panose="02010600030101010101" pitchFamily="2" charset="-122"/>
              </a:rPr>
              <a:t>Yolo</a:t>
            </a:r>
            <a:r>
              <a:rPr lang="zh-CN" altLang="en-US" b="1" dirty="0">
                <a:latin typeface="宋体" panose="02010600030101010101" pitchFamily="2" charset="-122"/>
                <a:ea typeface="宋体" panose="02010600030101010101" pitchFamily="2" charset="-122"/>
              </a:rPr>
              <a:t>框架</a:t>
            </a:r>
          </a:p>
        </p:txBody>
      </p:sp>
      <p:sp>
        <p:nvSpPr>
          <p:cNvPr id="60" name="左大括号 59">
            <a:extLst>
              <a:ext uri="{FF2B5EF4-FFF2-40B4-BE49-F238E27FC236}">
                <a16:creationId xmlns:a16="http://schemas.microsoft.com/office/drawing/2014/main" id="{548C1F14-F7D7-1B45-B4F9-D01F7A72A661}"/>
              </a:ext>
            </a:extLst>
          </p:cNvPr>
          <p:cNvSpPr/>
          <p:nvPr/>
        </p:nvSpPr>
        <p:spPr>
          <a:xfrm>
            <a:off x="5848862" y="4716074"/>
            <a:ext cx="401831" cy="1571281"/>
          </a:xfrm>
          <a:prstGeom prst="leftBrac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1" name="矩形: 圆角 60">
            <a:extLst>
              <a:ext uri="{FF2B5EF4-FFF2-40B4-BE49-F238E27FC236}">
                <a16:creationId xmlns:a16="http://schemas.microsoft.com/office/drawing/2014/main" id="{4424C248-7353-650C-BFD9-803399F44FE7}"/>
              </a:ext>
            </a:extLst>
          </p:cNvPr>
          <p:cNvSpPr/>
          <p:nvPr/>
        </p:nvSpPr>
        <p:spPr>
          <a:xfrm>
            <a:off x="6533964" y="4696141"/>
            <a:ext cx="1872208"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结构优化</a:t>
            </a:r>
          </a:p>
        </p:txBody>
      </p:sp>
      <p:sp>
        <p:nvSpPr>
          <p:cNvPr id="62" name="矩形: 圆角 61">
            <a:extLst>
              <a:ext uri="{FF2B5EF4-FFF2-40B4-BE49-F238E27FC236}">
                <a16:creationId xmlns:a16="http://schemas.microsoft.com/office/drawing/2014/main" id="{07212B99-C57E-2CCF-CCDB-97D98CA8F934}"/>
              </a:ext>
            </a:extLst>
          </p:cNvPr>
          <p:cNvSpPr/>
          <p:nvPr/>
        </p:nvSpPr>
        <p:spPr>
          <a:xfrm>
            <a:off x="6547821" y="5130395"/>
            <a:ext cx="1872208" cy="339907"/>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图像增强模块</a:t>
            </a:r>
          </a:p>
        </p:txBody>
      </p:sp>
      <p:sp>
        <p:nvSpPr>
          <p:cNvPr id="63" name="矩形: 圆角 62">
            <a:extLst>
              <a:ext uri="{FF2B5EF4-FFF2-40B4-BE49-F238E27FC236}">
                <a16:creationId xmlns:a16="http://schemas.microsoft.com/office/drawing/2014/main" id="{5098B360-DBF4-BA67-8D12-625A0992A2ED}"/>
              </a:ext>
            </a:extLst>
          </p:cNvPr>
          <p:cNvSpPr/>
          <p:nvPr/>
        </p:nvSpPr>
        <p:spPr>
          <a:xfrm>
            <a:off x="6568328" y="5542599"/>
            <a:ext cx="1858566"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宋体" panose="02010600030101010101" pitchFamily="2" charset="-122"/>
                <a:ea typeface="宋体" panose="02010600030101010101" pitchFamily="2" charset="-122"/>
              </a:rPr>
              <a:t>高帧率推理</a:t>
            </a:r>
          </a:p>
        </p:txBody>
      </p:sp>
      <p:sp>
        <p:nvSpPr>
          <p:cNvPr id="66" name="矩形: 圆角 65">
            <a:extLst>
              <a:ext uri="{FF2B5EF4-FFF2-40B4-BE49-F238E27FC236}">
                <a16:creationId xmlns:a16="http://schemas.microsoft.com/office/drawing/2014/main" id="{43B277BC-D69A-43F0-5E6F-C97B1947DA53}"/>
              </a:ext>
            </a:extLst>
          </p:cNvPr>
          <p:cNvSpPr/>
          <p:nvPr/>
        </p:nvSpPr>
        <p:spPr>
          <a:xfrm>
            <a:off x="6554642" y="5971423"/>
            <a:ext cx="1858566" cy="332420"/>
          </a:xfrm>
          <a:prstGeom prst="roundRect">
            <a:avLst/>
          </a:prstGeom>
          <a:solidFill>
            <a:schemeClr val="accent5">
              <a:lumMod val="7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67" name="文本框 66">
            <a:extLst>
              <a:ext uri="{FF2B5EF4-FFF2-40B4-BE49-F238E27FC236}">
                <a16:creationId xmlns:a16="http://schemas.microsoft.com/office/drawing/2014/main" id="{C5EB0930-AF6A-5194-F291-9DFE695E27EF}"/>
              </a:ext>
            </a:extLst>
          </p:cNvPr>
          <p:cNvSpPr txBox="1"/>
          <p:nvPr/>
        </p:nvSpPr>
        <p:spPr>
          <a:xfrm>
            <a:off x="5783498" y="6339624"/>
            <a:ext cx="1107996" cy="369332"/>
          </a:xfrm>
          <a:prstGeom prst="rect">
            <a:avLst/>
          </a:prstGeom>
          <a:noFill/>
        </p:spPr>
        <p:txBody>
          <a:bodyPr wrap="none" rtlCol="0">
            <a:spAutoFit/>
          </a:bodyPr>
          <a:lstStyle/>
          <a:p>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宋体" panose="02010600030101010101" pitchFamily="2" charset="-122"/>
                <a:ea typeface="宋体" panose="02010600030101010101" pitchFamily="2" charset="-122"/>
              </a:rPr>
              <a:t>模型改进</a:t>
            </a:r>
          </a:p>
        </p:txBody>
      </p:sp>
      <p:sp>
        <p:nvSpPr>
          <p:cNvPr id="68" name="右大括号 67">
            <a:extLst>
              <a:ext uri="{FF2B5EF4-FFF2-40B4-BE49-F238E27FC236}">
                <a16:creationId xmlns:a16="http://schemas.microsoft.com/office/drawing/2014/main" id="{7E178115-64C7-65C8-2EE0-59751A21F855}"/>
              </a:ext>
            </a:extLst>
          </p:cNvPr>
          <p:cNvSpPr/>
          <p:nvPr/>
        </p:nvSpPr>
        <p:spPr>
          <a:xfrm>
            <a:off x="8633172" y="1234041"/>
            <a:ext cx="1252884" cy="4640978"/>
          </a:xfrm>
          <a:prstGeom prst="rightBrace">
            <a:avLst>
              <a:gd name="adj1" fmla="val 8333"/>
              <a:gd name="adj2" fmla="val 46740"/>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9" name="组合 68">
            <a:extLst>
              <a:ext uri="{FF2B5EF4-FFF2-40B4-BE49-F238E27FC236}">
                <a16:creationId xmlns:a16="http://schemas.microsoft.com/office/drawing/2014/main" id="{BBDA47BE-9CD1-B502-43D5-6D4EF5B0A2AE}"/>
              </a:ext>
            </a:extLst>
          </p:cNvPr>
          <p:cNvGrpSpPr/>
          <p:nvPr/>
        </p:nvGrpSpPr>
        <p:grpSpPr>
          <a:xfrm>
            <a:off x="9768408" y="992306"/>
            <a:ext cx="2156591" cy="4826911"/>
            <a:chOff x="310530" y="1626982"/>
            <a:chExt cx="5820203" cy="4366827"/>
          </a:xfrm>
        </p:grpSpPr>
        <p:sp>
          <p:nvSpPr>
            <p:cNvPr id="70" name="文本框 69">
              <a:extLst>
                <a:ext uri="{FF2B5EF4-FFF2-40B4-BE49-F238E27FC236}">
                  <a16:creationId xmlns:a16="http://schemas.microsoft.com/office/drawing/2014/main" id="{9C7FF845-4C7A-A05E-7BB3-D4E48A6B988E}"/>
                </a:ext>
              </a:extLst>
            </p:cNvPr>
            <p:cNvSpPr txBox="1"/>
            <p:nvPr/>
          </p:nvSpPr>
          <p:spPr>
            <a:xfrm>
              <a:off x="980120" y="2267746"/>
              <a:ext cx="542683" cy="751789"/>
            </a:xfrm>
            <a:prstGeom prst="rect">
              <a:avLst/>
            </a:prstGeom>
            <a:noFill/>
          </p:spPr>
          <p:txBody>
            <a:bodyPr wrap="none" rtlCol="0">
              <a:spAutoFit/>
            </a:bodyPr>
            <a:lstStyle/>
            <a:p>
              <a:endParaRPr lang="zh-CN" altLang="en-US" sz="4800" spc="600" dirty="0">
                <a:solidFill>
                  <a:schemeClr val="bg1"/>
                </a:solidFill>
                <a:cs typeface="+mn-ea"/>
                <a:sym typeface="+mn-lt"/>
              </a:endParaRPr>
            </a:p>
          </p:txBody>
        </p:sp>
        <p:sp>
          <p:nvSpPr>
            <p:cNvPr id="72" name="矩形: 圆角 71">
              <a:extLst>
                <a:ext uri="{FF2B5EF4-FFF2-40B4-BE49-F238E27FC236}">
                  <a16:creationId xmlns:a16="http://schemas.microsoft.com/office/drawing/2014/main" id="{3F160FE9-9507-B536-E974-289D116A603C}"/>
                </a:ext>
              </a:extLst>
            </p:cNvPr>
            <p:cNvSpPr/>
            <p:nvPr/>
          </p:nvSpPr>
          <p:spPr>
            <a:xfrm>
              <a:off x="310530" y="1626982"/>
              <a:ext cx="5820203" cy="4237676"/>
            </a:xfrm>
            <a:prstGeom prst="roundRect">
              <a:avLst>
                <a:gd name="adj" fmla="val 3675"/>
              </a:avLst>
            </a:prstGeom>
            <a:solidFill>
              <a:schemeClr val="accent1"/>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3" name="矩形: 圆角 72">
              <a:extLst>
                <a:ext uri="{FF2B5EF4-FFF2-40B4-BE49-F238E27FC236}">
                  <a16:creationId xmlns:a16="http://schemas.microsoft.com/office/drawing/2014/main" id="{F76E53D7-61F9-BA89-62FD-EC78A5CFD61E}"/>
                </a:ext>
              </a:extLst>
            </p:cNvPr>
            <p:cNvSpPr/>
            <p:nvPr/>
          </p:nvSpPr>
          <p:spPr>
            <a:xfrm>
              <a:off x="310530" y="1756133"/>
              <a:ext cx="5820203" cy="4237676"/>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rPr>
                <a:t>去烟预处理</a:t>
              </a:r>
              <a:endParaRPr lang="en-US"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rPr>
                <a:t> + </a:t>
              </a:r>
            </a:p>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rPr>
                <a:t>多模态融合</a:t>
              </a:r>
              <a:r>
                <a:rPr lang="en-US"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rPr>
                <a:t> </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rPr>
                <a:t>+ </a:t>
              </a:r>
            </a:p>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rPr>
                <a:t>高效识别</a:t>
              </a:r>
              <a:endParaRPr lang="en-US" altLang="zh-CN" sz="1800" kern="100" dirty="0">
                <a:solidFill>
                  <a:srgbClr val="FF0000"/>
                </a:solidFill>
                <a:effectLst/>
                <a:latin typeface="宋体" panose="02010600030101010101" pitchFamily="2" charset="-122"/>
                <a:ea typeface="宋体" panose="02010600030101010101" pitchFamily="2" charset="-122"/>
                <a:cs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kern="100">
                  <a:solidFill>
                    <a:schemeClr val="tx1"/>
                  </a:solidFill>
                  <a:latin typeface="宋体" panose="02010600030101010101" pitchFamily="2" charset="-122"/>
                  <a:ea typeface="宋体" panose="02010600030101010101" pitchFamily="2" charset="-122"/>
                  <a:cs typeface="楷体" panose="02010609060101010101" pitchFamily="49" charset="-122"/>
                </a:rPr>
                <a:t>三步走</a:t>
              </a:r>
              <a:r>
                <a:rPr lang="zh-CN" altLang="zh-CN" sz="1800" kern="100">
                  <a:solidFill>
                    <a:schemeClr val="tx1"/>
                  </a:solidFill>
                  <a:effectLst/>
                  <a:latin typeface="宋体" panose="02010600030101010101" pitchFamily="2" charset="-122"/>
                  <a:ea typeface="宋体" panose="02010600030101010101" pitchFamily="2" charset="-122"/>
                  <a:cs typeface="楷体" panose="02010609060101010101" pitchFamily="49" charset="-122"/>
                </a:rPr>
                <a:t>架构</a:t>
              </a:r>
              <a:r>
                <a:rPr lang="zh-CN"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rPr>
                <a:t>设计</a:t>
              </a:r>
              <a:endParaRPr lang="en-US"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rPr>
                <a:t>源头控制信息质量</a:t>
              </a:r>
              <a:endParaRPr lang="en-US"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rPr>
                <a:t>逐层精炼图像特征</a:t>
              </a:r>
              <a:endParaRPr lang="en-US"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solidFill>
                    <a:schemeClr val="tx1"/>
                  </a:solidFill>
                  <a:effectLst/>
                  <a:latin typeface="宋体" panose="02010600030101010101" pitchFamily="2" charset="-122"/>
                  <a:ea typeface="宋体" panose="02010600030101010101" pitchFamily="2" charset="-122"/>
                  <a:cs typeface="楷体" panose="02010609060101010101" pitchFamily="49" charset="-122"/>
                </a:rPr>
                <a:t>有效提升检测性能</a:t>
              </a:r>
              <a:endParaRPr kumimoji="0" lang="zh-CN" altLang="en-US"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sym typeface="+mn-lt"/>
              </a:endParaRPr>
            </a:p>
          </p:txBody>
        </p:sp>
      </p:grpSp>
      <p:sp>
        <p:nvSpPr>
          <p:cNvPr id="85" name="椭圆 84">
            <a:extLst>
              <a:ext uri="{FF2B5EF4-FFF2-40B4-BE49-F238E27FC236}">
                <a16:creationId xmlns:a16="http://schemas.microsoft.com/office/drawing/2014/main" id="{07047F4F-3F11-0C42-A36E-0040C1872796}"/>
              </a:ext>
            </a:extLst>
          </p:cNvPr>
          <p:cNvSpPr/>
          <p:nvPr/>
        </p:nvSpPr>
        <p:spPr>
          <a:xfrm>
            <a:off x="9827197" y="4138590"/>
            <a:ext cx="84233" cy="8758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sp>
        <p:nvSpPr>
          <p:cNvPr id="86" name="椭圆 85">
            <a:extLst>
              <a:ext uri="{FF2B5EF4-FFF2-40B4-BE49-F238E27FC236}">
                <a16:creationId xmlns:a16="http://schemas.microsoft.com/office/drawing/2014/main" id="{BBF82E30-647F-ACA6-3D7E-9F376AB0C580}"/>
              </a:ext>
            </a:extLst>
          </p:cNvPr>
          <p:cNvSpPr/>
          <p:nvPr/>
        </p:nvSpPr>
        <p:spPr>
          <a:xfrm>
            <a:off x="9831361" y="4424119"/>
            <a:ext cx="84233" cy="8758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sp>
        <p:nvSpPr>
          <p:cNvPr id="87" name="椭圆 86">
            <a:extLst>
              <a:ext uri="{FF2B5EF4-FFF2-40B4-BE49-F238E27FC236}">
                <a16:creationId xmlns:a16="http://schemas.microsoft.com/office/drawing/2014/main" id="{36D3B0F0-FE49-D7D9-308D-D80741B8E4D2}"/>
              </a:ext>
            </a:extLst>
          </p:cNvPr>
          <p:cNvSpPr/>
          <p:nvPr/>
        </p:nvSpPr>
        <p:spPr>
          <a:xfrm>
            <a:off x="9831361" y="4721756"/>
            <a:ext cx="84233" cy="8758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sp>
        <p:nvSpPr>
          <p:cNvPr id="88" name="文本框 87">
            <a:extLst>
              <a:ext uri="{FF2B5EF4-FFF2-40B4-BE49-F238E27FC236}">
                <a16:creationId xmlns:a16="http://schemas.microsoft.com/office/drawing/2014/main" id="{D4343C4F-EFE3-4F29-663B-7005A5E0F42C}"/>
              </a:ext>
            </a:extLst>
          </p:cNvPr>
          <p:cNvSpPr txBox="1"/>
          <p:nvPr/>
        </p:nvSpPr>
        <p:spPr>
          <a:xfrm>
            <a:off x="10194847" y="6241975"/>
            <a:ext cx="1107996" cy="369332"/>
          </a:xfrm>
          <a:prstGeom prst="rect">
            <a:avLst/>
          </a:prstGeom>
          <a:noFill/>
        </p:spPr>
        <p:txBody>
          <a:bodyPr wrap="none" rtlCol="0">
            <a:spAutoFit/>
          </a:bodyPr>
          <a:lstStyle/>
          <a:p>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宋体" panose="02010600030101010101" pitchFamily="2" charset="-122"/>
                <a:ea typeface="宋体" panose="02010600030101010101" pitchFamily="2" charset="-122"/>
              </a:rPr>
              <a:t>最终模型</a:t>
            </a:r>
          </a:p>
        </p:txBody>
      </p:sp>
      <p:sp>
        <p:nvSpPr>
          <p:cNvPr id="91" name="弧形 90">
            <a:extLst>
              <a:ext uri="{FF2B5EF4-FFF2-40B4-BE49-F238E27FC236}">
                <a16:creationId xmlns:a16="http://schemas.microsoft.com/office/drawing/2014/main" id="{37817D44-B2A8-A456-73BB-4BB712B0BFB8}"/>
              </a:ext>
            </a:extLst>
          </p:cNvPr>
          <p:cNvSpPr/>
          <p:nvPr/>
        </p:nvSpPr>
        <p:spPr>
          <a:xfrm flipH="1" flipV="1">
            <a:off x="9722696" y="5499881"/>
            <a:ext cx="494901" cy="31933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92" name="弧形 91">
            <a:extLst>
              <a:ext uri="{FF2B5EF4-FFF2-40B4-BE49-F238E27FC236}">
                <a16:creationId xmlns:a16="http://schemas.microsoft.com/office/drawing/2014/main" id="{D54D18E3-EBEE-0822-768A-506C79EC37D3}"/>
              </a:ext>
            </a:extLst>
          </p:cNvPr>
          <p:cNvSpPr/>
          <p:nvPr/>
        </p:nvSpPr>
        <p:spPr>
          <a:xfrm flipV="1">
            <a:off x="11424592" y="5474115"/>
            <a:ext cx="546119" cy="400903"/>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Tree>
    <p:extLst>
      <p:ext uri="{BB962C8B-B14F-4D97-AF65-F5344CB8AC3E}">
        <p14:creationId xmlns:p14="http://schemas.microsoft.com/office/powerpoint/2010/main" val="3967047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EEC6AA4-7DF9-924A-56D8-3B754D02E636}"/>
              </a:ext>
            </a:extLst>
          </p:cNvPr>
          <p:cNvGrpSpPr/>
          <p:nvPr/>
        </p:nvGrpSpPr>
        <p:grpSpPr>
          <a:xfrm>
            <a:off x="0" y="1"/>
            <a:ext cx="12192000" cy="725487"/>
            <a:chOff x="0" y="1"/>
            <a:chExt cx="12192000" cy="725487"/>
          </a:xfrm>
        </p:grpSpPr>
        <p:sp>
          <p:nvSpPr>
            <p:cNvPr id="3" name="矩形 2">
              <a:extLst>
                <a:ext uri="{FF2B5EF4-FFF2-40B4-BE49-F238E27FC236}">
                  <a16:creationId xmlns:a16="http://schemas.microsoft.com/office/drawing/2014/main" id="{DF4C32E7-6C69-6BD7-FBC0-451E1C5227B4}"/>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6E275BA8-F41C-CD85-0A49-51A1BF5E5152}"/>
                </a:ext>
              </a:extLst>
            </p:cNvPr>
            <p:cNvGrpSpPr/>
            <p:nvPr/>
          </p:nvGrpSpPr>
          <p:grpSpPr>
            <a:xfrm>
              <a:off x="5566401" y="159473"/>
              <a:ext cx="6316088" cy="369332"/>
              <a:chOff x="5223501" y="299173"/>
              <a:chExt cx="6316088" cy="369332"/>
            </a:xfrm>
          </p:grpSpPr>
          <p:sp>
            <p:nvSpPr>
              <p:cNvPr id="6" name="文本框 5">
                <a:extLst>
                  <a:ext uri="{FF2B5EF4-FFF2-40B4-BE49-F238E27FC236}">
                    <a16:creationId xmlns:a16="http://schemas.microsoft.com/office/drawing/2014/main" id="{0BD528C1-5246-BEF6-E639-9C2C0B884B87}"/>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a:extLst>
                  <a:ext uri="{FF2B5EF4-FFF2-40B4-BE49-F238E27FC236}">
                    <a16:creationId xmlns:a16="http://schemas.microsoft.com/office/drawing/2014/main" id="{773772CB-941D-AA9F-1A1D-E3673BF96D88}"/>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8" name="文本框 7">
                <a:extLst>
                  <a:ext uri="{FF2B5EF4-FFF2-40B4-BE49-F238E27FC236}">
                    <a16:creationId xmlns:a16="http://schemas.microsoft.com/office/drawing/2014/main" id="{37E3367F-3494-EFBD-E3C6-6B7735E323CF}"/>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9" name="文本框 8">
                <a:extLst>
                  <a:ext uri="{FF2B5EF4-FFF2-40B4-BE49-F238E27FC236}">
                    <a16:creationId xmlns:a16="http://schemas.microsoft.com/office/drawing/2014/main" id="{CC6BD0E2-D299-0A27-5A12-880526BC6444}"/>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10" name="直接连接符 9">
                <a:extLst>
                  <a:ext uri="{FF2B5EF4-FFF2-40B4-BE49-F238E27FC236}">
                    <a16:creationId xmlns:a16="http://schemas.microsoft.com/office/drawing/2014/main" id="{50D09B7C-347A-0237-82F0-F517BC946A2A}"/>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A79AA2B-F68C-B3C3-5201-80DD8C9387DE}"/>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E0775F7-0DC9-48FF-AEF7-E41F4AFB8B70}"/>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等腰三角形 4">
              <a:extLst>
                <a:ext uri="{FF2B5EF4-FFF2-40B4-BE49-F238E27FC236}">
                  <a16:creationId xmlns:a16="http://schemas.microsoft.com/office/drawing/2014/main" id="{A24F46F8-2C19-4F85-6980-413D83EC544D}"/>
                </a:ext>
              </a:extLst>
            </p:cNvPr>
            <p:cNvSpPr/>
            <p:nvPr/>
          </p:nvSpPr>
          <p:spPr>
            <a:xfrm>
              <a:off x="9192344" y="576262"/>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8" name="图片 27">
            <a:extLst>
              <a:ext uri="{FF2B5EF4-FFF2-40B4-BE49-F238E27FC236}">
                <a16:creationId xmlns:a16="http://schemas.microsoft.com/office/drawing/2014/main" id="{E043D4DF-DD82-E7FA-C847-2B6285BD9D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3627" y="2276872"/>
            <a:ext cx="5855021" cy="4421655"/>
          </a:xfrm>
          <a:prstGeom prst="rect">
            <a:avLst/>
          </a:prstGeom>
        </p:spPr>
      </p:pic>
      <p:pic>
        <p:nvPicPr>
          <p:cNvPr id="30" name="图片 29">
            <a:extLst>
              <a:ext uri="{FF2B5EF4-FFF2-40B4-BE49-F238E27FC236}">
                <a16:creationId xmlns:a16="http://schemas.microsoft.com/office/drawing/2014/main" id="{42E18F4E-DDF1-DF0F-0A21-A5D4AB02C6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3351" y="980728"/>
            <a:ext cx="4968552" cy="2143125"/>
          </a:xfrm>
          <a:prstGeom prst="rect">
            <a:avLst/>
          </a:prstGeom>
        </p:spPr>
      </p:pic>
      <p:sp>
        <p:nvSpPr>
          <p:cNvPr id="17" name="箭头: 右 16">
            <a:extLst>
              <a:ext uri="{FF2B5EF4-FFF2-40B4-BE49-F238E27FC236}">
                <a16:creationId xmlns:a16="http://schemas.microsoft.com/office/drawing/2014/main" id="{59027759-2819-0947-E1CA-3BADFEB85A74}"/>
              </a:ext>
            </a:extLst>
          </p:cNvPr>
          <p:cNvSpPr/>
          <p:nvPr/>
        </p:nvSpPr>
        <p:spPr>
          <a:xfrm rot="1977705">
            <a:off x="5289656" y="2399026"/>
            <a:ext cx="767807" cy="360040"/>
          </a:xfrm>
          <a:prstGeom prst="rightArrow">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5F177781-28BB-7A98-D598-64FDBDBE42A4}"/>
              </a:ext>
            </a:extLst>
          </p:cNvPr>
          <p:cNvGrpSpPr/>
          <p:nvPr/>
        </p:nvGrpSpPr>
        <p:grpSpPr>
          <a:xfrm>
            <a:off x="623392" y="3573016"/>
            <a:ext cx="4281170" cy="3024336"/>
            <a:chOff x="1774" y="4546"/>
            <a:chExt cx="5361" cy="5037"/>
          </a:xfrm>
        </p:grpSpPr>
        <p:sp>
          <p:nvSpPr>
            <p:cNvPr id="25" name="矩形: 圆角 152">
              <a:extLst>
                <a:ext uri="{FF2B5EF4-FFF2-40B4-BE49-F238E27FC236}">
                  <a16:creationId xmlns:a16="http://schemas.microsoft.com/office/drawing/2014/main" id="{4F35F73D-9DE4-3FA2-1294-AA0AFE09BCCE}"/>
                </a:ext>
              </a:extLst>
            </p:cNvPr>
            <p:cNvSpPr/>
            <p:nvPr/>
          </p:nvSpPr>
          <p:spPr>
            <a:xfrm>
              <a:off x="1775" y="4546"/>
              <a:ext cx="5360" cy="5023"/>
            </a:xfrm>
            <a:prstGeom prst="roundRect">
              <a:avLst>
                <a:gd name="adj" fmla="val 8361"/>
              </a:avLst>
            </a:prstGeom>
            <a:solidFill>
              <a:schemeClr val="bg1"/>
            </a:solidFill>
            <a:ln w="22225">
              <a:noFill/>
            </a:ln>
            <a:effectLst>
              <a:glow rad="203200">
                <a:srgbClr val="093BA2">
                  <a:alpha val="11000"/>
                </a:srgbClr>
              </a:glow>
              <a:outerShdw blurRad="50800" dist="38100" dir="5400000" algn="ctr"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26" name="弧形 25">
              <a:extLst>
                <a:ext uri="{FF2B5EF4-FFF2-40B4-BE49-F238E27FC236}">
                  <a16:creationId xmlns:a16="http://schemas.microsoft.com/office/drawing/2014/main" id="{185515E1-3329-2DC8-FED6-D6CC387E15CB}"/>
                </a:ext>
              </a:extLst>
            </p:cNvPr>
            <p:cNvSpPr/>
            <p:nvPr/>
          </p:nvSpPr>
          <p:spPr>
            <a:xfrm flipH="1" flipV="1">
              <a:off x="1774" y="8678"/>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27" name="弧形 26">
              <a:extLst>
                <a:ext uri="{FF2B5EF4-FFF2-40B4-BE49-F238E27FC236}">
                  <a16:creationId xmlns:a16="http://schemas.microsoft.com/office/drawing/2014/main" id="{8FA4DA64-3001-AD0C-6541-27941925FC29}"/>
                </a:ext>
              </a:extLst>
            </p:cNvPr>
            <p:cNvSpPr/>
            <p:nvPr/>
          </p:nvSpPr>
          <p:spPr>
            <a:xfrm flipV="1">
              <a:off x="6341" y="8687"/>
              <a:ext cx="794" cy="896"/>
            </a:xfrm>
            <a:prstGeom prst="arc">
              <a:avLst>
                <a:gd name="adj1" fmla="val 16454462"/>
                <a:gd name="adj2" fmla="val 0"/>
              </a:avLst>
            </a:prstGeom>
            <a:ln w="539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grpSp>
      <p:sp>
        <p:nvSpPr>
          <p:cNvPr id="29" name="文本框 28">
            <a:extLst>
              <a:ext uri="{FF2B5EF4-FFF2-40B4-BE49-F238E27FC236}">
                <a16:creationId xmlns:a16="http://schemas.microsoft.com/office/drawing/2014/main" id="{B4742665-F6AE-143D-4520-607BFA2C8DFC}"/>
              </a:ext>
            </a:extLst>
          </p:cNvPr>
          <p:cNvSpPr txBox="1"/>
          <p:nvPr>
            <p:custDataLst>
              <p:tags r:id="rId1"/>
            </p:custDataLst>
          </p:nvPr>
        </p:nvSpPr>
        <p:spPr>
          <a:xfrm>
            <a:off x="623392" y="4307309"/>
            <a:ext cx="4280371" cy="1710148"/>
          </a:xfrm>
          <a:prstGeom prst="rect">
            <a:avLst/>
          </a:prstGeom>
          <a:noFill/>
        </p:spPr>
        <p:txBody>
          <a:bodyPr wrap="square" rtlCol="0">
            <a:spAutoFit/>
          </a:bodyPr>
          <a:lstStyle/>
          <a:p>
            <a:pPr lvl="0" algn="ctr">
              <a:lnSpc>
                <a:spcPct val="120000"/>
              </a:lnSpc>
              <a:spcBef>
                <a:spcPts val="0"/>
              </a:spcBef>
              <a:spcAft>
                <a:spcPts val="0"/>
              </a:spcAft>
            </a:pPr>
            <a:r>
              <a:rPr lang="en-US" altLang="zh-CN" dirty="0">
                <a:latin typeface="宋体" panose="02010600030101010101" pitchFamily="2" charset="-122"/>
                <a:ea typeface="宋体" panose="02010600030101010101" pitchFamily="2" charset="-122"/>
                <a:cs typeface="OPPOSans R" panose="00020600040101010101" pitchFamily="18" charset="-122"/>
                <a:sym typeface="+mn-ea"/>
              </a:rPr>
              <a:t>Stage1</a:t>
            </a:r>
            <a:r>
              <a:rPr lang="zh-CN" altLang="en-US" dirty="0">
                <a:latin typeface="宋体" panose="02010600030101010101" pitchFamily="2" charset="-122"/>
                <a:ea typeface="宋体" panose="02010600030101010101" pitchFamily="2" charset="-122"/>
                <a:cs typeface="OPPOSans R" panose="00020600040101010101" pitchFamily="18" charset="-122"/>
                <a:sym typeface="+mn-ea"/>
              </a:rPr>
              <a:t>：</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利用训练好的</a:t>
            </a:r>
            <a:r>
              <a:rPr lang="en-US" altLang="zh-CN" sz="1800" dirty="0">
                <a:effectLst/>
                <a:latin typeface="宋体" panose="02010600030101010101" pitchFamily="2" charset="-122"/>
                <a:ea typeface="宋体" panose="02010600030101010101" pitchFamily="2" charset="-122"/>
                <a:cs typeface="楷体" panose="02010609060101010101" pitchFamily="49" charset="-122"/>
              </a:rPr>
              <a:t>GAN</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网络来生成去烟后的图片</a:t>
            </a:r>
            <a:endParaRPr lang="en-US" altLang="zh-CN" sz="1800" dirty="0">
              <a:effectLst/>
              <a:latin typeface="宋体" panose="02010600030101010101" pitchFamily="2" charset="-122"/>
              <a:ea typeface="宋体" panose="02010600030101010101" pitchFamily="2" charset="-122"/>
              <a:cs typeface="楷体" panose="02010609060101010101" pitchFamily="49" charset="-122"/>
            </a:endParaRPr>
          </a:p>
          <a:p>
            <a:pPr lvl="0" algn="ctr">
              <a:lnSpc>
                <a:spcPct val="120000"/>
              </a:lnSpc>
              <a:spcBef>
                <a:spcPts val="0"/>
              </a:spcBef>
              <a:spcAft>
                <a:spcPts val="0"/>
              </a:spcAft>
            </a:pPr>
            <a:r>
              <a:rPr lang="en-US" altLang="zh-CN" dirty="0">
                <a:latin typeface="宋体" panose="02010600030101010101" pitchFamily="2" charset="-122"/>
                <a:ea typeface="宋体" panose="02010600030101010101" pitchFamily="2" charset="-122"/>
                <a:cs typeface="OPPOSans R" panose="00020600040101010101" pitchFamily="18" charset="-122"/>
                <a:sym typeface="+mn-ea"/>
              </a:rPr>
              <a:t>Stage2</a:t>
            </a:r>
            <a:r>
              <a:rPr lang="zh-CN" altLang="en-US" dirty="0">
                <a:latin typeface="宋体" panose="02010600030101010101" pitchFamily="2" charset="-122"/>
                <a:ea typeface="宋体" panose="02010600030101010101" pitchFamily="2" charset="-122"/>
                <a:cs typeface="OPPOSans R" panose="00020600040101010101" pitchFamily="18" charset="-122"/>
                <a:sym typeface="+mn-ea"/>
              </a:rPr>
              <a:t>：</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将两张图片输入到融合模块中，充分利用多模态优势，生成单一模态的融合图片，最终输入到人体识别主干网</a:t>
            </a:r>
            <a:endParaRPr lang="zh-CN" altLang="en-US" dirty="0">
              <a:latin typeface="宋体" panose="02010600030101010101" pitchFamily="2" charset="-122"/>
              <a:ea typeface="宋体" panose="02010600030101010101" pitchFamily="2" charset="-122"/>
              <a:cs typeface="OPPOSans R" panose="00020600040101010101" pitchFamily="18" charset="-122"/>
              <a:sym typeface="+mn-ea"/>
            </a:endParaRPr>
          </a:p>
        </p:txBody>
      </p:sp>
      <p:sp>
        <p:nvSpPr>
          <p:cNvPr id="31" name="圆角矩形 17">
            <a:extLst>
              <a:ext uri="{FF2B5EF4-FFF2-40B4-BE49-F238E27FC236}">
                <a16:creationId xmlns:a16="http://schemas.microsoft.com/office/drawing/2014/main" id="{31D9E0A6-56BC-706E-C153-B1FCA3662A50}"/>
              </a:ext>
            </a:extLst>
          </p:cNvPr>
          <p:cNvSpPr/>
          <p:nvPr>
            <p:custDataLst>
              <p:tags r:id="rId2"/>
            </p:custDataLst>
          </p:nvPr>
        </p:nvSpPr>
        <p:spPr>
          <a:xfrm>
            <a:off x="980897" y="3299331"/>
            <a:ext cx="3566160" cy="500380"/>
          </a:xfrm>
          <a:prstGeom prst="roundRect">
            <a:avLst/>
          </a:prstGeom>
          <a:solidFill>
            <a:srgbClr val="2E54A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kumimoji="1" lang="zh-CN" altLang="en-US" sz="1400" b="1" dirty="0">
              <a:solidFill>
                <a:schemeClr val="bg1"/>
              </a:solidFill>
              <a:effectLst/>
              <a:latin typeface="方正公文黑体" panose="02000500000000000000" charset="-122"/>
              <a:ea typeface="方正公文黑体" panose="02000500000000000000" charset="-122"/>
              <a:cs typeface="汉仪雅酷黑W" panose="00020600040101010101" charset="-122"/>
              <a:sym typeface="+mn-ea"/>
            </a:endParaRPr>
          </a:p>
        </p:txBody>
      </p:sp>
      <p:sp>
        <p:nvSpPr>
          <p:cNvPr id="32" name="内容占位符 3">
            <a:extLst>
              <a:ext uri="{FF2B5EF4-FFF2-40B4-BE49-F238E27FC236}">
                <a16:creationId xmlns:a16="http://schemas.microsoft.com/office/drawing/2014/main" id="{9F5732E0-1C58-ED7C-7432-308144EFA053}"/>
              </a:ext>
            </a:extLst>
          </p:cNvPr>
          <p:cNvSpPr>
            <a:spLocks noGrp="1"/>
          </p:cNvSpPr>
          <p:nvPr/>
        </p:nvSpPr>
        <p:spPr>
          <a:xfrm>
            <a:off x="431940" y="3322191"/>
            <a:ext cx="4664075" cy="454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Aft>
                <a:spcPts val="0"/>
              </a:spcAft>
              <a:buNone/>
            </a:pPr>
            <a:r>
              <a:rPr lang="zh-CN" altLang="en-US" sz="2200" dirty="0">
                <a:solidFill>
                  <a:schemeClr val="bg1"/>
                </a:solidFill>
                <a:effectLst>
                  <a:innerShdw blurRad="12700" dist="50800" dir="13500000">
                    <a:srgbClr val="050505">
                      <a:alpha val="50000"/>
                    </a:srgbClr>
                  </a:innerShdw>
                </a:effectLst>
                <a:latin typeface="方正公文小标宋" panose="02000500000000000000" charset="-122"/>
                <a:ea typeface="方正公文小标宋" panose="02000500000000000000" charset="-122"/>
                <a:cs typeface="方正公文小标宋" panose="02000500000000000000" charset="-122"/>
                <a:sym typeface="+mn-ea"/>
              </a:rPr>
              <a:t>总体框架</a:t>
            </a:r>
            <a:endParaRPr lang="zh-CN" altLang="en-US" sz="2200" dirty="0">
              <a:solidFill>
                <a:schemeClr val="bg1"/>
              </a:solidFill>
              <a:effectLst>
                <a:innerShdw blurRad="12700" dist="50800" dir="13500000">
                  <a:srgbClr val="050505">
                    <a:alpha val="50000"/>
                  </a:srgbClr>
                </a:innerShdw>
              </a:effectLst>
              <a:latin typeface="方正公文小标宋" panose="02000500000000000000" charset="-122"/>
              <a:ea typeface="方正公文小标宋" panose="02000500000000000000" charset="-122"/>
              <a:cs typeface="方正公文小标宋" panose="02000500000000000000" charset="-122"/>
            </a:endParaRPr>
          </a:p>
        </p:txBody>
      </p:sp>
    </p:spTree>
    <p:extLst>
      <p:ext uri="{BB962C8B-B14F-4D97-AF65-F5344CB8AC3E}">
        <p14:creationId xmlns:p14="http://schemas.microsoft.com/office/powerpoint/2010/main" val="2154886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74635-69CD-6AE4-D15A-5F4D2A4ED92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878C318-65EC-B2FF-FE22-1A65AF4A73C3}"/>
              </a:ext>
            </a:extLst>
          </p:cNvPr>
          <p:cNvGrpSpPr/>
          <p:nvPr/>
        </p:nvGrpSpPr>
        <p:grpSpPr>
          <a:xfrm>
            <a:off x="0" y="1"/>
            <a:ext cx="12192000" cy="725487"/>
            <a:chOff x="0" y="1"/>
            <a:chExt cx="12192000" cy="725487"/>
          </a:xfrm>
        </p:grpSpPr>
        <p:sp>
          <p:nvSpPr>
            <p:cNvPr id="3" name="矩形 2">
              <a:extLst>
                <a:ext uri="{FF2B5EF4-FFF2-40B4-BE49-F238E27FC236}">
                  <a16:creationId xmlns:a16="http://schemas.microsoft.com/office/drawing/2014/main" id="{B08B8C9C-799D-898E-E7AE-90C3E500C1E3}"/>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9B9AB168-3F4E-BE9D-C159-89DC96FEE5EA}"/>
                </a:ext>
              </a:extLst>
            </p:cNvPr>
            <p:cNvGrpSpPr/>
            <p:nvPr/>
          </p:nvGrpSpPr>
          <p:grpSpPr>
            <a:xfrm>
              <a:off x="5566401" y="159473"/>
              <a:ext cx="6316088" cy="369332"/>
              <a:chOff x="5223501" y="299173"/>
              <a:chExt cx="6316088" cy="369332"/>
            </a:xfrm>
          </p:grpSpPr>
          <p:sp>
            <p:nvSpPr>
              <p:cNvPr id="6" name="文本框 5">
                <a:extLst>
                  <a:ext uri="{FF2B5EF4-FFF2-40B4-BE49-F238E27FC236}">
                    <a16:creationId xmlns:a16="http://schemas.microsoft.com/office/drawing/2014/main" id="{D8F9FC1C-AB75-D2D6-22C6-55C0024FFEF6}"/>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a:extLst>
                  <a:ext uri="{FF2B5EF4-FFF2-40B4-BE49-F238E27FC236}">
                    <a16:creationId xmlns:a16="http://schemas.microsoft.com/office/drawing/2014/main" id="{A6B568A5-365A-45FD-97B5-0618069FD88B}"/>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8" name="文本框 7">
                <a:extLst>
                  <a:ext uri="{FF2B5EF4-FFF2-40B4-BE49-F238E27FC236}">
                    <a16:creationId xmlns:a16="http://schemas.microsoft.com/office/drawing/2014/main" id="{FA59AF31-0D62-A153-DB9B-ACC704A2B278}"/>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9" name="文本框 8">
                <a:extLst>
                  <a:ext uri="{FF2B5EF4-FFF2-40B4-BE49-F238E27FC236}">
                    <a16:creationId xmlns:a16="http://schemas.microsoft.com/office/drawing/2014/main" id="{4CBEC55B-7AA6-B2EE-99AD-E8E2D9E9CF57}"/>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10" name="直接连接符 9">
                <a:extLst>
                  <a:ext uri="{FF2B5EF4-FFF2-40B4-BE49-F238E27FC236}">
                    <a16:creationId xmlns:a16="http://schemas.microsoft.com/office/drawing/2014/main" id="{9F17BEDC-4123-EC6A-3A88-20CD21FF04E7}"/>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BF32B44-9A68-EAC6-D735-D941DD76757A}"/>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92D0609-53F5-7F93-E7B9-98BD34ED4A16}"/>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等腰三角形 4">
              <a:extLst>
                <a:ext uri="{FF2B5EF4-FFF2-40B4-BE49-F238E27FC236}">
                  <a16:creationId xmlns:a16="http://schemas.microsoft.com/office/drawing/2014/main" id="{70D7A2F6-B533-201C-F154-9E5BF0BDA68E}"/>
                </a:ext>
              </a:extLst>
            </p:cNvPr>
            <p:cNvSpPr/>
            <p:nvPr/>
          </p:nvSpPr>
          <p:spPr>
            <a:xfrm>
              <a:off x="9192344" y="576262"/>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BEF20F78-1352-AD80-CDCF-900B18759DC2}"/>
              </a:ext>
            </a:extLst>
          </p:cNvPr>
          <p:cNvGrpSpPr/>
          <p:nvPr/>
        </p:nvGrpSpPr>
        <p:grpSpPr>
          <a:xfrm>
            <a:off x="263352" y="908720"/>
            <a:ext cx="1546893" cy="461665"/>
            <a:chOff x="934400" y="936575"/>
            <a:chExt cx="1546893" cy="461665"/>
          </a:xfrm>
        </p:grpSpPr>
        <p:sp>
          <p:nvSpPr>
            <p:cNvPr id="14" name="文本框 13">
              <a:extLst>
                <a:ext uri="{FF2B5EF4-FFF2-40B4-BE49-F238E27FC236}">
                  <a16:creationId xmlns:a16="http://schemas.microsoft.com/office/drawing/2014/main" id="{A648622E-0AD5-912B-2846-BE5AAD8BE964}"/>
                </a:ext>
              </a:extLst>
            </p:cNvPr>
            <p:cNvSpPr txBox="1"/>
            <p:nvPr/>
          </p:nvSpPr>
          <p:spPr>
            <a:xfrm>
              <a:off x="1065521" y="936575"/>
              <a:ext cx="1415772" cy="461665"/>
            </a:xfrm>
            <a:prstGeom prst="rect">
              <a:avLst/>
            </a:prstGeom>
            <a:noFill/>
          </p:spPr>
          <p:txBody>
            <a:bodyPr wrap="none" rtlCol="0">
              <a:spAutoFit/>
            </a:bodyPr>
            <a:lstStyle/>
            <a:p>
              <a:r>
                <a:rPr lang="zh-CN" altLang="en-US" sz="2400" dirty="0">
                  <a:solidFill>
                    <a:srgbClr val="0E419C"/>
                  </a:solidFill>
                </a:rPr>
                <a:t>去烟算法</a:t>
              </a:r>
            </a:p>
          </p:txBody>
        </p:sp>
        <p:sp>
          <p:nvSpPr>
            <p:cNvPr id="15" name="矩形 14">
              <a:extLst>
                <a:ext uri="{FF2B5EF4-FFF2-40B4-BE49-F238E27FC236}">
                  <a16:creationId xmlns:a16="http://schemas.microsoft.com/office/drawing/2014/main" id="{C63C25E6-27EC-BF26-1349-99B3792C75DF}"/>
                </a:ext>
              </a:extLst>
            </p:cNvPr>
            <p:cNvSpPr/>
            <p:nvPr/>
          </p:nvSpPr>
          <p:spPr>
            <a:xfrm>
              <a:off x="934400" y="963997"/>
              <a:ext cx="45719" cy="371466"/>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a:extLst>
              <a:ext uri="{FF2B5EF4-FFF2-40B4-BE49-F238E27FC236}">
                <a16:creationId xmlns:a16="http://schemas.microsoft.com/office/drawing/2014/main" id="{D59A7940-1F55-8868-FD9C-D1DAE2410F74}"/>
              </a:ext>
            </a:extLst>
          </p:cNvPr>
          <p:cNvPicPr>
            <a:picLocks noChangeAspect="1"/>
          </p:cNvPicPr>
          <p:nvPr/>
        </p:nvPicPr>
        <p:blipFill>
          <a:blip r:embed="rId5"/>
          <a:stretch>
            <a:fillRect/>
          </a:stretch>
        </p:blipFill>
        <p:spPr>
          <a:xfrm>
            <a:off x="297108" y="1671855"/>
            <a:ext cx="5079969" cy="2190005"/>
          </a:xfrm>
          <a:prstGeom prst="rect">
            <a:avLst/>
          </a:prstGeom>
        </p:spPr>
      </p:pic>
      <p:sp>
        <p:nvSpPr>
          <p:cNvPr id="18" name="矩形 17">
            <a:extLst>
              <a:ext uri="{FF2B5EF4-FFF2-40B4-BE49-F238E27FC236}">
                <a16:creationId xmlns:a16="http://schemas.microsoft.com/office/drawing/2014/main" id="{EFCD26B5-2AAA-E42D-9E11-E572E5295E77}"/>
              </a:ext>
            </a:extLst>
          </p:cNvPr>
          <p:cNvSpPr/>
          <p:nvPr>
            <p:custDataLst>
              <p:tags r:id="rId1"/>
            </p:custDataLst>
          </p:nvPr>
        </p:nvSpPr>
        <p:spPr>
          <a:xfrm>
            <a:off x="309071" y="3846924"/>
            <a:ext cx="5079969" cy="470763"/>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ym typeface="+mn-ea"/>
            </a:endParaRPr>
          </a:p>
        </p:txBody>
      </p:sp>
      <p:sp>
        <p:nvSpPr>
          <p:cNvPr id="22" name="文本框 21">
            <a:extLst>
              <a:ext uri="{FF2B5EF4-FFF2-40B4-BE49-F238E27FC236}">
                <a16:creationId xmlns:a16="http://schemas.microsoft.com/office/drawing/2014/main" id="{C0E14C91-8E85-5814-A9FD-FB22E9BC47DE}"/>
              </a:ext>
            </a:extLst>
          </p:cNvPr>
          <p:cNvSpPr txBox="1"/>
          <p:nvPr/>
        </p:nvSpPr>
        <p:spPr>
          <a:xfrm>
            <a:off x="813659" y="3882915"/>
            <a:ext cx="3954703" cy="398780"/>
          </a:xfrm>
          <a:prstGeom prst="rect">
            <a:avLst/>
          </a:prstGeom>
          <a:noFill/>
        </p:spPr>
        <p:txBody>
          <a:bodyPr wrap="square" rtlCol="0">
            <a:spAutoFit/>
          </a:bodyPr>
          <a:lstStyle/>
          <a:p>
            <a:pPr algn="ctr"/>
            <a:r>
              <a:rPr kumimoji="1" lang="zh-CN" altLang="en-US" sz="20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去烟算法框架</a:t>
            </a:r>
          </a:p>
        </p:txBody>
      </p:sp>
      <p:sp>
        <p:nvSpPr>
          <p:cNvPr id="23" name="矩形 22">
            <a:extLst>
              <a:ext uri="{FF2B5EF4-FFF2-40B4-BE49-F238E27FC236}">
                <a16:creationId xmlns:a16="http://schemas.microsoft.com/office/drawing/2014/main" id="{B7EDFD6B-E7E1-37AD-F57D-11003648678F}"/>
              </a:ext>
            </a:extLst>
          </p:cNvPr>
          <p:cNvSpPr/>
          <p:nvPr/>
        </p:nvSpPr>
        <p:spPr>
          <a:xfrm>
            <a:off x="1775520" y="1734632"/>
            <a:ext cx="504056" cy="96992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2" name="图片 51">
            <a:extLst>
              <a:ext uri="{FF2B5EF4-FFF2-40B4-BE49-F238E27FC236}">
                <a16:creationId xmlns:a16="http://schemas.microsoft.com/office/drawing/2014/main" id="{E1F0E5C5-9BB4-05F2-9685-0177379CB5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9377" y="4447078"/>
            <a:ext cx="4805538" cy="1777048"/>
          </a:xfrm>
          <a:prstGeom prst="rect">
            <a:avLst/>
          </a:prstGeom>
        </p:spPr>
      </p:pic>
      <p:sp>
        <p:nvSpPr>
          <p:cNvPr id="53" name="矩形 52">
            <a:extLst>
              <a:ext uri="{FF2B5EF4-FFF2-40B4-BE49-F238E27FC236}">
                <a16:creationId xmlns:a16="http://schemas.microsoft.com/office/drawing/2014/main" id="{B1D39023-D54D-D82A-0E2E-5666317674D0}"/>
              </a:ext>
            </a:extLst>
          </p:cNvPr>
          <p:cNvSpPr/>
          <p:nvPr>
            <p:custDataLst>
              <p:tags r:id="rId2"/>
            </p:custDataLst>
          </p:nvPr>
        </p:nvSpPr>
        <p:spPr>
          <a:xfrm>
            <a:off x="6322251" y="3281075"/>
            <a:ext cx="5139770" cy="476250"/>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ym typeface="+mn-ea"/>
            </a:endParaRPr>
          </a:p>
        </p:txBody>
      </p:sp>
      <p:sp>
        <p:nvSpPr>
          <p:cNvPr id="54" name="文本框 53">
            <a:extLst>
              <a:ext uri="{FF2B5EF4-FFF2-40B4-BE49-F238E27FC236}">
                <a16:creationId xmlns:a16="http://schemas.microsoft.com/office/drawing/2014/main" id="{26B40689-11EF-0DF6-5E46-603E058E65EF}"/>
              </a:ext>
            </a:extLst>
          </p:cNvPr>
          <p:cNvSpPr txBox="1"/>
          <p:nvPr/>
        </p:nvSpPr>
        <p:spPr>
          <a:xfrm>
            <a:off x="6929382" y="3370839"/>
            <a:ext cx="3925508" cy="398780"/>
          </a:xfrm>
          <a:prstGeom prst="rect">
            <a:avLst/>
          </a:prstGeom>
          <a:noFill/>
        </p:spPr>
        <p:txBody>
          <a:bodyPr wrap="square" rtlCol="0">
            <a:spAutoFit/>
          </a:bodyPr>
          <a:lstStyle/>
          <a:p>
            <a:pPr algn="ctr"/>
            <a:r>
              <a:rPr kumimoji="1" lang="zh-CN" altLang="en-US" sz="20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生成器架构</a:t>
            </a:r>
          </a:p>
        </p:txBody>
      </p:sp>
      <p:pic>
        <p:nvPicPr>
          <p:cNvPr id="64" name="图片 63">
            <a:extLst>
              <a:ext uri="{FF2B5EF4-FFF2-40B4-BE49-F238E27FC236}">
                <a16:creationId xmlns:a16="http://schemas.microsoft.com/office/drawing/2014/main" id="{E2EB2808-ADBF-34C5-853D-6EB2B7F134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22251" y="1671855"/>
            <a:ext cx="5139770" cy="1597255"/>
          </a:xfrm>
          <a:prstGeom prst="rect">
            <a:avLst/>
          </a:prstGeom>
        </p:spPr>
      </p:pic>
      <p:sp>
        <p:nvSpPr>
          <p:cNvPr id="65" name="矩形 64">
            <a:extLst>
              <a:ext uri="{FF2B5EF4-FFF2-40B4-BE49-F238E27FC236}">
                <a16:creationId xmlns:a16="http://schemas.microsoft.com/office/drawing/2014/main" id="{35B5F0CF-C92F-3DE8-2382-A2C59962095F}"/>
              </a:ext>
            </a:extLst>
          </p:cNvPr>
          <p:cNvSpPr/>
          <p:nvPr>
            <p:custDataLst>
              <p:tags r:id="rId3"/>
            </p:custDataLst>
          </p:nvPr>
        </p:nvSpPr>
        <p:spPr>
          <a:xfrm>
            <a:off x="479377" y="6224126"/>
            <a:ext cx="4805538" cy="438409"/>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ym typeface="+mn-ea"/>
            </a:endParaRPr>
          </a:p>
        </p:txBody>
      </p:sp>
      <p:sp>
        <p:nvSpPr>
          <p:cNvPr id="66" name="文本框 65">
            <a:extLst>
              <a:ext uri="{FF2B5EF4-FFF2-40B4-BE49-F238E27FC236}">
                <a16:creationId xmlns:a16="http://schemas.microsoft.com/office/drawing/2014/main" id="{10FD8A94-DD95-E19E-F65D-134FEB7DF22B}"/>
              </a:ext>
            </a:extLst>
          </p:cNvPr>
          <p:cNvSpPr txBox="1"/>
          <p:nvPr/>
        </p:nvSpPr>
        <p:spPr>
          <a:xfrm>
            <a:off x="919392" y="6224126"/>
            <a:ext cx="3925508" cy="398780"/>
          </a:xfrm>
          <a:prstGeom prst="rect">
            <a:avLst/>
          </a:prstGeom>
          <a:noFill/>
        </p:spPr>
        <p:txBody>
          <a:bodyPr wrap="square" rtlCol="0">
            <a:spAutoFit/>
          </a:bodyPr>
          <a:lstStyle/>
          <a:p>
            <a:pPr algn="ctr"/>
            <a:r>
              <a:rPr kumimoji="1" lang="zh-CN" altLang="en-US" sz="20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判别器架构</a:t>
            </a:r>
          </a:p>
        </p:txBody>
      </p:sp>
      <p:sp>
        <p:nvSpPr>
          <p:cNvPr id="67" name="矩形 66">
            <a:extLst>
              <a:ext uri="{FF2B5EF4-FFF2-40B4-BE49-F238E27FC236}">
                <a16:creationId xmlns:a16="http://schemas.microsoft.com/office/drawing/2014/main" id="{2D914D46-EB25-EF90-E48E-4D06EE21EF4B}"/>
              </a:ext>
            </a:extLst>
          </p:cNvPr>
          <p:cNvSpPr/>
          <p:nvPr/>
        </p:nvSpPr>
        <p:spPr>
          <a:xfrm>
            <a:off x="4570350" y="2239685"/>
            <a:ext cx="549100" cy="96992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a:extLst>
              <a:ext uri="{FF2B5EF4-FFF2-40B4-BE49-F238E27FC236}">
                <a16:creationId xmlns:a16="http://schemas.microsoft.com/office/drawing/2014/main" id="{CB30FB32-993C-4775-7649-55D570B53B70}"/>
              </a:ext>
            </a:extLst>
          </p:cNvPr>
          <p:cNvCxnSpPr>
            <a:cxnSpLocks/>
          </p:cNvCxnSpPr>
          <p:nvPr/>
        </p:nvCxnSpPr>
        <p:spPr>
          <a:xfrm>
            <a:off x="2279576" y="2132856"/>
            <a:ext cx="396044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50968C1-3E92-DB3F-010A-797F208BE787}"/>
              </a:ext>
            </a:extLst>
          </p:cNvPr>
          <p:cNvCxnSpPr/>
          <p:nvPr/>
        </p:nvCxnSpPr>
        <p:spPr>
          <a:xfrm>
            <a:off x="4844900" y="3269110"/>
            <a:ext cx="0" cy="11779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2D1D1A62-63E2-2208-1D13-DC6AF22D70DD}"/>
              </a:ext>
            </a:extLst>
          </p:cNvPr>
          <p:cNvSpPr/>
          <p:nvPr/>
        </p:nvSpPr>
        <p:spPr>
          <a:xfrm>
            <a:off x="6240016" y="4199551"/>
            <a:ext cx="5222003" cy="889650"/>
          </a:xfrm>
          <a:prstGeom prst="roundRect">
            <a:avLst/>
          </a:prstGeom>
          <a:noFill/>
          <a:ln w="28575">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F7484694-E208-CC2B-9444-6192EAE691BE}"/>
              </a:ext>
            </a:extLst>
          </p:cNvPr>
          <p:cNvSpPr txBox="1"/>
          <p:nvPr/>
        </p:nvSpPr>
        <p:spPr>
          <a:xfrm>
            <a:off x="6636059" y="4321210"/>
            <a:ext cx="4435127" cy="646331"/>
          </a:xfrm>
          <a:prstGeom prst="rect">
            <a:avLst/>
          </a:prstGeom>
          <a:noFill/>
        </p:spPr>
        <p:txBody>
          <a:bodyPr wrap="square" rtlCol="0">
            <a:spAutoFit/>
          </a:bodyPr>
          <a:lstStyle/>
          <a:p>
            <a:pPr algn="ctr"/>
            <a:r>
              <a:rPr lang="zh-CN" altLang="zh-CN" sz="1800" dirty="0">
                <a:effectLst/>
                <a:latin typeface="宋体" panose="02010600030101010101" pitchFamily="2" charset="-122"/>
                <a:ea typeface="宋体" panose="02010600030101010101" pitchFamily="2" charset="-122"/>
                <a:cs typeface="楷体" panose="02010609060101010101" pitchFamily="49" charset="-122"/>
              </a:rPr>
              <a:t>生成器希望生成</a:t>
            </a:r>
            <a:r>
              <a:rPr lang="zh-CN" altLang="zh-CN" sz="1800">
                <a:effectLst/>
                <a:latin typeface="宋体" panose="02010600030101010101" pitchFamily="2" charset="-122"/>
                <a:ea typeface="宋体" panose="02010600030101010101" pitchFamily="2" charset="-122"/>
                <a:cs typeface="楷体" panose="02010609060101010101" pitchFamily="49" charset="-122"/>
              </a:rPr>
              <a:t>的图片</a:t>
            </a:r>
            <a:r>
              <a:rPr lang="zh-CN" altLang="en-US" sz="1800">
                <a:effectLst/>
                <a:latin typeface="宋体" panose="02010600030101010101" pitchFamily="2" charset="-122"/>
                <a:ea typeface="宋体" panose="02010600030101010101" pitchFamily="2" charset="-122"/>
                <a:cs typeface="楷体" panose="02010609060101010101" pitchFamily="49" charset="-122"/>
              </a:rPr>
              <a:t>尽</a:t>
            </a:r>
            <a:r>
              <a:rPr lang="zh-CN" altLang="zh-CN" sz="1800">
                <a:effectLst/>
                <a:latin typeface="宋体" panose="02010600030101010101" pitchFamily="2" charset="-122"/>
                <a:ea typeface="宋体" panose="02010600030101010101" pitchFamily="2" charset="-122"/>
                <a:cs typeface="楷体" panose="02010609060101010101" pitchFamily="49" charset="-122"/>
              </a:rPr>
              <a:t>可能</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与真实去烟图片相似以此来骗过判别器</a:t>
            </a:r>
            <a:endParaRPr lang="zh-CN" altLang="en-US" dirty="0">
              <a:latin typeface="宋体" panose="02010600030101010101" pitchFamily="2" charset="-122"/>
              <a:ea typeface="宋体" panose="02010600030101010101" pitchFamily="2" charset="-122"/>
            </a:endParaRPr>
          </a:p>
        </p:txBody>
      </p:sp>
      <p:sp>
        <p:nvSpPr>
          <p:cNvPr id="35" name="矩形: 圆角 34">
            <a:extLst>
              <a:ext uri="{FF2B5EF4-FFF2-40B4-BE49-F238E27FC236}">
                <a16:creationId xmlns:a16="http://schemas.microsoft.com/office/drawing/2014/main" id="{BD0E8535-3276-EB13-57D4-C1C12FA8F802}"/>
              </a:ext>
            </a:extLst>
          </p:cNvPr>
          <p:cNvSpPr/>
          <p:nvPr/>
        </p:nvSpPr>
        <p:spPr>
          <a:xfrm>
            <a:off x="6240016" y="5574817"/>
            <a:ext cx="5222003" cy="889650"/>
          </a:xfrm>
          <a:prstGeom prst="roundRect">
            <a:avLst/>
          </a:prstGeom>
          <a:noFill/>
          <a:ln w="28575">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A5230C59-9A00-9505-DB05-3A07D6E1D9EF}"/>
              </a:ext>
            </a:extLst>
          </p:cNvPr>
          <p:cNvSpPr txBox="1"/>
          <p:nvPr/>
        </p:nvSpPr>
        <p:spPr>
          <a:xfrm>
            <a:off x="6636059" y="5696476"/>
            <a:ext cx="4435127" cy="646331"/>
          </a:xfrm>
          <a:prstGeom prst="rect">
            <a:avLst/>
          </a:prstGeom>
          <a:noFill/>
        </p:spPr>
        <p:txBody>
          <a:bodyPr wrap="square" rtlCol="0">
            <a:spAutoFit/>
          </a:bodyPr>
          <a:lstStyle/>
          <a:p>
            <a:pPr algn="ctr"/>
            <a:r>
              <a:rPr lang="zh-CN" altLang="zh-CN" sz="1800" dirty="0">
                <a:effectLst/>
                <a:latin typeface="宋体" panose="02010600030101010101" pitchFamily="2" charset="-122"/>
                <a:ea typeface="宋体" panose="02010600030101010101" pitchFamily="2" charset="-122"/>
                <a:cs typeface="楷体" panose="02010609060101010101" pitchFamily="49" charset="-122"/>
              </a:rPr>
              <a:t>判别器则希望找出其中的</a:t>
            </a:r>
            <a:r>
              <a:rPr lang="en-US" altLang="zh-CN" sz="1800" dirty="0">
                <a:effectLst/>
                <a:latin typeface="宋体" panose="02010600030101010101" pitchFamily="2" charset="-122"/>
                <a:ea typeface="宋体" panose="02010600030101010101" pitchFamily="2" charset="-122"/>
                <a:cs typeface="楷体" panose="02010609060101010101" pitchFamily="49" charset="-122"/>
              </a:rPr>
              <a:t>fake image</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与</a:t>
            </a:r>
            <a:endParaRPr lang="en-US" altLang="zh-CN" sz="1800" dirty="0">
              <a:effectLst/>
              <a:latin typeface="宋体" panose="02010600030101010101" pitchFamily="2" charset="-122"/>
              <a:ea typeface="宋体" panose="02010600030101010101" pitchFamily="2" charset="-122"/>
              <a:cs typeface="楷体" panose="02010609060101010101" pitchFamily="49" charset="-122"/>
            </a:endParaRPr>
          </a:p>
          <a:p>
            <a:pPr algn="ctr"/>
            <a:r>
              <a:rPr lang="en-US" altLang="zh-CN" sz="1800" dirty="0">
                <a:effectLst/>
                <a:latin typeface="宋体" panose="02010600030101010101" pitchFamily="2" charset="-122"/>
                <a:ea typeface="宋体" panose="02010600030101010101" pitchFamily="2" charset="-122"/>
                <a:cs typeface="楷体" panose="02010609060101010101" pitchFamily="49" charset="-122"/>
              </a:rPr>
              <a:t>real image </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的区别</a:t>
            </a:r>
            <a:endParaRPr lang="zh-CN" altLang="en-US" dirty="0">
              <a:latin typeface="宋体" panose="02010600030101010101" pitchFamily="2" charset="-122"/>
              <a:ea typeface="宋体" panose="02010600030101010101" pitchFamily="2" charset="-122"/>
            </a:endParaRPr>
          </a:p>
        </p:txBody>
      </p:sp>
      <p:pic>
        <p:nvPicPr>
          <p:cNvPr id="20" name="图片 19">
            <a:extLst>
              <a:ext uri="{FF2B5EF4-FFF2-40B4-BE49-F238E27FC236}">
                <a16:creationId xmlns:a16="http://schemas.microsoft.com/office/drawing/2014/main" id="{D7FCFD17-7A32-4386-A88F-D0610579C1E7}"/>
              </a:ext>
            </a:extLst>
          </p:cNvPr>
          <p:cNvPicPr>
            <a:picLocks noChangeAspect="1"/>
          </p:cNvPicPr>
          <p:nvPr/>
        </p:nvPicPr>
        <p:blipFill>
          <a:blip r:embed="rId8"/>
          <a:stretch>
            <a:fillRect/>
          </a:stretch>
        </p:blipFill>
        <p:spPr>
          <a:xfrm>
            <a:off x="1895647" y="744673"/>
            <a:ext cx="3047263" cy="792714"/>
          </a:xfrm>
          <a:prstGeom prst="rect">
            <a:avLst/>
          </a:prstGeom>
        </p:spPr>
      </p:pic>
      <p:pic>
        <p:nvPicPr>
          <p:cNvPr id="25" name="图片 24">
            <a:extLst>
              <a:ext uri="{FF2B5EF4-FFF2-40B4-BE49-F238E27FC236}">
                <a16:creationId xmlns:a16="http://schemas.microsoft.com/office/drawing/2014/main" id="{069093CF-427D-4830-8348-C762D72165FF}"/>
              </a:ext>
            </a:extLst>
          </p:cNvPr>
          <p:cNvPicPr>
            <a:picLocks noChangeAspect="1"/>
          </p:cNvPicPr>
          <p:nvPr/>
        </p:nvPicPr>
        <p:blipFill>
          <a:blip r:embed="rId9"/>
          <a:stretch>
            <a:fillRect/>
          </a:stretch>
        </p:blipFill>
        <p:spPr>
          <a:xfrm>
            <a:off x="4663526" y="986084"/>
            <a:ext cx="3317449" cy="497039"/>
          </a:xfrm>
          <a:prstGeom prst="rect">
            <a:avLst/>
          </a:prstGeom>
        </p:spPr>
      </p:pic>
      <p:pic>
        <p:nvPicPr>
          <p:cNvPr id="27" name="图片 26">
            <a:extLst>
              <a:ext uri="{FF2B5EF4-FFF2-40B4-BE49-F238E27FC236}">
                <a16:creationId xmlns:a16="http://schemas.microsoft.com/office/drawing/2014/main" id="{18C49E54-2DC2-4ACF-BB1B-B51AE1FCCD20}"/>
              </a:ext>
            </a:extLst>
          </p:cNvPr>
          <p:cNvPicPr>
            <a:picLocks noChangeAspect="1"/>
          </p:cNvPicPr>
          <p:nvPr/>
        </p:nvPicPr>
        <p:blipFill>
          <a:blip r:embed="rId10"/>
          <a:stretch>
            <a:fillRect/>
          </a:stretch>
        </p:blipFill>
        <p:spPr>
          <a:xfrm>
            <a:off x="8297528" y="772534"/>
            <a:ext cx="2608219" cy="907405"/>
          </a:xfrm>
          <a:prstGeom prst="rect">
            <a:avLst/>
          </a:prstGeom>
        </p:spPr>
      </p:pic>
    </p:spTree>
    <p:extLst>
      <p:ext uri="{BB962C8B-B14F-4D97-AF65-F5344CB8AC3E}">
        <p14:creationId xmlns:p14="http://schemas.microsoft.com/office/powerpoint/2010/main" val="663672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additive="base">
                                        <p:cTn id="11" dur="500" fill="hold"/>
                                        <p:tgtEl>
                                          <p:spTgt spid="64"/>
                                        </p:tgtEl>
                                        <p:attrNameLst>
                                          <p:attrName>ppt_x</p:attrName>
                                        </p:attrNameLst>
                                      </p:cBhvr>
                                      <p:tavLst>
                                        <p:tav tm="0">
                                          <p:val>
                                            <p:strVal val="#ppt_x"/>
                                          </p:val>
                                        </p:tav>
                                        <p:tav tm="100000">
                                          <p:val>
                                            <p:strVal val="#ppt_x"/>
                                          </p:val>
                                        </p:tav>
                                      </p:tavLst>
                                    </p:anim>
                                    <p:anim calcmode="lin" valueType="num">
                                      <p:cBhvr additive="base">
                                        <p:cTn id="12" dur="500" fill="hold"/>
                                        <p:tgtEl>
                                          <p:spTgt spid="6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500" fill="hold"/>
                                        <p:tgtEl>
                                          <p:spTgt spid="32"/>
                                        </p:tgtEl>
                                        <p:attrNameLst>
                                          <p:attrName>ppt_x</p:attrName>
                                        </p:attrNameLst>
                                      </p:cBhvr>
                                      <p:tavLst>
                                        <p:tav tm="0">
                                          <p:val>
                                            <p:strVal val="#ppt_x"/>
                                          </p:val>
                                        </p:tav>
                                        <p:tav tm="100000">
                                          <p:val>
                                            <p:strVal val="#ppt_x"/>
                                          </p:val>
                                        </p:tav>
                                      </p:tavLst>
                                    </p:anim>
                                    <p:anim calcmode="lin" valueType="num">
                                      <p:cBhvr additive="base">
                                        <p:cTn id="24" dur="500" fill="hold"/>
                                        <p:tgtEl>
                                          <p:spTgt spid="3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 calcmode="lin" valueType="num">
                                      <p:cBhvr additive="base">
                                        <p:cTn id="27" dur="500" fill="hold"/>
                                        <p:tgtEl>
                                          <p:spTgt spid="33"/>
                                        </p:tgtEl>
                                        <p:attrNameLst>
                                          <p:attrName>ppt_x</p:attrName>
                                        </p:attrNameLst>
                                      </p:cBhvr>
                                      <p:tavLst>
                                        <p:tav tm="0">
                                          <p:val>
                                            <p:strVal val="#ppt_x"/>
                                          </p:val>
                                        </p:tav>
                                        <p:tav tm="100000">
                                          <p:val>
                                            <p:strVal val="#ppt_x"/>
                                          </p:val>
                                        </p:tav>
                                      </p:tavLst>
                                    </p:anim>
                                    <p:anim calcmode="lin" valueType="num">
                                      <p:cBhvr additive="base">
                                        <p:cTn id="2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anim calcmode="lin" valueType="num">
                                      <p:cBhvr additive="base">
                                        <p:cTn id="37" dur="500" fill="hold"/>
                                        <p:tgtEl>
                                          <p:spTgt spid="52"/>
                                        </p:tgtEl>
                                        <p:attrNameLst>
                                          <p:attrName>ppt_x</p:attrName>
                                        </p:attrNameLst>
                                      </p:cBhvr>
                                      <p:tavLst>
                                        <p:tav tm="0">
                                          <p:val>
                                            <p:strVal val="#ppt_x"/>
                                          </p:val>
                                        </p:tav>
                                        <p:tav tm="100000">
                                          <p:val>
                                            <p:strVal val="#ppt_x"/>
                                          </p:val>
                                        </p:tav>
                                      </p:tavLst>
                                    </p:anim>
                                    <p:anim calcmode="lin" valueType="num">
                                      <p:cBhvr additive="base">
                                        <p:cTn id="38" dur="500" fill="hold"/>
                                        <p:tgtEl>
                                          <p:spTgt spid="5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anim calcmode="lin" valueType="num">
                                      <p:cBhvr additive="base">
                                        <p:cTn id="41" dur="500" fill="hold"/>
                                        <p:tgtEl>
                                          <p:spTgt spid="65"/>
                                        </p:tgtEl>
                                        <p:attrNameLst>
                                          <p:attrName>ppt_x</p:attrName>
                                        </p:attrNameLst>
                                      </p:cBhvr>
                                      <p:tavLst>
                                        <p:tav tm="0">
                                          <p:val>
                                            <p:strVal val="#ppt_x"/>
                                          </p:val>
                                        </p:tav>
                                        <p:tav tm="100000">
                                          <p:val>
                                            <p:strVal val="#ppt_x"/>
                                          </p:val>
                                        </p:tav>
                                      </p:tavLst>
                                    </p:anim>
                                    <p:anim calcmode="lin" valueType="num">
                                      <p:cBhvr additive="base">
                                        <p:cTn id="42" dur="500" fill="hold"/>
                                        <p:tgtEl>
                                          <p:spTgt spid="6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anim calcmode="lin" valueType="num">
                                      <p:cBhvr additive="base">
                                        <p:cTn id="45" dur="500" fill="hold"/>
                                        <p:tgtEl>
                                          <p:spTgt spid="66"/>
                                        </p:tgtEl>
                                        <p:attrNameLst>
                                          <p:attrName>ppt_x</p:attrName>
                                        </p:attrNameLst>
                                      </p:cBhvr>
                                      <p:tavLst>
                                        <p:tav tm="0">
                                          <p:val>
                                            <p:strVal val="#ppt_x"/>
                                          </p:val>
                                        </p:tav>
                                        <p:tav tm="100000">
                                          <p:val>
                                            <p:strVal val="#ppt_x"/>
                                          </p:val>
                                        </p:tav>
                                      </p:tavLst>
                                    </p:anim>
                                    <p:anim calcmode="lin" valueType="num">
                                      <p:cBhvr additive="base">
                                        <p:cTn id="46" dur="500" fill="hold"/>
                                        <p:tgtEl>
                                          <p:spTgt spid="6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 calcmode="lin" valueType="num">
                                      <p:cBhvr additive="base">
                                        <p:cTn id="49" dur="500" fill="hold"/>
                                        <p:tgtEl>
                                          <p:spTgt spid="35"/>
                                        </p:tgtEl>
                                        <p:attrNameLst>
                                          <p:attrName>ppt_x</p:attrName>
                                        </p:attrNameLst>
                                      </p:cBhvr>
                                      <p:tavLst>
                                        <p:tav tm="0">
                                          <p:val>
                                            <p:strVal val="#ppt_x"/>
                                          </p:val>
                                        </p:tav>
                                        <p:tav tm="100000">
                                          <p:val>
                                            <p:strVal val="#ppt_x"/>
                                          </p:val>
                                        </p:tav>
                                      </p:tavLst>
                                    </p:anim>
                                    <p:anim calcmode="lin" valueType="num">
                                      <p:cBhvr additive="base">
                                        <p:cTn id="50" dur="500" fill="hold"/>
                                        <p:tgtEl>
                                          <p:spTgt spid="3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additive="base">
                                        <p:cTn id="53" dur="500" fill="hold"/>
                                        <p:tgtEl>
                                          <p:spTgt spid="36"/>
                                        </p:tgtEl>
                                        <p:attrNameLst>
                                          <p:attrName>ppt_x</p:attrName>
                                        </p:attrNameLst>
                                      </p:cBhvr>
                                      <p:tavLst>
                                        <p:tav tm="0">
                                          <p:val>
                                            <p:strVal val="#ppt_x"/>
                                          </p:val>
                                        </p:tav>
                                        <p:tav tm="100000">
                                          <p:val>
                                            <p:strVal val="#ppt_x"/>
                                          </p:val>
                                        </p:tav>
                                      </p:tavLst>
                                    </p:anim>
                                    <p:anim calcmode="lin" valueType="num">
                                      <p:cBhvr additive="base">
                                        <p:cTn id="5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p:bldP spid="65" grpId="0" animBg="1"/>
      <p:bldP spid="66" grpId="0"/>
      <p:bldP spid="32" grpId="0" animBg="1"/>
      <p:bldP spid="33" grpId="0"/>
      <p:bldP spid="35" grpId="0" animBg="1"/>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F56A5-14BF-EE25-7225-44516671C7B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B734F4C-69E9-42F9-7E7C-27A670E933E9}"/>
              </a:ext>
            </a:extLst>
          </p:cNvPr>
          <p:cNvGrpSpPr/>
          <p:nvPr/>
        </p:nvGrpSpPr>
        <p:grpSpPr>
          <a:xfrm>
            <a:off x="0" y="1"/>
            <a:ext cx="12192000" cy="725487"/>
            <a:chOff x="0" y="1"/>
            <a:chExt cx="12192000" cy="725487"/>
          </a:xfrm>
        </p:grpSpPr>
        <p:sp>
          <p:nvSpPr>
            <p:cNvPr id="3" name="矩形 2">
              <a:extLst>
                <a:ext uri="{FF2B5EF4-FFF2-40B4-BE49-F238E27FC236}">
                  <a16:creationId xmlns:a16="http://schemas.microsoft.com/office/drawing/2014/main" id="{33FE3533-2CD9-E891-A71B-550EEB4A3EFC}"/>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6256737E-D771-9CFE-7470-A5AB0E61C9CC}"/>
                </a:ext>
              </a:extLst>
            </p:cNvPr>
            <p:cNvGrpSpPr/>
            <p:nvPr/>
          </p:nvGrpSpPr>
          <p:grpSpPr>
            <a:xfrm>
              <a:off x="5566401" y="159473"/>
              <a:ext cx="6316088" cy="369332"/>
              <a:chOff x="5223501" y="299173"/>
              <a:chExt cx="6316088" cy="369332"/>
            </a:xfrm>
          </p:grpSpPr>
          <p:sp>
            <p:nvSpPr>
              <p:cNvPr id="6" name="文本框 5">
                <a:extLst>
                  <a:ext uri="{FF2B5EF4-FFF2-40B4-BE49-F238E27FC236}">
                    <a16:creationId xmlns:a16="http://schemas.microsoft.com/office/drawing/2014/main" id="{D12D0016-99DE-741D-D12E-3F37A97BC2CD}"/>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a:extLst>
                  <a:ext uri="{FF2B5EF4-FFF2-40B4-BE49-F238E27FC236}">
                    <a16:creationId xmlns:a16="http://schemas.microsoft.com/office/drawing/2014/main" id="{FA27D01F-0558-D5C4-BFBE-9C07475555E2}"/>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8" name="文本框 7">
                <a:extLst>
                  <a:ext uri="{FF2B5EF4-FFF2-40B4-BE49-F238E27FC236}">
                    <a16:creationId xmlns:a16="http://schemas.microsoft.com/office/drawing/2014/main" id="{2010A892-C155-44D1-BAAC-BF40773589BC}"/>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9" name="文本框 8">
                <a:extLst>
                  <a:ext uri="{FF2B5EF4-FFF2-40B4-BE49-F238E27FC236}">
                    <a16:creationId xmlns:a16="http://schemas.microsoft.com/office/drawing/2014/main" id="{23E252A0-A328-6F36-E7FD-0BF7210797A5}"/>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10" name="直接连接符 9">
                <a:extLst>
                  <a:ext uri="{FF2B5EF4-FFF2-40B4-BE49-F238E27FC236}">
                    <a16:creationId xmlns:a16="http://schemas.microsoft.com/office/drawing/2014/main" id="{B88AEF62-6996-F1A0-E5C8-0640B77DF5D5}"/>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413C185A-69D2-5B5E-C42F-CAFB14754428}"/>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917D496-736C-627F-7D8F-35883DE05880}"/>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等腰三角形 4">
              <a:extLst>
                <a:ext uri="{FF2B5EF4-FFF2-40B4-BE49-F238E27FC236}">
                  <a16:creationId xmlns:a16="http://schemas.microsoft.com/office/drawing/2014/main" id="{F421A38E-CA4A-FCED-F382-980FC635FB16}"/>
                </a:ext>
              </a:extLst>
            </p:cNvPr>
            <p:cNvSpPr/>
            <p:nvPr/>
          </p:nvSpPr>
          <p:spPr>
            <a:xfrm>
              <a:off x="9192344" y="576262"/>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26D4E357-638A-9717-7675-94A392D4E250}"/>
              </a:ext>
            </a:extLst>
          </p:cNvPr>
          <p:cNvGrpSpPr/>
          <p:nvPr/>
        </p:nvGrpSpPr>
        <p:grpSpPr>
          <a:xfrm>
            <a:off x="263352" y="908720"/>
            <a:ext cx="2470223" cy="461665"/>
            <a:chOff x="934400" y="936575"/>
            <a:chExt cx="2470223" cy="461665"/>
          </a:xfrm>
        </p:grpSpPr>
        <p:sp>
          <p:nvSpPr>
            <p:cNvPr id="14" name="文本框 13">
              <a:extLst>
                <a:ext uri="{FF2B5EF4-FFF2-40B4-BE49-F238E27FC236}">
                  <a16:creationId xmlns:a16="http://schemas.microsoft.com/office/drawing/2014/main" id="{A57C7520-DE62-58A2-C5B4-B55955EF0DA7}"/>
                </a:ext>
              </a:extLst>
            </p:cNvPr>
            <p:cNvSpPr txBox="1"/>
            <p:nvPr/>
          </p:nvSpPr>
          <p:spPr>
            <a:xfrm>
              <a:off x="1065521" y="936575"/>
              <a:ext cx="2339102" cy="461665"/>
            </a:xfrm>
            <a:prstGeom prst="rect">
              <a:avLst/>
            </a:prstGeom>
            <a:noFill/>
          </p:spPr>
          <p:txBody>
            <a:bodyPr wrap="none" rtlCol="0">
              <a:spAutoFit/>
            </a:bodyPr>
            <a:lstStyle/>
            <a:p>
              <a:r>
                <a:rPr lang="zh-CN" altLang="en-US" sz="2400">
                  <a:solidFill>
                    <a:srgbClr val="0E419C"/>
                  </a:solidFill>
                </a:rPr>
                <a:t>双模态融合策略</a:t>
              </a:r>
              <a:endParaRPr lang="zh-CN" altLang="en-US" sz="2400" dirty="0">
                <a:solidFill>
                  <a:srgbClr val="0E419C"/>
                </a:solidFill>
              </a:endParaRPr>
            </a:p>
          </p:txBody>
        </p:sp>
        <p:sp>
          <p:nvSpPr>
            <p:cNvPr id="15" name="矩形 14">
              <a:extLst>
                <a:ext uri="{FF2B5EF4-FFF2-40B4-BE49-F238E27FC236}">
                  <a16:creationId xmlns:a16="http://schemas.microsoft.com/office/drawing/2014/main" id="{17262AA8-6F7B-BF9C-1D7D-9C9FD1B679C2}"/>
                </a:ext>
              </a:extLst>
            </p:cNvPr>
            <p:cNvSpPr/>
            <p:nvPr/>
          </p:nvSpPr>
          <p:spPr>
            <a:xfrm>
              <a:off x="934400" y="963997"/>
              <a:ext cx="45719" cy="371466"/>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Rectangle 2">
            <a:extLst>
              <a:ext uri="{FF2B5EF4-FFF2-40B4-BE49-F238E27FC236}">
                <a16:creationId xmlns:a16="http://schemas.microsoft.com/office/drawing/2014/main" id="{933185CE-0E77-6EC6-9E86-B21A2693A26E}"/>
              </a:ext>
            </a:extLst>
          </p:cNvPr>
          <p:cNvSpPr>
            <a:spLocks noChangeArrowheads="1"/>
          </p:cNvSpPr>
          <p:nvPr/>
        </p:nvSpPr>
        <p:spPr bwMode="auto">
          <a:xfrm>
            <a:off x="309071" y="177281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4">
            <a:extLst>
              <a:ext uri="{FF2B5EF4-FFF2-40B4-BE49-F238E27FC236}">
                <a16:creationId xmlns:a16="http://schemas.microsoft.com/office/drawing/2014/main" id="{BAA57424-96EE-BB22-8934-7C5365A5AF90}"/>
              </a:ext>
            </a:extLst>
          </p:cNvPr>
          <p:cNvSpPr>
            <a:spLocks noChangeArrowheads="1"/>
          </p:cNvSpPr>
          <p:nvPr/>
        </p:nvSpPr>
        <p:spPr bwMode="auto">
          <a:xfrm>
            <a:off x="284624" y="2060848"/>
            <a:ext cx="1297336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9" name="对象 18">
            <a:extLst>
              <a:ext uri="{FF2B5EF4-FFF2-40B4-BE49-F238E27FC236}">
                <a16:creationId xmlns:a16="http://schemas.microsoft.com/office/drawing/2014/main" id="{962803D9-AFEA-5779-D685-3EB36ABF977B}"/>
              </a:ext>
            </a:extLst>
          </p:cNvPr>
          <p:cNvGraphicFramePr>
            <a:graphicFrameLocks noChangeAspect="1"/>
          </p:cNvGraphicFramePr>
          <p:nvPr>
            <p:extLst>
              <p:ext uri="{D42A27DB-BD31-4B8C-83A1-F6EECF244321}">
                <p14:modId xmlns:p14="http://schemas.microsoft.com/office/powerpoint/2010/main" val="3135560791"/>
              </p:ext>
            </p:extLst>
          </p:nvPr>
        </p:nvGraphicFramePr>
        <p:xfrm>
          <a:off x="309071" y="2032633"/>
          <a:ext cx="7394104" cy="3600397"/>
        </p:xfrm>
        <a:graphic>
          <a:graphicData uri="http://schemas.openxmlformats.org/presentationml/2006/ole">
            <mc:AlternateContent xmlns:mc="http://schemas.openxmlformats.org/markup-compatibility/2006">
              <mc:Choice xmlns:v="urn:schemas-microsoft-com:vml" Requires="v">
                <p:oleObj spid="_x0000_s1036" r:id="rId3" imgW="14153940" imgH="6572211" progId="Visio.Drawing.15">
                  <p:embed/>
                </p:oleObj>
              </mc:Choice>
              <mc:Fallback>
                <p:oleObj r:id="rId3" imgW="14153940" imgH="6572211" progId="Visio.Drawing.1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r="4568"/>
                      <a:stretch>
                        <a:fillRect/>
                      </a:stretch>
                    </p:blipFill>
                    <p:spPr bwMode="auto">
                      <a:xfrm>
                        <a:off x="309071" y="2032633"/>
                        <a:ext cx="7394104" cy="3600397"/>
                      </a:xfrm>
                      <a:prstGeom prst="rect">
                        <a:avLst/>
                      </a:prstGeom>
                      <a:noFill/>
                    </p:spPr>
                  </p:pic>
                </p:oleObj>
              </mc:Fallback>
            </mc:AlternateContent>
          </a:graphicData>
        </a:graphic>
      </p:graphicFrame>
      <p:cxnSp>
        <p:nvCxnSpPr>
          <p:cNvPr id="20" name="直接连接符 19">
            <a:extLst>
              <a:ext uri="{FF2B5EF4-FFF2-40B4-BE49-F238E27FC236}">
                <a16:creationId xmlns:a16="http://schemas.microsoft.com/office/drawing/2014/main" id="{E8F6E646-B753-107A-11B5-4EE7B1D0C487}"/>
              </a:ext>
            </a:extLst>
          </p:cNvPr>
          <p:cNvCxnSpPr/>
          <p:nvPr/>
        </p:nvCxnSpPr>
        <p:spPr>
          <a:xfrm>
            <a:off x="8323190" y="2092144"/>
            <a:ext cx="0" cy="3804306"/>
          </a:xfrm>
          <a:prstGeom prst="line">
            <a:avLst/>
          </a:prstGeom>
          <a:ln w="19050">
            <a:gradFill>
              <a:gsLst>
                <a:gs pos="100000">
                  <a:schemeClr val="tx1">
                    <a:alpha val="0"/>
                  </a:schemeClr>
                </a:gs>
                <a:gs pos="0">
                  <a:schemeClr val="tx1"/>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1B50544-A865-0B83-3CCD-FD958F1185C8}"/>
              </a:ext>
            </a:extLst>
          </p:cNvPr>
          <p:cNvGrpSpPr/>
          <p:nvPr/>
        </p:nvGrpSpPr>
        <p:grpSpPr>
          <a:xfrm>
            <a:off x="8216935" y="1919467"/>
            <a:ext cx="212510" cy="212510"/>
            <a:chOff x="1007133" y="1965171"/>
            <a:chExt cx="212510" cy="212510"/>
          </a:xfrm>
        </p:grpSpPr>
        <p:sp>
          <p:nvSpPr>
            <p:cNvPr id="22" name="椭圆 21">
              <a:extLst>
                <a:ext uri="{FF2B5EF4-FFF2-40B4-BE49-F238E27FC236}">
                  <a16:creationId xmlns:a16="http://schemas.microsoft.com/office/drawing/2014/main" id="{F91C028D-2FC9-6F9C-3D0B-A9A0340C9B7D}"/>
                </a:ext>
              </a:extLst>
            </p:cNvPr>
            <p:cNvSpPr/>
            <p:nvPr/>
          </p:nvSpPr>
          <p:spPr>
            <a:xfrm>
              <a:off x="1021172" y="1979210"/>
              <a:ext cx="184432" cy="184432"/>
            </a:xfrm>
            <a:prstGeom prst="ellipse">
              <a:avLst/>
            </a:prstGeom>
            <a:noFill/>
            <a:ln>
              <a:solidFill>
                <a:srgbClr val="FB5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椭圆 22">
              <a:extLst>
                <a:ext uri="{FF2B5EF4-FFF2-40B4-BE49-F238E27FC236}">
                  <a16:creationId xmlns:a16="http://schemas.microsoft.com/office/drawing/2014/main" id="{BD74C864-02F5-4EAE-D602-49EFC2ADC658}"/>
                </a:ext>
              </a:extLst>
            </p:cNvPr>
            <p:cNvSpPr/>
            <p:nvPr/>
          </p:nvSpPr>
          <p:spPr>
            <a:xfrm>
              <a:off x="1046966" y="2005004"/>
              <a:ext cx="132844" cy="132844"/>
            </a:xfrm>
            <a:prstGeom prst="ellipse">
              <a:avLst/>
            </a:prstGeom>
            <a:solidFill>
              <a:srgbClr val="FB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椭圆 23">
              <a:extLst>
                <a:ext uri="{FF2B5EF4-FFF2-40B4-BE49-F238E27FC236}">
                  <a16:creationId xmlns:a16="http://schemas.microsoft.com/office/drawing/2014/main" id="{C8504988-F58B-2231-5064-4678D4AA5B31}"/>
                </a:ext>
              </a:extLst>
            </p:cNvPr>
            <p:cNvSpPr/>
            <p:nvPr/>
          </p:nvSpPr>
          <p:spPr>
            <a:xfrm>
              <a:off x="1007133" y="1965171"/>
              <a:ext cx="212510" cy="212510"/>
            </a:xfrm>
            <a:prstGeom prst="ellipse">
              <a:avLst/>
            </a:prstGeom>
            <a:noFill/>
            <a:ln w="3175">
              <a:solidFill>
                <a:srgbClr val="FB5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25" name="组合 24">
            <a:extLst>
              <a:ext uri="{FF2B5EF4-FFF2-40B4-BE49-F238E27FC236}">
                <a16:creationId xmlns:a16="http://schemas.microsoft.com/office/drawing/2014/main" id="{246CC05E-ABB4-83C6-F3BA-8D900F113300}"/>
              </a:ext>
            </a:extLst>
          </p:cNvPr>
          <p:cNvGrpSpPr/>
          <p:nvPr/>
        </p:nvGrpSpPr>
        <p:grpSpPr>
          <a:xfrm>
            <a:off x="8605688" y="1876964"/>
            <a:ext cx="3047337" cy="811941"/>
            <a:chOff x="1234031" y="1873695"/>
            <a:chExt cx="3047337" cy="811941"/>
          </a:xfrm>
        </p:grpSpPr>
        <p:sp>
          <p:nvSpPr>
            <p:cNvPr id="26" name="品牌价值体系建立…">
              <a:extLst>
                <a:ext uri="{FF2B5EF4-FFF2-40B4-BE49-F238E27FC236}">
                  <a16:creationId xmlns:a16="http://schemas.microsoft.com/office/drawing/2014/main" id="{CD234308-F84D-6E31-20DB-217CF6C12ECC}"/>
                </a:ext>
              </a:extLst>
            </p:cNvPr>
            <p:cNvSpPr txBox="1"/>
            <p:nvPr/>
          </p:nvSpPr>
          <p:spPr>
            <a:xfrm>
              <a:off x="1334130" y="2141897"/>
              <a:ext cx="2947238" cy="543739"/>
            </a:xfrm>
            <a:prstGeom prst="rect">
              <a:avLst/>
            </a:prstGeom>
            <a:ln w="12700">
              <a:miter lim="400000"/>
            </a:ln>
          </p:spPr>
          <p:txBody>
            <a:bodyPr wrap="square" lIns="25400" tIns="25400" rIns="25400" bIns="25400" anchor="ctr">
              <a:spAutoFit/>
            </a:bodyPr>
            <a:lstStyle/>
            <a:p>
              <a:pPr marL="0" marR="0" lvl="0" indent="0" algn="just" defTabSz="914400" rtl="0" eaLnBrk="1" fontAlgn="auto" latinLnBrk="0" hangingPunct="1">
                <a:lnSpc>
                  <a:spcPct val="100000"/>
                </a:lnSpc>
                <a:spcBef>
                  <a:spcPts val="0"/>
                </a:spcBef>
                <a:spcAft>
                  <a:spcPts val="0"/>
                </a:spcAft>
                <a:buClrTx/>
                <a:buSzTx/>
                <a:buFontTx/>
                <a:buNone/>
                <a:defRPr>
                  <a:latin typeface="Lantinghei SC Extralight"/>
                  <a:ea typeface="Lantinghei SC Extralight"/>
                  <a:cs typeface="Lantinghei SC Extralight"/>
                  <a:sym typeface="Lantinghei SC Extralight"/>
                </a:defRPr>
              </a:pPr>
              <a:r>
                <a:rPr kumimoji="0" lang="zh-CN" altLang="en-US"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rPr>
                <a:t>预训练的</a:t>
              </a:r>
              <a:r>
                <a:rPr kumimoji="0" lang="en-US" altLang="zh-CN"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rPr>
                <a:t>Resnet50</a:t>
              </a:r>
              <a:r>
                <a:rPr kumimoji="0" lang="zh-CN" altLang="en-US"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rPr>
                <a:t>来充当我们的编码器，提取图片特征</a:t>
              </a:r>
            </a:p>
          </p:txBody>
        </p:sp>
        <p:grpSp>
          <p:nvGrpSpPr>
            <p:cNvPr id="27" name="组合 26">
              <a:extLst>
                <a:ext uri="{FF2B5EF4-FFF2-40B4-BE49-F238E27FC236}">
                  <a16:creationId xmlns:a16="http://schemas.microsoft.com/office/drawing/2014/main" id="{1A8E067F-4453-84B0-51F6-FF15602FDFC9}"/>
                </a:ext>
              </a:extLst>
            </p:cNvPr>
            <p:cNvGrpSpPr/>
            <p:nvPr/>
          </p:nvGrpSpPr>
          <p:grpSpPr>
            <a:xfrm>
              <a:off x="1234031" y="1873695"/>
              <a:ext cx="1151982" cy="297517"/>
              <a:chOff x="1234031" y="1849520"/>
              <a:chExt cx="1151982" cy="297517"/>
            </a:xfrm>
          </p:grpSpPr>
          <p:sp>
            <p:nvSpPr>
              <p:cNvPr id="28" name="矩形: 圆角 27">
                <a:extLst>
                  <a:ext uri="{FF2B5EF4-FFF2-40B4-BE49-F238E27FC236}">
                    <a16:creationId xmlns:a16="http://schemas.microsoft.com/office/drawing/2014/main" id="{F62E9B0A-3C99-4F73-DDC6-3DD93C00D078}"/>
                  </a:ext>
                </a:extLst>
              </p:cNvPr>
              <p:cNvSpPr/>
              <p:nvPr/>
            </p:nvSpPr>
            <p:spPr>
              <a:xfrm>
                <a:off x="1234031" y="1849521"/>
                <a:ext cx="1151982" cy="297516"/>
              </a:xfrm>
              <a:prstGeom prst="roundRect">
                <a:avLst>
                  <a:gd name="adj" fmla="val 50000"/>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cs typeface="+mn-ea"/>
                  <a:sym typeface="+mn-lt"/>
                </a:endParaRPr>
              </a:p>
            </p:txBody>
          </p:sp>
          <p:sp>
            <p:nvSpPr>
              <p:cNvPr id="29" name="品牌搭建">
                <a:extLst>
                  <a:ext uri="{FF2B5EF4-FFF2-40B4-BE49-F238E27FC236}">
                    <a16:creationId xmlns:a16="http://schemas.microsoft.com/office/drawing/2014/main" id="{3B9BA1D4-B322-A676-1BB2-F710C68C67FD}"/>
                  </a:ext>
                </a:extLst>
              </p:cNvPr>
              <p:cNvSpPr txBox="1"/>
              <p:nvPr/>
            </p:nvSpPr>
            <p:spPr>
              <a:xfrm>
                <a:off x="1522286" y="1849520"/>
                <a:ext cx="575479" cy="297517"/>
              </a:xfrm>
              <a:prstGeom prst="rect">
                <a:avLst/>
              </a:prstGeom>
              <a:ln w="12700">
                <a:miter lim="400000"/>
              </a:ln>
            </p:spPr>
            <p:txBody>
              <a:bodyPr wrap="none" lIns="25400" tIns="25400" rIns="25400" bIns="25400" anchor="ctr">
                <a:spAutoFit/>
              </a:bodyPr>
              <a:lstStyle>
                <a:lvl1pPr>
                  <a:defRPr>
                    <a:latin typeface="Lantinghei SC Extralight"/>
                    <a:ea typeface="Lantinghei SC Extralight"/>
                    <a:cs typeface="Lantinghei SC Extralight"/>
                    <a:sym typeface="Lantinghei SC Extralight"/>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lt"/>
                    <a:ea typeface="+mn-ea"/>
                    <a:cs typeface="+mn-ea"/>
                    <a:sym typeface="+mn-lt"/>
                  </a:rPr>
                  <a:t>阶段</a:t>
                </a:r>
                <a:r>
                  <a:rPr lang="en-US" altLang="zh-CN" sz="1600" dirty="0">
                    <a:solidFill>
                      <a:prstClr val="white"/>
                    </a:solidFill>
                    <a:latin typeface="+mn-lt"/>
                    <a:ea typeface="+mn-ea"/>
                    <a:cs typeface="+mn-ea"/>
                    <a:sym typeface="+mn-lt"/>
                  </a:rPr>
                  <a:t>1</a:t>
                </a:r>
                <a:endParaRPr kumimoji="0" sz="1600" b="0" i="0" u="none" strike="noStrike" kern="1200" cap="none" spc="0" normalizeH="0" baseline="0" noProof="0" dirty="0">
                  <a:ln>
                    <a:noFill/>
                  </a:ln>
                  <a:solidFill>
                    <a:prstClr val="white"/>
                  </a:solidFill>
                  <a:effectLst/>
                  <a:uLnTx/>
                  <a:uFillTx/>
                  <a:latin typeface="+mn-lt"/>
                  <a:ea typeface="+mn-ea"/>
                  <a:cs typeface="+mn-ea"/>
                  <a:sym typeface="+mn-lt"/>
                </a:endParaRPr>
              </a:p>
            </p:txBody>
          </p:sp>
        </p:grpSp>
      </p:grpSp>
      <p:grpSp>
        <p:nvGrpSpPr>
          <p:cNvPr id="30" name="组合 29">
            <a:extLst>
              <a:ext uri="{FF2B5EF4-FFF2-40B4-BE49-F238E27FC236}">
                <a16:creationId xmlns:a16="http://schemas.microsoft.com/office/drawing/2014/main" id="{32882C79-A291-C4D3-C236-8FB1ED69E6F9}"/>
              </a:ext>
            </a:extLst>
          </p:cNvPr>
          <p:cNvGrpSpPr/>
          <p:nvPr/>
        </p:nvGrpSpPr>
        <p:grpSpPr>
          <a:xfrm>
            <a:off x="8605688" y="2792215"/>
            <a:ext cx="3047337" cy="811940"/>
            <a:chOff x="1234031" y="2811785"/>
            <a:chExt cx="3047337" cy="811940"/>
          </a:xfrm>
        </p:grpSpPr>
        <mc:AlternateContent xmlns:mc="http://schemas.openxmlformats.org/markup-compatibility/2006" xmlns:a14="http://schemas.microsoft.com/office/drawing/2010/main">
          <mc:Choice Requires="a14">
            <p:sp>
              <p:nvSpPr>
                <p:cNvPr id="31" name="品牌新媒体矩阵产品首发声…">
                  <a:extLst>
                    <a:ext uri="{FF2B5EF4-FFF2-40B4-BE49-F238E27FC236}">
                      <a16:creationId xmlns:a16="http://schemas.microsoft.com/office/drawing/2014/main" id="{DAE49A22-4CD5-F26D-ACAF-A63F85FBBC2B}"/>
                    </a:ext>
                  </a:extLst>
                </p:cNvPr>
                <p:cNvSpPr txBox="1"/>
                <p:nvPr/>
              </p:nvSpPr>
              <p:spPr>
                <a:xfrm>
                  <a:off x="1334132" y="3079986"/>
                  <a:ext cx="2947236" cy="543739"/>
                </a:xfrm>
                <a:prstGeom prst="rect">
                  <a:avLst/>
                </a:prstGeom>
                <a:ln w="12700">
                  <a:miter lim="400000"/>
                </a:ln>
              </p:spPr>
              <p:txBody>
                <a:bodyPr wrap="square" lIns="25400" tIns="25400" rIns="25400" bIns="25400" anchor="ctr">
                  <a:spAutoFit/>
                </a:bodyPr>
                <a:lstStyle/>
                <a:p>
                  <a:pPr marL="0" marR="0" lvl="0" indent="0" algn="just" defTabSz="914400" rtl="0" eaLnBrk="1" fontAlgn="auto" latinLnBrk="0" hangingPunct="1">
                    <a:lnSpc>
                      <a:spcPct val="100000"/>
                    </a:lnSpc>
                    <a:spcBef>
                      <a:spcPts val="0"/>
                    </a:spcBef>
                    <a:spcAft>
                      <a:spcPts val="0"/>
                    </a:spcAft>
                    <a:buClrTx/>
                    <a:buSzTx/>
                    <a:buFontTx/>
                    <a:buNone/>
                    <a:defRPr>
                      <a:latin typeface="Lantinghei SC Extralight"/>
                      <a:ea typeface="Lantinghei SC Extralight"/>
                      <a:cs typeface="Lantinghei SC Extralight"/>
                      <a:sym typeface="Lantinghei SC Extralight"/>
                    </a:defRPr>
                  </a:pPr>
                  <a:r>
                    <a:rPr kumimoji="0" lang="zh-CN" altLang="en-US"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rPr>
                    <a:t>加权融合，</a:t>
                  </a:r>
                  <a:r>
                    <a:rPr lang="zh-CN" altLang="zh-CN" sz="1600" kern="100" dirty="0">
                      <a:effectLst/>
                      <a:latin typeface="宋体" panose="02010600030101010101" pitchFamily="2" charset="-122"/>
                      <a:ea typeface="宋体" panose="02010600030101010101" pitchFamily="2" charset="-122"/>
                      <a:cs typeface="楷体" panose="02010609060101010101" pitchFamily="49" charset="-122"/>
                    </a:rPr>
                    <a:t>设定可变参数</a:t>
                  </a:r>
                  <a14:m>
                    <m:oMath xmlns:m="http://schemas.openxmlformats.org/officeDocument/2006/math">
                      <m:r>
                        <a:rPr lang="en-US" altLang="zh-CN" sz="1600" i="1" kern="100">
                          <a:effectLst/>
                          <a:latin typeface="Cambria Math" panose="02040503050406030204" pitchFamily="18" charset="0"/>
                          <a:ea typeface="楷体" panose="02010609060101010101" pitchFamily="49" charset="-122"/>
                          <a:cs typeface="楷体" panose="02010609060101010101" pitchFamily="49" charset="-122"/>
                        </a:rPr>
                        <m:t>𝛼</m:t>
                      </m:r>
                      <m:r>
                        <a:rPr lang="zh-CN" altLang="en-US" sz="1600" i="1" kern="100">
                          <a:latin typeface="Cambria Math" panose="02040503050406030204" pitchFamily="18" charset="0"/>
                          <a:ea typeface="楷体" panose="02010609060101010101" pitchFamily="49" charset="-122"/>
                          <a:cs typeface="楷体" panose="02010609060101010101" pitchFamily="49" charset="-122"/>
                        </a:rPr>
                        <m:t>，</m:t>
                      </m:r>
                    </m:oMath>
                  </a14:m>
                  <a:r>
                    <a:rPr lang="zh-CN" altLang="zh-CN" sz="1600" kern="100" dirty="0">
                      <a:effectLst/>
                      <a:latin typeface="宋体" panose="02010600030101010101" pitchFamily="2" charset="-122"/>
                      <a:ea typeface="宋体" panose="02010600030101010101" pitchFamily="2" charset="-122"/>
                      <a:cs typeface="楷体" panose="02010609060101010101" pitchFamily="49" charset="-122"/>
                    </a:rPr>
                    <a:t>自适应学习两种特征的比重</a:t>
                  </a:r>
                  <a:endParaRPr kumimoji="0" lang="zh-CN" altLang="en-US"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endParaRPr>
                </a:p>
              </p:txBody>
            </p:sp>
          </mc:Choice>
          <mc:Fallback xmlns="">
            <p:sp>
              <p:nvSpPr>
                <p:cNvPr id="31" name="品牌新媒体矩阵产品首发声…">
                  <a:extLst>
                    <a:ext uri="{FF2B5EF4-FFF2-40B4-BE49-F238E27FC236}">
                      <a16:creationId xmlns:a16="http://schemas.microsoft.com/office/drawing/2014/main" id="{DAE49A22-4CD5-F26D-ACAF-A63F85FBBC2B}"/>
                    </a:ext>
                  </a:extLst>
                </p:cNvPr>
                <p:cNvSpPr txBox="1">
                  <a:spLocks noRot="1" noChangeAspect="1" noMove="1" noResize="1" noEditPoints="1" noAdjustHandles="1" noChangeArrowheads="1" noChangeShapeType="1" noTextEdit="1"/>
                </p:cNvSpPr>
                <p:nvPr/>
              </p:nvSpPr>
              <p:spPr>
                <a:xfrm>
                  <a:off x="1334132" y="3079986"/>
                  <a:ext cx="2947236" cy="543739"/>
                </a:xfrm>
                <a:prstGeom prst="rect">
                  <a:avLst/>
                </a:prstGeom>
                <a:blipFill>
                  <a:blip r:embed="rId5"/>
                  <a:stretch>
                    <a:fillRect l="-3306" t="-7865" r="-3306" b="-17978"/>
                  </a:stretch>
                </a:blipFill>
                <a:ln w="12700">
                  <a:miter lim="400000"/>
                </a:ln>
              </p:spPr>
              <p:txBody>
                <a:bodyPr/>
                <a:lstStyle/>
                <a:p>
                  <a:r>
                    <a:rPr lang="zh-CN" altLang="en-US">
                      <a:noFill/>
                    </a:rPr>
                    <a:t> </a:t>
                  </a:r>
                </a:p>
              </p:txBody>
            </p:sp>
          </mc:Fallback>
        </mc:AlternateContent>
        <p:grpSp>
          <p:nvGrpSpPr>
            <p:cNvPr id="32" name="组合 31">
              <a:extLst>
                <a:ext uri="{FF2B5EF4-FFF2-40B4-BE49-F238E27FC236}">
                  <a16:creationId xmlns:a16="http://schemas.microsoft.com/office/drawing/2014/main" id="{2F3A6F77-0604-AC34-2A97-9A17ACD7B89D}"/>
                </a:ext>
              </a:extLst>
            </p:cNvPr>
            <p:cNvGrpSpPr/>
            <p:nvPr/>
          </p:nvGrpSpPr>
          <p:grpSpPr>
            <a:xfrm>
              <a:off x="1234031" y="2811785"/>
              <a:ext cx="1151982" cy="297517"/>
              <a:chOff x="1234031" y="2787610"/>
              <a:chExt cx="1151982" cy="297517"/>
            </a:xfrm>
          </p:grpSpPr>
          <p:sp>
            <p:nvSpPr>
              <p:cNvPr id="33" name="矩形: 圆角 32">
                <a:extLst>
                  <a:ext uri="{FF2B5EF4-FFF2-40B4-BE49-F238E27FC236}">
                    <a16:creationId xmlns:a16="http://schemas.microsoft.com/office/drawing/2014/main" id="{F294C751-3750-91A5-4998-6AC6546BF255}"/>
                  </a:ext>
                </a:extLst>
              </p:cNvPr>
              <p:cNvSpPr/>
              <p:nvPr/>
            </p:nvSpPr>
            <p:spPr>
              <a:xfrm>
                <a:off x="1234031" y="2787611"/>
                <a:ext cx="1151982" cy="297516"/>
              </a:xfrm>
              <a:prstGeom prst="roundRect">
                <a:avLst>
                  <a:gd name="adj" fmla="val 50000"/>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cs typeface="+mn-ea"/>
                  <a:sym typeface="+mn-lt"/>
                </a:endParaRPr>
              </a:p>
            </p:txBody>
          </p:sp>
          <p:sp>
            <p:nvSpPr>
              <p:cNvPr id="34" name="品牌预热">
                <a:extLst>
                  <a:ext uri="{FF2B5EF4-FFF2-40B4-BE49-F238E27FC236}">
                    <a16:creationId xmlns:a16="http://schemas.microsoft.com/office/drawing/2014/main" id="{E7F2957C-C51B-07E0-BC44-40A0C7F13925}"/>
                  </a:ext>
                </a:extLst>
              </p:cNvPr>
              <p:cNvSpPr txBox="1"/>
              <p:nvPr/>
            </p:nvSpPr>
            <p:spPr>
              <a:xfrm>
                <a:off x="1522291" y="2787610"/>
                <a:ext cx="575479" cy="297517"/>
              </a:xfrm>
              <a:prstGeom prst="rect">
                <a:avLst/>
              </a:prstGeom>
              <a:ln w="12700">
                <a:miter lim="400000"/>
              </a:ln>
            </p:spPr>
            <p:txBody>
              <a:bodyPr wrap="none" lIns="25400" tIns="25400" rIns="25400" bIns="25400" anchor="ctr">
                <a:spAutoFit/>
              </a:bodyPr>
              <a:lstStyle>
                <a:lvl1pPr>
                  <a:defRPr>
                    <a:latin typeface="Lantinghei SC Extralight"/>
                    <a:ea typeface="Lantinghei SC Extralight"/>
                    <a:cs typeface="Lantinghei SC Extralight"/>
                    <a:sym typeface="Lantinghei SC Extralight"/>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lt"/>
                    <a:ea typeface="+mn-ea"/>
                    <a:cs typeface="+mn-ea"/>
                    <a:sym typeface="+mn-lt"/>
                  </a:rPr>
                  <a:t>阶段</a:t>
                </a:r>
                <a:r>
                  <a:rPr kumimoji="0" lang="en-US" altLang="zh-CN" sz="1600" b="0" i="0" u="none" strike="noStrike" kern="1200" cap="none" spc="0" normalizeH="0" baseline="0" noProof="0" dirty="0">
                    <a:ln>
                      <a:noFill/>
                    </a:ln>
                    <a:solidFill>
                      <a:prstClr val="white"/>
                    </a:solidFill>
                    <a:effectLst/>
                    <a:uLnTx/>
                    <a:uFillTx/>
                    <a:latin typeface="+mn-lt"/>
                    <a:ea typeface="+mn-ea"/>
                    <a:cs typeface="+mn-ea"/>
                    <a:sym typeface="+mn-lt"/>
                  </a:rPr>
                  <a:t>2</a:t>
                </a:r>
                <a:endParaRPr kumimoji="0" sz="1600" b="0" i="0" u="none" strike="noStrike" kern="1200" cap="none" spc="0" normalizeH="0" baseline="0" noProof="0" dirty="0">
                  <a:ln>
                    <a:noFill/>
                  </a:ln>
                  <a:solidFill>
                    <a:prstClr val="white"/>
                  </a:solidFill>
                  <a:effectLst/>
                  <a:uLnTx/>
                  <a:uFillTx/>
                  <a:latin typeface="+mn-lt"/>
                  <a:ea typeface="+mn-ea"/>
                  <a:cs typeface="+mn-ea"/>
                  <a:sym typeface="+mn-lt"/>
                </a:endParaRPr>
              </a:p>
            </p:txBody>
          </p:sp>
        </p:grpSp>
      </p:grpSp>
      <p:grpSp>
        <p:nvGrpSpPr>
          <p:cNvPr id="35" name="组合 34">
            <a:extLst>
              <a:ext uri="{FF2B5EF4-FFF2-40B4-BE49-F238E27FC236}">
                <a16:creationId xmlns:a16="http://schemas.microsoft.com/office/drawing/2014/main" id="{BD3BDFAE-C2ED-5991-6660-6B6C421F45A2}"/>
              </a:ext>
            </a:extLst>
          </p:cNvPr>
          <p:cNvGrpSpPr/>
          <p:nvPr/>
        </p:nvGrpSpPr>
        <p:grpSpPr>
          <a:xfrm>
            <a:off x="8605688" y="3707466"/>
            <a:ext cx="3276798" cy="730291"/>
            <a:chOff x="1234031" y="3749875"/>
            <a:chExt cx="3276798" cy="730291"/>
          </a:xfrm>
        </p:grpSpPr>
        <p:sp>
          <p:nvSpPr>
            <p:cNvPr id="36" name="品牌发布会…">
              <a:extLst>
                <a:ext uri="{FF2B5EF4-FFF2-40B4-BE49-F238E27FC236}">
                  <a16:creationId xmlns:a16="http://schemas.microsoft.com/office/drawing/2014/main" id="{179E4F06-76B8-977D-BA23-76AEB8C8D2D3}"/>
                </a:ext>
              </a:extLst>
            </p:cNvPr>
            <p:cNvSpPr txBox="1"/>
            <p:nvPr/>
          </p:nvSpPr>
          <p:spPr>
            <a:xfrm>
              <a:off x="1334130" y="4182649"/>
              <a:ext cx="3176699" cy="297517"/>
            </a:xfrm>
            <a:prstGeom prst="rect">
              <a:avLst/>
            </a:prstGeom>
            <a:ln w="12700">
              <a:miter lim="400000"/>
            </a:ln>
          </p:spPr>
          <p:txBody>
            <a:bodyPr wrap="square" lIns="25400" tIns="25400" rIns="25400" bIns="25400" anchor="ctr">
              <a:spAutoFit/>
            </a:bodyPr>
            <a:lstStyle/>
            <a:p>
              <a:pPr marL="0" marR="0" lvl="0" indent="0" algn="just" defTabSz="914400" rtl="0" eaLnBrk="1" fontAlgn="auto" latinLnBrk="0" hangingPunct="1">
                <a:lnSpc>
                  <a:spcPct val="100000"/>
                </a:lnSpc>
                <a:spcBef>
                  <a:spcPts val="0"/>
                </a:spcBef>
                <a:spcAft>
                  <a:spcPts val="0"/>
                </a:spcAft>
                <a:buClrTx/>
                <a:buSzTx/>
                <a:buFontTx/>
                <a:buNone/>
                <a:defRPr>
                  <a:latin typeface="Lantinghei SC Extralight"/>
                  <a:ea typeface="Lantinghei SC Extralight"/>
                  <a:cs typeface="Lantinghei SC Extralight"/>
                  <a:sym typeface="Lantinghei SC Extralight"/>
                </a:defRPr>
              </a:pPr>
              <a:r>
                <a:rPr lang="zh-CN" altLang="en-US" sz="1600" noProof="1">
                  <a:solidFill>
                    <a:prstClr val="black"/>
                  </a:solidFill>
                  <a:latin typeface="宋体" panose="02010600030101010101" pitchFamily="2" charset="-122"/>
                  <a:ea typeface="宋体" panose="02010600030101010101" pitchFamily="2" charset="-122"/>
                  <a:cs typeface="+mn-ea"/>
                  <a:sym typeface="+mn-lt"/>
                </a:rPr>
                <a:t>解码器上逐步复原，输出融合图像</a:t>
              </a:r>
              <a:endParaRPr kumimoji="0" lang="zh-CN" altLang="en-US"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endParaRPr>
            </a:p>
          </p:txBody>
        </p:sp>
        <p:grpSp>
          <p:nvGrpSpPr>
            <p:cNvPr id="37" name="组合 36">
              <a:extLst>
                <a:ext uri="{FF2B5EF4-FFF2-40B4-BE49-F238E27FC236}">
                  <a16:creationId xmlns:a16="http://schemas.microsoft.com/office/drawing/2014/main" id="{CE743D91-E369-4153-F999-9DB701BEFD34}"/>
                </a:ext>
              </a:extLst>
            </p:cNvPr>
            <p:cNvGrpSpPr/>
            <p:nvPr/>
          </p:nvGrpSpPr>
          <p:grpSpPr>
            <a:xfrm>
              <a:off x="1234031" y="3749875"/>
              <a:ext cx="1151982" cy="297517"/>
              <a:chOff x="1234031" y="3725700"/>
              <a:chExt cx="1151982" cy="297517"/>
            </a:xfrm>
          </p:grpSpPr>
          <p:sp>
            <p:nvSpPr>
              <p:cNvPr id="38" name="矩形: 圆角 37">
                <a:extLst>
                  <a:ext uri="{FF2B5EF4-FFF2-40B4-BE49-F238E27FC236}">
                    <a16:creationId xmlns:a16="http://schemas.microsoft.com/office/drawing/2014/main" id="{08327668-52C7-1C41-5BB5-2CB202BD83C8}"/>
                  </a:ext>
                </a:extLst>
              </p:cNvPr>
              <p:cNvSpPr/>
              <p:nvPr/>
            </p:nvSpPr>
            <p:spPr>
              <a:xfrm>
                <a:off x="1234031" y="3725701"/>
                <a:ext cx="1151982" cy="297516"/>
              </a:xfrm>
              <a:prstGeom prst="roundRect">
                <a:avLst>
                  <a:gd name="adj" fmla="val 50000"/>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cs typeface="+mn-ea"/>
                  <a:sym typeface="+mn-lt"/>
                </a:endParaRPr>
              </a:p>
            </p:txBody>
          </p:sp>
          <p:sp>
            <p:nvSpPr>
              <p:cNvPr id="39" name="声量爆发">
                <a:extLst>
                  <a:ext uri="{FF2B5EF4-FFF2-40B4-BE49-F238E27FC236}">
                    <a16:creationId xmlns:a16="http://schemas.microsoft.com/office/drawing/2014/main" id="{DF41FDDE-7D58-BCB9-8B51-66DE491312A6}"/>
                  </a:ext>
                </a:extLst>
              </p:cNvPr>
              <p:cNvSpPr txBox="1"/>
              <p:nvPr/>
            </p:nvSpPr>
            <p:spPr>
              <a:xfrm>
                <a:off x="1522292" y="3725700"/>
                <a:ext cx="575479" cy="297517"/>
              </a:xfrm>
              <a:prstGeom prst="rect">
                <a:avLst/>
              </a:prstGeom>
              <a:ln w="12700">
                <a:miter lim="400000"/>
              </a:ln>
            </p:spPr>
            <p:txBody>
              <a:bodyPr wrap="none" lIns="25400" tIns="25400" rIns="25400" bIns="25400" anchor="ctr">
                <a:spAutoFit/>
              </a:bodyPr>
              <a:lstStyle>
                <a:lvl1pPr>
                  <a:defRPr>
                    <a:latin typeface="Lantinghei SC Extralight"/>
                    <a:ea typeface="Lantinghei SC Extralight"/>
                    <a:cs typeface="Lantinghei SC Extralight"/>
                    <a:sym typeface="Lantinghei SC Extralight"/>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prstClr val="white"/>
                    </a:solidFill>
                    <a:latin typeface="+mn-lt"/>
                    <a:ea typeface="+mn-ea"/>
                    <a:cs typeface="+mn-ea"/>
                    <a:sym typeface="+mn-lt"/>
                  </a:rPr>
                  <a:t>阶段</a:t>
                </a:r>
                <a:r>
                  <a:rPr lang="en-US" altLang="zh-CN" sz="1600" dirty="0">
                    <a:solidFill>
                      <a:prstClr val="white"/>
                    </a:solidFill>
                    <a:latin typeface="+mn-lt"/>
                    <a:ea typeface="+mn-ea"/>
                    <a:cs typeface="+mn-ea"/>
                    <a:sym typeface="+mn-lt"/>
                  </a:rPr>
                  <a:t>3</a:t>
                </a:r>
                <a:endParaRPr kumimoji="0" sz="1600" b="0" i="0" u="none" strike="noStrike" kern="1200" cap="none" spc="0" normalizeH="0" baseline="0" noProof="0" dirty="0">
                  <a:ln>
                    <a:noFill/>
                  </a:ln>
                  <a:solidFill>
                    <a:prstClr val="white"/>
                  </a:solidFill>
                  <a:effectLst/>
                  <a:uLnTx/>
                  <a:uFillTx/>
                  <a:latin typeface="+mn-lt"/>
                  <a:ea typeface="+mn-ea"/>
                  <a:cs typeface="+mn-ea"/>
                  <a:sym typeface="+mn-lt"/>
                </a:endParaRPr>
              </a:p>
            </p:txBody>
          </p:sp>
        </p:grpSp>
      </p:grpSp>
      <p:grpSp>
        <p:nvGrpSpPr>
          <p:cNvPr id="45" name="组合 44">
            <a:extLst>
              <a:ext uri="{FF2B5EF4-FFF2-40B4-BE49-F238E27FC236}">
                <a16:creationId xmlns:a16="http://schemas.microsoft.com/office/drawing/2014/main" id="{08FA090C-7962-E846-EA0A-19E1BF052DC9}"/>
              </a:ext>
            </a:extLst>
          </p:cNvPr>
          <p:cNvGrpSpPr/>
          <p:nvPr/>
        </p:nvGrpSpPr>
        <p:grpSpPr>
          <a:xfrm>
            <a:off x="8216935" y="2834718"/>
            <a:ext cx="212510" cy="212510"/>
            <a:chOff x="1007133" y="1965171"/>
            <a:chExt cx="212510" cy="212510"/>
          </a:xfrm>
        </p:grpSpPr>
        <p:sp>
          <p:nvSpPr>
            <p:cNvPr id="46" name="椭圆 45">
              <a:extLst>
                <a:ext uri="{FF2B5EF4-FFF2-40B4-BE49-F238E27FC236}">
                  <a16:creationId xmlns:a16="http://schemas.microsoft.com/office/drawing/2014/main" id="{31E7B9DB-7EB4-297E-FA23-47FA70FAD42D}"/>
                </a:ext>
              </a:extLst>
            </p:cNvPr>
            <p:cNvSpPr/>
            <p:nvPr/>
          </p:nvSpPr>
          <p:spPr>
            <a:xfrm>
              <a:off x="1021172" y="1979210"/>
              <a:ext cx="184432" cy="184432"/>
            </a:xfrm>
            <a:prstGeom prst="ellipse">
              <a:avLst/>
            </a:prstGeom>
            <a:noFill/>
            <a:ln>
              <a:solidFill>
                <a:srgbClr val="FB5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7" name="椭圆 46">
              <a:extLst>
                <a:ext uri="{FF2B5EF4-FFF2-40B4-BE49-F238E27FC236}">
                  <a16:creationId xmlns:a16="http://schemas.microsoft.com/office/drawing/2014/main" id="{9950603D-9F68-00A0-EA20-9EE9839B44A1}"/>
                </a:ext>
              </a:extLst>
            </p:cNvPr>
            <p:cNvSpPr/>
            <p:nvPr/>
          </p:nvSpPr>
          <p:spPr>
            <a:xfrm>
              <a:off x="1046966" y="2005004"/>
              <a:ext cx="132844" cy="132844"/>
            </a:xfrm>
            <a:prstGeom prst="ellipse">
              <a:avLst/>
            </a:prstGeom>
            <a:solidFill>
              <a:srgbClr val="FB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8" name="椭圆 47">
              <a:extLst>
                <a:ext uri="{FF2B5EF4-FFF2-40B4-BE49-F238E27FC236}">
                  <a16:creationId xmlns:a16="http://schemas.microsoft.com/office/drawing/2014/main" id="{E3654754-9296-43E5-B422-2F2F7B7D4B86}"/>
                </a:ext>
              </a:extLst>
            </p:cNvPr>
            <p:cNvSpPr/>
            <p:nvPr/>
          </p:nvSpPr>
          <p:spPr>
            <a:xfrm>
              <a:off x="1007133" y="1965171"/>
              <a:ext cx="212510" cy="212510"/>
            </a:xfrm>
            <a:prstGeom prst="ellipse">
              <a:avLst/>
            </a:prstGeom>
            <a:noFill/>
            <a:ln w="3175">
              <a:solidFill>
                <a:srgbClr val="FB5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49" name="组合 48">
            <a:extLst>
              <a:ext uri="{FF2B5EF4-FFF2-40B4-BE49-F238E27FC236}">
                <a16:creationId xmlns:a16="http://schemas.microsoft.com/office/drawing/2014/main" id="{E7FD7257-E44F-9C5A-421C-BB056178DFD6}"/>
              </a:ext>
            </a:extLst>
          </p:cNvPr>
          <p:cNvGrpSpPr/>
          <p:nvPr/>
        </p:nvGrpSpPr>
        <p:grpSpPr>
          <a:xfrm>
            <a:off x="8216935" y="3739686"/>
            <a:ext cx="212510" cy="212510"/>
            <a:chOff x="1007133" y="1965171"/>
            <a:chExt cx="212510" cy="212510"/>
          </a:xfrm>
        </p:grpSpPr>
        <p:sp>
          <p:nvSpPr>
            <p:cNvPr id="50" name="椭圆 49">
              <a:extLst>
                <a:ext uri="{FF2B5EF4-FFF2-40B4-BE49-F238E27FC236}">
                  <a16:creationId xmlns:a16="http://schemas.microsoft.com/office/drawing/2014/main" id="{5EB59316-CFA9-8832-F983-056B3DD628F3}"/>
                </a:ext>
              </a:extLst>
            </p:cNvPr>
            <p:cNvSpPr/>
            <p:nvPr/>
          </p:nvSpPr>
          <p:spPr>
            <a:xfrm>
              <a:off x="1021172" y="1979210"/>
              <a:ext cx="184432" cy="184432"/>
            </a:xfrm>
            <a:prstGeom prst="ellipse">
              <a:avLst/>
            </a:prstGeom>
            <a:noFill/>
            <a:ln>
              <a:solidFill>
                <a:srgbClr val="FB5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1" name="椭圆 50">
              <a:extLst>
                <a:ext uri="{FF2B5EF4-FFF2-40B4-BE49-F238E27FC236}">
                  <a16:creationId xmlns:a16="http://schemas.microsoft.com/office/drawing/2014/main" id="{FBEE4B67-89AF-5289-15A8-9A17B9E7395B}"/>
                </a:ext>
              </a:extLst>
            </p:cNvPr>
            <p:cNvSpPr/>
            <p:nvPr/>
          </p:nvSpPr>
          <p:spPr>
            <a:xfrm>
              <a:off x="1046966" y="2005004"/>
              <a:ext cx="132844" cy="132844"/>
            </a:xfrm>
            <a:prstGeom prst="ellipse">
              <a:avLst/>
            </a:prstGeom>
            <a:solidFill>
              <a:srgbClr val="FB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2" name="椭圆 51">
              <a:extLst>
                <a:ext uri="{FF2B5EF4-FFF2-40B4-BE49-F238E27FC236}">
                  <a16:creationId xmlns:a16="http://schemas.microsoft.com/office/drawing/2014/main" id="{6D423C51-E7DF-5BAC-EE88-BBD0CD1F8D45}"/>
                </a:ext>
              </a:extLst>
            </p:cNvPr>
            <p:cNvSpPr/>
            <p:nvPr/>
          </p:nvSpPr>
          <p:spPr>
            <a:xfrm>
              <a:off x="1007133" y="1965171"/>
              <a:ext cx="212510" cy="212510"/>
            </a:xfrm>
            <a:prstGeom prst="ellipse">
              <a:avLst/>
            </a:prstGeom>
            <a:noFill/>
            <a:ln w="3175">
              <a:solidFill>
                <a:srgbClr val="FB5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53" name="组合 52">
            <a:extLst>
              <a:ext uri="{FF2B5EF4-FFF2-40B4-BE49-F238E27FC236}">
                <a16:creationId xmlns:a16="http://schemas.microsoft.com/office/drawing/2014/main" id="{C21487AF-A90F-A583-2E88-0A91F6CF7F5A}"/>
              </a:ext>
            </a:extLst>
          </p:cNvPr>
          <p:cNvGrpSpPr/>
          <p:nvPr/>
        </p:nvGrpSpPr>
        <p:grpSpPr>
          <a:xfrm>
            <a:off x="8193413" y="1894499"/>
            <a:ext cx="259554" cy="259554"/>
            <a:chOff x="7795721" y="3233124"/>
            <a:chExt cx="393398" cy="393398"/>
          </a:xfrm>
        </p:grpSpPr>
        <p:grpSp>
          <p:nvGrpSpPr>
            <p:cNvPr id="54" name="组合 53">
              <a:extLst>
                <a:ext uri="{FF2B5EF4-FFF2-40B4-BE49-F238E27FC236}">
                  <a16:creationId xmlns:a16="http://schemas.microsoft.com/office/drawing/2014/main" id="{C3B26418-69B7-309B-B0A1-2F0FDA188BBE}"/>
                </a:ext>
              </a:extLst>
            </p:cNvPr>
            <p:cNvGrpSpPr/>
            <p:nvPr/>
          </p:nvGrpSpPr>
          <p:grpSpPr>
            <a:xfrm>
              <a:off x="7795721" y="3233124"/>
              <a:ext cx="393398" cy="393398"/>
              <a:chOff x="7863491" y="3300894"/>
              <a:chExt cx="257858" cy="257858"/>
            </a:xfrm>
          </p:grpSpPr>
          <p:sp>
            <p:nvSpPr>
              <p:cNvPr id="56" name="椭圆 55">
                <a:extLst>
                  <a:ext uri="{FF2B5EF4-FFF2-40B4-BE49-F238E27FC236}">
                    <a16:creationId xmlns:a16="http://schemas.microsoft.com/office/drawing/2014/main" id="{2C599833-459F-F892-FF35-E8164211182A}"/>
                  </a:ext>
                </a:extLst>
              </p:cNvPr>
              <p:cNvSpPr/>
              <p:nvPr/>
            </p:nvSpPr>
            <p:spPr>
              <a:xfrm>
                <a:off x="7863491" y="3300894"/>
                <a:ext cx="257858" cy="257858"/>
              </a:xfrm>
              <a:prstGeom prst="ellipse">
                <a:avLst/>
              </a:prstGeom>
              <a:solidFill>
                <a:srgbClr val="E2E2E2"/>
              </a:solidFill>
              <a:ln w="12700">
                <a:solidFill>
                  <a:srgbClr val="E7503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7" name="椭圆 56">
                <a:extLst>
                  <a:ext uri="{FF2B5EF4-FFF2-40B4-BE49-F238E27FC236}">
                    <a16:creationId xmlns:a16="http://schemas.microsoft.com/office/drawing/2014/main" id="{4C9C4596-EDF9-CC6B-8009-051E1502A07A}"/>
                  </a:ext>
                </a:extLst>
              </p:cNvPr>
              <p:cNvSpPr/>
              <p:nvPr/>
            </p:nvSpPr>
            <p:spPr>
              <a:xfrm>
                <a:off x="7893966" y="3331369"/>
                <a:ext cx="196908" cy="196908"/>
              </a:xfrm>
              <a:prstGeom prst="ellipse">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55" name="L 形 54">
              <a:extLst>
                <a:ext uri="{FF2B5EF4-FFF2-40B4-BE49-F238E27FC236}">
                  <a16:creationId xmlns:a16="http://schemas.microsoft.com/office/drawing/2014/main" id="{64D3DFA9-2BD2-B86C-5296-CD4C31891D4B}"/>
                </a:ext>
              </a:extLst>
            </p:cNvPr>
            <p:cNvSpPr/>
            <p:nvPr/>
          </p:nvSpPr>
          <p:spPr>
            <a:xfrm rot="18900000">
              <a:off x="7895978" y="3355406"/>
              <a:ext cx="192882" cy="100844"/>
            </a:xfrm>
            <a:prstGeom prst="corner">
              <a:avLst>
                <a:gd name="adj1" fmla="val 31729"/>
                <a:gd name="adj2" fmla="val 335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58" name="组合 57">
            <a:extLst>
              <a:ext uri="{FF2B5EF4-FFF2-40B4-BE49-F238E27FC236}">
                <a16:creationId xmlns:a16="http://schemas.microsoft.com/office/drawing/2014/main" id="{AE8E9BE1-4B7C-8E3C-0F04-966A9CDA04EB}"/>
              </a:ext>
            </a:extLst>
          </p:cNvPr>
          <p:cNvGrpSpPr/>
          <p:nvPr/>
        </p:nvGrpSpPr>
        <p:grpSpPr>
          <a:xfrm>
            <a:off x="8193413" y="2810396"/>
            <a:ext cx="259554" cy="259554"/>
            <a:chOff x="7795721" y="3233124"/>
            <a:chExt cx="393398" cy="393398"/>
          </a:xfrm>
        </p:grpSpPr>
        <p:grpSp>
          <p:nvGrpSpPr>
            <p:cNvPr id="59" name="组合 58">
              <a:extLst>
                <a:ext uri="{FF2B5EF4-FFF2-40B4-BE49-F238E27FC236}">
                  <a16:creationId xmlns:a16="http://schemas.microsoft.com/office/drawing/2014/main" id="{A173ABBB-B188-CDA5-2CD8-2D1EE7F0D133}"/>
                </a:ext>
              </a:extLst>
            </p:cNvPr>
            <p:cNvGrpSpPr/>
            <p:nvPr/>
          </p:nvGrpSpPr>
          <p:grpSpPr>
            <a:xfrm>
              <a:off x="7795721" y="3233124"/>
              <a:ext cx="393398" cy="393398"/>
              <a:chOff x="7863491" y="3300894"/>
              <a:chExt cx="257858" cy="257858"/>
            </a:xfrm>
          </p:grpSpPr>
          <p:sp>
            <p:nvSpPr>
              <p:cNvPr id="61" name="椭圆 60">
                <a:extLst>
                  <a:ext uri="{FF2B5EF4-FFF2-40B4-BE49-F238E27FC236}">
                    <a16:creationId xmlns:a16="http://schemas.microsoft.com/office/drawing/2014/main" id="{D7AE0657-DC2E-A8F9-65FD-B9296FC507D3}"/>
                  </a:ext>
                </a:extLst>
              </p:cNvPr>
              <p:cNvSpPr/>
              <p:nvPr/>
            </p:nvSpPr>
            <p:spPr>
              <a:xfrm>
                <a:off x="7863491" y="3300894"/>
                <a:ext cx="257858" cy="257858"/>
              </a:xfrm>
              <a:prstGeom prst="ellipse">
                <a:avLst/>
              </a:prstGeom>
              <a:solidFill>
                <a:srgbClr val="E2E2E2"/>
              </a:solidFill>
              <a:ln w="12700">
                <a:solidFill>
                  <a:srgbClr val="E7503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2" name="椭圆 61">
                <a:extLst>
                  <a:ext uri="{FF2B5EF4-FFF2-40B4-BE49-F238E27FC236}">
                    <a16:creationId xmlns:a16="http://schemas.microsoft.com/office/drawing/2014/main" id="{AE85B236-9C59-3ACC-CA87-F7D410E0C8A3}"/>
                  </a:ext>
                </a:extLst>
              </p:cNvPr>
              <p:cNvSpPr/>
              <p:nvPr/>
            </p:nvSpPr>
            <p:spPr>
              <a:xfrm>
                <a:off x="7893966" y="3331369"/>
                <a:ext cx="196908" cy="196908"/>
              </a:xfrm>
              <a:prstGeom prst="ellipse">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60" name="L 形 59">
              <a:extLst>
                <a:ext uri="{FF2B5EF4-FFF2-40B4-BE49-F238E27FC236}">
                  <a16:creationId xmlns:a16="http://schemas.microsoft.com/office/drawing/2014/main" id="{5CC8063C-A733-13CC-7325-1AF70C05FE1E}"/>
                </a:ext>
              </a:extLst>
            </p:cNvPr>
            <p:cNvSpPr/>
            <p:nvPr/>
          </p:nvSpPr>
          <p:spPr>
            <a:xfrm rot="18900000">
              <a:off x="7895978" y="3355406"/>
              <a:ext cx="192882" cy="100844"/>
            </a:xfrm>
            <a:prstGeom prst="corner">
              <a:avLst>
                <a:gd name="adj1" fmla="val 31729"/>
                <a:gd name="adj2" fmla="val 335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63" name="组合 62">
            <a:extLst>
              <a:ext uri="{FF2B5EF4-FFF2-40B4-BE49-F238E27FC236}">
                <a16:creationId xmlns:a16="http://schemas.microsoft.com/office/drawing/2014/main" id="{EA44129A-CD24-F476-08AD-7053839BB15E}"/>
              </a:ext>
            </a:extLst>
          </p:cNvPr>
          <p:cNvGrpSpPr/>
          <p:nvPr/>
        </p:nvGrpSpPr>
        <p:grpSpPr>
          <a:xfrm>
            <a:off x="8193413" y="3719874"/>
            <a:ext cx="259554" cy="259554"/>
            <a:chOff x="7795721" y="3233124"/>
            <a:chExt cx="393398" cy="393398"/>
          </a:xfrm>
        </p:grpSpPr>
        <p:grpSp>
          <p:nvGrpSpPr>
            <p:cNvPr id="64" name="组合 63">
              <a:extLst>
                <a:ext uri="{FF2B5EF4-FFF2-40B4-BE49-F238E27FC236}">
                  <a16:creationId xmlns:a16="http://schemas.microsoft.com/office/drawing/2014/main" id="{AA36B7A4-9C38-469A-E7C9-64E3EFDF6C0C}"/>
                </a:ext>
              </a:extLst>
            </p:cNvPr>
            <p:cNvGrpSpPr/>
            <p:nvPr/>
          </p:nvGrpSpPr>
          <p:grpSpPr>
            <a:xfrm>
              <a:off x="7795721" y="3233124"/>
              <a:ext cx="393398" cy="393398"/>
              <a:chOff x="7863491" y="3300894"/>
              <a:chExt cx="257858" cy="257858"/>
            </a:xfrm>
          </p:grpSpPr>
          <p:sp>
            <p:nvSpPr>
              <p:cNvPr id="66" name="椭圆 65">
                <a:extLst>
                  <a:ext uri="{FF2B5EF4-FFF2-40B4-BE49-F238E27FC236}">
                    <a16:creationId xmlns:a16="http://schemas.microsoft.com/office/drawing/2014/main" id="{9CAFC135-C626-E98D-69B1-6FEFE09AC1F5}"/>
                  </a:ext>
                </a:extLst>
              </p:cNvPr>
              <p:cNvSpPr/>
              <p:nvPr/>
            </p:nvSpPr>
            <p:spPr>
              <a:xfrm>
                <a:off x="7863491" y="3300894"/>
                <a:ext cx="257858" cy="257858"/>
              </a:xfrm>
              <a:prstGeom prst="ellipse">
                <a:avLst/>
              </a:prstGeom>
              <a:solidFill>
                <a:srgbClr val="E2E2E2"/>
              </a:solidFill>
              <a:ln w="12700">
                <a:solidFill>
                  <a:srgbClr val="E7503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7" name="椭圆 66">
                <a:extLst>
                  <a:ext uri="{FF2B5EF4-FFF2-40B4-BE49-F238E27FC236}">
                    <a16:creationId xmlns:a16="http://schemas.microsoft.com/office/drawing/2014/main" id="{E523B957-C0E2-4D68-555B-E87B67BC1058}"/>
                  </a:ext>
                </a:extLst>
              </p:cNvPr>
              <p:cNvSpPr/>
              <p:nvPr/>
            </p:nvSpPr>
            <p:spPr>
              <a:xfrm>
                <a:off x="7893966" y="3331369"/>
                <a:ext cx="196908" cy="196908"/>
              </a:xfrm>
              <a:prstGeom prst="ellipse">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65" name="L 形 64">
              <a:extLst>
                <a:ext uri="{FF2B5EF4-FFF2-40B4-BE49-F238E27FC236}">
                  <a16:creationId xmlns:a16="http://schemas.microsoft.com/office/drawing/2014/main" id="{BE2BDDF5-C2E3-3C74-FB8F-83DD20029F49}"/>
                </a:ext>
              </a:extLst>
            </p:cNvPr>
            <p:cNvSpPr/>
            <p:nvPr/>
          </p:nvSpPr>
          <p:spPr>
            <a:xfrm rot="18900000">
              <a:off x="7895978" y="3355406"/>
              <a:ext cx="192882" cy="100844"/>
            </a:xfrm>
            <a:prstGeom prst="corner">
              <a:avLst>
                <a:gd name="adj1" fmla="val 31729"/>
                <a:gd name="adj2" fmla="val 335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71" name="组合 70">
            <a:extLst>
              <a:ext uri="{FF2B5EF4-FFF2-40B4-BE49-F238E27FC236}">
                <a16:creationId xmlns:a16="http://schemas.microsoft.com/office/drawing/2014/main" id="{E94BBD3E-3865-FCA2-25BB-AA8A35A63E7A}"/>
              </a:ext>
            </a:extLst>
          </p:cNvPr>
          <p:cNvGrpSpPr/>
          <p:nvPr/>
        </p:nvGrpSpPr>
        <p:grpSpPr>
          <a:xfrm>
            <a:off x="8197783" y="4629352"/>
            <a:ext cx="259554" cy="259554"/>
            <a:chOff x="7795721" y="3233124"/>
            <a:chExt cx="393398" cy="393398"/>
          </a:xfrm>
        </p:grpSpPr>
        <p:grpSp>
          <p:nvGrpSpPr>
            <p:cNvPr id="72" name="组合 71">
              <a:extLst>
                <a:ext uri="{FF2B5EF4-FFF2-40B4-BE49-F238E27FC236}">
                  <a16:creationId xmlns:a16="http://schemas.microsoft.com/office/drawing/2014/main" id="{44C67CEA-87A9-9208-6E11-EB9883AB9266}"/>
                </a:ext>
              </a:extLst>
            </p:cNvPr>
            <p:cNvGrpSpPr/>
            <p:nvPr/>
          </p:nvGrpSpPr>
          <p:grpSpPr>
            <a:xfrm>
              <a:off x="7795721" y="3233124"/>
              <a:ext cx="393398" cy="393398"/>
              <a:chOff x="7863491" y="3300894"/>
              <a:chExt cx="257858" cy="257858"/>
            </a:xfrm>
          </p:grpSpPr>
          <p:sp>
            <p:nvSpPr>
              <p:cNvPr id="74" name="椭圆 73">
                <a:extLst>
                  <a:ext uri="{FF2B5EF4-FFF2-40B4-BE49-F238E27FC236}">
                    <a16:creationId xmlns:a16="http://schemas.microsoft.com/office/drawing/2014/main" id="{20CF0C1C-6397-6993-1525-EE4C56F538E4}"/>
                  </a:ext>
                </a:extLst>
              </p:cNvPr>
              <p:cNvSpPr/>
              <p:nvPr/>
            </p:nvSpPr>
            <p:spPr>
              <a:xfrm>
                <a:off x="7863491" y="3300894"/>
                <a:ext cx="257858" cy="257858"/>
              </a:xfrm>
              <a:prstGeom prst="ellipse">
                <a:avLst/>
              </a:prstGeom>
              <a:solidFill>
                <a:srgbClr val="E2E2E2"/>
              </a:solidFill>
              <a:ln w="12700">
                <a:solidFill>
                  <a:srgbClr val="E7503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5" name="椭圆 74">
                <a:extLst>
                  <a:ext uri="{FF2B5EF4-FFF2-40B4-BE49-F238E27FC236}">
                    <a16:creationId xmlns:a16="http://schemas.microsoft.com/office/drawing/2014/main" id="{B8E6A2FC-BC11-79F4-7036-A271CE40CA33}"/>
                  </a:ext>
                </a:extLst>
              </p:cNvPr>
              <p:cNvSpPr/>
              <p:nvPr/>
            </p:nvSpPr>
            <p:spPr>
              <a:xfrm>
                <a:off x="7893966" y="3331369"/>
                <a:ext cx="196908" cy="196908"/>
              </a:xfrm>
              <a:prstGeom prst="ellipse">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73" name="L 形 72">
              <a:extLst>
                <a:ext uri="{FF2B5EF4-FFF2-40B4-BE49-F238E27FC236}">
                  <a16:creationId xmlns:a16="http://schemas.microsoft.com/office/drawing/2014/main" id="{E8B50A1F-7EBC-E6CA-FDE9-7EA94AD0D1CF}"/>
                </a:ext>
              </a:extLst>
            </p:cNvPr>
            <p:cNvSpPr/>
            <p:nvPr/>
          </p:nvSpPr>
          <p:spPr>
            <a:xfrm rot="18900000">
              <a:off x="7895978" y="3355406"/>
              <a:ext cx="192882" cy="100844"/>
            </a:xfrm>
            <a:prstGeom prst="corner">
              <a:avLst>
                <a:gd name="adj1" fmla="val 31729"/>
                <a:gd name="adj2" fmla="val 335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76" name="组合 75">
            <a:extLst>
              <a:ext uri="{FF2B5EF4-FFF2-40B4-BE49-F238E27FC236}">
                <a16:creationId xmlns:a16="http://schemas.microsoft.com/office/drawing/2014/main" id="{18598255-5920-B6DB-5AAF-A20125430B65}"/>
              </a:ext>
            </a:extLst>
          </p:cNvPr>
          <p:cNvGrpSpPr/>
          <p:nvPr/>
        </p:nvGrpSpPr>
        <p:grpSpPr>
          <a:xfrm>
            <a:off x="8605688" y="4629352"/>
            <a:ext cx="3276796" cy="853402"/>
            <a:chOff x="1234031" y="3749875"/>
            <a:chExt cx="3276796" cy="853402"/>
          </a:xfrm>
        </p:grpSpPr>
        <mc:AlternateContent xmlns:mc="http://schemas.openxmlformats.org/markup-compatibility/2006" xmlns:a14="http://schemas.microsoft.com/office/drawing/2010/main">
          <mc:Choice Requires="a14">
            <p:sp>
              <p:nvSpPr>
                <p:cNvPr id="77" name="品牌发布会…">
                  <a:extLst>
                    <a:ext uri="{FF2B5EF4-FFF2-40B4-BE49-F238E27FC236}">
                      <a16:creationId xmlns:a16="http://schemas.microsoft.com/office/drawing/2014/main" id="{F4F053D9-7D3B-841C-AD4D-327A03E0CDE2}"/>
                    </a:ext>
                  </a:extLst>
                </p:cNvPr>
                <p:cNvSpPr txBox="1"/>
                <p:nvPr/>
              </p:nvSpPr>
              <p:spPr>
                <a:xfrm>
                  <a:off x="1334130" y="4059538"/>
                  <a:ext cx="3176697" cy="543739"/>
                </a:xfrm>
                <a:prstGeom prst="rect">
                  <a:avLst/>
                </a:prstGeom>
                <a:ln w="12700">
                  <a:miter lim="400000"/>
                </a:ln>
              </p:spPr>
              <p:txBody>
                <a:bodyPr wrap="square" lIns="25400" tIns="25400" rIns="25400" bIns="25400" anchor="ctr">
                  <a:spAutoFit/>
                </a:bodyPr>
                <a:lstStyle/>
                <a:p>
                  <a:pPr lvl="0" algn="just">
                    <a:defRPr>
                      <a:latin typeface="Lantinghei SC Extralight"/>
                      <a:ea typeface="Lantinghei SC Extralight"/>
                      <a:cs typeface="Lantinghei SC Extralight"/>
                      <a:sym typeface="Lantinghei SC Extralight"/>
                    </a:defRPr>
                  </a:pPr>
                  <a:r>
                    <a:rPr lang="zh-CN" altLang="zh-CN" sz="1600" kern="100" dirty="0">
                      <a:effectLst/>
                      <a:latin typeface="宋体" panose="02010600030101010101" pitchFamily="2" charset="-122"/>
                      <a:ea typeface="宋体" panose="02010600030101010101" pitchFamily="2" charset="-122"/>
                      <a:cs typeface="楷体" panose="02010609060101010101" pitchFamily="49" charset="-122"/>
                    </a:rPr>
                    <a:t>执行逐像素的</a:t>
                  </a:r>
                  <a14:m>
                    <m:oMath xmlns:m="http://schemas.openxmlformats.org/officeDocument/2006/math">
                      <m:r>
                        <a:rPr lang="en-US" altLang="zh-CN" sz="1600" i="1" kern="100">
                          <a:effectLst/>
                          <a:latin typeface="Cambria Math" panose="02040503050406030204" pitchFamily="18" charset="0"/>
                          <a:ea typeface="楷体" panose="02010609060101010101" pitchFamily="49" charset="-122"/>
                          <a:cs typeface="楷体" panose="02010609060101010101" pitchFamily="49" charset="-122"/>
                        </a:rPr>
                        <m:t>𝐿</m:t>
                      </m:r>
                      <m:r>
                        <a:rPr lang="en-US" altLang="zh-CN" sz="1600" i="1" kern="100">
                          <a:effectLst/>
                          <a:latin typeface="Cambria Math" panose="02040503050406030204" pitchFamily="18" charset="0"/>
                          <a:ea typeface="楷体" panose="02010609060101010101" pitchFamily="49" charset="-122"/>
                          <a:cs typeface="楷体" panose="02010609060101010101" pitchFamily="49" charset="-122"/>
                        </a:rPr>
                        <m:t>1 </m:t>
                      </m:r>
                      <m:r>
                        <a:rPr lang="en-US" altLang="zh-CN" sz="1600" i="1" kern="100">
                          <a:effectLst/>
                          <a:latin typeface="Cambria Math" panose="02040503050406030204" pitchFamily="18" charset="0"/>
                          <a:ea typeface="楷体" panose="02010609060101010101" pitchFamily="49" charset="-122"/>
                          <a:cs typeface="楷体" panose="02010609060101010101" pitchFamily="49" charset="-122"/>
                        </a:rPr>
                        <m:t>𝐿𝑜𝑠𝑠</m:t>
                      </m:r>
                    </m:oMath>
                  </a14:m>
                  <a:r>
                    <a:rPr lang="zh-CN" altLang="en-US" sz="1600" noProof="1">
                      <a:solidFill>
                        <a:prstClr val="black"/>
                      </a:solidFill>
                      <a:latin typeface="宋体" panose="02010600030101010101" pitchFamily="2" charset="-122"/>
                      <a:ea typeface="宋体" panose="02010600030101010101" pitchFamily="2" charset="-122"/>
                      <a:cs typeface="+mn-ea"/>
                      <a:sym typeface="+mn-lt"/>
                    </a:rPr>
                    <a:t>，让模型主动学习融合模态的有效信息</a:t>
                  </a:r>
                  <a:endParaRPr kumimoji="0" lang="zh-CN" altLang="en-US" sz="1600" b="0" i="0" u="none" strike="noStrike" kern="1200" cap="none" spc="0" normalizeH="0" baseline="0" noProof="1">
                    <a:ln>
                      <a:noFill/>
                    </a:ln>
                    <a:solidFill>
                      <a:prstClr val="black"/>
                    </a:solidFill>
                    <a:effectLst/>
                    <a:uLnTx/>
                    <a:uFillTx/>
                    <a:latin typeface="宋体" panose="02010600030101010101" pitchFamily="2" charset="-122"/>
                    <a:ea typeface="宋体" panose="02010600030101010101" pitchFamily="2" charset="-122"/>
                    <a:cs typeface="+mn-ea"/>
                    <a:sym typeface="+mn-lt"/>
                  </a:endParaRPr>
                </a:p>
              </p:txBody>
            </p:sp>
          </mc:Choice>
          <mc:Fallback xmlns="">
            <p:sp>
              <p:nvSpPr>
                <p:cNvPr id="77" name="品牌发布会…">
                  <a:extLst>
                    <a:ext uri="{FF2B5EF4-FFF2-40B4-BE49-F238E27FC236}">
                      <a16:creationId xmlns:a16="http://schemas.microsoft.com/office/drawing/2014/main" id="{F4F053D9-7D3B-841C-AD4D-327A03E0CDE2}"/>
                    </a:ext>
                  </a:extLst>
                </p:cNvPr>
                <p:cNvSpPr txBox="1">
                  <a:spLocks noRot="1" noChangeAspect="1" noMove="1" noResize="1" noEditPoints="1" noAdjustHandles="1" noChangeArrowheads="1" noChangeShapeType="1" noTextEdit="1"/>
                </p:cNvSpPr>
                <p:nvPr/>
              </p:nvSpPr>
              <p:spPr>
                <a:xfrm>
                  <a:off x="1334130" y="4059538"/>
                  <a:ext cx="3176697" cy="543739"/>
                </a:xfrm>
                <a:prstGeom prst="rect">
                  <a:avLst/>
                </a:prstGeom>
                <a:blipFill>
                  <a:blip r:embed="rId6"/>
                  <a:stretch>
                    <a:fillRect l="-3071" t="-7865" r="-3263" b="-17978"/>
                  </a:stretch>
                </a:blipFill>
                <a:ln w="12700">
                  <a:miter lim="400000"/>
                </a:ln>
              </p:spPr>
              <p:txBody>
                <a:bodyPr/>
                <a:lstStyle/>
                <a:p>
                  <a:r>
                    <a:rPr lang="zh-CN" altLang="en-US">
                      <a:noFill/>
                    </a:rPr>
                    <a:t> </a:t>
                  </a:r>
                </a:p>
              </p:txBody>
            </p:sp>
          </mc:Fallback>
        </mc:AlternateContent>
        <p:grpSp>
          <p:nvGrpSpPr>
            <p:cNvPr id="78" name="组合 77">
              <a:extLst>
                <a:ext uri="{FF2B5EF4-FFF2-40B4-BE49-F238E27FC236}">
                  <a16:creationId xmlns:a16="http://schemas.microsoft.com/office/drawing/2014/main" id="{F139087C-EBA6-1EC7-8914-CDB896AF014D}"/>
                </a:ext>
              </a:extLst>
            </p:cNvPr>
            <p:cNvGrpSpPr/>
            <p:nvPr/>
          </p:nvGrpSpPr>
          <p:grpSpPr>
            <a:xfrm>
              <a:off x="1234031" y="3749875"/>
              <a:ext cx="1151982" cy="297517"/>
              <a:chOff x="1234031" y="3725700"/>
              <a:chExt cx="1151982" cy="297517"/>
            </a:xfrm>
          </p:grpSpPr>
          <p:sp>
            <p:nvSpPr>
              <p:cNvPr id="79" name="矩形: 圆角 78">
                <a:extLst>
                  <a:ext uri="{FF2B5EF4-FFF2-40B4-BE49-F238E27FC236}">
                    <a16:creationId xmlns:a16="http://schemas.microsoft.com/office/drawing/2014/main" id="{EE71F4D0-0711-C19E-DED2-B3F6E0D19BF1}"/>
                  </a:ext>
                </a:extLst>
              </p:cNvPr>
              <p:cNvSpPr/>
              <p:nvPr/>
            </p:nvSpPr>
            <p:spPr>
              <a:xfrm>
                <a:off x="1234031" y="3725701"/>
                <a:ext cx="1151982" cy="297516"/>
              </a:xfrm>
              <a:prstGeom prst="roundRect">
                <a:avLst>
                  <a:gd name="adj" fmla="val 50000"/>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cs typeface="+mn-ea"/>
                  <a:sym typeface="+mn-lt"/>
                </a:endParaRPr>
              </a:p>
            </p:txBody>
          </p:sp>
          <p:sp>
            <p:nvSpPr>
              <p:cNvPr id="80" name="声量爆发">
                <a:extLst>
                  <a:ext uri="{FF2B5EF4-FFF2-40B4-BE49-F238E27FC236}">
                    <a16:creationId xmlns:a16="http://schemas.microsoft.com/office/drawing/2014/main" id="{A22C9DEE-8703-9FDC-E493-121BAFC44EA5}"/>
                  </a:ext>
                </a:extLst>
              </p:cNvPr>
              <p:cNvSpPr txBox="1"/>
              <p:nvPr/>
            </p:nvSpPr>
            <p:spPr>
              <a:xfrm>
                <a:off x="1522292" y="3725700"/>
                <a:ext cx="575479" cy="297517"/>
              </a:xfrm>
              <a:prstGeom prst="rect">
                <a:avLst/>
              </a:prstGeom>
              <a:ln w="12700">
                <a:miter lim="400000"/>
              </a:ln>
            </p:spPr>
            <p:txBody>
              <a:bodyPr wrap="none" lIns="25400" tIns="25400" rIns="25400" bIns="25400" anchor="ctr">
                <a:spAutoFit/>
              </a:bodyPr>
              <a:lstStyle>
                <a:lvl1pPr>
                  <a:defRPr>
                    <a:latin typeface="Lantinghei SC Extralight"/>
                    <a:ea typeface="Lantinghei SC Extralight"/>
                    <a:cs typeface="Lantinghei SC Extralight"/>
                    <a:sym typeface="Lantinghei SC Extralight"/>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prstClr val="white"/>
                    </a:solidFill>
                    <a:latin typeface="+mn-lt"/>
                    <a:ea typeface="+mn-ea"/>
                    <a:cs typeface="+mn-ea"/>
                    <a:sym typeface="+mn-lt"/>
                  </a:rPr>
                  <a:t>阶段</a:t>
                </a:r>
                <a:r>
                  <a:rPr lang="en-US" altLang="zh-CN" sz="1600" dirty="0">
                    <a:solidFill>
                      <a:prstClr val="white"/>
                    </a:solidFill>
                    <a:latin typeface="+mn-lt"/>
                    <a:ea typeface="+mn-ea"/>
                    <a:cs typeface="+mn-ea"/>
                    <a:sym typeface="+mn-lt"/>
                  </a:rPr>
                  <a:t>4</a:t>
                </a:r>
                <a:endParaRPr kumimoji="0" sz="1600" b="0" i="0" u="none" strike="noStrike" kern="1200" cap="none" spc="0" normalizeH="0" baseline="0" noProof="0" dirty="0">
                  <a:ln>
                    <a:noFill/>
                  </a:ln>
                  <a:solidFill>
                    <a:prstClr val="white"/>
                  </a:solidFill>
                  <a:effectLst/>
                  <a:uLnTx/>
                  <a:uFillTx/>
                  <a:latin typeface="+mn-lt"/>
                  <a:ea typeface="+mn-ea"/>
                  <a:cs typeface="+mn-ea"/>
                  <a:sym typeface="+mn-lt"/>
                </a:endParaRPr>
              </a:p>
            </p:txBody>
          </p:sp>
        </p:grpSp>
      </p:grpSp>
    </p:spTree>
    <p:extLst>
      <p:ext uri="{BB962C8B-B14F-4D97-AF65-F5344CB8AC3E}">
        <p14:creationId xmlns:p14="http://schemas.microsoft.com/office/powerpoint/2010/main" val="3459108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1388D-60BC-B630-3156-668795D06D2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A86D70F9-A60E-F002-B72F-3E440CBC6BE0}"/>
              </a:ext>
            </a:extLst>
          </p:cNvPr>
          <p:cNvGrpSpPr/>
          <p:nvPr/>
        </p:nvGrpSpPr>
        <p:grpSpPr>
          <a:xfrm>
            <a:off x="0" y="1"/>
            <a:ext cx="12192000" cy="725487"/>
            <a:chOff x="0" y="1"/>
            <a:chExt cx="12192000" cy="725487"/>
          </a:xfrm>
        </p:grpSpPr>
        <p:sp>
          <p:nvSpPr>
            <p:cNvPr id="3" name="矩形 2">
              <a:extLst>
                <a:ext uri="{FF2B5EF4-FFF2-40B4-BE49-F238E27FC236}">
                  <a16:creationId xmlns:a16="http://schemas.microsoft.com/office/drawing/2014/main" id="{226EF12B-BDE8-85B4-1FE3-891B8AAB239A}"/>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30773315-0DD2-ED6B-55AC-7BD44CDECD72}"/>
                </a:ext>
              </a:extLst>
            </p:cNvPr>
            <p:cNvGrpSpPr/>
            <p:nvPr/>
          </p:nvGrpSpPr>
          <p:grpSpPr>
            <a:xfrm>
              <a:off x="5566401" y="159473"/>
              <a:ext cx="6316088" cy="369332"/>
              <a:chOff x="5223501" y="299173"/>
              <a:chExt cx="6316088" cy="369332"/>
            </a:xfrm>
          </p:grpSpPr>
          <p:sp>
            <p:nvSpPr>
              <p:cNvPr id="6" name="文本框 5">
                <a:extLst>
                  <a:ext uri="{FF2B5EF4-FFF2-40B4-BE49-F238E27FC236}">
                    <a16:creationId xmlns:a16="http://schemas.microsoft.com/office/drawing/2014/main" id="{0B0A6DAC-6F8F-CE12-326B-C8351C86E1B7}"/>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a:extLst>
                  <a:ext uri="{FF2B5EF4-FFF2-40B4-BE49-F238E27FC236}">
                    <a16:creationId xmlns:a16="http://schemas.microsoft.com/office/drawing/2014/main" id="{DB0FA645-AD09-798E-E632-D11D30A07CF2}"/>
                  </a:ext>
                </a:extLst>
              </p:cNvPr>
              <p:cNvSpPr txBox="1"/>
              <p:nvPr/>
            </p:nvSpPr>
            <p:spPr>
              <a:xfrm>
                <a:off x="695098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项目介绍</a:t>
                </a:r>
              </a:p>
            </p:txBody>
          </p:sp>
          <p:sp>
            <p:nvSpPr>
              <p:cNvPr id="8" name="文本框 7">
                <a:extLst>
                  <a:ext uri="{FF2B5EF4-FFF2-40B4-BE49-F238E27FC236}">
                    <a16:creationId xmlns:a16="http://schemas.microsoft.com/office/drawing/2014/main" id="{ADE26C1E-3D8A-74A3-9003-28D24BD5B586}"/>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具体方法</a:t>
                </a:r>
              </a:p>
            </p:txBody>
          </p:sp>
          <p:sp>
            <p:nvSpPr>
              <p:cNvPr id="9" name="文本框 8">
                <a:extLst>
                  <a:ext uri="{FF2B5EF4-FFF2-40B4-BE49-F238E27FC236}">
                    <a16:creationId xmlns:a16="http://schemas.microsoft.com/office/drawing/2014/main" id="{D981EB10-8E66-91FA-799B-90C1FFD52DE5}"/>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实验部分</a:t>
                </a:r>
              </a:p>
            </p:txBody>
          </p:sp>
          <p:cxnSp>
            <p:nvCxnSpPr>
              <p:cNvPr id="10" name="直接连接符 9">
                <a:extLst>
                  <a:ext uri="{FF2B5EF4-FFF2-40B4-BE49-F238E27FC236}">
                    <a16:creationId xmlns:a16="http://schemas.microsoft.com/office/drawing/2014/main" id="{ACAD1183-C906-CA08-1731-7B6524CFE593}"/>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81B9962-F247-F173-7BEA-516AE7461AA0}"/>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48E08FF-B9EB-D5EB-B513-47732133F69A}"/>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等腰三角形 4">
              <a:extLst>
                <a:ext uri="{FF2B5EF4-FFF2-40B4-BE49-F238E27FC236}">
                  <a16:creationId xmlns:a16="http://schemas.microsoft.com/office/drawing/2014/main" id="{F7675E38-0AE5-EE7F-4A04-D114ECB628D5}"/>
                </a:ext>
              </a:extLst>
            </p:cNvPr>
            <p:cNvSpPr/>
            <p:nvPr/>
          </p:nvSpPr>
          <p:spPr>
            <a:xfrm>
              <a:off x="9192344" y="576262"/>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F3E087C4-BE14-12C3-384F-DA1C54D0A827}"/>
              </a:ext>
            </a:extLst>
          </p:cNvPr>
          <p:cNvGrpSpPr/>
          <p:nvPr/>
        </p:nvGrpSpPr>
        <p:grpSpPr>
          <a:xfrm>
            <a:off x="244601" y="786379"/>
            <a:ext cx="2162446" cy="461665"/>
            <a:chOff x="934400" y="936575"/>
            <a:chExt cx="2162446" cy="461665"/>
          </a:xfrm>
        </p:grpSpPr>
        <p:sp>
          <p:nvSpPr>
            <p:cNvPr id="14" name="文本框 13">
              <a:extLst>
                <a:ext uri="{FF2B5EF4-FFF2-40B4-BE49-F238E27FC236}">
                  <a16:creationId xmlns:a16="http://schemas.microsoft.com/office/drawing/2014/main" id="{ABE7CBBE-E3C6-F2F1-C26D-434DA0697F4A}"/>
                </a:ext>
              </a:extLst>
            </p:cNvPr>
            <p:cNvSpPr txBox="1"/>
            <p:nvPr/>
          </p:nvSpPr>
          <p:spPr>
            <a:xfrm>
              <a:off x="1065521" y="936575"/>
              <a:ext cx="2031325" cy="461665"/>
            </a:xfrm>
            <a:prstGeom prst="rect">
              <a:avLst/>
            </a:prstGeom>
            <a:noFill/>
          </p:spPr>
          <p:txBody>
            <a:bodyPr wrap="none" rtlCol="0">
              <a:spAutoFit/>
            </a:bodyPr>
            <a:lstStyle/>
            <a:p>
              <a:r>
                <a:rPr lang="zh-CN" altLang="en-US" sz="2400" dirty="0">
                  <a:solidFill>
                    <a:srgbClr val="0E419C"/>
                  </a:solidFill>
                </a:rPr>
                <a:t>人体识别算法</a:t>
              </a:r>
            </a:p>
          </p:txBody>
        </p:sp>
        <p:sp>
          <p:nvSpPr>
            <p:cNvPr id="15" name="矩形 14">
              <a:extLst>
                <a:ext uri="{FF2B5EF4-FFF2-40B4-BE49-F238E27FC236}">
                  <a16:creationId xmlns:a16="http://schemas.microsoft.com/office/drawing/2014/main" id="{C6E8E332-3005-AB34-506F-DF12B35F1EE4}"/>
                </a:ext>
              </a:extLst>
            </p:cNvPr>
            <p:cNvSpPr/>
            <p:nvPr/>
          </p:nvSpPr>
          <p:spPr>
            <a:xfrm>
              <a:off x="934400" y="963997"/>
              <a:ext cx="45719" cy="371466"/>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Rectangle 2">
            <a:extLst>
              <a:ext uri="{FF2B5EF4-FFF2-40B4-BE49-F238E27FC236}">
                <a16:creationId xmlns:a16="http://schemas.microsoft.com/office/drawing/2014/main" id="{0FFA7DB6-9144-D01A-DC7C-824AA1DD1418}"/>
              </a:ext>
            </a:extLst>
          </p:cNvPr>
          <p:cNvSpPr>
            <a:spLocks noChangeArrowheads="1"/>
          </p:cNvSpPr>
          <p:nvPr/>
        </p:nvSpPr>
        <p:spPr bwMode="auto">
          <a:xfrm>
            <a:off x="223981" y="1667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4">
            <a:extLst>
              <a:ext uri="{FF2B5EF4-FFF2-40B4-BE49-F238E27FC236}">
                <a16:creationId xmlns:a16="http://schemas.microsoft.com/office/drawing/2014/main" id="{602AD721-2FDE-3066-16B7-E921273D03B7}"/>
              </a:ext>
            </a:extLst>
          </p:cNvPr>
          <p:cNvSpPr>
            <a:spLocks noChangeArrowheads="1"/>
          </p:cNvSpPr>
          <p:nvPr/>
        </p:nvSpPr>
        <p:spPr bwMode="auto">
          <a:xfrm>
            <a:off x="199534" y="1955645"/>
            <a:ext cx="1297336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41" name="图片 40">
            <a:extLst>
              <a:ext uri="{FF2B5EF4-FFF2-40B4-BE49-F238E27FC236}">
                <a16:creationId xmlns:a16="http://schemas.microsoft.com/office/drawing/2014/main" id="{D510BA79-C71C-8A97-1F6A-353CC73AC628}"/>
              </a:ext>
            </a:extLst>
          </p:cNvPr>
          <p:cNvPicPr>
            <a:picLocks noChangeAspect="1"/>
          </p:cNvPicPr>
          <p:nvPr/>
        </p:nvPicPr>
        <p:blipFill>
          <a:blip r:embed="rId3"/>
          <a:stretch>
            <a:fillRect/>
          </a:stretch>
        </p:blipFill>
        <p:spPr>
          <a:xfrm>
            <a:off x="348038" y="1582509"/>
            <a:ext cx="5491359" cy="1675130"/>
          </a:xfrm>
          <a:prstGeom prst="rect">
            <a:avLst/>
          </a:prstGeom>
        </p:spPr>
      </p:pic>
      <p:sp>
        <p:nvSpPr>
          <p:cNvPr id="42" name="矩形: 圆角 158">
            <a:extLst>
              <a:ext uri="{FF2B5EF4-FFF2-40B4-BE49-F238E27FC236}">
                <a16:creationId xmlns:a16="http://schemas.microsoft.com/office/drawing/2014/main" id="{4EA46C81-906F-9AAC-5D10-7EFEBF825D36}"/>
              </a:ext>
            </a:extLst>
          </p:cNvPr>
          <p:cNvSpPr/>
          <p:nvPr/>
        </p:nvSpPr>
        <p:spPr>
          <a:xfrm>
            <a:off x="259776" y="3699607"/>
            <a:ext cx="5660918" cy="2909487"/>
          </a:xfrm>
          <a:prstGeom prst="roundRect">
            <a:avLst>
              <a:gd name="adj" fmla="val 10382"/>
            </a:avLst>
          </a:prstGeom>
          <a:solidFill>
            <a:schemeClr val="bg1"/>
          </a:solidFill>
          <a:ln w="6350">
            <a:solidFill>
              <a:schemeClr val="accent1">
                <a:lumMod val="20000"/>
                <a:lumOff val="80000"/>
              </a:schemeClr>
            </a:solidFill>
            <a:prstDash val="solid"/>
          </a:ln>
          <a:effectLst>
            <a:outerShdw blurRad="1016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1400" dirty="0">
              <a:solidFill>
                <a:schemeClr val="bg2">
                  <a:lumMod val="25000"/>
                </a:schemeClr>
              </a:solidFill>
              <a:latin typeface="Source Han Sans CN Normal" panose="020B0500000000000000" pitchFamily="34" charset="-128"/>
              <a:ea typeface="Source Han Sans CN Normal" panose="020B0500000000000000" pitchFamily="34" charset="-128"/>
            </a:endParaRPr>
          </a:p>
        </p:txBody>
      </p:sp>
      <p:sp>
        <p:nvSpPr>
          <p:cNvPr id="43" name="文本框 42">
            <a:extLst>
              <a:ext uri="{FF2B5EF4-FFF2-40B4-BE49-F238E27FC236}">
                <a16:creationId xmlns:a16="http://schemas.microsoft.com/office/drawing/2014/main" id="{B7691558-E961-CC6B-C536-A91AAD44E71E}"/>
              </a:ext>
            </a:extLst>
          </p:cNvPr>
          <p:cNvSpPr txBox="1"/>
          <p:nvPr/>
        </p:nvSpPr>
        <p:spPr>
          <a:xfrm>
            <a:off x="321109" y="3856436"/>
            <a:ext cx="5660918" cy="430887"/>
          </a:xfrm>
          <a:prstGeom prst="rect">
            <a:avLst/>
          </a:prstGeom>
          <a:noFill/>
        </p:spPr>
        <p:txBody>
          <a:bodyPr wrap="square">
            <a:spAutoFit/>
          </a:bodyPr>
          <a:lstStyle/>
          <a:p>
            <a:pPr algn="ctr"/>
            <a:r>
              <a:rPr lang="zh-CN" altLang="en-US" sz="22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rPr>
              <a:t>以</a:t>
            </a:r>
            <a:r>
              <a:rPr lang="en-US" altLang="zh-CN" sz="22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rPr>
              <a:t>YOLOv11</a:t>
            </a:r>
            <a:r>
              <a:rPr lang="zh-CN" altLang="en-US" sz="2200" dirty="0">
                <a:gradFill flip="none" rotWithShape="1">
                  <a:gsLst>
                    <a:gs pos="0">
                      <a:srgbClr val="010863"/>
                    </a:gs>
                    <a:gs pos="100000">
                      <a:schemeClr val="accent1">
                        <a:lumMod val="60000"/>
                        <a:lumOff val="40000"/>
                      </a:schemeClr>
                    </a:gs>
                  </a:gsLst>
                  <a:lin ang="2700000" scaled="1"/>
                  <a:tileRect/>
                </a:gradFill>
                <a:latin typeface="字体圈欣意冠黑体" panose="00000500000000000000" pitchFamily="2" charset="-122"/>
                <a:ea typeface="字体圈欣意冠黑体" panose="00000500000000000000" pitchFamily="2" charset="-122"/>
                <a:cs typeface="OPPOSans R" panose="00020600040101010101" pitchFamily="18" charset="-122"/>
                <a:sym typeface="+mn-ea"/>
              </a:rPr>
              <a:t>为主体框架，增加两大改进</a:t>
            </a:r>
          </a:p>
        </p:txBody>
      </p:sp>
      <p:grpSp>
        <p:nvGrpSpPr>
          <p:cNvPr id="44" name="组合 43">
            <a:extLst>
              <a:ext uri="{FF2B5EF4-FFF2-40B4-BE49-F238E27FC236}">
                <a16:creationId xmlns:a16="http://schemas.microsoft.com/office/drawing/2014/main" id="{8404B2BD-EDE6-037A-E7D8-05431F7BB669}"/>
              </a:ext>
            </a:extLst>
          </p:cNvPr>
          <p:cNvGrpSpPr/>
          <p:nvPr/>
        </p:nvGrpSpPr>
        <p:grpSpPr>
          <a:xfrm>
            <a:off x="2447933" y="4287323"/>
            <a:ext cx="1246505" cy="159385"/>
            <a:chOff x="8048021" y="2062401"/>
            <a:chExt cx="684000" cy="88380"/>
          </a:xfrm>
        </p:grpSpPr>
        <p:cxnSp>
          <p:nvCxnSpPr>
            <p:cNvPr id="68" name="直线连接符 77">
              <a:extLst>
                <a:ext uri="{FF2B5EF4-FFF2-40B4-BE49-F238E27FC236}">
                  <a16:creationId xmlns:a16="http://schemas.microsoft.com/office/drawing/2014/main" id="{B8250A31-5289-BB7B-33E6-63A34850ADAF}"/>
                </a:ext>
              </a:extLst>
            </p:cNvPr>
            <p:cNvCxnSpPr/>
            <p:nvPr/>
          </p:nvCxnSpPr>
          <p:spPr>
            <a:xfrm>
              <a:off x="8048021" y="2106591"/>
              <a:ext cx="684000" cy="0"/>
            </a:xfrm>
            <a:prstGeom prst="line">
              <a:avLst/>
            </a:prstGeom>
            <a:ln w="31750">
              <a:gradFill flip="none" rotWithShape="1">
                <a:gsLst>
                  <a:gs pos="0">
                    <a:schemeClr val="accent1">
                      <a:alpha val="0"/>
                    </a:schemeClr>
                  </a:gs>
                  <a:gs pos="60000">
                    <a:schemeClr val="accent1"/>
                  </a:gs>
                  <a:gs pos="4000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6D521E07-0ABB-1C40-4219-37A309DE2EFE}"/>
                </a:ext>
              </a:extLst>
            </p:cNvPr>
            <p:cNvSpPr/>
            <p:nvPr/>
          </p:nvSpPr>
          <p:spPr>
            <a:xfrm flipV="1">
              <a:off x="8345831" y="2062401"/>
              <a:ext cx="88380" cy="88380"/>
            </a:xfrm>
            <a:prstGeom prst="ellipse">
              <a:avLst/>
            </a:prstGeom>
            <a:solidFill>
              <a:schemeClr val="bg1"/>
            </a:solidFill>
            <a:ln w="31750">
              <a:solidFill>
                <a:schemeClr val="accent1"/>
              </a:soli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200">
                <a:solidFill>
                  <a:srgbClr val="FFFFFF"/>
                </a:solidFill>
                <a:latin typeface="Source Han Sans CN Normal" panose="020B0500000000000000" pitchFamily="34" charset="-128"/>
                <a:ea typeface="Source Han Sans CN Normal" panose="020B0500000000000000" pitchFamily="34" charset="-128"/>
              </a:endParaRPr>
            </a:p>
          </p:txBody>
        </p:sp>
      </p:grpSp>
      <p:sp>
        <p:nvSpPr>
          <p:cNvPr id="70" name="文本框 69">
            <a:extLst>
              <a:ext uri="{FF2B5EF4-FFF2-40B4-BE49-F238E27FC236}">
                <a16:creationId xmlns:a16="http://schemas.microsoft.com/office/drawing/2014/main" id="{C316F922-26D1-CA6F-594D-1EF8C731978E}"/>
              </a:ext>
            </a:extLst>
          </p:cNvPr>
          <p:cNvSpPr txBox="1"/>
          <p:nvPr>
            <p:custDataLst>
              <p:tags r:id="rId1"/>
            </p:custDataLst>
          </p:nvPr>
        </p:nvSpPr>
        <p:spPr>
          <a:xfrm>
            <a:off x="528385" y="4589878"/>
            <a:ext cx="5085599" cy="2042547"/>
          </a:xfrm>
          <a:prstGeom prst="rect">
            <a:avLst/>
          </a:prstGeom>
          <a:noFill/>
        </p:spPr>
        <p:txBody>
          <a:bodyPr wrap="square" rtlCol="0">
            <a:spAutoFit/>
          </a:bodyPr>
          <a:lstStyle/>
          <a:p>
            <a:pPr lvl="0">
              <a:lnSpc>
                <a:spcPct val="120000"/>
              </a:lnSpc>
              <a:spcBef>
                <a:spcPts val="0"/>
              </a:spcBef>
              <a:spcAft>
                <a:spcPts val="0"/>
              </a:spcAft>
            </a:pPr>
            <a:r>
              <a:rPr lang="en-US" altLang="zh-CN" dirty="0">
                <a:latin typeface="宋体" panose="02010600030101010101" pitchFamily="2" charset="-122"/>
                <a:ea typeface="宋体" panose="02010600030101010101" pitchFamily="2" charset="-122"/>
                <a:cs typeface="OPPOSans R" panose="00020600040101010101" pitchFamily="18" charset="-122"/>
                <a:sym typeface="+mn-ea"/>
              </a:rPr>
              <a:t>    1.</a:t>
            </a:r>
            <a:r>
              <a:rPr lang="zh-CN" altLang="en-US" dirty="0">
                <a:latin typeface="宋体" panose="02010600030101010101" pitchFamily="2" charset="-122"/>
                <a:ea typeface="宋体" panose="02010600030101010101" pitchFamily="2" charset="-122"/>
                <a:cs typeface="OPPOSans R" panose="00020600040101010101" pitchFamily="18" charset="-122"/>
                <a:sym typeface="+mn-ea"/>
              </a:rPr>
              <a:t>设计了一个专门用于浓烟环境下的图像增强模块</a:t>
            </a:r>
            <a:r>
              <a:rPr lang="en-US" altLang="zh-CN" dirty="0">
                <a:latin typeface="宋体" panose="02010600030101010101" pitchFamily="2" charset="-122"/>
                <a:ea typeface="宋体" panose="02010600030101010101" pitchFamily="2" charset="-122"/>
                <a:cs typeface="OPPOSans R" panose="00020600040101010101" pitchFamily="18" charset="-122"/>
                <a:sym typeface="+mn-ea"/>
              </a:rPr>
              <a:t>GammaCLAHEBlur</a:t>
            </a:r>
            <a:r>
              <a:rPr lang="zh-CN" altLang="en-US" dirty="0">
                <a:latin typeface="宋体" panose="02010600030101010101" pitchFamily="2" charset="-122"/>
                <a:ea typeface="宋体" panose="02010600030101010101" pitchFamily="2" charset="-122"/>
                <a:cs typeface="OPPOSans R" panose="00020600040101010101" pitchFamily="18" charset="-122"/>
                <a:sym typeface="+mn-ea"/>
              </a:rPr>
              <a:t>，与常规增强策略进行混合训练，以提升模型对烟雾干扰的鲁棒性。</a:t>
            </a:r>
            <a:endParaRPr lang="en-US" altLang="zh-CN" dirty="0">
              <a:latin typeface="宋体" panose="02010600030101010101" pitchFamily="2" charset="-122"/>
              <a:ea typeface="宋体" panose="02010600030101010101" pitchFamily="2" charset="-122"/>
              <a:cs typeface="OPPOSans R" panose="00020600040101010101" pitchFamily="18" charset="-122"/>
              <a:sym typeface="+mn-ea"/>
            </a:endParaRPr>
          </a:p>
          <a:p>
            <a:pPr lvl="0">
              <a:lnSpc>
                <a:spcPct val="120000"/>
              </a:lnSpc>
              <a:spcBef>
                <a:spcPts val="0"/>
              </a:spcBef>
              <a:spcAft>
                <a:spcPts val="0"/>
              </a:spcAft>
            </a:pPr>
            <a:r>
              <a:rPr lang="en-US" altLang="zh-CN" dirty="0">
                <a:latin typeface="宋体" panose="02010600030101010101" pitchFamily="2" charset="-122"/>
                <a:ea typeface="宋体" panose="02010600030101010101" pitchFamily="2" charset="-122"/>
                <a:cs typeface="OPPOSans R" panose="00020600040101010101" pitchFamily="18" charset="-122"/>
                <a:sym typeface="+mn-ea"/>
              </a:rPr>
              <a:t>    2.</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对</a:t>
            </a:r>
            <a:r>
              <a:rPr lang="en-US" altLang="zh-CN" sz="1800" dirty="0">
                <a:effectLst/>
                <a:latin typeface="宋体" panose="02010600030101010101" pitchFamily="2" charset="-122"/>
                <a:ea typeface="宋体" panose="02010600030101010101" pitchFamily="2" charset="-122"/>
                <a:cs typeface="楷体" panose="02010609060101010101" pitchFamily="49" charset="-122"/>
              </a:rPr>
              <a:t>C3k</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模块进行了结构优化</a:t>
            </a:r>
            <a:r>
              <a:rPr lang="zh-CN" altLang="en-US" sz="1800" dirty="0">
                <a:effectLst/>
                <a:latin typeface="宋体" panose="02010600030101010101" pitchFamily="2" charset="-122"/>
                <a:ea typeface="宋体" panose="02010600030101010101" pitchFamily="2" charset="-122"/>
                <a:cs typeface="楷体" panose="02010609060101010101" pitchFamily="49" charset="-122"/>
              </a:rPr>
              <a:t>，</a:t>
            </a:r>
            <a:r>
              <a:rPr lang="zh-CN" altLang="zh-CN" sz="1800" dirty="0">
                <a:effectLst/>
                <a:latin typeface="宋体" panose="02010600030101010101" pitchFamily="2" charset="-122"/>
                <a:ea typeface="宋体" panose="02010600030101010101" pitchFamily="2" charset="-122"/>
                <a:cs typeface="楷体" panose="02010609060101010101" pitchFamily="49" charset="-122"/>
              </a:rPr>
              <a:t>引入了空洞卷积以扩大感受野、增强上下文感知能力</a:t>
            </a:r>
            <a:endParaRPr lang="en-US" altLang="zh-CN" dirty="0">
              <a:latin typeface="宋体" panose="02010600030101010101" pitchFamily="2" charset="-122"/>
              <a:ea typeface="宋体" panose="02010600030101010101" pitchFamily="2" charset="-122"/>
              <a:cs typeface="OPPOSans R" panose="00020600040101010101" pitchFamily="18" charset="-122"/>
              <a:sym typeface="+mn-ea"/>
            </a:endParaRPr>
          </a:p>
          <a:p>
            <a:pPr lvl="0">
              <a:lnSpc>
                <a:spcPct val="120000"/>
              </a:lnSpc>
              <a:spcBef>
                <a:spcPts val="0"/>
              </a:spcBef>
              <a:spcAft>
                <a:spcPts val="0"/>
              </a:spcAft>
            </a:pPr>
            <a:endParaRPr lang="zh-CN" altLang="en-US" dirty="0">
              <a:latin typeface="宋体" panose="02010600030101010101" pitchFamily="2" charset="-122"/>
              <a:ea typeface="宋体" panose="02010600030101010101" pitchFamily="2" charset="-122"/>
              <a:cs typeface="OPPOSans R" panose="00020600040101010101" pitchFamily="18" charset="-122"/>
              <a:sym typeface="+mn-ea"/>
            </a:endParaRPr>
          </a:p>
        </p:txBody>
      </p:sp>
      <p:pic>
        <p:nvPicPr>
          <p:cNvPr id="82" name="图片 81">
            <a:extLst>
              <a:ext uri="{FF2B5EF4-FFF2-40B4-BE49-F238E27FC236}">
                <a16:creationId xmlns:a16="http://schemas.microsoft.com/office/drawing/2014/main" id="{2B1D632D-B108-084D-6747-AB51D50147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01606" y="3905223"/>
            <a:ext cx="2045593" cy="2362869"/>
          </a:xfrm>
          <a:prstGeom prst="rect">
            <a:avLst/>
          </a:prstGeom>
        </p:spPr>
      </p:pic>
      <p:sp>
        <p:nvSpPr>
          <p:cNvPr id="83" name="文本框 82">
            <a:extLst>
              <a:ext uri="{FF2B5EF4-FFF2-40B4-BE49-F238E27FC236}">
                <a16:creationId xmlns:a16="http://schemas.microsoft.com/office/drawing/2014/main" id="{A91381BA-99CF-9944-6ED1-1215529ADB35}"/>
              </a:ext>
            </a:extLst>
          </p:cNvPr>
          <p:cNvSpPr txBox="1"/>
          <p:nvPr/>
        </p:nvSpPr>
        <p:spPr>
          <a:xfrm>
            <a:off x="2055524" y="3257639"/>
            <a:ext cx="2031325" cy="338554"/>
          </a:xfrm>
          <a:prstGeom prst="rect">
            <a:avLst/>
          </a:prstGeom>
          <a:noFill/>
        </p:spPr>
        <p:txBody>
          <a:bodyPr wrap="none" rtlCol="0">
            <a:spAutoFit/>
          </a:bodyPr>
          <a:lstStyle/>
          <a:p>
            <a:r>
              <a:rPr lang="en-US" altLang="zh-CN" sz="1600" dirty="0">
                <a:latin typeface="宋体" panose="02010600030101010101" pitchFamily="2" charset="-122"/>
                <a:ea typeface="宋体" panose="02010600030101010101" pitchFamily="2" charset="-122"/>
              </a:rPr>
              <a:t>1.</a:t>
            </a:r>
            <a:r>
              <a:rPr lang="zh-CN" altLang="en-US" sz="1600" dirty="0">
                <a:latin typeface="宋体" panose="02010600030101010101" pitchFamily="2" charset="-122"/>
                <a:ea typeface="宋体" panose="02010600030101010101" pitchFamily="2" charset="-122"/>
              </a:rPr>
              <a:t>添加图像增强模块</a:t>
            </a:r>
          </a:p>
        </p:txBody>
      </p:sp>
      <p:pic>
        <p:nvPicPr>
          <p:cNvPr id="85" name="图片 84">
            <a:extLst>
              <a:ext uri="{FF2B5EF4-FFF2-40B4-BE49-F238E27FC236}">
                <a16:creationId xmlns:a16="http://schemas.microsoft.com/office/drawing/2014/main" id="{0C25E925-C955-5A11-4417-C8698D3108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90816" y="1045252"/>
            <a:ext cx="2142349" cy="2263158"/>
          </a:xfrm>
          <a:prstGeom prst="rect">
            <a:avLst/>
          </a:prstGeom>
        </p:spPr>
      </p:pic>
      <p:pic>
        <p:nvPicPr>
          <p:cNvPr id="87" name="图片 86">
            <a:extLst>
              <a:ext uri="{FF2B5EF4-FFF2-40B4-BE49-F238E27FC236}">
                <a16:creationId xmlns:a16="http://schemas.microsoft.com/office/drawing/2014/main" id="{6E15AB63-1465-FA2B-A9EB-8B0E1484B0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64920" y="3999945"/>
            <a:ext cx="1275010" cy="2094659"/>
          </a:xfrm>
          <a:prstGeom prst="rect">
            <a:avLst/>
          </a:prstGeom>
        </p:spPr>
      </p:pic>
      <p:pic>
        <p:nvPicPr>
          <p:cNvPr id="89" name="图片 88">
            <a:extLst>
              <a:ext uri="{FF2B5EF4-FFF2-40B4-BE49-F238E27FC236}">
                <a16:creationId xmlns:a16="http://schemas.microsoft.com/office/drawing/2014/main" id="{23AEF05E-23B4-2065-D37F-2D78174AD8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57290" y="1208698"/>
            <a:ext cx="1382640" cy="2094659"/>
          </a:xfrm>
          <a:prstGeom prst="rect">
            <a:avLst/>
          </a:prstGeom>
        </p:spPr>
      </p:pic>
      <p:sp>
        <p:nvSpPr>
          <p:cNvPr id="17" name="矩形 16">
            <a:extLst>
              <a:ext uri="{FF2B5EF4-FFF2-40B4-BE49-F238E27FC236}">
                <a16:creationId xmlns:a16="http://schemas.microsoft.com/office/drawing/2014/main" id="{AB13128D-D2D1-2F0D-C5C2-EE007E98558F}"/>
              </a:ext>
            </a:extLst>
          </p:cNvPr>
          <p:cNvSpPr/>
          <p:nvPr/>
        </p:nvSpPr>
        <p:spPr>
          <a:xfrm>
            <a:off x="8981878" y="1713331"/>
            <a:ext cx="839521" cy="419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67AC1F37-63EA-BD14-32EA-9C684E92256A}"/>
              </a:ext>
            </a:extLst>
          </p:cNvPr>
          <p:cNvSpPr/>
          <p:nvPr/>
        </p:nvSpPr>
        <p:spPr>
          <a:xfrm>
            <a:off x="7164920" y="1208698"/>
            <a:ext cx="1275010" cy="209465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A08ED81E-4715-57B4-E401-8DA5FA9962E6}"/>
              </a:ext>
            </a:extLst>
          </p:cNvPr>
          <p:cNvCxnSpPr/>
          <p:nvPr/>
        </p:nvCxnSpPr>
        <p:spPr>
          <a:xfrm flipH="1">
            <a:off x="8547560" y="1962550"/>
            <a:ext cx="337735"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2" name="矩形: 圆角 21">
            <a:extLst>
              <a:ext uri="{FF2B5EF4-FFF2-40B4-BE49-F238E27FC236}">
                <a16:creationId xmlns:a16="http://schemas.microsoft.com/office/drawing/2014/main" id="{C6B6B1AA-9A8F-E652-E963-5FA40DDBCDC5}"/>
              </a:ext>
            </a:extLst>
          </p:cNvPr>
          <p:cNvSpPr/>
          <p:nvPr/>
        </p:nvSpPr>
        <p:spPr>
          <a:xfrm>
            <a:off x="6869071" y="1045252"/>
            <a:ext cx="4158400" cy="2338030"/>
          </a:xfrm>
          <a:prstGeom prst="roundRect">
            <a:avLst/>
          </a:prstGeom>
          <a:noFill/>
          <a:ln w="28575">
            <a:solidFill>
              <a:srgbClr val="0E419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7D877131-F38D-7957-DBB0-91AB9C8621E0}"/>
              </a:ext>
            </a:extLst>
          </p:cNvPr>
          <p:cNvSpPr/>
          <p:nvPr/>
        </p:nvSpPr>
        <p:spPr>
          <a:xfrm>
            <a:off x="6869069" y="3830426"/>
            <a:ext cx="4158401" cy="2447902"/>
          </a:xfrm>
          <a:prstGeom prst="roundRect">
            <a:avLst/>
          </a:prstGeom>
          <a:noFill/>
          <a:ln w="28575">
            <a:solidFill>
              <a:srgbClr val="0E419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V 形 24">
            <a:extLst>
              <a:ext uri="{FF2B5EF4-FFF2-40B4-BE49-F238E27FC236}">
                <a16:creationId xmlns:a16="http://schemas.microsoft.com/office/drawing/2014/main" id="{7D375C7B-231F-F5F8-88A9-960A56DC9CA3}"/>
              </a:ext>
            </a:extLst>
          </p:cNvPr>
          <p:cNvSpPr/>
          <p:nvPr/>
        </p:nvSpPr>
        <p:spPr>
          <a:xfrm rot="5400000">
            <a:off x="10075844" y="3539978"/>
            <a:ext cx="136066" cy="2574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箭头: V 形 25">
            <a:extLst>
              <a:ext uri="{FF2B5EF4-FFF2-40B4-BE49-F238E27FC236}">
                <a16:creationId xmlns:a16="http://schemas.microsoft.com/office/drawing/2014/main" id="{E11DCC9E-9905-D545-5016-A9CEBAED22BD}"/>
              </a:ext>
            </a:extLst>
          </p:cNvPr>
          <p:cNvSpPr/>
          <p:nvPr/>
        </p:nvSpPr>
        <p:spPr>
          <a:xfrm rot="5400000">
            <a:off x="10071604" y="3403912"/>
            <a:ext cx="136066" cy="2574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箭头: V 形 26">
            <a:extLst>
              <a:ext uri="{FF2B5EF4-FFF2-40B4-BE49-F238E27FC236}">
                <a16:creationId xmlns:a16="http://schemas.microsoft.com/office/drawing/2014/main" id="{A9E926DB-E0E4-C025-35AB-D549F1B86562}"/>
              </a:ext>
            </a:extLst>
          </p:cNvPr>
          <p:cNvSpPr/>
          <p:nvPr/>
        </p:nvSpPr>
        <p:spPr>
          <a:xfrm rot="5400000">
            <a:off x="7554966" y="3565534"/>
            <a:ext cx="136066" cy="2574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箭头: V 形 27">
            <a:extLst>
              <a:ext uri="{FF2B5EF4-FFF2-40B4-BE49-F238E27FC236}">
                <a16:creationId xmlns:a16="http://schemas.microsoft.com/office/drawing/2014/main" id="{A9513FF0-8038-7476-44E7-D2597BEE6526}"/>
              </a:ext>
            </a:extLst>
          </p:cNvPr>
          <p:cNvSpPr/>
          <p:nvPr/>
        </p:nvSpPr>
        <p:spPr>
          <a:xfrm rot="5400000">
            <a:off x="7554966" y="3428858"/>
            <a:ext cx="136066" cy="2574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矩形 28">
            <a:extLst>
              <a:ext uri="{FF2B5EF4-FFF2-40B4-BE49-F238E27FC236}">
                <a16:creationId xmlns:a16="http://schemas.microsoft.com/office/drawing/2014/main" id="{22FF40CD-D1E4-C304-AC79-6D60050B3F8C}"/>
              </a:ext>
            </a:extLst>
          </p:cNvPr>
          <p:cNvSpPr/>
          <p:nvPr/>
        </p:nvSpPr>
        <p:spPr>
          <a:xfrm>
            <a:off x="8981878" y="4627711"/>
            <a:ext cx="839521" cy="419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0" name="直接箭头连接符 29">
            <a:extLst>
              <a:ext uri="{FF2B5EF4-FFF2-40B4-BE49-F238E27FC236}">
                <a16:creationId xmlns:a16="http://schemas.microsoft.com/office/drawing/2014/main" id="{9B47B404-3FBF-EC87-7176-E963291C27D9}"/>
              </a:ext>
            </a:extLst>
          </p:cNvPr>
          <p:cNvCxnSpPr/>
          <p:nvPr/>
        </p:nvCxnSpPr>
        <p:spPr>
          <a:xfrm flipH="1">
            <a:off x="8547560" y="4837492"/>
            <a:ext cx="337735"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1" name="矩形: 圆角 30">
            <a:extLst>
              <a:ext uri="{FF2B5EF4-FFF2-40B4-BE49-F238E27FC236}">
                <a16:creationId xmlns:a16="http://schemas.microsoft.com/office/drawing/2014/main" id="{FA2C111D-A9F6-EBCB-9C4A-22A7C8709BB6}"/>
              </a:ext>
            </a:extLst>
          </p:cNvPr>
          <p:cNvSpPr/>
          <p:nvPr/>
        </p:nvSpPr>
        <p:spPr>
          <a:xfrm>
            <a:off x="7164920" y="4012150"/>
            <a:ext cx="1275010" cy="209465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83F5E435-7012-DAAF-F521-79FB42A18502}"/>
              </a:ext>
            </a:extLst>
          </p:cNvPr>
          <p:cNvSpPr txBox="1"/>
          <p:nvPr/>
        </p:nvSpPr>
        <p:spPr>
          <a:xfrm>
            <a:off x="8303445" y="6293871"/>
            <a:ext cx="1620957" cy="338554"/>
          </a:xfrm>
          <a:prstGeom prst="rect">
            <a:avLst/>
          </a:prstGeom>
          <a:noFill/>
        </p:spPr>
        <p:txBody>
          <a:bodyPr wrap="none" rtlCol="0">
            <a:spAutoFit/>
          </a:bodyPr>
          <a:lstStyle/>
          <a:p>
            <a:r>
              <a:rPr lang="en-US" altLang="zh-CN" sz="1600" dirty="0">
                <a:latin typeface="宋体" panose="02010600030101010101" pitchFamily="2" charset="-122"/>
                <a:ea typeface="宋体" panose="02010600030101010101" pitchFamily="2" charset="-122"/>
              </a:rPr>
              <a:t>2.</a:t>
            </a:r>
            <a:r>
              <a:rPr lang="en-US" altLang="zh-CN" sz="1600" dirty="0">
                <a:effectLst/>
                <a:latin typeface="宋体" panose="02010600030101010101" pitchFamily="2" charset="-122"/>
                <a:ea typeface="宋体" panose="02010600030101010101" pitchFamily="2" charset="-122"/>
                <a:cs typeface="楷体" panose="02010609060101010101" pitchFamily="49" charset="-122"/>
              </a:rPr>
              <a:t> C3k</a:t>
            </a:r>
            <a:r>
              <a:rPr lang="zh-CN" altLang="en-US" sz="1600" dirty="0">
                <a:latin typeface="宋体" panose="02010600030101010101" pitchFamily="2" charset="-122"/>
                <a:ea typeface="宋体" panose="02010600030101010101" pitchFamily="2" charset="-122"/>
              </a:rPr>
              <a:t>模块优化</a:t>
            </a:r>
          </a:p>
        </p:txBody>
      </p:sp>
      <p:sp>
        <p:nvSpPr>
          <p:cNvPr id="34" name="矩形: 圆角 33">
            <a:extLst>
              <a:ext uri="{FF2B5EF4-FFF2-40B4-BE49-F238E27FC236}">
                <a16:creationId xmlns:a16="http://schemas.microsoft.com/office/drawing/2014/main" id="{EC153463-D77B-C956-EF30-A1B1CB5A8476}"/>
              </a:ext>
            </a:extLst>
          </p:cNvPr>
          <p:cNvSpPr/>
          <p:nvPr/>
        </p:nvSpPr>
        <p:spPr>
          <a:xfrm>
            <a:off x="259777" y="1448193"/>
            <a:ext cx="5660917" cy="1809445"/>
          </a:xfrm>
          <a:prstGeom prst="roundRect">
            <a:avLst/>
          </a:prstGeom>
          <a:noFill/>
          <a:ln w="28575">
            <a:solidFill>
              <a:srgbClr val="0E419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89468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7C21-293C-F205-E569-7EB7B77D98EC}"/>
            </a:ext>
          </a:extLst>
        </p:cNvPr>
        <p:cNvGrpSpPr/>
        <p:nvPr/>
      </p:nvGrpSpPr>
      <p:grpSpPr>
        <a:xfrm>
          <a:off x="0" y="0"/>
          <a:ext cx="0" cy="0"/>
          <a:chOff x="0" y="0"/>
          <a:chExt cx="0" cy="0"/>
        </a:xfrm>
      </p:grpSpPr>
      <p:sp>
        <p:nvSpPr>
          <p:cNvPr id="4" name="iṡ1íḋe">
            <a:extLst>
              <a:ext uri="{FF2B5EF4-FFF2-40B4-BE49-F238E27FC236}">
                <a16:creationId xmlns:a16="http://schemas.microsoft.com/office/drawing/2014/main" id="{9408D5E0-1AE8-5AF9-88F4-05A18A4C4C1B}"/>
              </a:ext>
            </a:extLst>
          </p:cNvPr>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sp>
        <p:nvSpPr>
          <p:cNvPr id="7" name="文本框 6">
            <a:extLst>
              <a:ext uri="{FF2B5EF4-FFF2-40B4-BE49-F238E27FC236}">
                <a16:creationId xmlns:a16="http://schemas.microsoft.com/office/drawing/2014/main" id="{1D6C5CEA-0825-C65E-FCBB-F21C0A0A1773}"/>
              </a:ext>
            </a:extLst>
          </p:cNvPr>
          <p:cNvSpPr txBox="1"/>
          <p:nvPr/>
        </p:nvSpPr>
        <p:spPr>
          <a:xfrm>
            <a:off x="979048" y="2699794"/>
            <a:ext cx="5724644" cy="830997"/>
          </a:xfrm>
          <a:prstGeom prst="rect">
            <a:avLst/>
          </a:prstGeom>
          <a:noFill/>
        </p:spPr>
        <p:txBody>
          <a:bodyPr wrap="none" rtlCol="0">
            <a:spAutoFit/>
          </a:bodyPr>
          <a:lstStyle/>
          <a:p>
            <a:r>
              <a:rPr lang="zh-CN" altLang="en-US" sz="4800" spc="600" dirty="0">
                <a:solidFill>
                  <a:schemeClr val="bg1"/>
                </a:solidFill>
                <a:cs typeface="+mn-ea"/>
                <a:sym typeface="+mn-lt"/>
              </a:rPr>
              <a:t>毕业论文答辩模板</a:t>
            </a:r>
          </a:p>
        </p:txBody>
      </p:sp>
      <p:sp>
        <p:nvSpPr>
          <p:cNvPr id="8" name="文本框 7">
            <a:extLst>
              <a:ext uri="{FF2B5EF4-FFF2-40B4-BE49-F238E27FC236}">
                <a16:creationId xmlns:a16="http://schemas.microsoft.com/office/drawing/2014/main" id="{46970A9F-7E45-C4A6-EA05-71160132F10C}"/>
              </a:ext>
            </a:extLst>
          </p:cNvPr>
          <p:cNvSpPr txBox="1"/>
          <p:nvPr/>
        </p:nvSpPr>
        <p:spPr>
          <a:xfrm>
            <a:off x="979048" y="3627272"/>
            <a:ext cx="5625258" cy="307777"/>
          </a:xfrm>
          <a:prstGeom prst="rect">
            <a:avLst/>
          </a:prstGeom>
          <a:noFill/>
        </p:spPr>
        <p:txBody>
          <a:bodyPr wrap="none" rtlCol="0">
            <a:spAutoFit/>
          </a:bodyPr>
          <a:lstStyle/>
          <a:p>
            <a:r>
              <a:rPr lang="en-US" altLang="zh-CN" sz="1400" spc="600" dirty="0">
                <a:solidFill>
                  <a:schemeClr val="bg1"/>
                </a:solidFill>
                <a:cs typeface="+mn-ea"/>
                <a:sym typeface="+mn-lt"/>
              </a:rPr>
              <a:t>Graduation thesis defense template</a:t>
            </a:r>
            <a:endParaRPr lang="zh-CN" altLang="en-US" sz="1400" spc="600" dirty="0">
              <a:solidFill>
                <a:schemeClr val="bg1"/>
              </a:solidFill>
              <a:cs typeface="+mn-ea"/>
              <a:sym typeface="+mn-lt"/>
            </a:endParaRPr>
          </a:p>
        </p:txBody>
      </p:sp>
      <p:sp>
        <p:nvSpPr>
          <p:cNvPr id="9" name="iš1íḍè">
            <a:extLst>
              <a:ext uri="{FF2B5EF4-FFF2-40B4-BE49-F238E27FC236}">
                <a16:creationId xmlns:a16="http://schemas.microsoft.com/office/drawing/2014/main" id="{45659C1A-DF32-14E4-5E42-9202CB2FA9B1}"/>
              </a:ext>
            </a:extLst>
          </p:cNvPr>
          <p:cNvSpPr/>
          <p:nvPr/>
        </p:nvSpPr>
        <p:spPr>
          <a:xfrm>
            <a:off x="273665" y="1772815"/>
            <a:ext cx="11608824" cy="4925711"/>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cs typeface="+mn-ea"/>
              <a:sym typeface="+mn-lt"/>
            </a:endParaRPr>
          </a:p>
        </p:txBody>
      </p:sp>
      <p:sp>
        <p:nvSpPr>
          <p:cNvPr id="49" name="Freeform 9">
            <a:extLst>
              <a:ext uri="{FF2B5EF4-FFF2-40B4-BE49-F238E27FC236}">
                <a16:creationId xmlns:a16="http://schemas.microsoft.com/office/drawing/2014/main" id="{5CEF30AF-95B8-E215-98EE-D3241B6257E5}"/>
              </a:ext>
            </a:extLst>
          </p:cNvPr>
          <p:cNvSpPr/>
          <p:nvPr/>
        </p:nvSpPr>
        <p:spPr>
          <a:xfrm>
            <a:off x="7516808" y="4868025"/>
            <a:ext cx="935482" cy="358970"/>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38100" cmpd="sng">
            <a:solidFill>
              <a:schemeClr val="accent1"/>
            </a:solidFill>
            <a:prstDash val="sys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4800">
              <a:cs typeface="+mn-ea"/>
              <a:sym typeface="+mn-lt"/>
            </a:endParaRPr>
          </a:p>
        </p:txBody>
      </p:sp>
      <p:sp>
        <p:nvSpPr>
          <p:cNvPr id="52" name="Freeform 12">
            <a:extLst>
              <a:ext uri="{FF2B5EF4-FFF2-40B4-BE49-F238E27FC236}">
                <a16:creationId xmlns:a16="http://schemas.microsoft.com/office/drawing/2014/main" id="{3AC93F86-F77D-D1F6-476A-F1C8A8E5F7B5}"/>
              </a:ext>
            </a:extLst>
          </p:cNvPr>
          <p:cNvSpPr/>
          <p:nvPr/>
        </p:nvSpPr>
        <p:spPr>
          <a:xfrm flipV="1">
            <a:off x="7609743" y="2621057"/>
            <a:ext cx="935482" cy="358970"/>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38100" cmpd="sng">
            <a:solidFill>
              <a:schemeClr val="accent3"/>
            </a:solidFill>
            <a:prstDash val="sys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4800">
              <a:cs typeface="+mn-ea"/>
              <a:sym typeface="+mn-lt"/>
            </a:endParaRPr>
          </a:p>
        </p:txBody>
      </p:sp>
      <p:grpSp>
        <p:nvGrpSpPr>
          <p:cNvPr id="53" name="Group 22">
            <a:extLst>
              <a:ext uri="{FF2B5EF4-FFF2-40B4-BE49-F238E27FC236}">
                <a16:creationId xmlns:a16="http://schemas.microsoft.com/office/drawing/2014/main" id="{CCFE2334-AE20-942C-934C-C123D1119965}"/>
              </a:ext>
            </a:extLst>
          </p:cNvPr>
          <p:cNvGrpSpPr/>
          <p:nvPr/>
        </p:nvGrpSpPr>
        <p:grpSpPr>
          <a:xfrm>
            <a:off x="4141853" y="1881048"/>
            <a:ext cx="3921259" cy="3919591"/>
            <a:chOff x="4230687" y="1876258"/>
            <a:chExt cx="3736976" cy="3735387"/>
          </a:xfrm>
          <a:effectLst>
            <a:outerShdw dist="38100" dir="5400000" algn="ctr" rotWithShape="0">
              <a:srgbClr val="000000">
                <a:alpha val="10000"/>
              </a:srgbClr>
            </a:outerShdw>
          </a:effectLst>
        </p:grpSpPr>
        <p:sp>
          <p:nvSpPr>
            <p:cNvPr id="54" name="Freeform 5">
              <a:extLst>
                <a:ext uri="{FF2B5EF4-FFF2-40B4-BE49-F238E27FC236}">
                  <a16:creationId xmlns:a16="http://schemas.microsoft.com/office/drawing/2014/main" id="{D82F5F11-4741-8EC6-2C44-C95513E6330F}"/>
                </a:ext>
              </a:extLst>
            </p:cNvPr>
            <p:cNvSpPr/>
            <p:nvPr/>
          </p:nvSpPr>
          <p:spPr bwMode="auto">
            <a:xfrm>
              <a:off x="4230687" y="3147845"/>
              <a:ext cx="1865313" cy="2238375"/>
            </a:xfrm>
            <a:custGeom>
              <a:avLst/>
              <a:gdLst/>
              <a:ahLst/>
              <a:cxnLst>
                <a:cxn ang="0">
                  <a:pos x="248" y="158"/>
                </a:cxn>
                <a:cxn ang="0">
                  <a:pos x="248" y="160"/>
                </a:cxn>
                <a:cxn ang="0">
                  <a:pos x="250" y="192"/>
                </a:cxn>
                <a:cxn ang="0">
                  <a:pos x="321" y="335"/>
                </a:cxn>
                <a:cxn ang="0">
                  <a:pos x="437" y="401"/>
                </a:cxn>
                <a:cxn ang="0">
                  <a:pos x="496" y="408"/>
                </a:cxn>
                <a:cxn ang="0">
                  <a:pos x="496" y="595"/>
                </a:cxn>
                <a:cxn ang="0">
                  <a:pos x="430" y="591"/>
                </a:cxn>
                <a:cxn ang="0">
                  <a:pos x="189" y="468"/>
                </a:cxn>
                <a:cxn ang="0">
                  <a:pos x="62" y="192"/>
                </a:cxn>
                <a:cxn ang="0">
                  <a:pos x="61" y="160"/>
                </a:cxn>
                <a:cxn ang="0">
                  <a:pos x="61" y="158"/>
                </a:cxn>
                <a:cxn ang="0">
                  <a:pos x="0" y="158"/>
                </a:cxn>
                <a:cxn ang="0">
                  <a:pos x="157" y="0"/>
                </a:cxn>
                <a:cxn ang="0">
                  <a:pos x="313" y="158"/>
                </a:cxn>
                <a:cxn ang="0">
                  <a:pos x="248" y="158"/>
                </a:cxn>
              </a:cxnLst>
              <a:rect l="0" t="0" r="r" b="b"/>
              <a:pathLst>
                <a:path w="496" h="595">
                  <a:moveTo>
                    <a:pt x="248" y="158"/>
                  </a:moveTo>
                  <a:cubicBezTo>
                    <a:pt x="248" y="158"/>
                    <a:pt x="248" y="159"/>
                    <a:pt x="248" y="160"/>
                  </a:cubicBezTo>
                  <a:cubicBezTo>
                    <a:pt x="248" y="171"/>
                    <a:pt x="249" y="182"/>
                    <a:pt x="250" y="192"/>
                  </a:cubicBezTo>
                  <a:cubicBezTo>
                    <a:pt x="257" y="247"/>
                    <a:pt x="281" y="295"/>
                    <a:pt x="321" y="335"/>
                  </a:cubicBezTo>
                  <a:cubicBezTo>
                    <a:pt x="355" y="369"/>
                    <a:pt x="393" y="391"/>
                    <a:pt x="437" y="401"/>
                  </a:cubicBezTo>
                  <a:cubicBezTo>
                    <a:pt x="456" y="406"/>
                    <a:pt x="475" y="408"/>
                    <a:pt x="496" y="408"/>
                  </a:cubicBezTo>
                  <a:cubicBezTo>
                    <a:pt x="496" y="595"/>
                    <a:pt x="496" y="595"/>
                    <a:pt x="496" y="595"/>
                  </a:cubicBezTo>
                  <a:cubicBezTo>
                    <a:pt x="474" y="595"/>
                    <a:pt x="452" y="594"/>
                    <a:pt x="430" y="591"/>
                  </a:cubicBezTo>
                  <a:cubicBezTo>
                    <a:pt x="338" y="578"/>
                    <a:pt x="258" y="537"/>
                    <a:pt x="189" y="468"/>
                  </a:cubicBezTo>
                  <a:cubicBezTo>
                    <a:pt x="112" y="390"/>
                    <a:pt x="69" y="299"/>
                    <a:pt x="62" y="192"/>
                  </a:cubicBezTo>
                  <a:cubicBezTo>
                    <a:pt x="61" y="182"/>
                    <a:pt x="61" y="171"/>
                    <a:pt x="61" y="160"/>
                  </a:cubicBezTo>
                  <a:cubicBezTo>
                    <a:pt x="61" y="159"/>
                    <a:pt x="61" y="158"/>
                    <a:pt x="61" y="158"/>
                  </a:cubicBezTo>
                  <a:cubicBezTo>
                    <a:pt x="0" y="158"/>
                    <a:pt x="0" y="158"/>
                    <a:pt x="0" y="158"/>
                  </a:cubicBezTo>
                  <a:cubicBezTo>
                    <a:pt x="157" y="0"/>
                    <a:pt x="157" y="0"/>
                    <a:pt x="157" y="0"/>
                  </a:cubicBezTo>
                  <a:cubicBezTo>
                    <a:pt x="313" y="158"/>
                    <a:pt x="313" y="158"/>
                    <a:pt x="313" y="158"/>
                  </a:cubicBezTo>
                  <a:lnTo>
                    <a:pt x="248" y="158"/>
                  </a:lnTo>
                  <a:close/>
                </a:path>
              </a:pathLst>
            </a:custGeom>
            <a:solidFill>
              <a:srgbClr val="0E419C"/>
            </a:solidFill>
            <a:ln w="9525">
              <a:noFill/>
              <a:round/>
            </a:ln>
          </p:spPr>
          <p:txBody>
            <a:bodyPr vert="horz" wrap="square" lIns="137160" tIns="68580" rIns="137160" bIns="68580" numCol="1" anchor="t" anchorCtr="0" compatLnSpc="1"/>
            <a:lstStyle/>
            <a:p>
              <a:endParaRPr lang="en-US" sz="2700">
                <a:cs typeface="+mn-ea"/>
                <a:sym typeface="+mn-lt"/>
              </a:endParaRPr>
            </a:p>
          </p:txBody>
        </p:sp>
        <p:sp>
          <p:nvSpPr>
            <p:cNvPr id="55" name="Freeform 6">
              <a:extLst>
                <a:ext uri="{FF2B5EF4-FFF2-40B4-BE49-F238E27FC236}">
                  <a16:creationId xmlns:a16="http://schemas.microsoft.com/office/drawing/2014/main" id="{F43EBFC2-C6DC-837F-690E-ED12387A227D}"/>
                </a:ext>
              </a:extLst>
            </p:cNvPr>
            <p:cNvSpPr/>
            <p:nvPr/>
          </p:nvSpPr>
          <p:spPr bwMode="auto">
            <a:xfrm>
              <a:off x="5494337" y="3741570"/>
              <a:ext cx="2244725" cy="1870075"/>
            </a:xfrm>
            <a:custGeom>
              <a:avLst/>
              <a:gdLst/>
              <a:ahLst/>
              <a:cxnLst>
                <a:cxn ang="0">
                  <a:pos x="403" y="61"/>
                </a:cxn>
                <a:cxn ang="0">
                  <a:pos x="410" y="2"/>
                </a:cxn>
                <a:cxn ang="0">
                  <a:pos x="410" y="0"/>
                </a:cxn>
                <a:cxn ang="0">
                  <a:pos x="597" y="0"/>
                </a:cxn>
                <a:cxn ang="0">
                  <a:pos x="597" y="2"/>
                </a:cxn>
                <a:cxn ang="0">
                  <a:pos x="592" y="68"/>
                </a:cxn>
                <a:cxn ang="0">
                  <a:pos x="469" y="310"/>
                </a:cxn>
                <a:cxn ang="0">
                  <a:pos x="161" y="437"/>
                </a:cxn>
                <a:cxn ang="0">
                  <a:pos x="160" y="437"/>
                </a:cxn>
                <a:cxn ang="0">
                  <a:pos x="160" y="497"/>
                </a:cxn>
                <a:cxn ang="0">
                  <a:pos x="0" y="341"/>
                </a:cxn>
                <a:cxn ang="0">
                  <a:pos x="160" y="185"/>
                </a:cxn>
                <a:cxn ang="0">
                  <a:pos x="160" y="250"/>
                </a:cxn>
                <a:cxn ang="0">
                  <a:pos x="161" y="250"/>
                </a:cxn>
                <a:cxn ang="0">
                  <a:pos x="337" y="177"/>
                </a:cxn>
                <a:cxn ang="0">
                  <a:pos x="403" y="61"/>
                </a:cxn>
              </a:cxnLst>
              <a:rect l="0" t="0" r="r" b="b"/>
              <a:pathLst>
                <a:path w="597" h="497">
                  <a:moveTo>
                    <a:pt x="403" y="61"/>
                  </a:moveTo>
                  <a:cubicBezTo>
                    <a:pt x="408" y="42"/>
                    <a:pt x="410" y="22"/>
                    <a:pt x="410" y="2"/>
                  </a:cubicBezTo>
                  <a:cubicBezTo>
                    <a:pt x="410" y="1"/>
                    <a:pt x="410" y="0"/>
                    <a:pt x="410" y="0"/>
                  </a:cubicBezTo>
                  <a:cubicBezTo>
                    <a:pt x="597" y="0"/>
                    <a:pt x="597" y="0"/>
                    <a:pt x="597" y="0"/>
                  </a:cubicBezTo>
                  <a:cubicBezTo>
                    <a:pt x="597" y="0"/>
                    <a:pt x="597" y="1"/>
                    <a:pt x="597" y="2"/>
                  </a:cubicBezTo>
                  <a:cubicBezTo>
                    <a:pt x="597" y="24"/>
                    <a:pt x="595" y="46"/>
                    <a:pt x="592" y="68"/>
                  </a:cubicBezTo>
                  <a:cubicBezTo>
                    <a:pt x="579" y="160"/>
                    <a:pt x="538" y="241"/>
                    <a:pt x="469" y="310"/>
                  </a:cubicBezTo>
                  <a:cubicBezTo>
                    <a:pt x="384" y="395"/>
                    <a:pt x="281" y="437"/>
                    <a:pt x="161" y="437"/>
                  </a:cubicBezTo>
                  <a:cubicBezTo>
                    <a:pt x="161" y="437"/>
                    <a:pt x="160" y="437"/>
                    <a:pt x="160" y="437"/>
                  </a:cubicBezTo>
                  <a:cubicBezTo>
                    <a:pt x="160" y="497"/>
                    <a:pt x="160" y="497"/>
                    <a:pt x="160" y="497"/>
                  </a:cubicBezTo>
                  <a:cubicBezTo>
                    <a:pt x="0" y="341"/>
                    <a:pt x="0" y="341"/>
                    <a:pt x="0" y="341"/>
                  </a:cubicBezTo>
                  <a:cubicBezTo>
                    <a:pt x="160" y="185"/>
                    <a:pt x="160" y="185"/>
                    <a:pt x="160" y="185"/>
                  </a:cubicBezTo>
                  <a:cubicBezTo>
                    <a:pt x="160" y="250"/>
                    <a:pt x="160" y="250"/>
                    <a:pt x="160" y="250"/>
                  </a:cubicBezTo>
                  <a:cubicBezTo>
                    <a:pt x="160" y="250"/>
                    <a:pt x="161" y="250"/>
                    <a:pt x="161" y="250"/>
                  </a:cubicBezTo>
                  <a:cubicBezTo>
                    <a:pt x="230" y="250"/>
                    <a:pt x="288" y="226"/>
                    <a:pt x="337" y="177"/>
                  </a:cubicBezTo>
                  <a:cubicBezTo>
                    <a:pt x="371" y="143"/>
                    <a:pt x="393" y="104"/>
                    <a:pt x="403" y="61"/>
                  </a:cubicBezTo>
                  <a:close/>
                </a:path>
              </a:pathLst>
            </a:custGeom>
            <a:solidFill>
              <a:srgbClr val="7F7F7F"/>
            </a:solidFill>
            <a:ln w="9525">
              <a:noFill/>
              <a:round/>
            </a:ln>
          </p:spPr>
          <p:txBody>
            <a:bodyPr vert="horz" wrap="square" lIns="137160" tIns="68580" rIns="137160" bIns="68580" numCol="1" anchor="t" anchorCtr="0" compatLnSpc="1"/>
            <a:lstStyle/>
            <a:p>
              <a:endParaRPr lang="en-US" sz="2700">
                <a:cs typeface="+mn-ea"/>
                <a:sym typeface="+mn-lt"/>
              </a:endParaRPr>
            </a:p>
          </p:txBody>
        </p:sp>
        <p:sp>
          <p:nvSpPr>
            <p:cNvPr id="56" name="Freeform 7">
              <a:extLst>
                <a:ext uri="{FF2B5EF4-FFF2-40B4-BE49-F238E27FC236}">
                  <a16:creationId xmlns:a16="http://schemas.microsoft.com/office/drawing/2014/main" id="{5D4D9A0D-9786-CF94-4A87-7CAF8CE70A34}"/>
                </a:ext>
              </a:extLst>
            </p:cNvPr>
            <p:cNvSpPr/>
            <p:nvPr/>
          </p:nvSpPr>
          <p:spPr bwMode="auto">
            <a:xfrm>
              <a:off x="6096000" y="2104858"/>
              <a:ext cx="1871663" cy="2246312"/>
            </a:xfrm>
            <a:custGeom>
              <a:avLst/>
              <a:gdLst/>
              <a:ahLst/>
              <a:cxnLst>
                <a:cxn ang="0">
                  <a:pos x="67" y="5"/>
                </a:cxn>
                <a:cxn ang="0">
                  <a:pos x="309" y="129"/>
                </a:cxn>
                <a:cxn ang="0">
                  <a:pos x="437" y="435"/>
                </a:cxn>
                <a:cxn ang="0">
                  <a:pos x="498" y="435"/>
                </a:cxn>
                <a:cxn ang="0">
                  <a:pos x="341" y="597"/>
                </a:cxn>
                <a:cxn ang="0">
                  <a:pos x="184" y="435"/>
                </a:cxn>
                <a:cxn ang="0">
                  <a:pos x="250" y="435"/>
                </a:cxn>
                <a:cxn ang="0">
                  <a:pos x="177" y="261"/>
                </a:cxn>
                <a:cxn ang="0">
                  <a:pos x="60" y="194"/>
                </a:cxn>
                <a:cxn ang="0">
                  <a:pos x="1" y="188"/>
                </a:cxn>
                <a:cxn ang="0">
                  <a:pos x="0" y="188"/>
                </a:cxn>
                <a:cxn ang="0">
                  <a:pos x="0" y="0"/>
                </a:cxn>
                <a:cxn ang="0">
                  <a:pos x="1" y="0"/>
                </a:cxn>
                <a:cxn ang="0">
                  <a:pos x="67" y="5"/>
                </a:cxn>
              </a:cxnLst>
              <a:rect l="0" t="0" r="r" b="b"/>
              <a:pathLst>
                <a:path w="498" h="597">
                  <a:moveTo>
                    <a:pt x="67" y="5"/>
                  </a:moveTo>
                  <a:cubicBezTo>
                    <a:pt x="159" y="18"/>
                    <a:pt x="240" y="59"/>
                    <a:pt x="309" y="129"/>
                  </a:cubicBezTo>
                  <a:cubicBezTo>
                    <a:pt x="394" y="213"/>
                    <a:pt x="436" y="315"/>
                    <a:pt x="437" y="435"/>
                  </a:cubicBezTo>
                  <a:cubicBezTo>
                    <a:pt x="498" y="435"/>
                    <a:pt x="498" y="435"/>
                    <a:pt x="498" y="435"/>
                  </a:cubicBezTo>
                  <a:cubicBezTo>
                    <a:pt x="341" y="597"/>
                    <a:pt x="341" y="597"/>
                    <a:pt x="341" y="597"/>
                  </a:cubicBezTo>
                  <a:cubicBezTo>
                    <a:pt x="184" y="435"/>
                    <a:pt x="184" y="435"/>
                    <a:pt x="184" y="435"/>
                  </a:cubicBezTo>
                  <a:cubicBezTo>
                    <a:pt x="250" y="435"/>
                    <a:pt x="250" y="435"/>
                    <a:pt x="250" y="435"/>
                  </a:cubicBezTo>
                  <a:cubicBezTo>
                    <a:pt x="249" y="367"/>
                    <a:pt x="225" y="309"/>
                    <a:pt x="177" y="261"/>
                  </a:cubicBezTo>
                  <a:cubicBezTo>
                    <a:pt x="143" y="227"/>
                    <a:pt x="104" y="205"/>
                    <a:pt x="60" y="194"/>
                  </a:cubicBezTo>
                  <a:cubicBezTo>
                    <a:pt x="41" y="190"/>
                    <a:pt x="21" y="188"/>
                    <a:pt x="1" y="188"/>
                  </a:cubicBezTo>
                  <a:cubicBezTo>
                    <a:pt x="1" y="188"/>
                    <a:pt x="0" y="188"/>
                    <a:pt x="0" y="188"/>
                  </a:cubicBezTo>
                  <a:cubicBezTo>
                    <a:pt x="0" y="0"/>
                    <a:pt x="0" y="0"/>
                    <a:pt x="0" y="0"/>
                  </a:cubicBezTo>
                  <a:cubicBezTo>
                    <a:pt x="0" y="0"/>
                    <a:pt x="1" y="0"/>
                    <a:pt x="1" y="0"/>
                  </a:cubicBezTo>
                  <a:cubicBezTo>
                    <a:pt x="24" y="0"/>
                    <a:pt x="46" y="2"/>
                    <a:pt x="67" y="5"/>
                  </a:cubicBezTo>
                  <a:close/>
                </a:path>
              </a:pathLst>
            </a:custGeom>
            <a:solidFill>
              <a:srgbClr val="4472C4"/>
            </a:solidFill>
            <a:ln w="9525">
              <a:noFill/>
              <a:round/>
            </a:ln>
          </p:spPr>
          <p:txBody>
            <a:bodyPr vert="horz" wrap="square" lIns="137160" tIns="68580" rIns="137160" bIns="68580" numCol="1" anchor="t" anchorCtr="0" compatLnSpc="1"/>
            <a:lstStyle/>
            <a:p>
              <a:endParaRPr lang="en-US" sz="2700">
                <a:cs typeface="+mn-ea"/>
                <a:sym typeface="+mn-lt"/>
              </a:endParaRPr>
            </a:p>
          </p:txBody>
        </p:sp>
        <p:sp>
          <p:nvSpPr>
            <p:cNvPr id="57" name="Freeform 8">
              <a:extLst>
                <a:ext uri="{FF2B5EF4-FFF2-40B4-BE49-F238E27FC236}">
                  <a16:creationId xmlns:a16="http://schemas.microsoft.com/office/drawing/2014/main" id="{E777C7AF-9CBA-A0BD-FC22-1AF8FA9B6F01}"/>
                </a:ext>
              </a:extLst>
            </p:cNvPr>
            <p:cNvSpPr>
              <a:spLocks noEditPoints="1"/>
            </p:cNvSpPr>
            <p:nvPr/>
          </p:nvSpPr>
          <p:spPr bwMode="auto">
            <a:xfrm>
              <a:off x="4459287" y="1876258"/>
              <a:ext cx="2238375" cy="1865312"/>
            </a:xfrm>
            <a:custGeom>
              <a:avLst/>
              <a:gdLst/>
              <a:ahLst/>
              <a:cxnLst>
                <a:cxn ang="0">
                  <a:pos x="96" y="338"/>
                </a:cxn>
                <a:cxn ang="0">
                  <a:pos x="95" y="338"/>
                </a:cxn>
                <a:cxn ang="0">
                  <a:pos x="96" y="338"/>
                </a:cxn>
                <a:cxn ang="0">
                  <a:pos x="435" y="0"/>
                </a:cxn>
                <a:cxn ang="0">
                  <a:pos x="595" y="157"/>
                </a:cxn>
                <a:cxn ang="0">
                  <a:pos x="435" y="314"/>
                </a:cxn>
                <a:cxn ang="0">
                  <a:pos x="435" y="249"/>
                </a:cxn>
                <a:cxn ang="0">
                  <a:pos x="260" y="322"/>
                </a:cxn>
                <a:cxn ang="0">
                  <a:pos x="194" y="437"/>
                </a:cxn>
                <a:cxn ang="0">
                  <a:pos x="187" y="496"/>
                </a:cxn>
                <a:cxn ang="0">
                  <a:pos x="0" y="496"/>
                </a:cxn>
                <a:cxn ang="0">
                  <a:pos x="5" y="429"/>
                </a:cxn>
                <a:cxn ang="0">
                  <a:pos x="128" y="190"/>
                </a:cxn>
                <a:cxn ang="0">
                  <a:pos x="435" y="61"/>
                </a:cxn>
                <a:cxn ang="0">
                  <a:pos x="435" y="0"/>
                </a:cxn>
              </a:cxnLst>
              <a:rect l="0" t="0" r="r" b="b"/>
              <a:pathLst>
                <a:path w="595" h="496">
                  <a:moveTo>
                    <a:pt x="96" y="338"/>
                  </a:moveTo>
                  <a:cubicBezTo>
                    <a:pt x="96" y="338"/>
                    <a:pt x="95" y="338"/>
                    <a:pt x="95" y="338"/>
                  </a:cubicBezTo>
                  <a:cubicBezTo>
                    <a:pt x="96" y="338"/>
                    <a:pt x="96" y="338"/>
                    <a:pt x="96" y="338"/>
                  </a:cubicBezTo>
                  <a:close/>
                  <a:moveTo>
                    <a:pt x="435" y="0"/>
                  </a:moveTo>
                  <a:cubicBezTo>
                    <a:pt x="595" y="157"/>
                    <a:pt x="595" y="157"/>
                    <a:pt x="595" y="157"/>
                  </a:cubicBezTo>
                  <a:cubicBezTo>
                    <a:pt x="435" y="314"/>
                    <a:pt x="435" y="314"/>
                    <a:pt x="435" y="314"/>
                  </a:cubicBezTo>
                  <a:cubicBezTo>
                    <a:pt x="435" y="249"/>
                    <a:pt x="435" y="249"/>
                    <a:pt x="435" y="249"/>
                  </a:cubicBezTo>
                  <a:cubicBezTo>
                    <a:pt x="367" y="249"/>
                    <a:pt x="309" y="273"/>
                    <a:pt x="260" y="322"/>
                  </a:cubicBezTo>
                  <a:cubicBezTo>
                    <a:pt x="227" y="356"/>
                    <a:pt x="204" y="394"/>
                    <a:pt x="194" y="437"/>
                  </a:cubicBezTo>
                  <a:cubicBezTo>
                    <a:pt x="190" y="456"/>
                    <a:pt x="187" y="475"/>
                    <a:pt x="187" y="496"/>
                  </a:cubicBezTo>
                  <a:cubicBezTo>
                    <a:pt x="0" y="496"/>
                    <a:pt x="0" y="496"/>
                    <a:pt x="0" y="496"/>
                  </a:cubicBezTo>
                  <a:cubicBezTo>
                    <a:pt x="0" y="473"/>
                    <a:pt x="2" y="451"/>
                    <a:pt x="5" y="429"/>
                  </a:cubicBezTo>
                  <a:cubicBezTo>
                    <a:pt x="18" y="338"/>
                    <a:pt x="59" y="258"/>
                    <a:pt x="128" y="190"/>
                  </a:cubicBezTo>
                  <a:cubicBezTo>
                    <a:pt x="213" y="104"/>
                    <a:pt x="315" y="62"/>
                    <a:pt x="435" y="61"/>
                  </a:cubicBezTo>
                  <a:lnTo>
                    <a:pt x="435" y="0"/>
                  </a:lnTo>
                  <a:close/>
                </a:path>
              </a:pathLst>
            </a:custGeom>
            <a:solidFill>
              <a:srgbClr val="7F7F7F"/>
            </a:solidFill>
            <a:ln w="9525">
              <a:noFill/>
              <a:round/>
            </a:ln>
          </p:spPr>
          <p:txBody>
            <a:bodyPr vert="horz" wrap="square" lIns="137160" tIns="68580" rIns="137160" bIns="68580" numCol="1" anchor="t" anchorCtr="0" compatLnSpc="1"/>
            <a:lstStyle/>
            <a:p>
              <a:endParaRPr lang="en-US" sz="2700" dirty="0">
                <a:cs typeface="+mn-ea"/>
                <a:sym typeface="+mn-lt"/>
              </a:endParaRPr>
            </a:p>
          </p:txBody>
        </p:sp>
        <p:sp>
          <p:nvSpPr>
            <p:cNvPr id="58" name="Freeform 9">
              <a:extLst>
                <a:ext uri="{FF2B5EF4-FFF2-40B4-BE49-F238E27FC236}">
                  <a16:creationId xmlns:a16="http://schemas.microsoft.com/office/drawing/2014/main" id="{F7BD9BCD-7970-CAD2-C8B7-53DA3CE69F46}"/>
                </a:ext>
              </a:extLst>
            </p:cNvPr>
            <p:cNvSpPr/>
            <p:nvPr/>
          </p:nvSpPr>
          <p:spPr bwMode="auto">
            <a:xfrm>
              <a:off x="4231606" y="3157412"/>
              <a:ext cx="1176338" cy="720725"/>
            </a:xfrm>
            <a:custGeom>
              <a:avLst/>
              <a:gdLst/>
              <a:ahLst/>
              <a:cxnLst>
                <a:cxn ang="0">
                  <a:pos x="250" y="192"/>
                </a:cxn>
                <a:cxn ang="0">
                  <a:pos x="62" y="192"/>
                </a:cxn>
                <a:cxn ang="0">
                  <a:pos x="61" y="160"/>
                </a:cxn>
                <a:cxn ang="0">
                  <a:pos x="61" y="158"/>
                </a:cxn>
                <a:cxn ang="0">
                  <a:pos x="0" y="158"/>
                </a:cxn>
                <a:cxn ang="0">
                  <a:pos x="157" y="0"/>
                </a:cxn>
                <a:cxn ang="0">
                  <a:pos x="313" y="158"/>
                </a:cxn>
                <a:cxn ang="0">
                  <a:pos x="248" y="158"/>
                </a:cxn>
                <a:cxn ang="0">
                  <a:pos x="248" y="160"/>
                </a:cxn>
                <a:cxn ang="0">
                  <a:pos x="250" y="192"/>
                </a:cxn>
              </a:cxnLst>
              <a:rect l="0" t="0" r="r" b="b"/>
              <a:pathLst>
                <a:path w="313" h="192">
                  <a:moveTo>
                    <a:pt x="250" y="192"/>
                  </a:moveTo>
                  <a:cubicBezTo>
                    <a:pt x="62" y="192"/>
                    <a:pt x="62" y="192"/>
                    <a:pt x="62" y="192"/>
                  </a:cubicBezTo>
                  <a:cubicBezTo>
                    <a:pt x="61" y="182"/>
                    <a:pt x="61" y="171"/>
                    <a:pt x="61" y="160"/>
                  </a:cubicBezTo>
                  <a:cubicBezTo>
                    <a:pt x="61" y="159"/>
                    <a:pt x="61" y="158"/>
                    <a:pt x="61" y="158"/>
                  </a:cubicBezTo>
                  <a:cubicBezTo>
                    <a:pt x="0" y="158"/>
                    <a:pt x="0" y="158"/>
                    <a:pt x="0" y="158"/>
                  </a:cubicBezTo>
                  <a:cubicBezTo>
                    <a:pt x="157" y="0"/>
                    <a:pt x="157" y="0"/>
                    <a:pt x="157" y="0"/>
                  </a:cubicBezTo>
                  <a:cubicBezTo>
                    <a:pt x="313" y="158"/>
                    <a:pt x="313" y="158"/>
                    <a:pt x="313" y="158"/>
                  </a:cubicBezTo>
                  <a:cubicBezTo>
                    <a:pt x="248" y="158"/>
                    <a:pt x="248" y="158"/>
                    <a:pt x="248" y="158"/>
                  </a:cubicBezTo>
                  <a:cubicBezTo>
                    <a:pt x="248" y="158"/>
                    <a:pt x="248" y="159"/>
                    <a:pt x="248" y="160"/>
                  </a:cubicBezTo>
                  <a:cubicBezTo>
                    <a:pt x="248" y="171"/>
                    <a:pt x="249" y="182"/>
                    <a:pt x="250" y="192"/>
                  </a:cubicBezTo>
                  <a:close/>
                </a:path>
              </a:pathLst>
            </a:custGeom>
            <a:solidFill>
              <a:schemeClr val="accent1"/>
            </a:solidFill>
            <a:ln w="9525">
              <a:noFill/>
              <a:round/>
            </a:ln>
          </p:spPr>
          <p:txBody>
            <a:bodyPr vert="horz" wrap="square" lIns="137160" tIns="68580" rIns="137160" bIns="68580" numCol="1" anchor="t" anchorCtr="0" compatLnSpc="1"/>
            <a:lstStyle/>
            <a:p>
              <a:endParaRPr lang="en-US" sz="2700">
                <a:cs typeface="+mn-ea"/>
                <a:sym typeface="+mn-lt"/>
              </a:endParaRPr>
            </a:p>
          </p:txBody>
        </p:sp>
        <p:sp>
          <p:nvSpPr>
            <p:cNvPr id="59" name="TextBox 13">
              <a:extLst>
                <a:ext uri="{FF2B5EF4-FFF2-40B4-BE49-F238E27FC236}">
                  <a16:creationId xmlns:a16="http://schemas.microsoft.com/office/drawing/2014/main" id="{7D1F0B37-D8DC-5294-3DF0-803CB17E01FB}"/>
                </a:ext>
              </a:extLst>
            </p:cNvPr>
            <p:cNvSpPr txBox="1"/>
            <p:nvPr/>
          </p:nvSpPr>
          <p:spPr>
            <a:xfrm>
              <a:off x="5769624" y="2209125"/>
              <a:ext cx="652752" cy="1319906"/>
            </a:xfrm>
            <a:prstGeom prst="rect">
              <a:avLst/>
            </a:prstGeom>
            <a:noFill/>
          </p:spPr>
          <p:txBody>
            <a:bodyPr vert="horz" wrap="square" rtlCol="0">
              <a:spAutoFit/>
            </a:bodyPr>
            <a:lstStyle/>
            <a:p>
              <a:r>
                <a:rPr lang="en-US" sz="4200" dirty="0">
                  <a:solidFill>
                    <a:srgbClr val="FFFFFF"/>
                  </a:solidFill>
                  <a:cs typeface="+mn-ea"/>
                  <a:sym typeface="+mn-lt"/>
                </a:rPr>
                <a:t>21</a:t>
              </a:r>
            </a:p>
          </p:txBody>
        </p:sp>
        <p:sp>
          <p:nvSpPr>
            <p:cNvPr id="60" name="TextBox 14">
              <a:extLst>
                <a:ext uri="{FF2B5EF4-FFF2-40B4-BE49-F238E27FC236}">
                  <a16:creationId xmlns:a16="http://schemas.microsoft.com/office/drawing/2014/main" id="{F21F63E1-A3E3-0B98-5D44-D7D10CFCD4CC}"/>
                </a:ext>
              </a:extLst>
            </p:cNvPr>
            <p:cNvSpPr txBox="1"/>
            <p:nvPr/>
          </p:nvSpPr>
          <p:spPr>
            <a:xfrm>
              <a:off x="7223447" y="3521453"/>
              <a:ext cx="652752" cy="703950"/>
            </a:xfrm>
            <a:prstGeom prst="rect">
              <a:avLst/>
            </a:prstGeom>
            <a:noFill/>
          </p:spPr>
          <p:txBody>
            <a:bodyPr vert="horz" wrap="square" rtlCol="0">
              <a:spAutoFit/>
            </a:bodyPr>
            <a:lstStyle/>
            <a:p>
              <a:r>
                <a:rPr lang="en-US" sz="4200" dirty="0">
                  <a:solidFill>
                    <a:srgbClr val="FFFFFF"/>
                  </a:solidFill>
                  <a:cs typeface="+mn-ea"/>
                  <a:sym typeface="+mn-lt"/>
                </a:rPr>
                <a:t>3</a:t>
              </a:r>
            </a:p>
          </p:txBody>
        </p:sp>
        <p:sp>
          <p:nvSpPr>
            <p:cNvPr id="61" name="TextBox 15">
              <a:extLst>
                <a:ext uri="{FF2B5EF4-FFF2-40B4-BE49-F238E27FC236}">
                  <a16:creationId xmlns:a16="http://schemas.microsoft.com/office/drawing/2014/main" id="{0D347266-88B5-8C0C-AF6D-3F8C09FB735F}"/>
                </a:ext>
              </a:extLst>
            </p:cNvPr>
            <p:cNvSpPr txBox="1"/>
            <p:nvPr/>
          </p:nvSpPr>
          <p:spPr>
            <a:xfrm>
              <a:off x="5827002" y="4746701"/>
              <a:ext cx="652752" cy="703950"/>
            </a:xfrm>
            <a:prstGeom prst="rect">
              <a:avLst/>
            </a:prstGeom>
            <a:noFill/>
          </p:spPr>
          <p:txBody>
            <a:bodyPr vert="horz" wrap="square" rtlCol="0">
              <a:spAutoFit/>
            </a:bodyPr>
            <a:lstStyle/>
            <a:p>
              <a:r>
                <a:rPr lang="en-US" sz="4200" dirty="0">
                  <a:solidFill>
                    <a:srgbClr val="FFFFFF"/>
                  </a:solidFill>
                  <a:cs typeface="+mn-ea"/>
                  <a:sym typeface="+mn-lt"/>
                </a:rPr>
                <a:t>4</a:t>
              </a:r>
            </a:p>
          </p:txBody>
        </p:sp>
        <p:sp>
          <p:nvSpPr>
            <p:cNvPr id="62" name="TextBox 16">
              <a:extLst>
                <a:ext uri="{FF2B5EF4-FFF2-40B4-BE49-F238E27FC236}">
                  <a16:creationId xmlns:a16="http://schemas.microsoft.com/office/drawing/2014/main" id="{67433CB7-5F19-AEE4-5443-ECBA47A68ADF}"/>
                </a:ext>
              </a:extLst>
            </p:cNvPr>
            <p:cNvSpPr txBox="1"/>
            <p:nvPr/>
          </p:nvSpPr>
          <p:spPr>
            <a:xfrm>
              <a:off x="4582250" y="3282839"/>
              <a:ext cx="652752" cy="703950"/>
            </a:xfrm>
            <a:prstGeom prst="rect">
              <a:avLst/>
            </a:prstGeom>
            <a:noFill/>
          </p:spPr>
          <p:txBody>
            <a:bodyPr vert="horz" wrap="square" rtlCol="0">
              <a:spAutoFit/>
            </a:bodyPr>
            <a:lstStyle/>
            <a:p>
              <a:r>
                <a:rPr lang="en-US" sz="4200" dirty="0">
                  <a:solidFill>
                    <a:srgbClr val="FFFFFF"/>
                  </a:solidFill>
                  <a:cs typeface="+mn-ea"/>
                  <a:sym typeface="+mn-lt"/>
                </a:rPr>
                <a:t>1</a:t>
              </a:r>
            </a:p>
          </p:txBody>
        </p:sp>
      </p:grpSp>
      <p:sp>
        <p:nvSpPr>
          <p:cNvPr id="71" name="Freeform 12">
            <a:extLst>
              <a:ext uri="{FF2B5EF4-FFF2-40B4-BE49-F238E27FC236}">
                <a16:creationId xmlns:a16="http://schemas.microsoft.com/office/drawing/2014/main" id="{4B739D61-6588-1558-0E54-992B4620905B}"/>
              </a:ext>
            </a:extLst>
          </p:cNvPr>
          <p:cNvSpPr/>
          <p:nvPr/>
        </p:nvSpPr>
        <p:spPr>
          <a:xfrm flipH="1" flipV="1">
            <a:off x="3657309" y="2650187"/>
            <a:ext cx="935482" cy="358970"/>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38100" cmpd="sng">
            <a:solidFill>
              <a:schemeClr val="accent3"/>
            </a:solidFill>
            <a:prstDash val="sys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4800">
              <a:cs typeface="+mn-ea"/>
              <a:sym typeface="+mn-lt"/>
            </a:endParaRPr>
          </a:p>
        </p:txBody>
      </p:sp>
      <p:sp>
        <p:nvSpPr>
          <p:cNvPr id="73" name="Freeform 9">
            <a:extLst>
              <a:ext uri="{FF2B5EF4-FFF2-40B4-BE49-F238E27FC236}">
                <a16:creationId xmlns:a16="http://schemas.microsoft.com/office/drawing/2014/main" id="{5A1D0CDA-397C-387A-5D50-38A8555406EF}"/>
              </a:ext>
            </a:extLst>
          </p:cNvPr>
          <p:cNvSpPr/>
          <p:nvPr/>
        </p:nvSpPr>
        <p:spPr>
          <a:xfrm flipH="1">
            <a:off x="3754719" y="4870488"/>
            <a:ext cx="935482" cy="358970"/>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38100" cmpd="sng">
            <a:solidFill>
              <a:schemeClr val="accent1"/>
            </a:solidFill>
            <a:prstDash val="sys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4800">
              <a:cs typeface="+mn-ea"/>
              <a:sym typeface="+mn-lt"/>
            </a:endParaRPr>
          </a:p>
        </p:txBody>
      </p:sp>
      <p:grpSp>
        <p:nvGrpSpPr>
          <p:cNvPr id="10" name="组合 9">
            <a:extLst>
              <a:ext uri="{FF2B5EF4-FFF2-40B4-BE49-F238E27FC236}">
                <a16:creationId xmlns:a16="http://schemas.microsoft.com/office/drawing/2014/main" id="{1118B144-6EC0-36D3-D36A-332580D55837}"/>
              </a:ext>
            </a:extLst>
          </p:cNvPr>
          <p:cNvGrpSpPr/>
          <p:nvPr/>
        </p:nvGrpSpPr>
        <p:grpSpPr>
          <a:xfrm>
            <a:off x="470110" y="2078826"/>
            <a:ext cx="2949756" cy="1318827"/>
            <a:chOff x="407038" y="1497725"/>
            <a:chExt cx="2949756" cy="1318827"/>
          </a:xfrm>
        </p:grpSpPr>
        <p:sp>
          <p:nvSpPr>
            <p:cNvPr id="63" name="Rectangle 31">
              <a:extLst>
                <a:ext uri="{FF2B5EF4-FFF2-40B4-BE49-F238E27FC236}">
                  <a16:creationId xmlns:a16="http://schemas.microsoft.com/office/drawing/2014/main" id="{E6F4DA97-5C5D-2D66-43F0-ADE8DB8ABFF2}"/>
                </a:ext>
              </a:extLst>
            </p:cNvPr>
            <p:cNvSpPr/>
            <p:nvPr/>
          </p:nvSpPr>
          <p:spPr>
            <a:xfrm>
              <a:off x="407038" y="1497725"/>
              <a:ext cx="2755344" cy="369332"/>
            </a:xfrm>
            <a:prstGeom prst="rect">
              <a:avLst/>
            </a:prstGeom>
          </p:spPr>
          <p:txBody>
            <a:bodyPr wrap="square">
              <a:spAutoFit/>
            </a:bodyPr>
            <a:lstStyle/>
            <a:p>
              <a:pPr>
                <a:lnSpc>
                  <a:spcPct val="90000"/>
                </a:lnSpc>
              </a:pPr>
              <a:r>
                <a:rPr lang="en-US" altLang="zh-CN"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Precision</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（精度）</a:t>
              </a:r>
              <a:endParaRPr lang="en-US"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endParaRPr>
            </a:p>
          </p:txBody>
        </p:sp>
        <p:sp>
          <p:nvSpPr>
            <p:cNvPr id="75" name="文本框 83">
              <a:extLst>
                <a:ext uri="{FF2B5EF4-FFF2-40B4-BE49-F238E27FC236}">
                  <a16:creationId xmlns:a16="http://schemas.microsoft.com/office/drawing/2014/main" id="{7B02D776-0F51-79A6-6E3A-F83F40D261E1}"/>
                </a:ext>
              </a:extLst>
            </p:cNvPr>
            <p:cNvSpPr txBox="1"/>
            <p:nvPr/>
          </p:nvSpPr>
          <p:spPr>
            <a:xfrm>
              <a:off x="407038" y="1893222"/>
              <a:ext cx="2949756"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
                  <a:srgbClr val="E24848"/>
                </a:buClr>
                <a:buSzTx/>
                <a:buFontTx/>
                <a:buNone/>
                <a:defRPr/>
              </a:pPr>
              <a:r>
                <a:rPr lang="en-US" altLang="zh-CN" dirty="0">
                  <a:solidFill>
                    <a:srgbClr val="404040"/>
                  </a:solidFill>
                  <a:latin typeface="宋体" panose="02010600030101010101" pitchFamily="2" charset="-122"/>
                  <a:ea typeface="宋体" panose="02010600030101010101" pitchFamily="2" charset="-122"/>
                </a:rPr>
                <a:t>    </a:t>
              </a:r>
              <a:r>
                <a:rPr lang="zh-CN" altLang="en-US" b="0" i="0" dirty="0">
                  <a:solidFill>
                    <a:srgbClr val="404040"/>
                  </a:solidFill>
                  <a:effectLst/>
                  <a:latin typeface="宋体" panose="02010600030101010101" pitchFamily="2" charset="-122"/>
                  <a:ea typeface="宋体" panose="02010600030101010101" pitchFamily="2" charset="-122"/>
                </a:rPr>
                <a:t>正确检测的正样本占所有预测为正样本的比例。</a:t>
              </a:r>
              <a:endParaRPr lang="en-US" altLang="zh-CN" b="0" i="0" dirty="0">
                <a:solidFill>
                  <a:srgbClr val="404040"/>
                </a:solidFill>
                <a:effectLst/>
                <a:latin typeface="宋体" panose="02010600030101010101" pitchFamily="2" charset="-122"/>
                <a:ea typeface="宋体" panose="02010600030101010101" pitchFamily="2" charset="-122"/>
              </a:endParaRPr>
            </a:p>
            <a:p>
              <a:pPr marL="0" marR="0" lvl="0" indent="0" defTabSz="914400" rtl="0" eaLnBrk="1" fontAlgn="auto" latinLnBrk="0" hangingPunct="1">
                <a:lnSpc>
                  <a:spcPct val="100000"/>
                </a:lnSpc>
                <a:spcBef>
                  <a:spcPts val="0"/>
                </a:spcBef>
                <a:spcAft>
                  <a:spcPts val="0"/>
                </a:spcAft>
                <a:buClr>
                  <a:srgbClr val="E24848"/>
                </a:buClr>
                <a:buSzTx/>
                <a:buFontTx/>
                <a:buNone/>
                <a:defRPr/>
              </a:pPr>
              <a:r>
                <a:rPr lang="en-US" altLang="zh-CN" dirty="0">
                  <a:solidFill>
                    <a:srgbClr val="404040"/>
                  </a:solidFill>
                  <a:latin typeface="宋体" panose="02010600030101010101" pitchFamily="2" charset="-122"/>
                  <a:ea typeface="宋体" panose="02010600030101010101" pitchFamily="2" charset="-122"/>
                </a:rPr>
                <a:t>    </a:t>
              </a:r>
              <a:r>
                <a:rPr lang="zh-CN" altLang="en-US" b="0" i="0" dirty="0">
                  <a:solidFill>
                    <a:srgbClr val="404040"/>
                  </a:solidFill>
                  <a:effectLst/>
                  <a:latin typeface="宋体" panose="02010600030101010101" pitchFamily="2" charset="-122"/>
                  <a:ea typeface="宋体" panose="02010600030101010101" pitchFamily="2" charset="-122"/>
                </a:rPr>
                <a:t>即</a:t>
              </a:r>
              <a:r>
                <a:rPr lang="en-US" altLang="zh-CN" b="0" i="0" dirty="0">
                  <a:solidFill>
                    <a:srgbClr val="404040"/>
                  </a:solidFill>
                  <a:effectLst/>
                  <a:latin typeface="宋体" panose="02010600030101010101" pitchFamily="2" charset="-122"/>
                  <a:ea typeface="宋体" panose="02010600030101010101" pitchFamily="2" charset="-122"/>
                </a:rPr>
                <a:t>TP</a:t>
              </a:r>
              <a:r>
                <a:rPr lang="en-US" altLang="zh-CN" dirty="0">
                  <a:solidFill>
                    <a:srgbClr val="404040"/>
                  </a:solidFill>
                  <a:latin typeface="宋体" panose="02010600030101010101" pitchFamily="2" charset="-122"/>
                  <a:ea typeface="宋体" panose="02010600030101010101" pitchFamily="2" charset="-122"/>
                </a:rPr>
                <a:t>/(TP+FP)</a:t>
              </a:r>
              <a:endParaRPr kumimoji="0" lang="en-US" altLang="zh-CN" b="0" i="0" u="none" strike="noStrike" kern="1200" cap="none" spc="0" normalizeH="0" baseline="0" noProof="1">
                <a:ln>
                  <a:noFill/>
                </a:ln>
                <a:solidFill>
                  <a:schemeClr val="bg1">
                    <a:lumMod val="75000"/>
                  </a:schemeClr>
                </a:solidFill>
                <a:effectLst/>
                <a:uLnTx/>
                <a:uFillTx/>
                <a:latin typeface="宋体" panose="02010600030101010101" pitchFamily="2" charset="-122"/>
                <a:ea typeface="宋体" panose="02010600030101010101" pitchFamily="2" charset="-122"/>
                <a:cs typeface="+mn-ea"/>
                <a:sym typeface="+mn-lt"/>
              </a:endParaRPr>
            </a:p>
          </p:txBody>
        </p:sp>
      </p:grpSp>
      <p:grpSp>
        <p:nvGrpSpPr>
          <p:cNvPr id="76" name="组合 75">
            <a:extLst>
              <a:ext uri="{FF2B5EF4-FFF2-40B4-BE49-F238E27FC236}">
                <a16:creationId xmlns:a16="http://schemas.microsoft.com/office/drawing/2014/main" id="{82F847EC-46C6-08BF-4F19-31DC2542E309}"/>
              </a:ext>
            </a:extLst>
          </p:cNvPr>
          <p:cNvGrpSpPr/>
          <p:nvPr/>
        </p:nvGrpSpPr>
        <p:grpSpPr>
          <a:xfrm>
            <a:off x="436228" y="4519593"/>
            <a:ext cx="3235426" cy="1872825"/>
            <a:chOff x="407038" y="1497725"/>
            <a:chExt cx="3235426" cy="1872825"/>
          </a:xfrm>
        </p:grpSpPr>
        <p:sp>
          <p:nvSpPr>
            <p:cNvPr id="77" name="Rectangle 31">
              <a:extLst>
                <a:ext uri="{FF2B5EF4-FFF2-40B4-BE49-F238E27FC236}">
                  <a16:creationId xmlns:a16="http://schemas.microsoft.com/office/drawing/2014/main" id="{10E2365B-A8CA-2ABA-4B34-584AF233E060}"/>
                </a:ext>
              </a:extLst>
            </p:cNvPr>
            <p:cNvSpPr/>
            <p:nvPr/>
          </p:nvSpPr>
          <p:spPr>
            <a:xfrm>
              <a:off x="407038" y="1497725"/>
              <a:ext cx="2755344" cy="369332"/>
            </a:xfrm>
            <a:prstGeom prst="rect">
              <a:avLst/>
            </a:prstGeom>
          </p:spPr>
          <p:txBody>
            <a:bodyPr wrap="square">
              <a:spAutoFit/>
            </a:bodyPr>
            <a:lstStyle/>
            <a:p>
              <a:pPr>
                <a:lnSpc>
                  <a:spcPct val="90000"/>
                </a:lnSpc>
              </a:pPr>
              <a:r>
                <a:rPr lang="en-US" altLang="zh-CN"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TP</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a:t>
              </a:r>
              <a:r>
                <a:rPr lang="en-US" altLang="zh-CN"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FP</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a:t>
              </a:r>
              <a:r>
                <a:rPr lang="en-US" altLang="zh-CN"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rPr>
                <a:t>FN</a:t>
              </a:r>
              <a:endParaRPr lang="en-US" sz="2000" b="1" dirty="0">
                <a:solidFill>
                  <a:schemeClr val="tx1">
                    <a:lumMod val="65000"/>
                    <a:lumOff val="35000"/>
                  </a:schemeClr>
                </a:solidFill>
                <a:latin typeface="宋体" panose="02010600030101010101" pitchFamily="2" charset="-122"/>
                <a:ea typeface="宋体" panose="02010600030101010101" pitchFamily="2" charset="-122"/>
                <a:cs typeface="+mn-ea"/>
                <a:sym typeface="+mn-lt"/>
              </a:endParaRPr>
            </a:p>
          </p:txBody>
        </p:sp>
        <p:sp>
          <p:nvSpPr>
            <p:cNvPr id="78" name="文本框 83">
              <a:extLst>
                <a:ext uri="{FF2B5EF4-FFF2-40B4-BE49-F238E27FC236}">
                  <a16:creationId xmlns:a16="http://schemas.microsoft.com/office/drawing/2014/main" id="{C5AE13D3-C518-9E32-7A32-00D86E999F18}"/>
                </a:ext>
              </a:extLst>
            </p:cNvPr>
            <p:cNvSpPr txBox="1"/>
            <p:nvPr/>
          </p:nvSpPr>
          <p:spPr>
            <a:xfrm>
              <a:off x="407038" y="1893222"/>
              <a:ext cx="3235426" cy="147732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kumimoji="0" lang="en-US" altLang="zh-CN" b="0" i="0" u="none" strike="noStrike" kern="1200" cap="none" spc="0" normalizeH="0" baseline="0" noProof="1">
                  <a:ln>
                    <a:noFill/>
                  </a:ln>
                  <a:solidFill>
                    <a:srgbClr val="FF0000"/>
                  </a:solidFill>
                  <a:effectLst/>
                  <a:uLnTx/>
                  <a:uFillTx/>
                  <a:latin typeface="宋体" panose="02010600030101010101" pitchFamily="2" charset="-122"/>
                  <a:ea typeface="宋体" panose="02010600030101010101" pitchFamily="2" charset="-122"/>
                  <a:cs typeface="+mn-ea"/>
                  <a:sym typeface="+mn-lt"/>
                </a:rPr>
                <a:t>TP</a:t>
              </a:r>
              <a:r>
                <a:rPr kumimoji="0" lang="zh-CN" altLang="en-US" b="0" i="0" u="none" strike="noStrike" kern="1200" cap="none" spc="0" normalizeH="0" baseline="0" noProof="1">
                  <a:ln>
                    <a:noFill/>
                  </a:ln>
                  <a:effectLst/>
                  <a:uLnTx/>
                  <a:uFillTx/>
                  <a:latin typeface="宋体" panose="02010600030101010101" pitchFamily="2" charset="-122"/>
                  <a:ea typeface="宋体" panose="02010600030101010101" pitchFamily="2" charset="-122"/>
                  <a:cs typeface="+mn-ea"/>
                  <a:sym typeface="+mn-lt"/>
                </a:rPr>
                <a:t>是指</a:t>
              </a:r>
              <a:r>
                <a:rPr lang="zh-CN" altLang="en-US" b="0" i="0" dirty="0">
                  <a:solidFill>
                    <a:srgbClr val="404040"/>
                  </a:solidFill>
                  <a:effectLst/>
                  <a:latin typeface="宋体" panose="02010600030101010101" pitchFamily="2" charset="-122"/>
                  <a:ea typeface="宋体" panose="02010600030101010101" pitchFamily="2" charset="-122"/>
                </a:rPr>
                <a:t>正确检测的正样本</a:t>
              </a:r>
              <a:endParaRPr lang="en-US" altLang="zh-CN" noProof="1">
                <a:solidFill>
                  <a:srgbClr val="404040"/>
                </a:solidFill>
                <a:latin typeface="宋体" panose="02010600030101010101" pitchFamily="2" charset="-122"/>
                <a:ea typeface="宋体" panose="02010600030101010101" pitchFamily="2" charset="-122"/>
                <a:cs typeface="+mn-ea"/>
                <a:sym typeface="+mn-lt"/>
              </a:endParaRPr>
            </a:p>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kumimoji="0" lang="en-US" altLang="zh-CN" b="0" i="0" u="none" strike="noStrike" kern="1200" cap="none" spc="0" normalizeH="0" baseline="0" noProof="1">
                  <a:ln>
                    <a:noFill/>
                  </a:ln>
                  <a:solidFill>
                    <a:srgbClr val="FF0000"/>
                  </a:solidFill>
                  <a:effectLst/>
                  <a:uLnTx/>
                  <a:uFillTx/>
                  <a:latin typeface="宋体" panose="02010600030101010101" pitchFamily="2" charset="-122"/>
                  <a:ea typeface="宋体" panose="02010600030101010101" pitchFamily="2" charset="-122"/>
                  <a:cs typeface="+mn-ea"/>
                  <a:sym typeface="+mn-lt"/>
                </a:rPr>
                <a:t>FP</a:t>
              </a:r>
              <a:r>
                <a:rPr kumimoji="0" lang="zh-CN" altLang="en-US" b="0" i="0" u="none" strike="noStrike" kern="1200" cap="none" spc="0" normalizeH="0" baseline="0" noProof="1">
                  <a:ln>
                    <a:noFill/>
                  </a:ln>
                  <a:effectLst/>
                  <a:uLnTx/>
                  <a:uFillTx/>
                  <a:latin typeface="宋体" panose="02010600030101010101" pitchFamily="2" charset="-122"/>
                  <a:ea typeface="宋体" panose="02010600030101010101" pitchFamily="2" charset="-122"/>
                  <a:cs typeface="+mn-ea"/>
                  <a:sym typeface="+mn-lt"/>
                </a:rPr>
                <a:t>是指模型错误地将非该类的实例判定为此类的实例数量</a:t>
              </a:r>
              <a:endParaRPr kumimoji="0" lang="en-US" altLang="zh-CN" b="0" i="0" u="none" strike="noStrike" kern="1200" cap="none" spc="0" normalizeH="0" baseline="0" noProof="1">
                <a:ln>
                  <a:noFill/>
                </a:ln>
                <a:effectLst/>
                <a:uLnTx/>
                <a:uFillTx/>
                <a:latin typeface="宋体" panose="02010600030101010101" pitchFamily="2" charset="-122"/>
                <a:ea typeface="宋体" panose="02010600030101010101" pitchFamily="2" charset="-122"/>
                <a:cs typeface="+mn-ea"/>
                <a:sym typeface="+mn-lt"/>
              </a:endParaRPr>
            </a:p>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kumimoji="0" lang="en-US" altLang="zh-CN" b="0" i="0" u="none" strike="noStrike" kern="1200" cap="none" spc="0" normalizeH="0" baseline="0" noProof="1">
                  <a:ln>
                    <a:noFill/>
                  </a:ln>
                  <a:solidFill>
                    <a:srgbClr val="FF0000"/>
                  </a:solidFill>
                  <a:effectLst/>
                  <a:uLnTx/>
                  <a:uFillTx/>
                  <a:latin typeface="宋体" panose="02010600030101010101" pitchFamily="2" charset="-122"/>
                  <a:ea typeface="宋体" panose="02010600030101010101" pitchFamily="2" charset="-122"/>
                  <a:cs typeface="+mn-ea"/>
                  <a:sym typeface="+mn-lt"/>
                </a:rPr>
                <a:t>FN</a:t>
              </a:r>
              <a:r>
                <a:rPr lang="zh-CN" altLang="en-US" noProof="1">
                  <a:latin typeface="宋体" panose="02010600030101010101" pitchFamily="2" charset="-122"/>
                  <a:ea typeface="宋体" panose="02010600030101010101" pitchFamily="2" charset="-122"/>
                  <a:cs typeface="+mn-ea"/>
                  <a:sym typeface="+mn-lt"/>
                </a:rPr>
                <a:t>指</a:t>
              </a:r>
              <a:r>
                <a:rPr lang="zh-CN" altLang="en-US" b="0" i="0" dirty="0">
                  <a:solidFill>
                    <a:srgbClr val="404040"/>
                  </a:solidFill>
                  <a:effectLst/>
                  <a:latin typeface="宋体" panose="02010600030101010101" pitchFamily="2" charset="-122"/>
                  <a:ea typeface="宋体" panose="02010600030101010101" pitchFamily="2" charset="-122"/>
                </a:rPr>
                <a:t>模型未能正确识别为该类别的实际实例数量</a:t>
              </a:r>
              <a:endParaRPr kumimoji="0" lang="en-US" altLang="zh-CN" sz="1200" b="0" i="0" u="none" strike="noStrike" kern="1200" cap="none" spc="0" normalizeH="0" baseline="0" noProof="1">
                <a:ln>
                  <a:noFill/>
                </a:ln>
                <a:effectLst/>
                <a:uLnTx/>
                <a:uFillTx/>
                <a:latin typeface="宋体" panose="02010600030101010101" pitchFamily="2" charset="-122"/>
                <a:ea typeface="宋体" panose="02010600030101010101" pitchFamily="2" charset="-122"/>
                <a:cs typeface="+mn-ea"/>
                <a:sym typeface="+mn-lt"/>
              </a:endParaRPr>
            </a:p>
          </p:txBody>
        </p:sp>
      </p:grpSp>
      <p:grpSp>
        <p:nvGrpSpPr>
          <p:cNvPr id="79" name="组合 78">
            <a:extLst>
              <a:ext uri="{FF2B5EF4-FFF2-40B4-BE49-F238E27FC236}">
                <a16:creationId xmlns:a16="http://schemas.microsoft.com/office/drawing/2014/main" id="{299BBEB6-27A1-DB54-D725-347690F7AF49}"/>
              </a:ext>
            </a:extLst>
          </p:cNvPr>
          <p:cNvGrpSpPr/>
          <p:nvPr/>
        </p:nvGrpSpPr>
        <p:grpSpPr>
          <a:xfrm>
            <a:off x="8511644" y="4346037"/>
            <a:ext cx="3235426" cy="2149823"/>
            <a:chOff x="407038" y="1497725"/>
            <a:chExt cx="3235426" cy="2149823"/>
          </a:xfrm>
        </p:grpSpPr>
        <p:sp>
          <p:nvSpPr>
            <p:cNvPr id="80" name="Rectangle 31">
              <a:extLst>
                <a:ext uri="{FF2B5EF4-FFF2-40B4-BE49-F238E27FC236}">
                  <a16:creationId xmlns:a16="http://schemas.microsoft.com/office/drawing/2014/main" id="{78110C46-5DD5-E8F4-0289-C646B89ACC9C}"/>
                </a:ext>
              </a:extLst>
            </p:cNvPr>
            <p:cNvSpPr/>
            <p:nvPr/>
          </p:nvSpPr>
          <p:spPr>
            <a:xfrm>
              <a:off x="407038" y="1497725"/>
              <a:ext cx="2755344" cy="400110"/>
            </a:xfrm>
            <a:prstGeom prst="rect">
              <a:avLst/>
            </a:prstGeom>
          </p:spPr>
          <p:txBody>
            <a:bodyPr wrap="square">
              <a:spAutoFit/>
            </a:bodyPr>
            <a:lstStyle/>
            <a:p>
              <a:pPr>
                <a:spcBef>
                  <a:spcPts val="1372"/>
                </a:spcBef>
                <a:spcAft>
                  <a:spcPts val="1029"/>
                </a:spcAft>
              </a:pPr>
              <a:r>
                <a:rPr lang="en-US" altLang="zh-CN" sz="2000" b="1" i="0" dirty="0">
                  <a:solidFill>
                    <a:srgbClr val="404040"/>
                  </a:solidFill>
                  <a:effectLst/>
                  <a:latin typeface="宋体" panose="02010600030101010101" pitchFamily="2" charset="-122"/>
                  <a:ea typeface="宋体" panose="02010600030101010101" pitchFamily="2" charset="-122"/>
                </a:rPr>
                <a:t>mAP50</a:t>
              </a:r>
              <a:r>
                <a:rPr lang="zh-CN" altLang="en-US" sz="2000" b="1" i="0" dirty="0">
                  <a:solidFill>
                    <a:srgbClr val="404040"/>
                  </a:solidFill>
                  <a:effectLst/>
                  <a:latin typeface="宋体" panose="02010600030101010101" pitchFamily="2" charset="-122"/>
                  <a:ea typeface="宋体" panose="02010600030101010101" pitchFamily="2" charset="-122"/>
                </a:rPr>
                <a:t>与</a:t>
              </a:r>
              <a:r>
                <a:rPr lang="en-US" altLang="zh-CN" sz="2000" b="1" i="0" dirty="0">
                  <a:solidFill>
                    <a:srgbClr val="404040"/>
                  </a:solidFill>
                  <a:effectLst/>
                  <a:latin typeface="宋体" panose="02010600030101010101" pitchFamily="2" charset="-122"/>
                  <a:ea typeface="宋体" panose="02010600030101010101" pitchFamily="2" charset="-122"/>
                </a:rPr>
                <a:t>mAP50-95</a:t>
              </a:r>
              <a:endParaRPr lang="zh-CN" altLang="en-US" sz="2000" b="1" i="0" dirty="0">
                <a:solidFill>
                  <a:srgbClr val="404040"/>
                </a:solidFill>
                <a:effectLst/>
                <a:latin typeface="DeepSeek-CJK-patch"/>
              </a:endParaRPr>
            </a:p>
          </p:txBody>
        </p:sp>
        <p:sp>
          <p:nvSpPr>
            <p:cNvPr id="81" name="文本框 83">
              <a:extLst>
                <a:ext uri="{FF2B5EF4-FFF2-40B4-BE49-F238E27FC236}">
                  <a16:creationId xmlns:a16="http://schemas.microsoft.com/office/drawing/2014/main" id="{12F7668E-FB2A-C11F-A02B-41C66A509E17}"/>
                </a:ext>
              </a:extLst>
            </p:cNvPr>
            <p:cNvSpPr txBox="1"/>
            <p:nvPr/>
          </p:nvSpPr>
          <p:spPr>
            <a:xfrm>
              <a:off x="407038" y="1893222"/>
              <a:ext cx="3235426" cy="175432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lang="en-US" altLang="zh-CN" b="0" i="0" dirty="0">
                  <a:solidFill>
                    <a:srgbClr val="FF0000"/>
                  </a:solidFill>
                  <a:effectLst/>
                  <a:latin typeface="宋体" panose="02010600030101010101" pitchFamily="2" charset="-122"/>
                  <a:ea typeface="宋体" panose="02010600030101010101" pitchFamily="2" charset="-122"/>
                </a:rPr>
                <a:t>mAP50</a:t>
              </a:r>
              <a:r>
                <a:rPr lang="zh-CN" altLang="en-US" b="0" i="0" dirty="0">
                  <a:solidFill>
                    <a:srgbClr val="404040"/>
                  </a:solidFill>
                  <a:effectLst/>
                  <a:latin typeface="宋体" panose="02010600030101010101" pitchFamily="2" charset="-122"/>
                  <a:ea typeface="宋体" panose="02010600030101010101" pitchFamily="2" charset="-122"/>
                </a:rPr>
                <a:t>表示在</a:t>
              </a:r>
              <a:r>
                <a:rPr lang="en-US" altLang="zh-CN" b="0" i="0" dirty="0">
                  <a:solidFill>
                    <a:srgbClr val="404040"/>
                  </a:solidFill>
                  <a:effectLst/>
                  <a:latin typeface="宋体" panose="02010600030101010101" pitchFamily="2" charset="-122"/>
                  <a:ea typeface="宋体" panose="02010600030101010101" pitchFamily="2" charset="-122"/>
                </a:rPr>
                <a:t>IoU </a:t>
              </a:r>
              <a:r>
                <a:rPr lang="zh-CN" altLang="en-US" b="0" i="0" dirty="0">
                  <a:solidFill>
                    <a:srgbClr val="404040"/>
                  </a:solidFill>
                  <a:effectLst/>
                  <a:latin typeface="宋体" panose="02010600030101010101" pitchFamily="2" charset="-122"/>
                  <a:ea typeface="宋体" panose="02010600030101010101" pitchFamily="2" charset="-122"/>
                </a:rPr>
                <a:t>阈值为 </a:t>
              </a:r>
              <a:r>
                <a:rPr lang="en-US" altLang="zh-CN" b="0" i="0" dirty="0">
                  <a:solidFill>
                    <a:srgbClr val="404040"/>
                  </a:solidFill>
                  <a:effectLst/>
                  <a:latin typeface="宋体" panose="02010600030101010101" pitchFamily="2" charset="-122"/>
                  <a:ea typeface="宋体" panose="02010600030101010101" pitchFamily="2" charset="-122"/>
                </a:rPr>
                <a:t>0.5 </a:t>
              </a:r>
              <a:r>
                <a:rPr lang="zh-CN" altLang="en-US" b="0" i="0" dirty="0">
                  <a:solidFill>
                    <a:srgbClr val="404040"/>
                  </a:solidFill>
                  <a:effectLst/>
                  <a:latin typeface="宋体" panose="02010600030101010101" pitchFamily="2" charset="-122"/>
                  <a:ea typeface="宋体" panose="02010600030101010101" pitchFamily="2" charset="-122"/>
                </a:rPr>
                <a:t>的条件下，计算所有类别的平均准确率的平均值；</a:t>
              </a:r>
              <a:endParaRPr lang="en-US" altLang="zh-CN" b="0" i="0" dirty="0">
                <a:solidFill>
                  <a:srgbClr val="404040"/>
                </a:solidFill>
                <a:effectLst/>
                <a:latin typeface="宋体" panose="02010600030101010101" pitchFamily="2" charset="-122"/>
                <a:ea typeface="宋体" panose="02010600030101010101" pitchFamily="2" charset="-122"/>
              </a:endParaRPr>
            </a:p>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lang="en-US" altLang="zh-CN" b="0" i="0" dirty="0">
                  <a:solidFill>
                    <a:srgbClr val="FF0000"/>
                  </a:solidFill>
                  <a:effectLst/>
                  <a:latin typeface="宋体" panose="02010600030101010101" pitchFamily="2" charset="-122"/>
                  <a:ea typeface="宋体" panose="02010600030101010101" pitchFamily="2" charset="-122"/>
                </a:rPr>
                <a:t>mAP50-95</a:t>
              </a:r>
              <a:r>
                <a:rPr lang="zh-CN" altLang="en-US" b="0" i="0" dirty="0">
                  <a:solidFill>
                    <a:srgbClr val="404040"/>
                  </a:solidFill>
                  <a:effectLst/>
                  <a:latin typeface="宋体" panose="02010600030101010101" pitchFamily="2" charset="-122"/>
                  <a:ea typeface="宋体" panose="02010600030101010101" pitchFamily="2" charset="-122"/>
                </a:rPr>
                <a:t>表示在</a:t>
              </a:r>
              <a:r>
                <a:rPr lang="en-US" altLang="zh-CN" b="0" i="0" dirty="0">
                  <a:solidFill>
                    <a:srgbClr val="404040"/>
                  </a:solidFill>
                  <a:effectLst/>
                  <a:latin typeface="宋体" panose="02010600030101010101" pitchFamily="2" charset="-122"/>
                  <a:ea typeface="宋体" panose="02010600030101010101" pitchFamily="2" charset="-122"/>
                </a:rPr>
                <a:t>IoU</a:t>
              </a:r>
              <a:r>
                <a:rPr lang="zh-CN" altLang="en-US" b="0" i="0" dirty="0">
                  <a:solidFill>
                    <a:srgbClr val="404040"/>
                  </a:solidFill>
                  <a:effectLst/>
                  <a:latin typeface="宋体" panose="02010600030101010101" pitchFamily="2" charset="-122"/>
                  <a:ea typeface="宋体" panose="02010600030101010101" pitchFamily="2" charset="-122"/>
                </a:rPr>
                <a:t>从</a:t>
              </a:r>
              <a:r>
                <a:rPr lang="en-US" altLang="zh-CN" b="0" i="0" dirty="0">
                  <a:solidFill>
                    <a:srgbClr val="404040"/>
                  </a:solidFill>
                  <a:effectLst/>
                  <a:latin typeface="宋体" panose="02010600030101010101" pitchFamily="2" charset="-122"/>
                  <a:ea typeface="宋体" panose="02010600030101010101" pitchFamily="2" charset="-122"/>
                </a:rPr>
                <a:t>0.50</a:t>
              </a:r>
              <a:r>
                <a:rPr lang="zh-CN" altLang="en-US" b="0" i="0" dirty="0">
                  <a:solidFill>
                    <a:srgbClr val="404040"/>
                  </a:solidFill>
                  <a:effectLst/>
                  <a:latin typeface="宋体" panose="02010600030101010101" pitchFamily="2" charset="-122"/>
                  <a:ea typeface="宋体" panose="02010600030101010101" pitchFamily="2" charset="-122"/>
                </a:rPr>
                <a:t>到</a:t>
              </a:r>
              <a:r>
                <a:rPr lang="en-US" altLang="zh-CN" b="0" i="0" dirty="0">
                  <a:solidFill>
                    <a:srgbClr val="404040"/>
                  </a:solidFill>
                  <a:effectLst/>
                  <a:latin typeface="宋体" panose="02010600030101010101" pitchFamily="2" charset="-122"/>
                  <a:ea typeface="宋体" panose="02010600030101010101" pitchFamily="2" charset="-122"/>
                </a:rPr>
                <a:t>0.95</a:t>
              </a:r>
              <a:r>
                <a:rPr lang="zh-CN" altLang="en-US" b="0" i="0" dirty="0">
                  <a:solidFill>
                    <a:srgbClr val="404040"/>
                  </a:solidFill>
                  <a:effectLst/>
                  <a:latin typeface="宋体" panose="02010600030101010101" pitchFamily="2" charset="-122"/>
                  <a:ea typeface="宋体" panose="02010600030101010101" pitchFamily="2" charset="-122"/>
                </a:rPr>
                <a:t>的</a:t>
              </a:r>
              <a:r>
                <a:rPr lang="en-US" altLang="zh-CN" b="0" i="0" dirty="0">
                  <a:solidFill>
                    <a:srgbClr val="404040"/>
                  </a:solidFill>
                  <a:effectLst/>
                  <a:latin typeface="宋体" panose="02010600030101010101" pitchFamily="2" charset="-122"/>
                  <a:ea typeface="宋体" panose="02010600030101010101" pitchFamily="2" charset="-122"/>
                </a:rPr>
                <a:t>10</a:t>
              </a:r>
              <a:r>
                <a:rPr lang="zh-CN" altLang="en-US" b="0" i="0" dirty="0">
                  <a:solidFill>
                    <a:srgbClr val="404040"/>
                  </a:solidFill>
                  <a:effectLst/>
                  <a:latin typeface="宋体" panose="02010600030101010101" pitchFamily="2" charset="-122"/>
                  <a:ea typeface="宋体" panose="02010600030101010101" pitchFamily="2" charset="-122"/>
                </a:rPr>
                <a:t>个阈值下分别计算 </a:t>
              </a:r>
              <a:r>
                <a:rPr lang="en-US" altLang="zh-CN" b="0" i="0" dirty="0">
                  <a:solidFill>
                    <a:srgbClr val="404040"/>
                  </a:solidFill>
                  <a:effectLst/>
                  <a:latin typeface="宋体" panose="02010600030101010101" pitchFamily="2" charset="-122"/>
                  <a:ea typeface="宋体" panose="02010600030101010101" pitchFamily="2" charset="-122"/>
                </a:rPr>
                <a:t>AP</a:t>
              </a:r>
              <a:r>
                <a:rPr lang="zh-CN" altLang="en-US" b="0" i="0" dirty="0">
                  <a:solidFill>
                    <a:srgbClr val="404040"/>
                  </a:solidFill>
                  <a:effectLst/>
                  <a:latin typeface="宋体" panose="02010600030101010101" pitchFamily="2" charset="-122"/>
                  <a:ea typeface="宋体" panose="02010600030101010101" pitchFamily="2" charset="-122"/>
                </a:rPr>
                <a:t>，再对这</a:t>
              </a:r>
              <a:r>
                <a:rPr lang="en-US" altLang="zh-CN" b="0" i="0" dirty="0">
                  <a:solidFill>
                    <a:srgbClr val="404040"/>
                  </a:solidFill>
                  <a:effectLst/>
                  <a:latin typeface="宋体" panose="02010600030101010101" pitchFamily="2" charset="-122"/>
                  <a:ea typeface="宋体" panose="02010600030101010101" pitchFamily="2" charset="-122"/>
                </a:rPr>
                <a:t>10</a:t>
              </a:r>
              <a:r>
                <a:rPr lang="zh-CN" altLang="en-US" b="0" i="0" dirty="0">
                  <a:solidFill>
                    <a:srgbClr val="404040"/>
                  </a:solidFill>
                  <a:effectLst/>
                  <a:latin typeface="宋体" panose="02010600030101010101" pitchFamily="2" charset="-122"/>
                  <a:ea typeface="宋体" panose="02010600030101010101" pitchFamily="2" charset="-122"/>
                </a:rPr>
                <a:t>个</a:t>
              </a:r>
              <a:r>
                <a:rPr lang="en-US" altLang="zh-CN" b="0" i="0" dirty="0">
                  <a:solidFill>
                    <a:srgbClr val="404040"/>
                  </a:solidFill>
                  <a:effectLst/>
                  <a:latin typeface="宋体" panose="02010600030101010101" pitchFamily="2" charset="-122"/>
                  <a:ea typeface="宋体" panose="02010600030101010101" pitchFamily="2" charset="-122"/>
                </a:rPr>
                <a:t>AP</a:t>
              </a:r>
              <a:r>
                <a:rPr lang="zh-CN" altLang="en-US" b="0" i="0" dirty="0">
                  <a:solidFill>
                    <a:srgbClr val="404040"/>
                  </a:solidFill>
                  <a:effectLst/>
                  <a:latin typeface="宋体" panose="02010600030101010101" pitchFamily="2" charset="-122"/>
                  <a:ea typeface="宋体" panose="02010600030101010101" pitchFamily="2" charset="-122"/>
                </a:rPr>
                <a:t>取平均。</a:t>
              </a:r>
              <a:endParaRPr kumimoji="0" lang="en-US" altLang="zh-CN" b="0" i="0" u="none" strike="noStrike" kern="1200" cap="none" spc="0" normalizeH="0" baseline="0" noProof="1">
                <a:ln>
                  <a:noFill/>
                </a:ln>
                <a:solidFill>
                  <a:schemeClr val="bg1">
                    <a:lumMod val="75000"/>
                  </a:schemeClr>
                </a:solidFill>
                <a:effectLst/>
                <a:uLnTx/>
                <a:uFillTx/>
                <a:latin typeface="宋体" panose="02010600030101010101" pitchFamily="2" charset="-122"/>
                <a:ea typeface="宋体" panose="02010600030101010101" pitchFamily="2" charset="-122"/>
                <a:cs typeface="+mn-ea"/>
                <a:sym typeface="+mn-lt"/>
              </a:endParaRPr>
            </a:p>
          </p:txBody>
        </p:sp>
      </p:grpSp>
      <p:grpSp>
        <p:nvGrpSpPr>
          <p:cNvPr id="82" name="组合 81">
            <a:extLst>
              <a:ext uri="{FF2B5EF4-FFF2-40B4-BE49-F238E27FC236}">
                <a16:creationId xmlns:a16="http://schemas.microsoft.com/office/drawing/2014/main" id="{E197E5E1-F321-7B61-92B9-B093427D5CE5}"/>
              </a:ext>
            </a:extLst>
          </p:cNvPr>
          <p:cNvGrpSpPr/>
          <p:nvPr/>
        </p:nvGrpSpPr>
        <p:grpSpPr>
          <a:xfrm>
            <a:off x="8633144" y="2070954"/>
            <a:ext cx="2935464" cy="1318827"/>
            <a:chOff x="407038" y="1497725"/>
            <a:chExt cx="2935464" cy="1318827"/>
          </a:xfrm>
        </p:grpSpPr>
        <p:sp>
          <p:nvSpPr>
            <p:cNvPr id="83" name="Rectangle 31">
              <a:extLst>
                <a:ext uri="{FF2B5EF4-FFF2-40B4-BE49-F238E27FC236}">
                  <a16:creationId xmlns:a16="http://schemas.microsoft.com/office/drawing/2014/main" id="{43954F89-1BDF-3A92-1978-5CAC80C1F765}"/>
                </a:ext>
              </a:extLst>
            </p:cNvPr>
            <p:cNvSpPr/>
            <p:nvPr/>
          </p:nvSpPr>
          <p:spPr>
            <a:xfrm>
              <a:off x="407038" y="1497725"/>
              <a:ext cx="2755344" cy="400110"/>
            </a:xfrm>
            <a:prstGeom prst="rect">
              <a:avLst/>
            </a:prstGeom>
          </p:spPr>
          <p:txBody>
            <a:bodyPr wrap="square">
              <a:spAutoFit/>
            </a:bodyPr>
            <a:lstStyle/>
            <a:p>
              <a:pPr algn="l">
                <a:spcBef>
                  <a:spcPts val="1372"/>
                </a:spcBef>
                <a:spcAft>
                  <a:spcPts val="1029"/>
                </a:spcAft>
              </a:pPr>
              <a:r>
                <a:rPr lang="en-US" altLang="zh-CN" sz="2000" b="1" i="0" dirty="0">
                  <a:solidFill>
                    <a:srgbClr val="404040"/>
                  </a:solidFill>
                  <a:effectLst/>
                  <a:latin typeface="宋体" panose="02010600030101010101" pitchFamily="2" charset="-122"/>
                  <a:ea typeface="宋体" panose="02010600030101010101" pitchFamily="2" charset="-122"/>
                </a:rPr>
                <a:t>Recall</a:t>
              </a:r>
              <a:r>
                <a:rPr lang="zh-CN" altLang="en-US" sz="2000" b="1" i="0" dirty="0">
                  <a:solidFill>
                    <a:srgbClr val="404040"/>
                  </a:solidFill>
                  <a:effectLst/>
                  <a:latin typeface="宋体" panose="02010600030101010101" pitchFamily="2" charset="-122"/>
                  <a:ea typeface="宋体" panose="02010600030101010101" pitchFamily="2" charset="-122"/>
                </a:rPr>
                <a:t>（召回率）</a:t>
              </a:r>
            </a:p>
          </p:txBody>
        </p:sp>
        <p:sp>
          <p:nvSpPr>
            <p:cNvPr id="84" name="文本框 83">
              <a:extLst>
                <a:ext uri="{FF2B5EF4-FFF2-40B4-BE49-F238E27FC236}">
                  <a16:creationId xmlns:a16="http://schemas.microsoft.com/office/drawing/2014/main" id="{36F77A6E-D776-50C3-1303-2AE5C0021E59}"/>
                </a:ext>
              </a:extLst>
            </p:cNvPr>
            <p:cNvSpPr txBox="1"/>
            <p:nvPr/>
          </p:nvSpPr>
          <p:spPr>
            <a:xfrm>
              <a:off x="407038" y="1893222"/>
              <a:ext cx="2935464"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lang="zh-CN" altLang="en-US" b="0" i="0" dirty="0">
                  <a:solidFill>
                    <a:srgbClr val="404040"/>
                  </a:solidFill>
                  <a:effectLst/>
                  <a:latin typeface="宋体" panose="02010600030101010101" pitchFamily="2" charset="-122"/>
                  <a:ea typeface="宋体" panose="02010600030101010101" pitchFamily="2" charset="-122"/>
                </a:rPr>
                <a:t>    正确检测的正样本占所有真实正样本的比例。</a:t>
              </a:r>
              <a:endParaRPr lang="en-US" altLang="zh-CN" b="0" i="0" dirty="0">
                <a:solidFill>
                  <a:srgbClr val="404040"/>
                </a:solidFill>
                <a:effectLst/>
                <a:latin typeface="宋体" panose="02010600030101010101" pitchFamily="2" charset="-122"/>
                <a:ea typeface="宋体" panose="02010600030101010101" pitchFamily="2" charset="-122"/>
              </a:endParaRPr>
            </a:p>
            <a:p>
              <a:pPr marL="0" marR="0" lvl="0" indent="0" algn="just" defTabSz="914400" rtl="0" eaLnBrk="1" fontAlgn="auto" latinLnBrk="0" hangingPunct="1">
                <a:lnSpc>
                  <a:spcPct val="100000"/>
                </a:lnSpc>
                <a:spcBef>
                  <a:spcPts val="0"/>
                </a:spcBef>
                <a:spcAft>
                  <a:spcPts val="0"/>
                </a:spcAft>
                <a:buClr>
                  <a:srgbClr val="E24848"/>
                </a:buClr>
                <a:buSzTx/>
                <a:buFontTx/>
                <a:buNone/>
                <a:defRPr/>
              </a:pPr>
              <a:r>
                <a:rPr lang="zh-CN" altLang="en-US" b="0" i="0" dirty="0">
                  <a:solidFill>
                    <a:srgbClr val="404040"/>
                  </a:solidFill>
                  <a:effectLst/>
                  <a:latin typeface="宋体" panose="02010600030101010101" pitchFamily="2" charset="-122"/>
                  <a:ea typeface="宋体" panose="02010600030101010101" pitchFamily="2" charset="-122"/>
                </a:rPr>
                <a:t>    即</a:t>
              </a:r>
              <a:r>
                <a:rPr lang="en-US" altLang="zh-CN" b="0" i="0" dirty="0">
                  <a:solidFill>
                    <a:srgbClr val="404040"/>
                  </a:solidFill>
                  <a:effectLst/>
                  <a:latin typeface="宋体" panose="02010600030101010101" pitchFamily="2" charset="-122"/>
                  <a:ea typeface="宋体" panose="02010600030101010101" pitchFamily="2" charset="-122"/>
                </a:rPr>
                <a:t>TP</a:t>
              </a:r>
              <a:r>
                <a:rPr lang="en-US" altLang="zh-CN" dirty="0">
                  <a:solidFill>
                    <a:srgbClr val="404040"/>
                  </a:solidFill>
                  <a:latin typeface="宋体" panose="02010600030101010101" pitchFamily="2" charset="-122"/>
                  <a:ea typeface="宋体" panose="02010600030101010101" pitchFamily="2" charset="-122"/>
                </a:rPr>
                <a:t>/(TP+FN)</a:t>
              </a:r>
              <a:endParaRPr kumimoji="0" lang="en-US" altLang="zh-CN" b="0" i="0" u="none" strike="noStrike" kern="1200" cap="none" spc="0" normalizeH="0" baseline="0" noProof="1">
                <a:ln>
                  <a:noFill/>
                </a:ln>
                <a:solidFill>
                  <a:schemeClr val="bg1">
                    <a:lumMod val="75000"/>
                  </a:schemeClr>
                </a:solidFill>
                <a:effectLst/>
                <a:uLnTx/>
                <a:uFillTx/>
                <a:latin typeface="宋体" panose="02010600030101010101" pitchFamily="2" charset="-122"/>
                <a:ea typeface="宋体" panose="02010600030101010101" pitchFamily="2" charset="-122"/>
                <a:cs typeface="+mn-ea"/>
                <a:sym typeface="+mn-lt"/>
              </a:endParaRPr>
            </a:p>
          </p:txBody>
        </p:sp>
      </p:grpSp>
      <p:grpSp>
        <p:nvGrpSpPr>
          <p:cNvPr id="43" name="组合 42">
            <a:extLst>
              <a:ext uri="{FF2B5EF4-FFF2-40B4-BE49-F238E27FC236}">
                <a16:creationId xmlns:a16="http://schemas.microsoft.com/office/drawing/2014/main" id="{9519F92C-4EF8-6E2C-B179-E26E9F57802F}"/>
              </a:ext>
            </a:extLst>
          </p:cNvPr>
          <p:cNvGrpSpPr/>
          <p:nvPr/>
        </p:nvGrpSpPr>
        <p:grpSpPr>
          <a:xfrm>
            <a:off x="0" y="1"/>
            <a:ext cx="12192000" cy="705135"/>
            <a:chOff x="0" y="1"/>
            <a:chExt cx="12192000" cy="705135"/>
          </a:xfrm>
        </p:grpSpPr>
        <p:sp>
          <p:nvSpPr>
            <p:cNvPr id="44" name="矩形 43">
              <a:extLst>
                <a:ext uri="{FF2B5EF4-FFF2-40B4-BE49-F238E27FC236}">
                  <a16:creationId xmlns:a16="http://schemas.microsoft.com/office/drawing/2014/main" id="{7437FA23-56A0-4AB5-B43F-E8778DC61A22}"/>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2BEC072B-39D8-1FC3-6A51-ED265ED8602A}"/>
                </a:ext>
              </a:extLst>
            </p:cNvPr>
            <p:cNvGrpSpPr/>
            <p:nvPr/>
          </p:nvGrpSpPr>
          <p:grpSpPr>
            <a:xfrm>
              <a:off x="5566401" y="159473"/>
              <a:ext cx="6316088" cy="369332"/>
              <a:chOff x="5223501" y="299173"/>
              <a:chExt cx="6316088" cy="369332"/>
            </a:xfrm>
          </p:grpSpPr>
          <p:sp>
            <p:nvSpPr>
              <p:cNvPr id="48" name="文本框 47">
                <a:extLst>
                  <a:ext uri="{FF2B5EF4-FFF2-40B4-BE49-F238E27FC236}">
                    <a16:creationId xmlns:a16="http://schemas.microsoft.com/office/drawing/2014/main" id="{97F7ACA5-3B27-8B95-18F6-73212EAB3C14}"/>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DE566024-857C-B455-FA38-4472F5FCB81E}"/>
                  </a:ext>
                </a:extLst>
              </p:cNvPr>
              <p:cNvSpPr txBox="1"/>
              <p:nvPr/>
            </p:nvSpPr>
            <p:spPr>
              <a:xfrm>
                <a:off x="695098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项目介绍</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1" name="文本框 50">
                <a:extLst>
                  <a:ext uri="{FF2B5EF4-FFF2-40B4-BE49-F238E27FC236}">
                    <a16:creationId xmlns:a16="http://schemas.microsoft.com/office/drawing/2014/main" id="{BC51F28C-92B8-1C82-A9EC-2714D1C047C1}"/>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模型实现</a:t>
                </a:r>
              </a:p>
            </p:txBody>
          </p:sp>
          <p:sp>
            <p:nvSpPr>
              <p:cNvPr id="64" name="文本框 63">
                <a:extLst>
                  <a:ext uri="{FF2B5EF4-FFF2-40B4-BE49-F238E27FC236}">
                    <a16:creationId xmlns:a16="http://schemas.microsoft.com/office/drawing/2014/main" id="{3640BD36-B038-F02B-37D1-BAAFC956A95F}"/>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实验结果</a:t>
                </a:r>
              </a:p>
            </p:txBody>
          </p:sp>
          <p:cxnSp>
            <p:nvCxnSpPr>
              <p:cNvPr id="66" name="直接连接符 65">
                <a:extLst>
                  <a:ext uri="{FF2B5EF4-FFF2-40B4-BE49-F238E27FC236}">
                    <a16:creationId xmlns:a16="http://schemas.microsoft.com/office/drawing/2014/main" id="{58053CBE-33E6-2F7C-42D1-EB08BCD3D89E}"/>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9E950C3D-08CB-59F0-1F99-F1EBBCE2B578}"/>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15DD3E9-88FE-3D7C-5554-14AAFD8DC46C}"/>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6" name="等腰三角形 45">
              <a:extLst>
                <a:ext uri="{FF2B5EF4-FFF2-40B4-BE49-F238E27FC236}">
                  <a16:creationId xmlns:a16="http://schemas.microsoft.com/office/drawing/2014/main" id="{1D7F10D4-325C-DC54-DF4F-AFAD5437D1B3}"/>
                </a:ext>
              </a:extLst>
            </p:cNvPr>
            <p:cNvSpPr/>
            <p:nvPr/>
          </p:nvSpPr>
          <p:spPr>
            <a:xfrm>
              <a:off x="10857694" y="555910"/>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圆角 1">
            <a:extLst>
              <a:ext uri="{FF2B5EF4-FFF2-40B4-BE49-F238E27FC236}">
                <a16:creationId xmlns:a16="http://schemas.microsoft.com/office/drawing/2014/main" id="{E0A5418D-1E52-AD5B-89CC-81484F86B1A5}"/>
              </a:ext>
            </a:extLst>
          </p:cNvPr>
          <p:cNvSpPr/>
          <p:nvPr/>
        </p:nvSpPr>
        <p:spPr>
          <a:xfrm>
            <a:off x="283565" y="866902"/>
            <a:ext cx="5491147" cy="612480"/>
          </a:xfrm>
          <a:prstGeom prst="roundRect">
            <a:avLst>
              <a:gd name="adj" fmla="val 5000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latin typeface="宋体" panose="02010600030101010101" pitchFamily="2" charset="-122"/>
                <a:ea typeface="宋体" panose="02010600030101010101" pitchFamily="2" charset="-122"/>
                <a:cs typeface="+mn-ea"/>
                <a:sym typeface="+mn-lt"/>
              </a:rPr>
              <a:t>评价指标</a:t>
            </a:r>
          </a:p>
        </p:txBody>
      </p:sp>
    </p:spTree>
    <p:extLst>
      <p:ext uri="{BB962C8B-B14F-4D97-AF65-F5344CB8AC3E}">
        <p14:creationId xmlns:p14="http://schemas.microsoft.com/office/powerpoint/2010/main" val="1261355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68398-8F9B-D059-A5EA-80FF28B0A03D}"/>
            </a:ext>
          </a:extLst>
        </p:cNvPr>
        <p:cNvGrpSpPr/>
        <p:nvPr/>
      </p:nvGrpSpPr>
      <p:grpSpPr>
        <a:xfrm>
          <a:off x="0" y="0"/>
          <a:ext cx="0" cy="0"/>
          <a:chOff x="0" y="0"/>
          <a:chExt cx="0" cy="0"/>
        </a:xfrm>
      </p:grpSpPr>
      <p:sp>
        <p:nvSpPr>
          <p:cNvPr id="4" name="iṡ1íḋe">
            <a:extLst>
              <a:ext uri="{FF2B5EF4-FFF2-40B4-BE49-F238E27FC236}">
                <a16:creationId xmlns:a16="http://schemas.microsoft.com/office/drawing/2014/main" id="{CEE8AAF5-FA8E-107B-7376-8FAC07AEF3E2}"/>
              </a:ext>
            </a:extLst>
          </p:cNvPr>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grpSp>
        <p:nvGrpSpPr>
          <p:cNvPr id="43" name="组合 42">
            <a:extLst>
              <a:ext uri="{FF2B5EF4-FFF2-40B4-BE49-F238E27FC236}">
                <a16:creationId xmlns:a16="http://schemas.microsoft.com/office/drawing/2014/main" id="{CB8A53C4-5C4C-A4DA-C2B6-D0A4A317DB27}"/>
              </a:ext>
            </a:extLst>
          </p:cNvPr>
          <p:cNvGrpSpPr/>
          <p:nvPr/>
        </p:nvGrpSpPr>
        <p:grpSpPr>
          <a:xfrm>
            <a:off x="-11552" y="-25154"/>
            <a:ext cx="12192000" cy="705135"/>
            <a:chOff x="0" y="1"/>
            <a:chExt cx="12192000" cy="705135"/>
          </a:xfrm>
        </p:grpSpPr>
        <p:sp>
          <p:nvSpPr>
            <p:cNvPr id="44" name="矩形 43">
              <a:extLst>
                <a:ext uri="{FF2B5EF4-FFF2-40B4-BE49-F238E27FC236}">
                  <a16:creationId xmlns:a16="http://schemas.microsoft.com/office/drawing/2014/main" id="{C69E150A-1599-CB06-FFC1-5C67A675F4A7}"/>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D08A4E52-0583-47D8-D051-609C2C13CC79}"/>
                </a:ext>
              </a:extLst>
            </p:cNvPr>
            <p:cNvGrpSpPr/>
            <p:nvPr/>
          </p:nvGrpSpPr>
          <p:grpSpPr>
            <a:xfrm>
              <a:off x="5566401" y="159473"/>
              <a:ext cx="6316088" cy="369332"/>
              <a:chOff x="5223501" y="299173"/>
              <a:chExt cx="6316088" cy="369332"/>
            </a:xfrm>
          </p:grpSpPr>
          <p:sp>
            <p:nvSpPr>
              <p:cNvPr id="48" name="文本框 47">
                <a:extLst>
                  <a:ext uri="{FF2B5EF4-FFF2-40B4-BE49-F238E27FC236}">
                    <a16:creationId xmlns:a16="http://schemas.microsoft.com/office/drawing/2014/main" id="{CF80E7BA-2295-3948-E0F5-92C08DF7BFBC}"/>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6B9F0397-0D08-637C-0DC1-C0A9EF6AEE31}"/>
                  </a:ext>
                </a:extLst>
              </p:cNvPr>
              <p:cNvSpPr txBox="1"/>
              <p:nvPr/>
            </p:nvSpPr>
            <p:spPr>
              <a:xfrm>
                <a:off x="695098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项目介绍</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1" name="文本框 50">
                <a:extLst>
                  <a:ext uri="{FF2B5EF4-FFF2-40B4-BE49-F238E27FC236}">
                    <a16:creationId xmlns:a16="http://schemas.microsoft.com/office/drawing/2014/main" id="{F14FBA2A-76D8-F250-10D8-A12FC573148F}"/>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模型实现</a:t>
                </a:r>
              </a:p>
            </p:txBody>
          </p:sp>
          <p:sp>
            <p:nvSpPr>
              <p:cNvPr id="64" name="文本框 63">
                <a:extLst>
                  <a:ext uri="{FF2B5EF4-FFF2-40B4-BE49-F238E27FC236}">
                    <a16:creationId xmlns:a16="http://schemas.microsoft.com/office/drawing/2014/main" id="{1E3586CD-223A-8594-004F-2949A8325FA9}"/>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实验结果</a:t>
                </a:r>
              </a:p>
            </p:txBody>
          </p:sp>
          <p:cxnSp>
            <p:nvCxnSpPr>
              <p:cNvPr id="66" name="直接连接符 65">
                <a:extLst>
                  <a:ext uri="{FF2B5EF4-FFF2-40B4-BE49-F238E27FC236}">
                    <a16:creationId xmlns:a16="http://schemas.microsoft.com/office/drawing/2014/main" id="{CAEB108B-7868-3431-07BA-C9D74F68DEBF}"/>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718AAC36-E933-059E-E1B5-C55FFCDD42F0}"/>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F434B23C-1303-F0DD-2644-E027D17EB0E1}"/>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6" name="等腰三角形 45">
              <a:extLst>
                <a:ext uri="{FF2B5EF4-FFF2-40B4-BE49-F238E27FC236}">
                  <a16:creationId xmlns:a16="http://schemas.microsoft.com/office/drawing/2014/main" id="{E5730B0C-6EFF-0711-D83B-E3F83970118E}"/>
                </a:ext>
              </a:extLst>
            </p:cNvPr>
            <p:cNvSpPr/>
            <p:nvPr/>
          </p:nvSpPr>
          <p:spPr>
            <a:xfrm>
              <a:off x="10857694" y="555910"/>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圆角 1">
            <a:extLst>
              <a:ext uri="{FF2B5EF4-FFF2-40B4-BE49-F238E27FC236}">
                <a16:creationId xmlns:a16="http://schemas.microsoft.com/office/drawing/2014/main" id="{52320C50-B998-2553-237A-5763824C0087}"/>
              </a:ext>
            </a:extLst>
          </p:cNvPr>
          <p:cNvSpPr/>
          <p:nvPr/>
        </p:nvSpPr>
        <p:spPr>
          <a:xfrm>
            <a:off x="283565" y="866902"/>
            <a:ext cx="5491147" cy="612480"/>
          </a:xfrm>
          <a:prstGeom prst="roundRect">
            <a:avLst>
              <a:gd name="adj" fmla="val 5000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latin typeface="宋体" panose="02010600030101010101" pitchFamily="2" charset="-122"/>
                <a:ea typeface="宋体" panose="02010600030101010101" pitchFamily="2" charset="-122"/>
                <a:cs typeface="+mn-ea"/>
                <a:sym typeface="+mn-lt"/>
              </a:rPr>
              <a:t>实验结果</a:t>
            </a:r>
          </a:p>
        </p:txBody>
      </p:sp>
      <p:pic>
        <p:nvPicPr>
          <p:cNvPr id="3" name="图片 2">
            <a:extLst>
              <a:ext uri="{FF2B5EF4-FFF2-40B4-BE49-F238E27FC236}">
                <a16:creationId xmlns:a16="http://schemas.microsoft.com/office/drawing/2014/main" id="{3E6EF49F-C7EE-A9C8-718D-D7743A8D3066}"/>
              </a:ext>
            </a:extLst>
          </p:cNvPr>
          <p:cNvPicPr>
            <a:picLocks noChangeAspect="1"/>
          </p:cNvPicPr>
          <p:nvPr/>
        </p:nvPicPr>
        <p:blipFill>
          <a:blip r:embed="rId2"/>
          <a:stretch>
            <a:fillRect/>
          </a:stretch>
        </p:blipFill>
        <p:spPr>
          <a:xfrm>
            <a:off x="407368" y="1844824"/>
            <a:ext cx="7932298" cy="4536504"/>
          </a:xfrm>
          <a:prstGeom prst="rect">
            <a:avLst/>
          </a:prstGeom>
        </p:spPr>
      </p:pic>
      <p:sp>
        <p:nvSpPr>
          <p:cNvPr id="6" name="文本框 5">
            <a:extLst>
              <a:ext uri="{FF2B5EF4-FFF2-40B4-BE49-F238E27FC236}">
                <a16:creationId xmlns:a16="http://schemas.microsoft.com/office/drawing/2014/main" id="{5EE57099-FAB1-02FB-2E9A-60E84CC46702}"/>
              </a:ext>
            </a:extLst>
          </p:cNvPr>
          <p:cNvSpPr txBox="1"/>
          <p:nvPr/>
        </p:nvSpPr>
        <p:spPr>
          <a:xfrm>
            <a:off x="5581816" y="5301208"/>
            <a:ext cx="2763719" cy="584775"/>
          </a:xfrm>
          <a:prstGeom prst="rect">
            <a:avLst/>
          </a:prstGeom>
          <a:noFill/>
        </p:spPr>
        <p:txBody>
          <a:bodyPr wrap="square" rtlCol="0">
            <a:spAutoFit/>
          </a:bodyPr>
          <a:lstStyle/>
          <a:p>
            <a:r>
              <a:rPr lang="zh-CN" altLang="zh-CN" sz="1600" dirty="0">
                <a:effectLst/>
                <a:latin typeface="宋体" panose="02010600030101010101" pitchFamily="2" charset="-122"/>
                <a:ea typeface="宋体" panose="02010600030101010101" pitchFamily="2" charset="-122"/>
                <a:cs typeface="楷体" panose="02010609060101010101" pitchFamily="49" charset="-122"/>
              </a:rPr>
              <a:t>“</a:t>
            </a:r>
            <a:r>
              <a:rPr lang="en-US" altLang="zh-CN" sz="1600" dirty="0">
                <a:effectLst/>
                <a:latin typeface="宋体" panose="02010600030101010101" pitchFamily="2" charset="-122"/>
                <a:ea typeface="宋体" panose="02010600030101010101" pitchFamily="2" charset="-122"/>
                <a:cs typeface="楷体" panose="02010609060101010101" pitchFamily="49" charset="-122"/>
              </a:rPr>
              <a:t>person</a:t>
            </a:r>
            <a:r>
              <a:rPr lang="zh-CN" altLang="zh-CN" sz="1600" dirty="0">
                <a:effectLst/>
                <a:latin typeface="宋体" panose="02010600030101010101" pitchFamily="2" charset="-122"/>
                <a:ea typeface="宋体" panose="02010600030101010101" pitchFamily="2" charset="-122"/>
                <a:cs typeface="楷体" panose="02010609060101010101" pitchFamily="49" charset="-122"/>
              </a:rPr>
              <a:t>”</a:t>
            </a:r>
            <a:r>
              <a:rPr lang="zh-CN" altLang="en-US" sz="1600" dirty="0">
                <a:latin typeface="宋体" panose="02010600030101010101" pitchFamily="2" charset="-122"/>
                <a:ea typeface="宋体" panose="02010600030101010101" pitchFamily="2" charset="-122"/>
                <a:cs typeface="楷体" panose="02010609060101010101" pitchFamily="49" charset="-122"/>
              </a:rPr>
              <a:t>：</a:t>
            </a:r>
            <a:r>
              <a:rPr lang="zh-CN" altLang="zh-CN" sz="1600" dirty="0">
                <a:effectLst/>
                <a:latin typeface="宋体" panose="02010600030101010101" pitchFamily="2" charset="-122"/>
                <a:ea typeface="宋体" panose="02010600030101010101" pitchFamily="2" charset="-122"/>
                <a:cs typeface="楷体" panose="02010609060101010101" pitchFamily="49" charset="-122"/>
              </a:rPr>
              <a:t>预测类别</a:t>
            </a:r>
            <a:endParaRPr lang="en-US" altLang="zh-CN" sz="1600" dirty="0">
              <a:effectLst/>
              <a:latin typeface="宋体" panose="02010600030101010101" pitchFamily="2" charset="-122"/>
              <a:ea typeface="宋体" panose="02010600030101010101" pitchFamily="2" charset="-122"/>
              <a:cs typeface="楷体" panose="02010609060101010101" pitchFamily="49" charset="-122"/>
            </a:endParaRPr>
          </a:p>
          <a:p>
            <a:r>
              <a:rPr lang="zh-CN" altLang="zh-CN" sz="1600" dirty="0">
                <a:effectLst/>
                <a:latin typeface="宋体" panose="02010600030101010101" pitchFamily="2" charset="-122"/>
                <a:ea typeface="宋体" panose="02010600030101010101" pitchFamily="2" charset="-122"/>
                <a:cs typeface="楷体" panose="02010609060101010101" pitchFamily="49" charset="-122"/>
              </a:rPr>
              <a:t>“</a:t>
            </a:r>
            <a:r>
              <a:rPr lang="en-US" altLang="zh-CN" sz="1600" dirty="0">
                <a:effectLst/>
                <a:latin typeface="宋体" panose="02010600030101010101" pitchFamily="2" charset="-122"/>
                <a:ea typeface="宋体" panose="02010600030101010101" pitchFamily="2" charset="-122"/>
                <a:cs typeface="楷体" panose="02010609060101010101" pitchFamily="49" charset="-122"/>
              </a:rPr>
              <a:t>0.9</a:t>
            </a:r>
            <a:r>
              <a:rPr lang="zh-CN" altLang="zh-CN" sz="1600" dirty="0">
                <a:effectLst/>
                <a:latin typeface="宋体" panose="02010600030101010101" pitchFamily="2" charset="-122"/>
                <a:ea typeface="宋体" panose="02010600030101010101" pitchFamily="2" charset="-122"/>
                <a:cs typeface="楷体" panose="02010609060101010101" pitchFamily="49" charset="-122"/>
              </a:rPr>
              <a:t>”</a:t>
            </a:r>
            <a:r>
              <a:rPr lang="zh-CN" altLang="en-US" sz="1600" dirty="0">
                <a:effectLst/>
                <a:latin typeface="宋体" panose="02010600030101010101" pitchFamily="2" charset="-122"/>
                <a:ea typeface="宋体" panose="02010600030101010101" pitchFamily="2" charset="-122"/>
                <a:cs typeface="楷体" panose="02010609060101010101" pitchFamily="49" charset="-122"/>
              </a:rPr>
              <a:t>：</a:t>
            </a:r>
            <a:r>
              <a:rPr lang="zh-CN" altLang="zh-CN" sz="1600" dirty="0">
                <a:effectLst/>
                <a:latin typeface="宋体" panose="02010600030101010101" pitchFamily="2" charset="-122"/>
                <a:ea typeface="宋体" panose="02010600030101010101" pitchFamily="2" charset="-122"/>
                <a:cs typeface="楷体" panose="02010609060101010101" pitchFamily="49" charset="-122"/>
              </a:rPr>
              <a:t>相应预测的置信度</a:t>
            </a:r>
            <a:endParaRPr lang="zh-CN" altLang="en-US" sz="1600" dirty="0">
              <a:latin typeface="宋体" panose="02010600030101010101" pitchFamily="2" charset="-122"/>
              <a:ea typeface="宋体" panose="02010600030101010101" pitchFamily="2" charset="-122"/>
            </a:endParaRPr>
          </a:p>
        </p:txBody>
      </p:sp>
      <p:pic>
        <p:nvPicPr>
          <p:cNvPr id="11" name="图片 10">
            <a:extLst>
              <a:ext uri="{FF2B5EF4-FFF2-40B4-BE49-F238E27FC236}">
                <a16:creationId xmlns:a16="http://schemas.microsoft.com/office/drawing/2014/main" id="{E539B45E-1F3F-790C-A8B5-508875C9E2D8}"/>
              </a:ext>
            </a:extLst>
          </p:cNvPr>
          <p:cNvPicPr>
            <a:picLocks noChangeAspect="1"/>
          </p:cNvPicPr>
          <p:nvPr/>
        </p:nvPicPr>
        <p:blipFill>
          <a:blip r:embed="rId3"/>
          <a:stretch>
            <a:fillRect/>
          </a:stretch>
        </p:blipFill>
        <p:spPr>
          <a:xfrm>
            <a:off x="6085593" y="2403145"/>
            <a:ext cx="8364285" cy="3155815"/>
          </a:xfrm>
          <a:prstGeom prst="rect">
            <a:avLst/>
          </a:prstGeom>
        </p:spPr>
      </p:pic>
      <p:sp>
        <p:nvSpPr>
          <p:cNvPr id="13" name="矩形 12">
            <a:extLst>
              <a:ext uri="{FF2B5EF4-FFF2-40B4-BE49-F238E27FC236}">
                <a16:creationId xmlns:a16="http://schemas.microsoft.com/office/drawing/2014/main" id="{51A5088F-9F7C-FE04-351F-0BBB359D6AF0}"/>
              </a:ext>
            </a:extLst>
          </p:cNvPr>
          <p:cNvSpPr/>
          <p:nvPr/>
        </p:nvSpPr>
        <p:spPr>
          <a:xfrm>
            <a:off x="8779930" y="4935088"/>
            <a:ext cx="3008893" cy="508603"/>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14" name="文本框 7">
            <a:extLst>
              <a:ext uri="{FF2B5EF4-FFF2-40B4-BE49-F238E27FC236}">
                <a16:creationId xmlns:a16="http://schemas.microsoft.com/office/drawing/2014/main" id="{2E1BD269-87E8-7767-B9D0-3BC5F38598EF}"/>
              </a:ext>
            </a:extLst>
          </p:cNvPr>
          <p:cNvSpPr txBox="1"/>
          <p:nvPr/>
        </p:nvSpPr>
        <p:spPr>
          <a:xfrm>
            <a:off x="9021361" y="5013176"/>
            <a:ext cx="2526030" cy="35242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模型性能指标</a:t>
            </a:r>
          </a:p>
        </p:txBody>
      </p:sp>
    </p:spTree>
    <p:extLst>
      <p:ext uri="{BB962C8B-B14F-4D97-AF65-F5344CB8AC3E}">
        <p14:creationId xmlns:p14="http://schemas.microsoft.com/office/powerpoint/2010/main" val="4192105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E5093-410A-FE61-DB7E-65D64E0759A8}"/>
            </a:ext>
          </a:extLst>
        </p:cNvPr>
        <p:cNvGrpSpPr/>
        <p:nvPr/>
      </p:nvGrpSpPr>
      <p:grpSpPr>
        <a:xfrm>
          <a:off x="0" y="0"/>
          <a:ext cx="0" cy="0"/>
          <a:chOff x="0" y="0"/>
          <a:chExt cx="0" cy="0"/>
        </a:xfrm>
      </p:grpSpPr>
      <p:sp>
        <p:nvSpPr>
          <p:cNvPr id="4" name="iṡ1íḋe">
            <a:extLst>
              <a:ext uri="{FF2B5EF4-FFF2-40B4-BE49-F238E27FC236}">
                <a16:creationId xmlns:a16="http://schemas.microsoft.com/office/drawing/2014/main" id="{4B0EAC13-800F-4672-1803-022F79C801FD}"/>
              </a:ext>
            </a:extLst>
          </p:cNvPr>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grpSp>
        <p:nvGrpSpPr>
          <p:cNvPr id="43" name="组合 42">
            <a:extLst>
              <a:ext uri="{FF2B5EF4-FFF2-40B4-BE49-F238E27FC236}">
                <a16:creationId xmlns:a16="http://schemas.microsoft.com/office/drawing/2014/main" id="{ADA201C4-AFAC-0AE7-91F0-269A8C013951}"/>
              </a:ext>
            </a:extLst>
          </p:cNvPr>
          <p:cNvGrpSpPr/>
          <p:nvPr/>
        </p:nvGrpSpPr>
        <p:grpSpPr>
          <a:xfrm>
            <a:off x="0" y="1"/>
            <a:ext cx="12192000" cy="705135"/>
            <a:chOff x="0" y="1"/>
            <a:chExt cx="12192000" cy="705135"/>
          </a:xfrm>
        </p:grpSpPr>
        <p:sp>
          <p:nvSpPr>
            <p:cNvPr id="44" name="矩形 43">
              <a:extLst>
                <a:ext uri="{FF2B5EF4-FFF2-40B4-BE49-F238E27FC236}">
                  <a16:creationId xmlns:a16="http://schemas.microsoft.com/office/drawing/2014/main" id="{1BADFB80-3762-E5DF-0670-F247E02D6E9D}"/>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15D14AFC-ADAA-C19F-8F43-6F52A7D3C181}"/>
                </a:ext>
              </a:extLst>
            </p:cNvPr>
            <p:cNvGrpSpPr/>
            <p:nvPr/>
          </p:nvGrpSpPr>
          <p:grpSpPr>
            <a:xfrm>
              <a:off x="5566401" y="159473"/>
              <a:ext cx="6316088" cy="369332"/>
              <a:chOff x="5223501" y="299173"/>
              <a:chExt cx="6316088" cy="369332"/>
            </a:xfrm>
          </p:grpSpPr>
          <p:sp>
            <p:nvSpPr>
              <p:cNvPr id="48" name="文本框 47">
                <a:extLst>
                  <a:ext uri="{FF2B5EF4-FFF2-40B4-BE49-F238E27FC236}">
                    <a16:creationId xmlns:a16="http://schemas.microsoft.com/office/drawing/2014/main" id="{C134D8B8-75DA-A2F8-ED46-391F52D6C814}"/>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68D055F4-7989-9C5D-7E79-CC0A9A222BE5}"/>
                  </a:ext>
                </a:extLst>
              </p:cNvPr>
              <p:cNvSpPr txBox="1"/>
              <p:nvPr/>
            </p:nvSpPr>
            <p:spPr>
              <a:xfrm>
                <a:off x="695098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项目介绍</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1" name="文本框 50">
                <a:extLst>
                  <a:ext uri="{FF2B5EF4-FFF2-40B4-BE49-F238E27FC236}">
                    <a16:creationId xmlns:a16="http://schemas.microsoft.com/office/drawing/2014/main" id="{D6B5BE0A-6C89-AC38-B9DC-7692D8C3E497}"/>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模型实现</a:t>
                </a:r>
              </a:p>
            </p:txBody>
          </p:sp>
          <p:sp>
            <p:nvSpPr>
              <p:cNvPr id="64" name="文本框 63">
                <a:extLst>
                  <a:ext uri="{FF2B5EF4-FFF2-40B4-BE49-F238E27FC236}">
                    <a16:creationId xmlns:a16="http://schemas.microsoft.com/office/drawing/2014/main" id="{6759DA64-D955-2A03-4DCB-4BA461A1F7FD}"/>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实验结果</a:t>
                </a:r>
              </a:p>
            </p:txBody>
          </p:sp>
          <p:cxnSp>
            <p:nvCxnSpPr>
              <p:cNvPr id="66" name="直接连接符 65">
                <a:extLst>
                  <a:ext uri="{FF2B5EF4-FFF2-40B4-BE49-F238E27FC236}">
                    <a16:creationId xmlns:a16="http://schemas.microsoft.com/office/drawing/2014/main" id="{0123105E-DCB2-2B5E-2DC2-59F667C2FA89}"/>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016A8E70-80C0-8256-D778-B2050D34BCD9}"/>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4AA06477-4279-DF64-8B43-B6E02906BD46}"/>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6" name="等腰三角形 45">
              <a:extLst>
                <a:ext uri="{FF2B5EF4-FFF2-40B4-BE49-F238E27FC236}">
                  <a16:creationId xmlns:a16="http://schemas.microsoft.com/office/drawing/2014/main" id="{228C20AF-ADAF-3FE2-96A5-0564703E815B}"/>
                </a:ext>
              </a:extLst>
            </p:cNvPr>
            <p:cNvSpPr/>
            <p:nvPr/>
          </p:nvSpPr>
          <p:spPr>
            <a:xfrm>
              <a:off x="10857694" y="555910"/>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圆角 1">
            <a:extLst>
              <a:ext uri="{FF2B5EF4-FFF2-40B4-BE49-F238E27FC236}">
                <a16:creationId xmlns:a16="http://schemas.microsoft.com/office/drawing/2014/main" id="{944C8F29-0C48-CE66-3E7D-0355179D4CEA}"/>
              </a:ext>
            </a:extLst>
          </p:cNvPr>
          <p:cNvSpPr/>
          <p:nvPr/>
        </p:nvSpPr>
        <p:spPr>
          <a:xfrm>
            <a:off x="283565" y="866902"/>
            <a:ext cx="5491147" cy="612480"/>
          </a:xfrm>
          <a:prstGeom prst="roundRect">
            <a:avLst>
              <a:gd name="adj" fmla="val 5000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latin typeface="宋体" panose="02010600030101010101" pitchFamily="2" charset="-122"/>
                <a:ea typeface="宋体" panose="02010600030101010101" pitchFamily="2" charset="-122"/>
                <a:cs typeface="+mn-ea"/>
                <a:sym typeface="+mn-lt"/>
              </a:rPr>
              <a:t>实验结果</a:t>
            </a:r>
          </a:p>
        </p:txBody>
      </p:sp>
      <p:pic>
        <p:nvPicPr>
          <p:cNvPr id="5" name="图片 4">
            <a:extLst>
              <a:ext uri="{FF2B5EF4-FFF2-40B4-BE49-F238E27FC236}">
                <a16:creationId xmlns:a16="http://schemas.microsoft.com/office/drawing/2014/main" id="{70011B68-67E1-DB86-4492-5237025B008B}"/>
              </a:ext>
            </a:extLst>
          </p:cNvPr>
          <p:cNvPicPr>
            <a:picLocks noChangeAspect="1"/>
          </p:cNvPicPr>
          <p:nvPr/>
        </p:nvPicPr>
        <p:blipFill>
          <a:blip r:embed="rId2"/>
          <a:stretch>
            <a:fillRect/>
          </a:stretch>
        </p:blipFill>
        <p:spPr>
          <a:xfrm>
            <a:off x="269138" y="2132856"/>
            <a:ext cx="5505574" cy="3670192"/>
          </a:xfrm>
          <a:prstGeom prst="rect">
            <a:avLst/>
          </a:prstGeom>
        </p:spPr>
      </p:pic>
      <p:sp>
        <p:nvSpPr>
          <p:cNvPr id="7" name="矩形 6">
            <a:extLst>
              <a:ext uri="{FF2B5EF4-FFF2-40B4-BE49-F238E27FC236}">
                <a16:creationId xmlns:a16="http://schemas.microsoft.com/office/drawing/2014/main" id="{A1BD24F6-A6FD-8120-F69C-35997624E133}"/>
              </a:ext>
            </a:extLst>
          </p:cNvPr>
          <p:cNvSpPr/>
          <p:nvPr/>
        </p:nvSpPr>
        <p:spPr>
          <a:xfrm>
            <a:off x="400155" y="5620453"/>
            <a:ext cx="5159033" cy="544155"/>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8" name="文本框 7">
            <a:extLst>
              <a:ext uri="{FF2B5EF4-FFF2-40B4-BE49-F238E27FC236}">
                <a16:creationId xmlns:a16="http://schemas.microsoft.com/office/drawing/2014/main" id="{F556E7A0-7D79-D616-FC50-91752AF37312}"/>
              </a:ext>
            </a:extLst>
          </p:cNvPr>
          <p:cNvSpPr txBox="1"/>
          <p:nvPr/>
        </p:nvSpPr>
        <p:spPr>
          <a:xfrm>
            <a:off x="765897" y="5715558"/>
            <a:ext cx="4512056"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en-US" altLang="zh-CN"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PR</a:t>
            </a: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曲线</a:t>
            </a:r>
          </a:p>
        </p:txBody>
      </p:sp>
      <p:pic>
        <p:nvPicPr>
          <p:cNvPr id="9" name="图片 8">
            <a:extLst>
              <a:ext uri="{FF2B5EF4-FFF2-40B4-BE49-F238E27FC236}">
                <a16:creationId xmlns:a16="http://schemas.microsoft.com/office/drawing/2014/main" id="{9BC37B4E-5785-2B4E-4B28-42353A21FD0A}"/>
              </a:ext>
            </a:extLst>
          </p:cNvPr>
          <p:cNvPicPr>
            <a:picLocks noChangeAspect="1"/>
          </p:cNvPicPr>
          <p:nvPr/>
        </p:nvPicPr>
        <p:blipFill>
          <a:blip r:embed="rId3"/>
          <a:stretch>
            <a:fillRect/>
          </a:stretch>
        </p:blipFill>
        <p:spPr>
          <a:xfrm>
            <a:off x="6170707" y="3411820"/>
            <a:ext cx="5505575" cy="2752788"/>
          </a:xfrm>
          <a:prstGeom prst="rect">
            <a:avLst/>
          </a:prstGeom>
        </p:spPr>
      </p:pic>
      <p:sp>
        <p:nvSpPr>
          <p:cNvPr id="10" name="矩形 9">
            <a:extLst>
              <a:ext uri="{FF2B5EF4-FFF2-40B4-BE49-F238E27FC236}">
                <a16:creationId xmlns:a16="http://schemas.microsoft.com/office/drawing/2014/main" id="{3185707E-3077-532C-6E8F-3763F7173A1B}"/>
              </a:ext>
            </a:extLst>
          </p:cNvPr>
          <p:cNvSpPr/>
          <p:nvPr/>
        </p:nvSpPr>
        <p:spPr>
          <a:xfrm>
            <a:off x="6170707" y="6143282"/>
            <a:ext cx="5505575" cy="544155"/>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12" name="文本框 11">
            <a:extLst>
              <a:ext uri="{FF2B5EF4-FFF2-40B4-BE49-F238E27FC236}">
                <a16:creationId xmlns:a16="http://schemas.microsoft.com/office/drawing/2014/main" id="{1D1E4605-193D-474F-94E5-8807BA8F3CE4}"/>
              </a:ext>
            </a:extLst>
          </p:cNvPr>
          <p:cNvSpPr txBox="1"/>
          <p:nvPr/>
        </p:nvSpPr>
        <p:spPr>
          <a:xfrm>
            <a:off x="6642674" y="6238387"/>
            <a:ext cx="4815140"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en-US" altLang="zh-CN"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Loss</a:t>
            </a: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与</a:t>
            </a:r>
            <a:r>
              <a:rPr kumimoji="1" lang="en-US" altLang="zh-CN"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mAP</a:t>
            </a: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变化示例图</a:t>
            </a:r>
          </a:p>
        </p:txBody>
      </p:sp>
      <p:pic>
        <p:nvPicPr>
          <p:cNvPr id="19" name="图片 18">
            <a:extLst>
              <a:ext uri="{FF2B5EF4-FFF2-40B4-BE49-F238E27FC236}">
                <a16:creationId xmlns:a16="http://schemas.microsoft.com/office/drawing/2014/main" id="{4FA00524-A97D-52BD-69E8-B74F0FCD21C3}"/>
              </a:ext>
            </a:extLst>
          </p:cNvPr>
          <p:cNvPicPr>
            <a:picLocks noChangeAspect="1"/>
          </p:cNvPicPr>
          <p:nvPr/>
        </p:nvPicPr>
        <p:blipFill>
          <a:blip r:embed="rId4"/>
          <a:stretch>
            <a:fillRect/>
          </a:stretch>
        </p:blipFill>
        <p:spPr>
          <a:xfrm>
            <a:off x="8141705" y="802799"/>
            <a:ext cx="1987652" cy="1797142"/>
          </a:xfrm>
          <a:prstGeom prst="rect">
            <a:avLst/>
          </a:prstGeom>
        </p:spPr>
      </p:pic>
      <p:sp>
        <p:nvSpPr>
          <p:cNvPr id="20" name="矩形 19">
            <a:extLst>
              <a:ext uri="{FF2B5EF4-FFF2-40B4-BE49-F238E27FC236}">
                <a16:creationId xmlns:a16="http://schemas.microsoft.com/office/drawing/2014/main" id="{B6760F9E-0867-84ED-56B5-9931D6F4A835}"/>
              </a:ext>
            </a:extLst>
          </p:cNvPr>
          <p:cNvSpPr/>
          <p:nvPr/>
        </p:nvSpPr>
        <p:spPr>
          <a:xfrm>
            <a:off x="8141705" y="2567647"/>
            <a:ext cx="1987652" cy="509082"/>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1" name="文本框 20">
            <a:extLst>
              <a:ext uri="{FF2B5EF4-FFF2-40B4-BE49-F238E27FC236}">
                <a16:creationId xmlns:a16="http://schemas.microsoft.com/office/drawing/2014/main" id="{5228CFE0-AA7C-25EC-67BA-741EF08AA578}"/>
              </a:ext>
            </a:extLst>
          </p:cNvPr>
          <p:cNvSpPr txBox="1"/>
          <p:nvPr/>
        </p:nvSpPr>
        <p:spPr>
          <a:xfrm>
            <a:off x="8258881" y="2622633"/>
            <a:ext cx="1728192"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图片处理耗时</a:t>
            </a:r>
          </a:p>
        </p:txBody>
      </p:sp>
    </p:spTree>
    <p:extLst>
      <p:ext uri="{BB962C8B-B14F-4D97-AF65-F5344CB8AC3E}">
        <p14:creationId xmlns:p14="http://schemas.microsoft.com/office/powerpoint/2010/main" val="3579671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7F8F8-C38D-99D9-219B-17EDF637691F}"/>
            </a:ext>
          </a:extLst>
        </p:cNvPr>
        <p:cNvGrpSpPr/>
        <p:nvPr/>
      </p:nvGrpSpPr>
      <p:grpSpPr>
        <a:xfrm>
          <a:off x="0" y="0"/>
          <a:ext cx="0" cy="0"/>
          <a:chOff x="0" y="0"/>
          <a:chExt cx="0" cy="0"/>
        </a:xfrm>
      </p:grpSpPr>
      <p:sp>
        <p:nvSpPr>
          <p:cNvPr id="4" name="iṡ1íḋe">
            <a:extLst>
              <a:ext uri="{FF2B5EF4-FFF2-40B4-BE49-F238E27FC236}">
                <a16:creationId xmlns:a16="http://schemas.microsoft.com/office/drawing/2014/main" id="{14F0F5E2-B7D7-CAC9-3A55-C3993F674545}"/>
              </a:ext>
            </a:extLst>
          </p:cNvPr>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grpSp>
        <p:nvGrpSpPr>
          <p:cNvPr id="43" name="组合 42">
            <a:extLst>
              <a:ext uri="{FF2B5EF4-FFF2-40B4-BE49-F238E27FC236}">
                <a16:creationId xmlns:a16="http://schemas.microsoft.com/office/drawing/2014/main" id="{67C05F5C-40A0-0DBE-BF1F-D5DDAE5B4D1E}"/>
              </a:ext>
            </a:extLst>
          </p:cNvPr>
          <p:cNvGrpSpPr/>
          <p:nvPr/>
        </p:nvGrpSpPr>
        <p:grpSpPr>
          <a:xfrm>
            <a:off x="0" y="1"/>
            <a:ext cx="12192000" cy="705135"/>
            <a:chOff x="0" y="1"/>
            <a:chExt cx="12192000" cy="705135"/>
          </a:xfrm>
        </p:grpSpPr>
        <p:sp>
          <p:nvSpPr>
            <p:cNvPr id="44" name="矩形 43">
              <a:extLst>
                <a:ext uri="{FF2B5EF4-FFF2-40B4-BE49-F238E27FC236}">
                  <a16:creationId xmlns:a16="http://schemas.microsoft.com/office/drawing/2014/main" id="{013C1530-9B05-2E40-7CC6-CE8B9FBFEF2E}"/>
                </a:ext>
              </a:extLst>
            </p:cNvPr>
            <p:cNvSpPr/>
            <p:nvPr/>
          </p:nvSpPr>
          <p:spPr>
            <a:xfrm>
              <a:off x="0" y="1"/>
              <a:ext cx="12192000" cy="650874"/>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A7EE2AC0-B822-DF72-5935-AE03520B361C}"/>
                </a:ext>
              </a:extLst>
            </p:cNvPr>
            <p:cNvGrpSpPr/>
            <p:nvPr/>
          </p:nvGrpSpPr>
          <p:grpSpPr>
            <a:xfrm>
              <a:off x="5566401" y="159473"/>
              <a:ext cx="6316088" cy="369332"/>
              <a:chOff x="5223501" y="299173"/>
              <a:chExt cx="6316088" cy="369332"/>
            </a:xfrm>
          </p:grpSpPr>
          <p:sp>
            <p:nvSpPr>
              <p:cNvPr id="48" name="文本框 47">
                <a:extLst>
                  <a:ext uri="{FF2B5EF4-FFF2-40B4-BE49-F238E27FC236}">
                    <a16:creationId xmlns:a16="http://schemas.microsoft.com/office/drawing/2014/main" id="{961A1F10-5C90-0247-D60A-693C600BA39C}"/>
                  </a:ext>
                </a:extLst>
              </p:cNvPr>
              <p:cNvSpPr txBox="1"/>
              <p:nvPr/>
            </p:nvSpPr>
            <p:spPr>
              <a:xfrm>
                <a:off x="522350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背景分析</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47E38734-9CBB-BF02-E09B-C55072EAD849}"/>
                  </a:ext>
                </a:extLst>
              </p:cNvPr>
              <p:cNvSpPr txBox="1"/>
              <p:nvPr/>
            </p:nvSpPr>
            <p:spPr>
              <a:xfrm>
                <a:off x="6950981" y="299173"/>
                <a:ext cx="1107996" cy="369332"/>
              </a:xfrm>
              <a:prstGeom prst="rect">
                <a:avLst/>
              </a:prstGeom>
              <a:noFill/>
            </p:spPr>
            <p:txBody>
              <a:bodyPr wrap="none" rtlCol="0">
                <a:spAutoFit/>
              </a:bodyPr>
              <a:lstStyle/>
              <a:p>
                <a:r>
                  <a:rPr lang="zh-CN" altLang="en-US" b="1">
                    <a:solidFill>
                      <a:schemeClr val="bg1"/>
                    </a:solidFill>
                    <a:latin typeface="思源黑体 CN Regular" panose="020B0500000000000000" pitchFamily="34" charset="-122"/>
                    <a:ea typeface="思源黑体 CN Regular" panose="020B0500000000000000" pitchFamily="34" charset="-122"/>
                  </a:rPr>
                  <a:t>项目介绍</a:t>
                </a:r>
                <a:endParaRPr lang="zh-CN" altLang="en-US" b="1" dirty="0">
                  <a:solidFill>
                    <a:schemeClr val="bg1"/>
                  </a:solidFill>
                  <a:latin typeface="思源黑体 CN Regular" panose="020B0500000000000000" pitchFamily="34" charset="-122"/>
                  <a:ea typeface="思源黑体 CN Regular" panose="020B0500000000000000" pitchFamily="34" charset="-122"/>
                </a:endParaRPr>
              </a:p>
            </p:txBody>
          </p:sp>
          <p:sp>
            <p:nvSpPr>
              <p:cNvPr id="51" name="文本框 50">
                <a:extLst>
                  <a:ext uri="{FF2B5EF4-FFF2-40B4-BE49-F238E27FC236}">
                    <a16:creationId xmlns:a16="http://schemas.microsoft.com/office/drawing/2014/main" id="{B57585B5-0151-973C-BE8F-CDEBAB88AB86}"/>
                  </a:ext>
                </a:extLst>
              </p:cNvPr>
              <p:cNvSpPr txBox="1"/>
              <p:nvPr/>
            </p:nvSpPr>
            <p:spPr>
              <a:xfrm>
                <a:off x="8678461" y="299173"/>
                <a:ext cx="1107996"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模型实现</a:t>
                </a:r>
              </a:p>
            </p:txBody>
          </p:sp>
          <p:sp>
            <p:nvSpPr>
              <p:cNvPr id="64" name="文本框 63">
                <a:extLst>
                  <a:ext uri="{FF2B5EF4-FFF2-40B4-BE49-F238E27FC236}">
                    <a16:creationId xmlns:a16="http://schemas.microsoft.com/office/drawing/2014/main" id="{B1554ED8-273A-C07B-50B4-E7FC44798E9B}"/>
                  </a:ext>
                </a:extLst>
              </p:cNvPr>
              <p:cNvSpPr txBox="1"/>
              <p:nvPr/>
            </p:nvSpPr>
            <p:spPr>
              <a:xfrm>
                <a:off x="10405945" y="299173"/>
                <a:ext cx="1133644" cy="369332"/>
              </a:xfrm>
              <a:prstGeom prst="rect">
                <a:avLst/>
              </a:prstGeom>
              <a:noFill/>
            </p:spPr>
            <p:txBody>
              <a:bodyPr wrap="none" rtlCol="0">
                <a:spAutoFit/>
              </a:bodyPr>
              <a:lstStyle/>
              <a:p>
                <a:r>
                  <a:rPr lang="zh-CN" altLang="en-US" b="1" dirty="0">
                    <a:solidFill>
                      <a:schemeClr val="bg1"/>
                    </a:solidFill>
                    <a:latin typeface="思源黑体 CN Regular" panose="020B0500000000000000" pitchFamily="34" charset="-122"/>
                    <a:ea typeface="思源黑体 CN Regular" panose="020B0500000000000000" pitchFamily="34" charset="-122"/>
                  </a:rPr>
                  <a:t>实验结果</a:t>
                </a:r>
              </a:p>
            </p:txBody>
          </p:sp>
          <p:cxnSp>
            <p:nvCxnSpPr>
              <p:cNvPr id="66" name="直接连接符 65">
                <a:extLst>
                  <a:ext uri="{FF2B5EF4-FFF2-40B4-BE49-F238E27FC236}">
                    <a16:creationId xmlns:a16="http://schemas.microsoft.com/office/drawing/2014/main" id="{AD700518-C98A-5CF9-ADC6-6C0B828C9D3D}"/>
                  </a:ext>
                </a:extLst>
              </p:cNvPr>
              <p:cNvCxnSpPr>
                <a:cxnSpLocks/>
              </p:cNvCxnSpPr>
              <p:nvPr/>
            </p:nvCxnSpPr>
            <p:spPr>
              <a:xfrm>
                <a:off x="670535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0B95C707-7B0C-1C63-8D22-E1612793874D}"/>
                  </a:ext>
                </a:extLst>
              </p:cNvPr>
              <p:cNvCxnSpPr>
                <a:cxnSpLocks/>
              </p:cNvCxnSpPr>
              <p:nvPr/>
            </p:nvCxnSpPr>
            <p:spPr>
              <a:xfrm>
                <a:off x="843283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F7929EDA-F690-1D82-A310-E7DA9C96D5EC}"/>
                  </a:ext>
                </a:extLst>
              </p:cNvPr>
              <p:cNvCxnSpPr>
                <a:cxnSpLocks/>
              </p:cNvCxnSpPr>
              <p:nvPr/>
            </p:nvCxnSpPr>
            <p:spPr>
              <a:xfrm>
                <a:off x="10160319" y="365275"/>
                <a:ext cx="0" cy="301705"/>
              </a:xfrm>
              <a:prstGeom prst="line">
                <a:avLst/>
              </a:prstGeom>
              <a:ln w="317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6" name="等腰三角形 45">
              <a:extLst>
                <a:ext uri="{FF2B5EF4-FFF2-40B4-BE49-F238E27FC236}">
                  <a16:creationId xmlns:a16="http://schemas.microsoft.com/office/drawing/2014/main" id="{0FC60E6B-23C0-C878-8F22-F4CF98F1AD3E}"/>
                </a:ext>
              </a:extLst>
            </p:cNvPr>
            <p:cNvSpPr/>
            <p:nvPr/>
          </p:nvSpPr>
          <p:spPr>
            <a:xfrm>
              <a:off x="10857694" y="555910"/>
              <a:ext cx="818588" cy="149226"/>
            </a:xfrm>
            <a:prstGeom prst="triangle">
              <a:avLst>
                <a:gd name="adj" fmla="val 503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圆角 1">
            <a:extLst>
              <a:ext uri="{FF2B5EF4-FFF2-40B4-BE49-F238E27FC236}">
                <a16:creationId xmlns:a16="http://schemas.microsoft.com/office/drawing/2014/main" id="{6D4A1B7A-34ED-B279-1C4E-ADF971B92659}"/>
              </a:ext>
            </a:extLst>
          </p:cNvPr>
          <p:cNvSpPr/>
          <p:nvPr/>
        </p:nvSpPr>
        <p:spPr>
          <a:xfrm>
            <a:off x="177017" y="705136"/>
            <a:ext cx="5491147" cy="612480"/>
          </a:xfrm>
          <a:prstGeom prst="roundRect">
            <a:avLst>
              <a:gd name="adj" fmla="val 5000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dirty="0">
                <a:latin typeface="宋体" panose="02010600030101010101" pitchFamily="2" charset="-122"/>
                <a:ea typeface="宋体" panose="02010600030101010101" pitchFamily="2" charset="-122"/>
                <a:cs typeface="+mn-ea"/>
                <a:sym typeface="+mn-lt"/>
              </a:rPr>
              <a:t>对比实验</a:t>
            </a:r>
          </a:p>
        </p:txBody>
      </p:sp>
      <p:pic>
        <p:nvPicPr>
          <p:cNvPr id="6" name="图片 5">
            <a:extLst>
              <a:ext uri="{FF2B5EF4-FFF2-40B4-BE49-F238E27FC236}">
                <a16:creationId xmlns:a16="http://schemas.microsoft.com/office/drawing/2014/main" id="{81058F36-71DB-E7CE-3A9E-F1F82EF67FCE}"/>
              </a:ext>
            </a:extLst>
          </p:cNvPr>
          <p:cNvPicPr>
            <a:picLocks noChangeAspect="1"/>
          </p:cNvPicPr>
          <p:nvPr/>
        </p:nvPicPr>
        <p:blipFill>
          <a:blip r:embed="rId2"/>
          <a:stretch>
            <a:fillRect/>
          </a:stretch>
        </p:blipFill>
        <p:spPr>
          <a:xfrm>
            <a:off x="532953" y="1535086"/>
            <a:ext cx="2170961" cy="1944246"/>
          </a:xfrm>
          <a:prstGeom prst="rect">
            <a:avLst/>
          </a:prstGeom>
        </p:spPr>
      </p:pic>
      <p:pic>
        <p:nvPicPr>
          <p:cNvPr id="13" name="图片 12">
            <a:extLst>
              <a:ext uri="{FF2B5EF4-FFF2-40B4-BE49-F238E27FC236}">
                <a16:creationId xmlns:a16="http://schemas.microsoft.com/office/drawing/2014/main" id="{0DE895AE-1086-2ADF-6703-12A661605AB0}"/>
              </a:ext>
            </a:extLst>
          </p:cNvPr>
          <p:cNvPicPr>
            <a:picLocks noChangeAspect="1"/>
          </p:cNvPicPr>
          <p:nvPr/>
        </p:nvPicPr>
        <p:blipFill>
          <a:blip r:embed="rId3"/>
          <a:stretch>
            <a:fillRect/>
          </a:stretch>
        </p:blipFill>
        <p:spPr>
          <a:xfrm>
            <a:off x="3863752" y="1602471"/>
            <a:ext cx="2178888" cy="1889288"/>
          </a:xfrm>
          <a:prstGeom prst="rect">
            <a:avLst/>
          </a:prstGeom>
        </p:spPr>
      </p:pic>
      <p:sp>
        <p:nvSpPr>
          <p:cNvPr id="16" name="矩形 15">
            <a:extLst>
              <a:ext uri="{FF2B5EF4-FFF2-40B4-BE49-F238E27FC236}">
                <a16:creationId xmlns:a16="http://schemas.microsoft.com/office/drawing/2014/main" id="{BC8C06CD-04E1-3FB3-D489-03CD9C346AC5}"/>
              </a:ext>
            </a:extLst>
          </p:cNvPr>
          <p:cNvSpPr/>
          <p:nvPr/>
        </p:nvSpPr>
        <p:spPr>
          <a:xfrm>
            <a:off x="558934" y="3443455"/>
            <a:ext cx="2118997" cy="379346"/>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17" name="文本框 16">
            <a:extLst>
              <a:ext uri="{FF2B5EF4-FFF2-40B4-BE49-F238E27FC236}">
                <a16:creationId xmlns:a16="http://schemas.microsoft.com/office/drawing/2014/main" id="{BBC6730C-34A6-1769-D601-896E8C7D7337}"/>
              </a:ext>
            </a:extLst>
          </p:cNvPr>
          <p:cNvSpPr txBox="1"/>
          <p:nvPr/>
        </p:nvSpPr>
        <p:spPr>
          <a:xfrm>
            <a:off x="614290" y="3468858"/>
            <a:ext cx="1997762"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红外光单模态检测</a:t>
            </a:r>
          </a:p>
        </p:txBody>
      </p:sp>
      <p:sp>
        <p:nvSpPr>
          <p:cNvPr id="18" name="矩形 17">
            <a:extLst>
              <a:ext uri="{FF2B5EF4-FFF2-40B4-BE49-F238E27FC236}">
                <a16:creationId xmlns:a16="http://schemas.microsoft.com/office/drawing/2014/main" id="{02353FBF-658A-4969-F942-CAA5CCFFAAD1}"/>
              </a:ext>
            </a:extLst>
          </p:cNvPr>
          <p:cNvSpPr/>
          <p:nvPr/>
        </p:nvSpPr>
        <p:spPr>
          <a:xfrm>
            <a:off x="3898947" y="3471919"/>
            <a:ext cx="2118997" cy="379346"/>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2" name="文本框 21">
            <a:extLst>
              <a:ext uri="{FF2B5EF4-FFF2-40B4-BE49-F238E27FC236}">
                <a16:creationId xmlns:a16="http://schemas.microsoft.com/office/drawing/2014/main" id="{1BAC8E19-4DE3-A4D8-1F99-DC5B1F426744}"/>
              </a:ext>
            </a:extLst>
          </p:cNvPr>
          <p:cNvSpPr txBox="1"/>
          <p:nvPr/>
        </p:nvSpPr>
        <p:spPr>
          <a:xfrm>
            <a:off x="3989156" y="3471919"/>
            <a:ext cx="1997762"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热成像单模态检测</a:t>
            </a:r>
          </a:p>
        </p:txBody>
      </p:sp>
      <p:sp>
        <p:nvSpPr>
          <p:cNvPr id="26" name="矩形: 圆角 25">
            <a:extLst>
              <a:ext uri="{FF2B5EF4-FFF2-40B4-BE49-F238E27FC236}">
                <a16:creationId xmlns:a16="http://schemas.microsoft.com/office/drawing/2014/main" id="{DD0EA27A-0E27-3521-E65E-370AC3A6980B}"/>
              </a:ext>
            </a:extLst>
          </p:cNvPr>
          <p:cNvSpPr/>
          <p:nvPr/>
        </p:nvSpPr>
        <p:spPr>
          <a:xfrm>
            <a:off x="177726" y="1540317"/>
            <a:ext cx="6276837" cy="2468818"/>
          </a:xfrm>
          <a:prstGeom prst="roundRect">
            <a:avLst/>
          </a:prstGeom>
          <a:noFill/>
          <a:ln w="28575">
            <a:solidFill>
              <a:srgbClr val="0E419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虚尾 28">
            <a:extLst>
              <a:ext uri="{FF2B5EF4-FFF2-40B4-BE49-F238E27FC236}">
                <a16:creationId xmlns:a16="http://schemas.microsoft.com/office/drawing/2014/main" id="{CB46FA86-9366-78A2-E703-E1DE34487CE1}"/>
              </a:ext>
            </a:extLst>
          </p:cNvPr>
          <p:cNvSpPr/>
          <p:nvPr/>
        </p:nvSpPr>
        <p:spPr>
          <a:xfrm>
            <a:off x="2505372" y="5084250"/>
            <a:ext cx="1502475" cy="576782"/>
          </a:xfrm>
          <a:prstGeom prst="stripedRightArrow">
            <a:avLst/>
          </a:prstGeom>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1CDAF046-FA10-0459-A2E1-88CD4A36A59F}"/>
              </a:ext>
            </a:extLst>
          </p:cNvPr>
          <p:cNvPicPr>
            <a:picLocks noChangeAspect="1"/>
          </p:cNvPicPr>
          <p:nvPr/>
        </p:nvPicPr>
        <p:blipFill>
          <a:blip r:embed="rId4"/>
          <a:stretch>
            <a:fillRect/>
          </a:stretch>
        </p:blipFill>
        <p:spPr>
          <a:xfrm>
            <a:off x="322886" y="4223119"/>
            <a:ext cx="2170079" cy="1929745"/>
          </a:xfrm>
          <a:prstGeom prst="rect">
            <a:avLst/>
          </a:prstGeom>
        </p:spPr>
      </p:pic>
      <p:sp>
        <p:nvSpPr>
          <p:cNvPr id="31" name="矩形 30">
            <a:extLst>
              <a:ext uri="{FF2B5EF4-FFF2-40B4-BE49-F238E27FC236}">
                <a16:creationId xmlns:a16="http://schemas.microsoft.com/office/drawing/2014/main" id="{AAE769A6-D658-14DB-DB87-96B3FCAC1FA7}"/>
              </a:ext>
            </a:extLst>
          </p:cNvPr>
          <p:cNvSpPr/>
          <p:nvPr/>
        </p:nvSpPr>
        <p:spPr>
          <a:xfrm>
            <a:off x="348867" y="6152864"/>
            <a:ext cx="2144097" cy="407774"/>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dirty="0">
              <a:sym typeface="+mn-ea"/>
            </a:endParaRPr>
          </a:p>
        </p:txBody>
      </p:sp>
      <p:sp>
        <p:nvSpPr>
          <p:cNvPr id="32" name="文本框 31">
            <a:extLst>
              <a:ext uri="{FF2B5EF4-FFF2-40B4-BE49-F238E27FC236}">
                <a16:creationId xmlns:a16="http://schemas.microsoft.com/office/drawing/2014/main" id="{1476318D-024E-E9DC-56D7-2085EC0D2DA1}"/>
              </a:ext>
            </a:extLst>
          </p:cNvPr>
          <p:cNvSpPr txBox="1"/>
          <p:nvPr/>
        </p:nvSpPr>
        <p:spPr>
          <a:xfrm>
            <a:off x="488942" y="6167366"/>
            <a:ext cx="1863945"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en-US" altLang="zh-CN"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YOLO</a:t>
            </a: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算法改进前</a:t>
            </a:r>
          </a:p>
        </p:txBody>
      </p:sp>
      <p:pic>
        <p:nvPicPr>
          <p:cNvPr id="33" name="图片 32">
            <a:extLst>
              <a:ext uri="{FF2B5EF4-FFF2-40B4-BE49-F238E27FC236}">
                <a16:creationId xmlns:a16="http://schemas.microsoft.com/office/drawing/2014/main" id="{BDEF8805-E174-E9BF-41C5-79AD45C60F81}"/>
              </a:ext>
            </a:extLst>
          </p:cNvPr>
          <p:cNvPicPr>
            <a:picLocks noChangeAspect="1"/>
          </p:cNvPicPr>
          <p:nvPr/>
        </p:nvPicPr>
        <p:blipFill>
          <a:blip r:embed="rId5"/>
          <a:stretch>
            <a:fillRect/>
          </a:stretch>
        </p:blipFill>
        <p:spPr>
          <a:xfrm>
            <a:off x="4003685" y="4143947"/>
            <a:ext cx="2214343" cy="1997250"/>
          </a:xfrm>
          <a:prstGeom prst="rect">
            <a:avLst/>
          </a:prstGeom>
        </p:spPr>
      </p:pic>
      <p:sp>
        <p:nvSpPr>
          <p:cNvPr id="34" name="矩形 33">
            <a:extLst>
              <a:ext uri="{FF2B5EF4-FFF2-40B4-BE49-F238E27FC236}">
                <a16:creationId xmlns:a16="http://schemas.microsoft.com/office/drawing/2014/main" id="{FFBB619A-1E37-1E22-EF88-2CD0E967B050}"/>
              </a:ext>
            </a:extLst>
          </p:cNvPr>
          <p:cNvSpPr/>
          <p:nvPr/>
        </p:nvSpPr>
        <p:spPr>
          <a:xfrm>
            <a:off x="4034437" y="6140557"/>
            <a:ext cx="2187352" cy="407774"/>
          </a:xfrm>
          <a:prstGeom prst="rect">
            <a:avLst/>
          </a:prstGeom>
          <a:gradFill>
            <a:gsLst>
              <a:gs pos="11000">
                <a:schemeClr val="accent1">
                  <a:hueOff val="-2520000"/>
                  <a:alpha val="54000"/>
                </a:schemeClr>
              </a:gs>
              <a:gs pos="85000">
                <a:srgbClr val="012A9F"/>
              </a:gs>
            </a:gsLst>
            <a:lin ang="13500000" scaled="1"/>
          </a:gradFill>
        </p:spPr>
        <p:style>
          <a:lnRef idx="0">
            <a:srgbClr val="FFFFFF"/>
          </a:lnRef>
          <a:fillRef idx="3">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35" name="文本框 34">
            <a:extLst>
              <a:ext uri="{FF2B5EF4-FFF2-40B4-BE49-F238E27FC236}">
                <a16:creationId xmlns:a16="http://schemas.microsoft.com/office/drawing/2014/main" id="{4173D54B-0AAA-6AB8-EEE5-A48C062D99DB}"/>
              </a:ext>
            </a:extLst>
          </p:cNvPr>
          <p:cNvSpPr txBox="1"/>
          <p:nvPr/>
        </p:nvSpPr>
        <p:spPr>
          <a:xfrm>
            <a:off x="4120690" y="6133654"/>
            <a:ext cx="2090712" cy="35394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kumimoji="1" lang="en-US" altLang="zh-CN"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YOLO</a:t>
            </a:r>
            <a:r>
              <a:rPr kumimoji="1" lang="zh-CN" altLang="en-US" sz="1700" dirty="0">
                <a:solidFill>
                  <a:schemeClr val="bg1"/>
                </a:solidFill>
                <a:latin typeface="方正公文黑体" panose="02000500000000000000" charset="-122"/>
                <a:ea typeface="方正公文黑体" panose="02000500000000000000" charset="-122"/>
                <a:cs typeface="方正公文黑体" panose="02000500000000000000" charset="-122"/>
                <a:sym typeface="+mn-ea"/>
              </a:rPr>
              <a:t>算法改进后</a:t>
            </a:r>
          </a:p>
        </p:txBody>
      </p:sp>
      <p:sp>
        <p:nvSpPr>
          <p:cNvPr id="36" name="矩形: 圆角 35">
            <a:extLst>
              <a:ext uri="{FF2B5EF4-FFF2-40B4-BE49-F238E27FC236}">
                <a16:creationId xmlns:a16="http://schemas.microsoft.com/office/drawing/2014/main" id="{39131188-34AB-3339-6A29-9F054D7F7DDB}"/>
              </a:ext>
            </a:extLst>
          </p:cNvPr>
          <p:cNvSpPr/>
          <p:nvPr/>
        </p:nvSpPr>
        <p:spPr>
          <a:xfrm>
            <a:off x="179202" y="4148061"/>
            <a:ext cx="6276838" cy="2550466"/>
          </a:xfrm>
          <a:prstGeom prst="roundRect">
            <a:avLst/>
          </a:prstGeom>
          <a:noFill/>
          <a:ln w="28575">
            <a:solidFill>
              <a:srgbClr val="0E419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18">
            <a:extLst>
              <a:ext uri="{FF2B5EF4-FFF2-40B4-BE49-F238E27FC236}">
                <a16:creationId xmlns:a16="http://schemas.microsoft.com/office/drawing/2014/main" id="{BBED4A96-5ECC-08AC-7E57-C882E0F9EAEF}"/>
              </a:ext>
            </a:extLst>
          </p:cNvPr>
          <p:cNvSpPr/>
          <p:nvPr/>
        </p:nvSpPr>
        <p:spPr>
          <a:xfrm>
            <a:off x="6787146" y="1870362"/>
            <a:ext cx="4997486" cy="1702654"/>
          </a:xfrm>
          <a:prstGeom prst="roundRect">
            <a:avLst>
              <a:gd name="adj" fmla="val 6637"/>
            </a:avLst>
          </a:prstGeom>
          <a:solidFill>
            <a:srgbClr val="F7FBFF"/>
          </a:solidFill>
          <a:ln>
            <a:noFill/>
          </a:ln>
          <a:effectLst>
            <a:glow rad="228600">
              <a:srgbClr val="0070C0">
                <a:alpha val="5000"/>
              </a:srgbClr>
            </a:glow>
          </a:effectLst>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kern="100" dirty="0">
              <a:solidFill>
                <a:schemeClr val="tx1"/>
              </a:solidFill>
              <a:effectLst/>
              <a:latin typeface="宋体" panose="02010600030101010101" pitchFamily="2" charset="-122"/>
              <a:ea typeface="宋体" panose="02010600030101010101" pitchFamily="2" charset="-122"/>
            </a:endParaRPr>
          </a:p>
          <a:p>
            <a:pPr algn="ctr"/>
            <a:r>
              <a:rPr lang="zh-CN" altLang="en-US" kern="100" dirty="0">
                <a:solidFill>
                  <a:schemeClr val="tx1"/>
                </a:solidFill>
                <a:effectLst/>
                <a:latin typeface="宋体" panose="02010600030101010101" pitchFamily="2" charset="-122"/>
                <a:ea typeface="宋体" panose="02010600030101010101" pitchFamily="2" charset="-122"/>
              </a:rPr>
              <a:t>根据图表可得：模型能在热成像图片中学到更多信息；单模态指标不如双模态，融合权重因子最终设为</a:t>
            </a:r>
            <a:r>
              <a:rPr lang="en-US" altLang="zh-CN" kern="100" dirty="0">
                <a:solidFill>
                  <a:schemeClr val="tx1"/>
                </a:solidFill>
                <a:effectLst/>
                <a:latin typeface="宋体" panose="02010600030101010101" pitchFamily="2" charset="-122"/>
                <a:ea typeface="宋体" panose="02010600030101010101" pitchFamily="2" charset="-122"/>
              </a:rPr>
              <a:t>0.3</a:t>
            </a:r>
            <a:endParaRPr lang="zh-CN" altLang="en-US" kern="100" dirty="0">
              <a:solidFill>
                <a:schemeClr val="tx1"/>
              </a:solidFill>
              <a:effectLst/>
              <a:latin typeface="宋体" panose="02010600030101010101" pitchFamily="2" charset="-122"/>
              <a:ea typeface="宋体" panose="02010600030101010101" pitchFamily="2" charset="-122"/>
            </a:endParaRPr>
          </a:p>
        </p:txBody>
      </p:sp>
      <p:sp>
        <p:nvSpPr>
          <p:cNvPr id="38" name="圆角矩形 17">
            <a:extLst>
              <a:ext uri="{FF2B5EF4-FFF2-40B4-BE49-F238E27FC236}">
                <a16:creationId xmlns:a16="http://schemas.microsoft.com/office/drawing/2014/main" id="{7F220989-1612-A59E-FF7B-64C1C3554344}"/>
              </a:ext>
            </a:extLst>
          </p:cNvPr>
          <p:cNvSpPr/>
          <p:nvPr/>
        </p:nvSpPr>
        <p:spPr>
          <a:xfrm>
            <a:off x="6809790" y="1748292"/>
            <a:ext cx="5014788" cy="466076"/>
          </a:xfrm>
          <a:prstGeom prst="roundRect">
            <a:avLst/>
          </a:prstGeom>
          <a:solidFill>
            <a:srgbClr val="2E54A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400" b="1" dirty="0">
              <a:solidFill>
                <a:schemeClr val="bg1"/>
              </a:solidFill>
              <a:effectLst/>
              <a:latin typeface="方正公文黑体" panose="02000500000000000000" charset="-122"/>
              <a:ea typeface="方正公文黑体" panose="02000500000000000000" charset="-122"/>
              <a:cs typeface="汉仪雅酷黑W" panose="00020600040101010101" charset="-122"/>
              <a:sym typeface="+mn-ea"/>
            </a:endParaRPr>
          </a:p>
        </p:txBody>
      </p:sp>
      <p:sp>
        <p:nvSpPr>
          <p:cNvPr id="39" name="内容占位符 3">
            <a:extLst>
              <a:ext uri="{FF2B5EF4-FFF2-40B4-BE49-F238E27FC236}">
                <a16:creationId xmlns:a16="http://schemas.microsoft.com/office/drawing/2014/main" id="{615EFE03-5F71-E83E-D085-B9405FEADB5C}"/>
              </a:ext>
            </a:extLst>
          </p:cNvPr>
          <p:cNvSpPr>
            <a:spLocks noGrp="1"/>
          </p:cNvSpPr>
          <p:nvPr/>
        </p:nvSpPr>
        <p:spPr>
          <a:xfrm>
            <a:off x="6842045" y="1740586"/>
            <a:ext cx="4887688" cy="6070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Aft>
                <a:spcPts val="0"/>
              </a:spcAft>
              <a:buNone/>
            </a:pPr>
            <a:r>
              <a:rPr lang="zh-CN" altLang="en-US" sz="2200" b="1" dirty="0">
                <a:solidFill>
                  <a:schemeClr val="bg1"/>
                </a:solidFill>
                <a:effectLst>
                  <a:innerShdw blurRad="12700" dist="50800" dir="13500000">
                    <a:srgbClr val="050505">
                      <a:alpha val="50000"/>
                    </a:srgbClr>
                  </a:innerShdw>
                </a:effectLst>
                <a:latin typeface="宋体" panose="02010600030101010101" pitchFamily="2" charset="-122"/>
                <a:ea typeface="宋体" panose="02010600030101010101" pitchFamily="2" charset="-122"/>
                <a:cs typeface="方正公文小标宋" panose="02000500000000000000" charset="-122"/>
                <a:sym typeface="+mn-ea"/>
              </a:rPr>
              <a:t>单模态与多模态对比</a:t>
            </a:r>
            <a:endParaRPr lang="zh-CN" altLang="en-US" sz="2200" b="1" dirty="0">
              <a:solidFill>
                <a:schemeClr val="bg1"/>
              </a:solidFill>
              <a:effectLst>
                <a:innerShdw blurRad="12700" dist="50800" dir="13500000">
                  <a:srgbClr val="050505">
                    <a:alpha val="50000"/>
                  </a:srgbClr>
                </a:innerShdw>
              </a:effectLst>
              <a:latin typeface="宋体" panose="02010600030101010101" pitchFamily="2" charset="-122"/>
              <a:ea typeface="宋体" panose="02010600030101010101" pitchFamily="2" charset="-122"/>
              <a:cs typeface="方正公文小标宋" panose="02000500000000000000" charset="-122"/>
            </a:endParaRPr>
          </a:p>
        </p:txBody>
      </p:sp>
      <p:sp>
        <p:nvSpPr>
          <p:cNvPr id="40" name="圆角矩形 18">
            <a:extLst>
              <a:ext uri="{FF2B5EF4-FFF2-40B4-BE49-F238E27FC236}">
                <a16:creationId xmlns:a16="http://schemas.microsoft.com/office/drawing/2014/main" id="{BEF6BBA6-21DF-15B6-868D-A6D0EE597587}"/>
              </a:ext>
            </a:extLst>
          </p:cNvPr>
          <p:cNvSpPr/>
          <p:nvPr/>
        </p:nvSpPr>
        <p:spPr>
          <a:xfrm>
            <a:off x="6778891" y="4510603"/>
            <a:ext cx="4892859" cy="1869454"/>
          </a:xfrm>
          <a:prstGeom prst="roundRect">
            <a:avLst>
              <a:gd name="adj" fmla="val 6637"/>
            </a:avLst>
          </a:prstGeom>
          <a:solidFill>
            <a:srgbClr val="F7FBFF"/>
          </a:solidFill>
          <a:ln>
            <a:noFill/>
          </a:ln>
          <a:effectLst>
            <a:glow rad="228600">
              <a:srgbClr val="0070C0">
                <a:alpha val="5000"/>
              </a:srgbClr>
            </a:glow>
          </a:effectLst>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kern="100" dirty="0">
              <a:solidFill>
                <a:schemeClr val="tx1"/>
              </a:solidFill>
              <a:effectLst/>
              <a:latin typeface="宋体" panose="02010600030101010101" pitchFamily="2" charset="-122"/>
              <a:ea typeface="宋体" panose="02010600030101010101" pitchFamily="2" charset="-122"/>
            </a:endParaRPr>
          </a:p>
          <a:p>
            <a:pPr algn="ctr"/>
            <a:r>
              <a:rPr lang="zh-CN" altLang="en-US" kern="100" dirty="0">
                <a:solidFill>
                  <a:schemeClr val="tx1"/>
                </a:solidFill>
                <a:effectLst/>
                <a:latin typeface="宋体" panose="02010600030101010101" pitchFamily="2" charset="-122"/>
                <a:ea typeface="宋体" panose="02010600030101010101" pitchFamily="2" charset="-122"/>
              </a:rPr>
              <a:t>我们设计了专门的图像增强模块和利用了空洞卷积来扩大模型感受野，有效提高了人体检测的精度，各项指标均提高</a:t>
            </a:r>
          </a:p>
        </p:txBody>
      </p:sp>
      <p:sp>
        <p:nvSpPr>
          <p:cNvPr id="41" name="圆角矩形 17">
            <a:extLst>
              <a:ext uri="{FF2B5EF4-FFF2-40B4-BE49-F238E27FC236}">
                <a16:creationId xmlns:a16="http://schemas.microsoft.com/office/drawing/2014/main" id="{74B8A002-2A25-54E8-C19E-EC4C0379FF46}"/>
              </a:ext>
            </a:extLst>
          </p:cNvPr>
          <p:cNvSpPr/>
          <p:nvPr/>
        </p:nvSpPr>
        <p:spPr>
          <a:xfrm>
            <a:off x="6761951" y="4268048"/>
            <a:ext cx="4909799" cy="410487"/>
          </a:xfrm>
          <a:prstGeom prst="roundRect">
            <a:avLst/>
          </a:prstGeom>
          <a:solidFill>
            <a:srgbClr val="2E54A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400" b="1" dirty="0">
              <a:solidFill>
                <a:schemeClr val="bg1"/>
              </a:solidFill>
              <a:effectLst/>
              <a:latin typeface="方正公文黑体" panose="02000500000000000000" charset="-122"/>
              <a:ea typeface="方正公文黑体" panose="02000500000000000000" charset="-122"/>
              <a:cs typeface="汉仪雅酷黑W" panose="00020600040101010101" charset="-122"/>
              <a:sym typeface="+mn-ea"/>
            </a:endParaRPr>
          </a:p>
        </p:txBody>
      </p:sp>
      <p:sp>
        <p:nvSpPr>
          <p:cNvPr id="42" name="内容占位符 3">
            <a:extLst>
              <a:ext uri="{FF2B5EF4-FFF2-40B4-BE49-F238E27FC236}">
                <a16:creationId xmlns:a16="http://schemas.microsoft.com/office/drawing/2014/main" id="{E219B9DA-DFB0-0155-D3A2-765582E9A588}"/>
              </a:ext>
            </a:extLst>
          </p:cNvPr>
          <p:cNvSpPr>
            <a:spLocks noGrp="1"/>
          </p:cNvSpPr>
          <p:nvPr/>
        </p:nvSpPr>
        <p:spPr>
          <a:xfrm>
            <a:off x="6800977" y="4232247"/>
            <a:ext cx="4785360" cy="5760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Aft>
                <a:spcPts val="0"/>
              </a:spcAft>
              <a:buNone/>
            </a:pPr>
            <a:r>
              <a:rPr lang="en-US" altLang="zh-CN" sz="2200" b="1" dirty="0">
                <a:solidFill>
                  <a:schemeClr val="bg1"/>
                </a:solidFill>
                <a:effectLst>
                  <a:innerShdw blurRad="12700" dist="50800" dir="13500000">
                    <a:srgbClr val="050505">
                      <a:alpha val="50000"/>
                    </a:srgbClr>
                  </a:innerShdw>
                </a:effectLst>
                <a:latin typeface="宋体" panose="02010600030101010101" pitchFamily="2" charset="-122"/>
                <a:ea typeface="宋体" panose="02010600030101010101" pitchFamily="2" charset="-122"/>
                <a:cs typeface="方正公文小标宋" panose="02000500000000000000" charset="-122"/>
                <a:sym typeface="+mn-ea"/>
              </a:rPr>
              <a:t>YOLO</a:t>
            </a:r>
            <a:r>
              <a:rPr lang="zh-CN" altLang="en-US" sz="2200" b="1" dirty="0">
                <a:solidFill>
                  <a:schemeClr val="bg1"/>
                </a:solidFill>
                <a:effectLst>
                  <a:innerShdw blurRad="12700" dist="50800" dir="13500000">
                    <a:srgbClr val="050505">
                      <a:alpha val="50000"/>
                    </a:srgbClr>
                  </a:innerShdw>
                </a:effectLst>
                <a:latin typeface="宋体" panose="02010600030101010101" pitchFamily="2" charset="-122"/>
                <a:ea typeface="宋体" panose="02010600030101010101" pitchFamily="2" charset="-122"/>
                <a:cs typeface="方正公文小标宋" panose="02000500000000000000" charset="-122"/>
                <a:sym typeface="+mn-ea"/>
              </a:rPr>
              <a:t>算法改进前后对比</a:t>
            </a:r>
            <a:endParaRPr lang="zh-CN" altLang="en-US" sz="2200" b="1" dirty="0">
              <a:solidFill>
                <a:schemeClr val="bg1"/>
              </a:solidFill>
              <a:effectLst>
                <a:innerShdw blurRad="12700" dist="50800" dir="13500000">
                  <a:srgbClr val="050505">
                    <a:alpha val="50000"/>
                  </a:srgbClr>
                </a:innerShdw>
              </a:effectLst>
              <a:latin typeface="宋体" panose="02010600030101010101" pitchFamily="2" charset="-122"/>
              <a:ea typeface="宋体" panose="02010600030101010101" pitchFamily="2" charset="-122"/>
              <a:cs typeface="方正公文小标宋" panose="02000500000000000000" charset="-122"/>
            </a:endParaRPr>
          </a:p>
        </p:txBody>
      </p:sp>
    </p:spTree>
    <p:extLst>
      <p:ext uri="{BB962C8B-B14F-4D97-AF65-F5344CB8AC3E}">
        <p14:creationId xmlns:p14="http://schemas.microsoft.com/office/powerpoint/2010/main" val="1798583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0"/>
            <a:ext cx="12215105" cy="4468957"/>
          </a:xfrm>
          <a:prstGeom prst="rect">
            <a:avLst/>
          </a:prstGeom>
          <a:solidFill>
            <a:srgbClr val="0E419C"/>
          </a:solidFill>
          <a:ln>
            <a:noFill/>
          </a:ln>
          <a:effectLst>
            <a:outerShdw blurRad="1143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grpSp>
        <p:nvGrpSpPr>
          <p:cNvPr id="2" name="组合 1"/>
          <p:cNvGrpSpPr/>
          <p:nvPr/>
        </p:nvGrpSpPr>
        <p:grpSpPr>
          <a:xfrm>
            <a:off x="3502991" y="2220074"/>
            <a:ext cx="5262979" cy="2137405"/>
            <a:chOff x="1666203" y="1365596"/>
            <a:chExt cx="5262979" cy="2137405"/>
          </a:xfrm>
        </p:grpSpPr>
        <p:sp>
          <p:nvSpPr>
            <p:cNvPr id="7" name="文本框 6"/>
            <p:cNvSpPr txBox="1"/>
            <p:nvPr/>
          </p:nvSpPr>
          <p:spPr>
            <a:xfrm>
              <a:off x="1666203" y="1365596"/>
              <a:ext cx="5262979" cy="1015663"/>
            </a:xfrm>
            <a:prstGeom prst="rect">
              <a:avLst/>
            </a:prstGeom>
            <a:noFill/>
          </p:spPr>
          <p:txBody>
            <a:bodyPr wrap="none" rtlCol="0">
              <a:spAutoFit/>
            </a:bodyPr>
            <a:lstStyle/>
            <a:p>
              <a:pPr algn="ctr"/>
              <a:r>
                <a:rPr lang="zh-CN" altLang="en-US" sz="6000" spc="600" dirty="0">
                  <a:solidFill>
                    <a:schemeClr val="bg1"/>
                  </a:solidFill>
                  <a:latin typeface="思源黑体 CN Heavy" panose="020B0A00000000000000" pitchFamily="34" charset="-122"/>
                  <a:ea typeface="思源黑体 CN Heavy" panose="020B0A00000000000000" pitchFamily="34" charset="-122"/>
                  <a:cs typeface="+mn-ea"/>
                  <a:sym typeface="+mn-lt"/>
                </a:rPr>
                <a:t>感谢各位观看</a:t>
              </a:r>
            </a:p>
          </p:txBody>
        </p:sp>
        <p:sp>
          <p:nvSpPr>
            <p:cNvPr id="8" name="文本框 7"/>
            <p:cNvSpPr txBox="1"/>
            <p:nvPr/>
          </p:nvSpPr>
          <p:spPr>
            <a:xfrm>
              <a:off x="2259283" y="3195224"/>
              <a:ext cx="184731" cy="307777"/>
            </a:xfrm>
            <a:prstGeom prst="rect">
              <a:avLst/>
            </a:prstGeom>
            <a:noFill/>
          </p:spPr>
          <p:txBody>
            <a:bodyPr wrap="none" rtlCol="0">
              <a:spAutoFit/>
            </a:bodyPr>
            <a:lstStyle/>
            <a:p>
              <a:pPr algn="ctr"/>
              <a:endParaRPr lang="zh-CN" altLang="en-US" sz="1400" spc="600" dirty="0">
                <a:solidFill>
                  <a:schemeClr val="bg1"/>
                </a:solidFill>
                <a:cs typeface="+mn-ea"/>
                <a:sym typeface="+mn-lt"/>
              </a:endParaRPr>
            </a:p>
          </p:txBody>
        </p:sp>
      </p:grpSp>
      <p:sp>
        <p:nvSpPr>
          <p:cNvPr id="17" name="文本框 16"/>
          <p:cNvSpPr txBox="1"/>
          <p:nvPr/>
        </p:nvSpPr>
        <p:spPr>
          <a:xfrm>
            <a:off x="3117726" y="3554015"/>
            <a:ext cx="6030818" cy="523220"/>
          </a:xfrm>
          <a:prstGeom prst="rect">
            <a:avLst/>
          </a:prstGeom>
          <a:noFill/>
        </p:spPr>
        <p:txBody>
          <a:bodyPr wrap="none" rtlCol="0">
            <a:spAutoFit/>
          </a:bodyPr>
          <a:lstStyle/>
          <a:p>
            <a:r>
              <a:rPr lang="en-US" altLang="zh-CN" sz="2800" spc="600" dirty="0">
                <a:solidFill>
                  <a:schemeClr val="bg1">
                    <a:alpha val="44000"/>
                  </a:schemeClr>
                </a:solidFill>
                <a:cs typeface="+mn-ea"/>
                <a:sym typeface="+mn-lt"/>
              </a:rPr>
              <a:t>THANKS FOR LISTENING</a:t>
            </a:r>
            <a:endParaRPr lang="zh-CN" altLang="en-US" sz="2800" spc="600" dirty="0">
              <a:solidFill>
                <a:schemeClr val="bg1">
                  <a:alpha val="44000"/>
                </a:schemeClr>
              </a:solidFill>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A2MGQ2YzdmNTU2MGM0ODg2OGJiZjFkMDk1MzQxMGE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2,&quot;left&quot;:258.7,&quot;top&quot;:109.75,&quot;width&quot;:822.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2,&quot;left&quot;:258.7,&quot;top&quot;:109.75,&quot;width&quot;:822.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2,&quot;left&quot;:258.7,&quot;top&quot;:109.75,&quot;width&quot;:822.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sii2hdl">
      <a:majorFont>
        <a:latin typeface="Arial"/>
        <a:ea typeface="思源黑体 CN Regular"/>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1774</TotalTime>
  <Words>904</Words>
  <Application>Microsoft Office PowerPoint</Application>
  <PresentationFormat>宽屏</PresentationFormat>
  <Paragraphs>184</Paragraphs>
  <Slides>15</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9" baseType="lpstr">
      <vt:lpstr>DeepSeek-CJK-patch</vt:lpstr>
      <vt:lpstr>Source Han Sans CN Medium</vt:lpstr>
      <vt:lpstr>Source Han Sans CN Normal</vt:lpstr>
      <vt:lpstr>等线</vt:lpstr>
      <vt:lpstr>方正公文黑体</vt:lpstr>
      <vt:lpstr>方正公文小标宋</vt:lpstr>
      <vt:lpstr>思源黑体 CN Heavy</vt:lpstr>
      <vt:lpstr>思源黑体 CN Regular</vt:lpstr>
      <vt:lpstr>宋体</vt:lpstr>
      <vt:lpstr>字体圈欣意冠黑体</vt:lpstr>
      <vt:lpstr>Arial</vt:lpstr>
      <vt:lpstr>Cambria Math</vt:lpstr>
      <vt:lpstr>Office 主题​​</vt:lpstr>
      <vt:lpstr>Microsoft Visio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木卫林学术</dc:title>
  <dc:subject>木卫林</dc:subject>
  <dc:creator>滕 婷</dc:creator>
  <dc:description>木卫林学术</dc:description>
  <cp:lastModifiedBy>泽辉</cp:lastModifiedBy>
  <cp:revision>80</cp:revision>
  <dcterms:created xsi:type="dcterms:W3CDTF">2022-05-21T02:01:00Z</dcterms:created>
  <dcterms:modified xsi:type="dcterms:W3CDTF">2026-03-19T08:39:39Z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41A0BBD9BBEA44F68C62694CEC13992C</vt:lpwstr>
  </property>
  <property fmtid="{D5CDD505-2E9C-101B-9397-08002B2CF9AE}" pid="3" name="KSOProductBuildVer">
    <vt:lpwstr>2052-11.1.0.11744</vt:lpwstr>
  </property>
</Properties>
</file>