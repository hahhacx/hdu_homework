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wmv" ContentType="video/x-ms-wmv"/>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6" r:id="rId3"/>
  </p:sldMasterIdLst>
  <p:notesMasterIdLst>
    <p:notesMasterId r:id="rId5"/>
  </p:notesMasterIdLst>
  <p:sldIdLst>
    <p:sldId id="379" r:id="rId4"/>
    <p:sldId id="380" r:id="rId6"/>
    <p:sldId id="409" r:id="rId7"/>
    <p:sldId id="411" r:id="rId8"/>
    <p:sldId id="412" r:id="rId9"/>
    <p:sldId id="413" r:id="rId10"/>
    <p:sldId id="352" r:id="rId11"/>
    <p:sldId id="415" r:id="rId12"/>
    <p:sldId id="410" r:id="rId13"/>
    <p:sldId id="417" r:id="rId14"/>
    <p:sldId id="418" r:id="rId15"/>
    <p:sldId id="419" r:id="rId16"/>
    <p:sldId id="353" r:id="rId17"/>
    <p:sldId id="416" r:id="rId18"/>
    <p:sldId id="354" r:id="rId19"/>
    <p:sldId id="448" r:id="rId20"/>
    <p:sldId id="356" r:id="rId21"/>
    <p:sldId id="449" r:id="rId22"/>
    <p:sldId id="357" r:id="rId23"/>
    <p:sldId id="358" r:id="rId24"/>
    <p:sldId id="474" r:id="rId25"/>
    <p:sldId id="359" r:id="rId26"/>
    <p:sldId id="360" r:id="rId27"/>
    <p:sldId id="475" r:id="rId28"/>
    <p:sldId id="361" r:id="rId29"/>
    <p:sldId id="497" r:id="rId30"/>
    <p:sldId id="362" r:id="rId31"/>
    <p:sldId id="363" r:id="rId32"/>
    <p:sldId id="364" r:id="rId33"/>
    <p:sldId id="529" r:id="rId34"/>
    <p:sldId id="365" r:id="rId35"/>
    <p:sldId id="366" r:id="rId36"/>
    <p:sldId id="367" r:id="rId37"/>
    <p:sldId id="516" r:id="rId38"/>
    <p:sldId id="368" r:id="rId39"/>
    <p:sldId id="369" r:id="rId40"/>
    <p:sldId id="370" r:id="rId41"/>
    <p:sldId id="371" r:id="rId42"/>
    <p:sldId id="546" r:id="rId43"/>
    <p:sldId id="547" r:id="rId44"/>
    <p:sldId id="372" r:id="rId45"/>
    <p:sldId id="548" r:id="rId46"/>
    <p:sldId id="373" r:id="rId47"/>
    <p:sldId id="549" r:id="rId48"/>
    <p:sldId id="550" r:id="rId49"/>
    <p:sldId id="551" r:id="rId50"/>
    <p:sldId id="552" r:id="rId51"/>
    <p:sldId id="553" r:id="rId52"/>
    <p:sldId id="554" r:id="rId53"/>
    <p:sldId id="375" r:id="rId54"/>
    <p:sldId id="381" r:id="rId55"/>
  </p:sldIdLst>
  <p:sldSz cx="12192000" cy="6858000"/>
  <p:notesSz cx="6858000" cy="9144000"/>
  <p:custDataLst>
    <p:tags r:id="rId6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 id="3" name="Administrator" initials="A"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77CCE"/>
    <a:srgbClr val="FFFFFF"/>
    <a:srgbClr val="6187DC"/>
    <a:srgbClr val="00CD9C"/>
    <a:srgbClr val="4E3228"/>
    <a:srgbClr val="2B2B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howGuides="1">
      <p:cViewPr varScale="1">
        <p:scale>
          <a:sx n="73" d="100"/>
          <a:sy n="73" d="100"/>
        </p:scale>
        <p:origin x="618"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0" Type="http://schemas.openxmlformats.org/officeDocument/2006/relationships/tags" Target="tags/tag407.xml"/><Relationship Id="rId6" Type="http://schemas.openxmlformats.org/officeDocument/2006/relationships/slide" Target="slides/slide2.xml"/><Relationship Id="rId59" Type="http://schemas.openxmlformats.org/officeDocument/2006/relationships/commentAuthors" Target="commentAuthors.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  </a:t>
            </a:r>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lvl="0" indent="0" algn="just" fontAlgn="ctr">
              <a:lnSpc>
                <a:spcPct val="130000"/>
              </a:lnSpc>
              <a:spcBef>
                <a:spcPts val="1000"/>
              </a:spcBef>
              <a:spcAft>
                <a:spcPts val="0"/>
              </a:spcAft>
              <a:buSzPct val="100000"/>
              <a:buFont typeface="Wingdings" panose="05000000000000000000" charset="0"/>
              <a:buNone/>
            </a:pPr>
            <a:endParaRPr lang="zh-CN" altLang="en-US"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lvl="1"/>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lvl="1"/>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lvl="1"/>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b="1">
              <a:sym typeface="+mn-ea"/>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image" Target="../media/image4.GIF"/><Relationship Id="rId6" Type="http://schemas.openxmlformats.org/officeDocument/2006/relationships/image" Target="../media/image3.png"/><Relationship Id="rId5" Type="http://schemas.microsoft.com/office/2007/relationships/media" Target="../media/media1.wmv"/><Relationship Id="rId4" Type="http://schemas.openxmlformats.org/officeDocument/2006/relationships/video" Target="../media/media1.wmv"/><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5.GIF"/><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userDrawn="1"/>
        </p:nvSpPr>
        <p:spPr>
          <a:xfrm>
            <a:off x="4151784" y="2590078"/>
            <a:ext cx="4816301" cy="1660332"/>
          </a:xfrm>
          <a:prstGeom prst="rect">
            <a:avLst/>
          </a:prstGeom>
          <a:solidFill>
            <a:schemeClr val="bg1">
              <a:lumMod val="85000"/>
              <a:lumOff val="15000"/>
            </a:schemeClr>
          </a:solidFill>
          <a:ln>
            <a:no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295800" y="2733709"/>
            <a:ext cx="4528656" cy="1373070"/>
          </a:xfrm>
        </p:spPr>
        <p:txBody>
          <a:bodyPr anchor="b">
            <a:noAutofit/>
          </a:bodyPr>
          <a:lstStyle>
            <a:lvl1pPr algn="r">
              <a:defRPr sz="4000">
                <a:latin typeface="隶书" panose="02010509060101010101" pitchFamily="49" charset="-122"/>
                <a:ea typeface="隶书" panose="02010509060101010101" pitchFamily="49" charset="-122"/>
              </a:defRPr>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4295800" y="4394039"/>
            <a:ext cx="4528656" cy="1117687"/>
          </a:xfrm>
        </p:spPr>
        <p:txBody>
          <a:bodyPr>
            <a:normAutofit/>
          </a:bodyPr>
          <a:lstStyle>
            <a:lvl1pPr marL="0" indent="0" algn="r">
              <a:buNone/>
              <a:defRPr sz="2800">
                <a:latin typeface="华文彩云" panose="02010800040101010101" pitchFamily="2" charset="-122"/>
                <a:ea typeface="华文彩云" panose="0201080004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a:xfrm>
            <a:off x="2708691" y="6196856"/>
            <a:ext cx="2743200" cy="365125"/>
          </a:xfrm>
        </p:spPr>
        <p:txBody>
          <a:bodyPr/>
          <a:lstStyle>
            <a:lvl1pPr>
              <a:defRPr sz="1400">
                <a:latin typeface="Wide Latin" panose="020A0A07050505020404" pitchFamily="18" charset="0"/>
              </a:defRPr>
            </a:lvl1pPr>
          </a:lstStyle>
          <a:p>
            <a:fld id="{78ABE3C1-DBE1-495D-B57B-2849774B866A}" type="datetimeFigureOut">
              <a:rPr lang="en-US" smtClean="0"/>
            </a:fld>
            <a:endParaRPr lang="en-US" dirty="0"/>
          </a:p>
        </p:txBody>
      </p:sp>
      <p:sp>
        <p:nvSpPr>
          <p:cNvPr id="17" name="Arc 7"/>
          <p:cNvSpPr/>
          <p:nvPr userDrawn="1"/>
        </p:nvSpPr>
        <p:spPr>
          <a:xfrm>
            <a:off x="-5064224" y="548680"/>
            <a:ext cx="9144000" cy="6172200"/>
          </a:xfrm>
          <a:prstGeom prst="arc">
            <a:avLst>
              <a:gd name="adj1" fmla="val 16769945"/>
              <a:gd name="adj2" fmla="val 4842458"/>
            </a:avLst>
          </a:prstGeom>
          <a:noFill/>
          <a:ln w="25400">
            <a:solidFill>
              <a:schemeClr val="tx1">
                <a:alpha val="50196"/>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8" name="Gears_720x720 (seamless loop)_v3.wmv">
            <a:hlinkClick r:id="" action="ppaction://media"/>
          </p:cNvPr>
          <p:cNvPicPr>
            <a:picLocks noChangeAspect="1"/>
          </p:cNvPicPr>
          <p:nvPr userDrawn="1">
            <a:videoFile r:link="rId4"/>
            <p:extLst>
              <p:ext uri="{DAA4B4D4-6D71-4841-9C94-3DE7FCFB9230}">
                <p14:media xmlns:p14="http://schemas.microsoft.com/office/powerpoint/2010/main" r:embed="rId5"/>
              </p:ext>
            </p:extLst>
          </p:nvPr>
        </p:nvPicPr>
        <p:blipFill>
          <a:blip r:embed="rId6" cstate="print"/>
          <a:stretch>
            <a:fillRect/>
          </a:stretch>
        </p:blipFill>
        <p:spPr>
          <a:xfrm>
            <a:off x="-3139440" y="0"/>
            <a:ext cx="6858000" cy="6858000"/>
          </a:xfrm>
          <a:prstGeom prst="chord">
            <a:avLst>
              <a:gd name="adj1" fmla="val 15899861"/>
              <a:gd name="adj2" fmla="val 5700170"/>
            </a:avLst>
          </a:prstGeom>
          <a:effectLst>
            <a:outerShdw blurRad="254000" dist="38100" algn="l" rotWithShape="0">
              <a:schemeClr val="tx1">
                <a:alpha val="86000"/>
              </a:schemeClr>
            </a:outerShdw>
          </a:effectLst>
          <a:scene3d>
            <a:camera prst="orthographicFront"/>
            <a:lightRig rig="threePt" dir="t"/>
          </a:scene3d>
          <a:sp3d>
            <a:bevelT/>
          </a:sp3d>
        </p:spPr>
      </p:pic>
      <p:sp>
        <p:nvSpPr>
          <p:cNvPr id="19" name="Arc 8"/>
          <p:cNvSpPr/>
          <p:nvPr userDrawn="1"/>
        </p:nvSpPr>
        <p:spPr>
          <a:xfrm>
            <a:off x="-5801139" y="45720"/>
            <a:ext cx="8686800" cy="6400800"/>
          </a:xfrm>
          <a:prstGeom prst="arc">
            <a:avLst>
              <a:gd name="adj1" fmla="val 16200000"/>
              <a:gd name="adj2" fmla="val 5392005"/>
            </a:avLst>
          </a:prstGeom>
          <a:noFill/>
          <a:ln w="57150">
            <a:gradFill flip="none" rotWithShape="1">
              <a:gsLst>
                <a:gs pos="0">
                  <a:schemeClr val="tx2">
                    <a:lumMod val="20000"/>
                    <a:lumOff val="80000"/>
                    <a:alpha val="30000"/>
                  </a:schemeClr>
                </a:gs>
                <a:gs pos="100000">
                  <a:schemeClr val="accent5">
                    <a:lumMod val="20000"/>
                    <a:lumOff val="80000"/>
                    <a:alpha val="1000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20" name="图片 19"/>
          <p:cNvPicPr>
            <a:picLocks noChangeAspect="1"/>
          </p:cNvPicPr>
          <p:nvPr userDrawn="1"/>
        </p:nvPicPr>
        <p:blipFill>
          <a:blip r:embed="rId7"/>
          <a:stretch>
            <a:fillRect/>
          </a:stretch>
        </p:blipFill>
        <p:spPr>
          <a:xfrm>
            <a:off x="10920536" y="5577880"/>
            <a:ext cx="1143000" cy="1143000"/>
          </a:xfrm>
          <a:prstGeom prst="rect">
            <a:avLst/>
          </a:prstGeom>
          <a:scene3d>
            <a:camera prst="orthographicFront"/>
            <a:lightRig rig="threePt" dir="t"/>
          </a:scene3d>
          <a:sp3d>
            <a:bevelT/>
          </a:sp3d>
        </p:spPr>
      </p:pic>
      <p:grpSp>
        <p:nvGrpSpPr>
          <p:cNvPr id="21" name="Group 174"/>
          <p:cNvGrpSpPr/>
          <p:nvPr userDrawn="1"/>
        </p:nvGrpSpPr>
        <p:grpSpPr>
          <a:xfrm>
            <a:off x="9255345" y="2689662"/>
            <a:ext cx="1521175" cy="1461163"/>
            <a:chOff x="3689350" y="2546350"/>
            <a:chExt cx="1765300" cy="1765300"/>
          </a:xfrm>
          <a:scene3d>
            <a:camera prst="orthographicFront">
              <a:rot lat="0" lon="0" rev="0"/>
            </a:camera>
            <a:lightRig rig="chilly" dir="t">
              <a:rot lat="0" lon="0" rev="18480000"/>
            </a:lightRig>
          </a:scene3d>
        </p:grpSpPr>
        <p:sp>
          <p:nvSpPr>
            <p:cNvPr id="2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8"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9"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0"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1"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2"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3"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480" fill="hold"/>
                                        <p:tgtEl>
                                          <p:spTgt spid="18"/>
                                        </p:tgtEl>
                                      </p:cBhvr>
                                    </p:cmd>
                                  </p:childTnLst>
                                </p:cTn>
                              </p:par>
                              <p:par>
                                <p:cTn id="7" presetID="8" presetClass="emph" presetSubtype="0" fill="hold" nodeType="withEffect">
                                  <p:stCondLst>
                                    <p:cond delay="0"/>
                                  </p:stCondLst>
                                  <p:childTnLst>
                                    <p:animRot by="5400000">
                                      <p:cBhvr>
                                        <p:cTn id="8" dur="4000" fill="hold"/>
                                        <p:tgtEl>
                                          <p:spTgt spid="21"/>
                                        </p:tgtEl>
                                        <p:attrNameLst>
                                          <p:attrName>r</p:attrName>
                                        </p:attrNameLst>
                                      </p:cBhvr>
                                    </p:animRot>
                                  </p:childTnLst>
                                </p:cTn>
                              </p:par>
                              <p:par>
                                <p:cTn id="9" presetID="16" presetClass="entr" presetSubtype="37"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barn(outVertical)">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repeatCount="indefinite" fill="hold" display="0">
                  <p:stCondLst>
                    <p:cond delay="indefinite"/>
                  </p:stCondLst>
                </p:cTn>
                <p:tgtEl>
                  <p:spTgt spid="18"/>
                </p:tgtEl>
              </p:cMediaNode>
            </p:video>
          </p:childTnLst>
        </p:cTn>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6" name="Picture 15"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normAutofit/>
          </a:bodyPr>
          <a:lstStyle>
            <a:lvl1pPr>
              <a:defRPr sz="4000">
                <a:latin typeface="华文新魏" panose="02010800040101010101" pitchFamily="2" charset="-122"/>
                <a:ea typeface="华文新魏" panose="02010800040101010101" pitchFamily="2" charset="-122"/>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680321" y="2336872"/>
            <a:ext cx="9613861" cy="4260479"/>
          </a:xfrm>
        </p:spPr>
        <p:txBody>
          <a:bodyPr/>
          <a:lstStyle>
            <a:lvl1pPr>
              <a:defRPr sz="2800">
                <a:latin typeface="华文行楷" panose="02010800040101010101" pitchFamily="2" charset="-122"/>
                <a:ea typeface="华文行楷" panose="02010800040101010101" pitchFamily="2" charset="-122"/>
              </a:defRPr>
            </a:lvl1pPr>
            <a:lvl2pPr>
              <a:defRPr sz="2400">
                <a:latin typeface="华文行楷" panose="02010800040101010101" pitchFamily="2" charset="-122"/>
                <a:ea typeface="华文行楷" panose="02010800040101010101" pitchFamily="2" charset="-122"/>
              </a:defRPr>
            </a:lvl2pPr>
            <a:lvl3pPr>
              <a:defRPr sz="2200">
                <a:latin typeface="华文行楷" panose="02010800040101010101" pitchFamily="2" charset="-122"/>
                <a:ea typeface="华文行楷" panose="02010800040101010101" pitchFamily="2" charset="-122"/>
              </a:defRPr>
            </a:lvl3pPr>
            <a:lvl4pPr>
              <a:defRPr sz="2000">
                <a:latin typeface="华文行楷" panose="02010800040101010101" pitchFamily="2" charset="-122"/>
                <a:ea typeface="华文行楷" panose="02010800040101010101" pitchFamily="2" charset="-122"/>
              </a:defRPr>
            </a:lvl4pPr>
            <a:lvl5pPr>
              <a:defRPr sz="2000">
                <a:latin typeface="华文行楷" panose="02010800040101010101" pitchFamily="2" charset="-122"/>
                <a:ea typeface="华文行楷" panose="02010800040101010101" pitchFamily="2"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grpSp>
        <p:nvGrpSpPr>
          <p:cNvPr id="11" name="Group 174"/>
          <p:cNvGrpSpPr/>
          <p:nvPr userDrawn="1"/>
        </p:nvGrpSpPr>
        <p:grpSpPr>
          <a:xfrm>
            <a:off x="10775256" y="719341"/>
            <a:ext cx="1224136" cy="1180181"/>
            <a:chOff x="3689350" y="2546350"/>
            <a:chExt cx="1765300" cy="1765300"/>
          </a:xfrm>
          <a:scene3d>
            <a:camera prst="orthographicFront">
              <a:rot lat="0" lon="0" rev="0"/>
            </a:camera>
            <a:lightRig rig="chilly" dir="t">
              <a:rot lat="0" lon="0" rev="18480000"/>
            </a:lightRig>
          </a:scene3d>
        </p:grpSpPr>
        <p:sp>
          <p:nvSpPr>
            <p:cNvPr id="1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9"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0"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1"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2"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pic>
        <p:nvPicPr>
          <p:cNvPr id="8" name="图片 7"/>
          <p:cNvPicPr>
            <a:picLocks noChangeAspect="1"/>
          </p:cNvPicPr>
          <p:nvPr userDrawn="1"/>
        </p:nvPicPr>
        <p:blipFill>
          <a:blip r:embed="rId4"/>
          <a:stretch>
            <a:fillRect/>
          </a:stretch>
        </p:blipFill>
        <p:spPr>
          <a:xfrm>
            <a:off x="10925908" y="5589240"/>
            <a:ext cx="1143000" cy="11430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5400000">
                                      <p:cBhvr>
                                        <p:cTn id="6" dur="4000" fill="hold"/>
                                        <p:tgtEl>
                                          <p:spTgt spid="11"/>
                                        </p:tgtEl>
                                        <p:attrNameLst>
                                          <p:attrName>r</p:attrName>
                                        </p:attrNameLst>
                                      </p:cBhvr>
                                    </p:animRot>
                                  </p:childTnLst>
                                </p:cTn>
                              </p:par>
                              <p:par>
                                <p:cTn id="7" presetID="21" presetClass="entr" presetSubtype="2"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wheel(2)">
                                      <p:cBhvr>
                                        <p:cTn id="9"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30578ACC-22D6-47C1-A373-4FD133E34F3C}"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80320" y="2336873"/>
            <a:ext cx="4698358" cy="359931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5594123" y="2336873"/>
            <a:ext cx="4700058" cy="359931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680322" y="3030008"/>
            <a:ext cx="4698355" cy="290617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5594123" y="3030008"/>
            <a:ext cx="4700059" cy="290617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4685846" y="2336873"/>
            <a:ext cx="5608336" cy="359931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E331444B-B92B-4E27-8C94-BB93EAF5CB18}"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363EFA5E-FA76-400D-B3DC-F0BA90E6D10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446C117F-5CCF-4837-BE5F-2B92066CAFAF}"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84EB90BD-B6CE-46B7-997F-7313B992CC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hasCustomPrompt="1"/>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4" name="Text Placeholder 3"/>
          <p:cNvSpPr>
            <a:spLocks noGrp="1"/>
          </p:cNvSpPr>
          <p:nvPr>
            <p:ph type="body" sz="half" idx="2" hasCustomPrompt="1"/>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DB9D11F-B188-461D-B23F-39381795C052}"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endParaRPr lang="en-US" sz="7200" dirty="0">
              <a:solidFill>
                <a:schemeClr val="tx1"/>
              </a:solidFill>
              <a:effectLst/>
            </a:endParaRP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endParaRPr lang="en-US" sz="7200" dirty="0">
              <a:solidFill>
                <a:schemeClr val="tx1"/>
              </a:solidFill>
              <a:effectLs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52E6D8D9-55A2-4063-B0F3-121F44549695}"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zh-CN" altLang="en-US"/>
              <a:t>单击此处编辑母版标题样式</a:t>
            </a:r>
            <a:endParaRPr lang="en-US" dirty="0"/>
          </a:p>
        </p:txBody>
      </p:sp>
      <p:sp>
        <p:nvSpPr>
          <p:cNvPr id="7" name="Text Placeholder 2"/>
          <p:cNvSpPr>
            <a:spLocks noGrp="1"/>
          </p:cNvSpPr>
          <p:nvPr>
            <p:ph type="body" idx="1" hasCustomPrompt="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8" name="Text Placeholder 3"/>
          <p:cNvSpPr>
            <a:spLocks noGrp="1"/>
          </p:cNvSpPr>
          <p:nvPr>
            <p:ph type="body" sz="half" idx="15" hasCustomPrompt="1"/>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9" name="Text Placeholder 4"/>
          <p:cNvSpPr>
            <a:spLocks noGrp="1"/>
          </p:cNvSpPr>
          <p:nvPr>
            <p:ph type="body" sz="quarter" idx="3" hasCustomPrompt="1"/>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 name="Text Placeholder 3"/>
          <p:cNvSpPr>
            <a:spLocks noGrp="1"/>
          </p:cNvSpPr>
          <p:nvPr>
            <p:ph type="body" sz="half" idx="16" hasCustomPrompt="1"/>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11" name="Text Placeholder 4"/>
          <p:cNvSpPr>
            <a:spLocks noGrp="1"/>
          </p:cNvSpPr>
          <p:nvPr>
            <p:ph type="body" sz="quarter" idx="13" hasCustomPrompt="1"/>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2" name="Text Placeholder 3"/>
          <p:cNvSpPr>
            <a:spLocks noGrp="1"/>
          </p:cNvSpPr>
          <p:nvPr>
            <p:ph type="body" sz="half" idx="17" hasCustomPrompt="1"/>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D4B24536-994D-4021-A283-9F449C0DB50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zh-CN" altLang="en-US"/>
              <a:t>单击此处编辑母版标题样式</a:t>
            </a:r>
            <a:endParaRPr lang="en-US" dirty="0"/>
          </a:p>
        </p:txBody>
      </p:sp>
      <p:sp>
        <p:nvSpPr>
          <p:cNvPr id="19" name="Text Placeholder 2"/>
          <p:cNvSpPr>
            <a:spLocks noGrp="1"/>
          </p:cNvSpPr>
          <p:nvPr>
            <p:ph type="body" idx="1" hasCustomPrompt="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hasCustomPrompt="1"/>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2" name="Text Placeholder 4"/>
          <p:cNvSpPr>
            <a:spLocks noGrp="1"/>
          </p:cNvSpPr>
          <p:nvPr>
            <p:ph type="body" sz="quarter" idx="3" hasCustomPrompt="1"/>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hasCustomPrompt="1"/>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5" name="Text Placeholder 4"/>
          <p:cNvSpPr>
            <a:spLocks noGrp="1"/>
          </p:cNvSpPr>
          <p:nvPr>
            <p:ph type="body" sz="quarter" idx="13" hasCustomPrompt="1"/>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hasCustomPrompt="1"/>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3CBBBB78-C96F-47B7-AB17-D852CA960AC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80322" y="609597"/>
            <a:ext cx="8870004" cy="5326589"/>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7.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9.xml"/><Relationship Id="rId19" Type="http://schemas.openxmlformats.org/officeDocument/2006/relationships/tags" Target="../tags/tag123.xml"/><Relationship Id="rId18" Type="http://schemas.openxmlformats.org/officeDocument/2006/relationships/slideLayout" Target="../slideLayouts/slideLayout35.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8">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8.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4.xml"/><Relationship Id="rId5" Type="http://schemas.openxmlformats.org/officeDocument/2006/relationships/tags" Target="../tags/tag135.xml"/><Relationship Id="rId4" Type="http://schemas.openxmlformats.org/officeDocument/2006/relationships/image" Target="../media/image8.png"/><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39.xml"/><Relationship Id="rId4" Type="http://schemas.openxmlformats.org/officeDocument/2006/relationships/image" Target="../media/image8.png"/><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43.xml"/><Relationship Id="rId4" Type="http://schemas.openxmlformats.org/officeDocument/2006/relationships/image" Target="../media/image8.png"/><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4.xml"/><Relationship Id="rId5" Type="http://schemas.openxmlformats.org/officeDocument/2006/relationships/tags" Target="../tags/tag147.xml"/><Relationship Id="rId4" Type="http://schemas.openxmlformats.org/officeDocument/2006/relationships/image" Target="../media/image8.png"/><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4.xml"/><Relationship Id="rId5" Type="http://schemas.openxmlformats.org/officeDocument/2006/relationships/tags" Target="../tags/tag151.xml"/><Relationship Id="rId4" Type="http://schemas.openxmlformats.org/officeDocument/2006/relationships/image" Target="../media/image8.png"/><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4.xml"/><Relationship Id="rId5" Type="http://schemas.openxmlformats.org/officeDocument/2006/relationships/tags" Target="../tags/tag155.xml"/><Relationship Id="rId4" Type="http://schemas.openxmlformats.org/officeDocument/2006/relationships/image" Target="../media/image8.png"/><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4.xml"/><Relationship Id="rId6" Type="http://schemas.openxmlformats.org/officeDocument/2006/relationships/tags" Target="../tags/tag160.xml"/><Relationship Id="rId5" Type="http://schemas.openxmlformats.org/officeDocument/2006/relationships/image" Target="../media/image8.png"/><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24.xml"/><Relationship Id="rId7" Type="http://schemas.openxmlformats.org/officeDocument/2006/relationships/tags" Target="../tags/tag16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3.bin"/><Relationship Id="rId8" Type="http://schemas.openxmlformats.org/officeDocument/2006/relationships/image" Target="../media/image12.wmf"/><Relationship Id="rId7" Type="http://schemas.openxmlformats.org/officeDocument/2006/relationships/oleObject" Target="../embeddings/oleObject2.bin"/><Relationship Id="rId6" Type="http://schemas.openxmlformats.org/officeDocument/2006/relationships/image" Target="../media/image11.wmf"/><Relationship Id="rId5" Type="http://schemas.openxmlformats.org/officeDocument/2006/relationships/oleObject" Target="../embeddings/oleObject1.bin"/><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4" Type="http://schemas.openxmlformats.org/officeDocument/2006/relationships/notesSlide" Target="../notesSlides/notesSlide8.xml"/><Relationship Id="rId13" Type="http://schemas.openxmlformats.org/officeDocument/2006/relationships/vmlDrawing" Target="../drawings/vmlDrawing1.vml"/><Relationship Id="rId12" Type="http://schemas.openxmlformats.org/officeDocument/2006/relationships/slideLayout" Target="../slideLayouts/slideLayout24.xml"/><Relationship Id="rId11" Type="http://schemas.openxmlformats.org/officeDocument/2006/relationships/tags" Target="../tags/tag168.xml"/><Relationship Id="rId10" Type="http://schemas.openxmlformats.org/officeDocument/2006/relationships/image" Target="../media/image13.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image" Target="../media/image16.png"/><Relationship Id="rId7" Type="http://schemas.openxmlformats.org/officeDocument/2006/relationships/image" Target="../media/image15.png"/><Relationship Id="rId6" Type="http://schemas.openxmlformats.org/officeDocument/2006/relationships/image" Target="../media/image14.wmf"/><Relationship Id="rId5" Type="http://schemas.openxmlformats.org/officeDocument/2006/relationships/oleObject" Target="../embeddings/oleObject4.bin"/><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2" Type="http://schemas.openxmlformats.org/officeDocument/2006/relationships/notesSlide" Target="../notesSlides/notesSlide9.xml"/><Relationship Id="rId11" Type="http://schemas.openxmlformats.org/officeDocument/2006/relationships/vmlDrawing" Target="../drawings/vmlDrawing2.vml"/><Relationship Id="rId10" Type="http://schemas.openxmlformats.org/officeDocument/2006/relationships/slideLayout" Target="../slideLayouts/slideLayout24.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4" Type="http://schemas.openxmlformats.org/officeDocument/2006/relationships/slideLayout" Target="../slideLayouts/slideLayout24.xml"/><Relationship Id="rId13" Type="http://schemas.openxmlformats.org/officeDocument/2006/relationships/tags" Target="../tags/tag183.xml"/><Relationship Id="rId12" Type="http://schemas.openxmlformats.org/officeDocument/2006/relationships/tags" Target="../tags/tag182.xml"/><Relationship Id="rId11" Type="http://schemas.openxmlformats.org/officeDocument/2006/relationships/tags" Target="../tags/tag181.xml"/><Relationship Id="rId10" Type="http://schemas.openxmlformats.org/officeDocument/2006/relationships/image" Target="../media/image8.png"/><Relationship Id="rId1" Type="http://schemas.openxmlformats.org/officeDocument/2006/relationships/tags" Target="../tags/tag173.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4.xml"/><Relationship Id="rId4" Type="http://schemas.openxmlformats.org/officeDocument/2006/relationships/tags" Target="../tags/tag186.xml"/><Relationship Id="rId3" Type="http://schemas.openxmlformats.org/officeDocument/2006/relationships/image" Target="../media/image8.png"/><Relationship Id="rId2" Type="http://schemas.openxmlformats.org/officeDocument/2006/relationships/tags" Target="../tags/tag185.xml"/><Relationship Id="rId1" Type="http://schemas.openxmlformats.org/officeDocument/2006/relationships/tags" Target="../tags/tag184.xml"/></Relationships>
</file>

<file path=ppt/slides/_rels/slide15.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image" Target="../media/image8.png"/><Relationship Id="rId4" Type="http://schemas.openxmlformats.org/officeDocument/2006/relationships/tags" Target="../tags/tag190.xml"/><Relationship Id="rId3" Type="http://schemas.openxmlformats.org/officeDocument/2006/relationships/tags" Target="../tags/tag189.xml"/><Relationship Id="rId2" Type="http://schemas.openxmlformats.org/officeDocument/2006/relationships/tags" Target="../tags/tag188.xml"/><Relationship Id="rId11" Type="http://schemas.openxmlformats.org/officeDocument/2006/relationships/notesSlide" Target="../notesSlides/notesSlide11.xml"/><Relationship Id="rId10" Type="http://schemas.openxmlformats.org/officeDocument/2006/relationships/slideLayout" Target="../slideLayouts/slideLayout24.xml"/><Relationship Id="rId1" Type="http://schemas.openxmlformats.org/officeDocument/2006/relationships/tags" Target="../tags/tag187.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24.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image" Target="../media/image8.png"/><Relationship Id="rId1" Type="http://schemas.openxmlformats.org/officeDocument/2006/relationships/tags" Target="../tags/tag195.xml"/></Relationships>
</file>

<file path=ppt/slides/_rels/slide17.xml.rels><?xml version="1.0" encoding="UTF-8" standalone="yes"?>
<Relationships xmlns="http://schemas.openxmlformats.org/package/2006/relationships"><Relationship Id="rId9" Type="http://schemas.openxmlformats.org/officeDocument/2006/relationships/tags" Target="../tags/tag206.xml"/><Relationship Id="rId8" Type="http://schemas.openxmlformats.org/officeDocument/2006/relationships/tags" Target="../tags/tag205.xml"/><Relationship Id="rId7" Type="http://schemas.openxmlformats.org/officeDocument/2006/relationships/tags" Target="../tags/tag204.xml"/><Relationship Id="rId6" Type="http://schemas.openxmlformats.org/officeDocument/2006/relationships/image" Target="../media/image8.png"/><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tags" Target="../tags/tag200.xml"/><Relationship Id="rId12" Type="http://schemas.openxmlformats.org/officeDocument/2006/relationships/notesSlide" Target="../notesSlides/notesSlide13.xml"/><Relationship Id="rId11" Type="http://schemas.openxmlformats.org/officeDocument/2006/relationships/slideLayout" Target="../slideLayouts/slideLayout24.xml"/><Relationship Id="rId10" Type="http://schemas.openxmlformats.org/officeDocument/2006/relationships/tags" Target="../tags/tag207.xml"/><Relationship Id="rId1" Type="http://schemas.openxmlformats.org/officeDocument/2006/relationships/tags" Target="../tags/tag199.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4.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image" Target="../media/image8.png"/><Relationship Id="rId1" Type="http://schemas.openxmlformats.org/officeDocument/2006/relationships/tags" Target="../tags/tag208.xml"/></Relationships>
</file>

<file path=ppt/slides/_rels/slide19.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image" Target="../media/image8.png"/><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2" Type="http://schemas.openxmlformats.org/officeDocument/2006/relationships/notesSlide" Target="../notesSlides/notesSlide15.xml"/><Relationship Id="rId11" Type="http://schemas.openxmlformats.org/officeDocument/2006/relationships/slideLayout" Target="../slideLayouts/slideLayout24.xml"/><Relationship Id="rId10" Type="http://schemas.openxmlformats.org/officeDocument/2006/relationships/tags" Target="../tags/tag220.xml"/><Relationship Id="rId1" Type="http://schemas.openxmlformats.org/officeDocument/2006/relationships/tags" Target="../tags/tag212.xml"/></Relationships>
</file>

<file path=ppt/slides/_rels/slide20.xml.rels><?xml version="1.0" encoding="UTF-8" standalone="yes"?>
<Relationships xmlns="http://schemas.openxmlformats.org/package/2006/relationships"><Relationship Id="rId9" Type="http://schemas.openxmlformats.org/officeDocument/2006/relationships/tags" Target="../tags/tag229.xml"/><Relationship Id="rId8" Type="http://schemas.openxmlformats.org/officeDocument/2006/relationships/tags" Target="../tags/tag228.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 Type="http://schemas.openxmlformats.org/officeDocument/2006/relationships/tags" Target="../tags/tag222.xml"/><Relationship Id="rId18" Type="http://schemas.openxmlformats.org/officeDocument/2006/relationships/notesSlide" Target="../notesSlides/notesSlide16.xml"/><Relationship Id="rId17" Type="http://schemas.openxmlformats.org/officeDocument/2006/relationships/slideLayout" Target="../slideLayouts/slideLayout24.xml"/><Relationship Id="rId16" Type="http://schemas.openxmlformats.org/officeDocument/2006/relationships/tags" Target="../tags/tag235.xml"/><Relationship Id="rId15" Type="http://schemas.openxmlformats.org/officeDocument/2006/relationships/tags" Target="../tags/tag234.xml"/><Relationship Id="rId14" Type="http://schemas.openxmlformats.org/officeDocument/2006/relationships/tags" Target="../tags/tag233.xml"/><Relationship Id="rId13" Type="http://schemas.openxmlformats.org/officeDocument/2006/relationships/image" Target="../media/image8.png"/><Relationship Id="rId12" Type="http://schemas.openxmlformats.org/officeDocument/2006/relationships/tags" Target="../tags/tag232.xml"/><Relationship Id="rId11" Type="http://schemas.openxmlformats.org/officeDocument/2006/relationships/tags" Target="../tags/tag231.xml"/><Relationship Id="rId10" Type="http://schemas.openxmlformats.org/officeDocument/2006/relationships/tags" Target="../tags/tag230.xml"/><Relationship Id="rId1" Type="http://schemas.openxmlformats.org/officeDocument/2006/relationships/tags" Target="../tags/tag221.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4.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image" Target="../media/image8.png"/><Relationship Id="rId1" Type="http://schemas.openxmlformats.org/officeDocument/2006/relationships/tags" Target="../tags/tag236.xml"/></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4.xml"/><Relationship Id="rId7" Type="http://schemas.openxmlformats.org/officeDocument/2006/relationships/tags" Target="../tags/tag245.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image" Target="../media/image8.png"/><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252.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image" Target="../media/image8.png"/><Relationship Id="rId3" Type="http://schemas.openxmlformats.org/officeDocument/2006/relationships/tags" Target="../tags/tag248.xml"/><Relationship Id="rId2" Type="http://schemas.openxmlformats.org/officeDocument/2006/relationships/tags" Target="../tags/tag247.xml"/><Relationship Id="rId10" Type="http://schemas.openxmlformats.org/officeDocument/2006/relationships/notesSlide" Target="../notesSlides/notesSlide19.xml"/><Relationship Id="rId1" Type="http://schemas.openxmlformats.org/officeDocument/2006/relationships/tags" Target="../tags/tag246.xml"/></Relationships>
</file>

<file path=ppt/slides/_rels/slide24.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tags" Target="../tags/tag259.xml"/><Relationship Id="rId7" Type="http://schemas.openxmlformats.org/officeDocument/2006/relationships/tags" Target="../tags/tag258.xml"/><Relationship Id="rId6" Type="http://schemas.openxmlformats.org/officeDocument/2006/relationships/image" Target="../media/image8.png"/><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1" Type="http://schemas.openxmlformats.org/officeDocument/2006/relationships/notesSlide" Target="../notesSlides/notesSlide20.xml"/><Relationship Id="rId10" Type="http://schemas.openxmlformats.org/officeDocument/2006/relationships/slideLayout" Target="../slideLayouts/slideLayout24.xml"/><Relationship Id="rId1" Type="http://schemas.openxmlformats.org/officeDocument/2006/relationships/tags" Target="../tags/tag253.xml"/></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24.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image" Target="../media/image8.png"/><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273.xml"/><Relationship Id="rId7" Type="http://schemas.openxmlformats.org/officeDocument/2006/relationships/tags" Target="../tags/tag272.xml"/><Relationship Id="rId6" Type="http://schemas.openxmlformats.org/officeDocument/2006/relationships/tags" Target="../tags/tag271.xml"/><Relationship Id="rId5" Type="http://schemas.openxmlformats.org/officeDocument/2006/relationships/tags" Target="../tags/tag270.xml"/><Relationship Id="rId4" Type="http://schemas.openxmlformats.org/officeDocument/2006/relationships/tags" Target="../tags/tag269.xml"/><Relationship Id="rId3" Type="http://schemas.openxmlformats.org/officeDocument/2006/relationships/image" Target="../media/image8.png"/><Relationship Id="rId2" Type="http://schemas.openxmlformats.org/officeDocument/2006/relationships/tags" Target="../tags/tag268.xml"/><Relationship Id="rId10" Type="http://schemas.openxmlformats.org/officeDocument/2006/relationships/notesSlide" Target="../notesSlides/notesSlide22.xml"/><Relationship Id="rId1" Type="http://schemas.openxmlformats.org/officeDocument/2006/relationships/tags" Target="../tags/tag267.xml"/></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3.xml"/><Relationship Id="rId8" Type="http://schemas.openxmlformats.org/officeDocument/2006/relationships/slideLayout" Target="../slideLayouts/slideLayout24.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image" Target="../media/image8.png"/><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286.xml"/><Relationship Id="rId7" Type="http://schemas.openxmlformats.org/officeDocument/2006/relationships/tags" Target="../tags/tag285.xml"/><Relationship Id="rId6" Type="http://schemas.openxmlformats.org/officeDocument/2006/relationships/tags" Target="../tags/tag284.xml"/><Relationship Id="rId5" Type="http://schemas.openxmlformats.org/officeDocument/2006/relationships/tags" Target="../tags/tag283.xml"/><Relationship Id="rId4" Type="http://schemas.openxmlformats.org/officeDocument/2006/relationships/image" Target="../media/image8.png"/><Relationship Id="rId3" Type="http://schemas.openxmlformats.org/officeDocument/2006/relationships/tags" Target="../tags/tag282.xml"/><Relationship Id="rId2" Type="http://schemas.openxmlformats.org/officeDocument/2006/relationships/tags" Target="../tags/tag281.xml"/><Relationship Id="rId10" Type="http://schemas.openxmlformats.org/officeDocument/2006/relationships/notesSlide" Target="../notesSlides/notesSlide24.xml"/><Relationship Id="rId1" Type="http://schemas.openxmlformats.org/officeDocument/2006/relationships/tags" Target="../tags/tag280.xml"/></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24.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image" Target="../media/image8.png"/><Relationship Id="rId2" Type="http://schemas.openxmlformats.org/officeDocument/2006/relationships/image" Target="../media/image18.emf"/><Relationship Id="rId1" Type="http://schemas.openxmlformats.org/officeDocument/2006/relationships/tags" Target="../tags/tag287.xml"/></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24.xml"/><Relationship Id="rId6" Type="http://schemas.openxmlformats.org/officeDocument/2006/relationships/tags" Target="../tags/tag295.xml"/><Relationship Id="rId5" Type="http://schemas.openxmlformats.org/officeDocument/2006/relationships/tags" Target="../tags/tag294.xml"/><Relationship Id="rId4" Type="http://schemas.openxmlformats.org/officeDocument/2006/relationships/tags" Target="../tags/tag293.xml"/><Relationship Id="rId3" Type="http://schemas.openxmlformats.org/officeDocument/2006/relationships/image" Target="../media/image8.png"/><Relationship Id="rId2" Type="http://schemas.openxmlformats.org/officeDocument/2006/relationships/tags" Target="../tags/tag292.xml"/><Relationship Id="rId1" Type="http://schemas.openxmlformats.org/officeDocument/2006/relationships/tags" Target="../tags/tag291.xml"/></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301.xml"/><Relationship Id="rId7" Type="http://schemas.openxmlformats.org/officeDocument/2006/relationships/tags" Target="../tags/tag300.xml"/><Relationship Id="rId6" Type="http://schemas.openxmlformats.org/officeDocument/2006/relationships/tags" Target="../tags/tag299.xml"/><Relationship Id="rId5" Type="http://schemas.openxmlformats.org/officeDocument/2006/relationships/image" Target="../media/image8.png"/><Relationship Id="rId4" Type="http://schemas.openxmlformats.org/officeDocument/2006/relationships/image" Target="../media/image19.png"/><Relationship Id="rId3" Type="http://schemas.openxmlformats.org/officeDocument/2006/relationships/tags" Target="../tags/tag298.xml"/><Relationship Id="rId2" Type="http://schemas.openxmlformats.org/officeDocument/2006/relationships/tags" Target="../tags/tag297.xml"/><Relationship Id="rId10" Type="http://schemas.openxmlformats.org/officeDocument/2006/relationships/notesSlide" Target="../notesSlides/notesSlide27.xml"/><Relationship Id="rId1" Type="http://schemas.openxmlformats.org/officeDocument/2006/relationships/tags" Target="../tags/tag296.xml"/></Relationships>
</file>

<file path=ppt/slides/_rels/slide32.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slideLayout" Target="../slideLayouts/slideLayout24.xml"/><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image" Target="../media/image8.png"/><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image" Target="../media/image8.png"/><Relationship Id="rId4" Type="http://schemas.openxmlformats.org/officeDocument/2006/relationships/image" Target="../media/image20.png"/><Relationship Id="rId3" Type="http://schemas.openxmlformats.org/officeDocument/2006/relationships/tags" Target="../tags/tag310.xml"/><Relationship Id="rId2" Type="http://schemas.openxmlformats.org/officeDocument/2006/relationships/tags" Target="../tags/tag309.xml"/><Relationship Id="rId10" Type="http://schemas.openxmlformats.org/officeDocument/2006/relationships/notesSlide" Target="../notesSlides/notesSlide29.xml"/><Relationship Id="rId1" Type="http://schemas.openxmlformats.org/officeDocument/2006/relationships/tags" Target="../tags/tag308.xml"/></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24.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image" Target="../media/image8.png"/><Relationship Id="rId2" Type="http://schemas.openxmlformats.org/officeDocument/2006/relationships/tags" Target="../tags/tag315.xml"/><Relationship Id="rId1" Type="http://schemas.openxmlformats.org/officeDocument/2006/relationships/tags" Target="../tags/tag314.xml"/></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323.xml"/><Relationship Id="rId7" Type="http://schemas.openxmlformats.org/officeDocument/2006/relationships/tags" Target="../tags/tag322.xml"/><Relationship Id="rId6" Type="http://schemas.openxmlformats.org/officeDocument/2006/relationships/tags" Target="../tags/tag321.xml"/><Relationship Id="rId5" Type="http://schemas.openxmlformats.org/officeDocument/2006/relationships/image" Target="../media/image8.png"/><Relationship Id="rId4" Type="http://schemas.openxmlformats.org/officeDocument/2006/relationships/image" Target="../media/image22.emf"/><Relationship Id="rId3" Type="http://schemas.openxmlformats.org/officeDocument/2006/relationships/image" Target="../media/image21.png"/><Relationship Id="rId2" Type="http://schemas.openxmlformats.org/officeDocument/2006/relationships/tags" Target="../tags/tag320.xml"/><Relationship Id="rId1" Type="http://schemas.openxmlformats.org/officeDocument/2006/relationships/tags" Target="../tags/tag319.xml"/></Relationships>
</file>

<file path=ppt/slides/_rels/slide36.xml.rels><?xml version="1.0" encoding="UTF-8" standalone="yes"?>
<Relationships xmlns="http://schemas.openxmlformats.org/package/2006/relationships"><Relationship Id="rId9" Type="http://schemas.openxmlformats.org/officeDocument/2006/relationships/tags" Target="../tags/tag330.xml"/><Relationship Id="rId8" Type="http://schemas.openxmlformats.org/officeDocument/2006/relationships/tags" Target="../tags/tag329.xml"/><Relationship Id="rId7" Type="http://schemas.openxmlformats.org/officeDocument/2006/relationships/image" Target="../media/image23.png"/><Relationship Id="rId6" Type="http://schemas.openxmlformats.org/officeDocument/2006/relationships/tags" Target="../tags/tag328.xml"/><Relationship Id="rId5" Type="http://schemas.openxmlformats.org/officeDocument/2006/relationships/tags" Target="../tags/tag327.xml"/><Relationship Id="rId4" Type="http://schemas.openxmlformats.org/officeDocument/2006/relationships/tags" Target="../tags/tag326.xml"/><Relationship Id="rId3" Type="http://schemas.openxmlformats.org/officeDocument/2006/relationships/tags" Target="../tags/tag325.xml"/><Relationship Id="rId2" Type="http://schemas.openxmlformats.org/officeDocument/2006/relationships/image" Target="../media/image8.png"/><Relationship Id="rId11" Type="http://schemas.openxmlformats.org/officeDocument/2006/relationships/notesSlide" Target="../notesSlides/notesSlide31.xml"/><Relationship Id="rId10" Type="http://schemas.openxmlformats.org/officeDocument/2006/relationships/slideLayout" Target="../slideLayouts/slideLayout24.xml"/><Relationship Id="rId1" Type="http://schemas.openxmlformats.org/officeDocument/2006/relationships/tags" Target="../tags/tag324.xml"/></Relationships>
</file>

<file path=ppt/slides/_rels/slide37.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image" Target="../media/image8.png"/><Relationship Id="rId2" Type="http://schemas.openxmlformats.org/officeDocument/2006/relationships/tags" Target="../tags/tag332.xml"/><Relationship Id="rId1" Type="http://schemas.openxmlformats.org/officeDocument/2006/relationships/tags" Target="../tags/tag331.xml"/></Relationships>
</file>

<file path=ppt/slides/_rels/slide38.xml.rels><?xml version="1.0" encoding="UTF-8" standalone="yes"?>
<Relationships xmlns="http://schemas.openxmlformats.org/package/2006/relationships"><Relationship Id="rId9" Type="http://schemas.openxmlformats.org/officeDocument/2006/relationships/tags" Target="../tags/tag342.xml"/><Relationship Id="rId8" Type="http://schemas.openxmlformats.org/officeDocument/2006/relationships/tags" Target="../tags/tag341.xml"/><Relationship Id="rId7" Type="http://schemas.openxmlformats.org/officeDocument/2006/relationships/tags" Target="../tags/tag340.xml"/><Relationship Id="rId6" Type="http://schemas.openxmlformats.org/officeDocument/2006/relationships/image" Target="../media/image24.png"/><Relationship Id="rId5" Type="http://schemas.openxmlformats.org/officeDocument/2006/relationships/tags" Target="../tags/tag339.xml"/><Relationship Id="rId4" Type="http://schemas.openxmlformats.org/officeDocument/2006/relationships/tags" Target="../tags/tag338.xml"/><Relationship Id="rId3" Type="http://schemas.openxmlformats.org/officeDocument/2006/relationships/image" Target="../media/image8.png"/><Relationship Id="rId2" Type="http://schemas.openxmlformats.org/officeDocument/2006/relationships/tags" Target="../tags/tag337.xml"/><Relationship Id="rId11" Type="http://schemas.openxmlformats.org/officeDocument/2006/relationships/notesSlide" Target="../notesSlides/notesSlide32.xml"/><Relationship Id="rId10" Type="http://schemas.openxmlformats.org/officeDocument/2006/relationships/slideLayout" Target="../slideLayouts/slideLayout24.xml"/><Relationship Id="rId1" Type="http://schemas.openxmlformats.org/officeDocument/2006/relationships/tags" Target="../tags/tag336.xml"/></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24.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image" Target="../media/image8.png"/><Relationship Id="rId1" Type="http://schemas.openxmlformats.org/officeDocument/2006/relationships/tags" Target="../tags/tag343.xml"/></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353.xml"/><Relationship Id="rId7" Type="http://schemas.openxmlformats.org/officeDocument/2006/relationships/tags" Target="../tags/tag352.xml"/><Relationship Id="rId6" Type="http://schemas.openxmlformats.org/officeDocument/2006/relationships/tags" Target="../tags/tag351.xml"/><Relationship Id="rId5" Type="http://schemas.openxmlformats.org/officeDocument/2006/relationships/image" Target="../media/image25.png"/><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image" Target="../media/image8.png"/><Relationship Id="rId10" Type="http://schemas.openxmlformats.org/officeDocument/2006/relationships/notesSlide" Target="../notesSlides/notesSlide34.xml"/><Relationship Id="rId1" Type="http://schemas.openxmlformats.org/officeDocument/2006/relationships/tags" Target="../tags/tag348.xml"/></Relationships>
</file>

<file path=ppt/slides/_rels/slide41.xml.rels><?xml version="1.0" encoding="UTF-8" standalone="yes"?>
<Relationships xmlns="http://schemas.openxmlformats.org/package/2006/relationships"><Relationship Id="rId9" Type="http://schemas.openxmlformats.org/officeDocument/2006/relationships/notesSlide" Target="../notesSlides/notesSlide35.xml"/><Relationship Id="rId8" Type="http://schemas.openxmlformats.org/officeDocument/2006/relationships/slideLayout" Target="../slideLayouts/slideLayout24.xml"/><Relationship Id="rId7" Type="http://schemas.openxmlformats.org/officeDocument/2006/relationships/tags" Target="../tags/tag358.xml"/><Relationship Id="rId6" Type="http://schemas.openxmlformats.org/officeDocument/2006/relationships/tags" Target="../tags/tag357.xml"/><Relationship Id="rId5" Type="http://schemas.openxmlformats.org/officeDocument/2006/relationships/tags" Target="../tags/tag356.xml"/><Relationship Id="rId4" Type="http://schemas.openxmlformats.org/officeDocument/2006/relationships/image" Target="../media/image26.png"/><Relationship Id="rId3" Type="http://schemas.openxmlformats.org/officeDocument/2006/relationships/tags" Target="../tags/tag355.xml"/><Relationship Id="rId2" Type="http://schemas.openxmlformats.org/officeDocument/2006/relationships/tags" Target="../tags/tag354.xml"/><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364.xml"/><Relationship Id="rId7" Type="http://schemas.openxmlformats.org/officeDocument/2006/relationships/tags" Target="../tags/tag363.xml"/><Relationship Id="rId6" Type="http://schemas.openxmlformats.org/officeDocument/2006/relationships/tags" Target="../tags/tag362.xml"/><Relationship Id="rId5" Type="http://schemas.openxmlformats.org/officeDocument/2006/relationships/image" Target="../media/image8.png"/><Relationship Id="rId4" Type="http://schemas.openxmlformats.org/officeDocument/2006/relationships/image" Target="../media/image27.png"/><Relationship Id="rId3" Type="http://schemas.openxmlformats.org/officeDocument/2006/relationships/tags" Target="../tags/tag361.xml"/><Relationship Id="rId2" Type="http://schemas.openxmlformats.org/officeDocument/2006/relationships/tags" Target="../tags/tag360.xml"/><Relationship Id="rId10" Type="http://schemas.openxmlformats.org/officeDocument/2006/relationships/notesSlide" Target="../notesSlides/notesSlide36.xml"/><Relationship Id="rId1" Type="http://schemas.openxmlformats.org/officeDocument/2006/relationships/tags" Target="../tags/tag359.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24.xml"/><Relationship Id="rId6" Type="http://schemas.openxmlformats.org/officeDocument/2006/relationships/tags" Target="../tags/tag369.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 Type="http://schemas.openxmlformats.org/officeDocument/2006/relationships/image" Target="../media/image8.png"/><Relationship Id="rId1" Type="http://schemas.openxmlformats.org/officeDocument/2006/relationships/tags" Target="../tags/tag365.xml"/></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image" Target="../media/image8.png"/><Relationship Id="rId1" Type="http://schemas.openxmlformats.org/officeDocument/2006/relationships/tags" Target="../tags/tag370.xml"/></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24.xml"/><Relationship Id="rId5" Type="http://schemas.openxmlformats.org/officeDocument/2006/relationships/tags" Target="../tags/tag377.xml"/><Relationship Id="rId4" Type="http://schemas.openxmlformats.org/officeDocument/2006/relationships/tags" Target="../tags/tag376.xml"/><Relationship Id="rId3" Type="http://schemas.openxmlformats.org/officeDocument/2006/relationships/tags" Target="../tags/tag375.xml"/><Relationship Id="rId2" Type="http://schemas.openxmlformats.org/officeDocument/2006/relationships/image" Target="../media/image8.png"/><Relationship Id="rId1" Type="http://schemas.openxmlformats.org/officeDocument/2006/relationships/tags" Target="../tags/tag374.xml"/></Relationships>
</file>

<file path=ppt/slides/_rels/slide46.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slideLayout" Target="../slideLayouts/slideLayout24.xml"/><Relationship Id="rId5" Type="http://schemas.openxmlformats.org/officeDocument/2006/relationships/tags" Target="../tags/tag381.xml"/><Relationship Id="rId4" Type="http://schemas.openxmlformats.org/officeDocument/2006/relationships/tags" Target="../tags/tag380.xml"/><Relationship Id="rId3" Type="http://schemas.openxmlformats.org/officeDocument/2006/relationships/tags" Target="../tags/tag379.xml"/><Relationship Id="rId2" Type="http://schemas.openxmlformats.org/officeDocument/2006/relationships/image" Target="../media/image8.png"/><Relationship Id="rId1" Type="http://schemas.openxmlformats.org/officeDocument/2006/relationships/tags" Target="../tags/tag378.xml"/></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slideLayout" Target="../slideLayouts/slideLayout24.xml"/><Relationship Id="rId5" Type="http://schemas.openxmlformats.org/officeDocument/2006/relationships/tags" Target="../tags/tag385.xml"/><Relationship Id="rId4" Type="http://schemas.openxmlformats.org/officeDocument/2006/relationships/tags" Target="../tags/tag384.xml"/><Relationship Id="rId3" Type="http://schemas.openxmlformats.org/officeDocument/2006/relationships/tags" Target="../tags/tag383.xml"/><Relationship Id="rId2" Type="http://schemas.openxmlformats.org/officeDocument/2006/relationships/image" Target="../media/image8.png"/><Relationship Id="rId1" Type="http://schemas.openxmlformats.org/officeDocument/2006/relationships/tags" Target="../tags/tag382.xml"/></Relationships>
</file>

<file path=ppt/slides/_rels/slide48.xml.rels><?xml version="1.0" encoding="UTF-8" standalone="yes"?>
<Relationships xmlns="http://schemas.openxmlformats.org/package/2006/relationships"><Relationship Id="rId9" Type="http://schemas.openxmlformats.org/officeDocument/2006/relationships/tags" Target="../tags/tag392.xml"/><Relationship Id="rId8" Type="http://schemas.openxmlformats.org/officeDocument/2006/relationships/tags" Target="../tags/tag391.xml"/><Relationship Id="rId7" Type="http://schemas.openxmlformats.org/officeDocument/2006/relationships/tags" Target="../tags/tag390.xml"/><Relationship Id="rId6" Type="http://schemas.openxmlformats.org/officeDocument/2006/relationships/tags" Target="../tags/tag389.xml"/><Relationship Id="rId5" Type="http://schemas.openxmlformats.org/officeDocument/2006/relationships/image" Target="../media/image8.png"/><Relationship Id="rId4" Type="http://schemas.openxmlformats.org/officeDocument/2006/relationships/image" Target="../media/image28.png"/><Relationship Id="rId3" Type="http://schemas.openxmlformats.org/officeDocument/2006/relationships/tags" Target="../tags/tag388.xml"/><Relationship Id="rId2" Type="http://schemas.openxmlformats.org/officeDocument/2006/relationships/tags" Target="../tags/tag387.xml"/><Relationship Id="rId11" Type="http://schemas.openxmlformats.org/officeDocument/2006/relationships/notesSlide" Target="../notesSlides/notesSlide41.xml"/><Relationship Id="rId10" Type="http://schemas.openxmlformats.org/officeDocument/2006/relationships/slideLayout" Target="../slideLayouts/slideLayout24.xml"/><Relationship Id="rId1" Type="http://schemas.openxmlformats.org/officeDocument/2006/relationships/tags" Target="../tags/tag386.xml"/></Relationships>
</file>

<file path=ppt/slides/_rels/slide49.xml.rels><?xml version="1.0" encoding="UTF-8" standalone="yes"?>
<Relationships xmlns="http://schemas.openxmlformats.org/package/2006/relationships"><Relationship Id="rId9" Type="http://schemas.openxmlformats.org/officeDocument/2006/relationships/tags" Target="../tags/tag399.xml"/><Relationship Id="rId8" Type="http://schemas.openxmlformats.org/officeDocument/2006/relationships/tags" Target="../tags/tag398.xml"/><Relationship Id="rId7" Type="http://schemas.openxmlformats.org/officeDocument/2006/relationships/tags" Target="../tags/tag397.xml"/><Relationship Id="rId6" Type="http://schemas.openxmlformats.org/officeDocument/2006/relationships/tags" Target="../tags/tag396.xml"/><Relationship Id="rId5" Type="http://schemas.openxmlformats.org/officeDocument/2006/relationships/image" Target="../media/image8.png"/><Relationship Id="rId4" Type="http://schemas.openxmlformats.org/officeDocument/2006/relationships/image" Target="../media/image29.png"/><Relationship Id="rId3" Type="http://schemas.openxmlformats.org/officeDocument/2006/relationships/tags" Target="../tags/tag395.xml"/><Relationship Id="rId2" Type="http://schemas.openxmlformats.org/officeDocument/2006/relationships/tags" Target="../tags/tag394.xml"/><Relationship Id="rId11" Type="http://schemas.openxmlformats.org/officeDocument/2006/relationships/notesSlide" Target="../notesSlides/notesSlide42.xml"/><Relationship Id="rId10" Type="http://schemas.openxmlformats.org/officeDocument/2006/relationships/slideLayout" Target="../slideLayouts/slideLayout24.xml"/><Relationship Id="rId1" Type="http://schemas.openxmlformats.org/officeDocument/2006/relationships/tags" Target="../tags/tag393.xml"/></Relationships>
</file>

<file path=ppt/slides/_rels/slide50.xml.rels><?xml version="1.0" encoding="UTF-8" standalone="yes"?>
<Relationships xmlns="http://schemas.openxmlformats.org/package/2006/relationships"><Relationship Id="rId9" Type="http://schemas.openxmlformats.org/officeDocument/2006/relationships/tags" Target="../tags/tag405.xml"/><Relationship Id="rId8" Type="http://schemas.openxmlformats.org/officeDocument/2006/relationships/tags" Target="../tags/tag404.xml"/><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tags" Target="../tags/tag403.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1" Type="http://schemas.openxmlformats.org/officeDocument/2006/relationships/notesSlide" Target="../notesSlides/notesSlide43.xml"/><Relationship Id="rId10" Type="http://schemas.openxmlformats.org/officeDocument/2006/relationships/slideLayout" Target="../slideLayouts/slideLayout24.xml"/><Relationship Id="rId1" Type="http://schemas.openxmlformats.org/officeDocument/2006/relationships/image" Target="../media/image8.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40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Object 2103"/>
          <p:cNvSpPr txBox="1"/>
          <p:nvPr>
            <p:custDataLst>
              <p:tags r:id="rId1"/>
            </p:custDataLst>
          </p:nvPr>
        </p:nvSpPr>
        <p:spPr>
          <a:xfrm>
            <a:off x="2409825" y="3500755"/>
            <a:ext cx="7355205" cy="445135"/>
          </a:xfrm>
          <a:prstGeom prst="rect">
            <a:avLst/>
          </a:prstGeom>
          <a:ln w="3175">
            <a:miter lim="400000"/>
          </a:ln>
        </p:spPr>
        <p:txBody>
          <a:bodyPr wrap="square" lIns="101600" tIns="38100" rIns="76200" bIns="38100"/>
          <a:lstStyle>
            <a:lvl1pPr algn="ctr">
              <a:defRPr sz="2400" spc="73">
                <a:solidFill>
                  <a:srgbClr val="FFE3B9"/>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4400" spc="200" dirty="0">
                <a:solidFill>
                  <a:schemeClr val="accent1"/>
                </a:solidFill>
                <a:latin typeface="Arial" panose="020B0604020202020204" pitchFamily="34" charset="0"/>
                <a:ea typeface="微软雅黑" panose="020B0503020204020204" pitchFamily="34" charset="-122"/>
              </a:rPr>
              <a:t>第五讲</a:t>
            </a:r>
            <a:r>
              <a:rPr lang="en-US" altLang="zh-CN" sz="4400" spc="200" dirty="0">
                <a:solidFill>
                  <a:schemeClr val="accent1"/>
                </a:solidFill>
                <a:latin typeface="Arial" panose="020B0604020202020204" pitchFamily="34" charset="0"/>
                <a:ea typeface="微软雅黑" panose="020B0503020204020204" pitchFamily="34" charset="-122"/>
              </a:rPr>
              <a:t> </a:t>
            </a:r>
            <a:r>
              <a:rPr lang="zh-CN" altLang="en-US" sz="4400" spc="200" dirty="0">
                <a:solidFill>
                  <a:schemeClr val="accent1"/>
                </a:solidFill>
                <a:latin typeface="Arial" panose="020B0604020202020204" pitchFamily="34" charset="0"/>
                <a:ea typeface="微软雅黑" panose="020B0503020204020204" pitchFamily="34" charset="-122"/>
                <a:sym typeface="+mn-ea"/>
              </a:rPr>
              <a:t>重复博弈</a:t>
            </a:r>
            <a:endParaRPr lang="zh-CN" altLang="en-US" sz="4400" spc="200" dirty="0">
              <a:solidFill>
                <a:schemeClr val="accent1"/>
              </a:solidFill>
              <a:latin typeface="Arial" panose="020B0604020202020204" pitchFamily="34" charset="0"/>
              <a:ea typeface="微软雅黑" panose="020B0503020204020204" pitchFamily="34" charset="-122"/>
            </a:endParaRPr>
          </a:p>
        </p:txBody>
      </p:sp>
      <p:sp>
        <p:nvSpPr>
          <p:cNvPr id="419" name="Object 2105"/>
          <p:cNvSpPr txBox="1"/>
          <p:nvPr>
            <p:custDataLst>
              <p:tags r:id="rId2"/>
            </p:custDataLst>
          </p:nvPr>
        </p:nvSpPr>
        <p:spPr>
          <a:xfrm>
            <a:off x="3175909" y="1268889"/>
            <a:ext cx="5823585" cy="1583690"/>
          </a:xfrm>
          <a:prstGeom prst="rect">
            <a:avLst/>
          </a:prstGeom>
          <a:ln w="3175">
            <a:miter lim="400000"/>
          </a:ln>
        </p:spPr>
        <p:txBody>
          <a:bodyPr lIns="101600" tIns="38100" rIns="63500" bIns="38100" anchor="b" anchorCtr="0">
            <a:normAutofit/>
          </a:bodyPr>
          <a:lstStyle>
            <a:lvl1pPr algn="ctr">
              <a:defRPr sz="12400" spc="372">
                <a:solidFill>
                  <a:srgbClr val="FFFFFF"/>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7200" spc="300" dirty="0">
                <a:solidFill>
                  <a:schemeClr val="accent1"/>
                </a:solidFill>
                <a:latin typeface="Arial" panose="020B0604020202020204" pitchFamily="34" charset="0"/>
                <a:ea typeface="微软雅黑" panose="020B0503020204020204" pitchFamily="34" charset="-122"/>
              </a:rPr>
              <a:t>博弈论</a:t>
            </a:r>
            <a:endParaRPr lang="zh-CN" altLang="en-US" sz="7200" spc="300" dirty="0">
              <a:solidFill>
                <a:schemeClr val="accent1"/>
              </a:solidFill>
              <a:latin typeface="Arial" panose="020B0604020202020204" pitchFamily="34" charset="0"/>
              <a:ea typeface="微软雅黑" panose="020B0503020204020204" pitchFamily="34" charset="-122"/>
            </a:endParaRPr>
          </a:p>
        </p:txBody>
      </p:sp>
      <p:sp>
        <p:nvSpPr>
          <p:cNvPr id="8" name="object 8"/>
          <p:cNvSpPr txBox="1"/>
          <p:nvPr/>
        </p:nvSpPr>
        <p:spPr>
          <a:xfrm>
            <a:off x="9264015" y="3945890"/>
            <a:ext cx="2673985" cy="2277110"/>
          </a:xfrm>
          <a:prstGeom prst="rect">
            <a:avLst/>
          </a:prstGeom>
        </p:spPr>
        <p:txBody>
          <a:bodyPr vert="horz" wrap="square" lIns="0" tIns="0" rIns="0" bIns="0" rtlCol="0">
            <a:spAutoFit/>
          </a:bodyPr>
          <a:p>
            <a:pPr marL="12700">
              <a:lnSpc>
                <a:spcPct val="100000"/>
              </a:lnSpc>
            </a:pPr>
            <a:r>
              <a:rPr lang="zh-CN" altLang="en-US"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endParaRPr lang="en-US" altLang="zh-CN"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endParaRP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endPar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endParaRP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en-US" altLang="zh-CN" sz="32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王梦晨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杭州电子科技大学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     经济学院</a:t>
            </a:r>
            <a:endPar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p:txBody>
      </p:sp>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dirty="0"/>
          </a:p>
        </p:txBody>
      </p:sp>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AutoShape 4"/>
          <p:cNvSpPr>
            <a:spLocks noGrp="1" noChangeArrowheads="1"/>
          </p:cNvSpPr>
          <p:nvPr>
            <p:ph type="title"/>
          </p:nvPr>
        </p:nvSpPr>
        <p:spPr>
          <a:xfrm>
            <a:off x="2423160" y="620395"/>
            <a:ext cx="7055485" cy="857250"/>
          </a:xfrm>
        </p:spPr>
        <p:txBody>
          <a:bodyPr/>
          <a:lstStyle/>
          <a:p>
            <a:pPr algn="ctr" eaLnBrk="1" hangingPunct="1">
              <a:buClrTx/>
              <a:buSzTx/>
              <a:buFontTx/>
            </a:pPr>
            <a:r>
              <a:rPr lang="zh-CN" altLang="en-US" sz="3600"/>
              <a:t>第五讲：重复博弈</a:t>
            </a:r>
            <a:endParaRPr lang="zh-CN" altLang="en-US" sz="3600"/>
          </a:p>
        </p:txBody>
      </p:sp>
      <p:sp>
        <p:nvSpPr>
          <p:cNvPr id="8195" name="AutoShape 5"/>
          <p:cNvSpPr>
            <a:spLocks noGrp="1" noChangeArrowheads="1"/>
          </p:cNvSpPr>
          <p:nvPr>
            <p:ph type="body" idx="1"/>
          </p:nvPr>
        </p:nvSpPr>
        <p:spPr>
          <a:xfrm>
            <a:off x="4367530" y="1772920"/>
            <a:ext cx="3577590" cy="4389755"/>
          </a:xfrm>
          <a:extLst>
            <a:ext uri="{91240B29-F687-4F45-9708-019B960494DF}">
              <a14:hiddenLine xmlns:a14="http://schemas.microsoft.com/office/drawing/2010/main" w="28575">
                <a:solidFill>
                  <a:schemeClr val="accent1"/>
                </a:solidFill>
                <a:round/>
              </a14:hiddenLine>
            </a:ext>
          </a:extLst>
        </p:spPr>
        <p:txBody>
          <a:bodyPr/>
          <a:lstStyle/>
          <a:p>
            <a:pPr marL="812800" indent="-812800" algn="ctr" eaLnBrk="1" hangingPunct="1">
              <a:lnSpc>
                <a:spcPct val="170000"/>
              </a:lnSpc>
              <a:buFont typeface="Wingdings" panose="05000000000000000000" pitchFamily="2" charset="2"/>
              <a:buNone/>
            </a:pPr>
            <a:r>
              <a:rPr lang="zh-CN" altLang="en-US" sz="2400" dirty="0" smtClean="0">
                <a:solidFill>
                  <a:srgbClr val="0000CC"/>
                </a:solidFill>
              </a:rPr>
              <a:t>主要内容</a:t>
            </a:r>
            <a:endParaRPr lang="zh-CN" altLang="en-US" sz="2400" dirty="0" smtClean="0">
              <a:solidFill>
                <a:srgbClr val="0000CC"/>
              </a:solidFill>
            </a:endParaRPr>
          </a:p>
          <a:p>
            <a:pPr eaLnBrk="1" hangingPunct="1">
              <a:lnSpc>
                <a:spcPct val="170000"/>
              </a:lnSpc>
              <a:buFont typeface="Wingdings" panose="05000000000000000000" charset="0"/>
              <a:buChar char="Ø"/>
            </a:pPr>
            <a:r>
              <a:rPr lang="zh-CN" altLang="en-US" sz="2400" dirty="0" smtClean="0"/>
              <a:t>基本概念</a:t>
            </a:r>
            <a:endParaRPr lang="zh-CN" altLang="en-US" sz="2400" dirty="0" smtClean="0"/>
          </a:p>
          <a:p>
            <a:pPr eaLnBrk="1" hangingPunct="1">
              <a:lnSpc>
                <a:spcPct val="170000"/>
              </a:lnSpc>
              <a:buFont typeface="Wingdings" panose="05000000000000000000" charset="0"/>
              <a:buChar char="Ø"/>
            </a:pPr>
            <a:r>
              <a:rPr lang="zh-CN" altLang="en-US" sz="2400" dirty="0" smtClean="0"/>
              <a:t>有限次重复博弈</a:t>
            </a:r>
            <a:endParaRPr lang="zh-CN" altLang="en-US" sz="2400" dirty="0" smtClean="0"/>
          </a:p>
          <a:p>
            <a:pPr eaLnBrk="1" hangingPunct="1">
              <a:lnSpc>
                <a:spcPct val="170000"/>
              </a:lnSpc>
              <a:buFont typeface="Wingdings" panose="05000000000000000000" charset="0"/>
              <a:buChar char="Ø"/>
            </a:pPr>
            <a:r>
              <a:rPr sz="2400" smtClean="0">
                <a:sym typeface="+mn-ea"/>
              </a:rPr>
              <a:t>无限次重复博弈</a:t>
            </a:r>
            <a:endParaRPr lang="zh-CN" altLang="en-US" sz="2400" dirty="0" smtClean="0"/>
          </a:p>
          <a:p>
            <a:pPr marL="812800" indent="-812800" eaLnBrk="1" hangingPunct="1">
              <a:lnSpc>
                <a:spcPct val="170000"/>
              </a:lnSpc>
              <a:buFont typeface="Wingdings" panose="05000000000000000000" pitchFamily="2" charset="2"/>
              <a:buNone/>
            </a:pPr>
            <a:endParaRPr lang="zh-CN" altLang="en-US" sz="2400" dirty="0" smtClean="0"/>
          </a:p>
        </p:txBody>
      </p:sp>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为什么要研究重复博弈</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Title 6"/>
          <p:cNvSpPr txBox="1"/>
          <p:nvPr>
            <p:custDataLst>
              <p:tags r:id="rId3"/>
            </p:custDataLst>
          </p:nvPr>
        </p:nvSpPr>
        <p:spPr>
          <a:xfrm>
            <a:off x="871855" y="1124585"/>
            <a:ext cx="10015855" cy="354647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生活中的重复搏弈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ctr">
              <a:lnSpc>
                <a:spcPct val="130000"/>
              </a:lnSpc>
              <a:spcBef>
                <a:spcPts val="1000"/>
              </a:spcBef>
              <a:spcAft>
                <a:spcPts val="0"/>
              </a:spcAft>
              <a:buSzPct val="100000"/>
              <a:buNone/>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你到菜场去买菜，当你担心上当受骗而犹豫不决时，卖菜的摊主便会对你说：“你放心好了，我天天在这里卖菜，不会骗你的，如果菜不好你回来找我！”他强调自己</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“天天”</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在这里卖莱，你通常便会放下心来，与之成交。因为他的这句话翻译成经济学的语言就是</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“我跟你是‘重复博弈’”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ctr">
              <a:lnSpc>
                <a:spcPct val="130000"/>
              </a:lnSpc>
              <a:spcBef>
                <a:spcPts val="1000"/>
              </a:spcBef>
              <a:spcAft>
                <a:spcPts val="0"/>
              </a:spcAft>
              <a:buSzPct val="100000"/>
              <a:buNone/>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而一次性的买卖往往发生在双方以后不再有买卖机会的时候，特点是尽量谋取暴利并且带欺骗性，比如车站、码头、旅游景点的东西往往质次价高，其原因就在于买卖双方</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很少有“重复博弈”的机会</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为什么要研究重复博弈</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Title 6"/>
          <p:cNvSpPr txBox="1"/>
          <p:nvPr>
            <p:custDataLst>
              <p:tags r:id="rId3"/>
            </p:custDataLst>
          </p:nvPr>
        </p:nvSpPr>
        <p:spPr>
          <a:xfrm>
            <a:off x="911860" y="692785"/>
            <a:ext cx="10015855" cy="354647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生活中的重复搏弈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ctr">
              <a:lnSpc>
                <a:spcPct val="130000"/>
              </a:lnSpc>
              <a:spcBef>
                <a:spcPts val="1000"/>
              </a:spcBef>
              <a:spcAft>
                <a:spcPts val="0"/>
              </a:spcAft>
              <a:buSzPct val="100000"/>
              <a:buNone/>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在公共汽车上，两个陌生人会为一个座位争吵，因为彼此知道，这是</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一次性博弈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吵过了谁也不会再见到谁，因此谁也不肯在嘴上吃亏；可如果他们相互认识，就会相互谦让，因为他们知道，二者以后还会有碰面甚至交往的可能。两个朋友因为什么事情发生了争吵，如果不想彻底决裂，通常都会在争吵中留有余地，因为二人日后还要</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“重复博弈”。</a:t>
            </a:r>
            <a:endPar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为什么要研究重复博弈</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Title 6"/>
          <p:cNvSpPr txBox="1"/>
          <p:nvPr>
            <p:custDataLst>
              <p:tags r:id="rId3"/>
            </p:custDataLst>
          </p:nvPr>
        </p:nvSpPr>
        <p:spPr>
          <a:xfrm>
            <a:off x="911860" y="1340485"/>
            <a:ext cx="10015855" cy="354647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重复博弈产生</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道德感</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algn="l" fontAlgn="ctr">
              <a:lnSpc>
                <a:spcPct val="130000"/>
              </a:lnSpc>
              <a:spcBef>
                <a:spcPts val="1000"/>
              </a:spcBef>
              <a:spcAft>
                <a:spcPts val="0"/>
              </a:spcAft>
              <a:buSzPct val="100000"/>
              <a:buFont typeface="Wingdings" panose="05000000000000000000" charset="0"/>
              <a:buNone/>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一群猴子被关在笼子里，从笼子上方垂下一条绳子，绳子的末端拴着一个香蕉，上端连着一个机关，机关可以开启水源。猴子们发现了香蕉，纷纷跳上去够这个香蕉，当猴子够着香蕉时，相连的绳子带动了机关，于是一盆水倒了下来，尽管够到香蕉的猴子吃到了香蕉，但是大多数的猴子都被淋湿了。</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algn="l" fontAlgn="ctr">
              <a:lnSpc>
                <a:spcPct val="130000"/>
              </a:lnSpc>
              <a:spcBef>
                <a:spcPts val="1000"/>
              </a:spcBef>
              <a:spcAft>
                <a:spcPts val="0"/>
              </a:spcAft>
              <a:buSzPct val="100000"/>
              <a:buFont typeface="Wingdings" panose="05000000000000000000" charset="0"/>
              <a:buNone/>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这个过程重复着，猴子们发现，吃到香蕉的猴子是少数，其余的猴子都被淋湿了。于是，每当有猴子去够香蕉时，其他的猴子主动地去撕咬那个猴子，久而久之，猴子们产生了默契，再也没有猴子敢去取香蕉了。</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ctr">
              <a:lnSpc>
                <a:spcPct val="130000"/>
              </a:lnSpc>
              <a:spcBef>
                <a:spcPts val="1000"/>
              </a:spcBef>
              <a:spcAft>
                <a:spcPts val="0"/>
              </a:spcAft>
              <a:buSzPct val="100000"/>
              <a:buNone/>
            </a:pPr>
            <a:endPar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为什么要研究重复博弈</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Title 6"/>
          <p:cNvSpPr txBox="1"/>
          <p:nvPr>
            <p:custDataLst>
              <p:tags r:id="rId3"/>
            </p:custDataLst>
          </p:nvPr>
        </p:nvSpPr>
        <p:spPr>
          <a:xfrm>
            <a:off x="762000" y="692785"/>
            <a:ext cx="10015855" cy="340487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长期反复合作与竞争关系的存在</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ctr">
              <a:lnSpc>
                <a:spcPct val="130000"/>
              </a:lnSpc>
              <a:spcBef>
                <a:spcPts val="1000"/>
              </a:spcBef>
              <a:spcAft>
                <a:spcPts val="0"/>
              </a:spcAft>
              <a:buSzPct val="100000"/>
              <a:buNone/>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例：两企业的长期竞争，长期协议，回头客</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长期关系比短期关系更加复杂，考虑当前也要兼顾未来</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一般动态博弈环环相扣；长期关系中，经济活动各个阶段之间的相互独立性</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algn="l" fontAlgn="ctr">
              <a:lnSpc>
                <a:spcPct val="130000"/>
              </a:lnSpc>
              <a:spcBef>
                <a:spcPts val="1000"/>
              </a:spcBef>
              <a:spcAft>
                <a:spcPts val="0"/>
              </a:spcAft>
              <a:buSzPct val="100000"/>
              <a:buFont typeface="Wingdings" panose="05000000000000000000" charset="0"/>
              <a:buNone/>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例：回头客</a:t>
            </a:r>
            <a:r>
              <a:rPr lang="en-US" altLang="zh-CN"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信誉、信任</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Title 6"/>
          <p:cNvSpPr txBox="1"/>
          <p:nvPr>
            <p:custDataLst>
              <p:tags r:id="rId3"/>
            </p:custDataLst>
          </p:nvPr>
        </p:nvSpPr>
        <p:spPr>
          <a:xfrm>
            <a:off x="767080" y="1484630"/>
            <a:ext cx="10447655" cy="495236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重复博弈：</a:t>
            </a:r>
            <a:r>
              <a:rPr lang="zh-CN" altLang="en-US" sz="2000">
                <a:sym typeface="+mn-ea"/>
              </a:rPr>
              <a:t>重复博弈是一种特殊的动态博弈，它是指同样结构的博弈重复多次。</a:t>
            </a:r>
            <a:endParaRPr lang="zh-CN" altLang="en-US" sz="2000">
              <a:sym typeface="+mn-ea"/>
            </a:endParaRPr>
          </a:p>
          <a:p>
            <a:pPr marL="457200" lvl="1" indent="0" algn="just" fontAlgn="ctr">
              <a:lnSpc>
                <a:spcPct val="130000"/>
              </a:lnSpc>
              <a:spcBef>
                <a:spcPts val="1000"/>
              </a:spcBef>
              <a:spcAft>
                <a:spcPts val="0"/>
              </a:spcAft>
              <a:buSzPct val="100000"/>
              <a:buFont typeface="Wingdings" panose="05000000000000000000" charset="0"/>
              <a:buNone/>
            </a:pPr>
            <a:r>
              <a:rPr lang="zh-CN" altLang="en-US" sz="2000">
                <a:ln>
                  <a:noFill/>
                </a:ln>
                <a:solidFill>
                  <a:srgbClr val="0070C0"/>
                </a:solidFill>
                <a:effectLst/>
                <a:uLnTx/>
                <a:uFillTx/>
                <a:latin typeface="宋体" panose="02010600030101010101" pitchFamily="2" charset="-122"/>
                <a:sym typeface="+mn-ea"/>
              </a:rPr>
              <a:t>“</a:t>
            </a:r>
            <a:r>
              <a:rPr lang="zh-CN" altLang="en-US" sz="2000">
                <a:ln>
                  <a:noFill/>
                </a:ln>
                <a:solidFill>
                  <a:srgbClr val="0070C0"/>
                </a:solidFill>
                <a:effectLst/>
                <a:uLnTx/>
                <a:uFillTx/>
                <a:latin typeface="黑体" panose="02010609060101010101" pitchFamily="49" charset="-122"/>
                <a:sym typeface="+mn-ea"/>
              </a:rPr>
              <a:t>同样结构</a:t>
            </a:r>
            <a:r>
              <a:rPr lang="zh-CN" altLang="en-US" sz="2000">
                <a:ln>
                  <a:noFill/>
                </a:ln>
                <a:solidFill>
                  <a:srgbClr val="0070C0"/>
                </a:solidFill>
                <a:effectLst/>
                <a:uLnTx/>
                <a:uFillTx/>
                <a:latin typeface="宋体" panose="02010600030101010101" pitchFamily="2" charset="-122"/>
                <a:sym typeface="+mn-ea"/>
              </a:rPr>
              <a:t>”</a:t>
            </a:r>
            <a:r>
              <a:rPr lang="zh-CN" altLang="en-US" sz="2000">
                <a:ln>
                  <a:noFill/>
                </a:ln>
                <a:solidFill>
                  <a:srgbClr val="0070C0"/>
                </a:solidFill>
                <a:effectLst/>
                <a:uLnTx/>
                <a:uFillTx/>
                <a:latin typeface="黑体" panose="02010609060101010101" pitchFamily="49" charset="-122"/>
                <a:sym typeface="+mn-ea"/>
              </a:rPr>
              <a:t>的博弈是指相同的博弈方集合、相同的策略空间、相同的效用函数。</a:t>
            </a:r>
            <a:endParaRPr lang="zh-CN" altLang="en-US" sz="2000">
              <a:solidFill>
                <a:srgbClr val="0070C0"/>
              </a:solidFill>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给定一个基本博弈G（可以是静态博弈，也可以是动态博弈），重复进行T次G，并且在每次重复G时各博弈方都能观察到以前博弈的结果，这样的博弈过程称为“G的T次重复博弈”，记为G(T)。而G则称为G(T)的“原博弈”。G(T)中的每次重复称为G(T)的一个“阶段”。</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algn="just" fontAlgn="ctr">
              <a:lnSpc>
                <a:spcPct val="130000"/>
              </a:lnSpc>
              <a:spcBef>
                <a:spcPts val="1000"/>
              </a:spcBef>
              <a:spcAft>
                <a:spcPts val="0"/>
              </a:spcAft>
              <a:buSzPct val="100000"/>
              <a:buFont typeface="Wingdings" panose="05000000000000000000" charset="0"/>
              <a:buNone/>
            </a:pPr>
            <a:r>
              <a:rPr lang="zh-CN" altLang="en-US" sz="2000"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重复博弈与一般动态博弈的区别：每个阶段都有得益，每个阶段的博弈方和博弈内容都相同。</a:t>
            </a:r>
            <a:endParaRPr lang="zh-CN" altLang="en-US" sz="2000"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1" indent="0" algn="just" fontAlgn="ctr">
              <a:lnSpc>
                <a:spcPct val="130000"/>
              </a:lnSpc>
              <a:spcBef>
                <a:spcPts val="1000"/>
              </a:spcBef>
              <a:spcAft>
                <a:spcPts val="0"/>
              </a:spcAft>
              <a:buSzPct val="100000"/>
              <a:buFont typeface="Wingdings" panose="05000000000000000000" charset="0"/>
              <a:buNone/>
            </a:pPr>
            <a:r>
              <a:rPr lang="zh-CN" altLang="en-US" sz="2000">
                <a:ln>
                  <a:noFill/>
                </a:ln>
                <a:solidFill>
                  <a:srgbClr val="0070C0"/>
                </a:solidFill>
                <a:effectLst/>
                <a:uLnTx/>
                <a:uFillTx/>
                <a:latin typeface="黑体" panose="02010609060101010101" pitchFamily="49" charset="-122"/>
                <a:sym typeface="+mn-ea"/>
              </a:rPr>
              <a:t>若在每一阶段博弈的末期，博弈方的行为可被观察到，那么博弈方就有可能在对手过去行为的基础上，在下一阶段博弈采取相应的策略，由此可能导致的均衡结局与一次性博弈的均衡不同。</a:t>
            </a:r>
            <a:endParaRPr kumimoji="0" lang="zh-CN" altLang="en-US" sz="2000" i="0" u="none" strike="noStrike" kern="1200" cap="none" spc="0" normalizeH="0" baseline="0" noProof="1">
              <a:ln>
                <a:noFill/>
              </a:ln>
              <a:solidFill>
                <a:srgbClr val="0070C0"/>
              </a:solidFill>
              <a:effectLst/>
              <a:uLnTx/>
              <a:uFillTx/>
              <a:latin typeface="黑体" panose="02010609060101010101" pitchFamily="49" charset="-122"/>
              <a:ea typeface="+mn-ea"/>
              <a:cs typeface="+mn-cs"/>
            </a:endParaRPr>
          </a:p>
          <a:p>
            <a:pPr marL="457200" lvl="1" indent="0" algn="just" fontAlgn="ctr">
              <a:lnSpc>
                <a:spcPct val="130000"/>
              </a:lnSpc>
              <a:spcBef>
                <a:spcPts val="1000"/>
              </a:spcBef>
              <a:spcAft>
                <a:spcPts val="0"/>
              </a:spcAft>
              <a:buSzPct val="100000"/>
              <a:buFont typeface="Wingdings" panose="05000000000000000000" charset="0"/>
              <a:buNone/>
            </a:pPr>
            <a:endParaRPr lang="zh-CN" altLang="en-US" sz="2000"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4" name="Title 6"/>
          <p:cNvSpPr txBox="1"/>
          <p:nvPr>
            <p:custDataLst>
              <p:tags r:id="rId3"/>
            </p:custDataLst>
          </p:nvPr>
        </p:nvSpPr>
        <p:spPr>
          <a:xfrm>
            <a:off x="983615" y="764540"/>
            <a:ext cx="10225405" cy="354647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有限次重复博弈：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由基本博弈的有限次重复构成，也就是预先知道重复次数，有明确结束时间的重复博弈。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无限次重复博弈：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一个基本博弈G一直重复博弈下去的博弈，记为G(∞)。</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just" fontAlgn="ctr">
              <a:lnSpc>
                <a:spcPct val="130000"/>
              </a:lnSpc>
              <a:spcBef>
                <a:spcPts val="1000"/>
              </a:spcBef>
              <a:spcAft>
                <a:spcPts val="0"/>
              </a:spcAft>
              <a:buClrTx/>
              <a:buSzTx/>
              <a:buFont typeface="Wingdings" panose="05000000000000000000" charset="0"/>
              <a:buNone/>
            </a:pPr>
            <a:r>
              <a:rPr lang="zh-CN" altLang="en-US" sz="2000"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如果某个重复博弈没有可以预见的结束时间，各博弈方主观上认为博弈会不断进行下去，就可以看作是无限重复博弈。</a:t>
            </a:r>
            <a:endParaRPr lang="zh-CN" altLang="en-US" sz="2000"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随机结束的重复博弈：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虽然重复次数是有限的，但重复次数或结束时间不确定。</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12297" name="AutoShape 9"/>
          <p:cNvSpPr/>
          <p:nvPr/>
        </p:nvSpPr>
        <p:spPr>
          <a:xfrm>
            <a:off x="479425" y="1412240"/>
            <a:ext cx="304800" cy="2294890"/>
          </a:xfrm>
          <a:prstGeom prst="leftBrace">
            <a:avLst>
              <a:gd name="adj1" fmla="val 95833"/>
              <a:gd name="adj2" fmla="val 49625"/>
            </a:avLst>
          </a:prstGeom>
          <a:noFill/>
          <a:ln w="57150"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en-US" sz="2400" dirty="0"/>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12297"/>
                                        </p:tgtEl>
                                        <p:attrNameLst>
                                          <p:attrName>style.visibility</p:attrName>
                                        </p:attrNameLst>
                                      </p:cBhvr>
                                      <p:to>
                                        <p:strVal val="visible"/>
                                      </p:to>
                                    </p:set>
                                    <p:anim calcmode="lin" valueType="num">
                                      <p:cBhvr>
                                        <p:cTn id="7" dur="500" fill="hold"/>
                                        <p:tgtEl>
                                          <p:spTgt spid="12297"/>
                                        </p:tgtEl>
                                        <p:attrNameLst>
                                          <p:attrName>ppt_w</p:attrName>
                                        </p:attrNameLst>
                                      </p:cBhvr>
                                      <p:tavLst>
                                        <p:tav tm="0">
                                          <p:val>
                                            <p:strVal val="4/3*#ppt_w"/>
                                          </p:val>
                                        </p:tav>
                                        <p:tav tm="100000">
                                          <p:val>
                                            <p:strVal val="#ppt_w"/>
                                          </p:val>
                                        </p:tav>
                                      </p:tavLst>
                                    </p:anim>
                                    <p:anim calcmode="lin" valueType="num">
                                      <p:cBhvr>
                                        <p:cTn id="8" dur="500" fill="hold"/>
                                        <p:tgtEl>
                                          <p:spTgt spid="12297"/>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7"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userDrawn="1">
            <p:custDataLst>
              <p:tags r:id="rId3"/>
            </p:custDataLst>
          </p:nvPr>
        </p:nvSpPr>
        <p:spPr>
          <a:xfrm>
            <a:off x="460375" y="1232535"/>
            <a:ext cx="11277600" cy="5136515"/>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r>
              <a:rPr lang="en-US" altLang="zh-CN">
                <a:solidFill>
                  <a:schemeClr val="lt1"/>
                </a:solidFill>
                <a:latin typeface="微软雅黑" panose="020B0503020204020204" pitchFamily="34" charset="-122"/>
                <a:ea typeface="微软雅黑" panose="020B0503020204020204" pitchFamily="34" charset="-122"/>
                <a:sym typeface="+mn-ea"/>
              </a:rPr>
              <a:t>=</a:t>
            </a: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4"/>
            </p:custDataLst>
          </p:nvPr>
        </p:nvSpPr>
        <p:spPr>
          <a:xfrm>
            <a:off x="850265" y="2036445"/>
            <a:ext cx="10447655" cy="354647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博弈方在每个阶段（即每次重复）针对每种情况（以前阶段的结果）如何行为的计划。</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子博弈：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从某个阶段（不包括第一阶段）开始，包括此后所有的重复博弈部分。仍然可以用逆推归纳法来分析。</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均衡路径：</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由每个阶段博弈方的行为组合串联而成。如果</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原博弈有</a:t>
            </a:r>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策略组合，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重复博弈的路径数目：</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altLang="zh-CN" sz="2000" spc="100" baseline="30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1201400" cy="762000"/>
            <a:chOff x="840" y="240"/>
            <a:chExt cx="17640" cy="1200"/>
          </a:xfrm>
        </p:grpSpPr>
        <p:sp>
          <p:nvSpPr>
            <p:cNvPr id="3" name="文本框 6"/>
            <p:cNvSpPr txBox="1"/>
            <p:nvPr>
              <p:custDataLst>
                <p:tags r:id="rId2"/>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endParaRPr lang="zh-CN" altLang="en-US" sz="3200" dirty="0">
                <a:solidFill>
                  <a:schemeClr val="accent1"/>
                </a:solidFill>
                <a:sym typeface="+mn-ea"/>
              </a:endParaRPr>
            </a:p>
          </p:txBody>
        </p:sp>
        <p:cxnSp>
          <p:nvCxnSpPr>
            <p:cNvPr id="12" name="直接连接符 11"/>
            <p:cNvCxnSpPr/>
            <p:nvPr>
              <p:custDataLst>
                <p:tags r:id="rId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839470" y="1052830"/>
            <a:ext cx="9479280" cy="4707369"/>
            <a:chOff x="1321" y="2338"/>
            <a:chExt cx="14928" cy="6288"/>
          </a:xfrm>
        </p:grpSpPr>
        <p:sp>
          <p:nvSpPr>
            <p:cNvPr id="256" name="文本框 6"/>
            <p:cNvSpPr txBox="1"/>
            <p:nvPr>
              <p:custDataLst>
                <p:tags r:id="rId4"/>
              </p:custDataLst>
            </p:nvPr>
          </p:nvSpPr>
          <p:spPr>
            <a:xfrm>
              <a:off x="1321" y="2338"/>
              <a:ext cx="14928" cy="5707"/>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10000"/>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00000"/>
                </a:lnSpc>
                <a:spcBef>
                  <a:spcPts val="0"/>
                </a:spcBef>
                <a:spcAft>
                  <a:spcPts val="0"/>
                </a:spcAft>
                <a:buSzPct val="100000"/>
                <a:buFont typeface="Wingdings" panose="05000000000000000000" charset="0"/>
                <a:buChar char="l"/>
              </a:pPr>
              <a:endParaRPr lang="zh-CN" altLang="en-US" sz="2000" spc="100" dirty="0" smtClean="0">
                <a:ln w="3175">
                  <a:noFill/>
                  <a:prstDash val="dash"/>
                </a:ln>
                <a:solidFill>
                  <a:schemeClr val="dk1">
                    <a:lumMod val="75000"/>
                    <a:lumOff val="25000"/>
                  </a:schemeClr>
                </a:solidFill>
                <a:effectLst/>
                <a:sym typeface="+mn-ea"/>
              </a:endParaRPr>
            </a:p>
            <a:p>
              <a:pPr marL="342900" indent="-342900" algn="l">
                <a:lnSpc>
                  <a:spcPct val="100000"/>
                </a:lnSpc>
                <a:spcBef>
                  <a:spcPts val="0"/>
                </a:spcBef>
                <a:spcAft>
                  <a:spcPts val="0"/>
                </a:spcAft>
                <a:buSzPct val="100000"/>
                <a:buFont typeface="Wingdings" panose="05000000000000000000" charset="0"/>
                <a:buChar char="l"/>
              </a:pPr>
              <a:endParaRPr lang="zh-CN" altLang="en-US" sz="2000" spc="100" dirty="0" smtClean="0">
                <a:ln w="3175">
                  <a:noFill/>
                  <a:prstDash val="dash"/>
                </a:ln>
                <a:solidFill>
                  <a:schemeClr val="dk1">
                    <a:lumMod val="75000"/>
                    <a:lumOff val="25000"/>
                  </a:schemeClr>
                </a:solidFill>
                <a:effectLst/>
                <a:sym typeface="+mn-ea"/>
              </a:endParaRPr>
            </a:p>
            <a:p>
              <a:pPr marL="342900" indent="-342900" algn="l">
                <a:lnSpc>
                  <a:spcPct val="100000"/>
                </a:lnSpc>
                <a:spcBef>
                  <a:spcPts val="0"/>
                </a:spcBef>
                <a:spcAft>
                  <a:spcPts val="0"/>
                </a:spcAft>
                <a:buSzPct val="100000"/>
                <a:buFont typeface="Wingdings" panose="05000000000000000000" charset="0"/>
                <a:buChar char="l"/>
              </a:pPr>
              <a:r>
                <a:rPr lang="zh-CN" altLang="en-US" sz="2000" spc="100" dirty="0" smtClean="0">
                  <a:ln w="3175">
                    <a:noFill/>
                    <a:prstDash val="dash"/>
                  </a:ln>
                  <a:solidFill>
                    <a:schemeClr val="tx1"/>
                  </a:solidFill>
                  <a:effectLst/>
                  <a:sym typeface="+mn-ea"/>
                </a:rPr>
                <a:t>重复博弈的得益</a:t>
              </a:r>
              <a:endParaRPr lang="zh-CN" altLang="en-US" sz="2000" spc="100" dirty="0" smtClean="0">
                <a:ln w="3175">
                  <a:noFill/>
                  <a:prstDash val="dash"/>
                </a:ln>
                <a:solidFill>
                  <a:schemeClr val="tx1"/>
                </a:solidFill>
                <a:effectLst/>
                <a:sym typeface="+mn-ea"/>
              </a:endParaRPr>
            </a:p>
            <a:p>
              <a:pPr marL="46990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r>
                <a:rPr lang="zh-CN" altLang="en-US" sz="2000" b="0">
                  <a:ln>
                    <a:noFill/>
                  </a:ln>
                  <a:solidFill>
                    <a:schemeClr val="tx1"/>
                  </a:solidFill>
                  <a:effectLst/>
                  <a:uLnTx/>
                  <a:uFillTx/>
                  <a:sym typeface="+mn-ea"/>
                </a:rPr>
                <a:t>方法</a:t>
              </a:r>
              <a:r>
                <a:rPr lang="en-US" altLang="x-none" sz="2000" b="0">
                  <a:ln>
                    <a:noFill/>
                  </a:ln>
                  <a:solidFill>
                    <a:schemeClr val="tx1"/>
                  </a:solidFill>
                  <a:effectLst/>
                  <a:uLnTx/>
                  <a:uFillTx/>
                  <a:sym typeface="+mn-ea"/>
                </a:rPr>
                <a:t>1</a:t>
              </a:r>
              <a:r>
                <a:rPr lang="zh-CN" altLang="en-US" sz="2000" b="0">
                  <a:ln>
                    <a:noFill/>
                  </a:ln>
                  <a:solidFill>
                    <a:schemeClr val="tx1"/>
                  </a:solidFill>
                  <a:effectLst/>
                  <a:uLnTx/>
                  <a:uFillTx/>
                  <a:sym typeface="+mn-ea"/>
                </a:rPr>
                <a:t>：计算重复博弈的</a:t>
              </a:r>
              <a:r>
                <a:rPr lang="zh-CN" altLang="en-US" sz="2000" b="0">
                  <a:ln>
                    <a:noFill/>
                  </a:ln>
                  <a:solidFill>
                    <a:schemeClr val="tx1"/>
                  </a:solidFill>
                  <a:effectLst/>
                  <a:uLnTx/>
                  <a:uFillTx/>
                  <a:sym typeface="+mn-ea"/>
                </a:rPr>
                <a:t>“总得益</a:t>
              </a:r>
              <a:r>
                <a:rPr lang="zh-CN" altLang="en-US" sz="2000" b="0">
                  <a:ln>
                    <a:noFill/>
                  </a:ln>
                  <a:solidFill>
                    <a:schemeClr val="tx1"/>
                  </a:solidFill>
                  <a:effectLst/>
                  <a:uLnTx/>
                  <a:uFillTx/>
                  <a:sym typeface="+mn-ea"/>
                </a:rPr>
                <a:t>”，即博弈方各次重复博弈的得益的总和；</a:t>
              </a:r>
              <a:endParaRPr kumimoji="0" lang="zh-CN" altLang="en-US" sz="2000" b="0" i="0" u="none" strike="noStrike" kern="1200" cap="none" spc="0" normalizeH="0" baseline="0" noProof="1">
                <a:ln>
                  <a:noFill/>
                </a:ln>
                <a:solidFill>
                  <a:schemeClr val="tx1"/>
                </a:solidFill>
                <a:effectLst/>
                <a:uLnTx/>
                <a:uFillTx/>
              </a:endParaRPr>
            </a:p>
            <a:p>
              <a:pPr marL="469900" marR="0" lvl="0" indent="-469900" algn="l" defTabSz="914400" rtl="0" eaLnBrk="0" fontAlgn="base" latinLnBrk="0" hangingPunct="0">
                <a:lnSpc>
                  <a:spcPct val="140000"/>
                </a:lnSpc>
                <a:spcBef>
                  <a:spcPts val="0"/>
                </a:spcBef>
                <a:spcAft>
                  <a:spcPct val="0"/>
                </a:spcAft>
                <a:buClr>
                  <a:schemeClr val="accent2"/>
                </a:buClr>
                <a:buSzTx/>
                <a:buFont typeface="Wingdings" panose="05000000000000000000" charset="0"/>
                <a:buChar char="u"/>
                <a:defRPr/>
              </a:pPr>
              <a:r>
                <a:rPr lang="zh-CN" altLang="en-US" sz="2000" b="0">
                  <a:ln>
                    <a:noFill/>
                  </a:ln>
                  <a:solidFill>
                    <a:schemeClr val="tx1"/>
                  </a:solidFill>
                  <a:effectLst/>
                  <a:uLnTx/>
                  <a:uFillTx/>
                  <a:sym typeface="+mn-ea"/>
                </a:rPr>
                <a:t>方法</a:t>
              </a:r>
              <a:r>
                <a:rPr lang="en-US" altLang="x-none" sz="2000" b="0">
                  <a:ln>
                    <a:noFill/>
                  </a:ln>
                  <a:solidFill>
                    <a:schemeClr val="tx1"/>
                  </a:solidFill>
                  <a:effectLst/>
                  <a:uLnTx/>
                  <a:uFillTx/>
                  <a:sym typeface="+mn-ea"/>
                </a:rPr>
                <a:t>2</a:t>
              </a:r>
              <a:r>
                <a:rPr lang="zh-CN" altLang="en-US" sz="2000" b="0">
                  <a:ln>
                    <a:noFill/>
                  </a:ln>
                  <a:solidFill>
                    <a:schemeClr val="tx1"/>
                  </a:solidFill>
                  <a:effectLst/>
                  <a:uLnTx/>
                  <a:uFillTx/>
                  <a:sym typeface="+mn-ea"/>
                </a:rPr>
                <a:t>：计算重复博弈各阶段的</a:t>
              </a:r>
              <a:r>
                <a:rPr lang="zh-CN" altLang="en-US" sz="2000" b="0">
                  <a:ln>
                    <a:noFill/>
                  </a:ln>
                  <a:solidFill>
                    <a:schemeClr val="tx1"/>
                  </a:solidFill>
                  <a:effectLst/>
                  <a:uLnTx/>
                  <a:uFillTx/>
                  <a:sym typeface="+mn-ea"/>
                </a:rPr>
                <a:t>“平均得益</a:t>
              </a:r>
              <a:r>
                <a:rPr lang="zh-CN" altLang="en-US" sz="2000" b="0">
                  <a:ln>
                    <a:noFill/>
                  </a:ln>
                  <a:solidFill>
                    <a:schemeClr val="tx1"/>
                  </a:solidFill>
                  <a:effectLst/>
                  <a:uLnTx/>
                  <a:uFillTx/>
                  <a:sym typeface="+mn-ea"/>
                </a:rPr>
                <a:t>”。</a:t>
              </a:r>
              <a:endParaRPr lang="zh-CN" altLang="en-US" sz="2000" b="0">
                <a:ln>
                  <a:noFill/>
                </a:ln>
                <a:solidFill>
                  <a:schemeClr val="tx1"/>
                </a:solidFill>
                <a:effectLst/>
                <a:uLnTx/>
                <a:uFillTx/>
                <a:sym typeface="+mn-ea"/>
              </a:endParaRPr>
            </a:p>
            <a:p>
              <a:pPr marL="342900" marR="0" lvl="0" indent="-342900" algn="l" defTabSz="457200" rtl="0" latinLnBrk="0">
                <a:lnSpc>
                  <a:spcPct val="140000"/>
                </a:lnSpc>
                <a:spcBef>
                  <a:spcPts val="0"/>
                </a:spcBef>
                <a:spcAft>
                  <a:spcPts val="0"/>
                </a:spcAft>
                <a:buClrTx/>
                <a:buSzTx/>
                <a:buFont typeface="Wingdings" panose="05000000000000000000" charset="0"/>
                <a:buChar char="l"/>
              </a:pPr>
              <a:r>
                <a:rPr lang="zh-CN" altLang="en-US" sz="2000" spc="100" dirty="0" smtClean="0">
                  <a:ln w="3175">
                    <a:noFill/>
                    <a:prstDash val="dash"/>
                  </a:ln>
                  <a:solidFill>
                    <a:schemeClr val="tx1"/>
                  </a:solidFill>
                  <a:effectLst/>
                  <a:sym typeface="+mn-ea"/>
                </a:rPr>
                <a:t>贴现系数</a:t>
              </a:r>
              <a:r>
                <a:rPr lang="zh-CN" altLang="en-US" sz="2000" spc="100" dirty="0" smtClean="0">
                  <a:ln w="3175">
                    <a:noFill/>
                    <a:prstDash val="dash"/>
                  </a:ln>
                  <a:solidFill>
                    <a:srgbClr val="FF0000"/>
                  </a:solidFill>
                  <a:effectLst/>
                  <a:sym typeface="+mn-ea"/>
                </a:rPr>
                <a:t>δ=1/（1+γ）</a:t>
              </a:r>
              <a:r>
                <a:rPr lang="zh-CN" altLang="en-US" sz="2000" spc="100" dirty="0" smtClean="0">
                  <a:ln w="3175">
                    <a:noFill/>
                    <a:prstDash val="dash"/>
                  </a:ln>
                  <a:solidFill>
                    <a:schemeClr val="tx1"/>
                  </a:solidFill>
                  <a:effectLst/>
                  <a:sym typeface="+mn-ea"/>
                </a:rPr>
                <a:t>，γ为以一阶段为期限的市场利率。</a:t>
              </a:r>
              <a:endParaRPr lang="zh-CN" altLang="en-US" sz="2000" spc="100" dirty="0" smtClean="0">
                <a:ln w="3175">
                  <a:noFill/>
                  <a:prstDash val="dash"/>
                </a:ln>
                <a:solidFill>
                  <a:schemeClr val="tx1"/>
                </a:solidFill>
                <a:effectLst/>
                <a:sym typeface="+mn-ea"/>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r>
                <a:rPr kumimoji="0" lang="zh-CN" altLang="en-US" sz="2000" i="0" u="none" strike="noStrike" kern="1200" cap="none" normalizeH="0" baseline="0" noProof="1">
                  <a:ln>
                    <a:noFill/>
                  </a:ln>
                  <a:solidFill>
                    <a:schemeClr val="tx1"/>
                  </a:solidFill>
                  <a:effectLst/>
                  <a:uLnTx/>
                  <a:uFillTx/>
                </a:rPr>
                <a:t>考虑时间价值的重复博弈</a:t>
              </a:r>
              <a:r>
                <a:rPr kumimoji="0" lang="zh-CN" altLang="en-US" sz="2000" i="0" u="none" strike="noStrike" kern="1200" cap="none" normalizeH="0" baseline="0" noProof="1">
                  <a:ln>
                    <a:noFill/>
                  </a:ln>
                  <a:solidFill>
                    <a:srgbClr val="FF0000"/>
                  </a:solidFill>
                  <a:effectLst/>
                  <a:uLnTx/>
                  <a:uFillTx/>
                </a:rPr>
                <a:t>总得益</a:t>
              </a:r>
              <a:r>
                <a:rPr kumimoji="0" lang="zh-CN" altLang="en-US" sz="2000" i="0" u="none" strike="noStrike" kern="1200" cap="none" normalizeH="0" baseline="0" noProof="1">
                  <a:ln>
                    <a:noFill/>
                  </a:ln>
                  <a:solidFill>
                    <a:schemeClr val="tx1"/>
                  </a:solidFill>
                  <a:effectLst/>
                  <a:uLnTx/>
                  <a:uFillTx/>
                </a:rPr>
                <a:t>现值为：</a:t>
              </a:r>
              <a:endParaRPr kumimoji="0" lang="zh-CN" altLang="en-US" sz="2000" i="0" u="none" strike="noStrike" kern="1200" cap="none" normalizeH="0" baseline="0" noProof="1">
                <a:ln>
                  <a:noFill/>
                </a:ln>
                <a:solidFill>
                  <a:schemeClr val="tx1"/>
                </a:solidFill>
                <a:effectLst/>
                <a:uLnTx/>
                <a:uFillTx/>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endParaRPr kumimoji="0" lang="zh-CN" altLang="en-US" sz="2000" b="0" i="0" u="none" strike="noStrike" kern="1200" cap="none" normalizeH="0" baseline="0" noProof="1">
                <a:ln>
                  <a:noFill/>
                </a:ln>
                <a:solidFill>
                  <a:schemeClr val="tx1"/>
                </a:solidFill>
                <a:effectLst/>
                <a:uLnTx/>
                <a:uFillTx/>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endParaRPr kumimoji="0" lang="zh-CN" altLang="en-US" sz="2000" b="0" i="0" u="none" strike="noStrike" kern="1200" cap="none" normalizeH="0" baseline="0" noProof="1">
                <a:ln>
                  <a:noFill/>
                </a:ln>
                <a:solidFill>
                  <a:schemeClr val="tx1"/>
                </a:solidFill>
                <a:effectLst/>
                <a:uLnTx/>
                <a:uFillTx/>
              </a:endParaRPr>
            </a:p>
            <a:p>
              <a:pPr marR="0" lvl="0" indent="0" algn="l" defTabSz="914400" rtl="0" eaLnBrk="0" fontAlgn="base" latinLnBrk="0" hangingPunct="0">
                <a:lnSpc>
                  <a:spcPct val="150000"/>
                </a:lnSpc>
                <a:spcBef>
                  <a:spcPts val="0"/>
                </a:spcBef>
                <a:buClr>
                  <a:schemeClr val="accent2"/>
                </a:buClr>
                <a:buSzTx/>
                <a:buFont typeface="Wingdings" panose="05000000000000000000" charset="0"/>
                <a:buNone/>
                <a:defRPr/>
              </a:pPr>
              <a:endParaRPr kumimoji="0" lang="zh-CN" altLang="en-US" sz="2000" b="0" i="0" u="none" strike="noStrike" kern="1200" cap="none" normalizeH="0" baseline="0" noProof="1">
                <a:ln>
                  <a:noFill/>
                </a:ln>
                <a:solidFill>
                  <a:schemeClr val="tx1"/>
                </a:solidFill>
                <a:effectLst/>
                <a:uLnTx/>
                <a:uFillTx/>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r>
                <a:rPr kumimoji="0" lang="zh-CN" altLang="en-US" sz="2000" i="0" u="none" strike="noStrike" kern="1200" cap="none" normalizeH="0" baseline="0" noProof="1">
                  <a:ln>
                    <a:noFill/>
                  </a:ln>
                  <a:solidFill>
                    <a:schemeClr val="tx1"/>
                  </a:solidFill>
                  <a:effectLst/>
                  <a:uLnTx/>
                  <a:uFillTx/>
                </a:rPr>
                <a:t>若无限次重复博弈，则该博弈方</a:t>
              </a:r>
              <a:r>
                <a:rPr kumimoji="0" lang="zh-CN" altLang="en-US" sz="2000" i="0" u="none" strike="noStrike" kern="1200" cap="none" normalizeH="0" baseline="0" noProof="1">
                  <a:ln>
                    <a:noFill/>
                  </a:ln>
                  <a:solidFill>
                    <a:srgbClr val="FF0000"/>
                  </a:solidFill>
                  <a:effectLst/>
                  <a:uLnTx/>
                  <a:uFillTx/>
                </a:rPr>
                <a:t>总得益</a:t>
              </a:r>
              <a:r>
                <a:rPr kumimoji="0" lang="zh-CN" altLang="en-US" sz="2000" i="0" u="none" strike="noStrike" kern="1200" cap="none" normalizeH="0" baseline="0" noProof="1">
                  <a:ln>
                    <a:noFill/>
                  </a:ln>
                  <a:solidFill>
                    <a:schemeClr val="tx1"/>
                  </a:solidFill>
                  <a:effectLst/>
                  <a:uLnTx/>
                  <a:uFillTx/>
                </a:rPr>
                <a:t>的现值为：</a:t>
              </a:r>
              <a:endParaRPr kumimoji="0" lang="zh-CN" altLang="en-US" sz="2000" i="0" u="none" strike="noStrike" kern="1200" cap="none" normalizeH="0" baseline="0" noProof="1">
                <a:ln>
                  <a:noFill/>
                </a:ln>
                <a:solidFill>
                  <a:schemeClr val="tx1"/>
                </a:solidFill>
                <a:effectLst/>
                <a:uLnTx/>
                <a:uFillTx/>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endParaRPr kumimoji="0" lang="zh-CN" altLang="en-US" sz="2000" b="0" i="0" u="none" strike="noStrike" kern="1200" cap="none" normalizeH="0" baseline="0" noProof="1">
                <a:ln>
                  <a:noFill/>
                </a:ln>
                <a:solidFill>
                  <a:schemeClr val="tx1"/>
                </a:solidFill>
                <a:effectLst/>
                <a:uLnTx/>
                <a:uFillTx/>
              </a:endParaRPr>
            </a:p>
            <a:p>
              <a:pPr indent="0" algn="l">
                <a:lnSpc>
                  <a:spcPct val="100000"/>
                </a:lnSpc>
                <a:spcBef>
                  <a:spcPts val="0"/>
                </a:spcBef>
                <a:spcAft>
                  <a:spcPts val="0"/>
                </a:spcAft>
                <a:buSzPct val="100000"/>
                <a:buFont typeface="Wingdings" panose="05000000000000000000" charset="0"/>
                <a:buNone/>
              </a:pPr>
              <a:endParaRPr lang="zh-CN" altLang="en-US" sz="2000" spc="100" dirty="0" smtClean="0">
                <a:ln w="3175">
                  <a:noFill/>
                  <a:prstDash val="dash"/>
                </a:ln>
                <a:solidFill>
                  <a:schemeClr val="dk1">
                    <a:lumMod val="75000"/>
                    <a:lumOff val="25000"/>
                  </a:schemeClr>
                </a:solidFill>
                <a:effectLst/>
                <a:sym typeface="+mn-ea"/>
              </a:endParaRPr>
            </a:p>
            <a:p>
              <a:pPr marL="342900" indent="-342900" algn="l">
                <a:lnSpc>
                  <a:spcPct val="100000"/>
                </a:lnSpc>
                <a:spcBef>
                  <a:spcPts val="0"/>
                </a:spcBef>
                <a:spcAft>
                  <a:spcPts val="0"/>
                </a:spcAft>
                <a:buSzPct val="100000"/>
                <a:buFont typeface="Wingdings" panose="05000000000000000000" charset="0"/>
                <a:buChar char="l"/>
              </a:pPr>
              <a:endParaRPr lang="zh-CN" altLang="en-US" sz="2000" spc="100" dirty="0" smtClean="0">
                <a:ln w="3175">
                  <a:noFill/>
                  <a:prstDash val="dash"/>
                </a:ln>
                <a:solidFill>
                  <a:schemeClr val="dk1">
                    <a:lumMod val="75000"/>
                    <a:lumOff val="25000"/>
                  </a:schemeClr>
                </a:solidFill>
                <a:effectLst/>
                <a:sym typeface="+mn-ea"/>
              </a:endParaRPr>
            </a:p>
          </p:txBody>
        </p:sp>
        <p:pic>
          <p:nvPicPr>
            <p:cNvPr id="4" name="图片 3"/>
            <p:cNvPicPr>
              <a:picLocks noChangeAspect="1"/>
            </p:cNvPicPr>
            <p:nvPr/>
          </p:nvPicPr>
          <p:blipFill>
            <a:blip r:embed="rId5"/>
            <a:stretch>
              <a:fillRect/>
            </a:stretch>
          </p:blipFill>
          <p:spPr>
            <a:xfrm>
              <a:off x="2115" y="5223"/>
              <a:ext cx="9750" cy="1335"/>
            </a:xfrm>
            <a:prstGeom prst="rect">
              <a:avLst/>
            </a:prstGeom>
          </p:spPr>
        </p:pic>
        <p:pic>
          <p:nvPicPr>
            <p:cNvPr id="5" name="图片 4"/>
            <p:cNvPicPr>
              <a:picLocks noChangeAspect="1"/>
            </p:cNvPicPr>
            <p:nvPr/>
          </p:nvPicPr>
          <p:blipFill>
            <a:blip r:embed="rId6"/>
            <a:stretch>
              <a:fillRect/>
            </a:stretch>
          </p:blipFill>
          <p:spPr>
            <a:xfrm>
              <a:off x="2115" y="7441"/>
              <a:ext cx="7890" cy="1185"/>
            </a:xfrm>
            <a:prstGeom prst="rect">
              <a:avLst/>
            </a:prstGeom>
          </p:spPr>
        </p:pic>
      </p:grpSp>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1201400" cy="762000"/>
            <a:chOff x="840" y="240"/>
            <a:chExt cx="17640" cy="1200"/>
          </a:xfrm>
        </p:grpSpPr>
        <p:sp>
          <p:nvSpPr>
            <p:cNvPr id="3" name="文本框 6"/>
            <p:cNvSpPr txBox="1"/>
            <p:nvPr>
              <p:custDataLst>
                <p:tags r:id="rId2"/>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endParaRPr lang="zh-CN" altLang="en-US" sz="3200" dirty="0">
                <a:solidFill>
                  <a:schemeClr val="accent1"/>
                </a:solidFill>
                <a:sym typeface="+mn-ea"/>
              </a:endParaRPr>
            </a:p>
          </p:txBody>
        </p:sp>
        <p:cxnSp>
          <p:nvCxnSpPr>
            <p:cNvPr id="12" name="直接连接符 11"/>
            <p:cNvCxnSpPr/>
            <p:nvPr>
              <p:custDataLst>
                <p:tags r:id="rId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838835" y="991870"/>
            <a:ext cx="10021570" cy="3982085"/>
            <a:chOff x="1321" y="1562"/>
            <a:chExt cx="15782" cy="6271"/>
          </a:xfrm>
        </p:grpSpPr>
        <p:grpSp>
          <p:nvGrpSpPr>
            <p:cNvPr id="13" name="组合 12"/>
            <p:cNvGrpSpPr/>
            <p:nvPr/>
          </p:nvGrpSpPr>
          <p:grpSpPr>
            <a:xfrm>
              <a:off x="1321" y="1562"/>
              <a:ext cx="15783" cy="6271"/>
              <a:chOff x="1469" y="1562"/>
              <a:chExt cx="14928" cy="6271"/>
            </a:xfrm>
          </p:grpSpPr>
          <p:sp>
            <p:nvSpPr>
              <p:cNvPr id="256" name="文本框 6"/>
              <p:cNvSpPr txBox="1"/>
              <p:nvPr>
                <p:custDataLst>
                  <p:tags r:id="rId4"/>
                </p:custDataLst>
              </p:nvPr>
            </p:nvSpPr>
            <p:spPr>
              <a:xfrm>
                <a:off x="1469" y="1562"/>
                <a:ext cx="14928" cy="6271"/>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marR="0" lvl="0" indent="-342900" algn="l" defTabSz="457200" rtl="0" latinLnBrk="0">
                  <a:lnSpc>
                    <a:spcPct val="140000"/>
                  </a:lnSpc>
                  <a:spcBef>
                    <a:spcPts val="0"/>
                  </a:spcBef>
                  <a:spcAft>
                    <a:spcPts val="0"/>
                  </a:spcAft>
                  <a:buClrTx/>
                  <a:buSzTx/>
                  <a:buFont typeface="Wingdings" panose="05000000000000000000" charset="0"/>
                  <a:buChar char="l"/>
                </a:pPr>
                <a:r>
                  <a:rPr lang="zh-CN" altLang="en-US" sz="2000" spc="100" dirty="0" smtClean="0">
                    <a:ln w="3175">
                      <a:noFill/>
                      <a:prstDash val="dash"/>
                    </a:ln>
                    <a:solidFill>
                      <a:schemeClr val="tx1"/>
                    </a:solidFill>
                    <a:effectLst/>
                    <a:sym typeface="+mn-ea"/>
                  </a:rPr>
                  <a:t>平均得益</a:t>
                </a:r>
                <a:endParaRPr lang="zh-CN" altLang="en-US" sz="2000" spc="100" dirty="0" smtClean="0">
                  <a:ln w="3175">
                    <a:noFill/>
                    <a:prstDash val="dash"/>
                  </a:ln>
                  <a:solidFill>
                    <a:schemeClr val="tx1"/>
                  </a:solidFill>
                  <a:effectLst/>
                  <a:sym typeface="+mn-ea"/>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r>
                  <a:rPr kumimoji="0" lang="zh-CN" altLang="en-US" sz="2000" i="0" u="none" strike="noStrike" kern="1200" cap="none" normalizeH="0" baseline="0" noProof="1">
                    <a:ln>
                      <a:noFill/>
                    </a:ln>
                    <a:solidFill>
                      <a:schemeClr val="tx1"/>
                    </a:solidFill>
                    <a:effectLst/>
                    <a:uLnTx/>
                    <a:uFillTx/>
                  </a:rPr>
                  <a:t>如果一常数</a:t>
                </a:r>
                <a:r>
                  <a:rPr kumimoji="0" lang="en-US" altLang="zh-CN" sz="2000" i="0" u="none" strike="noStrike" kern="1200" cap="none" normalizeH="0" baseline="0" noProof="1">
                    <a:ln>
                      <a:noFill/>
                    </a:ln>
                    <a:solidFill>
                      <a:schemeClr val="tx1"/>
                    </a:solidFill>
                    <a:effectLst/>
                    <a:uLnTx/>
                    <a:uFillTx/>
                  </a:rPr>
                  <a:t>    </a:t>
                </a:r>
                <a:r>
                  <a:rPr kumimoji="0" lang="zh-CN" altLang="en-US" sz="2000" i="0" u="none" strike="noStrike" kern="1200" cap="none" normalizeH="0" baseline="0" noProof="1">
                    <a:ln>
                      <a:noFill/>
                    </a:ln>
                    <a:solidFill>
                      <a:schemeClr val="tx1"/>
                    </a:solidFill>
                    <a:effectLst/>
                    <a:uLnTx/>
                    <a:uFillTx/>
                  </a:rPr>
                  <a:t>作为重复博弈（有限次重复或无限次重复)各个阶段的得益，能产生与得益序列</a:t>
                </a:r>
                <a:r>
                  <a:rPr kumimoji="0" lang="en-US" altLang="zh-CN" sz="2000" i="0" u="none" strike="noStrike" kern="1200" cap="none" normalizeH="0" baseline="0" noProof="1">
                    <a:ln>
                      <a:noFill/>
                    </a:ln>
                    <a:solidFill>
                      <a:schemeClr val="tx1"/>
                    </a:solidFill>
                    <a:effectLst/>
                    <a:uLnTx/>
                    <a:uFillTx/>
                  </a:rPr>
                  <a:t>                       </a:t>
                </a:r>
                <a:r>
                  <a:rPr kumimoji="0" lang="zh-CN" altLang="en-US" sz="2000" i="0" u="none" strike="noStrike" kern="1200" cap="none" normalizeH="0" baseline="0" noProof="1">
                    <a:ln>
                      <a:noFill/>
                    </a:ln>
                    <a:solidFill>
                      <a:schemeClr val="tx1"/>
                    </a:solidFill>
                    <a:effectLst/>
                    <a:uLnTx/>
                    <a:uFillTx/>
                  </a:rPr>
                  <a:t>相同的现值，则称为</a:t>
                </a:r>
                <a:r>
                  <a:rPr kumimoji="0" lang="en-US" altLang="zh-CN" sz="2000" i="0" u="none" strike="noStrike" kern="1200" cap="none" normalizeH="0" baseline="0" noProof="1">
                    <a:ln>
                      <a:noFill/>
                    </a:ln>
                    <a:solidFill>
                      <a:schemeClr val="tx1"/>
                    </a:solidFill>
                    <a:effectLst/>
                    <a:uLnTx/>
                    <a:uFillTx/>
                  </a:rPr>
                  <a:t>                       </a:t>
                </a:r>
                <a:r>
                  <a:rPr kumimoji="0" lang="zh-CN" altLang="en-US" sz="2000" i="0" u="none" strike="noStrike" kern="1200" cap="none" normalizeH="0" baseline="0" noProof="1">
                    <a:ln>
                      <a:noFill/>
                    </a:ln>
                    <a:solidFill>
                      <a:schemeClr val="tx1"/>
                    </a:solidFill>
                    <a:effectLst/>
                    <a:uLnTx/>
                    <a:uFillTx/>
                  </a:rPr>
                  <a:t>的平均得益。</a:t>
                </a:r>
                <a:endParaRPr kumimoji="0" lang="zh-CN" altLang="en-US" sz="2000" i="0" u="none" strike="noStrike" kern="1200" cap="none" normalizeH="0" baseline="0" noProof="1">
                  <a:ln>
                    <a:noFill/>
                  </a:ln>
                  <a:solidFill>
                    <a:schemeClr val="tx1"/>
                  </a:solidFill>
                  <a:effectLst/>
                  <a:uLnTx/>
                  <a:uFillTx/>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r>
                  <a:rPr kumimoji="0" lang="zh-CN" altLang="en-US" sz="2000" b="0" i="0" u="none" strike="noStrike" kern="1200" cap="none" normalizeH="0" baseline="0" noProof="1">
                    <a:ln>
                      <a:noFill/>
                    </a:ln>
                    <a:solidFill>
                      <a:schemeClr val="tx1"/>
                    </a:solidFill>
                    <a:effectLst/>
                    <a:uLnTx/>
                    <a:uFillTx/>
                  </a:rPr>
                  <a:t>有限次重复博弈不一定考虑贴现因素。</a:t>
                </a:r>
                <a:endParaRPr kumimoji="0" lang="zh-CN" altLang="en-US" sz="2000" b="0" i="0" u="none" strike="noStrike" kern="1200" cap="none" normalizeH="0" baseline="0" noProof="1">
                  <a:ln>
                    <a:noFill/>
                  </a:ln>
                  <a:solidFill>
                    <a:schemeClr val="tx1"/>
                  </a:solidFill>
                  <a:effectLst/>
                  <a:uLnTx/>
                  <a:uFillTx/>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r>
                  <a:rPr lang="zh-CN" altLang="en-US" sz="2000" b="0">
                    <a:ln>
                      <a:noFill/>
                    </a:ln>
                    <a:solidFill>
                      <a:schemeClr val="tx1"/>
                    </a:solidFill>
                    <a:effectLst/>
                    <a:uLnTx/>
                    <a:uFillTx/>
                    <a:sym typeface="+mn-ea"/>
                  </a:rPr>
                  <a:t>无限次重复博弈</a:t>
                </a:r>
                <a:r>
                  <a:rPr lang="zh-CN" altLang="en-US" sz="2000" b="0">
                    <a:ln>
                      <a:noFill/>
                    </a:ln>
                    <a:solidFill>
                      <a:srgbClr val="FF0000"/>
                    </a:solidFill>
                    <a:effectLst/>
                    <a:uLnTx/>
                    <a:uFillTx/>
                    <a:sym typeface="+mn-ea"/>
                  </a:rPr>
                  <a:t>必然</a:t>
                </a:r>
                <a:r>
                  <a:rPr lang="zh-CN" altLang="en-US" sz="2000" b="0">
                    <a:ln>
                      <a:noFill/>
                    </a:ln>
                    <a:solidFill>
                      <a:schemeClr val="tx1"/>
                    </a:solidFill>
                    <a:effectLst/>
                    <a:uLnTx/>
                    <a:uFillTx/>
                    <a:sym typeface="+mn-ea"/>
                  </a:rPr>
                  <a:t>考虑贴现因素：</a:t>
                </a:r>
                <a:endParaRPr kumimoji="0" lang="zh-CN" altLang="en-US" sz="2000" b="0" i="0" u="none" strike="noStrike" kern="1200" cap="none" normalizeH="0" baseline="0" noProof="1">
                  <a:ln>
                    <a:noFill/>
                  </a:ln>
                  <a:solidFill>
                    <a:schemeClr val="tx1"/>
                  </a:solidFill>
                  <a:effectLst/>
                  <a:uLnTx/>
                  <a:uFillTx/>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endParaRPr kumimoji="0" lang="zh-CN" altLang="en-US" sz="2000" b="0" i="0" u="none" strike="noStrike" kern="1200" cap="none" normalizeH="0" baseline="0" noProof="1">
                  <a:ln>
                    <a:noFill/>
                  </a:ln>
                  <a:solidFill>
                    <a:schemeClr val="tx1"/>
                  </a:solidFill>
                  <a:effectLst/>
                  <a:uLnTx/>
                  <a:uFillTx/>
                </a:endParaRPr>
              </a:p>
              <a:p>
                <a:pPr marR="0" lvl="0" indent="0" algn="l" defTabSz="914400" rtl="0" eaLnBrk="0" fontAlgn="base" latinLnBrk="0" hangingPunct="0">
                  <a:lnSpc>
                    <a:spcPct val="150000"/>
                  </a:lnSpc>
                  <a:spcBef>
                    <a:spcPts val="0"/>
                  </a:spcBef>
                  <a:buClr>
                    <a:schemeClr val="accent2"/>
                  </a:buClr>
                  <a:buSzTx/>
                  <a:buFont typeface="Wingdings" panose="05000000000000000000" charset="0"/>
                  <a:buNone/>
                  <a:defRPr/>
                </a:pPr>
                <a:endParaRPr kumimoji="0" lang="zh-CN" altLang="en-US" sz="2000" b="0" i="0" u="none" strike="noStrike" kern="1200" cap="none" normalizeH="0" baseline="0" noProof="1">
                  <a:ln>
                    <a:noFill/>
                  </a:ln>
                  <a:solidFill>
                    <a:schemeClr val="tx1"/>
                  </a:solidFill>
                  <a:effectLst/>
                  <a:uLnTx/>
                  <a:uFillTx/>
                </a:endParaRPr>
              </a:p>
              <a:p>
                <a:pPr indent="0" algn="l">
                  <a:lnSpc>
                    <a:spcPct val="100000"/>
                  </a:lnSpc>
                  <a:spcBef>
                    <a:spcPts val="0"/>
                  </a:spcBef>
                  <a:spcAft>
                    <a:spcPts val="0"/>
                  </a:spcAft>
                  <a:buSzPct val="100000"/>
                  <a:buFont typeface="Wingdings" panose="05000000000000000000" charset="0"/>
                  <a:buNone/>
                </a:pPr>
                <a:endParaRPr lang="zh-CN" altLang="en-US" sz="2000" spc="100" dirty="0" smtClean="0">
                  <a:ln w="3175">
                    <a:noFill/>
                    <a:prstDash val="dash"/>
                  </a:ln>
                  <a:solidFill>
                    <a:schemeClr val="dk1">
                      <a:lumMod val="75000"/>
                      <a:lumOff val="25000"/>
                    </a:schemeClr>
                  </a:solidFill>
                  <a:effectLst/>
                  <a:sym typeface="+mn-ea"/>
                </a:endParaRPr>
              </a:p>
              <a:p>
                <a:pPr marL="342900" indent="-342900" algn="l">
                  <a:lnSpc>
                    <a:spcPct val="100000"/>
                  </a:lnSpc>
                  <a:spcBef>
                    <a:spcPts val="0"/>
                  </a:spcBef>
                  <a:spcAft>
                    <a:spcPts val="0"/>
                  </a:spcAft>
                  <a:buSzPct val="100000"/>
                  <a:buFont typeface="Wingdings" panose="05000000000000000000" charset="0"/>
                  <a:buChar char="l"/>
                </a:pPr>
                <a:endParaRPr lang="zh-CN" altLang="en-US" sz="2000" spc="100" dirty="0" smtClean="0">
                  <a:ln w="3175">
                    <a:noFill/>
                    <a:prstDash val="dash"/>
                  </a:ln>
                  <a:solidFill>
                    <a:schemeClr val="dk1">
                      <a:lumMod val="75000"/>
                      <a:lumOff val="25000"/>
                    </a:schemeClr>
                  </a:solidFill>
                  <a:effectLst/>
                  <a:sym typeface="+mn-ea"/>
                </a:endParaRPr>
              </a:p>
            </p:txBody>
          </p:sp>
          <p:graphicFrame>
            <p:nvGraphicFramePr>
              <p:cNvPr id="8" name="对象 7">
                <a:hlinkClick r:id="" action="ppaction://ole?verb="/>
              </p:cNvPr>
              <p:cNvGraphicFramePr>
                <a:graphicFrameLocks noChangeAspect="1"/>
              </p:cNvGraphicFramePr>
              <p:nvPr/>
            </p:nvGraphicFramePr>
            <p:xfrm>
              <a:off x="4043" y="2565"/>
              <a:ext cx="500" cy="591"/>
            </p:xfrm>
            <a:graphic>
              <a:graphicData uri="http://schemas.openxmlformats.org/presentationml/2006/ole">
                <mc:AlternateContent xmlns:mc="http://schemas.openxmlformats.org/markup-compatibility/2006">
                  <mc:Choice xmlns:v="urn:schemas-microsoft-com:vml" Requires="v">
                    <p:oleObj spid="_x0000_s1025" name="" r:id="rId5" imgW="139700" imgH="165100" progId="Equation.KSEE3">
                      <p:embed/>
                    </p:oleObj>
                  </mc:Choice>
                  <mc:Fallback>
                    <p:oleObj name="" r:id="rId5" imgW="139700" imgH="165100" progId="Equation.KSEE3">
                      <p:embed/>
                      <p:pic>
                        <p:nvPicPr>
                          <p:cNvPr id="0" name="图片 1024"/>
                          <p:cNvPicPr/>
                          <p:nvPr/>
                        </p:nvPicPr>
                        <p:blipFill>
                          <a:blip r:embed="rId6"/>
                          <a:stretch>
                            <a:fillRect/>
                          </a:stretch>
                        </p:blipFill>
                        <p:spPr>
                          <a:xfrm>
                            <a:off x="4043" y="2565"/>
                            <a:ext cx="500" cy="591"/>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3292" y="3132"/>
              <a:ext cx="2733" cy="773"/>
            </p:xfrm>
            <a:graphic>
              <a:graphicData uri="http://schemas.openxmlformats.org/presentationml/2006/ole">
                <mc:AlternateContent xmlns:mc="http://schemas.openxmlformats.org/markup-compatibility/2006">
                  <mc:Choice xmlns:v="urn:schemas-microsoft-com:vml" Requires="v">
                    <p:oleObj spid="_x0000_s4" name="" r:id="rId7" imgW="762000" imgH="215900" progId="Equation.KSEE3">
                      <p:embed/>
                    </p:oleObj>
                  </mc:Choice>
                  <mc:Fallback>
                    <p:oleObj name="" r:id="rId7" imgW="762000" imgH="215900" progId="Equation.KSEE3">
                      <p:embed/>
                      <p:pic>
                        <p:nvPicPr>
                          <p:cNvPr id="0" name="图片 1024"/>
                          <p:cNvPicPr/>
                          <p:nvPr/>
                        </p:nvPicPr>
                        <p:blipFill>
                          <a:blip r:embed="rId8"/>
                          <a:stretch>
                            <a:fillRect/>
                          </a:stretch>
                        </p:blipFill>
                        <p:spPr>
                          <a:xfrm>
                            <a:off x="3292" y="3132"/>
                            <a:ext cx="2733" cy="773"/>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9299" y="3132"/>
              <a:ext cx="2733" cy="773"/>
            </p:xfrm>
            <a:graphic>
              <a:graphicData uri="http://schemas.openxmlformats.org/presentationml/2006/ole">
                <mc:AlternateContent xmlns:mc="http://schemas.openxmlformats.org/markup-compatibility/2006">
                  <mc:Choice xmlns:v="urn:schemas-microsoft-com:vml" Requires="v">
                    <p:oleObj spid="_x0000_s11" name="" r:id="rId9" imgW="762000" imgH="215900" progId="Equation.KSEE3">
                      <p:embed/>
                    </p:oleObj>
                  </mc:Choice>
                  <mc:Fallback>
                    <p:oleObj name="" r:id="rId9" imgW="762000" imgH="215900" progId="Equation.KSEE3">
                      <p:embed/>
                      <p:pic>
                        <p:nvPicPr>
                          <p:cNvPr id="0" name="图片 1024"/>
                          <p:cNvPicPr/>
                          <p:nvPr/>
                        </p:nvPicPr>
                        <p:blipFill>
                          <a:blip r:embed="rId8"/>
                          <a:stretch>
                            <a:fillRect/>
                          </a:stretch>
                        </p:blipFill>
                        <p:spPr>
                          <a:xfrm>
                            <a:off x="9299" y="3132"/>
                            <a:ext cx="2733" cy="773"/>
                          </a:xfrm>
                          <a:prstGeom prst="rect">
                            <a:avLst/>
                          </a:prstGeom>
                        </p:spPr>
                      </p:pic>
                    </p:oleObj>
                  </mc:Fallback>
                </mc:AlternateContent>
              </a:graphicData>
            </a:graphic>
          </p:graphicFrame>
        </p:grpSp>
        <p:pic>
          <p:nvPicPr>
            <p:cNvPr id="14" name="图片 13"/>
            <p:cNvPicPr>
              <a:picLocks noChangeAspect="1"/>
            </p:cNvPicPr>
            <p:nvPr/>
          </p:nvPicPr>
          <p:blipFill>
            <a:blip r:embed="rId10"/>
            <a:stretch>
              <a:fillRect/>
            </a:stretch>
          </p:blipFill>
          <p:spPr>
            <a:xfrm>
              <a:off x="2115" y="5853"/>
              <a:ext cx="12465" cy="1980"/>
            </a:xfrm>
            <a:prstGeom prst="rect">
              <a:avLst/>
            </a:prstGeom>
            <a:ln w="25400">
              <a:solidFill>
                <a:srgbClr val="00CD9C"/>
              </a:solidFill>
              <a:prstDash val="dash"/>
            </a:ln>
          </p:spPr>
        </p:pic>
      </p:gr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1201400" cy="762000"/>
            <a:chOff x="840" y="240"/>
            <a:chExt cx="17640" cy="1200"/>
          </a:xfrm>
        </p:grpSpPr>
        <p:sp>
          <p:nvSpPr>
            <p:cNvPr id="3" name="文本框 6"/>
            <p:cNvSpPr txBox="1"/>
            <p:nvPr>
              <p:custDataLst>
                <p:tags r:id="rId2"/>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endParaRPr lang="zh-CN" altLang="en-US" sz="3200" dirty="0">
                <a:solidFill>
                  <a:schemeClr val="accent1"/>
                </a:solidFill>
                <a:sym typeface="+mn-ea"/>
              </a:endParaRPr>
            </a:p>
          </p:txBody>
        </p:sp>
        <p:cxnSp>
          <p:nvCxnSpPr>
            <p:cNvPr id="12" name="直接连接符 11"/>
            <p:cNvCxnSpPr/>
            <p:nvPr>
              <p:custDataLst>
                <p:tags r:id="rId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838835" y="991870"/>
            <a:ext cx="10021570" cy="3981450"/>
            <a:chOff x="1321" y="1562"/>
            <a:chExt cx="15782" cy="6270"/>
          </a:xfrm>
        </p:grpSpPr>
        <p:sp>
          <p:nvSpPr>
            <p:cNvPr id="256" name="文本框 6"/>
            <p:cNvSpPr txBox="1"/>
            <p:nvPr>
              <p:custDataLst>
                <p:tags r:id="rId4"/>
              </p:custDataLst>
            </p:nvPr>
          </p:nvSpPr>
          <p:spPr>
            <a:xfrm>
              <a:off x="1321" y="1562"/>
              <a:ext cx="15783" cy="6271"/>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marR="0" lvl="0" indent="-342900" algn="l" defTabSz="457200" rtl="0" latinLnBrk="0">
                <a:lnSpc>
                  <a:spcPct val="140000"/>
                </a:lnSpc>
                <a:spcBef>
                  <a:spcPts val="0"/>
                </a:spcBef>
                <a:spcAft>
                  <a:spcPts val="0"/>
                </a:spcAft>
                <a:buClrTx/>
                <a:buSzTx/>
                <a:buFont typeface="Wingdings" panose="05000000000000000000" charset="0"/>
                <a:buChar char="l"/>
              </a:pPr>
              <a:r>
                <a:rPr lang="zh-CN" altLang="en-US" sz="2000" spc="100" dirty="0" smtClean="0">
                  <a:ln w="3175">
                    <a:noFill/>
                    <a:prstDash val="dash"/>
                  </a:ln>
                  <a:solidFill>
                    <a:schemeClr val="tx1"/>
                  </a:solidFill>
                  <a:effectLst/>
                  <a:sym typeface="+mn-ea"/>
                </a:rPr>
                <a:t>随机停止</a:t>
              </a:r>
              <a:endParaRPr lang="zh-CN" altLang="en-US" sz="2000" spc="100" dirty="0" smtClean="0">
                <a:ln w="3175">
                  <a:noFill/>
                  <a:prstDash val="dash"/>
                </a:ln>
                <a:solidFill>
                  <a:schemeClr val="tx1"/>
                </a:solidFill>
                <a:effectLst/>
                <a:sym typeface="+mn-ea"/>
              </a:endParaRPr>
            </a:p>
            <a:p>
              <a:pPr marL="800100" marR="0" lvl="1" indent="-342900" algn="l" defTabSz="457200" rtl="0" latinLnBrk="0">
                <a:lnSpc>
                  <a:spcPct val="140000"/>
                </a:lnSpc>
                <a:spcBef>
                  <a:spcPts val="0"/>
                </a:spcBef>
                <a:spcAft>
                  <a:spcPts val="0"/>
                </a:spcAft>
                <a:buClrTx/>
                <a:buSzTx/>
                <a:buFont typeface="Wingdings" panose="05000000000000000000" charset="0"/>
                <a:buChar char="l"/>
              </a:pPr>
              <a:r>
                <a:rPr lang="zh-CN" altLang="en-US" sz="2000" spc="100" dirty="0" smtClean="0">
                  <a:ln w="3175">
                    <a:noFill/>
                    <a:prstDash val="dash"/>
                  </a:ln>
                  <a:solidFill>
                    <a:schemeClr val="tx1"/>
                  </a:solidFill>
                  <a:effectLst/>
                  <a:sym typeface="+mn-ea"/>
                </a:rPr>
                <a:t>将典型的随机结束重复博弈理解成在进行一个重复博弈时，每次都通过抽签来决定是否停止重复，假设抽到停止重复的概率为</a:t>
              </a:r>
              <a:r>
                <a:rPr lang="zh-CN" altLang="en-US" sz="2000" i="1" spc="100" dirty="0" smtClean="0">
                  <a:ln w="3175">
                    <a:noFill/>
                    <a:prstDash val="dash"/>
                  </a:ln>
                  <a:solidFill>
                    <a:schemeClr val="tx1"/>
                  </a:solidFill>
                  <a:effectLst/>
                  <a:sym typeface="+mn-ea"/>
                </a:rPr>
                <a:t>p</a:t>
              </a:r>
              <a:r>
                <a:rPr lang="zh-CN" altLang="en-US" sz="2000" spc="100" dirty="0" smtClean="0">
                  <a:ln w="3175">
                    <a:noFill/>
                    <a:prstDash val="dash"/>
                  </a:ln>
                  <a:solidFill>
                    <a:schemeClr val="tx1"/>
                  </a:solidFill>
                  <a:effectLst/>
                  <a:sym typeface="+mn-ea"/>
                </a:rPr>
                <a:t>，则抽到重复下去的概率为1-</a:t>
              </a:r>
              <a:r>
                <a:rPr lang="zh-CN" altLang="en-US" sz="2000" i="1" spc="100" dirty="0" smtClean="0">
                  <a:ln w="3175">
                    <a:noFill/>
                    <a:prstDash val="dash"/>
                  </a:ln>
                  <a:solidFill>
                    <a:schemeClr val="tx1"/>
                  </a:solidFill>
                  <a:effectLst/>
                  <a:sym typeface="+mn-ea"/>
                </a:rPr>
                <a:t>p</a:t>
              </a:r>
              <a:r>
                <a:rPr lang="zh-CN" altLang="en-US" sz="2000" spc="100" dirty="0" smtClean="0">
                  <a:ln w="3175">
                    <a:noFill/>
                    <a:prstDash val="dash"/>
                  </a:ln>
                  <a:solidFill>
                    <a:schemeClr val="tx1"/>
                  </a:solidFill>
                  <a:effectLst/>
                  <a:sym typeface="+mn-ea"/>
                </a:rPr>
                <a:t>，设某博弈方在此博弈中的阶段得益为</a:t>
              </a:r>
              <a:r>
                <a:rPr lang="en-US" altLang="zh-CN" sz="2000" spc="100" dirty="0" smtClean="0">
                  <a:ln w="3175">
                    <a:noFill/>
                    <a:prstDash val="dash"/>
                  </a:ln>
                  <a:solidFill>
                    <a:schemeClr val="tx1"/>
                  </a:solidFill>
                  <a:effectLst/>
                  <a:sym typeface="+mn-ea"/>
                </a:rPr>
                <a:t>    </a:t>
              </a:r>
              <a:r>
                <a:rPr lang="zh-CN" altLang="en-US" sz="2000" spc="100" dirty="0" smtClean="0">
                  <a:ln w="3175">
                    <a:noFill/>
                    <a:prstDash val="dash"/>
                  </a:ln>
                  <a:solidFill>
                    <a:schemeClr val="tx1"/>
                  </a:solidFill>
                  <a:effectLst/>
                  <a:sym typeface="+mn-ea"/>
                </a:rPr>
                <a:t>，利率为</a:t>
              </a:r>
              <a:r>
                <a:rPr lang="zh-CN" altLang="en-US" sz="2000" spc="100" dirty="0" smtClean="0">
                  <a:ln w="3175">
                    <a:noFill/>
                    <a:prstDash val="dash"/>
                  </a:ln>
                  <a:effectLst/>
                  <a:latin typeface="微软雅黑" panose="020B0503020204020204" pitchFamily="34" charset="-122"/>
                  <a:ea typeface="微软雅黑" panose="020B0503020204020204" pitchFamily="34" charset="-122"/>
                  <a:cs typeface="微软雅黑" panose="020B0503020204020204" pitchFamily="34" charset="-122"/>
                  <a:sym typeface="+mn-ea"/>
                </a:rPr>
                <a:t>γ</a:t>
              </a:r>
              <a:r>
                <a:rPr lang="zh-CN" altLang="en-US" sz="2000" spc="100" dirty="0" smtClean="0">
                  <a:ln w="3175">
                    <a:noFill/>
                    <a:prstDash val="dash"/>
                  </a:ln>
                  <a:solidFill>
                    <a:schemeClr val="tx1"/>
                  </a:solidFill>
                  <a:effectLst/>
                  <a:sym typeface="+mn-ea"/>
                </a:rPr>
                <a:t>，则该博弈方在重复博弈中期望得益的现值为：</a:t>
              </a:r>
              <a:endParaRPr lang="zh-CN" altLang="en-US" sz="2000" spc="100" dirty="0" smtClean="0">
                <a:ln w="3175">
                  <a:noFill/>
                  <a:prstDash val="dash"/>
                </a:ln>
                <a:solidFill>
                  <a:schemeClr val="tx1"/>
                </a:solidFill>
                <a:effectLst/>
                <a:sym typeface="+mn-ea"/>
              </a:endParaRPr>
            </a:p>
            <a:p>
              <a:pPr marL="469900" marR="0" lvl="0" indent="-469900" algn="l" defTabSz="914400" rtl="0" eaLnBrk="0" fontAlgn="base" latinLnBrk="0" hangingPunct="0">
                <a:lnSpc>
                  <a:spcPct val="150000"/>
                </a:lnSpc>
                <a:spcBef>
                  <a:spcPts val="0"/>
                </a:spcBef>
                <a:buClr>
                  <a:schemeClr val="accent2"/>
                </a:buClr>
                <a:buSzTx/>
                <a:buFont typeface="Wingdings" panose="05000000000000000000" charset="0"/>
                <a:buChar char="u"/>
                <a:defRPr/>
              </a:pPr>
              <a:endParaRPr kumimoji="0" lang="zh-CN" altLang="en-US" sz="2000" b="0" i="0" u="none" strike="noStrike" kern="1200" cap="none" normalizeH="0" baseline="0" noProof="1">
                <a:ln>
                  <a:noFill/>
                </a:ln>
                <a:solidFill>
                  <a:schemeClr val="tx1"/>
                </a:solidFill>
                <a:effectLst/>
                <a:uLnTx/>
                <a:uFillTx/>
              </a:endParaRPr>
            </a:p>
            <a:p>
              <a:pPr marR="0" lvl="0" indent="0" algn="l" defTabSz="914400" rtl="0" eaLnBrk="0" fontAlgn="base" latinLnBrk="0" hangingPunct="0">
                <a:lnSpc>
                  <a:spcPct val="150000"/>
                </a:lnSpc>
                <a:spcBef>
                  <a:spcPts val="0"/>
                </a:spcBef>
                <a:buClr>
                  <a:schemeClr val="accent2"/>
                </a:buClr>
                <a:buSzTx/>
                <a:buFont typeface="Wingdings" panose="05000000000000000000" charset="0"/>
                <a:buNone/>
                <a:defRPr/>
              </a:pPr>
              <a:endParaRPr kumimoji="0" lang="zh-CN" altLang="en-US" sz="2000" b="0" i="0" u="none" strike="noStrike" kern="1200" cap="none" normalizeH="0" baseline="0" noProof="1">
                <a:ln>
                  <a:noFill/>
                </a:ln>
                <a:solidFill>
                  <a:schemeClr val="tx1"/>
                </a:solidFill>
                <a:effectLst/>
                <a:uLnTx/>
                <a:uFillTx/>
              </a:endParaRPr>
            </a:p>
            <a:p>
              <a:pPr indent="0" algn="l">
                <a:lnSpc>
                  <a:spcPct val="100000"/>
                </a:lnSpc>
                <a:spcBef>
                  <a:spcPts val="0"/>
                </a:spcBef>
                <a:spcAft>
                  <a:spcPts val="0"/>
                </a:spcAft>
                <a:buSzPct val="100000"/>
                <a:buFont typeface="Wingdings" panose="05000000000000000000" charset="0"/>
                <a:buNone/>
              </a:pPr>
              <a:endParaRPr lang="zh-CN" altLang="en-US" sz="2000" spc="100" dirty="0" smtClean="0">
                <a:ln w="3175">
                  <a:noFill/>
                  <a:prstDash val="dash"/>
                </a:ln>
                <a:solidFill>
                  <a:schemeClr val="dk1">
                    <a:lumMod val="75000"/>
                    <a:lumOff val="25000"/>
                  </a:schemeClr>
                </a:solidFill>
                <a:effectLst/>
                <a:sym typeface="+mn-ea"/>
              </a:endParaRPr>
            </a:p>
            <a:p>
              <a:pPr marL="342900" indent="-342900" algn="l">
                <a:lnSpc>
                  <a:spcPct val="100000"/>
                </a:lnSpc>
                <a:spcBef>
                  <a:spcPts val="0"/>
                </a:spcBef>
                <a:spcAft>
                  <a:spcPts val="0"/>
                </a:spcAft>
                <a:buSzPct val="100000"/>
                <a:buFont typeface="Wingdings" panose="05000000000000000000" charset="0"/>
                <a:buChar char="l"/>
              </a:pPr>
              <a:endParaRPr lang="zh-CN" altLang="en-US" sz="2000" spc="100" dirty="0" smtClean="0">
                <a:ln w="3175">
                  <a:noFill/>
                  <a:prstDash val="dash"/>
                </a:ln>
                <a:solidFill>
                  <a:schemeClr val="dk1">
                    <a:lumMod val="75000"/>
                    <a:lumOff val="25000"/>
                  </a:schemeClr>
                </a:solidFill>
                <a:effectLst/>
                <a:sym typeface="+mn-ea"/>
              </a:endParaRPr>
            </a:p>
          </p:txBody>
        </p:sp>
        <p:graphicFrame>
          <p:nvGraphicFramePr>
            <p:cNvPr id="5" name="对象 4">
              <a:hlinkClick r:id="" action="ppaction://ole?verb="/>
            </p:cNvPr>
            <p:cNvGraphicFramePr>
              <a:graphicFrameLocks noChangeAspect="1"/>
            </p:cNvGraphicFramePr>
            <p:nvPr/>
          </p:nvGraphicFramePr>
          <p:xfrm>
            <a:off x="9940" y="3812"/>
            <a:ext cx="627" cy="819"/>
          </p:xfrm>
          <a:graphic>
            <a:graphicData uri="http://schemas.openxmlformats.org/presentationml/2006/ole">
              <mc:AlternateContent xmlns:mc="http://schemas.openxmlformats.org/markup-compatibility/2006">
                <mc:Choice xmlns:v="urn:schemas-microsoft-com:vml" Requires="v">
                  <p:oleObj spid="_x0000_s7" name="" r:id="rId5" imgW="165100" imgH="228600" progId="Equation.KSEE3">
                    <p:embed/>
                  </p:oleObj>
                </mc:Choice>
                <mc:Fallback>
                  <p:oleObj name="" r:id="rId5" imgW="165100" imgH="228600" progId="Equation.KSEE3">
                    <p:embed/>
                    <p:pic>
                      <p:nvPicPr>
                        <p:cNvPr id="0" name="图片 1024"/>
                        <p:cNvPicPr/>
                        <p:nvPr/>
                      </p:nvPicPr>
                      <p:blipFill>
                        <a:blip r:embed="rId6"/>
                        <a:stretch>
                          <a:fillRect/>
                        </a:stretch>
                      </p:blipFill>
                      <p:spPr>
                        <a:xfrm>
                          <a:off x="9940" y="3812"/>
                          <a:ext cx="627" cy="819"/>
                        </a:xfrm>
                        <a:prstGeom prst="rect">
                          <a:avLst/>
                        </a:prstGeom>
                      </p:spPr>
                    </p:pic>
                  </p:oleObj>
                </mc:Fallback>
              </mc:AlternateContent>
            </a:graphicData>
          </a:graphic>
        </p:graphicFrame>
      </p:grpSp>
      <p:pic>
        <p:nvPicPr>
          <p:cNvPr id="15" name="图片 14"/>
          <p:cNvPicPr>
            <a:picLocks noChangeAspect="1"/>
          </p:cNvPicPr>
          <p:nvPr/>
        </p:nvPicPr>
        <p:blipFill>
          <a:blip r:embed="rId7"/>
          <a:stretch>
            <a:fillRect/>
          </a:stretch>
        </p:blipFill>
        <p:spPr>
          <a:xfrm>
            <a:off x="1703070" y="3429000"/>
            <a:ext cx="8201025" cy="962025"/>
          </a:xfrm>
          <a:prstGeom prst="rect">
            <a:avLst/>
          </a:prstGeom>
        </p:spPr>
      </p:pic>
      <p:pic>
        <p:nvPicPr>
          <p:cNvPr id="17" name="图片 16"/>
          <p:cNvPicPr>
            <a:picLocks noChangeAspect="1"/>
          </p:cNvPicPr>
          <p:nvPr/>
        </p:nvPicPr>
        <p:blipFill>
          <a:blip r:embed="rId8"/>
          <a:stretch>
            <a:fillRect/>
          </a:stretch>
        </p:blipFill>
        <p:spPr>
          <a:xfrm>
            <a:off x="8688705" y="4796790"/>
            <a:ext cx="990600" cy="695325"/>
          </a:xfrm>
          <a:prstGeom prst="rect">
            <a:avLst/>
          </a:prstGeom>
        </p:spPr>
      </p:pic>
      <p:cxnSp>
        <p:nvCxnSpPr>
          <p:cNvPr id="19" name="直接箭头连接符 18"/>
          <p:cNvCxnSpPr/>
          <p:nvPr/>
        </p:nvCxnSpPr>
        <p:spPr>
          <a:xfrm flipH="1" flipV="1">
            <a:off x="9183370" y="4413885"/>
            <a:ext cx="635" cy="360045"/>
          </a:xfrm>
          <a:prstGeom prst="straightConnector1">
            <a:avLst/>
          </a:prstGeom>
          <a:ln w="38100">
            <a:solidFill>
              <a:schemeClr val="bg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703070" y="5805170"/>
            <a:ext cx="6889750" cy="755650"/>
          </a:xfrm>
          <a:prstGeom prst="rect">
            <a:avLst/>
          </a:prstGeom>
          <a:noFill/>
          <a:ln w="28575">
            <a:solidFill>
              <a:schemeClr val="accent1"/>
            </a:solidFill>
            <a:prstDash val="sysDot"/>
          </a:ln>
        </p:spPr>
        <p:txBody>
          <a:bodyPr wrap="square" rtlCol="0" anchor="t">
            <a:spAutoFit/>
          </a:bodyPr>
          <a:p>
            <a:pPr algn="just">
              <a:lnSpc>
                <a:spcPct val="120000"/>
              </a:lnSpc>
            </a:pPr>
            <a:r>
              <a:rPr lang="zh-CN" altLang="en-US"/>
              <a:t>把已知概率的随机停止重复博弈与无限次重复博弈统一起来，随机停止重复博弈问题可以当作无限次重复博弈来进行分析。</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1991360" y="1700530"/>
            <a:ext cx="2633345"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00000"/>
              </a:lnSpc>
              <a:spcBef>
                <a:spcPts val="0"/>
              </a:spcBef>
              <a:spcAft>
                <a:spcPts val="0"/>
              </a:spcAft>
              <a:buSzPct val="100000"/>
              <a:buFont typeface="Wingdings" panose="05000000000000000000" charset="0"/>
              <a:buChar char="l"/>
            </a:pPr>
            <a:r>
              <a:rPr lang="zh-CN" altLang="en-US" sz="2000" spc="100" dirty="0" smtClean="0">
                <a:ln w="3175">
                  <a:noFill/>
                  <a:prstDash val="dash"/>
                </a:ln>
                <a:solidFill>
                  <a:schemeClr val="dk1">
                    <a:lumMod val="75000"/>
                    <a:lumOff val="25000"/>
                  </a:schemeClr>
                </a:solidFill>
                <a:effectLst/>
                <a:sym typeface="+mn-ea"/>
              </a:rPr>
              <a:t>重复博弈的得益</a:t>
            </a:r>
            <a:endParaRPr lang="zh-CN" altLang="en-US" sz="2000" spc="100" dirty="0" smtClean="0">
              <a:ln w="3175">
                <a:noFill/>
                <a:prstDash val="dash"/>
              </a:ln>
              <a:solidFill>
                <a:schemeClr val="dk1">
                  <a:lumMod val="75000"/>
                  <a:lumOff val="25000"/>
                </a:schemeClr>
              </a:solidFill>
              <a:effectLst/>
              <a:sym typeface="+mn-ea"/>
            </a:endParaRPr>
          </a:p>
        </p:txBody>
      </p:sp>
      <p:sp>
        <p:nvSpPr>
          <p:cNvPr id="14" name="矩形 13"/>
          <p:cNvSpPr/>
          <p:nvPr>
            <p:custDataLst>
              <p:tags r:id="rId2"/>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5" name="直接连接符 14"/>
          <p:cNvCxnSpPr/>
          <p:nvPr>
            <p:custDataLst>
              <p:tags r:id="rId3"/>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4"/>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5"/>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6"/>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itle 6"/>
              <p:cNvSpPr txBox="1"/>
              <p:nvPr>
                <p:custDataLst>
                  <p:tags r:id="rId7"/>
                </p:custDataLst>
              </p:nvPr>
            </p:nvSpPr>
            <p:spPr>
              <a:xfrm>
                <a:off x="2135505" y="2052955"/>
                <a:ext cx="8622030" cy="36309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总得益</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rPr>
                  <a:t>有限次：</a:t>
                </a:r>
                <a14:m>
                  <m:oMath xmlns:m="http://schemas.openxmlformats.org/officeDocument/2006/math">
                    <m:r>
                      <a:rPr lang="zh-CN" altLang="en-US" sz="2000" i="1" smtClean="0">
                        <a:latin typeface="Cambria Math" panose="02040503050406030204" pitchFamily="18" charset="0"/>
                      </a:rPr>
                      <m:t>𝜋</m:t>
                    </m:r>
                    <m:r>
                      <a:rPr lang="en-US" altLang="zh-CN" sz="2000" i="1">
                        <a:latin typeface="Cambria Math" panose="02040503050406030204" pitchFamily="18" charset="0"/>
                      </a:rPr>
                      <m:t>=</m:t>
                    </m:r>
                    <m:nary>
                      <m:naryPr>
                        <m:chr m:val="∑"/>
                        <m:ctrlPr>
                          <a:rPr lang="en-US" altLang="zh-CN"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m:rPr>
                            <m:sty m:val="p"/>
                          </m:rPr>
                          <a:rPr lang="en-US" altLang="zh-CN" sz="2000" i="1">
                            <a:latin typeface="Cambria Math" panose="02040503050406030204" pitchFamily="18" charset="0"/>
                          </a:rPr>
                          <m:t>T</m:t>
                        </m:r>
                      </m:sup>
                      <m:e>
                        <m:sSup>
                          <m:sSupPr>
                            <m:ctrlPr>
                              <a:rPr lang="en-US" altLang="zh-CN" sz="2000" i="1" smtClean="0">
                                <a:latin typeface="Cambria Math" panose="02040503050406030204" pitchFamily="18" charset="0"/>
                              </a:rPr>
                            </m:ctrlPr>
                          </m:sSupPr>
                          <m:e>
                            <m:r>
                              <a:rPr lang="zh-CN" altLang="en-US" sz="2000" i="1" smtClean="0">
                                <a:latin typeface="Cambria Math" panose="02040503050406030204" pitchFamily="18" charset="0"/>
                              </a:rPr>
                              <m:t>𝛿</m:t>
                            </m:r>
                          </m:e>
                          <m:sup>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p>
                        </m:sSup>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𝜋</m:t>
                            </m:r>
                          </m:e>
                          <m:sub>
                            <m:r>
                              <a:rPr lang="en-US" altLang="zh-CN" sz="2000" b="0" i="1" smtClean="0">
                                <a:latin typeface="Cambria Math" panose="02040503050406030204" pitchFamily="18" charset="0"/>
                              </a:rPr>
                              <m:t>𝑡</m:t>
                            </m:r>
                          </m:sub>
                        </m:sSub>
                      </m:e>
                    </m:nary>
                  </m:oMath>
                </a14:m>
                <a:endParaRPr lang="en-US" altLang="zh-CN" sz="2000" b="0" i="1" smtClean="0">
                  <a:latin typeface="Cambria Math" panose="020405030504060302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rPr>
                  <a:t>无限次：</a:t>
                </a:r>
                <a14:m>
                  <m:oMath xmlns:m="http://schemas.openxmlformats.org/officeDocument/2006/math">
                    <m:r>
                      <a:rPr lang="zh-CN" altLang="en-US" sz="2000" i="1">
                        <a:latin typeface="Cambria Math" panose="02040503050406030204" pitchFamily="18" charset="0"/>
                      </a:rPr>
                      <m:t>𝜋</m:t>
                    </m:r>
                    <m:r>
                      <a:rPr lang="en-US" altLang="zh-CN"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𝑡</m:t>
                        </m:r>
                        <m:r>
                          <a:rPr lang="en-US" altLang="zh-CN" sz="2000" i="1">
                            <a:latin typeface="Cambria Math" panose="02040503050406030204" pitchFamily="18" charset="0"/>
                          </a:rPr>
                          <m:t>=</m:t>
                        </m:r>
                        <m:r>
                          <a:rPr lang="en-US" altLang="zh-CN" sz="2000" i="1">
                            <a:latin typeface="Cambria Math" panose="02040503050406030204" pitchFamily="18" charset="0"/>
                          </a:rPr>
                          <m:t>1</m:t>
                        </m:r>
                      </m:sub>
                      <m:sup>
                        <m:r>
                          <a:rPr lang="en-US" altLang="zh-CN" sz="2000" i="1" smtClean="0">
                            <a:latin typeface="Cambria Math" panose="02040503050406030204" pitchFamily="18" charset="0"/>
                            <a:ea typeface="Cambria Math" panose="02040503050406030204" pitchFamily="18" charset="0"/>
                          </a:rPr>
                          <m:t>∞</m:t>
                        </m:r>
                      </m:sup>
                      <m:e>
                        <m:sSup>
                          <m:sSupPr>
                            <m:ctrlPr>
                              <a:rPr lang="en-US" altLang="zh-CN" sz="2000" i="1">
                                <a:latin typeface="Cambria Math" panose="02040503050406030204" pitchFamily="18" charset="0"/>
                              </a:rPr>
                            </m:ctrlPr>
                          </m:sSupPr>
                          <m:e>
                            <m:r>
                              <a:rPr lang="zh-CN" altLang="en-US" sz="2000" i="1">
                                <a:latin typeface="Cambria Math" panose="02040503050406030204" pitchFamily="18" charset="0"/>
                              </a:rPr>
                              <m:t>𝛿</m:t>
                            </m:r>
                          </m:e>
                          <m:sup>
                            <m:r>
                              <a:rPr lang="en-US" altLang="zh-CN" sz="2000" i="1">
                                <a:latin typeface="Cambria Math" panose="02040503050406030204" pitchFamily="18" charset="0"/>
                              </a:rPr>
                              <m:t>𝑡</m:t>
                            </m:r>
                            <m:r>
                              <a:rPr lang="en-US" altLang="zh-CN" sz="2000" i="1">
                                <a:latin typeface="Cambria Math" panose="02040503050406030204" pitchFamily="18" charset="0"/>
                              </a:rPr>
                              <m:t>−</m:t>
                            </m:r>
                            <m:r>
                              <a:rPr lang="en-US" altLang="zh-CN" sz="2000" i="1">
                                <a:latin typeface="Cambria Math" panose="02040503050406030204" pitchFamily="18" charset="0"/>
                              </a:rPr>
                              <m:t>1</m:t>
                            </m:r>
                          </m:sup>
                        </m:sSup>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𝜋</m:t>
                            </m:r>
                          </m:e>
                          <m:sub>
                            <m:r>
                              <a:rPr lang="en-US" altLang="zh-CN" sz="2000" i="1">
                                <a:latin typeface="Cambria Math" panose="02040503050406030204" pitchFamily="18" charset="0"/>
                              </a:rPr>
                              <m:t>𝑡</m:t>
                            </m:r>
                          </m:sub>
                        </m:sSub>
                      </m:e>
                    </m:nary>
                  </m:oMath>
                </a14:m>
                <a:endParaRPr lang="en-US" altLang="zh-CN" sz="2000" i="1">
                  <a:latin typeface="Cambria Math" panose="020405030504060302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a:latin typeface="Cambria Math" panose="02040503050406030204" pitchFamily="18" charset="0"/>
                  </a:rPr>
                  <a:t>随机停止：</a:t>
                </a:r>
                <a14:m>
                  <m:oMath xmlns:m="http://schemas.openxmlformats.org/officeDocument/2006/math">
                    <m:r>
                      <a:rPr lang="zh-CN" altLang="en-US" sz="2000" i="1">
                        <a:latin typeface="Cambria Math" panose="02040503050406030204" pitchFamily="18" charset="0"/>
                      </a:rPr>
                      <m:t>𝜋</m:t>
                    </m:r>
                    <m:r>
                      <a:rPr lang="en-US" altLang="zh-CN"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𝑡</m:t>
                        </m:r>
                        <m:r>
                          <a:rPr lang="en-US" altLang="zh-CN" sz="2000" i="1">
                            <a:latin typeface="Cambria Math" panose="02040503050406030204" pitchFamily="18" charset="0"/>
                          </a:rPr>
                          <m:t>=</m:t>
                        </m:r>
                        <m:r>
                          <a:rPr lang="en-US" altLang="zh-CN" sz="2000" i="1">
                            <a:latin typeface="Cambria Math" panose="02040503050406030204" pitchFamily="18" charset="0"/>
                          </a:rPr>
                          <m:t>1</m:t>
                        </m:r>
                      </m:sub>
                      <m:sup>
                        <m:r>
                          <a:rPr lang="en-US" altLang="zh-CN" sz="2000" i="1">
                            <a:latin typeface="Cambria Math" panose="02040503050406030204" pitchFamily="18" charset="0"/>
                            <a:ea typeface="Cambria Math" panose="02040503050406030204" pitchFamily="18" charset="0"/>
                          </a:rPr>
                          <m:t>∞</m:t>
                        </m:r>
                      </m:sup>
                      <m:e>
                        <m:sSup>
                          <m:sSupPr>
                            <m:ctrlPr>
                              <a:rPr lang="en-US" altLang="zh-CN" sz="2000" i="1">
                                <a:latin typeface="Cambria Math" panose="02040503050406030204" pitchFamily="18" charset="0"/>
                              </a:rPr>
                            </m:ctrlPr>
                          </m:sSupPr>
                          <m:e>
                            <m:d>
                              <m:dPr>
                                <m:ctrlPr>
                                  <a:rPr lang="en-US" altLang="zh-CN" sz="2000" i="1" smtClean="0">
                                    <a:latin typeface="Cambria Math" panose="02040503050406030204" pitchFamily="18" charset="0"/>
                                  </a:rPr>
                                </m:ctrlPr>
                              </m:dPr>
                              <m:e>
                                <m:f>
                                  <m:fPr>
                                    <m:ctrlPr>
                                      <a:rPr lang="en-US" altLang="zh-CN" sz="2000" i="1" smtClean="0">
                                        <a:latin typeface="Cambria Math" panose="02040503050406030204" pitchFamily="18" charset="0"/>
                                      </a:rPr>
                                    </m:ctrlPr>
                                  </m:fPr>
                                  <m:num>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num>
                                  <m:den>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𝛾</m:t>
                                    </m:r>
                                  </m:den>
                                </m:f>
                              </m:e>
                            </m:d>
                          </m:e>
                          <m:sup>
                            <m:r>
                              <a:rPr lang="en-US" altLang="zh-CN" sz="2000" i="1">
                                <a:latin typeface="Cambria Math" panose="02040503050406030204" pitchFamily="18" charset="0"/>
                              </a:rPr>
                              <m:t>𝑡</m:t>
                            </m:r>
                            <m:r>
                              <a:rPr lang="en-US" altLang="zh-CN" sz="2000" i="1">
                                <a:latin typeface="Cambria Math" panose="02040503050406030204" pitchFamily="18" charset="0"/>
                              </a:rPr>
                              <m:t>−</m:t>
                            </m:r>
                            <m:r>
                              <a:rPr lang="en-US" altLang="zh-CN" sz="2000" i="1">
                                <a:latin typeface="Cambria Math" panose="02040503050406030204" pitchFamily="18" charset="0"/>
                              </a:rPr>
                              <m:t>1</m:t>
                            </m:r>
                          </m:sup>
                        </m:sSup>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𝜋</m:t>
                            </m:r>
                          </m:e>
                          <m:sub>
                            <m:r>
                              <a:rPr lang="en-US" altLang="zh-CN" sz="2000" i="1">
                                <a:latin typeface="Cambria Math" panose="02040503050406030204" pitchFamily="18" charset="0"/>
                              </a:rPr>
                              <m:t>𝑡</m:t>
                            </m:r>
                          </m:sub>
                        </m:sSub>
                      </m:e>
                    </m:nary>
                  </m:oMath>
                </a14:m>
                <a:endParaRPr lang="en-US" altLang="zh-CN" sz="2000" i="1">
                  <a:latin typeface="Cambria Math" panose="02040503050406030204" pitchFamily="18" charset="0"/>
                </a:endParaRPr>
              </a:p>
              <a:p>
                <a:pPr marL="342900" lvl="0" indent="-34290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平均得益</a:t>
                </a:r>
                <a:endPar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无限次：</a:t>
                </a:r>
                <a14:m>
                  <m:oMath xmlns:m="http://schemas.openxmlformats.org/officeDocument/2006/math">
                    <m:acc>
                      <m:accPr>
                        <m:chr m:val="̅"/>
                        <m:ctrlPr>
                          <a:rPr lang="zh-CN" altLang="en-US" sz="2000" i="1" smtClean="0">
                            <a:latin typeface="Cambria Math" panose="02040503050406030204" pitchFamily="18" charset="0"/>
                          </a:rPr>
                        </m:ctrlPr>
                      </m:accPr>
                      <m:e>
                        <m:r>
                          <a:rPr lang="zh-CN" altLang="en-US" sz="2000" i="1">
                            <a:latin typeface="Cambria Math" panose="02040503050406030204" pitchFamily="18" charset="0"/>
                          </a:rPr>
                          <m:t>𝜋</m:t>
                        </m:r>
                      </m:e>
                    </m:acc>
                    <m:r>
                      <a:rPr lang="en-US" altLang="zh-CN" sz="2000" i="1">
                        <a:latin typeface="Cambria Math" panose="02040503050406030204" pitchFamily="18" charset="0"/>
                      </a:rPr>
                      <m:t>=</m:t>
                    </m:r>
                    <m:d>
                      <m:dPr>
                        <m:ctrlPr>
                          <a:rPr lang="en-US" altLang="zh-CN" sz="2000" i="1" smtClean="0">
                            <a:latin typeface="Cambria Math" panose="02040503050406030204" pitchFamily="18" charset="0"/>
                          </a:rPr>
                        </m:ctrlPr>
                      </m:dPr>
                      <m:e>
                        <m:r>
                          <a:rPr lang="en-US" altLang="zh-CN" sz="2000" i="1">
                            <a:latin typeface="Cambria Math" panose="02040503050406030204" pitchFamily="18" charset="0"/>
                          </a:rPr>
                          <m:t>1</m:t>
                        </m:r>
                        <m:r>
                          <a:rPr lang="en-US" altLang="zh-CN" sz="2000" i="1" smtClean="0">
                            <a:latin typeface="Cambria Math" panose="02040503050406030204" pitchFamily="18" charset="0"/>
                          </a:rPr>
                          <m:t>−</m:t>
                        </m:r>
                        <m:r>
                          <a:rPr lang="zh-CN" altLang="en-US" sz="2000" i="1" smtClean="0">
                            <a:latin typeface="Cambria Math" panose="02040503050406030204" pitchFamily="18" charset="0"/>
                          </a:rPr>
                          <m:t>𝛿</m:t>
                        </m:r>
                      </m:e>
                    </m:d>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𝑡</m:t>
                        </m:r>
                        <m:r>
                          <a:rPr lang="en-US" altLang="zh-CN" sz="2000" i="1">
                            <a:latin typeface="Cambria Math" panose="02040503050406030204" pitchFamily="18" charset="0"/>
                          </a:rPr>
                          <m:t>=</m:t>
                        </m:r>
                        <m:r>
                          <a:rPr lang="en-US" altLang="zh-CN" sz="2000" i="1">
                            <a:latin typeface="Cambria Math" panose="02040503050406030204" pitchFamily="18" charset="0"/>
                          </a:rPr>
                          <m:t>1</m:t>
                        </m:r>
                      </m:sub>
                      <m:sup>
                        <m:r>
                          <a:rPr lang="en-US" altLang="zh-CN" sz="2000" i="1">
                            <a:latin typeface="Cambria Math" panose="02040503050406030204" pitchFamily="18" charset="0"/>
                            <a:ea typeface="Cambria Math" panose="02040503050406030204" pitchFamily="18" charset="0"/>
                          </a:rPr>
                          <m:t>∞</m:t>
                        </m:r>
                      </m:sup>
                      <m:e>
                        <m:sSup>
                          <m:sSupPr>
                            <m:ctrlPr>
                              <a:rPr lang="en-US" altLang="zh-CN" sz="2000" i="1">
                                <a:latin typeface="Cambria Math" panose="02040503050406030204" pitchFamily="18" charset="0"/>
                              </a:rPr>
                            </m:ctrlPr>
                          </m:sSupPr>
                          <m:e>
                            <m:r>
                              <a:rPr lang="zh-CN" altLang="en-US" sz="2000" i="1">
                                <a:latin typeface="Cambria Math" panose="02040503050406030204" pitchFamily="18" charset="0"/>
                              </a:rPr>
                              <m:t>𝛿</m:t>
                            </m:r>
                          </m:e>
                          <m:sup>
                            <m:r>
                              <a:rPr lang="en-US" altLang="zh-CN" sz="2000" i="1">
                                <a:latin typeface="Cambria Math" panose="02040503050406030204" pitchFamily="18" charset="0"/>
                              </a:rPr>
                              <m:t>𝑡</m:t>
                            </m:r>
                            <m:r>
                              <a:rPr lang="en-US" altLang="zh-CN" sz="2000" i="1">
                                <a:latin typeface="Cambria Math" panose="02040503050406030204" pitchFamily="18" charset="0"/>
                              </a:rPr>
                              <m:t>−</m:t>
                            </m:r>
                            <m:r>
                              <a:rPr lang="en-US" altLang="zh-CN" sz="2000" i="1">
                                <a:latin typeface="Cambria Math" panose="02040503050406030204" pitchFamily="18" charset="0"/>
                              </a:rPr>
                              <m:t>1</m:t>
                            </m:r>
                          </m:sup>
                        </m:sSup>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𝜋</m:t>
                            </m:r>
                          </m:e>
                          <m:sub>
                            <m:r>
                              <a:rPr lang="en-US" altLang="zh-CN" sz="2000" i="1">
                                <a:latin typeface="Cambria Math" panose="02040503050406030204" pitchFamily="18" charset="0"/>
                              </a:rPr>
                              <m:t>𝑡</m:t>
                            </m:r>
                          </m:sub>
                        </m:sSub>
                      </m:e>
                    </m:nary>
                  </m:oMath>
                </a14:m>
                <a:endPar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9" name="Title 6"/>
              <p:cNvSpPr txBox="1">
                <a:spLocks noRot="1" noChangeAspect="1" noMove="1" noResize="1" noEditPoints="1" noAdjustHandles="1" noChangeArrowheads="1" noChangeShapeType="1" noTextEdit="1"/>
              </p:cNvSpPr>
              <p:nvPr>
                <p:custDataLst>
                  <p:tags r:id="rId8"/>
                </p:custDataLst>
              </p:nvPr>
            </p:nvSpPr>
            <p:spPr>
              <a:xfrm>
                <a:off x="2135505" y="2052955"/>
                <a:ext cx="8622030" cy="3630930"/>
              </a:xfrm>
              <a:prstGeom prst="rect">
                <a:avLst/>
              </a:prstGeom>
              <a:blipFill rotWithShape="1">
                <a:blip r:embed="rId9"/>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1201400" cy="762000"/>
            <a:chOff x="840" y="240"/>
            <a:chExt cx="17640" cy="1200"/>
          </a:xfrm>
        </p:grpSpPr>
        <p:sp>
          <p:nvSpPr>
            <p:cNvPr id="3" name="文本框 6"/>
            <p:cNvSpPr txBox="1"/>
            <p:nvPr>
              <p:custDataLst>
                <p:tags r:id="rId1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endParaRPr lang="zh-CN" altLang="en-US" sz="3200" dirty="0">
                <a:solidFill>
                  <a:schemeClr val="accent1"/>
                </a:solidFill>
                <a:sym typeface="+mn-ea"/>
              </a:endParaRPr>
            </a:p>
          </p:txBody>
        </p:sp>
        <p:cxnSp>
          <p:nvCxnSpPr>
            <p:cNvPr id="12" name="直接连接符 11"/>
            <p:cNvCxnSpPr/>
            <p:nvPr>
              <p:custDataLst>
                <p:tags r:id="rId1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基本概念</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16386" name="Rectangle 2"/>
          <p:cNvSpPr>
            <a:spLocks noGrp="1"/>
          </p:cNvSpPr>
          <p:nvPr/>
        </p:nvSpPr>
        <p:spPr>
          <a:xfrm>
            <a:off x="695325" y="1124585"/>
            <a:ext cx="10097135" cy="4267200"/>
          </a:xfrm>
          <a:prstGeom prst="rect">
            <a:avLst/>
          </a:prstGeom>
          <a:noFill/>
          <a:ln w="9525">
            <a:noFill/>
            <a:miter/>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200" b="1" kern="1200">
                <a:solidFill>
                  <a:schemeClr val="tx1"/>
                </a:solidFill>
                <a:latin typeface="+mn-lt"/>
                <a:ea typeface="+mn-ea"/>
                <a:cs typeface="+mn-cs"/>
              </a:defRPr>
            </a:lvl1pPr>
            <a:lvl2pPr marL="908050" lvl="1" indent="-436880" algn="l" rtl="0" eaLnBrk="0" fontAlgn="base" hangingPunct="0">
              <a:spcBef>
                <a:spcPct val="20000"/>
              </a:spcBef>
              <a:spcAft>
                <a:spcPct val="0"/>
              </a:spcAft>
              <a:buClr>
                <a:schemeClr val="accent2"/>
              </a:buClr>
              <a:buFont typeface="Wingdings" panose="05000000000000000000" pitchFamily="2" charset="2"/>
              <a:buChar char="n"/>
              <a:defRPr sz="2800" b="1" kern="1200">
                <a:solidFill>
                  <a:schemeClr val="tx1"/>
                </a:solidFill>
                <a:latin typeface="+mn-lt"/>
                <a:ea typeface="+mn-ea"/>
                <a:cs typeface="+mn-cs"/>
              </a:defRPr>
            </a:lvl2pPr>
            <a:lvl3pPr marL="1304925" lvl="2"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4180" lvl="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4230" lvl="4"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eaLnBrk="0" fontAlgn="base" latinLnBrk="0" hangingPunct="0">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5000"/>
              </a:spcBef>
              <a:spcAft>
                <a:spcPct val="0"/>
              </a:spcAft>
              <a:buClr>
                <a:schemeClr val="accent2"/>
              </a:buClr>
              <a:buFont typeface="Wingdings" panose="05000000000000000000" pitchFamily="2" charset="2"/>
              <a:buChar char="§"/>
              <a:defRPr sz="2000" b="0" i="0" u="none" kern="1200" baseline="0">
                <a:solidFill>
                  <a:schemeClr val="tx1"/>
                </a:solidFill>
                <a:latin typeface="+mn-lt"/>
                <a:ea typeface="+mn-ea"/>
                <a:cs typeface="+mn-cs"/>
              </a:defRPr>
            </a:lvl9pPr>
          </a:lstStyle>
          <a:p>
            <a:pPr marL="0" marR="0" lvl="0" indent="0" algn="l" defTabSz="914400" rtl="0" eaLnBrk="0" fontAlgn="base" latinLnBrk="0" hangingPunct="0">
              <a:lnSpc>
                <a:spcPct val="150000"/>
              </a:lnSpc>
              <a:spcBef>
                <a:spcPts val="0"/>
              </a:spcBef>
              <a:spcAft>
                <a:spcPct val="0"/>
              </a:spcAft>
              <a:buClr>
                <a:schemeClr val="accent2"/>
              </a:buClr>
              <a:buSzTx/>
              <a:buFont typeface="Wingdings" panose="05000000000000000000" charset="0"/>
              <a:buNone/>
              <a:defRPr/>
            </a:pPr>
            <a:r>
              <a:rPr kumimoji="0" lang="zh-CN" altLang="en-US" sz="2200" b="1" i="0" u="none" strike="noStrike" kern="1200" cap="none" spc="0" normalizeH="0" baseline="0" noProof="1">
                <a:ln>
                  <a:noFill/>
                </a:ln>
                <a:solidFill>
                  <a:schemeClr val="tx1"/>
                </a:solidFill>
                <a:effectLst/>
                <a:uLnTx/>
                <a:uFillTx/>
                <a:latin typeface="黑体" panose="02010609060101010101" pitchFamily="49" charset="-122"/>
                <a:ea typeface="+mn-ea"/>
                <a:cs typeface="+mn-cs"/>
              </a:rPr>
              <a:t>重复博弈的基本特征</a:t>
            </a:r>
            <a:endParaRPr kumimoji="0" lang="zh-CN" altLang="en-US" sz="2200" b="1" i="0" u="none" strike="noStrike" kern="1200" cap="none" spc="0" normalizeH="0" baseline="0" noProof="1">
              <a:ln>
                <a:noFill/>
              </a:ln>
              <a:solidFill>
                <a:schemeClr val="tx1"/>
              </a:solidFill>
              <a:effectLst/>
              <a:uLnTx/>
              <a:uFillTx/>
              <a:latin typeface="黑体" panose="02010609060101010101" pitchFamily="49" charset="-122"/>
              <a:ea typeface="+mn-ea"/>
              <a:cs typeface="+mn-cs"/>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r>
              <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阶段博弈之间没有</a:t>
            </a:r>
            <a:r>
              <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“物质上”的联系，也就是说，前一阶段的博弈不改变后一阶段博弈的结构（对比之下，序贯博弈涉及物质上的联系）。</a:t>
            </a:r>
            <a:endPar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r>
              <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所有博弈方都观测到博弈过去的历史（如在每一个新的阶段博弈，两个囚徒都知道同伙在过去的每次博弈中选择了抵赖还是坦白）。</a:t>
            </a:r>
            <a:endPar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r>
              <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博弈方的</a:t>
            </a:r>
            <a:r>
              <a:rPr kumimoji="0" lang="zh-CN" altLang="en-US" sz="20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总得益</a:t>
            </a:r>
            <a:r>
              <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是所有阶段博弈得益的</a:t>
            </a:r>
            <a:r>
              <a:rPr kumimoji="0" lang="zh-CN" altLang="en-US" sz="20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贴现值之和或加权平均值</a:t>
            </a:r>
            <a:r>
              <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r>
              <a:rPr lang="zh-CN" altLang="en-US" sz="2000" b="0" dirty="0">
                <a:latin typeface="黑体" panose="02010609060101010101" pitchFamily="49" charset="-122"/>
                <a:sym typeface="+mn-ea"/>
              </a:rPr>
              <a:t>由于其他博弈方过去行动的历史是观测得到的，一个博弈方可以使自己在某个阶段博弈的选择依赖于其他博弈方过去的行动历史。</a:t>
            </a:r>
            <a:endParaRPr lang="zh-CN" altLang="en-US" sz="2000" b="0" dirty="0">
              <a:latin typeface="黑体" panose="02010609060101010101" pitchFamily="49" charset="-122"/>
              <a:sym typeface="+mn-ea"/>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r>
              <a:rPr lang="zh-CN" altLang="en-US" sz="2000" b="0" dirty="0">
                <a:latin typeface="黑体" panose="02010609060101010101" pitchFamily="49" charset="-122"/>
                <a:sym typeface="+mn-ea"/>
              </a:rPr>
              <a:t>影响重复博弈均衡结果的主要因素是：</a:t>
            </a:r>
            <a:r>
              <a:rPr lang="zh-CN" altLang="en-US" sz="2000" b="0" dirty="0">
                <a:latin typeface="黑体" panose="02010609060101010101" pitchFamily="49" charset="-122"/>
                <a:sym typeface="+mn-ea"/>
              </a:rPr>
              <a:t>博弈重复的次数和信息的完备性。</a:t>
            </a:r>
            <a:endParaRPr lang="zh-CN" altLang="en-US" sz="2000" b="0" dirty="0">
              <a:latin typeface="黑体" panose="02010609060101010101" pitchFamily="49" charset="-122"/>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endParaRPr lang="zh-CN" altLang="en-US" sz="2000" b="0" dirty="0">
              <a:latin typeface="黑体" panose="02010609060101010101" pitchFamily="49" charset="-122"/>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endParaRPr kumimoji="0" lang="zh-CN" altLang="en-US" sz="2000"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4"/>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5" name="矩形 4"/>
          <p:cNvSpPr/>
          <p:nvPr>
            <p:custDataLst>
              <p:tags r:id="rId1"/>
            </p:custDataLst>
          </p:nvPr>
        </p:nvSpPr>
        <p:spPr>
          <a:xfrm>
            <a:off x="460330" y="1571047"/>
            <a:ext cx="11277690" cy="4477906"/>
          </a:xfrm>
          <a:custGeom>
            <a:avLst/>
            <a:gdLst>
              <a:gd name="connsiteX0" fmla="*/ 0 w 9899943"/>
              <a:gd name="connsiteY0" fmla="*/ 0 h 4048220"/>
              <a:gd name="connsiteX1" fmla="*/ 9899943 w 9899943"/>
              <a:gd name="connsiteY1" fmla="*/ 0 h 4048220"/>
              <a:gd name="connsiteX2" fmla="*/ 9899943 w 9899943"/>
              <a:gd name="connsiteY2" fmla="*/ 4048220 h 4048220"/>
              <a:gd name="connsiteX3" fmla="*/ 0 w 9899943"/>
              <a:gd name="connsiteY3" fmla="*/ 4048220 h 4048220"/>
              <a:gd name="connsiteX4" fmla="*/ 0 w 9899943"/>
              <a:gd name="connsiteY4" fmla="*/ 0 h 4048220"/>
              <a:gd name="connsiteX0-1" fmla="*/ 0 w 9899943"/>
              <a:gd name="connsiteY0-2" fmla="*/ 0 h 4048220"/>
              <a:gd name="connsiteX1-3" fmla="*/ 9899943 w 9899943"/>
              <a:gd name="connsiteY1-4" fmla="*/ 0 h 4048220"/>
              <a:gd name="connsiteX2-5" fmla="*/ 9899943 w 9899943"/>
              <a:gd name="connsiteY2-6" fmla="*/ 4048220 h 4048220"/>
              <a:gd name="connsiteX3-7" fmla="*/ 808083 w 9899943"/>
              <a:gd name="connsiteY3-8" fmla="*/ 4043410 h 4048220"/>
              <a:gd name="connsiteX4-9" fmla="*/ 0 w 9899943"/>
              <a:gd name="connsiteY4-10" fmla="*/ 4048220 h 4048220"/>
              <a:gd name="connsiteX5" fmla="*/ 0 w 9899943"/>
              <a:gd name="connsiteY5" fmla="*/ 0 h 4048220"/>
              <a:gd name="connsiteX0-11" fmla="*/ 0 w 9899943"/>
              <a:gd name="connsiteY0-12" fmla="*/ 0 h 4048220"/>
              <a:gd name="connsiteX1-13" fmla="*/ 9899943 w 9899943"/>
              <a:gd name="connsiteY1-14" fmla="*/ 0 h 4048220"/>
              <a:gd name="connsiteX2-15" fmla="*/ 9899943 w 9899943"/>
              <a:gd name="connsiteY2-16" fmla="*/ 4048220 h 4048220"/>
              <a:gd name="connsiteX3-17" fmla="*/ 1730103 w 9899943"/>
              <a:gd name="connsiteY3-18" fmla="*/ 4043410 h 4048220"/>
              <a:gd name="connsiteX4-19" fmla="*/ 808083 w 9899943"/>
              <a:gd name="connsiteY4-20" fmla="*/ 4043410 h 4048220"/>
              <a:gd name="connsiteX5-21" fmla="*/ 0 w 9899943"/>
              <a:gd name="connsiteY5-22" fmla="*/ 4048220 h 4048220"/>
              <a:gd name="connsiteX6" fmla="*/ 0 w 9899943"/>
              <a:gd name="connsiteY6" fmla="*/ 0 h 4048220"/>
              <a:gd name="connsiteX0-23" fmla="*/ 808083 w 9899943"/>
              <a:gd name="connsiteY0-24" fmla="*/ 4043410 h 4134850"/>
              <a:gd name="connsiteX1-25" fmla="*/ 0 w 9899943"/>
              <a:gd name="connsiteY1-26" fmla="*/ 4048220 h 4134850"/>
              <a:gd name="connsiteX2-27" fmla="*/ 0 w 9899943"/>
              <a:gd name="connsiteY2-28" fmla="*/ 0 h 4134850"/>
              <a:gd name="connsiteX3-29" fmla="*/ 9899943 w 9899943"/>
              <a:gd name="connsiteY3-30" fmla="*/ 0 h 4134850"/>
              <a:gd name="connsiteX4-31" fmla="*/ 9899943 w 9899943"/>
              <a:gd name="connsiteY4-32" fmla="*/ 4048220 h 4134850"/>
              <a:gd name="connsiteX5-33" fmla="*/ 1730103 w 9899943"/>
              <a:gd name="connsiteY5-34" fmla="*/ 4043410 h 4134850"/>
              <a:gd name="connsiteX6-35" fmla="*/ 899523 w 9899943"/>
              <a:gd name="connsiteY6-36" fmla="*/ 4134850 h 4134850"/>
              <a:gd name="connsiteX0-37" fmla="*/ 808083 w 9899943"/>
              <a:gd name="connsiteY0-38" fmla="*/ 4043410 h 4048220"/>
              <a:gd name="connsiteX1-39" fmla="*/ 0 w 9899943"/>
              <a:gd name="connsiteY1-40" fmla="*/ 4048220 h 4048220"/>
              <a:gd name="connsiteX2-41" fmla="*/ 0 w 9899943"/>
              <a:gd name="connsiteY2-42" fmla="*/ 0 h 4048220"/>
              <a:gd name="connsiteX3-43" fmla="*/ 9899943 w 9899943"/>
              <a:gd name="connsiteY3-44" fmla="*/ 0 h 4048220"/>
              <a:gd name="connsiteX4-45" fmla="*/ 9899943 w 9899943"/>
              <a:gd name="connsiteY4-46" fmla="*/ 4048220 h 4048220"/>
              <a:gd name="connsiteX5-47" fmla="*/ 1730103 w 9899943"/>
              <a:gd name="connsiteY5-48" fmla="*/ 4043410 h 40482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9899943" h="4048220">
                <a:moveTo>
                  <a:pt x="808083" y="4043410"/>
                </a:moveTo>
                <a:lnTo>
                  <a:pt x="0" y="4048220"/>
                </a:lnTo>
                <a:lnTo>
                  <a:pt x="0" y="0"/>
                </a:lnTo>
                <a:lnTo>
                  <a:pt x="9899943" y="0"/>
                </a:lnTo>
                <a:lnTo>
                  <a:pt x="9899943" y="4048220"/>
                </a:lnTo>
                <a:lnTo>
                  <a:pt x="1730103" y="4043410"/>
                </a:lnTo>
              </a:path>
            </a:pathLst>
          </a:custGeom>
          <a:noFill/>
          <a:ln w="349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sp>
        <p:nvSpPr>
          <p:cNvPr id="10" name="衬底"/>
          <p:cNvSpPr/>
          <p:nvPr>
            <p:custDataLst>
              <p:tags r:id="rId2"/>
            </p:custDataLst>
          </p:nvPr>
        </p:nvSpPr>
        <p:spPr>
          <a:xfrm>
            <a:off x="5571045" y="1074220"/>
            <a:ext cx="5734853" cy="5471571"/>
          </a:xfrm>
          <a:prstGeom prst="rect">
            <a:avLst/>
          </a:prstGeom>
          <a:solidFill>
            <a:srgbClr val="FFFFFF"/>
          </a:solidFill>
          <a:ln>
            <a:noFill/>
          </a:ln>
          <a:effectLst>
            <a:outerShdw blurRad="127000" dist="38100" dir="5400000" algn="t" rotWithShape="0">
              <a:schemeClr val="dk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600" b="1">
              <a:solidFill>
                <a:schemeClr val="lt1"/>
              </a:solidFill>
              <a:latin typeface="微软雅黑" panose="020B0503020204020204" pitchFamily="34" charset="-122"/>
              <a:ea typeface="微软雅黑" panose="020B0503020204020204" pitchFamily="34" charset="-122"/>
            </a:endParaRPr>
          </a:p>
        </p:txBody>
      </p:sp>
      <p:sp>
        <p:nvSpPr>
          <p:cNvPr id="11" name="Title 6"/>
          <p:cNvSpPr txBox="1"/>
          <p:nvPr>
            <p:custDataLst>
              <p:tags r:id="rId3"/>
            </p:custDataLst>
          </p:nvPr>
        </p:nvSpPr>
        <p:spPr>
          <a:xfrm>
            <a:off x="1055370" y="2835910"/>
            <a:ext cx="3813175" cy="17456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零和博弈是严格竞争的，重复博弈并不改变这一均衡点：博弈方之间关系严格对立，矛盾不可调和。</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Title 6"/>
          <p:cNvSpPr txBox="1"/>
          <p:nvPr>
            <p:custDataLst>
              <p:tags r:id="rId4"/>
            </p:custDataLst>
          </p:nvPr>
        </p:nvSpPr>
        <p:spPr>
          <a:xfrm>
            <a:off x="5902374" y="1405205"/>
            <a:ext cx="5072183" cy="480959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零和博弈</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为原博弈的有限次重复博弈与猜硬币博弈的有限次重复博弈一样，</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博弈方的正确策略是重复一次性博弈中的纳什均衡策略</a:t>
            </a:r>
            <a:r>
              <a:rPr lang="zh-CN" altLang="en-US" sz="18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8826500" cy="762000"/>
            <a:chOff x="840" y="240"/>
            <a:chExt cx="13900" cy="1200"/>
          </a:xfrm>
        </p:grpSpPr>
        <p:sp>
          <p:nvSpPr>
            <p:cNvPr id="3" name="文本框 6"/>
            <p:cNvSpPr txBox="1"/>
            <p:nvPr>
              <p:custDataLst>
                <p:tags r:id="rId6"/>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两人零和博弈的有限次重复博弈</a:t>
              </a:r>
              <a:endParaRPr lang="zh-CN" altLang="en-US" sz="2800" dirty="0">
                <a:solidFill>
                  <a:schemeClr val="accent1"/>
                </a:solidFill>
                <a:sym typeface="+mn-ea"/>
              </a:endParaRPr>
            </a:p>
          </p:txBody>
        </p:sp>
        <p:cxnSp>
          <p:nvCxnSpPr>
            <p:cNvPr id="7" name="直接连接符 6"/>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Title 6"/>
          <p:cNvSpPr txBox="1"/>
          <p:nvPr>
            <p:custDataLst>
              <p:tags r:id="rId8"/>
            </p:custDataLst>
          </p:nvPr>
        </p:nvSpPr>
        <p:spPr>
          <a:xfrm>
            <a:off x="1055370" y="4581525"/>
            <a:ext cx="3784600" cy="116078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重复零和博弈不会创造出新的价值。</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5" name="Title 6"/>
          <p:cNvSpPr txBox="1"/>
          <p:nvPr>
            <p:custDataLst>
              <p:tags r:id="rId1"/>
            </p:custDataLst>
          </p:nvPr>
        </p:nvSpPr>
        <p:spPr>
          <a:xfrm>
            <a:off x="911225" y="980440"/>
            <a:ext cx="10017125" cy="283273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30000"/>
              </a:lnSpc>
              <a:spcBef>
                <a:spcPts val="0"/>
              </a:spcBef>
              <a:spcAft>
                <a:spcPts val="800"/>
              </a:spcAft>
              <a:buSzPct val="100000"/>
              <a:buFont typeface="Arial" panose="020B0604020202020204" pitchFamily="34" charset="0"/>
              <a:buChar char="•"/>
            </a:pPr>
            <a:r>
              <a:rPr lang="zh-CN" altLang="en-US" sz="24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情形一：</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唯一纯策略纳什均衡是帕累托效率意义上的最佳策略组合。</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30000"/>
              </a:lnSpc>
              <a:spcBef>
                <a:spcPts val="0"/>
              </a:spcBef>
              <a:spcAft>
                <a:spcPts val="800"/>
              </a:spcAft>
              <a:buSzPct val="100000"/>
              <a:buFont typeface="Arial" panose="020B0604020202020204" pitchFamily="34" charset="0"/>
              <a:buChar char="•"/>
            </a:pPr>
            <a:r>
              <a:rPr lang="zh-CN" altLang="en-US" sz="24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情形二：</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原博弈唯一的均衡没有达到帕累托效率，存在通过合作进一步提高效率的可能性，在有限次重复博弈中能不能实现合作和提高效率呢？例如：囚徒困境博弈</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0473690" cy="762000"/>
            <a:chOff x="840" y="240"/>
            <a:chExt cx="16494" cy="1200"/>
          </a:xfrm>
        </p:grpSpPr>
        <p:sp>
          <p:nvSpPr>
            <p:cNvPr id="3" name="文本框 6"/>
            <p:cNvSpPr txBox="1"/>
            <p:nvPr>
              <p:custDataLst>
                <p:tags r:id="rId3"/>
              </p:custDataLst>
            </p:nvPr>
          </p:nvSpPr>
          <p:spPr>
            <a:xfrm>
              <a:off x="1200" y="240"/>
              <a:ext cx="16134"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唯一纯策略纳什均衡博弈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4" name="直接连接符 3"/>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839476" y="98044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457200" indent="-457200" algn="l">
              <a:lnSpc>
                <a:spcPct val="100000"/>
              </a:lnSpc>
              <a:spcBef>
                <a:spcPts val="0"/>
              </a:spcBef>
              <a:spcAft>
                <a:spcPts val="0"/>
              </a:spcAft>
              <a:buSzPct val="100000"/>
              <a:buFont typeface="Wingdings" panose="05000000000000000000" charset="0"/>
              <a:buChar char="u"/>
            </a:pPr>
            <a:r>
              <a:rPr lang="zh-CN" altLang="en-US" sz="2400" dirty="0">
                <a:solidFill>
                  <a:schemeClr val="tx1"/>
                </a:solidFill>
                <a:sym typeface="+mn-ea"/>
              </a:rPr>
              <a:t>二次重复囚徒困境博弈</a:t>
            </a:r>
            <a:endParaRPr lang="zh-CN" altLang="en-US" sz="2400" dirty="0">
              <a:solidFill>
                <a:schemeClr val="tx1"/>
              </a:solidFill>
              <a:sym typeface="+mn-ea"/>
            </a:endParaRPr>
          </a:p>
        </p:txBody>
      </p:sp>
      <p:sp>
        <p:nvSpPr>
          <p:cNvPr id="18" name="Title 6"/>
          <p:cNvSpPr txBox="1"/>
          <p:nvPr>
            <p:custDataLst>
              <p:tags r:id="rId2"/>
            </p:custDataLst>
          </p:nvPr>
        </p:nvSpPr>
        <p:spPr>
          <a:xfrm>
            <a:off x="3359785" y="3356610"/>
            <a:ext cx="2049145" cy="518795"/>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第2阶段</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Title 6"/>
          <p:cNvSpPr txBox="1"/>
          <p:nvPr>
            <p:custDataLst>
              <p:tags r:id="rId3"/>
            </p:custDataLst>
          </p:nvPr>
        </p:nvSpPr>
        <p:spPr>
          <a:xfrm>
            <a:off x="9336405" y="3284855"/>
            <a:ext cx="1703070" cy="600710"/>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第1阶段</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a:graphicFrameLocks noGrp="1"/>
          </p:cNvGraphicFramePr>
          <p:nvPr>
            <p:custDataLst>
              <p:tags r:id="rId4"/>
            </p:custDataLst>
          </p:nvPr>
        </p:nvGraphicFramePr>
        <p:xfrm>
          <a:off x="119380" y="4077335"/>
          <a:ext cx="5727700" cy="2678430"/>
        </p:xfrm>
        <a:graphic>
          <a:graphicData uri="http://schemas.openxmlformats.org/drawingml/2006/table">
            <a:tbl>
              <a:tblPr firstRow="1" bandRow="1">
                <a:tableStyleId>{2D5ABB26-0587-4C30-8999-92F81FD0307C}</a:tableStyleId>
              </a:tblPr>
              <a:tblGrid>
                <a:gridCol w="1283335"/>
                <a:gridCol w="1463675"/>
                <a:gridCol w="1526540"/>
                <a:gridCol w="1454150"/>
              </a:tblGrid>
              <a:tr h="73850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7373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3730">
                <a:tc vMerge="1">
                  <a:tcPr>
                    <a:lnL>
                      <a:noFill/>
                    </a:lnL>
                    <a:lnR>
                      <a:noFill/>
                    </a:lnR>
                    <a:lnB>
                      <a:noFill/>
                    </a:lnB>
                  </a:tcPr>
                </a:tc>
                <a:tc>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graphicFrame>
        <p:nvGraphicFramePr>
          <p:cNvPr id="3" name="表格 2"/>
          <p:cNvGraphicFramePr>
            <a:graphicFrameLocks noGrp="1"/>
          </p:cNvGraphicFramePr>
          <p:nvPr>
            <p:custDataLst>
              <p:tags r:id="rId5"/>
            </p:custDataLst>
          </p:nvPr>
        </p:nvGraphicFramePr>
        <p:xfrm>
          <a:off x="5951855" y="4107815"/>
          <a:ext cx="5899785" cy="2575560"/>
        </p:xfrm>
        <a:graphic>
          <a:graphicData uri="http://schemas.openxmlformats.org/drawingml/2006/table">
            <a:tbl>
              <a:tblPr firstRow="1" bandRow="1">
                <a:tableStyleId>{2D5ABB26-0587-4C30-8999-92F81FD0307C}</a:tableStyleId>
              </a:tblPr>
              <a:tblGrid>
                <a:gridCol w="1322070"/>
                <a:gridCol w="1506855"/>
                <a:gridCol w="1573530"/>
                <a:gridCol w="1497330"/>
              </a:tblGrid>
              <a:tr h="655320">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55320">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p>
                      <a:pPr algn="ctr">
                        <a:lnSpc>
                          <a:spcPct val="120000"/>
                        </a:lnSpc>
                        <a:spcBef>
                          <a:spcPts val="0"/>
                        </a:spcBef>
                        <a:spcAft>
                          <a:spcPts val="0"/>
                        </a:spcAft>
                        <a:buClrTx/>
                        <a:buSzTx/>
                        <a:buFontTx/>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囚甲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坦  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-10</a:t>
                      </a:r>
                      <a:endPar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不坦白</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-13</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12" name="Title 6"/>
          <p:cNvSpPr txBox="1"/>
          <p:nvPr>
            <p:custDataLst>
              <p:tags r:id="rId7"/>
            </p:custDataLst>
          </p:nvPr>
        </p:nvSpPr>
        <p:spPr>
          <a:xfrm>
            <a:off x="1373505" y="1628775"/>
            <a:ext cx="9444990" cy="1160145"/>
          </a:xfrm>
          <a:prstGeom prst="rect">
            <a:avLst/>
          </a:prstGeom>
          <a:noFill/>
          <a:ln w="3175">
            <a:noFill/>
            <a:prstDash val="dash"/>
          </a:ln>
        </p:spPr>
        <p:txBody>
          <a:bodyPr wrap="square" lIns="63500" tIns="25400" rIns="63500" bIns="25400" anchor="b" anchorCtr="0">
            <a:normAutofit fontScale="4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571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双方看到第一次博弈的结果后再进行第二次博弈，最后得益是两次博弈各自得益的和。</a:t>
            </a:r>
            <a:endParaRPr lang="zh-CN" altLang="en-US" sz="5715"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8" name="组合 7"/>
          <p:cNvGrpSpPr/>
          <p:nvPr/>
        </p:nvGrpSpPr>
        <p:grpSpPr>
          <a:xfrm>
            <a:off x="533400" y="152400"/>
            <a:ext cx="10473690" cy="762000"/>
            <a:chOff x="840" y="240"/>
            <a:chExt cx="16494" cy="1200"/>
          </a:xfrm>
        </p:grpSpPr>
        <p:sp>
          <p:nvSpPr>
            <p:cNvPr id="4" name="文本框 6"/>
            <p:cNvSpPr txBox="1"/>
            <p:nvPr>
              <p:custDataLst>
                <p:tags r:id="rId8"/>
              </p:custDataLst>
            </p:nvPr>
          </p:nvSpPr>
          <p:spPr>
            <a:xfrm>
              <a:off x="1200" y="240"/>
              <a:ext cx="16134"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唯一纯策略纳什均衡博弈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10" name="直接连接符 9"/>
            <p:cNvCxnSpPr/>
            <p:nvPr>
              <p:custDataLst>
                <p:tags r:id="rId9"/>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5" name="Title 6"/>
          <p:cNvSpPr txBox="1"/>
          <p:nvPr>
            <p:custDataLst>
              <p:tags r:id="rId1"/>
            </p:custDataLst>
          </p:nvPr>
        </p:nvSpPr>
        <p:spPr>
          <a:xfrm>
            <a:off x="823595" y="1052830"/>
            <a:ext cx="10544175" cy="466407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Wingdings" panose="05000000000000000000" charset="0"/>
              <a:buChar char="u"/>
            </a:pPr>
            <a:r>
              <a:rPr lang="zh-CN" altLang="en-US" sz="24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一般结论：</a:t>
            </a:r>
            <a:r>
              <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如果原博弈有唯一的纯策略纳什均衡的博弈，则有限次重复博弈的唯一均衡即各博弈方在每阶段（每次重复博弈)中都</a:t>
            </a:r>
            <a:r>
              <a:rPr lang="zh-CN" altLang="en-US" sz="2400"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采用原博弈的纳什均衡策略</a:t>
            </a:r>
            <a:r>
              <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Wingdings" panose="05000000000000000000" charset="0"/>
              <a:buChar char="u"/>
            </a:pPr>
            <a:r>
              <a:rPr lang="zh-CN" altLang="en-US" sz="24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原因：</a:t>
            </a:r>
            <a:r>
              <a:rPr lang="zh-CN" altLang="en-US" sz="2400"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不存在不可信的威胁或承诺</a:t>
            </a:r>
            <a:r>
              <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，是子博弈完美纳什均衡，虽然存在潜在的合作利益，但合作有确定的结束期限，因此效率较高的合作结果还是不会出现。</a:t>
            </a:r>
            <a:endParaRPr lang="zh-CN" altLang="en-US" sz="24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Wingdings" panose="05000000000000000000" charset="0"/>
              <a:buChar char="u"/>
            </a:pPr>
            <a:r>
              <a:rPr lang="zh-CN" altLang="en-US" sz="24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定理：</a:t>
            </a:r>
            <a:r>
              <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设原博弈G</a:t>
            </a:r>
            <a:r>
              <a:rPr lang="zh-CN" altLang="en-US" sz="2400"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有唯一的纯策略纳什均衡</a:t>
            </a:r>
            <a:r>
              <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，则对任意正整数T，重复博弈 G(T)</a:t>
            </a:r>
            <a:r>
              <a:rPr lang="zh-CN" altLang="en-US" sz="2400"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有唯一的子博弈完美纳什均衡</a:t>
            </a:r>
            <a:r>
              <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，即各博弈方每个阶段都采用G的纳什均衡策略。</a:t>
            </a:r>
            <a:r>
              <a:rPr lang="zh-CN" altLang="en-US" sz="24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各博弈方在G(T)中的总得益为G中得益的T倍，平均得益等于原博弈G中的得益。</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Wingdings" panose="05000000000000000000" charset="0"/>
              <a:buChar char="u"/>
            </a:pP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0473690" cy="762000"/>
            <a:chOff x="840" y="240"/>
            <a:chExt cx="16494" cy="1200"/>
          </a:xfrm>
        </p:grpSpPr>
        <p:sp>
          <p:nvSpPr>
            <p:cNvPr id="3" name="文本框 6"/>
            <p:cNvSpPr txBox="1"/>
            <p:nvPr>
              <p:custDataLst>
                <p:tags r:id="rId3"/>
              </p:custDataLst>
            </p:nvPr>
          </p:nvSpPr>
          <p:spPr>
            <a:xfrm>
              <a:off x="1200" y="240"/>
              <a:ext cx="16134"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唯一纯策略纳什均衡博弈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4" name="直接连接符 3"/>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aphicFrame>
        <p:nvGraphicFramePr>
          <p:cNvPr id="3" name="表格 2"/>
          <p:cNvGraphicFramePr>
            <a:graphicFrameLocks noGrp="1"/>
          </p:cNvGraphicFramePr>
          <p:nvPr>
            <p:custDataLst>
              <p:tags r:id="rId1"/>
            </p:custDataLst>
          </p:nvPr>
        </p:nvGraphicFramePr>
        <p:xfrm>
          <a:off x="1051560" y="4076700"/>
          <a:ext cx="7603490" cy="2678430"/>
        </p:xfrm>
        <a:graphic>
          <a:graphicData uri="http://schemas.openxmlformats.org/drawingml/2006/table">
            <a:tbl>
              <a:tblPr firstRow="1" bandRow="1">
                <a:tableStyleId>{2D5ABB26-0587-4C30-8999-92F81FD0307C}</a:tableStyleId>
              </a:tblPr>
              <a:tblGrid>
                <a:gridCol w="1283335"/>
                <a:gridCol w="1323975"/>
                <a:gridCol w="2474595"/>
                <a:gridCol w="2521585"/>
              </a:tblGrid>
              <a:tr h="73850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寡乙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7373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高价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低价</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寡甲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高价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30+70N</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30+70N</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-50+70N</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80+70N</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3730">
                <a:tc vMerge="1">
                  <a:tcPr>
                    <a:lnL>
                      <a:noFill/>
                    </a:lnL>
                    <a:lnR>
                      <a:noFill/>
                    </a:lnR>
                    <a:lnB>
                      <a:noFill/>
                    </a:lnB>
                  </a:tcPr>
                </a:tc>
                <a:tc>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低价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80+70N</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-50+70N</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70N</a:t>
                      </a:r>
                      <a:r>
                        <a:rPr lang="zh-CN" altLang="en-US"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70N</a:t>
                      </a:r>
                      <a:endPar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graphicFrame>
        <p:nvGraphicFramePr>
          <p:cNvPr id="9" name="表格 8"/>
          <p:cNvGraphicFramePr>
            <a:graphicFrameLocks noGrp="1"/>
          </p:cNvGraphicFramePr>
          <p:nvPr>
            <p:custDataLst>
              <p:tags r:id="rId2"/>
            </p:custDataLst>
          </p:nvPr>
        </p:nvGraphicFramePr>
        <p:xfrm>
          <a:off x="2927350" y="1503680"/>
          <a:ext cx="5727700" cy="2678430"/>
        </p:xfrm>
        <a:graphic>
          <a:graphicData uri="http://schemas.openxmlformats.org/drawingml/2006/table">
            <a:tbl>
              <a:tblPr firstRow="1" bandRow="1">
                <a:tableStyleId>{2D5ABB26-0587-4C30-8999-92F81FD0307C}</a:tableStyleId>
              </a:tblPr>
              <a:tblGrid>
                <a:gridCol w="1283335"/>
                <a:gridCol w="1463675"/>
                <a:gridCol w="1526540"/>
                <a:gridCol w="1454150"/>
              </a:tblGrid>
              <a:tr h="73850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寡乙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7373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高价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低价</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寡甲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高价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100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150</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3730">
                <a:tc vMerge="1">
                  <a:tcPr>
                    <a:lnL>
                      <a:noFill/>
                    </a:lnL>
                    <a:lnR>
                      <a:noFill/>
                    </a:lnR>
                    <a:lnB>
                      <a:noFill/>
                    </a:lnB>
                  </a:tcPr>
                </a:tc>
                <a:tc>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低价</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150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u="sng"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70</a:t>
                      </a:r>
                      <a:r>
                        <a:rPr lang="zh-CN" altLang="en-US"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u="sng"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70</a:t>
                      </a:r>
                      <a:endParaRPr lang="en-US" altLang="zh-CN" sz="1800" b="0" u="sng"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256" name="文本框 6"/>
          <p:cNvSpPr txBox="1"/>
          <p:nvPr>
            <p:custDataLst>
              <p:tags r:id="rId3"/>
            </p:custDataLst>
          </p:nvPr>
        </p:nvSpPr>
        <p:spPr>
          <a:xfrm>
            <a:off x="762000" y="980440"/>
            <a:ext cx="4415155"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457200" indent="-457200" algn="l">
              <a:lnSpc>
                <a:spcPct val="100000"/>
              </a:lnSpc>
              <a:spcBef>
                <a:spcPts val="0"/>
              </a:spcBef>
              <a:spcAft>
                <a:spcPts val="0"/>
              </a:spcAft>
              <a:buClrTx/>
              <a:buSzTx/>
              <a:buFont typeface="Wingdings" panose="05000000000000000000" charset="0"/>
              <a:buChar char="u"/>
            </a:pPr>
            <a:r>
              <a:rPr lang="zh-CN" altLang="en-US" sz="2400" dirty="0">
                <a:solidFill>
                  <a:schemeClr val="tx1"/>
                </a:solidFill>
                <a:sym typeface="+mn-ea"/>
              </a:rPr>
              <a:t>有限次重复削价竞争博弈</a:t>
            </a:r>
            <a:endParaRPr lang="zh-CN" altLang="en-US" sz="2400" dirty="0">
              <a:solidFill>
                <a:schemeClr val="tx1"/>
              </a:solidFill>
              <a:sym typeface="+mn-ea"/>
            </a:endParaRPr>
          </a:p>
        </p:txBody>
      </p:sp>
      <p:sp>
        <p:nvSpPr>
          <p:cNvPr id="18" name="Title 6"/>
          <p:cNvSpPr txBox="1"/>
          <p:nvPr>
            <p:custDataLst>
              <p:tags r:id="rId4"/>
            </p:custDataLst>
          </p:nvPr>
        </p:nvSpPr>
        <p:spPr>
          <a:xfrm>
            <a:off x="1127125" y="1865630"/>
            <a:ext cx="2268220" cy="502920"/>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最后(第N)阶段</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云形标注 5"/>
          <p:cNvSpPr/>
          <p:nvPr/>
        </p:nvSpPr>
        <p:spPr>
          <a:xfrm>
            <a:off x="8903970" y="2708910"/>
            <a:ext cx="2480945" cy="2137410"/>
          </a:xfrm>
          <a:prstGeom prst="cloudCallout">
            <a:avLst>
              <a:gd name="adj1" fmla="val -75620"/>
              <a:gd name="adj2" fmla="val 62477"/>
            </a:avLst>
          </a:prstGeom>
          <a:scene3d>
            <a:camera prst="orthographicFront"/>
            <a:lightRig rig="threePt" dir="t"/>
          </a:scene3d>
          <a:sp3d>
            <a:bevelT w="1143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p>
            <a:endParaRPr lang="en-US" altLang="zh-CN" dirty="0" smtClean="0">
              <a:latin typeface="华文行楷" panose="02010800040101010101" pitchFamily="2" charset="-122"/>
              <a:ea typeface="华文行楷" panose="02010800040101010101" pitchFamily="2" charset="-122"/>
            </a:endParaRPr>
          </a:p>
          <a:p>
            <a:endParaRPr lang="en-US" altLang="zh-CN" dirty="0">
              <a:latin typeface="华文行楷" panose="02010800040101010101" pitchFamily="2" charset="-122"/>
              <a:ea typeface="华文行楷" panose="02010800040101010101" pitchFamily="2" charset="-122"/>
            </a:endParaRPr>
          </a:p>
          <a:p>
            <a:r>
              <a:rPr lang="zh-CN" altLang="en-US" sz="1600" dirty="0" smtClean="0">
                <a:latin typeface="微软雅黑" panose="020B0503020204020204" pitchFamily="34" charset="-122"/>
                <a:ea typeface="微软雅黑" panose="020B0503020204020204" pitchFamily="34" charset="-122"/>
              </a:rPr>
              <a:t>有</a:t>
            </a:r>
            <a:r>
              <a:rPr lang="zh-CN" altLang="en-US" sz="1600" dirty="0">
                <a:latin typeface="微软雅黑" panose="020B0503020204020204" pitchFamily="34" charset="-122"/>
                <a:ea typeface="微软雅黑" panose="020B0503020204020204" pitchFamily="34" charset="-122"/>
              </a:rPr>
              <a:t>唯一纯策略纳什</a:t>
            </a:r>
            <a:r>
              <a:rPr lang="zh-CN" altLang="en-US" sz="1600" dirty="0" smtClean="0">
                <a:latin typeface="微软雅黑" panose="020B0503020204020204" pitchFamily="34" charset="-122"/>
                <a:ea typeface="微软雅黑" panose="020B0503020204020204" pitchFamily="34" charset="-122"/>
              </a:rPr>
              <a:t>均衡：</a:t>
            </a:r>
            <a:r>
              <a:rPr lang="zh-CN" altLang="en-US" sz="1600" dirty="0">
                <a:latin typeface="微软雅黑" panose="020B0503020204020204" pitchFamily="34" charset="-122"/>
                <a:ea typeface="微软雅黑" panose="020B0503020204020204" pitchFamily="34" charset="-122"/>
              </a:rPr>
              <a:t>（低价，低价</a:t>
            </a:r>
            <a:r>
              <a:rPr lang="zh-CN" altLang="en-US" sz="1600" dirty="0" smtClean="0">
                <a:latin typeface="微软雅黑" panose="020B0503020204020204" pitchFamily="34" charset="-122"/>
                <a:ea typeface="微软雅黑" panose="020B0503020204020204" pitchFamily="34" charset="-122"/>
              </a:rPr>
              <a:t>），这就是我们日常见到价格战原因。</a:t>
            </a:r>
            <a:endParaRPr lang="zh-CN" altLang="en-US" sz="1600" dirty="0">
              <a:latin typeface="微软雅黑" panose="020B0503020204020204" pitchFamily="34" charset="-122"/>
              <a:ea typeface="微软雅黑" panose="020B0503020204020204" pitchFamily="34" charset="-122"/>
            </a:endParaRPr>
          </a:p>
          <a:p>
            <a:pPr algn="ctr"/>
            <a:endParaRPr lang="zh-CN" altLang="en-US" dirty="0"/>
          </a:p>
          <a:p>
            <a:pPr algn="ctr"/>
            <a:endParaRPr lang="zh-CN" altLang="en-US" dirty="0"/>
          </a:p>
        </p:txBody>
      </p:sp>
      <p:pic>
        <p:nvPicPr>
          <p:cNvPr id="4"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7" name="文本框 6"/>
          <p:cNvSpPr txBox="1"/>
          <p:nvPr>
            <p:custDataLst>
              <p:tags r:id="rId6"/>
            </p:custDataLst>
          </p:nvPr>
        </p:nvSpPr>
        <p:spPr>
          <a:xfrm>
            <a:off x="9119870" y="5229225"/>
            <a:ext cx="2957195" cy="158051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fontScale="90000"/>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457200" indent="-457200" algn="just">
              <a:lnSpc>
                <a:spcPct val="140000"/>
              </a:lnSpc>
              <a:spcBef>
                <a:spcPts val="0"/>
              </a:spcBef>
              <a:spcAft>
                <a:spcPts val="0"/>
              </a:spcAft>
              <a:buClrTx/>
              <a:buSzTx/>
              <a:buFont typeface="Arial" panose="020B0604020202020204" pitchFamily="34" charset="0"/>
              <a:buChar char="•"/>
            </a:pPr>
            <a:r>
              <a:rPr lang="zh-CN" altLang="en-US" sz="2000" dirty="0">
                <a:solidFill>
                  <a:schemeClr val="tx1"/>
                </a:solidFill>
                <a:sym typeface="+mn-ea"/>
              </a:rPr>
              <a:t>有限次重复的结果仍是（低价，低价）</a:t>
            </a:r>
            <a:endParaRPr lang="zh-CN" altLang="en-US" sz="2000" dirty="0">
              <a:solidFill>
                <a:schemeClr val="tx1"/>
              </a:solidFill>
              <a:sym typeface="+mn-ea"/>
            </a:endParaRPr>
          </a:p>
          <a:p>
            <a:pPr marL="457200" indent="-457200" algn="just">
              <a:lnSpc>
                <a:spcPct val="140000"/>
              </a:lnSpc>
              <a:spcBef>
                <a:spcPts val="0"/>
              </a:spcBef>
              <a:spcAft>
                <a:spcPts val="0"/>
              </a:spcAft>
              <a:buClrTx/>
              <a:buSzTx/>
              <a:buFont typeface="Arial" panose="020B0604020202020204" pitchFamily="34" charset="0"/>
              <a:buChar char="•"/>
            </a:pPr>
            <a:r>
              <a:rPr lang="zh-CN" altLang="en-US" sz="2000" b="0" dirty="0">
                <a:solidFill>
                  <a:schemeClr val="tx1"/>
                </a:solidFill>
                <a:sym typeface="+mn-ea"/>
              </a:rPr>
              <a:t>同理：有限次重复古诺模型</a:t>
            </a:r>
            <a:endParaRPr lang="zh-CN" altLang="en-US" sz="2000" b="0" dirty="0">
              <a:solidFill>
                <a:schemeClr val="tx1"/>
              </a:solidFill>
              <a:sym typeface="+mn-ea"/>
            </a:endParaRPr>
          </a:p>
        </p:txBody>
      </p:sp>
      <p:sp>
        <p:nvSpPr>
          <p:cNvPr id="2" name="Title 6"/>
          <p:cNvSpPr txBox="1"/>
          <p:nvPr>
            <p:custDataLst>
              <p:tags r:id="rId7"/>
            </p:custDataLst>
          </p:nvPr>
        </p:nvSpPr>
        <p:spPr>
          <a:xfrm>
            <a:off x="1199515" y="4220845"/>
            <a:ext cx="1415415" cy="544830"/>
          </a:xfrm>
          <a:prstGeom prst="rect">
            <a:avLst/>
          </a:prstGeom>
          <a:noFill/>
          <a:ln w="3175">
            <a:noFill/>
            <a:prstDash val="dash"/>
          </a:ln>
        </p:spPr>
        <p:txBody>
          <a:bodyPr wrap="square" lIns="63500" tIns="25400" rIns="63500" bIns="2540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1" indent="0" algn="l" fontAlgn="auto">
              <a:lnSpc>
                <a:spcPct val="120000"/>
              </a:lnSpc>
              <a:spcBef>
                <a:spcPts val="0"/>
              </a:spcBef>
              <a:spcAft>
                <a:spcPts val="800"/>
              </a:spcAft>
              <a:buSzPct val="100000"/>
              <a:buFont typeface="Wingdings" panose="05000000000000000000" charset="0"/>
              <a:buNone/>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第1阶段</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1" name="组合 10"/>
          <p:cNvGrpSpPr/>
          <p:nvPr/>
        </p:nvGrpSpPr>
        <p:grpSpPr>
          <a:xfrm>
            <a:off x="533400" y="152400"/>
            <a:ext cx="10473690" cy="762000"/>
            <a:chOff x="840" y="240"/>
            <a:chExt cx="16494" cy="1200"/>
          </a:xfrm>
        </p:grpSpPr>
        <p:sp>
          <p:nvSpPr>
            <p:cNvPr id="12" name="文本框 6"/>
            <p:cNvSpPr txBox="1"/>
            <p:nvPr>
              <p:custDataLst>
                <p:tags r:id="rId8"/>
              </p:custDataLst>
            </p:nvPr>
          </p:nvSpPr>
          <p:spPr>
            <a:xfrm>
              <a:off x="1200" y="240"/>
              <a:ext cx="16134"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唯一纯策略纳什均衡博弈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13" name="直接连接符 12"/>
            <p:cNvCxnSpPr/>
            <p:nvPr>
              <p:custDataLst>
                <p:tags r:id="rId9"/>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695325" y="980440"/>
            <a:ext cx="3677920"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457200" indent="-457200" algn="l">
              <a:lnSpc>
                <a:spcPct val="100000"/>
              </a:lnSpc>
              <a:spcBef>
                <a:spcPts val="0"/>
              </a:spcBef>
              <a:spcAft>
                <a:spcPts val="0"/>
              </a:spcAft>
              <a:buClrTx/>
              <a:buSzTx/>
              <a:buFont typeface="Wingdings" panose="05000000000000000000" charset="0"/>
              <a:buChar char="u"/>
            </a:pPr>
            <a:r>
              <a:rPr lang="zh-CN" altLang="en-US" sz="2400" dirty="0">
                <a:solidFill>
                  <a:schemeClr val="tx1"/>
                </a:solidFill>
                <a:sym typeface="+mn-ea"/>
              </a:rPr>
              <a:t>有限次重复连锁店博弈</a:t>
            </a:r>
            <a:endParaRPr lang="zh-CN" altLang="en-US" sz="2400" dirty="0">
              <a:solidFill>
                <a:schemeClr val="tx1"/>
              </a:solidFill>
              <a:sym typeface="+mn-ea"/>
            </a:endParaRPr>
          </a:p>
        </p:txBody>
      </p:sp>
      <p:sp>
        <p:nvSpPr>
          <p:cNvPr id="6" name="内容占位符 2"/>
          <p:cNvSpPr>
            <a:spLocks noGrp="1"/>
          </p:cNvSpPr>
          <p:nvPr>
            <p:custDataLst>
              <p:tags r:id="rId2"/>
            </p:custDataLst>
          </p:nvPr>
        </p:nvSpPr>
        <p:spPr>
          <a:xfrm>
            <a:off x="911860" y="1485265"/>
            <a:ext cx="10854690" cy="14725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just">
              <a:lnSpc>
                <a:spcPct val="140000"/>
              </a:lnSpc>
              <a:buClrTx/>
              <a:buSzTx/>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一个连锁企业在n个市场开设有连锁店，如果在其中某个市场遭遇竞争者，该企业是应该坚决排挤斗争，还是默许呢？由于在一个市场的竞争者也会再进入其他市场，因此该连锁企业相当于面对图中这个博弈的n次重复博弈。</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1" name="直接连接符 20"/>
          <p:cNvCxnSpPr/>
          <p:nvPr/>
        </p:nvCxnSpPr>
        <p:spPr>
          <a:xfrm flipH="1">
            <a:off x="2973626" y="3639421"/>
            <a:ext cx="1267054" cy="1097964"/>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240680" y="3639421"/>
            <a:ext cx="2618280" cy="22808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4240680" y="4737385"/>
            <a:ext cx="1267054" cy="1097964"/>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24" name="椭圆 23"/>
          <p:cNvSpPr/>
          <p:nvPr>
            <p:custDataLst>
              <p:tags r:id="rId3"/>
            </p:custDataLst>
          </p:nvPr>
        </p:nvSpPr>
        <p:spPr>
          <a:xfrm>
            <a:off x="3987418" y="3421169"/>
            <a:ext cx="506524" cy="506524"/>
          </a:xfrm>
          <a:prstGeom prst="ellipse">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lin ang="5400000" scaled="1"/>
            <a:tileRect/>
          </a:gradFill>
          <a:ln>
            <a:solidFill>
              <a:srgbClr val="92D05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US" altLang="zh-CN" dirty="0" smtClean="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smtClean="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椭圆 24"/>
          <p:cNvSpPr/>
          <p:nvPr>
            <p:custDataLst>
              <p:tags r:id="rId4"/>
            </p:custDataLst>
          </p:nvPr>
        </p:nvSpPr>
        <p:spPr>
          <a:xfrm>
            <a:off x="5296186" y="4484123"/>
            <a:ext cx="506524" cy="506524"/>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8100000" scaled="1"/>
            <a:tileRect/>
          </a:gradFill>
          <a:ln>
            <a:solidFill>
              <a:srgbClr val="FF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US" altLang="zh-CN" dirty="0" smtClean="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dirty="0" smtClean="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文本框 25"/>
          <p:cNvSpPr txBox="1"/>
          <p:nvPr>
            <p:custDataLst>
              <p:tags r:id="rId5"/>
            </p:custDataLst>
          </p:nvPr>
        </p:nvSpPr>
        <p:spPr>
          <a:xfrm>
            <a:off x="2255554" y="4683008"/>
            <a:ext cx="1267054" cy="432035"/>
          </a:xfrm>
          <a:prstGeom prst="rect">
            <a:avLst/>
          </a:prstGeom>
          <a:noFill/>
        </p:spPr>
        <p:txBody>
          <a:bodyPr wrap="square" rtlCol="0">
            <a:normAutofit/>
          </a:bodyPr>
          <a:lstStyle/>
          <a:p>
            <a:r>
              <a:rPr lang="en-US" altLang="zh-CN"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300)</a:t>
            </a:r>
            <a:endParaRPr lang="en-US" altLang="zh-CN"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文本框 26"/>
          <p:cNvSpPr txBox="1"/>
          <p:nvPr>
            <p:custDataLst>
              <p:tags r:id="rId6"/>
            </p:custDataLst>
          </p:nvPr>
        </p:nvSpPr>
        <p:spPr>
          <a:xfrm>
            <a:off x="3554639" y="5797360"/>
            <a:ext cx="1267054" cy="432035"/>
          </a:xfrm>
          <a:prstGeom prst="rect">
            <a:avLst/>
          </a:prstGeom>
          <a:noFill/>
        </p:spPr>
        <p:txBody>
          <a:bodyPr wrap="square" rtlCol="0">
            <a:normAutofit/>
          </a:bodyPr>
          <a:lstStyle/>
          <a:p>
            <a:r>
              <a:rPr lang="en-US" altLang="zh-CN"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文本框 27"/>
          <p:cNvSpPr txBox="1"/>
          <p:nvPr>
            <p:custDataLst>
              <p:tags r:id="rId7"/>
            </p:custDataLst>
          </p:nvPr>
        </p:nvSpPr>
        <p:spPr>
          <a:xfrm>
            <a:off x="6359886" y="5835350"/>
            <a:ext cx="1267054" cy="432035"/>
          </a:xfrm>
          <a:prstGeom prst="rect">
            <a:avLst/>
          </a:prstGeom>
          <a:noFill/>
        </p:spPr>
        <p:txBody>
          <a:bodyPr wrap="square" rtlCol="0">
            <a:normAutofit/>
          </a:bodyPr>
          <a:lstStyle/>
          <a:p>
            <a:r>
              <a:rPr lang="en-US" altLang="zh-CN"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(40</a:t>
            </a:r>
            <a:r>
              <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50)</a:t>
            </a:r>
            <a:endParaRPr lang="en-US" altLang="zh-CN"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文本框 28"/>
          <p:cNvSpPr txBox="1"/>
          <p:nvPr>
            <p:custDataLst>
              <p:tags r:id="rId8"/>
            </p:custDataLst>
          </p:nvPr>
        </p:nvSpPr>
        <p:spPr>
          <a:xfrm>
            <a:off x="2616080" y="3830857"/>
            <a:ext cx="1056251" cy="432035"/>
          </a:xfrm>
          <a:prstGeom prst="rect">
            <a:avLst/>
          </a:prstGeom>
          <a:noFill/>
        </p:spPr>
        <p:txBody>
          <a:bodyPr wrap="square" rtlCol="0">
            <a:normAutofit/>
          </a:bodyPr>
          <a:lstStyle/>
          <a:p>
            <a:r>
              <a:rPr lang="zh-CN" altLang="en-US" dirty="0" smtClean="0">
                <a:solidFill>
                  <a:schemeClr val="dk1"/>
                </a:solidFill>
                <a:latin typeface="微软雅黑" panose="020B0503020204020204" pitchFamily="34" charset="-122"/>
                <a:ea typeface="微软雅黑" panose="020B0503020204020204" pitchFamily="34" charset="-122"/>
              </a:rPr>
              <a:t>不进入</a:t>
            </a:r>
            <a:endParaRPr lang="zh-CN" altLang="en-US" dirty="0" smtClean="0">
              <a:solidFill>
                <a:schemeClr val="dk1"/>
              </a:solidFill>
              <a:latin typeface="微软雅黑" panose="020B0503020204020204" pitchFamily="34" charset="-122"/>
              <a:ea typeface="微软雅黑" panose="020B0503020204020204" pitchFamily="34" charset="-122"/>
            </a:endParaRPr>
          </a:p>
        </p:txBody>
      </p:sp>
      <p:sp>
        <p:nvSpPr>
          <p:cNvPr id="30" name="文本框 29"/>
          <p:cNvSpPr txBox="1"/>
          <p:nvPr>
            <p:custDataLst>
              <p:tags r:id="rId9"/>
            </p:custDataLst>
          </p:nvPr>
        </p:nvSpPr>
        <p:spPr>
          <a:xfrm>
            <a:off x="4838080" y="3754878"/>
            <a:ext cx="1056251" cy="432035"/>
          </a:xfrm>
          <a:prstGeom prst="rect">
            <a:avLst/>
          </a:prstGeom>
          <a:noFill/>
        </p:spPr>
        <p:txBody>
          <a:bodyPr wrap="square" rtlCol="0">
            <a:normAutofit/>
          </a:bodyPr>
          <a:lstStyle/>
          <a:p>
            <a:r>
              <a:rPr lang="zh-CN" altLang="en-US" dirty="0" smtClean="0">
                <a:solidFill>
                  <a:schemeClr val="dk1"/>
                </a:solidFill>
                <a:latin typeface="微软雅黑" panose="020B0503020204020204" pitchFamily="34" charset="-122"/>
                <a:ea typeface="微软雅黑" panose="020B0503020204020204" pitchFamily="34" charset="-122"/>
              </a:rPr>
              <a:t>进入</a:t>
            </a:r>
            <a:endParaRPr lang="zh-CN" altLang="en-US" dirty="0" smtClean="0">
              <a:solidFill>
                <a:schemeClr val="dk1"/>
              </a:solidFill>
              <a:latin typeface="微软雅黑" panose="020B0503020204020204" pitchFamily="34" charset="-122"/>
              <a:ea typeface="微软雅黑" panose="020B0503020204020204" pitchFamily="34" charset="-122"/>
            </a:endParaRPr>
          </a:p>
        </p:txBody>
      </p:sp>
      <p:sp>
        <p:nvSpPr>
          <p:cNvPr id="31" name="文本框 30"/>
          <p:cNvSpPr txBox="1"/>
          <p:nvPr>
            <p:custDataLst>
              <p:tags r:id="rId10"/>
            </p:custDataLst>
          </p:nvPr>
        </p:nvSpPr>
        <p:spPr>
          <a:xfrm>
            <a:off x="4050734" y="4995861"/>
            <a:ext cx="1056251" cy="432035"/>
          </a:xfrm>
          <a:prstGeom prst="rect">
            <a:avLst/>
          </a:prstGeom>
          <a:noFill/>
        </p:spPr>
        <p:txBody>
          <a:bodyPr wrap="square" rtlCol="0">
            <a:normAutofit/>
          </a:bodyPr>
          <a:lstStyle/>
          <a:p>
            <a:r>
              <a:rPr lang="zh-CN" altLang="en-US" dirty="0" smtClean="0">
                <a:solidFill>
                  <a:schemeClr val="dk1"/>
                </a:solidFill>
                <a:latin typeface="微软雅黑" panose="020B0503020204020204" pitchFamily="34" charset="-122"/>
                <a:ea typeface="微软雅黑" panose="020B0503020204020204" pitchFamily="34" charset="-122"/>
              </a:rPr>
              <a:t>斗争</a:t>
            </a:r>
            <a:endParaRPr lang="zh-CN" altLang="en-US" dirty="0" smtClean="0">
              <a:solidFill>
                <a:schemeClr val="dk1"/>
              </a:solidFill>
              <a:latin typeface="微软雅黑" panose="020B0503020204020204" pitchFamily="34" charset="-122"/>
              <a:ea typeface="微软雅黑" panose="020B0503020204020204" pitchFamily="34" charset="-122"/>
            </a:endParaRPr>
          </a:p>
        </p:txBody>
      </p:sp>
      <p:sp>
        <p:nvSpPr>
          <p:cNvPr id="32" name="文本框 31"/>
          <p:cNvSpPr txBox="1"/>
          <p:nvPr>
            <p:custDataLst>
              <p:tags r:id="rId11"/>
            </p:custDataLst>
          </p:nvPr>
        </p:nvSpPr>
        <p:spPr>
          <a:xfrm>
            <a:off x="6259326" y="4931801"/>
            <a:ext cx="1056251" cy="432035"/>
          </a:xfrm>
          <a:prstGeom prst="rect">
            <a:avLst/>
          </a:prstGeom>
          <a:noFill/>
        </p:spPr>
        <p:txBody>
          <a:bodyPr wrap="square" rtlCol="0">
            <a:normAutofit/>
          </a:bodyPr>
          <a:lstStyle/>
          <a:p>
            <a:r>
              <a:rPr lang="zh-CN" altLang="en-US" dirty="0" smtClean="0">
                <a:solidFill>
                  <a:schemeClr val="dk1"/>
                </a:solidFill>
                <a:latin typeface="微软雅黑" panose="020B0503020204020204" pitchFamily="34" charset="-122"/>
                <a:ea typeface="微软雅黑" panose="020B0503020204020204" pitchFamily="34" charset="-122"/>
              </a:rPr>
              <a:t>默许</a:t>
            </a:r>
            <a:endParaRPr lang="zh-CN" altLang="en-US" dirty="0" smtClean="0">
              <a:solidFill>
                <a:schemeClr val="dk1"/>
              </a:solidFill>
              <a:latin typeface="微软雅黑" panose="020B0503020204020204" pitchFamily="34" charset="-122"/>
              <a:ea typeface="微软雅黑" panose="020B0503020204020204" pitchFamily="34" charset="-122"/>
            </a:endParaRPr>
          </a:p>
        </p:txBody>
      </p:sp>
      <p:sp>
        <p:nvSpPr>
          <p:cNvPr id="33" name="椭圆形标注 32"/>
          <p:cNvSpPr/>
          <p:nvPr>
            <p:custDataLst>
              <p:tags r:id="rId12"/>
            </p:custDataLst>
          </p:nvPr>
        </p:nvSpPr>
        <p:spPr>
          <a:xfrm>
            <a:off x="7070725" y="3083560"/>
            <a:ext cx="4159250" cy="1238885"/>
          </a:xfrm>
          <a:prstGeom prst="wedgeEllipseCallout">
            <a:avLst>
              <a:gd name="adj1" fmla="val -70072"/>
              <a:gd name="adj2" fmla="val 99225"/>
            </a:avLst>
          </a:prstGeom>
          <a:noFill/>
          <a:ln>
            <a:solidFill>
              <a:srgbClr val="577CCE"/>
            </a:solid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zh-CN" altLang="en-US" dirty="0">
                <a:solidFill>
                  <a:schemeClr val="dk1">
                    <a:lumMod val="85000"/>
                    <a:lumOff val="15000"/>
                  </a:schemeClr>
                </a:solidFill>
                <a:latin typeface="微软雅黑" panose="020B0503020204020204" pitchFamily="34" charset="-122"/>
                <a:ea typeface="微软雅黑" panose="020B0503020204020204" pitchFamily="34" charset="-122"/>
              </a:rPr>
              <a:t>有</a:t>
            </a:r>
            <a:r>
              <a:rPr lang="zh-CN" altLang="en-US" dirty="0" smtClean="0">
                <a:solidFill>
                  <a:schemeClr val="dk1">
                    <a:lumMod val="85000"/>
                    <a:lumOff val="15000"/>
                  </a:schemeClr>
                </a:solidFill>
                <a:latin typeface="微软雅黑" panose="020B0503020204020204" pitchFamily="34" charset="-122"/>
                <a:ea typeface="微软雅黑" panose="020B0503020204020204" pitchFamily="34" charset="-122"/>
              </a:rPr>
              <a:t>唯一子博弈完美纳</a:t>
            </a:r>
            <a:r>
              <a:rPr lang="zh-CN" altLang="en-US" dirty="0">
                <a:solidFill>
                  <a:schemeClr val="dk1">
                    <a:lumMod val="85000"/>
                    <a:lumOff val="15000"/>
                  </a:schemeClr>
                </a:solidFill>
                <a:latin typeface="微软雅黑" panose="020B0503020204020204" pitchFamily="34" charset="-122"/>
                <a:ea typeface="微软雅黑" panose="020B0503020204020204" pitchFamily="34" charset="-122"/>
              </a:rPr>
              <a:t>什均衡：</a:t>
            </a:r>
            <a:r>
              <a:rPr lang="zh-CN" altLang="en-US" dirty="0" smtClean="0">
                <a:solidFill>
                  <a:schemeClr val="dk1">
                    <a:lumMod val="85000"/>
                    <a:lumOff val="15000"/>
                  </a:schemeClr>
                </a:solidFill>
                <a:latin typeface="微软雅黑" panose="020B0503020204020204" pitchFamily="34" charset="-122"/>
                <a:ea typeface="微软雅黑" panose="020B0503020204020204" pitchFamily="34" charset="-122"/>
              </a:rPr>
              <a:t>（进入，默许）</a:t>
            </a:r>
            <a:endParaRPr lang="zh-CN" altLang="en-US" dirty="0" smtClean="0">
              <a:solidFill>
                <a:schemeClr val="dk1">
                  <a:lumMod val="85000"/>
                  <a:lumOff val="15000"/>
                </a:schemeClr>
              </a:solidFill>
              <a:latin typeface="微软雅黑" panose="020B0503020204020204" pitchFamily="34" charset="-122"/>
              <a:ea typeface="微软雅黑" panose="020B0503020204020204" pitchFamily="34" charset="-122"/>
            </a:endParaRPr>
          </a:p>
        </p:txBody>
      </p:sp>
      <p:pic>
        <p:nvPicPr>
          <p:cNvPr id="2" name="图片 1" descr="f01494d1831cca2c2d8b5f9021c13ad"/>
          <p:cNvPicPr>
            <a:picLocks noChangeAspect="1"/>
          </p:cNvPicPr>
          <p:nvPr/>
        </p:nvPicPr>
        <p:blipFill>
          <a:blip r:embed="rId1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4" name="组合 3"/>
          <p:cNvGrpSpPr/>
          <p:nvPr/>
        </p:nvGrpSpPr>
        <p:grpSpPr>
          <a:xfrm>
            <a:off x="533400" y="152400"/>
            <a:ext cx="10473690" cy="762000"/>
            <a:chOff x="840" y="240"/>
            <a:chExt cx="16494" cy="1200"/>
          </a:xfrm>
        </p:grpSpPr>
        <p:sp>
          <p:nvSpPr>
            <p:cNvPr id="9" name="文本框 6"/>
            <p:cNvSpPr txBox="1"/>
            <p:nvPr>
              <p:custDataLst>
                <p:tags r:id="rId14"/>
              </p:custDataLst>
            </p:nvPr>
          </p:nvSpPr>
          <p:spPr>
            <a:xfrm>
              <a:off x="1200" y="240"/>
              <a:ext cx="16134"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唯一纯策略纳什均衡博弈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7" name="直接连接符 6"/>
            <p:cNvCxnSpPr/>
            <p:nvPr>
              <p:custDataLst>
                <p:tags r:id="rId1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5" name="Title 6"/>
          <p:cNvSpPr txBox="1"/>
          <p:nvPr>
            <p:custDataLst>
              <p:tags r:id="rId1"/>
            </p:custDataLst>
          </p:nvPr>
        </p:nvSpPr>
        <p:spPr>
          <a:xfrm>
            <a:off x="823595" y="1125220"/>
            <a:ext cx="10544175" cy="4931410"/>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Wingdings" panose="05000000000000000000" charset="0"/>
              <a:buChar char="u"/>
            </a:pPr>
            <a:r>
              <a:rPr lang="zh-CN" altLang="en-US" sz="27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重复囚徒困境悖论和连锁店悖论</a:t>
            </a:r>
            <a:endParaRPr lang="zh-CN" altLang="en-US" sz="27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理论和实践直觉相悖。</a:t>
            </a: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问题的症结与蜈蚣博弈类似，在于在较多阶段的动态博弈中逆推归纳法的适用性。</a:t>
            </a: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Arial" panose="020B0604020202020204" pitchFamily="34" charset="0"/>
              <a:buChar char="•"/>
            </a:pP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其他的解释：</a:t>
            </a: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auto">
              <a:lnSpc>
                <a:spcPct val="120000"/>
              </a:lnSpc>
              <a:spcBef>
                <a:spcPts val="0"/>
              </a:spcBef>
              <a:spcAft>
                <a:spcPts val="800"/>
              </a:spcAft>
              <a:buSzPct val="100000"/>
              <a:buFont typeface="Wingdings" panose="05000000000000000000" charset="0"/>
              <a:buChar char="ü"/>
            </a:pP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虽然博弈次数有限，但是我们不知道具体是多少，类似一个无限次数的重复博弈（例如：人的生命)</a:t>
            </a: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auto">
              <a:lnSpc>
                <a:spcPct val="120000"/>
              </a:lnSpc>
              <a:spcBef>
                <a:spcPts val="0"/>
              </a:spcBef>
              <a:spcAft>
                <a:spcPts val="800"/>
              </a:spcAft>
              <a:buSzPct val="100000"/>
              <a:buFont typeface="Wingdings" panose="05000000000000000000" charset="0"/>
              <a:buChar char="ü"/>
            </a:pP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即使我们知道准确的结束合作关系的时间，比如劳动合同常常有明确的时间期限，但我们并不是从上班第一天就开始偷懒，是因为面对足够长的合同期，偷懒被开除而损失如此长期的一笔工资收益是不划算的。所以，员工仍采取了合作的态度，但是的确可以发现，随着终止合同离开雇主的日期越来越近，员工的努力程度在打折扣</a:t>
            </a:r>
            <a:r>
              <a:rPr lang="en-US" altLang="zh-CN"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有限次博弈开始起作用了。</a:t>
            </a: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auto">
              <a:lnSpc>
                <a:spcPct val="120000"/>
              </a:lnSpc>
              <a:spcBef>
                <a:spcPts val="0"/>
              </a:spcBef>
              <a:spcAft>
                <a:spcPts val="800"/>
              </a:spcAft>
              <a:buSzPct val="100000"/>
              <a:buFont typeface="Wingdings" panose="05000000000000000000" charset="0"/>
              <a:buChar char="ü"/>
            </a:pPr>
            <a:r>
              <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这个有限次博弈中的合作或对抗会给你进入另外一个博弈带来影响，必须考虑自己的表现，例如到其他企业工作。</a:t>
            </a: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auto">
              <a:lnSpc>
                <a:spcPct val="120000"/>
              </a:lnSpc>
              <a:spcBef>
                <a:spcPts val="0"/>
              </a:spcBef>
              <a:spcAft>
                <a:spcPts val="800"/>
              </a:spcAft>
              <a:buSzPct val="100000"/>
              <a:buFont typeface="Arial" panose="020B0604020202020204" pitchFamily="34" charset="0"/>
              <a:buChar char="•"/>
            </a:pPr>
            <a:endParaRPr lang="zh-CN" altLang="en-US" sz="222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8" name="组合 7"/>
          <p:cNvGrpSpPr/>
          <p:nvPr/>
        </p:nvGrpSpPr>
        <p:grpSpPr>
          <a:xfrm>
            <a:off x="533400" y="152400"/>
            <a:ext cx="10473690" cy="762000"/>
            <a:chOff x="840" y="240"/>
            <a:chExt cx="16494" cy="1200"/>
          </a:xfrm>
        </p:grpSpPr>
        <p:sp>
          <p:nvSpPr>
            <p:cNvPr id="9" name="文本框 6"/>
            <p:cNvSpPr txBox="1"/>
            <p:nvPr>
              <p:custDataLst>
                <p:tags r:id="rId3"/>
              </p:custDataLst>
            </p:nvPr>
          </p:nvSpPr>
          <p:spPr>
            <a:xfrm>
              <a:off x="1200" y="240"/>
              <a:ext cx="16134"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唯一纯策略纳什均衡博弈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10" name="直接连接符 9"/>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1199521" y="105283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00000"/>
              </a:lnSpc>
              <a:spcBef>
                <a:spcPts val="0"/>
              </a:spcBef>
              <a:spcAft>
                <a:spcPts val="0"/>
              </a:spcAft>
              <a:buSzPct val="100000"/>
              <a:buFont typeface="Wingdings" panose="05000000000000000000" charset="0"/>
              <a:buChar char="u"/>
            </a:pPr>
            <a:r>
              <a:rPr lang="zh-CN" altLang="en-US" sz="2400" dirty="0">
                <a:solidFill>
                  <a:schemeClr val="tx1"/>
                </a:solidFill>
                <a:sym typeface="+mn-ea"/>
              </a:rPr>
              <a:t>触发策略</a:t>
            </a:r>
            <a:endParaRPr lang="zh-CN" altLang="en-US" sz="2400" dirty="0">
              <a:solidFill>
                <a:schemeClr val="tx1"/>
              </a:solidFill>
              <a:sym typeface="+mn-ea"/>
            </a:endParaRPr>
          </a:p>
        </p:txBody>
      </p:sp>
      <p:sp>
        <p:nvSpPr>
          <p:cNvPr id="11" name="矩形 10"/>
          <p:cNvSpPr/>
          <p:nvPr userDrawn="1">
            <p:custDataLst>
              <p:tags r:id="rId2"/>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2" name="Title 6"/>
          <p:cNvSpPr txBox="1"/>
          <p:nvPr>
            <p:custDataLst>
              <p:tags r:id="rId3"/>
            </p:custDataLst>
          </p:nvPr>
        </p:nvSpPr>
        <p:spPr>
          <a:xfrm>
            <a:off x="1409065" y="2036445"/>
            <a:ext cx="9642475" cy="35464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如果一方采取不合作的策略，另一方随即也采取不合作策略并且永远采取不合作策略，在博弈论里面称之为触发策略，或称冷酷策略。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如果对方知道你的策略是触发策略，那么对方将不敢采取不合作策略，因为一旦他采取了不合作策略，双方便永远进入不合作的困境。因此，</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只要有人采取触发策略，那么双方均愿意采取合作策略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在多个纯策略纳什均衡的有限次重复博弈中，有可能利用触发策略构造出“新”的纳什均衡</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8" name="组合 7"/>
          <p:cNvGrpSpPr/>
          <p:nvPr/>
        </p:nvGrpSpPr>
        <p:grpSpPr>
          <a:xfrm>
            <a:off x="533400" y="152400"/>
            <a:ext cx="10375265" cy="762000"/>
            <a:chOff x="840" y="240"/>
            <a:chExt cx="16339" cy="1200"/>
          </a:xfrm>
        </p:grpSpPr>
        <p:sp>
          <p:nvSpPr>
            <p:cNvPr id="9" name="文本框 6"/>
            <p:cNvSpPr txBox="1"/>
            <p:nvPr>
              <p:custDataLst>
                <p:tags r:id="rId5"/>
              </p:custDataLst>
            </p:nvPr>
          </p:nvSpPr>
          <p:spPr>
            <a:xfrm>
              <a:off x="1200" y="240"/>
              <a:ext cx="15979"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多个</a:t>
              </a:r>
              <a:r>
                <a:rPr lang="zh-CN" altLang="en-US" sz="2800" dirty="0">
                  <a:solidFill>
                    <a:schemeClr val="accent1"/>
                  </a:solidFill>
                  <a:sym typeface="+mn-ea"/>
                </a:rPr>
                <a:t>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2" name="直接连接符 1"/>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765177"/>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00000"/>
              </a:lnSpc>
              <a:spcBef>
                <a:spcPts val="0"/>
              </a:spcBef>
              <a:spcAft>
                <a:spcPts val="0"/>
              </a:spcAft>
              <a:buClrTx/>
              <a:buSzTx/>
              <a:buFont typeface="Wingdings" panose="05000000000000000000" charset="0"/>
              <a:buChar char="u"/>
            </a:pPr>
            <a:r>
              <a:rPr lang="zh-CN" altLang="en-US" sz="2400" dirty="0">
                <a:solidFill>
                  <a:schemeClr val="tx1"/>
                </a:solidFill>
                <a:sym typeface="+mn-ea"/>
              </a:rPr>
              <a:t>两阶段三价博弈模型</a:t>
            </a:r>
            <a:endParaRPr lang="zh-CN" altLang="en-US" sz="2400" dirty="0">
              <a:solidFill>
                <a:schemeClr val="tx1"/>
              </a:solidFill>
              <a:sym typeface="+mn-ea"/>
            </a:endParaRPr>
          </a:p>
        </p:txBody>
      </p:sp>
      <p:sp>
        <p:nvSpPr>
          <p:cNvPr id="8" name="内容占位符 2"/>
          <p:cNvSpPr>
            <a:spLocks noGrp="1"/>
          </p:cNvSpPr>
          <p:nvPr>
            <p:custDataLst>
              <p:tags r:id="rId2"/>
            </p:custDataLst>
          </p:nvPr>
        </p:nvSpPr>
        <p:spPr>
          <a:xfrm>
            <a:off x="767715" y="1485265"/>
            <a:ext cx="11246485" cy="21710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l" fontAlgn="auto">
              <a:lnSpc>
                <a:spcPct val="150000"/>
              </a:lnSpc>
              <a:buClrTx/>
              <a:buSzTx/>
            </a:pP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一市场有两个生产同质产品的厂商，他们对产品的定价同有高、中、低三种可能。设高价时市场总利润为</a:t>
            </a:r>
            <a:r>
              <a:rPr lang="zh-CN" altLang="en-US" sz="20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个单位，中价时市场总利润为</a:t>
            </a:r>
            <a:r>
              <a:rPr lang="zh-CN" altLang="en-US" sz="20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个单位，低价时市场总利润为</a:t>
            </a:r>
            <a:r>
              <a:rPr lang="en-US" altLang="zh-CN" sz="20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个单位。再假设两厂商</a:t>
            </a:r>
            <a:r>
              <a:rPr lang="zh-CN" altLang="en-US" sz="20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同时决定价格</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价格不等时价格低者独享利润，价格相等时双方平分利润</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。这时候两厂商对价格的选择就构成了一个静态博弈问题，我们称为</a:t>
            </a:r>
            <a:r>
              <a:rPr lang="zh-CN" altLang="en-US" sz="2000" b="1"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“三价博弈”</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l">
              <a:buClrTx/>
              <a:buSzTx/>
              <a:buNone/>
            </a:pPr>
            <a:endPar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1" name="表格 10"/>
          <p:cNvGraphicFramePr>
            <a:graphicFrameLocks noGrp="1"/>
          </p:cNvGraphicFramePr>
          <p:nvPr>
            <p:custDataLst>
              <p:tags r:id="rId3"/>
            </p:custDataLst>
          </p:nvPr>
        </p:nvGraphicFramePr>
        <p:xfrm>
          <a:off x="3576320" y="3429000"/>
          <a:ext cx="4949825" cy="2471420"/>
        </p:xfrm>
        <a:graphic>
          <a:graphicData uri="http://schemas.openxmlformats.org/drawingml/2006/table">
            <a:tbl>
              <a:tblPr firstRow="1" bandRow="1">
                <a:tableStyleId>{2D5ABB26-0587-4C30-8999-92F81FD0307C}</a:tableStyleId>
              </a:tblPr>
              <a:tblGrid>
                <a:gridCol w="784225"/>
                <a:gridCol w="782955"/>
                <a:gridCol w="1157605"/>
                <a:gridCol w="1248410"/>
                <a:gridCol w="976630"/>
              </a:tblGrid>
              <a:tr h="524510">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57150" marB="57150" anchor="ctr"/>
                </a:tc>
                <a:tc gridSpan="3">
                  <a:txBody>
                    <a:bodyPr/>
                    <a:lstStyle/>
                    <a:p>
                      <a:pPr algn="ctr">
                        <a:lnSpc>
                          <a:spcPct val="120000"/>
                        </a:lnSpc>
                        <a:spcBef>
                          <a:spcPts val="0"/>
                        </a:spcBef>
                        <a:spcAft>
                          <a:spcPts val="0"/>
                        </a:spcAft>
                      </a:pPr>
                      <a:r>
                        <a:rPr lang="zh-CN" altLang="en-US" sz="1800" spc="120" dirty="0" smtClean="0">
                          <a:latin typeface="微软雅黑" panose="020B0503020204020204" pitchFamily="34" charset="-122"/>
                          <a:ea typeface="微软雅黑" panose="020B0503020204020204" pitchFamily="34" charset="-122"/>
                        </a:rPr>
                        <a:t>厂商</a:t>
                      </a:r>
                      <a:r>
                        <a:rPr lang="en-US" altLang="zh-CN" sz="1800" spc="120" dirty="0" smtClean="0">
                          <a:latin typeface="微软雅黑" panose="020B0503020204020204" pitchFamily="34" charset="-122"/>
                          <a:ea typeface="微软雅黑" panose="020B0503020204020204" pitchFamily="34" charset="-122"/>
                        </a:rPr>
                        <a:t>2</a:t>
                      </a:r>
                      <a:endParaRPr lang="en-US" altLang="zh-CN" sz="1800" spc="120" dirty="0" smtClean="0">
                        <a:latin typeface="微软雅黑" panose="020B0503020204020204" pitchFamily="34" charset="-122"/>
                        <a:ea typeface="微软雅黑" panose="020B0503020204020204" pitchFamily="34" charset="-122"/>
                      </a:endParaRPr>
                    </a:p>
                  </a:txBody>
                  <a:tcPr marL="177800" marR="177800" marT="57150" marB="57150" anchor="ctr"/>
                </a:tc>
                <a:tc hMerge="1">
                  <a:tcPr/>
                </a:tc>
                <a:tc hMerge="1">
                  <a:tcPr/>
                </a:tc>
              </a:tr>
              <a:tr h="525145">
                <a:tc>
                  <a:txBody>
                    <a:bodyPr/>
                    <a:lstStyle/>
                    <a:p>
                      <a:pPr algn="ctr">
                        <a:lnSpc>
                          <a:spcPct val="120000"/>
                        </a:lnSpc>
                        <a:spcBef>
                          <a:spcPts val="0"/>
                        </a:spcBef>
                        <a:spcAft>
                          <a:spcPts val="0"/>
                        </a:spcAft>
                      </a:pPr>
                      <a:endParaRPr lang="zh-CN" altLang="en-US" sz="1600" spc="12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endParaRPr lang="zh-CN" altLang="en-US" sz="1600" spc="12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r>
                        <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rPr>
                        <a:t>H</a:t>
                      </a:r>
                      <a:endPar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r>
              <a:tr h="466725">
                <a:tc rowSpan="3">
                  <a:txBody>
                    <a:bodyPr/>
                    <a:lstStyle/>
                    <a:p>
                      <a:pPr algn="l">
                        <a:lnSpc>
                          <a:spcPct val="120000"/>
                        </a:lnSpc>
                        <a:spcBef>
                          <a:spcPts val="0"/>
                        </a:spcBef>
                        <a:spcAft>
                          <a:spcPts val="0"/>
                        </a:spcAft>
                      </a:pPr>
                      <a:r>
                        <a:rPr lang="zh-CN" altLang="en-US" sz="1800" spc="120" dirty="0" smtClean="0">
                          <a:latin typeface="微软雅黑" panose="020B0503020204020204" pitchFamily="34" charset="-122"/>
                          <a:ea typeface="微软雅黑" panose="020B0503020204020204" pitchFamily="34" charset="-122"/>
                        </a:rPr>
                        <a:t>厂商</a:t>
                      </a:r>
                      <a:r>
                        <a:rPr lang="en-US" altLang="zh-CN" sz="1800" spc="120" dirty="0" smtClean="0">
                          <a:latin typeface="微软雅黑" panose="020B0503020204020204" pitchFamily="34" charset="-122"/>
                          <a:ea typeface="微软雅黑" panose="020B0503020204020204" pitchFamily="34" charset="-122"/>
                        </a:rPr>
                        <a:t>1</a:t>
                      </a:r>
                      <a:endParaRPr lang="en-US" altLang="zh-CN" sz="1800" spc="120" dirty="0" smtClean="0">
                        <a:latin typeface="微软雅黑" panose="020B0503020204020204" pitchFamily="34" charset="-122"/>
                        <a:ea typeface="微软雅黑" panose="020B0503020204020204" pitchFamily="34" charset="-122"/>
                      </a:endParaRPr>
                    </a:p>
                  </a:txBody>
                  <a:tcPr marL="177800" marR="177800" marT="57150" marB="57150" vert="eaVert" anchor="ctr"/>
                </a:tc>
                <a:tc>
                  <a:txBody>
                    <a:bodyPr/>
                    <a:lstStyle/>
                    <a:p>
                      <a:pPr algn="ctr">
                        <a:lnSpc>
                          <a:spcPct val="120000"/>
                        </a:lnSpc>
                        <a:spcBef>
                          <a:spcPts val="0"/>
                        </a:spcBef>
                        <a:spcAft>
                          <a:spcPts val="0"/>
                        </a:spcAft>
                      </a:pPr>
                      <a:r>
                        <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rPr>
                        <a:t>H</a:t>
                      </a:r>
                      <a:endPar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600" spc="120" dirty="0" smtClean="0">
                          <a:solidFill>
                            <a:schemeClr val="tx1"/>
                          </a:solidFill>
                          <a:highlight>
                            <a:srgbClr val="00FF00"/>
                          </a:highlight>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600" spc="120" dirty="0" smtClean="0">
                          <a:solidFill>
                            <a:schemeClr val="tx1"/>
                          </a:solidFill>
                          <a:highlight>
                            <a:srgbClr val="00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solidFill>
                            <a:schemeClr val="tx1"/>
                          </a:solidFill>
                          <a:highlight>
                            <a:srgbClr val="00FF00"/>
                          </a:highlight>
                          <a:latin typeface="微软雅黑" panose="020B0503020204020204" pitchFamily="34" charset="-122"/>
                          <a:ea typeface="微软雅黑" panose="020B0503020204020204" pitchFamily="34" charset="-122"/>
                          <a:cs typeface="微软雅黑" panose="020B0503020204020204" pitchFamily="34" charset="-122"/>
                        </a:rPr>
                        <a:t>5</a:t>
                      </a:r>
                      <a:endParaRPr lang="en-US" altLang="zh-CN" sz="1600" spc="120" dirty="0" smtClean="0">
                        <a:solidFill>
                          <a:schemeClr val="tx1"/>
                        </a:solidFill>
                        <a:highlight>
                          <a:srgbClr val="00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6</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76885">
                <a:tc vMerge="1">
                  <a:tcPr vert="eaVert"/>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78155">
                <a:tc vMerge="1">
                  <a:tcPr vert="eaVert"/>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0375265" cy="762000"/>
            <a:chOff x="840" y="240"/>
            <a:chExt cx="16339" cy="1200"/>
          </a:xfrm>
        </p:grpSpPr>
        <p:sp>
          <p:nvSpPr>
            <p:cNvPr id="9" name="文本框 6"/>
            <p:cNvSpPr txBox="1"/>
            <p:nvPr>
              <p:custDataLst>
                <p:tags r:id="rId5"/>
              </p:custDataLst>
            </p:nvPr>
          </p:nvSpPr>
          <p:spPr>
            <a:xfrm>
              <a:off x="1200" y="240"/>
              <a:ext cx="15979"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多个</a:t>
              </a:r>
              <a:r>
                <a:rPr lang="zh-CN" altLang="en-US" sz="2800" dirty="0">
                  <a:solidFill>
                    <a:schemeClr val="accent1"/>
                  </a:solidFill>
                  <a:sym typeface="+mn-ea"/>
                </a:rPr>
                <a:t>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3" name="直接连接符 2"/>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内容占位符 2"/>
          <p:cNvSpPr>
            <a:spLocks noGrp="1"/>
          </p:cNvSpPr>
          <p:nvPr>
            <p:custDataLst>
              <p:tags r:id="rId7"/>
            </p:custDataLst>
          </p:nvPr>
        </p:nvSpPr>
        <p:spPr>
          <a:xfrm>
            <a:off x="762000" y="5949315"/>
            <a:ext cx="5380355" cy="727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l" fontAlgn="auto">
              <a:lnSpc>
                <a:spcPct val="150000"/>
              </a:lnSpc>
              <a:buClrTx/>
              <a:buSzTx/>
            </a:pP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两个纯策略纳什均衡：（</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(L</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L)</a:t>
            </a:r>
            <a:endPar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16286" y="7620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00000"/>
              </a:lnSpc>
              <a:spcBef>
                <a:spcPts val="0"/>
              </a:spcBef>
              <a:spcAft>
                <a:spcPts val="0"/>
              </a:spcAft>
              <a:buClrTx/>
              <a:buSzTx/>
              <a:buFont typeface="Wingdings" panose="05000000000000000000" charset="0"/>
              <a:buChar char="u"/>
            </a:pPr>
            <a:r>
              <a:rPr lang="zh-CN" altLang="en-US" sz="2400" dirty="0">
                <a:solidFill>
                  <a:schemeClr val="tx1"/>
                </a:solidFill>
                <a:sym typeface="+mn-ea"/>
              </a:rPr>
              <a:t>两阶段三价博弈模型</a:t>
            </a:r>
            <a:endParaRPr lang="zh-CN" altLang="en-US" sz="2400" dirty="0">
              <a:solidFill>
                <a:schemeClr val="tx1"/>
              </a:solidFill>
              <a:sym typeface="+mn-ea"/>
            </a:endParaRPr>
          </a:p>
        </p:txBody>
      </p:sp>
      <p:sp>
        <p:nvSpPr>
          <p:cNvPr id="8" name="内容占位符 2"/>
          <p:cNvSpPr>
            <a:spLocks noGrp="1"/>
          </p:cNvSpPr>
          <p:nvPr>
            <p:custDataLst>
              <p:tags r:id="rId2"/>
            </p:custDataLst>
          </p:nvPr>
        </p:nvSpPr>
        <p:spPr>
          <a:xfrm>
            <a:off x="767440" y="1485012"/>
            <a:ext cx="11246356" cy="4983935"/>
          </a:xfrm>
          <a:prstGeom prst="rect">
            <a:avLst/>
          </a:prstGeom>
        </p:spPr>
        <p:txBody>
          <a:bodyPr vert="horz" lIns="91440" tIns="45720" rIns="91440" bIns="45720" rtlCol="0">
            <a:normAutofit fontScale="9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l" fontAlgn="auto">
              <a:lnSpc>
                <a:spcPct val="150000"/>
              </a:lnSpc>
              <a:buClrTx/>
              <a:buSzTx/>
            </a:pP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构建一个触发策略对：{(H， H)，(M， M)}，否则，{other，(L，L)}。其中， other≠ (H ， H)。</a:t>
            </a:r>
            <a:endPar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fontAlgn="auto">
              <a:lnSpc>
                <a:spcPct val="150000"/>
              </a:lnSpc>
              <a:buClrTx/>
              <a:buSzTx/>
            </a:pP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第2阶段</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第1阶段</a:t>
            </a:r>
            <a:endPar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l">
              <a:buClrTx/>
              <a:buSzTx/>
              <a:buNone/>
            </a:pPr>
            <a:endParaRPr lang="zh-CN" altLang="en-US"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a:lnSpc>
                <a:spcPct val="110000"/>
              </a:lnSpc>
              <a:buClrTx/>
              <a:buSzTx/>
            </a:pP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唯一子博弈完美纳什均衡： (HM， HM)。</a:t>
            </a:r>
            <a:endPar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a:lnSpc>
                <a:spcPct val="110000"/>
              </a:lnSpc>
              <a:buClrTx/>
              <a:buSzTx/>
            </a:pP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两次重复的路径：第一阶段</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，第二阶段</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1" name="表格 10"/>
          <p:cNvGraphicFramePr>
            <a:graphicFrameLocks noGrp="1"/>
          </p:cNvGraphicFramePr>
          <p:nvPr>
            <p:custDataLst>
              <p:tags r:id="rId3"/>
            </p:custDataLst>
          </p:nvPr>
        </p:nvGraphicFramePr>
        <p:xfrm>
          <a:off x="622788" y="2853152"/>
          <a:ext cx="4632960" cy="2129155"/>
        </p:xfrm>
        <a:graphic>
          <a:graphicData uri="http://schemas.openxmlformats.org/drawingml/2006/table">
            <a:tbl>
              <a:tblPr firstRow="1" bandRow="1">
                <a:tableStyleId>{2D5ABB26-0587-4C30-8999-92F81FD0307C}</a:tableStyleId>
              </a:tblPr>
              <a:tblGrid>
                <a:gridCol w="734060"/>
                <a:gridCol w="732790"/>
                <a:gridCol w="1083310"/>
                <a:gridCol w="1168400"/>
                <a:gridCol w="914400"/>
              </a:tblGrid>
              <a:tr h="452120">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57150" marB="57150" anchor="ctr"/>
                </a:tc>
                <a:tc gridSpan="3">
                  <a:txBody>
                    <a:bodyPr/>
                    <a:lstStyle/>
                    <a:p>
                      <a:pPr algn="ctr">
                        <a:lnSpc>
                          <a:spcPct val="120000"/>
                        </a:lnSpc>
                        <a:spcBef>
                          <a:spcPts val="0"/>
                        </a:spcBef>
                        <a:spcAft>
                          <a:spcPts val="0"/>
                        </a:spcAft>
                      </a:pPr>
                      <a:r>
                        <a:rPr lang="zh-CN" altLang="en-US" sz="1600" spc="120" dirty="0" smtClean="0">
                          <a:latin typeface="微软雅黑" panose="020B0503020204020204" pitchFamily="34" charset="-122"/>
                          <a:ea typeface="微软雅黑" panose="020B0503020204020204" pitchFamily="34" charset="-122"/>
                        </a:rPr>
                        <a:t>厂商</a:t>
                      </a:r>
                      <a:r>
                        <a:rPr lang="en-US" altLang="zh-CN" sz="1600" spc="120" dirty="0" smtClean="0">
                          <a:latin typeface="微软雅黑" panose="020B0503020204020204" pitchFamily="34" charset="-122"/>
                          <a:ea typeface="微软雅黑" panose="020B0503020204020204" pitchFamily="34" charset="-122"/>
                        </a:rPr>
                        <a:t>2</a:t>
                      </a:r>
                      <a:endParaRPr lang="en-US" altLang="zh-CN" sz="1600" spc="120" dirty="0" smtClean="0">
                        <a:latin typeface="微软雅黑" panose="020B0503020204020204" pitchFamily="34" charset="-122"/>
                        <a:ea typeface="微软雅黑" panose="020B0503020204020204" pitchFamily="34" charset="-122"/>
                      </a:endParaRPr>
                    </a:p>
                  </a:txBody>
                  <a:tcPr marL="177800" marR="177800" marT="57150" marB="57150" anchor="ctr"/>
                </a:tc>
                <a:tc hMerge="1">
                  <a:tcPr/>
                </a:tc>
                <a:tc hMerge="1">
                  <a:tcPr/>
                </a:tc>
              </a:tr>
              <a:tr h="452120">
                <a:tc>
                  <a:txBody>
                    <a:bodyPr/>
                    <a:lstStyle/>
                    <a:p>
                      <a:pPr algn="ctr">
                        <a:lnSpc>
                          <a:spcPct val="120000"/>
                        </a:lnSpc>
                        <a:spcBef>
                          <a:spcPts val="0"/>
                        </a:spcBef>
                        <a:spcAft>
                          <a:spcPts val="0"/>
                        </a:spcAft>
                      </a:pPr>
                      <a:endParaRPr lang="zh-CN" altLang="en-US" sz="1600" spc="12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endParaRPr lang="zh-CN" altLang="en-US" sz="1600" spc="12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r>
                        <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rPr>
                        <a:t>H</a:t>
                      </a:r>
                      <a:endPar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r>
              <a:tr h="401955">
                <a:tc rowSpan="3">
                  <a:txBody>
                    <a:bodyPr/>
                    <a:lstStyle/>
                    <a:p>
                      <a:pPr algn="l">
                        <a:lnSpc>
                          <a:spcPct val="120000"/>
                        </a:lnSpc>
                        <a:spcBef>
                          <a:spcPts val="0"/>
                        </a:spcBef>
                        <a:spcAft>
                          <a:spcPts val="0"/>
                        </a:spcAft>
                      </a:pPr>
                      <a:r>
                        <a:rPr lang="zh-CN" altLang="en-US" sz="1400" spc="120" dirty="0" smtClean="0">
                          <a:latin typeface="微软雅黑" panose="020B0503020204020204" pitchFamily="34" charset="-122"/>
                          <a:ea typeface="微软雅黑" panose="020B0503020204020204" pitchFamily="34" charset="-122"/>
                        </a:rPr>
                        <a:t>厂商</a:t>
                      </a:r>
                      <a:r>
                        <a:rPr lang="en-US" altLang="zh-CN" sz="1400" spc="120" dirty="0" smtClean="0">
                          <a:latin typeface="微软雅黑" panose="020B0503020204020204" pitchFamily="34" charset="-122"/>
                          <a:ea typeface="微软雅黑" panose="020B0503020204020204" pitchFamily="34" charset="-122"/>
                        </a:rPr>
                        <a:t>1</a:t>
                      </a:r>
                      <a:endParaRPr lang="en-US" altLang="zh-CN" sz="1400" spc="120" dirty="0" smtClean="0">
                        <a:latin typeface="微软雅黑" panose="020B0503020204020204" pitchFamily="34" charset="-122"/>
                        <a:ea typeface="微软雅黑" panose="020B0503020204020204" pitchFamily="34" charset="-122"/>
                      </a:endParaRPr>
                    </a:p>
                  </a:txBody>
                  <a:tcPr marL="177800" marR="177800" marT="57150" marB="57150" vert="eaVert" anchor="ctr"/>
                </a:tc>
                <a:tc>
                  <a:txBody>
                    <a:bodyPr/>
                    <a:lstStyle/>
                    <a:p>
                      <a:pPr algn="ctr">
                        <a:lnSpc>
                          <a:spcPct val="120000"/>
                        </a:lnSpc>
                        <a:spcBef>
                          <a:spcPts val="0"/>
                        </a:spcBef>
                        <a:spcAft>
                          <a:spcPts val="0"/>
                        </a:spcAft>
                      </a:pPr>
                      <a:r>
                        <a:rPr lang="en-US" altLang="zh-CN" sz="1400" i="1" spc="120" dirty="0" smtClean="0">
                          <a:latin typeface="微软雅黑" panose="020B0503020204020204" pitchFamily="34" charset="-122"/>
                          <a:ea typeface="微软雅黑" panose="020B0503020204020204" pitchFamily="34" charset="-122"/>
                          <a:cs typeface="Times New Roman" panose="02020603050405020304" pitchFamily="18" charset="0"/>
                        </a:rPr>
                        <a:t>H</a:t>
                      </a:r>
                      <a:endParaRPr lang="en-US" altLang="zh-CN" sz="1400" i="1" spc="120" dirty="0" smtClean="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smtClean="0">
                          <a:highlight>
                            <a:srgbClr val="00FF00"/>
                          </a:highlight>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400" spc="120" dirty="0" smtClean="0">
                          <a:highlight>
                            <a:srgbClr val="00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highlight>
                            <a:srgbClr val="00FF00"/>
                          </a:highlight>
                          <a:latin typeface="微软雅黑" panose="020B0503020204020204" pitchFamily="34" charset="-122"/>
                          <a:ea typeface="微软雅黑" panose="020B0503020204020204" pitchFamily="34" charset="-122"/>
                          <a:cs typeface="微软雅黑" panose="020B0503020204020204" pitchFamily="34" charset="-122"/>
                        </a:rPr>
                        <a:t>5</a:t>
                      </a:r>
                      <a:endParaRPr lang="en-US" altLang="zh-CN" sz="1400" spc="120" dirty="0" smtClean="0">
                        <a:highlight>
                          <a:srgbClr val="00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6</a:t>
                      </a:r>
                      <a:endPar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10845">
                <a:tc vMerge="1">
                  <a:tcPr vert="eaVert"/>
                </a:tc>
                <a:tc>
                  <a:txBody>
                    <a:bodyPr/>
                    <a:lstStyle/>
                    <a:p>
                      <a:pPr marL="0" algn="ctr" defTabSz="914400" rtl="0" eaLnBrk="1" latinLnBrk="0" hangingPunct="1">
                        <a:lnSpc>
                          <a:spcPct val="120000"/>
                        </a:lnSpc>
                        <a:spcBef>
                          <a:spcPts val="0"/>
                        </a:spcBef>
                        <a:spcAft>
                          <a:spcPts val="0"/>
                        </a:spcAft>
                      </a:pPr>
                      <a:r>
                        <a:rPr lang="en-US" altLang="zh-CN" sz="14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4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4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12115">
                <a:tc vMerge="1">
                  <a:tcPr vert="eaVert"/>
                </a:tc>
                <a:tc>
                  <a:txBody>
                    <a:bodyPr/>
                    <a:lstStyle/>
                    <a:p>
                      <a:pPr marL="0" algn="ctr" defTabSz="914400" rtl="0" eaLnBrk="1" latinLnBrk="0" hangingPunct="1">
                        <a:lnSpc>
                          <a:spcPct val="120000"/>
                        </a:lnSpc>
                        <a:spcBef>
                          <a:spcPts val="0"/>
                        </a:spcBef>
                        <a:spcAft>
                          <a:spcPts val="0"/>
                        </a:spcAft>
                      </a:pPr>
                      <a:r>
                        <a:rPr lang="en-US" altLang="zh-CN" sz="14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a:t>
                      </a:r>
                      <a:endParaRPr lang="en-US" altLang="zh-CN" sz="14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graphicFrame>
        <p:nvGraphicFramePr>
          <p:cNvPr id="12" name="表格 11"/>
          <p:cNvGraphicFramePr>
            <a:graphicFrameLocks noGrp="1"/>
          </p:cNvGraphicFramePr>
          <p:nvPr>
            <p:custDataLst>
              <p:tags r:id="rId4"/>
            </p:custDataLst>
          </p:nvPr>
        </p:nvGraphicFramePr>
        <p:xfrm>
          <a:off x="6405968" y="2853131"/>
          <a:ext cx="4632960" cy="2139315"/>
        </p:xfrm>
        <a:graphic>
          <a:graphicData uri="http://schemas.openxmlformats.org/drawingml/2006/table">
            <a:tbl>
              <a:tblPr firstRow="1" bandRow="1">
                <a:tableStyleId>{2D5ABB26-0587-4C30-8999-92F81FD0307C}</a:tableStyleId>
              </a:tblPr>
              <a:tblGrid>
                <a:gridCol w="734060"/>
                <a:gridCol w="732790"/>
                <a:gridCol w="1083310"/>
                <a:gridCol w="1168400"/>
                <a:gridCol w="914400"/>
              </a:tblGrid>
              <a:tr h="452120">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57150" marB="57150" anchor="ctr"/>
                </a:tc>
                <a:tc gridSpan="3">
                  <a:txBody>
                    <a:bodyPr/>
                    <a:lstStyle/>
                    <a:p>
                      <a:pPr algn="ctr">
                        <a:lnSpc>
                          <a:spcPct val="120000"/>
                        </a:lnSpc>
                        <a:spcBef>
                          <a:spcPts val="0"/>
                        </a:spcBef>
                        <a:spcAft>
                          <a:spcPts val="0"/>
                        </a:spcAft>
                      </a:pPr>
                      <a:r>
                        <a:rPr lang="zh-CN" altLang="en-US" sz="1600" spc="120" dirty="0" smtClean="0">
                          <a:latin typeface="微软雅黑" panose="020B0503020204020204" pitchFamily="34" charset="-122"/>
                          <a:ea typeface="微软雅黑" panose="020B0503020204020204" pitchFamily="34" charset="-122"/>
                        </a:rPr>
                        <a:t>厂商</a:t>
                      </a:r>
                      <a:r>
                        <a:rPr lang="en-US" altLang="zh-CN" sz="1600" spc="120" dirty="0" smtClean="0">
                          <a:latin typeface="微软雅黑" panose="020B0503020204020204" pitchFamily="34" charset="-122"/>
                          <a:ea typeface="微软雅黑" panose="020B0503020204020204" pitchFamily="34" charset="-122"/>
                        </a:rPr>
                        <a:t>2</a:t>
                      </a:r>
                      <a:endParaRPr lang="en-US" altLang="zh-CN" sz="1600" spc="120" dirty="0" smtClean="0">
                        <a:latin typeface="微软雅黑" panose="020B0503020204020204" pitchFamily="34" charset="-122"/>
                        <a:ea typeface="微软雅黑" panose="020B0503020204020204" pitchFamily="34" charset="-122"/>
                      </a:endParaRPr>
                    </a:p>
                  </a:txBody>
                  <a:tcPr marL="177800" marR="177800" marT="57150" marB="57150" anchor="ctr"/>
                </a:tc>
                <a:tc hMerge="1">
                  <a:tcPr/>
                </a:tc>
                <a:tc hMerge="1">
                  <a:tcPr/>
                </a:tc>
              </a:tr>
              <a:tr h="452120">
                <a:tc>
                  <a:txBody>
                    <a:bodyPr/>
                    <a:lstStyle/>
                    <a:p>
                      <a:pPr algn="ctr">
                        <a:lnSpc>
                          <a:spcPct val="120000"/>
                        </a:lnSpc>
                        <a:spcBef>
                          <a:spcPts val="0"/>
                        </a:spcBef>
                        <a:spcAft>
                          <a:spcPts val="0"/>
                        </a:spcAft>
                      </a:pPr>
                      <a:endParaRPr lang="zh-CN" altLang="en-US" sz="1600" spc="12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endParaRPr lang="zh-CN" altLang="en-US" sz="1600" spc="12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r>
                        <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rPr>
                        <a:t>H</a:t>
                      </a:r>
                      <a:endPar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r>
              <a:tr h="412115">
                <a:tc rowSpan="3">
                  <a:txBody>
                    <a:bodyPr/>
                    <a:lstStyle/>
                    <a:p>
                      <a:pPr algn="l">
                        <a:lnSpc>
                          <a:spcPct val="120000"/>
                        </a:lnSpc>
                        <a:spcBef>
                          <a:spcPts val="0"/>
                        </a:spcBef>
                        <a:spcAft>
                          <a:spcPts val="0"/>
                        </a:spcAft>
                      </a:pPr>
                      <a:r>
                        <a:rPr lang="zh-CN" altLang="en-US" sz="1400" spc="120" dirty="0" smtClean="0">
                          <a:latin typeface="微软雅黑" panose="020B0503020204020204" pitchFamily="34" charset="-122"/>
                          <a:ea typeface="微软雅黑" panose="020B0503020204020204" pitchFamily="34" charset="-122"/>
                        </a:rPr>
                        <a:t>厂商</a:t>
                      </a:r>
                      <a:r>
                        <a:rPr lang="en-US" altLang="zh-CN" sz="1400" spc="120" dirty="0" smtClean="0">
                          <a:latin typeface="微软雅黑" panose="020B0503020204020204" pitchFamily="34" charset="-122"/>
                          <a:ea typeface="微软雅黑" panose="020B0503020204020204" pitchFamily="34" charset="-122"/>
                        </a:rPr>
                        <a:t>1</a:t>
                      </a:r>
                      <a:endParaRPr lang="en-US" altLang="zh-CN" sz="1400" spc="120" dirty="0" smtClean="0">
                        <a:latin typeface="微软雅黑" panose="020B0503020204020204" pitchFamily="34" charset="-122"/>
                        <a:ea typeface="微软雅黑" panose="020B0503020204020204" pitchFamily="34" charset="-122"/>
                      </a:endParaRPr>
                    </a:p>
                  </a:txBody>
                  <a:tcPr marL="177800" marR="177800" marT="57150" marB="57150" vert="eaVert" anchor="ctr"/>
                </a:tc>
                <a:tc>
                  <a:txBody>
                    <a:bodyPr/>
                    <a:lstStyle/>
                    <a:p>
                      <a:pPr algn="ctr">
                        <a:lnSpc>
                          <a:spcPct val="120000"/>
                        </a:lnSpc>
                        <a:spcBef>
                          <a:spcPts val="0"/>
                        </a:spcBef>
                        <a:spcAft>
                          <a:spcPts val="0"/>
                        </a:spcAft>
                      </a:pPr>
                      <a:r>
                        <a:rPr lang="en-US" altLang="zh-CN" sz="1400" i="1" spc="120" dirty="0" smtClean="0">
                          <a:latin typeface="微软雅黑" panose="020B0503020204020204" pitchFamily="34" charset="-122"/>
                          <a:ea typeface="微软雅黑" panose="020B0503020204020204" pitchFamily="34" charset="-122"/>
                          <a:cs typeface="Times New Roman" panose="02020603050405020304" pitchFamily="18" charset="0"/>
                        </a:rPr>
                        <a:t>H</a:t>
                      </a:r>
                      <a:endParaRPr lang="en-US" altLang="zh-CN" sz="1400" i="1" spc="120" dirty="0" smtClean="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8</a:t>
                      </a:r>
                      <a:endParaRPr lang="en-US" altLang="zh-CN" sz="14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7</a:t>
                      </a:r>
                      <a:endPar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10845">
                <a:tc vMerge="1">
                  <a:tcPr vert="eaVert"/>
                </a:tc>
                <a:tc>
                  <a:txBody>
                    <a:bodyPr/>
                    <a:lstStyle/>
                    <a:p>
                      <a:pPr marL="0" algn="ctr" defTabSz="914400" rtl="0" eaLnBrk="1" latinLnBrk="0" hangingPunct="1">
                        <a:lnSpc>
                          <a:spcPct val="120000"/>
                        </a:lnSpc>
                        <a:spcBef>
                          <a:spcPts val="0"/>
                        </a:spcBef>
                        <a:spcAft>
                          <a:spcPts val="0"/>
                        </a:spcAft>
                      </a:pPr>
                      <a:r>
                        <a:rPr lang="en-US" altLang="zh-CN" sz="14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4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a:t>
                      </a:r>
                      <a:endPar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12115">
                <a:tc vMerge="1">
                  <a:tcPr vert="eaVert"/>
                </a:tc>
                <a:tc>
                  <a:txBody>
                    <a:bodyPr/>
                    <a:lstStyle/>
                    <a:p>
                      <a:pPr marL="0" algn="ctr" defTabSz="914400" rtl="0" eaLnBrk="1" latinLnBrk="0" hangingPunct="1">
                        <a:lnSpc>
                          <a:spcPct val="120000"/>
                        </a:lnSpc>
                        <a:spcBef>
                          <a:spcPts val="0"/>
                        </a:spcBef>
                        <a:spcAft>
                          <a:spcPts val="0"/>
                        </a:spcAft>
                      </a:pPr>
                      <a:r>
                        <a:rPr lang="en-US" altLang="zh-CN" sz="14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a:t>
                      </a:r>
                      <a:endParaRPr lang="en-US" altLang="zh-CN" sz="14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400" spc="12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sp>
        <p:nvSpPr>
          <p:cNvPr id="13" name="右箭头 12"/>
          <p:cNvSpPr/>
          <p:nvPr>
            <p:custDataLst>
              <p:tags r:id="rId5"/>
            </p:custDataLst>
          </p:nvPr>
        </p:nvSpPr>
        <p:spPr>
          <a:xfrm>
            <a:off x="5647850" y="4088161"/>
            <a:ext cx="758119" cy="421177"/>
          </a:xfrm>
          <a:prstGeom prst="rightArrow">
            <a:avLst/>
          </a:prstGeom>
          <a:noFill/>
          <a:ln>
            <a:solidFill>
              <a:srgbClr val="577CCE"/>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a:body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0375265" cy="762000"/>
            <a:chOff x="840" y="240"/>
            <a:chExt cx="16339" cy="1200"/>
          </a:xfrm>
        </p:grpSpPr>
        <p:sp>
          <p:nvSpPr>
            <p:cNvPr id="9" name="文本框 6"/>
            <p:cNvSpPr txBox="1"/>
            <p:nvPr>
              <p:custDataLst>
                <p:tags r:id="rId7"/>
              </p:custDataLst>
            </p:nvPr>
          </p:nvSpPr>
          <p:spPr>
            <a:xfrm>
              <a:off x="1200" y="240"/>
              <a:ext cx="15979"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多个</a:t>
              </a:r>
              <a:r>
                <a:rPr lang="zh-CN" altLang="en-US" sz="2800" dirty="0">
                  <a:solidFill>
                    <a:schemeClr val="accent1"/>
                  </a:solidFill>
                  <a:sym typeface="+mn-ea"/>
                </a:rPr>
                <a:t>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3" name="直接连接符 2"/>
            <p:cNvCxnSpPr/>
            <p:nvPr>
              <p:custDataLst>
                <p:tags r:id="rId8"/>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椭圆形标注 4"/>
          <p:cNvSpPr/>
          <p:nvPr/>
        </p:nvSpPr>
        <p:spPr>
          <a:xfrm>
            <a:off x="10776585" y="2277110"/>
            <a:ext cx="912495" cy="625475"/>
          </a:xfrm>
          <a:prstGeom prst="wedgeEllipseCallout">
            <a:avLst>
              <a:gd name="adj1" fmla="val -107272"/>
              <a:gd name="adj2" fmla="val 14837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a:solidFill>
                  <a:schemeClr val="tx1"/>
                </a:solidFill>
              </a:rPr>
              <a:t>+1</a:t>
            </a:r>
            <a:endParaRPr lang="en-US" altLang="zh-CN" sz="2000">
              <a:solidFill>
                <a:schemeClr val="tx1"/>
              </a:solidFill>
            </a:endParaRPr>
          </a:p>
        </p:txBody>
      </p:sp>
      <p:sp>
        <p:nvSpPr>
          <p:cNvPr id="14" name="椭圆形标注 13"/>
          <p:cNvSpPr/>
          <p:nvPr/>
        </p:nvSpPr>
        <p:spPr>
          <a:xfrm>
            <a:off x="7374890" y="3051810"/>
            <a:ext cx="912495" cy="625475"/>
          </a:xfrm>
          <a:prstGeom prst="wedgeEllipseCallout">
            <a:avLst>
              <a:gd name="adj1" fmla="val 51183"/>
              <a:gd name="adj2" fmla="val 9497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a:solidFill>
                  <a:schemeClr val="tx1"/>
                </a:solidFill>
              </a:rPr>
              <a:t>+3</a:t>
            </a:r>
            <a:endParaRPr lang="en-US" altLang="zh-CN" sz="2000">
              <a:solidFill>
                <a:schemeClr val="tx1"/>
              </a:solidFill>
            </a:endParaRPr>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文本框 6"/>
          <p:cNvSpPr txBox="1"/>
          <p:nvPr>
            <p:custDataLst>
              <p:tags r:id="rId1"/>
            </p:custDataLst>
          </p:nvPr>
        </p:nvSpPr>
        <p:spPr>
          <a:xfrm>
            <a:off x="1055370" y="923925"/>
            <a:ext cx="3282950" cy="6096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00000"/>
              </a:lnSpc>
              <a:spcBef>
                <a:spcPts val="0"/>
              </a:spcBef>
              <a:spcAft>
                <a:spcPts val="0"/>
              </a:spcAft>
              <a:buClrTx/>
              <a:buSzTx/>
              <a:buFont typeface="Wingdings" panose="05000000000000000000" charset="0"/>
              <a:buChar char="u"/>
            </a:pPr>
            <a:r>
              <a:rPr lang="zh-CN" altLang="en-US" sz="2400" dirty="0">
                <a:solidFill>
                  <a:schemeClr val="tx1"/>
                </a:solidFill>
                <a:sym typeface="+mn-ea"/>
              </a:rPr>
              <a:t>触发策略的再讨论</a:t>
            </a:r>
            <a:endParaRPr lang="zh-CN" altLang="en-US" sz="2400" dirty="0">
              <a:solidFill>
                <a:schemeClr val="tx1"/>
              </a:solidFill>
              <a:sym typeface="+mn-ea"/>
            </a:endParaRPr>
          </a:p>
        </p:txBody>
      </p:sp>
      <p:sp>
        <p:nvSpPr>
          <p:cNvPr id="10" name="矩形 9"/>
          <p:cNvSpPr/>
          <p:nvPr userDrawn="1">
            <p:custDataLst>
              <p:tags r:id="rId2"/>
            </p:custDataLst>
          </p:nvPr>
        </p:nvSpPr>
        <p:spPr>
          <a:xfrm>
            <a:off x="457200" y="1534160"/>
            <a:ext cx="11277600" cy="505968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2" name="Title 6"/>
          <p:cNvSpPr txBox="1"/>
          <p:nvPr>
            <p:custDataLst>
              <p:tags r:id="rId3"/>
            </p:custDataLst>
          </p:nvPr>
        </p:nvSpPr>
        <p:spPr>
          <a:xfrm>
            <a:off x="1343025" y="1700530"/>
            <a:ext cx="9845675" cy="472249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a:solidFill>
                  <a:schemeClr val="dk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触发策略面临着这样一些问题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Wingdings" panose="05000000000000000000" charset="0"/>
              <a:buChar char="ü"/>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如果双方存在误解，或者由于一方发生选择性的错误，这个错误是无意的，那么结果将是双方均采取不合作的策略。也就是说，这种策略不给对方一个改正错误或解释错误的机会。</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Wingdings" panose="05000000000000000000" charset="0"/>
              <a:buChar char="ü"/>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触发策略是否真正可信的问题。</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如在上述两次重复三价博弈中，如果第一阶段有一方偏离了均衡路径，根据上述子博弈完美纳什均衡的策略，另一方将在第二阶段采用报复性的L策略，这样偏离的一方也只能采用L，双方都得到比较差的得益。</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57300" lvl="2" indent="-342900" algn="just" fontAlgn="ctr">
              <a:lnSpc>
                <a:spcPct val="130000"/>
              </a:lnSpc>
              <a:spcBef>
                <a:spcPts val="1000"/>
              </a:spcBef>
              <a:spcAft>
                <a:spcPts val="0"/>
              </a:spcAft>
              <a:buSzPct val="100000"/>
              <a:buFont typeface="Wingdings" panose="05000000000000000000" charset="0"/>
              <a:buChar char="ü"/>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问题的关键是：</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上述触发策略在报复偏离了均衡路径的博弈方的同时，报复者自己也会受到损失。如果不偏离的一方能够不计前嫌，还是与对方共同采用M，对他自己也是有利的。因而这必然引起上述触发策略是否真正可信的问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0375265" cy="762000"/>
            <a:chOff x="840" y="240"/>
            <a:chExt cx="16339" cy="1200"/>
          </a:xfrm>
        </p:grpSpPr>
        <p:sp>
          <p:nvSpPr>
            <p:cNvPr id="9" name="文本框 6"/>
            <p:cNvSpPr txBox="1"/>
            <p:nvPr>
              <p:custDataLst>
                <p:tags r:id="rId5"/>
              </p:custDataLst>
            </p:nvPr>
          </p:nvSpPr>
          <p:spPr>
            <a:xfrm>
              <a:off x="1200" y="240"/>
              <a:ext cx="15979"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多个</a:t>
              </a:r>
              <a:r>
                <a:rPr lang="zh-CN" altLang="en-US" sz="2800" dirty="0">
                  <a:solidFill>
                    <a:schemeClr val="accent1"/>
                  </a:solidFill>
                  <a:sym typeface="+mn-ea"/>
                </a:rPr>
                <a:t>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3" name="直接连接符 2"/>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8" name="内容占位符 2"/>
          <p:cNvSpPr>
            <a:spLocks noGrp="1"/>
          </p:cNvSpPr>
          <p:nvPr>
            <p:custDataLst>
              <p:tags r:id="rId1"/>
            </p:custDataLst>
          </p:nvPr>
        </p:nvSpPr>
        <p:spPr>
          <a:xfrm>
            <a:off x="1055370" y="1543050"/>
            <a:ext cx="10478135" cy="13925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just">
              <a:lnSpc>
                <a:spcPct val="120000"/>
              </a:lnSpc>
              <a:buClrTx/>
              <a:buSzTx/>
            </a:pP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如果认为触发策略不可信，当认为博弈方不可能真正采用触发策略，就相当于不管第一阶段结果如何，第二阶段都是(M,M)，双方得益(3,3)。在第一阶段所有得益上加(3,3)，就得到这种情况下的两次重复博弈的等价一次性博弈。</a:t>
            </a:r>
            <a:endPar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algn="just">
              <a:buClrTx/>
              <a:buSzTx/>
              <a:buNone/>
            </a:pPr>
            <a:endPar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1" name="表格 10"/>
          <p:cNvGraphicFramePr>
            <a:graphicFrameLocks noGrp="1"/>
          </p:cNvGraphicFramePr>
          <p:nvPr>
            <p:custDataLst>
              <p:tags r:id="rId2"/>
            </p:custDataLst>
          </p:nvPr>
        </p:nvGraphicFramePr>
        <p:xfrm>
          <a:off x="3719830" y="2853055"/>
          <a:ext cx="4949825" cy="2471420"/>
        </p:xfrm>
        <a:graphic>
          <a:graphicData uri="http://schemas.openxmlformats.org/drawingml/2006/table">
            <a:tbl>
              <a:tblPr firstRow="1" bandRow="1">
                <a:tableStyleId>{2D5ABB26-0587-4C30-8999-92F81FD0307C}</a:tableStyleId>
              </a:tblPr>
              <a:tblGrid>
                <a:gridCol w="784225"/>
                <a:gridCol w="782955"/>
                <a:gridCol w="1157605"/>
                <a:gridCol w="1248410"/>
                <a:gridCol w="976630"/>
              </a:tblGrid>
              <a:tr h="524510">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endParaRPr lang="zh-CN" altLang="en-US" sz="1600" spc="120" dirty="0">
                        <a:latin typeface="微软雅黑" panose="020B0503020204020204" pitchFamily="34" charset="-122"/>
                        <a:ea typeface="微软雅黑" panose="020B0503020204020204" pitchFamily="34" charset="-122"/>
                      </a:endParaRPr>
                    </a:p>
                  </a:txBody>
                  <a:tcPr marL="177800" marR="177800" marT="57150" marB="57150" anchor="ctr"/>
                </a:tc>
                <a:tc gridSpan="3">
                  <a:txBody>
                    <a:bodyPr/>
                    <a:lstStyle/>
                    <a:p>
                      <a:pPr algn="ctr">
                        <a:lnSpc>
                          <a:spcPct val="120000"/>
                        </a:lnSpc>
                        <a:spcBef>
                          <a:spcPts val="0"/>
                        </a:spcBef>
                        <a:spcAft>
                          <a:spcPts val="0"/>
                        </a:spcAft>
                      </a:pPr>
                      <a:r>
                        <a:rPr lang="zh-CN" altLang="en-US" sz="1800" spc="120" dirty="0" smtClean="0">
                          <a:latin typeface="微软雅黑" panose="020B0503020204020204" pitchFamily="34" charset="-122"/>
                          <a:ea typeface="微软雅黑" panose="020B0503020204020204" pitchFamily="34" charset="-122"/>
                        </a:rPr>
                        <a:t>厂商</a:t>
                      </a:r>
                      <a:r>
                        <a:rPr lang="en-US" altLang="zh-CN" sz="1800" spc="120" dirty="0" smtClean="0">
                          <a:latin typeface="微软雅黑" panose="020B0503020204020204" pitchFamily="34" charset="-122"/>
                          <a:ea typeface="微软雅黑" panose="020B0503020204020204" pitchFamily="34" charset="-122"/>
                        </a:rPr>
                        <a:t>2</a:t>
                      </a:r>
                      <a:endParaRPr lang="en-US" altLang="zh-CN" sz="1800" spc="120" dirty="0" smtClean="0">
                        <a:latin typeface="微软雅黑" panose="020B0503020204020204" pitchFamily="34" charset="-122"/>
                        <a:ea typeface="微软雅黑" panose="020B0503020204020204" pitchFamily="34" charset="-122"/>
                      </a:endParaRPr>
                    </a:p>
                  </a:txBody>
                  <a:tcPr marL="177800" marR="177800" marT="57150" marB="57150" anchor="ctr"/>
                </a:tc>
                <a:tc hMerge="1">
                  <a:tcPr/>
                </a:tc>
                <a:tc hMerge="1">
                  <a:tcPr/>
                </a:tc>
              </a:tr>
              <a:tr h="525145">
                <a:tc>
                  <a:txBody>
                    <a:bodyPr/>
                    <a:lstStyle/>
                    <a:p>
                      <a:pPr algn="ctr">
                        <a:lnSpc>
                          <a:spcPct val="120000"/>
                        </a:lnSpc>
                        <a:spcBef>
                          <a:spcPts val="0"/>
                        </a:spcBef>
                        <a:spcAft>
                          <a:spcPts val="0"/>
                        </a:spcAft>
                      </a:pPr>
                      <a:endParaRPr lang="zh-CN" altLang="en-US" sz="1600" spc="12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endParaRPr lang="zh-CN" altLang="en-US" sz="1600" spc="120">
                        <a:latin typeface="微软雅黑" panose="020B0503020204020204" pitchFamily="34" charset="-122"/>
                        <a:ea typeface="微软雅黑" panose="020B0503020204020204" pitchFamily="34" charset="-122"/>
                      </a:endParaRPr>
                    </a:p>
                  </a:txBody>
                  <a:tcPr marL="177800" marR="177800" marT="57150" marB="57150" anchor="ctr"/>
                </a:tc>
                <a:tc>
                  <a:txBody>
                    <a:bodyPr/>
                    <a:lstStyle/>
                    <a:p>
                      <a:pPr algn="ctr">
                        <a:lnSpc>
                          <a:spcPct val="120000"/>
                        </a:lnSpc>
                        <a:spcBef>
                          <a:spcPts val="0"/>
                        </a:spcBef>
                        <a:spcAft>
                          <a:spcPts val="0"/>
                        </a:spcAft>
                      </a:pPr>
                      <a:r>
                        <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rPr>
                        <a:t>H</a:t>
                      </a:r>
                      <a:endPar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B w="19050" cap="flat" cmpd="sng" algn="ctr">
                      <a:solidFill>
                        <a:schemeClr val="tx1"/>
                      </a:solidFill>
                      <a:prstDash val="solid"/>
                      <a:round/>
                      <a:headEnd type="none" w="med" len="med"/>
                      <a:tailEnd type="none" w="med" len="med"/>
                    </a:lnB>
                  </a:tcPr>
                </a:tc>
              </a:tr>
              <a:tr h="466725">
                <a:tc rowSpan="3">
                  <a:txBody>
                    <a:bodyPr/>
                    <a:lstStyle/>
                    <a:p>
                      <a:pPr algn="l">
                        <a:lnSpc>
                          <a:spcPct val="120000"/>
                        </a:lnSpc>
                        <a:spcBef>
                          <a:spcPts val="0"/>
                        </a:spcBef>
                        <a:spcAft>
                          <a:spcPts val="0"/>
                        </a:spcAft>
                      </a:pPr>
                      <a:r>
                        <a:rPr lang="zh-CN" altLang="en-US" sz="1800" spc="120" dirty="0" smtClean="0">
                          <a:latin typeface="微软雅黑" panose="020B0503020204020204" pitchFamily="34" charset="-122"/>
                          <a:ea typeface="微软雅黑" panose="020B0503020204020204" pitchFamily="34" charset="-122"/>
                        </a:rPr>
                        <a:t>厂商</a:t>
                      </a:r>
                      <a:r>
                        <a:rPr lang="en-US" altLang="zh-CN" sz="1800" spc="120" dirty="0" smtClean="0">
                          <a:latin typeface="微软雅黑" panose="020B0503020204020204" pitchFamily="34" charset="-122"/>
                          <a:ea typeface="微软雅黑" panose="020B0503020204020204" pitchFamily="34" charset="-122"/>
                        </a:rPr>
                        <a:t>1</a:t>
                      </a:r>
                      <a:endParaRPr lang="en-US" altLang="zh-CN" sz="1800" spc="120" dirty="0" smtClean="0">
                        <a:latin typeface="微软雅黑" panose="020B0503020204020204" pitchFamily="34" charset="-122"/>
                        <a:ea typeface="微软雅黑" panose="020B0503020204020204" pitchFamily="34" charset="-122"/>
                      </a:endParaRPr>
                    </a:p>
                  </a:txBody>
                  <a:tcPr marL="177800" marR="177800" marT="57150" marB="57150" vert="eaVert" anchor="ctr"/>
                </a:tc>
                <a:tc>
                  <a:txBody>
                    <a:bodyPr/>
                    <a:lstStyle/>
                    <a:p>
                      <a:pPr algn="ctr">
                        <a:lnSpc>
                          <a:spcPct val="120000"/>
                        </a:lnSpc>
                        <a:spcBef>
                          <a:spcPts val="0"/>
                        </a:spcBef>
                        <a:spcAft>
                          <a:spcPts val="0"/>
                        </a:spcAft>
                      </a:pPr>
                      <a:r>
                        <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rPr>
                        <a:t>H</a:t>
                      </a:r>
                      <a:endParaRPr lang="en-US" altLang="zh-CN" sz="1600" i="1" spc="120" dirty="0" smtClean="0">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600" spc="12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600" spc="12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8</a:t>
                      </a:r>
                      <a:endParaRPr lang="en-US" altLang="zh-CN" sz="1600" spc="12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9</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5</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76885">
                <a:tc vMerge="1">
                  <a:tcPr vert="eaVert"/>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M</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6</a:t>
                      </a:r>
                      <a:endParaRPr lang="en-US" altLang="zh-CN" sz="1600" spc="120" dirty="0" smtClean="0">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5</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478155">
                <a:tc vMerge="1">
                  <a:tcPr vert="eaVert"/>
                </a:tc>
                <a:tc>
                  <a:txBody>
                    <a:bodyPr/>
                    <a:lstStyle/>
                    <a:p>
                      <a:pPr marL="0" algn="ctr" defTabSz="914400" rtl="0" eaLnBrk="1" latinLnBrk="0" hangingPunct="1">
                        <a:lnSpc>
                          <a:spcPct val="120000"/>
                        </a:lnSpc>
                        <a:spcBef>
                          <a:spcPts val="0"/>
                        </a:spcBef>
                        <a:spcAft>
                          <a:spcPts val="0"/>
                        </a:spcAft>
                      </a:pPr>
                      <a:r>
                        <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a:t>
                      </a:r>
                      <a:endParaRPr lang="en-US" altLang="zh-CN" sz="1600" i="1" kern="1200" spc="12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177800" marR="177800" marT="57150" marB="57150" anchor="ctr">
                    <a:lnR w="19050" cap="flat" cmpd="sng" algn="ctr">
                      <a:solidFill>
                        <a:schemeClr val="tx1"/>
                      </a:solidFill>
                      <a:prstDash val="solid"/>
                      <a:round/>
                      <a:headEnd type="none" w="med" len="med"/>
                      <a:tailEnd type="none" w="med" len="med"/>
                    </a:lnR>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20000"/>
                        </a:lnSpc>
                        <a:spcBef>
                          <a:spcPts val="0"/>
                        </a:spcBef>
                        <a:spcAft>
                          <a:spcPts val="0"/>
                        </a:spcAft>
                      </a:pP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600" spc="12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rPr>
                        <a:t>4</a:t>
                      </a:r>
                      <a:endParaRPr lang="en-US" altLang="zh-CN" sz="1600" spc="12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0375265" cy="762000"/>
            <a:chOff x="840" y="240"/>
            <a:chExt cx="16339" cy="1200"/>
          </a:xfrm>
        </p:grpSpPr>
        <p:sp>
          <p:nvSpPr>
            <p:cNvPr id="9" name="文本框 6"/>
            <p:cNvSpPr txBox="1"/>
            <p:nvPr>
              <p:custDataLst>
                <p:tags r:id="rId4"/>
              </p:custDataLst>
            </p:nvPr>
          </p:nvSpPr>
          <p:spPr>
            <a:xfrm>
              <a:off x="1200" y="240"/>
              <a:ext cx="15979"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多个</a:t>
              </a:r>
              <a:r>
                <a:rPr lang="zh-CN" altLang="en-US" sz="2800" dirty="0">
                  <a:solidFill>
                    <a:schemeClr val="accent1"/>
                  </a:solidFill>
                  <a:sym typeface="+mn-ea"/>
                </a:rPr>
                <a:t>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3" name="直接连接符 2"/>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5" name="内容占位符 2"/>
          <p:cNvSpPr>
            <a:spLocks noGrp="1"/>
          </p:cNvSpPr>
          <p:nvPr>
            <p:custDataLst>
              <p:tags r:id="rId6"/>
            </p:custDataLst>
          </p:nvPr>
        </p:nvSpPr>
        <p:spPr>
          <a:xfrm>
            <a:off x="1199515" y="5733415"/>
            <a:ext cx="5671820" cy="12071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just" fontAlgn="auto">
              <a:lnSpc>
                <a:spcPct val="120000"/>
              </a:lnSpc>
              <a:buClrTx/>
              <a:buSzTx/>
            </a:pP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第一阶段的最佳选择：（</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fontAlgn="auto">
              <a:lnSpc>
                <a:spcPct val="120000"/>
              </a:lnSpc>
              <a:buClrTx/>
              <a:buSzTx/>
            </a:pPr>
            <a:r>
              <a:rPr 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均衡路径：两次重复</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r>
              <a:rPr lang="zh-CN" altLang="en-US"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t>
            </a:r>
            <a:endParaRPr lang="zh-CN" sz="2000" dirty="0" smtClean="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6"/>
          <p:cNvSpPr txBox="1"/>
          <p:nvPr>
            <p:custDataLst>
              <p:tags r:id="rId7"/>
            </p:custDataLst>
          </p:nvPr>
        </p:nvSpPr>
        <p:spPr>
          <a:xfrm>
            <a:off x="1055370" y="923925"/>
            <a:ext cx="3282950" cy="6096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00000"/>
              </a:lnSpc>
              <a:spcBef>
                <a:spcPts val="0"/>
              </a:spcBef>
              <a:spcAft>
                <a:spcPts val="0"/>
              </a:spcAft>
              <a:buClrTx/>
              <a:buSzTx/>
              <a:buFont typeface="Wingdings" panose="05000000000000000000" charset="0"/>
              <a:buChar char="u"/>
            </a:pPr>
            <a:r>
              <a:rPr lang="zh-CN" altLang="en-US" sz="2400" dirty="0">
                <a:solidFill>
                  <a:schemeClr val="tx1"/>
                </a:solidFill>
                <a:sym typeface="+mn-ea"/>
              </a:rPr>
              <a:t>触发策略的再讨论</a:t>
            </a:r>
            <a:endParaRPr lang="zh-CN" altLang="en-US" sz="2400" dirty="0">
              <a:solidFill>
                <a:schemeClr val="tx1"/>
              </a:solidFill>
              <a:sym typeface="+mn-ea"/>
            </a:endParaRPr>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7715" y="923925"/>
            <a:ext cx="5675630"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00000"/>
              </a:lnSpc>
              <a:spcBef>
                <a:spcPts val="0"/>
              </a:spcBef>
              <a:spcAft>
                <a:spcPts val="0"/>
              </a:spcAft>
              <a:buClrTx/>
              <a:buSzTx/>
              <a:buFont typeface="Wingdings" panose="05000000000000000000" charset="0"/>
              <a:buChar char="u"/>
            </a:pPr>
            <a:r>
              <a:rPr lang="zh-CN" altLang="en-US" sz="2400" dirty="0">
                <a:solidFill>
                  <a:schemeClr val="tx1"/>
                </a:solidFill>
                <a:sym typeface="+mn-ea"/>
              </a:rPr>
              <a:t>三价博弈模型扩展（这种情况更可信）</a:t>
            </a:r>
            <a:endParaRPr lang="zh-CN" altLang="en-US" sz="2400" dirty="0">
              <a:solidFill>
                <a:schemeClr val="tx1"/>
              </a:solidFill>
              <a:sym typeface="+mn-ea"/>
            </a:endParaRPr>
          </a:p>
        </p:txBody>
      </p:sp>
      <p:sp>
        <p:nvSpPr>
          <p:cNvPr id="11" name="Title 6"/>
          <p:cNvSpPr txBox="1"/>
          <p:nvPr>
            <p:custDataLst>
              <p:tags r:id="rId2"/>
            </p:custDataLst>
          </p:nvPr>
        </p:nvSpPr>
        <p:spPr>
          <a:xfrm>
            <a:off x="767715" y="5085080"/>
            <a:ext cx="8401685" cy="162369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57200" lvl="0" indent="-45720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触发策略：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914400" lvl="1" indent="-45720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：第一阶段选</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H</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，如果对方选H，己方第二阶段将选M；否则选</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914400" lvl="1" indent="-45720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：第一阶段选</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H</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，如果对方选H，</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己</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方第二阶段将选M；否则选</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2" name="表格 11"/>
          <p:cNvGraphicFramePr>
            <a:graphicFrameLocks noGrp="1"/>
          </p:cNvGraphicFramePr>
          <p:nvPr>
            <p:custDataLst>
              <p:tags r:id="rId3"/>
            </p:custDataLst>
          </p:nvPr>
        </p:nvGraphicFramePr>
        <p:xfrm>
          <a:off x="3359785" y="1296670"/>
          <a:ext cx="5539740" cy="4264660"/>
        </p:xfrm>
        <a:graphic>
          <a:graphicData uri="http://schemas.openxmlformats.org/drawingml/2006/table">
            <a:tbl>
              <a:tblPr firstRow="1" bandRow="1">
                <a:tableStyleId>{2D5ABB26-0587-4C30-8999-92F81FD0307C}</a:tableStyleId>
              </a:tblPr>
              <a:tblGrid>
                <a:gridCol w="383540"/>
                <a:gridCol w="385445"/>
                <a:gridCol w="842645"/>
                <a:gridCol w="949325"/>
                <a:gridCol w="853440"/>
                <a:gridCol w="1133475"/>
                <a:gridCol w="991870"/>
              </a:tblGrid>
              <a:tr h="661670">
                <a:tc>
                  <a:txBody>
                    <a:bodyPr/>
                    <a:p>
                      <a:pPr indent="0" algn="ctr">
                        <a:lnSpc>
                          <a:spcPct val="120000"/>
                        </a:lnSpc>
                        <a:spcBef>
                          <a:spcPts val="0"/>
                        </a:spcBef>
                        <a:spcAft>
                          <a:spcPts val="0"/>
                        </a:spcAft>
                      </a:pPr>
                      <a:endParaRPr lang="zh-CN" altLang="en-US" sz="1600" b="1" spc="120">
                        <a:solidFill>
                          <a:srgbClr val="FFFFFF"/>
                        </a:solidFill>
                        <a:latin typeface="微软雅黑" panose="020B0503020204020204" pitchFamily="34" charset="-122"/>
                        <a:ea typeface="微软雅黑" panose="020B0503020204020204" pitchFamily="34" charset="-122"/>
                      </a:endParaRPr>
                    </a:p>
                  </a:txBody>
                  <a:tcPr marL="76200" marR="76200" marT="107950" marB="107950" anchor="ctr">
                    <a:lnL>
                      <a:noFill/>
                    </a:lnL>
                    <a:lnR>
                      <a:noFill/>
                    </a:lnR>
                    <a:lnT>
                      <a:noFill/>
                    </a:lnT>
                    <a:lnB>
                      <a:noFill/>
                    </a:lnB>
                    <a:noFill/>
                  </a:tcPr>
                </a:tc>
                <a:tc>
                  <a:txBody>
                    <a:bodyPr/>
                    <a:p>
                      <a:pPr indent="0" algn="ctr">
                        <a:lnSpc>
                          <a:spcPct val="120000"/>
                        </a:lnSpc>
                        <a:spcBef>
                          <a:spcPts val="0"/>
                        </a:spcBef>
                        <a:spcAft>
                          <a:spcPts val="0"/>
                        </a:spcAft>
                      </a:pPr>
                      <a:endParaRPr lang="zh-CN" altLang="en-US" sz="1600" b="1" spc="120">
                        <a:solidFill>
                          <a:srgbClr val="FFFFFF"/>
                        </a:solidFill>
                        <a:latin typeface="微软雅黑" panose="020B0503020204020204" pitchFamily="34" charset="-122"/>
                        <a:ea typeface="微软雅黑" panose="020B0503020204020204" pitchFamily="34" charset="-122"/>
                      </a:endParaRPr>
                    </a:p>
                  </a:txBody>
                  <a:tcPr marL="76200" marR="76200" marT="107950" marB="107950" anchor="ctr">
                    <a:lnL>
                      <a:noFill/>
                    </a:lnL>
                    <a:lnR>
                      <a:noFill/>
                    </a:lnR>
                    <a:lnT>
                      <a:noFill/>
                    </a:lnT>
                    <a:lnB>
                      <a:noFill/>
                    </a:lnB>
                    <a:noFill/>
                  </a:tcPr>
                </a:tc>
                <a:tc gridSpan="5">
                  <a:txBody>
                    <a:bodyPr/>
                    <a:p>
                      <a:pPr indent="0" algn="ctr">
                        <a:lnSpc>
                          <a:spcPct val="120000"/>
                        </a:lnSpc>
                        <a:spcBef>
                          <a:spcPts val="0"/>
                        </a:spcBef>
                        <a:spcAft>
                          <a:spcPts val="0"/>
                        </a:spcAft>
                      </a:pPr>
                      <a:r>
                        <a:rPr lang="zh-CN" altLang="en-US" sz="2000" b="1" spc="120">
                          <a:solidFill>
                            <a:srgbClr val="404040"/>
                          </a:solidFill>
                          <a:latin typeface="微软雅黑" panose="020B0503020204020204" pitchFamily="34" charset="-122"/>
                          <a:ea typeface="微软雅黑" panose="020B0503020204020204" pitchFamily="34" charset="-122"/>
                        </a:rPr>
                        <a:t>博弈方</a:t>
                      </a:r>
                      <a:r>
                        <a:rPr lang="en-US" altLang="zh-CN" sz="2000" b="1" spc="120">
                          <a:solidFill>
                            <a:srgbClr val="404040"/>
                          </a:solidFill>
                          <a:latin typeface="微软雅黑" panose="020B0503020204020204" pitchFamily="34" charset="-122"/>
                          <a:ea typeface="微软雅黑" panose="020B0503020204020204" pitchFamily="34" charset="-122"/>
                        </a:rPr>
                        <a:t>2</a:t>
                      </a:r>
                      <a:endParaRPr lang="en-US" altLang="zh-CN" sz="2000" b="1" spc="120">
                        <a:solidFill>
                          <a:srgbClr val="404040"/>
                        </a:solidFill>
                        <a:latin typeface="微软雅黑" panose="020B0503020204020204" pitchFamily="34" charset="-122"/>
                        <a:ea typeface="微软雅黑" panose="020B0503020204020204" pitchFamily="34" charset="-122"/>
                      </a:endParaRPr>
                    </a:p>
                  </a:txBody>
                  <a:tcPr marL="76200" marR="76200" marT="107950" marB="107950" anchor="ctr">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638810">
                <a:tc>
                  <a:txBody>
                    <a:bodyPr/>
                    <a:p>
                      <a:pPr indent="0" algn="ctr">
                        <a:lnSpc>
                          <a:spcPct val="120000"/>
                        </a:lnSpc>
                        <a:spcBef>
                          <a:spcPts val="0"/>
                        </a:spcBef>
                        <a:spcAft>
                          <a:spcPts val="0"/>
                        </a:spcAft>
                      </a:pPr>
                      <a:endParaRPr lang="zh-CN" altLang="en-US" sz="1600" b="1" spc="120">
                        <a:solidFill>
                          <a:srgbClr val="577CCE"/>
                        </a:solidFill>
                        <a:latin typeface="微软雅黑" panose="020B0503020204020204" pitchFamily="34" charset="-122"/>
                        <a:ea typeface="微软雅黑" panose="020B0503020204020204" pitchFamily="34" charset="-122"/>
                      </a:endParaRPr>
                    </a:p>
                  </a:txBody>
                  <a:tcPr marL="76200" marR="76200" marT="107950" marB="107950" anchor="ctr">
                    <a:lnL>
                      <a:noFill/>
                    </a:lnL>
                    <a:lnR>
                      <a:noFill/>
                    </a:lnR>
                    <a:lnT>
                      <a:noFill/>
                    </a:lnT>
                    <a:lnB>
                      <a:noFill/>
                    </a:lnB>
                    <a:noFill/>
                  </a:tcPr>
                </a:tc>
                <a:tc>
                  <a:txBody>
                    <a:bodyPr/>
                    <a:p>
                      <a:pPr indent="0" algn="ctr">
                        <a:lnSpc>
                          <a:spcPct val="120000"/>
                        </a:lnSpc>
                        <a:spcBef>
                          <a:spcPts val="0"/>
                        </a:spcBef>
                        <a:spcAft>
                          <a:spcPts val="0"/>
                        </a:spcAft>
                      </a:pPr>
                      <a:endParaRPr lang="zh-CN" altLang="en-US" sz="1600" b="1" spc="120">
                        <a:solidFill>
                          <a:srgbClr val="5999AF"/>
                        </a:solidFill>
                        <a:latin typeface="微软雅黑" panose="020B0503020204020204" pitchFamily="34" charset="-122"/>
                        <a:ea typeface="微软雅黑" panose="020B0503020204020204" pitchFamily="34" charset="-122"/>
                      </a:endParaRPr>
                    </a:p>
                  </a:txBody>
                  <a:tcPr marL="76200" marR="76200" marT="107950" marB="107950" anchor="ctr">
                    <a:lnL>
                      <a:noFill/>
                    </a:lnL>
                    <a:lnR>
                      <a:noFill/>
                    </a:lnR>
                    <a:lnT>
                      <a:noFill/>
                    </a:lnT>
                    <a:lnB>
                      <a:noFill/>
                    </a:lnB>
                    <a:noFill/>
                  </a:tcPr>
                </a:tc>
                <a:tc>
                  <a:txBody>
                    <a:bodyPr/>
                    <a:p>
                      <a:pPr indent="0" algn="ctr">
                        <a:lnSpc>
                          <a:spcPct val="120000"/>
                        </a:lnSpc>
                        <a:spcBef>
                          <a:spcPts val="0"/>
                        </a:spcBef>
                        <a:spcAft>
                          <a:spcPts val="0"/>
                        </a:spcAft>
                      </a:pPr>
                      <a:r>
                        <a:rPr lang="en-US" altLang="zh-CN" sz="1800" b="1" spc="120">
                          <a:solidFill>
                            <a:srgbClr val="5BA080"/>
                          </a:solidFill>
                          <a:latin typeface="微软雅黑" panose="020B0503020204020204" pitchFamily="34" charset="-122"/>
                          <a:ea typeface="微软雅黑" panose="020B0503020204020204" pitchFamily="34" charset="-122"/>
                        </a:rPr>
                        <a:t>H</a:t>
                      </a:r>
                      <a:endParaRPr lang="en-US" altLang="zh-CN" sz="1800" b="1" spc="120">
                        <a:solidFill>
                          <a:srgbClr val="5BA080"/>
                        </a:solidFill>
                        <a:latin typeface="微软雅黑" panose="020B0503020204020204" pitchFamily="34" charset="-122"/>
                        <a:ea typeface="微软雅黑" panose="020B0503020204020204" pitchFamily="34" charset="-122"/>
                      </a:endParaRPr>
                    </a:p>
                  </a:txBody>
                  <a:tcPr marL="76200" marR="76200" marT="107950" marB="107950" anchor="ctr">
                    <a:lnL>
                      <a:noFill/>
                    </a:lnL>
                    <a:lnR w="6350">
                      <a:solidFill>
                        <a:srgbClr val="FFFFFF"/>
                      </a:solidFill>
                      <a:prstDash val="solid"/>
                    </a:lnR>
                    <a:lnT>
                      <a:noFill/>
                    </a:lnT>
                    <a:lnB w="12700">
                      <a:solidFill>
                        <a:schemeClr val="tx1"/>
                      </a:solidFill>
                      <a:prstDash val="solid"/>
                    </a:lnB>
                    <a:noFill/>
                  </a:tcPr>
                </a:tc>
                <a:tc>
                  <a:txBody>
                    <a:bodyPr/>
                    <a:p>
                      <a:pPr indent="0" algn="ctr" defTabSz="914400" rtl="0" eaLnBrk="1" latinLnBrk="0" hangingPunct="1">
                        <a:lnSpc>
                          <a:spcPct val="120000"/>
                        </a:lnSpc>
                        <a:spcBef>
                          <a:spcPts val="0"/>
                        </a:spcBef>
                        <a:spcAft>
                          <a:spcPts val="0"/>
                        </a:spcAft>
                      </a:pPr>
                      <a:r>
                        <a:rPr lang="en-US" altLang="zh-CN" sz="1800" b="1" spc="120">
                          <a:solidFill>
                            <a:srgbClr val="5BA080"/>
                          </a:solidFill>
                          <a:latin typeface="微软雅黑" panose="020B0503020204020204" pitchFamily="34" charset="-122"/>
                          <a:ea typeface="微软雅黑" panose="020B0503020204020204" pitchFamily="34" charset="-122"/>
                        </a:rPr>
                        <a:t>M</a:t>
                      </a:r>
                      <a:endParaRPr lang="en-US" altLang="zh-CN" sz="1800" b="1" spc="120">
                        <a:solidFill>
                          <a:srgbClr val="5BA080"/>
                        </a:solidFill>
                        <a:latin typeface="微软雅黑" panose="020B0503020204020204" pitchFamily="34" charset="-122"/>
                        <a:ea typeface="微软雅黑" panose="020B0503020204020204" pitchFamily="34" charset="-122"/>
                      </a:endParaRPr>
                    </a:p>
                  </a:txBody>
                  <a:tcPr marL="76200" marR="76200" marT="107950" marB="107950" anchor="ctr">
                    <a:lnL w="6350">
                      <a:solidFill>
                        <a:srgbClr val="FFFFFF"/>
                      </a:solidFill>
                      <a:prstDash val="solid"/>
                    </a:lnL>
                    <a:lnR w="6350">
                      <a:solidFill>
                        <a:srgbClr val="FFFFFF"/>
                      </a:solidFill>
                      <a:prstDash val="solid"/>
                    </a:lnR>
                    <a:lnT>
                      <a:noFill/>
                    </a:lnT>
                    <a:lnB w="12700">
                      <a:solidFill>
                        <a:schemeClr val="tx1"/>
                      </a:solidFill>
                      <a:prstDash val="solid"/>
                    </a:lnB>
                    <a:noFill/>
                  </a:tcPr>
                </a:tc>
                <a:tc>
                  <a:txBody>
                    <a:bodyPr/>
                    <a:p>
                      <a:pPr indent="0" algn="ctr" defTabSz="914400" rtl="0" eaLnBrk="1" latinLnBrk="0" hangingPunct="1">
                        <a:lnSpc>
                          <a:spcPct val="120000"/>
                        </a:lnSpc>
                        <a:spcBef>
                          <a:spcPts val="0"/>
                        </a:spcBef>
                        <a:spcAft>
                          <a:spcPts val="0"/>
                        </a:spcAft>
                      </a:pPr>
                      <a:r>
                        <a:rPr lang="en-US" altLang="zh-CN" sz="1800" b="1" spc="120">
                          <a:solidFill>
                            <a:srgbClr val="5BA080"/>
                          </a:solidFill>
                          <a:latin typeface="微软雅黑" panose="020B0503020204020204" pitchFamily="34" charset="-122"/>
                          <a:ea typeface="微软雅黑" panose="020B0503020204020204" pitchFamily="34" charset="-122"/>
                        </a:rPr>
                        <a:t>L</a:t>
                      </a:r>
                      <a:endParaRPr lang="en-US" altLang="zh-CN" sz="1800" b="1" spc="120">
                        <a:solidFill>
                          <a:srgbClr val="5BA080"/>
                        </a:solidFill>
                        <a:latin typeface="微软雅黑" panose="020B0503020204020204" pitchFamily="34" charset="-122"/>
                        <a:ea typeface="微软雅黑" panose="020B0503020204020204" pitchFamily="34" charset="-122"/>
                      </a:endParaRPr>
                    </a:p>
                  </a:txBody>
                  <a:tcPr marL="76200" marR="76200" marT="107950" marB="107950" anchor="ctr">
                    <a:lnL w="6350">
                      <a:solidFill>
                        <a:srgbClr val="FFFFFF"/>
                      </a:solidFill>
                      <a:prstDash val="solid"/>
                    </a:lnL>
                    <a:lnR w="6350">
                      <a:solidFill>
                        <a:srgbClr val="FFFFFF"/>
                      </a:solidFill>
                      <a:prstDash val="solid"/>
                    </a:lnR>
                    <a:lnT>
                      <a:noFill/>
                    </a:lnT>
                    <a:lnB w="12700">
                      <a:solidFill>
                        <a:schemeClr val="tx1"/>
                      </a:solidFill>
                      <a:prstDash val="solid"/>
                    </a:lnB>
                    <a:noFill/>
                  </a:tcPr>
                </a:tc>
                <a:tc>
                  <a:txBody>
                    <a:bodyPr/>
                    <a:p>
                      <a:pPr indent="0" algn="ctr" defTabSz="914400" rtl="0" eaLnBrk="1" latinLnBrk="0" hangingPunct="1">
                        <a:lnSpc>
                          <a:spcPct val="120000"/>
                        </a:lnSpc>
                        <a:spcBef>
                          <a:spcPts val="0"/>
                        </a:spcBef>
                        <a:spcAft>
                          <a:spcPts val="0"/>
                        </a:spcAft>
                      </a:pPr>
                      <a:r>
                        <a:rPr lang="en-US" altLang="zh-CN" sz="1800" b="1" spc="120">
                          <a:solidFill>
                            <a:srgbClr val="5BA080"/>
                          </a:solidFill>
                          <a:latin typeface="微软雅黑" panose="020B0503020204020204" pitchFamily="34" charset="-122"/>
                          <a:ea typeface="微软雅黑" panose="020B0503020204020204" pitchFamily="34" charset="-122"/>
                        </a:rPr>
                        <a:t>P</a:t>
                      </a:r>
                      <a:endParaRPr lang="en-US" altLang="zh-CN" sz="1800" b="1" spc="120">
                        <a:solidFill>
                          <a:srgbClr val="5BA080"/>
                        </a:solidFill>
                        <a:latin typeface="微软雅黑" panose="020B0503020204020204" pitchFamily="34" charset="-122"/>
                        <a:ea typeface="微软雅黑" panose="020B0503020204020204" pitchFamily="34" charset="-122"/>
                      </a:endParaRPr>
                    </a:p>
                  </a:txBody>
                  <a:tcPr marL="76200" marR="76200" marT="107950" marB="107950" anchor="ctr">
                    <a:lnL w="6350">
                      <a:solidFill>
                        <a:srgbClr val="FFFFFF"/>
                      </a:solidFill>
                      <a:prstDash val="solid"/>
                    </a:lnL>
                    <a:lnR w="6350">
                      <a:solidFill>
                        <a:srgbClr val="FFFFFF"/>
                      </a:solidFill>
                      <a:prstDash val="solid"/>
                    </a:lnR>
                    <a:lnT>
                      <a:noFill/>
                    </a:lnT>
                    <a:lnB w="12700">
                      <a:solidFill>
                        <a:schemeClr val="tx1"/>
                      </a:solidFill>
                      <a:prstDash val="solid"/>
                    </a:lnB>
                    <a:noFill/>
                  </a:tcPr>
                </a:tc>
                <a:tc>
                  <a:txBody>
                    <a:bodyPr/>
                    <a:p>
                      <a:pPr indent="0" algn="ctr" defTabSz="914400" rtl="0" eaLnBrk="1" latinLnBrk="0" hangingPunct="1">
                        <a:lnSpc>
                          <a:spcPct val="120000"/>
                        </a:lnSpc>
                        <a:spcBef>
                          <a:spcPts val="0"/>
                        </a:spcBef>
                        <a:spcAft>
                          <a:spcPts val="0"/>
                        </a:spcAft>
                      </a:pPr>
                      <a:r>
                        <a:rPr lang="en-US" altLang="zh-CN" sz="1800" b="1" spc="120">
                          <a:solidFill>
                            <a:srgbClr val="5BA080"/>
                          </a:solidFill>
                          <a:latin typeface="微软雅黑" panose="020B0503020204020204" pitchFamily="34" charset="-122"/>
                          <a:ea typeface="微软雅黑" panose="020B0503020204020204" pitchFamily="34" charset="-122"/>
                        </a:rPr>
                        <a:t>Q</a:t>
                      </a:r>
                      <a:endParaRPr lang="en-US" altLang="zh-CN" sz="1800" b="1" spc="120">
                        <a:solidFill>
                          <a:srgbClr val="5BA080"/>
                        </a:solidFill>
                        <a:latin typeface="微软雅黑" panose="020B0503020204020204" pitchFamily="34" charset="-122"/>
                        <a:ea typeface="微软雅黑" panose="020B0503020204020204" pitchFamily="34" charset="-122"/>
                      </a:endParaRPr>
                    </a:p>
                  </a:txBody>
                  <a:tcPr marL="76200" marR="76200" marT="107950" marB="107950" anchor="ctr">
                    <a:lnL w="6350">
                      <a:solidFill>
                        <a:srgbClr val="FFFFFF"/>
                      </a:solidFill>
                      <a:prstDash val="solid"/>
                    </a:lnL>
                    <a:lnR>
                      <a:noFill/>
                    </a:lnR>
                    <a:lnT>
                      <a:noFill/>
                    </a:lnT>
                    <a:lnB w="12700">
                      <a:solidFill>
                        <a:schemeClr val="tx1"/>
                      </a:solidFill>
                      <a:prstDash val="solid"/>
                    </a:lnB>
                    <a:noFill/>
                  </a:tcPr>
                </a:tc>
              </a:tr>
              <a:tr h="593090">
                <a:tc rowSpan="5">
                  <a:txBody>
                    <a:bodyPr/>
                    <a:p>
                      <a:pPr indent="0" algn="l">
                        <a:lnSpc>
                          <a:spcPct val="120000"/>
                        </a:lnSpc>
                        <a:spcBef>
                          <a:spcPts val="0"/>
                        </a:spcBef>
                        <a:spcAft>
                          <a:spcPts val="0"/>
                        </a:spcAft>
                      </a:pPr>
                      <a:r>
                        <a:rPr lang="en-US" altLang="zh-CN" sz="2000" b="1" spc="120">
                          <a:solidFill>
                            <a:srgbClr val="404040"/>
                          </a:solidFill>
                          <a:latin typeface="微软雅黑" panose="020B0503020204020204" pitchFamily="34" charset="-122"/>
                          <a:ea typeface="微软雅黑" panose="020B0503020204020204" pitchFamily="34" charset="-122"/>
                        </a:rPr>
                        <a:t>         </a:t>
                      </a:r>
                      <a:r>
                        <a:rPr lang="zh-CN" altLang="en-US" sz="2000" b="1" spc="120">
                          <a:solidFill>
                            <a:srgbClr val="404040"/>
                          </a:solidFill>
                          <a:latin typeface="微软雅黑" panose="020B0503020204020204" pitchFamily="34" charset="-122"/>
                          <a:ea typeface="微软雅黑" panose="020B0503020204020204" pitchFamily="34" charset="-122"/>
                        </a:rPr>
                        <a:t>博弈方</a:t>
                      </a:r>
                      <a:r>
                        <a:rPr lang="en-US" altLang="zh-CN" sz="2000" b="1" spc="120">
                          <a:solidFill>
                            <a:srgbClr val="404040"/>
                          </a:solidFill>
                          <a:latin typeface="微软雅黑" panose="020B0503020204020204" pitchFamily="34" charset="-122"/>
                          <a:ea typeface="微软雅黑" panose="020B0503020204020204" pitchFamily="34" charset="-122"/>
                        </a:rPr>
                        <a:t>1</a:t>
                      </a:r>
                      <a:endParaRPr lang="en-US" altLang="zh-CN" sz="2000" b="1" spc="120">
                        <a:solidFill>
                          <a:srgbClr val="404040"/>
                        </a:solidFill>
                        <a:latin typeface="微软雅黑" panose="020B0503020204020204" pitchFamily="34" charset="-122"/>
                        <a:ea typeface="微软雅黑" panose="020B0503020204020204" pitchFamily="34" charset="-122"/>
                      </a:endParaRPr>
                    </a:p>
                  </a:txBody>
                  <a:tcPr marL="76200" marR="76200" marT="107950" marB="107950" vert="eaVert" anchor="ctr">
                    <a:lnL>
                      <a:noFill/>
                    </a:lnL>
                    <a:lnR>
                      <a:noFill/>
                    </a:lnR>
                    <a:lnT>
                      <a:noFill/>
                    </a:lnT>
                    <a:lnB>
                      <a:noFill/>
                    </a:lnB>
                    <a:solidFill>
                      <a:srgbClr val="FFFFFF"/>
                    </a:solidFill>
                  </a:tcPr>
                </a:tc>
                <a:tc>
                  <a:txBody>
                    <a:bodyPr/>
                    <a:p>
                      <a:pPr indent="0" algn="l" defTabSz="914400" rtl="0" eaLnBrk="1" latinLnBrk="0" hangingPunct="1">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rPr>
                        <a:t>H</a:t>
                      </a:r>
                      <a:endParaRPr lang="en-US" altLang="zh-CN" sz="1800" b="0" spc="120">
                        <a:solidFill>
                          <a:srgbClr val="404040"/>
                        </a:solidFill>
                        <a:latin typeface="微软雅黑" panose="020B0503020204020204" pitchFamily="34" charset="-122"/>
                        <a:ea typeface="微软雅黑" panose="020B0503020204020204" pitchFamily="34" charset="-122"/>
                      </a:endParaRPr>
                    </a:p>
                  </a:txBody>
                  <a:tcPr marL="76200" marR="76200" marT="107950" marB="107950" anchor="ctr">
                    <a:lnL>
                      <a:noFill/>
                    </a:lnL>
                    <a:lnR w="12700">
                      <a:solidFill>
                        <a:schemeClr val="tx1"/>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5</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12700">
                      <a:solidFill>
                        <a:schemeClr val="tx1"/>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6</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12700">
                      <a:solidFill>
                        <a:schemeClr val="tx1"/>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12700">
                      <a:solidFill>
                        <a:schemeClr val="tx1"/>
                      </a:solidFill>
                      <a:prstDash val="solid"/>
                    </a:lnR>
                    <a:lnT w="12700">
                      <a:solidFill>
                        <a:schemeClr val="tx1"/>
                      </a:solidFill>
                      <a:prstDash val="solid"/>
                    </a:lnT>
                    <a:lnB w="6350">
                      <a:solidFill>
                        <a:srgbClr val="D9D9D9"/>
                      </a:solidFill>
                      <a:prstDash val="solid"/>
                    </a:lnB>
                    <a:solidFill>
                      <a:srgbClr val="FFFFFF"/>
                    </a:solidFill>
                  </a:tcPr>
                </a:tc>
              </a:tr>
              <a:tr h="591820">
                <a:tc vMerge="1">
                  <a:tcPr>
                    <a:lnL>
                      <a:noFill/>
                    </a:lnL>
                    <a:lnR>
                      <a:noFill/>
                    </a:lnR>
                  </a:tcPr>
                </a:tc>
                <a:tc>
                  <a:txBody>
                    <a:bodyPr/>
                    <a:p>
                      <a:pPr indent="0" algn="l" defTabSz="914400" rtl="0" eaLnBrk="1" latinLnBrk="0" hangingPunct="1">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rPr>
                        <a:t>M</a:t>
                      </a:r>
                      <a:endParaRPr lang="en-US" altLang="zh-CN" sz="1800" b="0" spc="120">
                        <a:solidFill>
                          <a:srgbClr val="404040"/>
                        </a:solidFill>
                        <a:latin typeface="微软雅黑" panose="020B0503020204020204" pitchFamily="34" charset="-122"/>
                        <a:ea typeface="微软雅黑" panose="020B0503020204020204" pitchFamily="34" charset="-122"/>
                      </a:endParaRPr>
                    </a:p>
                  </a:txBody>
                  <a:tcPr marL="76200" marR="76200" marT="107950" marB="107950" anchor="ctr">
                    <a:lnL>
                      <a:noFill/>
                    </a:lnL>
                    <a:lnR w="12700">
                      <a:solidFill>
                        <a:schemeClr val="tx1"/>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12700">
                      <a:solidFill>
                        <a:schemeClr val="tx1"/>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marR="0" indent="0" algn="l" defTabSz="914400" rtl="0" eaLnBrk="1" fontAlgn="auto" latinLnBrk="0" hangingPunct="1">
                        <a:lnSpc>
                          <a:spcPct val="120000"/>
                        </a:lnSpc>
                        <a:spcBef>
                          <a:spcPts val="0"/>
                        </a:spcBef>
                        <a:spcAft>
                          <a:spcPts val="0"/>
                        </a:spcAft>
                        <a:buClrTx/>
                        <a:buSzTx/>
                        <a:buFontTx/>
                        <a:buNone/>
                        <a:defRPr/>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12700">
                      <a:solidFill>
                        <a:schemeClr val="tx1"/>
                      </a:solidFill>
                      <a:prstDash val="solid"/>
                    </a:lnR>
                    <a:lnT w="6350">
                      <a:solidFill>
                        <a:srgbClr val="D9D9D9"/>
                      </a:solidFill>
                      <a:prstDash val="solid"/>
                    </a:lnT>
                    <a:lnB w="6350">
                      <a:solidFill>
                        <a:srgbClr val="D9D9D9"/>
                      </a:solidFill>
                      <a:prstDash val="solid"/>
                    </a:lnB>
                    <a:solidFill>
                      <a:srgbClr val="FFFFFF"/>
                    </a:solidFill>
                  </a:tcPr>
                </a:tc>
              </a:tr>
              <a:tr h="593090">
                <a:tc vMerge="1">
                  <a:tcPr>
                    <a:lnL>
                      <a:noFill/>
                    </a:lnL>
                    <a:lnR>
                      <a:noFill/>
                    </a:lnR>
                  </a:tcPr>
                </a:tc>
                <a:tc>
                  <a:txBody>
                    <a:bodyPr/>
                    <a:p>
                      <a:pPr indent="0" algn="l" defTabSz="914400" rtl="0" eaLnBrk="1" latinLnBrk="0" hangingPunct="1">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rPr>
                        <a:t>L</a:t>
                      </a:r>
                      <a:endParaRPr lang="en-US" altLang="zh-CN" sz="1800" b="0" spc="120">
                        <a:solidFill>
                          <a:srgbClr val="404040"/>
                        </a:solidFill>
                        <a:latin typeface="微软雅黑" panose="020B0503020204020204" pitchFamily="34" charset="-122"/>
                        <a:ea typeface="微软雅黑" panose="020B0503020204020204" pitchFamily="34" charset="-122"/>
                      </a:endParaRPr>
                    </a:p>
                  </a:txBody>
                  <a:tcPr marL="76200" marR="76200" marT="107950" marB="107950" anchor="ctr">
                    <a:lnL>
                      <a:noFill/>
                    </a:lnL>
                    <a:lnR w="12700">
                      <a:solidFill>
                        <a:schemeClr val="tx1"/>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12700">
                      <a:solidFill>
                        <a:schemeClr val="tx1"/>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12700">
                      <a:solidFill>
                        <a:schemeClr val="tx1"/>
                      </a:solidFill>
                      <a:prstDash val="solid"/>
                    </a:lnR>
                    <a:lnT w="6350">
                      <a:solidFill>
                        <a:srgbClr val="D9D9D9"/>
                      </a:solidFill>
                      <a:prstDash val="solid"/>
                    </a:lnT>
                    <a:lnB w="6350">
                      <a:solidFill>
                        <a:srgbClr val="D9D9D9"/>
                      </a:solidFill>
                      <a:prstDash val="solid"/>
                    </a:lnB>
                    <a:solidFill>
                      <a:srgbClr val="FFFFFF"/>
                    </a:solidFill>
                  </a:tcPr>
                </a:tc>
              </a:tr>
              <a:tr h="593090">
                <a:tc vMerge="1">
                  <a:tcPr>
                    <a:lnL>
                      <a:noFill/>
                    </a:lnL>
                    <a:lnR>
                      <a:noFill/>
                    </a:lnR>
                  </a:tcPr>
                </a:tc>
                <a:tc>
                  <a:txBody>
                    <a:bodyPr/>
                    <a:p>
                      <a:pPr indent="0" algn="l" defTabSz="914400" rtl="0" eaLnBrk="1" latinLnBrk="0" hangingPunct="1">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rPr>
                        <a:t>P</a:t>
                      </a:r>
                      <a:endParaRPr lang="en-US" altLang="zh-CN" sz="1800" b="0" spc="120">
                        <a:solidFill>
                          <a:srgbClr val="404040"/>
                        </a:solidFill>
                        <a:latin typeface="微软雅黑" panose="020B0503020204020204" pitchFamily="34" charset="-122"/>
                        <a:ea typeface="微软雅黑" panose="020B0503020204020204" pitchFamily="34" charset="-122"/>
                      </a:endParaRPr>
                    </a:p>
                  </a:txBody>
                  <a:tcPr marL="76200" marR="76200" marT="107950" marB="107950" anchor="ctr">
                    <a:lnL>
                      <a:noFill/>
                    </a:lnL>
                    <a:lnR w="12700">
                      <a:solidFill>
                        <a:schemeClr val="tx1"/>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12700">
                      <a:solidFill>
                        <a:schemeClr val="tx1"/>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0.5</a:t>
                      </a:r>
                      <a:endPar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6350">
                      <a:solidFill>
                        <a:srgbClr val="D9D9D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12700">
                      <a:solidFill>
                        <a:schemeClr val="tx1"/>
                      </a:solidFill>
                      <a:prstDash val="solid"/>
                    </a:lnR>
                    <a:lnT w="6350">
                      <a:solidFill>
                        <a:srgbClr val="D9D9D9"/>
                      </a:solidFill>
                      <a:prstDash val="solid"/>
                    </a:lnT>
                    <a:lnB w="6350">
                      <a:solidFill>
                        <a:srgbClr val="D9D9D9"/>
                      </a:solidFill>
                      <a:prstDash val="solid"/>
                    </a:lnB>
                    <a:solidFill>
                      <a:srgbClr val="FFFFFF"/>
                    </a:solidFill>
                  </a:tcPr>
                </a:tc>
              </a:tr>
              <a:tr h="593090">
                <a:tc vMerge="1">
                  <a:tcPr>
                    <a:lnL>
                      <a:noFill/>
                    </a:lnL>
                    <a:lnR>
                      <a:noFill/>
                    </a:lnR>
                    <a:lnB>
                      <a:noFill/>
                    </a:lnB>
                  </a:tcPr>
                </a:tc>
                <a:tc>
                  <a:txBody>
                    <a:bodyPr/>
                    <a:p>
                      <a:pPr indent="0" algn="l" defTabSz="914400" rtl="0" eaLnBrk="1" latinLnBrk="0" hangingPunct="1">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rPr>
                        <a:t>Q</a:t>
                      </a:r>
                      <a:endParaRPr lang="en-US" altLang="zh-CN" sz="1800" b="0" spc="120">
                        <a:solidFill>
                          <a:srgbClr val="404040"/>
                        </a:solidFill>
                        <a:latin typeface="微软雅黑" panose="020B0503020204020204" pitchFamily="34" charset="-122"/>
                        <a:ea typeface="微软雅黑" panose="020B0503020204020204" pitchFamily="34" charset="-122"/>
                      </a:endParaRPr>
                    </a:p>
                  </a:txBody>
                  <a:tcPr marL="76200" marR="76200" marT="107950" marB="107950" anchor="ctr">
                    <a:lnL>
                      <a:noFill/>
                    </a:lnL>
                    <a:lnR w="12700">
                      <a:solidFill>
                        <a:schemeClr val="tx1"/>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12700">
                      <a:solidFill>
                        <a:schemeClr val="tx1"/>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6350">
                      <a:solidFill>
                        <a:srgbClr val="D9D9D9"/>
                      </a:solidFill>
                      <a:prstDash val="solid"/>
                    </a:lnR>
                    <a:lnT w="6350">
                      <a:solidFill>
                        <a:srgbClr val="D9D9D9"/>
                      </a:solidFill>
                      <a:prstDash val="solid"/>
                    </a:lnT>
                    <a:lnB w="19050">
                      <a:solidFill>
                        <a:srgbClr val="595959"/>
                      </a:solidFill>
                      <a:prstDash val="solid"/>
                    </a:lnB>
                    <a:solidFill>
                      <a:srgbClr val="FFFFFF"/>
                    </a:solidFill>
                  </a:tcPr>
                </a:tc>
                <a:tc>
                  <a:txBody>
                    <a:bodyPr/>
                    <a:p>
                      <a:pPr indent="0" algn="l">
                        <a:lnSpc>
                          <a:spcPct val="120000"/>
                        </a:lnSpc>
                        <a:spcBef>
                          <a:spcPts val="0"/>
                        </a:spcBef>
                        <a:spcAft>
                          <a:spcPts val="0"/>
                        </a:spcAft>
                      </a:pPr>
                      <a:r>
                        <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0.5</a:t>
                      </a:r>
                      <a:r>
                        <a:rPr lang="zh-CN" altLang="en-US"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4</a:t>
                      </a:r>
                      <a:endParaRPr lang="en-US" altLang="zh-CN" sz="1800" b="0" spc="120">
                        <a:solidFill>
                          <a:srgbClr val="40404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107950" marB="107950" anchor="ctr">
                    <a:lnL w="6350">
                      <a:solidFill>
                        <a:srgbClr val="D9D9D9"/>
                      </a:solidFill>
                      <a:prstDash val="solid"/>
                    </a:lnL>
                    <a:lnR w="12700">
                      <a:solidFill>
                        <a:schemeClr val="tx1"/>
                      </a:solidFill>
                      <a:prstDash val="solid"/>
                    </a:lnR>
                    <a:lnT w="6350">
                      <a:solidFill>
                        <a:srgbClr val="D9D9D9"/>
                      </a:solidFill>
                      <a:prstDash val="solid"/>
                    </a:lnT>
                    <a:lnB w="19050">
                      <a:solidFill>
                        <a:srgbClr val="595959"/>
                      </a:solidFill>
                      <a:prstDash val="solid"/>
                    </a:lnB>
                    <a:solidFill>
                      <a:srgbClr val="FFFFFF"/>
                    </a:solidFill>
                  </a:tcPr>
                </a:tc>
              </a:tr>
            </a:tbl>
          </a:graphicData>
        </a:graphic>
      </p:graphicFrame>
      <p:pic>
        <p:nvPicPr>
          <p:cNvPr id="3"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4" name="组合 3"/>
          <p:cNvGrpSpPr/>
          <p:nvPr/>
        </p:nvGrpSpPr>
        <p:grpSpPr>
          <a:xfrm>
            <a:off x="533400" y="152400"/>
            <a:ext cx="10375265" cy="762000"/>
            <a:chOff x="840" y="240"/>
            <a:chExt cx="16339" cy="1200"/>
          </a:xfrm>
        </p:grpSpPr>
        <p:sp>
          <p:nvSpPr>
            <p:cNvPr id="9" name="文本框 6"/>
            <p:cNvSpPr txBox="1"/>
            <p:nvPr>
              <p:custDataLst>
                <p:tags r:id="rId5"/>
              </p:custDataLst>
            </p:nvPr>
          </p:nvSpPr>
          <p:spPr>
            <a:xfrm>
              <a:off x="1200" y="240"/>
              <a:ext cx="15979"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多个</a:t>
              </a:r>
              <a:r>
                <a:rPr lang="zh-CN" altLang="en-US" sz="2800" dirty="0">
                  <a:solidFill>
                    <a:schemeClr val="accent1"/>
                  </a:solidFill>
                  <a:sym typeface="+mn-ea"/>
                </a:rPr>
                <a:t>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5" name="直接连接符 4"/>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椭圆形标注 6"/>
          <p:cNvSpPr/>
          <p:nvPr/>
        </p:nvSpPr>
        <p:spPr>
          <a:xfrm>
            <a:off x="8973185" y="3549015"/>
            <a:ext cx="3235960" cy="1577340"/>
          </a:xfrm>
          <a:prstGeom prst="wedgeEllipseCallout">
            <a:avLst>
              <a:gd name="adj1" fmla="val -55965"/>
              <a:gd name="adj2" fmla="val 11685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just"/>
            <a:r>
              <a:rPr lang="zh-CN" altLang="en-US" sz="2000">
                <a:solidFill>
                  <a:schemeClr val="tx1"/>
                </a:solidFill>
                <a:latin typeface="微软雅黑" panose="020B0503020204020204" pitchFamily="34" charset="-122"/>
                <a:ea typeface="微软雅黑" panose="020B0503020204020204" pitchFamily="34" charset="-122"/>
              </a:rPr>
              <a:t>构成一个子博弈完美纳什均衡；触发策略中的报复机制可信</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6" name="AutoShape 3"/>
          <p:cNvSpPr>
            <a:spLocks noChangeAspect="1" noChangeArrowheads="1" noTextEdit="1"/>
          </p:cNvSpPr>
          <p:nvPr>
            <p:custDataLst>
              <p:tags r:id="rId1"/>
            </p:custDataLst>
          </p:nvPr>
        </p:nvSpPr>
        <p:spPr bwMode="auto">
          <a:xfrm>
            <a:off x="1678209" y="1860149"/>
            <a:ext cx="592777" cy="54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1" name="Title 6"/>
          <p:cNvSpPr txBox="1"/>
          <p:nvPr>
            <p:custDataLst>
              <p:tags r:id="rId2"/>
            </p:custDataLst>
          </p:nvPr>
        </p:nvSpPr>
        <p:spPr>
          <a:xfrm>
            <a:off x="1343660" y="5300980"/>
            <a:ext cx="9092565" cy="155765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两个纯策略纳什均衡：</a:t>
            </a:r>
            <a:r>
              <a:rPr lang="zh-CN" altLang="en-US" sz="2000">
                <a:sym typeface="+mn-ea"/>
              </a:rPr>
              <a:t>(A，B)、(B，A)。</a:t>
            </a:r>
            <a:endParaRPr lang="zh-CN" altLang="en-US" sz="2000">
              <a:sym typeface="+mn-ea"/>
            </a:endParaRPr>
          </a:p>
          <a:p>
            <a:pPr marL="285750" lvl="0" indent="-285750" algn="l" fontAlgn="auto">
              <a:lnSpc>
                <a:spcPct val="120000"/>
              </a:lnSpc>
              <a:spcBef>
                <a:spcPts val="0"/>
              </a:spcBef>
              <a:spcAft>
                <a:spcPts val="80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一个混合策略纳什均衡：</a:t>
            </a:r>
            <a:r>
              <a:rPr lang="zh-CN" altLang="en-US" sz="2000">
                <a:sym typeface="+mn-ea"/>
              </a:rPr>
              <a:t>厂商</a:t>
            </a:r>
            <a:r>
              <a:rPr altLang="zh-CN" sz="2000">
                <a:sym typeface="+mn-ea"/>
              </a:rPr>
              <a:t>1</a:t>
            </a:r>
            <a:r>
              <a:rPr lang="zh-CN" altLang="en-US" sz="2000">
                <a:sym typeface="+mn-ea"/>
              </a:rPr>
              <a:t>和厂商</a:t>
            </a:r>
            <a:r>
              <a:rPr altLang="zh-CN" sz="2000">
                <a:sym typeface="+mn-ea"/>
              </a:rPr>
              <a:t>2</a:t>
            </a:r>
            <a:r>
              <a:rPr lang="zh-CN" altLang="en-US" sz="2000">
                <a:sym typeface="+mn-ea"/>
              </a:rPr>
              <a:t>都以相同概率在A、B之间随机选择，双方期望得益0.25×(3+4+1+0)=2。</a:t>
            </a:r>
            <a:endParaRPr lang="zh-CN" altLang="en-US" sz="2000"/>
          </a:p>
          <a:p>
            <a:pPr marL="285750" lvl="0" indent="-285750" algn="l" fontAlgn="auto">
              <a:lnSpc>
                <a:spcPct val="120000"/>
              </a:lnSpc>
              <a:spcBef>
                <a:spcPts val="0"/>
              </a:spcBef>
              <a:spcAft>
                <a:spcPts val="80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a:graphicFrameLocks noGrp="1"/>
          </p:cNvGraphicFramePr>
          <p:nvPr>
            <p:custDataLst>
              <p:tags r:id="rId3"/>
            </p:custDataLst>
          </p:nvPr>
        </p:nvGraphicFramePr>
        <p:xfrm>
          <a:off x="2999740" y="1124585"/>
          <a:ext cx="6431280" cy="3195955"/>
        </p:xfrm>
        <a:graphic>
          <a:graphicData uri="http://schemas.openxmlformats.org/drawingml/2006/table">
            <a:tbl>
              <a:tblPr firstRow="1" bandRow="1">
                <a:tableStyleId>{2D5ABB26-0587-4C30-8999-92F81FD0307C}</a:tableStyleId>
              </a:tblPr>
              <a:tblGrid>
                <a:gridCol w="1440815"/>
                <a:gridCol w="1643380"/>
                <a:gridCol w="1714500"/>
                <a:gridCol w="1632585"/>
              </a:tblGrid>
              <a:tr h="82359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2359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A</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A</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4" name="组合 3"/>
          <p:cNvGrpSpPr/>
          <p:nvPr/>
        </p:nvGrpSpPr>
        <p:grpSpPr>
          <a:xfrm>
            <a:off x="533400" y="152400"/>
            <a:ext cx="10375265" cy="762000"/>
            <a:chOff x="840" y="240"/>
            <a:chExt cx="16339" cy="1200"/>
          </a:xfrm>
        </p:grpSpPr>
        <p:sp>
          <p:nvSpPr>
            <p:cNvPr id="2" name="文本框 6"/>
            <p:cNvSpPr txBox="1"/>
            <p:nvPr>
              <p:custDataLst>
                <p:tags r:id="rId5"/>
              </p:custDataLst>
            </p:nvPr>
          </p:nvSpPr>
          <p:spPr>
            <a:xfrm>
              <a:off x="1200" y="240"/>
              <a:ext cx="15979"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多个</a:t>
              </a:r>
              <a:r>
                <a:rPr lang="zh-CN" altLang="en-US" sz="2800" dirty="0">
                  <a:solidFill>
                    <a:schemeClr val="accent1"/>
                  </a:solidFill>
                  <a:sym typeface="+mn-ea"/>
                </a:rPr>
                <a:t>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3" name="直接连接符 2"/>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6" name="文本框 6"/>
          <p:cNvSpPr txBox="1"/>
          <p:nvPr>
            <p:custDataLst>
              <p:tags r:id="rId7"/>
            </p:custDataLst>
          </p:nvPr>
        </p:nvSpPr>
        <p:spPr>
          <a:xfrm>
            <a:off x="767715" y="923925"/>
            <a:ext cx="3891280"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00000"/>
              </a:lnSpc>
              <a:spcBef>
                <a:spcPts val="0"/>
              </a:spcBef>
              <a:spcAft>
                <a:spcPts val="0"/>
              </a:spcAft>
              <a:buClrTx/>
              <a:buSzTx/>
              <a:buFont typeface="Wingdings" panose="05000000000000000000" charset="0"/>
              <a:buChar char="u"/>
            </a:pPr>
            <a:r>
              <a:rPr lang="zh-CN" altLang="en-US" sz="2400" dirty="0">
                <a:solidFill>
                  <a:schemeClr val="tx1"/>
                </a:solidFill>
                <a:sym typeface="+mn-ea"/>
              </a:rPr>
              <a:t>两市场博弈的重复博弈</a:t>
            </a:r>
            <a:endParaRPr lang="zh-CN" altLang="en-US" sz="2400" dirty="0">
              <a:solidFill>
                <a:schemeClr val="tx1"/>
              </a:solidFill>
              <a:sym typeface="+mn-ea"/>
            </a:endParaRPr>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1" name="Title 6"/>
          <p:cNvSpPr txBox="1"/>
          <p:nvPr>
            <p:custDataLst>
              <p:tags r:id="rId1"/>
            </p:custDataLst>
          </p:nvPr>
        </p:nvSpPr>
        <p:spPr>
          <a:xfrm>
            <a:off x="3575685" y="6026150"/>
            <a:ext cx="6107430" cy="83185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20000"/>
              </a:lnSpc>
              <a:spcBef>
                <a:spcPts val="0"/>
              </a:spcBef>
              <a:spcAft>
                <a:spcPts val="800"/>
              </a:spcAft>
              <a:buSzPct val="100000"/>
              <a:buFont typeface="Wingdings" panose="05000000000000000000" charset="0"/>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两市场博弈及重复博弈各均衡的平均得益</a:t>
            </a:r>
            <a:endParaRPr altLang="zh-CN"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p:cNvPicPr>
            <a:picLocks noChangeAspect="1"/>
          </p:cNvPicPr>
          <p:nvPr/>
        </p:nvPicPr>
        <p:blipFill>
          <a:blip r:embed="rId2"/>
          <a:stretch>
            <a:fillRect/>
          </a:stretch>
        </p:blipFill>
        <p:spPr>
          <a:xfrm>
            <a:off x="1919605" y="1294765"/>
            <a:ext cx="7821930" cy="4793615"/>
          </a:xfrm>
          <a:prstGeom prst="rect">
            <a:avLst/>
          </a:prstGeom>
        </p:spPr>
      </p:pic>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0375265" cy="762000"/>
            <a:chOff x="840" y="240"/>
            <a:chExt cx="16339" cy="1200"/>
          </a:xfrm>
        </p:grpSpPr>
        <p:sp>
          <p:nvSpPr>
            <p:cNvPr id="3" name="文本框 6"/>
            <p:cNvSpPr txBox="1"/>
            <p:nvPr>
              <p:custDataLst>
                <p:tags r:id="rId4"/>
              </p:custDataLst>
            </p:nvPr>
          </p:nvSpPr>
          <p:spPr>
            <a:xfrm>
              <a:off x="1200" y="240"/>
              <a:ext cx="15979"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有限次重复博弈：</a:t>
              </a:r>
              <a:r>
                <a:rPr lang="zh-CN" altLang="en-US" sz="2800" dirty="0">
                  <a:solidFill>
                    <a:schemeClr val="accent1"/>
                  </a:solidFill>
                  <a:sym typeface="+mn-ea"/>
                </a:rPr>
                <a:t>多个</a:t>
              </a:r>
              <a:r>
                <a:rPr lang="zh-CN" altLang="en-US" sz="2800" dirty="0">
                  <a:solidFill>
                    <a:schemeClr val="accent1"/>
                  </a:solidFill>
                  <a:sym typeface="+mn-ea"/>
                </a:rPr>
                <a:t>纯策略纳什均衡博弈</a:t>
              </a:r>
              <a:r>
                <a:rPr lang="zh-CN" altLang="en-US" sz="2800" dirty="0">
                  <a:solidFill>
                    <a:schemeClr val="accent1"/>
                  </a:solidFill>
                  <a:sym typeface="+mn-ea"/>
                </a:rPr>
                <a:t>的有限次重复博弈</a:t>
              </a:r>
              <a:endParaRPr lang="zh-CN" altLang="en-US" sz="2800" dirty="0">
                <a:solidFill>
                  <a:schemeClr val="accent1"/>
                </a:solidFill>
                <a:sym typeface="+mn-ea"/>
              </a:endParaRPr>
            </a:p>
          </p:txBody>
        </p:sp>
        <p:cxnSp>
          <p:nvCxnSpPr>
            <p:cNvPr id="7" name="直接连接符 6"/>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3" name="Title 6"/>
          <p:cNvSpPr txBox="1"/>
          <p:nvPr>
            <p:custDataLst>
              <p:tags r:id="rId2"/>
            </p:custDataLst>
          </p:nvPr>
        </p:nvSpPr>
        <p:spPr>
          <a:xfrm>
            <a:off x="1724660" y="1772920"/>
            <a:ext cx="8737600" cy="408622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marR="0" lvl="0" indent="-285750" algn="l" defTabSz="914400" rtl="0" eaLnBrk="0" fontAlgn="base" latinLnBrk="0" hangingPunct="0">
              <a:lnSpc>
                <a:spcPct val="150000"/>
              </a:lnSpc>
              <a:spcBef>
                <a:spcPts val="0"/>
              </a:spcBef>
              <a:spcAft>
                <a:spcPct val="0"/>
              </a:spcAft>
              <a:buClr>
                <a:schemeClr val="accent2"/>
              </a:buClr>
              <a:buSzTx/>
              <a:buFont typeface="Wingdings" panose="05000000000000000000" charset="0"/>
              <a:buChar char="Ø"/>
              <a:defRPr/>
            </a:pPr>
            <a:r>
              <a:rPr lang="zh-CN" altLang="en-US" sz="2500" b="1" spc="0">
                <a:ln>
                  <a:noFill/>
                </a:ln>
                <a:uLnTx/>
                <a:uFillTx/>
                <a:latin typeface="微软雅黑" panose="020B0503020204020204" pitchFamily="34" charset="-122"/>
                <a:ea typeface="微软雅黑" panose="020B0503020204020204" pitchFamily="34" charset="-122"/>
                <a:cs typeface="微软雅黑" panose="020B0503020204020204" pitchFamily="34" charset="-122"/>
                <a:sym typeface="+mn-ea"/>
              </a:rPr>
              <a:t>无限次重复博弈与有限次重复博弈的比较： </a:t>
            </a:r>
            <a:endParaRPr kumimoji="0" lang="zh-CN" altLang="en-US" sz="25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r>
              <a:rPr lang="zh-CN" altLang="en-US" sz="2300" spc="0">
                <a:ln>
                  <a:noFill/>
                </a:ln>
                <a:uLnTx/>
                <a:uFillTx/>
                <a:latin typeface="微软雅黑" panose="020B0503020204020204" pitchFamily="34" charset="-122"/>
                <a:ea typeface="微软雅黑" panose="020B0503020204020204" pitchFamily="34" charset="-122"/>
                <a:cs typeface="微软雅黑" panose="020B0503020204020204" pitchFamily="34" charset="-122"/>
                <a:sym typeface="+mn-ea"/>
              </a:rPr>
              <a:t>一是否存在最后一次博弈。对有限次重复博弈，存在最后一次博弈，从而破坏了重复博弈中博弈方和行为的相互制约关系，使重复博弈无法实现更高效率均衡的关键问题。</a:t>
            </a:r>
            <a:r>
              <a:rPr lang="zh-CN" altLang="en-US" sz="2300">
                <a:sym typeface="+mn-ea"/>
              </a:rPr>
              <a:t>无限次重复博弈没有结束重复的确定时间，也就是最后一次重复。</a:t>
            </a:r>
            <a:endParaRPr kumimoji="0" lang="zh-CN" altLang="en-US" sz="23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r>
              <a:rPr lang="zh-CN" altLang="en-US" sz="2300" spc="0">
                <a:ln>
                  <a:noFill/>
                </a:ln>
                <a:uLnTx/>
                <a:uFillTx/>
                <a:latin typeface="微软雅黑" panose="020B0503020204020204" pitchFamily="34" charset="-122"/>
                <a:ea typeface="微软雅黑" panose="020B0503020204020204" pitchFamily="34" charset="-122"/>
                <a:cs typeface="微软雅黑" panose="020B0503020204020204" pitchFamily="34" charset="-122"/>
                <a:sym typeface="+mn-ea"/>
              </a:rPr>
              <a:t>二无限次重复博弈必须考虑得益的贴现问题，将每一期的得益折算成现值。对博弈方行为选择和博弈均衡的分析必须以平均得益或总得益的现值为根据。</a:t>
            </a:r>
            <a:endParaRPr kumimoji="0" lang="zh-CN" altLang="en-US" sz="230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69900" marR="0" lvl="0" indent="-469900" algn="just" defTabSz="914400" rtl="0" eaLnBrk="0" fontAlgn="base" latinLnBrk="0" hangingPunct="0">
              <a:lnSpc>
                <a:spcPct val="150000"/>
              </a:lnSpc>
              <a:spcBef>
                <a:spcPts val="0"/>
              </a:spcBef>
              <a:spcAft>
                <a:spcPct val="0"/>
              </a:spcAft>
              <a:buClr>
                <a:schemeClr val="accent2"/>
              </a:buClr>
              <a:buSzTx/>
              <a:buFont typeface="Wingdings" panose="05000000000000000000" charset="0"/>
              <a:buChar char="u"/>
              <a:defRPr/>
            </a:pPr>
            <a:r>
              <a:rPr lang="zh-CN" altLang="en-US" sz="2300" spc="0">
                <a:ln>
                  <a:noFill/>
                </a:ln>
                <a:uLnTx/>
                <a:uFillTx/>
                <a:latin typeface="微软雅黑" panose="020B0503020204020204" pitchFamily="34" charset="-122"/>
                <a:ea typeface="微软雅黑" panose="020B0503020204020204" pitchFamily="34" charset="-122"/>
                <a:cs typeface="微软雅黑" panose="020B0503020204020204" pitchFamily="34" charset="-122"/>
                <a:sym typeface="+mn-ea"/>
              </a:rPr>
              <a:t>三</a:t>
            </a:r>
            <a:r>
              <a:rPr lang="zh-CN" altLang="en-US" sz="2300" spc="0">
                <a:ln>
                  <a:noFill/>
                </a:ln>
                <a:solidFill>
                  <a:srgbClr val="FF0000"/>
                </a:solidFill>
                <a:uLnTx/>
                <a:uFillTx/>
                <a:latin typeface="微软雅黑" panose="020B0503020204020204" pitchFamily="34" charset="-122"/>
                <a:ea typeface="微软雅黑" panose="020B0503020204020204" pitchFamily="34" charset="-122"/>
                <a:cs typeface="微软雅黑" panose="020B0503020204020204" pitchFamily="34" charset="-122"/>
                <a:sym typeface="+mn-ea"/>
              </a:rPr>
              <a:t>触发策略</a:t>
            </a:r>
            <a:r>
              <a:rPr lang="zh-CN" altLang="en-US" sz="2300" spc="0">
                <a:ln>
                  <a:noFill/>
                </a:ln>
                <a:uLnTx/>
                <a:uFillTx/>
                <a:latin typeface="微软雅黑" panose="020B0503020204020204" pitchFamily="34" charset="-122"/>
                <a:ea typeface="微软雅黑" panose="020B0503020204020204" pitchFamily="34" charset="-122"/>
                <a:cs typeface="微软雅黑" panose="020B0503020204020204" pitchFamily="34" charset="-122"/>
                <a:sym typeface="+mn-ea"/>
              </a:rPr>
              <a:t>也是无限次重复博弈实现理想均衡的关键</a:t>
            </a:r>
            <a:r>
              <a:rPr lang="zh-CN" altLang="en-US" sz="23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3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endParaRPr lang="zh-CN" altLang="en-US" sz="23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3" name="组合 2"/>
          <p:cNvGrpSpPr/>
          <p:nvPr/>
        </p:nvGrpSpPr>
        <p:grpSpPr>
          <a:xfrm>
            <a:off x="533400" y="152400"/>
            <a:ext cx="8826500" cy="762000"/>
            <a:chOff x="840" y="240"/>
            <a:chExt cx="13900" cy="1200"/>
          </a:xfrm>
        </p:grpSpPr>
        <p:sp>
          <p:nvSpPr>
            <p:cNvPr id="4" name="文本框 6"/>
            <p:cNvSpPr txBox="1"/>
            <p:nvPr>
              <p:custDataLst>
                <p:tags r:id="rId4"/>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endParaRPr lang="zh-CN" altLang="en-US" sz="2800" dirty="0">
                <a:solidFill>
                  <a:schemeClr val="accent1"/>
                </a:solidFill>
                <a:sym typeface="+mn-ea"/>
              </a:endParaRPr>
            </a:p>
          </p:txBody>
        </p:sp>
        <p:cxnSp>
          <p:nvCxnSpPr>
            <p:cNvPr id="7" name="直接连接符 6"/>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3" name="Title 6"/>
              <p:cNvSpPr txBox="1"/>
              <p:nvPr>
                <p:custDataLst>
                  <p:tags r:id="rId2"/>
                </p:custDataLst>
              </p:nvPr>
            </p:nvSpPr>
            <p:spPr>
              <a:xfrm>
                <a:off x="2216785" y="2036445"/>
                <a:ext cx="8140065" cy="354647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两人零和博弈无限次重复的所有阶段都不可能发生合作，博弈方会</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一直重复原博弈的混合策略纳什均衡</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（与有限次重复一样）。</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“石头—剪刀—布”的纳什均衡：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30250" lvl="2" indent="-222250" algn="just"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d>
                      <m:dPr>
                        <m:begChr m:val="["/>
                        <m:endChr m:val="]"/>
                        <m:ctrlPr>
                          <a:rPr lang="en-US" altLang="zh-CN" sz="2000" i="1" dirty="0" smtClean="0">
                            <a:solidFill>
                              <a:schemeClr val="dk1">
                                <a:lumMod val="75000"/>
                                <a:lumOff val="25000"/>
                              </a:schemeClr>
                            </a:solidFill>
                            <a:latin typeface="Cambria Math" panose="02040503050406030204" pitchFamily="18" charset="0"/>
                            <a:cs typeface="Cambria Math" panose="02040503050406030204" pitchFamily="18" charset="0"/>
                          </a:rPr>
                        </m:ctrlPr>
                      </m:dPr>
                      <m:e>
                        <m:d>
                          <m:dPr>
                            <m:ctrlPr>
                              <a:rPr lang="en-US" altLang="zh-CN" sz="2000" i="1" dirty="0">
                                <a:latin typeface="Cambria Math" panose="02040503050406030204" pitchFamily="18" charset="0"/>
                              </a:rPr>
                            </m:ctrlPr>
                          </m:dPr>
                          <m:e>
                            <m:f>
                              <m:fPr>
                                <m:ctrlPr>
                                  <a:rPr lang="en-US" altLang="zh-CN" sz="2000" i="1" dirty="0">
                                    <a:latin typeface="Cambria Math" panose="02040503050406030204" pitchFamily="18" charset="0"/>
                                  </a:rPr>
                                </m:ctrlPr>
                              </m:fPr>
                              <m:num>
                                <m:r>
                                  <a:rPr lang="zh-CN" altLang="en-US" sz="2000" i="1" dirty="0">
                                    <a:latin typeface="Cambria Math" panose="02040503050406030204" pitchFamily="18" charset="0"/>
                                  </a:rPr>
                                  <m:t>石头</m:t>
                                </m:r>
                              </m:num>
                              <m:den>
                                <m:r>
                                  <a:rPr lang="en-US" altLang="zh-CN" sz="2000" i="1" dirty="0">
                                    <a:latin typeface="Cambria Math" panose="02040503050406030204" pitchFamily="18" charset="0"/>
                                  </a:rPr>
                                  <m:t>3</m:t>
                                </m:r>
                              </m:den>
                            </m:f>
                            <m:r>
                              <a:rPr lang="zh-CN" altLang="en-US"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zh-CN" altLang="en-US" sz="2000" i="1" dirty="0">
                                    <a:latin typeface="Cambria Math" panose="02040503050406030204" pitchFamily="18" charset="0"/>
                                  </a:rPr>
                                  <m:t>剪刀</m:t>
                                </m:r>
                              </m:num>
                              <m:den>
                                <m:r>
                                  <a:rPr lang="en-US" altLang="zh-CN" sz="2000" i="1" dirty="0">
                                    <a:latin typeface="Cambria Math" panose="02040503050406030204" pitchFamily="18" charset="0"/>
                                  </a:rPr>
                                  <m:t>3</m:t>
                                </m:r>
                              </m:den>
                            </m:f>
                            <m:r>
                              <a:rPr lang="zh-CN" altLang="en-US"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zh-CN" altLang="en-US" sz="2000" i="1" dirty="0">
                                    <a:latin typeface="Cambria Math" panose="02040503050406030204" pitchFamily="18" charset="0"/>
                                  </a:rPr>
                                  <m:t>布</m:t>
                                </m:r>
                              </m:num>
                              <m:den>
                                <m:r>
                                  <a:rPr lang="en-US" altLang="zh-CN" sz="2000" i="1" dirty="0">
                                    <a:latin typeface="Cambria Math" panose="02040503050406030204" pitchFamily="18" charset="0"/>
                                  </a:rPr>
                                  <m:t>3</m:t>
                                </m:r>
                              </m:den>
                            </m:f>
                          </m:e>
                        </m:d>
                        <m:r>
                          <a:rPr lang="zh-CN" altLang="en-US" sz="2000" i="1" dirty="0">
                            <a:latin typeface="Cambria Math" panose="02040503050406030204" pitchFamily="18" charset="0"/>
                          </a:rPr>
                          <m:t>，</m:t>
                        </m:r>
                        <m:d>
                          <m:dPr>
                            <m:ctrlPr>
                              <a:rPr lang="en-US" altLang="zh-CN" sz="2000" i="1" dirty="0">
                                <a:latin typeface="Cambria Math" panose="02040503050406030204" pitchFamily="18" charset="0"/>
                              </a:rPr>
                            </m:ctrlPr>
                          </m:dPr>
                          <m:e>
                            <m:f>
                              <m:fPr>
                                <m:ctrlPr>
                                  <a:rPr lang="en-US" altLang="zh-CN" sz="2000" i="1" dirty="0">
                                    <a:latin typeface="Cambria Math" panose="02040503050406030204" pitchFamily="18" charset="0"/>
                                  </a:rPr>
                                </m:ctrlPr>
                              </m:fPr>
                              <m:num>
                                <m:r>
                                  <a:rPr lang="zh-CN" altLang="en-US" sz="2000" i="1" dirty="0">
                                    <a:latin typeface="Cambria Math" panose="02040503050406030204" pitchFamily="18" charset="0"/>
                                  </a:rPr>
                                  <m:t>石头</m:t>
                                </m:r>
                              </m:num>
                              <m:den>
                                <m:r>
                                  <a:rPr lang="en-US" altLang="zh-CN" sz="2000" i="1" dirty="0">
                                    <a:latin typeface="Cambria Math" panose="02040503050406030204" pitchFamily="18" charset="0"/>
                                  </a:rPr>
                                  <m:t>3</m:t>
                                </m:r>
                              </m:den>
                            </m:f>
                            <m:r>
                              <a:rPr lang="zh-CN" altLang="en-US"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zh-CN" altLang="en-US" sz="2000" i="1" dirty="0">
                                    <a:latin typeface="Cambria Math" panose="02040503050406030204" pitchFamily="18" charset="0"/>
                                  </a:rPr>
                                  <m:t>剪刀</m:t>
                                </m:r>
                              </m:num>
                              <m:den>
                                <m:r>
                                  <a:rPr lang="en-US" altLang="zh-CN" sz="2000" i="1" dirty="0">
                                    <a:latin typeface="Cambria Math" panose="02040503050406030204" pitchFamily="18" charset="0"/>
                                  </a:rPr>
                                  <m:t>3</m:t>
                                </m:r>
                              </m:den>
                            </m:f>
                            <m:r>
                              <a:rPr lang="zh-CN" altLang="en-US"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zh-CN" altLang="en-US" sz="2000" i="1" dirty="0">
                                    <a:latin typeface="Cambria Math" panose="02040503050406030204" pitchFamily="18" charset="0"/>
                                  </a:rPr>
                                  <m:t>布</m:t>
                                </m:r>
                              </m:num>
                              <m:den>
                                <m:r>
                                  <a:rPr lang="en-US" altLang="zh-CN" sz="2000" i="1" dirty="0">
                                    <a:latin typeface="Cambria Math" panose="02040503050406030204" pitchFamily="18" charset="0"/>
                                  </a:rPr>
                                  <m:t>3</m:t>
                                </m:r>
                              </m:den>
                            </m:f>
                          </m:e>
                        </m:d>
                      </m:e>
                    </m:d>
                  </m:oMath>
                </a14:m>
                <a:endParaRPr lang="en-US" altLang="zh-CN" sz="2000" i="1" dirty="0">
                  <a:latin typeface="Cambria Math" panose="02040503050406030204" pitchFamily="18" charset="0"/>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“猜硬币”的纳什均衡：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30250" lvl="2" indent="-222250" algn="just"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d>
                      <m:dPr>
                        <m:begChr m:val="["/>
                        <m:endChr m:val="]"/>
                        <m:ctrlPr>
                          <a:rPr lang="en-US" altLang="zh-CN" sz="2000" i="1" smtClean="0">
                            <a:latin typeface="Cambria Math" panose="02040503050406030204" pitchFamily="18" charset="0"/>
                          </a:rPr>
                        </m:ctrlPr>
                      </m:dPr>
                      <m:e>
                        <m:d>
                          <m:dPr>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zh-CN" altLang="en-US" sz="2000" i="1">
                                    <a:latin typeface="Cambria Math" panose="02040503050406030204" pitchFamily="18" charset="0"/>
                                  </a:rPr>
                                  <m:t>正面</m:t>
                                </m:r>
                              </m:num>
                              <m:den>
                                <m:r>
                                  <a:rPr lang="en-US" altLang="zh-CN" sz="2000" i="1">
                                    <a:latin typeface="Cambria Math" panose="02040503050406030204" pitchFamily="18" charset="0"/>
                                  </a:rPr>
                                  <m:t>2</m:t>
                                </m:r>
                              </m:den>
                            </m:f>
                            <m:r>
                              <a:rPr lang="zh-CN" altLang="en-US" sz="2000" i="1">
                                <a:latin typeface="Cambria Math" panose="02040503050406030204" pitchFamily="18" charset="0"/>
                              </a:rPr>
                              <m:t>，</m:t>
                            </m:r>
                            <m:f>
                              <m:fPr>
                                <m:ctrlPr>
                                  <a:rPr lang="en-US" altLang="zh-CN" sz="2000" i="1">
                                    <a:latin typeface="Cambria Math" panose="02040503050406030204" pitchFamily="18" charset="0"/>
                                  </a:rPr>
                                </m:ctrlPr>
                              </m:fPr>
                              <m:num>
                                <m:r>
                                  <a:rPr lang="zh-CN" altLang="en-US" sz="2000" i="1">
                                    <a:latin typeface="Cambria Math" panose="02040503050406030204" pitchFamily="18" charset="0"/>
                                  </a:rPr>
                                  <m:t>反面</m:t>
                                </m:r>
                              </m:num>
                              <m:den>
                                <m:r>
                                  <a:rPr lang="en-US" altLang="zh-CN" sz="2000" i="1">
                                    <a:latin typeface="Cambria Math" panose="02040503050406030204" pitchFamily="18" charset="0"/>
                                  </a:rPr>
                                  <m:t>2</m:t>
                                </m:r>
                              </m:den>
                            </m:f>
                          </m:e>
                        </m:d>
                        <m:r>
                          <a:rPr lang="zh-CN" altLang="en-US" sz="2000" i="1">
                            <a:latin typeface="Cambria Math" panose="02040503050406030204" pitchFamily="18" charset="0"/>
                          </a:rPr>
                          <m:t>，</m:t>
                        </m:r>
                        <m:d>
                          <m:dPr>
                            <m:ctrlPr>
                              <a:rPr lang="en-US" altLang="zh-CN" sz="2000" i="1">
                                <a:latin typeface="Cambria Math" panose="02040503050406030204" pitchFamily="18" charset="0"/>
                              </a:rPr>
                            </m:ctrlPr>
                          </m:dPr>
                          <m:e>
                            <m:f>
                              <m:fPr>
                                <m:ctrlPr>
                                  <a:rPr lang="en-US" altLang="zh-CN" sz="2000" i="1">
                                    <a:latin typeface="Cambria Math" panose="02040503050406030204" pitchFamily="18" charset="0"/>
                                  </a:rPr>
                                </m:ctrlPr>
                              </m:fPr>
                              <m:num>
                                <m:r>
                                  <a:rPr lang="zh-CN" altLang="en-US" sz="2000" i="1">
                                    <a:latin typeface="Cambria Math" panose="02040503050406030204" pitchFamily="18" charset="0"/>
                                  </a:rPr>
                                  <m:t>正面</m:t>
                                </m:r>
                              </m:num>
                              <m:den>
                                <m:r>
                                  <a:rPr lang="en-US" altLang="zh-CN" sz="2000" i="1">
                                    <a:latin typeface="Cambria Math" panose="02040503050406030204" pitchFamily="18" charset="0"/>
                                  </a:rPr>
                                  <m:t>2</m:t>
                                </m:r>
                              </m:den>
                            </m:f>
                            <m:r>
                              <a:rPr lang="zh-CN" altLang="en-US" sz="2000" i="1">
                                <a:latin typeface="Cambria Math" panose="02040503050406030204" pitchFamily="18" charset="0"/>
                              </a:rPr>
                              <m:t>，</m:t>
                            </m:r>
                            <m:f>
                              <m:fPr>
                                <m:ctrlPr>
                                  <a:rPr lang="en-US" altLang="zh-CN" sz="2000" i="1">
                                    <a:latin typeface="Cambria Math" panose="02040503050406030204" pitchFamily="18" charset="0"/>
                                  </a:rPr>
                                </m:ctrlPr>
                              </m:fPr>
                              <m:num>
                                <m:r>
                                  <a:rPr lang="zh-CN" altLang="en-US" sz="2000" i="1">
                                    <a:latin typeface="Cambria Math" panose="02040503050406030204" pitchFamily="18" charset="0"/>
                                  </a:rPr>
                                  <m:t>反面</m:t>
                                </m:r>
                              </m:num>
                              <m:den>
                                <m:r>
                                  <a:rPr lang="en-US" altLang="zh-CN" sz="2000" i="1">
                                    <a:latin typeface="Cambria Math" panose="02040503050406030204" pitchFamily="18" charset="0"/>
                                  </a:rPr>
                                  <m:t>2</m:t>
                                </m:r>
                              </m:den>
                            </m:f>
                          </m:e>
                        </m:d>
                      </m:e>
                    </m:d>
                  </m:oMath>
                </a14:m>
                <a:endPar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3" name="Title 6"/>
              <p:cNvSpPr txBox="1">
                <a:spLocks noRot="1" noChangeAspect="1" noMove="1" noResize="1" noEditPoints="1" noAdjustHandles="1" noChangeArrowheads="1" noChangeShapeType="1" noTextEdit="1"/>
              </p:cNvSpPr>
              <p:nvPr>
                <p:custDataLst>
                  <p:tags r:id="rId3"/>
                </p:custDataLst>
              </p:nvPr>
            </p:nvSpPr>
            <p:spPr>
              <a:xfrm>
                <a:off x="2216785" y="2036445"/>
                <a:ext cx="8140065" cy="3546475"/>
              </a:xfrm>
              <a:prstGeom prst="rect">
                <a:avLst/>
              </a:prstGeom>
              <a:blipFill rotWithShape="1">
                <a:blip r:embed="rId4"/>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3" name="组合 2"/>
          <p:cNvGrpSpPr/>
          <p:nvPr/>
        </p:nvGrpSpPr>
        <p:grpSpPr>
          <a:xfrm>
            <a:off x="533400" y="152400"/>
            <a:ext cx="8826500" cy="762000"/>
            <a:chOff x="840" y="240"/>
            <a:chExt cx="13900" cy="1200"/>
          </a:xfrm>
        </p:grpSpPr>
        <p:sp>
          <p:nvSpPr>
            <p:cNvPr id="4" name="文本框 6"/>
            <p:cNvSpPr txBox="1"/>
            <p:nvPr>
              <p:custDataLst>
                <p:tags r:id="rId6"/>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两人零和博弈的无限次重复博弈</a:t>
              </a:r>
              <a:endParaRPr lang="zh-CN" altLang="en-US" sz="2800" dirty="0">
                <a:solidFill>
                  <a:schemeClr val="accent1"/>
                </a:solidFill>
                <a:sym typeface="+mn-ea"/>
              </a:endParaRPr>
            </a:p>
          </p:txBody>
        </p:sp>
        <p:cxnSp>
          <p:nvCxnSpPr>
            <p:cNvPr id="7" name="直接连接符 6"/>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7" name="Title 6"/>
          <p:cNvSpPr txBox="1"/>
          <p:nvPr>
            <p:custDataLst>
              <p:tags r:id="rId1"/>
            </p:custDataLst>
          </p:nvPr>
        </p:nvSpPr>
        <p:spPr>
          <a:xfrm>
            <a:off x="695325" y="923925"/>
            <a:ext cx="5923915" cy="78295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4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两寡头削价竞争博弈（囚徒困境型博弈）</a:t>
            </a:r>
            <a:endParaRPr lang="zh-CN" altLang="en-US" sz="24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Title 6"/>
          <p:cNvSpPr txBox="1"/>
          <p:nvPr>
            <p:custDataLst>
              <p:tags r:id="rId2"/>
            </p:custDataLst>
          </p:nvPr>
        </p:nvSpPr>
        <p:spPr>
          <a:xfrm>
            <a:off x="982980" y="4968240"/>
            <a:ext cx="10550525" cy="16986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该博弈一次性博弈唯一的纯策略纳什均衡（</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），都采用低价。</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有限次重复博弈不能实现潜在的合作利益，但无限次重复博弈却有不同。</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9" name="表格 8"/>
          <p:cNvGraphicFramePr>
            <a:graphicFrameLocks noGrp="1"/>
          </p:cNvGraphicFramePr>
          <p:nvPr>
            <p:custDataLst>
              <p:tags r:id="rId3"/>
            </p:custDataLst>
          </p:nvPr>
        </p:nvGraphicFramePr>
        <p:xfrm>
          <a:off x="1775460" y="1628775"/>
          <a:ext cx="6431280" cy="3195955"/>
        </p:xfrm>
        <a:graphic>
          <a:graphicData uri="http://schemas.openxmlformats.org/drawingml/2006/table">
            <a:tbl>
              <a:tblPr firstRow="1" bandRow="1">
                <a:tableStyleId>{2D5ABB26-0587-4C30-8999-92F81FD0307C}</a:tableStyleId>
              </a:tblPr>
              <a:tblGrid>
                <a:gridCol w="1440815"/>
                <a:gridCol w="1643380"/>
                <a:gridCol w="1714500"/>
                <a:gridCol w="1632585"/>
              </a:tblGrid>
              <a:tr h="82359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乙</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2359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H</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L</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774065">
                <a:tc rowSpan="2">
                  <a:txBody>
                    <a:bodyPr/>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甲</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H</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774700">
                <a:tc vMerge="1">
                  <a:tcPr>
                    <a:lnL>
                      <a:noFill/>
                    </a:lnL>
                    <a:lnR>
                      <a:noFill/>
                    </a:lnR>
                    <a:lnB>
                      <a:noFill/>
                    </a:lnB>
                  </a:tcPr>
                </a:tc>
                <a:tc>
                  <a:txBody>
                    <a:bodyPr/>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L</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4" name="组合 3"/>
          <p:cNvGrpSpPr/>
          <p:nvPr/>
        </p:nvGrpSpPr>
        <p:grpSpPr>
          <a:xfrm>
            <a:off x="533400" y="152400"/>
            <a:ext cx="10235565" cy="762000"/>
            <a:chOff x="840" y="240"/>
            <a:chExt cx="13900" cy="1200"/>
          </a:xfrm>
        </p:grpSpPr>
        <p:sp>
          <p:nvSpPr>
            <p:cNvPr id="5" name="文本框 6"/>
            <p:cNvSpPr txBox="1"/>
            <p:nvPr>
              <p:custDataLst>
                <p:tags r:id="rId5"/>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fontScale="80000"/>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dirty="0">
                  <a:solidFill>
                    <a:schemeClr val="accent1"/>
                  </a:solidFill>
                  <a:sym typeface="+mn-ea"/>
                </a:rPr>
                <a:t>无限次重复博弈：</a:t>
              </a:r>
              <a:r>
                <a:rPr lang="zh-CN" altLang="en-US" sz="3500" dirty="0">
                  <a:solidFill>
                    <a:schemeClr val="accent1"/>
                  </a:solidFill>
                  <a:sym typeface="+mn-ea"/>
                </a:rPr>
                <a:t>唯一纯策略纳什均衡博弈的无限次重复博弈</a:t>
              </a:r>
              <a:endParaRPr lang="zh-CN" altLang="en-US" sz="3500" dirty="0">
                <a:solidFill>
                  <a:schemeClr val="accent1"/>
                </a:solidFill>
                <a:sym typeface="+mn-ea"/>
              </a:endParaRPr>
            </a:p>
          </p:txBody>
        </p:sp>
        <p:cxnSp>
          <p:nvCxnSpPr>
            <p:cNvPr id="7" name="直接连接符 6"/>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407670" y="1340485"/>
            <a:ext cx="11277600" cy="4826635"/>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4" name="Title 6"/>
              <p:cNvSpPr txBox="1"/>
              <p:nvPr>
                <p:custDataLst>
                  <p:tags r:id="rId2"/>
                </p:custDataLst>
              </p:nvPr>
            </p:nvSpPr>
            <p:spPr>
              <a:xfrm>
                <a:off x="1415415" y="1628775"/>
                <a:ext cx="9229725" cy="42621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触发策略：第一阶段采用H，如果前t−1阶段的结果都是(H,H)，则继续采用H，否则采用L。</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双方都采取触发策略是纳什均衡：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乙采用L，总得益现值为</a:t>
                </a:r>
                <a14:m>
                  <m:oMath xmlns:m="http://schemas.openxmlformats.org/officeDocument/2006/math">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𝜋</m:t>
                        </m:r>
                      </m:e>
                      <m:sub>
                        <m:r>
                          <a:rPr lang="en-US" altLang="zh-CN" sz="2000" b="0" i="1" smtClean="0">
                            <a:latin typeface="Cambria Math" panose="02040503050406030204" pitchFamily="18" charset="0"/>
                          </a:rPr>
                          <m:t>𝐿</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r>
                      <a:rPr lang="en-US" altLang="zh-CN" sz="2000" b="0" i="1" smtClean="0">
                        <a:latin typeface="Cambria Math" panose="02040503050406030204" pitchFamily="18" charset="0"/>
                      </a:rPr>
                      <m:t>+</m:t>
                    </m:r>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ea typeface="Cambria Math" panose="02040503050406030204" pitchFamily="18" charset="0"/>
                          </a:rPr>
                          <m:t>∞</m:t>
                        </m:r>
                      </m:sup>
                      <m:e>
                        <m:sSup>
                          <m:sSupPr>
                            <m:ctrlPr>
                              <a:rPr lang="en-US" altLang="zh-CN" sz="2000" b="0" i="1" smtClean="0">
                                <a:latin typeface="Cambria Math" panose="02040503050406030204" pitchFamily="18" charset="0"/>
                              </a:rPr>
                            </m:ctrlPr>
                          </m:sSupPr>
                          <m:e>
                            <m:r>
                              <a:rPr lang="zh-CN" altLang="en-US" sz="2000" b="0" i="1" smtClean="0">
                                <a:latin typeface="Cambria Math" panose="02040503050406030204" pitchFamily="18" charset="0"/>
                              </a:rPr>
                              <m:t>𝛿</m:t>
                            </m:r>
                          </m:e>
                          <m:sup>
                            <m:r>
                              <a:rPr lang="en-US" altLang="zh-CN" sz="2000" b="0" i="1" smtClean="0">
                                <a:latin typeface="Cambria Math" panose="02040503050406030204" pitchFamily="18" charset="0"/>
                              </a:rPr>
                              <m:t>𝑖</m:t>
                            </m:r>
                          </m:sup>
                        </m:sSup>
                      </m:e>
                    </m:nary>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zh-CN" altLang="en-US" sz="2000" b="0" i="1" smtClean="0">
                            <a:latin typeface="Cambria Math" panose="02040503050406030204" pitchFamily="18" charset="0"/>
                          </a:rPr>
                          <m:t>𝛿</m:t>
                        </m:r>
                      </m:num>
                      <m:den>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den>
                    </m:f>
                  </m:oMath>
                </a14:m>
                <a:endParaRPr lang="zh-CN" altLang="en-US" sz="2000" b="0" i="1" smtClean="0">
                  <a:latin typeface="Cambria Math" panose="02040503050406030204" pitchFamily="18" charset="0"/>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rPr>
                  <a:t>乙采用H，总得益现值为</a:t>
                </a:r>
                <a14:m>
                  <m:oMath xmlns:m="http://schemas.openxmlformats.org/officeDocument/2006/math">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𝜋</m:t>
                        </m:r>
                      </m:e>
                      <m:sub>
                        <m:r>
                          <a:rPr lang="en-US" altLang="zh-CN" sz="2000" b="0" i="1" smtClean="0">
                            <a:latin typeface="Cambria Math" panose="02040503050406030204" pitchFamily="18" charset="0"/>
                          </a:rPr>
                          <m:t>𝐻</m:t>
                        </m:r>
                      </m:sub>
                    </m:sSub>
                    <m:r>
                      <a:rPr lang="en-US" altLang="zh-CN" sz="2000" b="0" i="1" smtClean="0">
                        <a:latin typeface="Cambria Math" panose="02040503050406030204" pitchFamily="18" charset="0"/>
                      </a:rPr>
                      <m:t>=</m:t>
                    </m:r>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ea typeface="Cambria Math" panose="02040503050406030204" pitchFamily="18" charset="0"/>
                          </a:rPr>
                          <m:t>∞</m:t>
                        </m:r>
                      </m:sup>
                      <m:e>
                        <m:r>
                          <a:rPr lang="en-US" altLang="zh-CN" sz="2000" b="0" i="1" smtClean="0">
                            <a:latin typeface="Cambria Math" panose="02040503050406030204" pitchFamily="18" charset="0"/>
                          </a:rPr>
                          <m:t>4</m:t>
                        </m:r>
                        <m:sSup>
                          <m:sSupPr>
                            <m:ctrlPr>
                              <a:rPr lang="en-US" altLang="zh-CN" sz="2000" b="0" i="1" smtClean="0">
                                <a:latin typeface="Cambria Math" panose="02040503050406030204" pitchFamily="18" charset="0"/>
                              </a:rPr>
                            </m:ctrlPr>
                          </m:sSupPr>
                          <m:e>
                            <m:r>
                              <a:rPr lang="zh-CN" altLang="en-US" sz="2000" b="0" i="1" smtClean="0">
                                <a:latin typeface="Cambria Math" panose="02040503050406030204" pitchFamily="18" charset="0"/>
                              </a:rPr>
                              <m:t>𝛿</m:t>
                            </m:r>
                          </m:e>
                          <m:sup>
                            <m:r>
                              <a:rPr lang="en-US" altLang="zh-CN" sz="2000" b="0" i="1" smtClean="0">
                                <a:latin typeface="Cambria Math" panose="02040503050406030204" pitchFamily="18" charset="0"/>
                              </a:rPr>
                              <m:t>𝑖</m:t>
                            </m:r>
                          </m:sup>
                        </m:sSup>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4</m:t>
                            </m:r>
                          </m:num>
                          <m:den>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den>
                        </m:f>
                      </m:e>
                    </m:nary>
                  </m:oMath>
                </a14:m>
                <a:endParaRPr lang="zh-CN" altLang="en-US" sz="2000" b="0" i="1" smtClean="0">
                  <a:latin typeface="Cambria Math" panose="02040503050406030204" pitchFamily="18" charset="0"/>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rPr>
                  <a:t>如果，要</a:t>
                </a:r>
                <a:r>
                  <a:rPr lang="zh-CN" altLang="en-US" sz="2000" spc="100" dirty="0">
                    <a:ln w="3175">
                      <a:noFill/>
                      <a:prstDash val="dash"/>
                    </a:ln>
                    <a:solidFill>
                      <a:srgbClr val="FF0000"/>
                    </a:solidFill>
                    <a:latin typeface="Cambria Math" panose="02040503050406030204" pitchFamily="18" charset="0"/>
                    <a:ea typeface="微软雅黑" panose="020B0503020204020204" pitchFamily="34" charset="-122"/>
                    <a:cs typeface="Cambria Math" panose="02040503050406030204" pitchFamily="18" charset="0"/>
                    <a:sym typeface="+mn-ea"/>
                  </a:rPr>
                  <a:t>保证触发策略为子博弈纳什均衡策略</a:t>
                </a:r>
                <a:r>
                  <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rPr>
                  <a:t>，等价于</a:t>
                </a:r>
                <a:endParaRPr lang="zh-CN" altLang="en-US" sz="2000" spc="100" dirty="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lvl="0" indent="0" algn="l" fontAlgn="ctr">
                  <a:lnSpc>
                    <a:spcPct val="130000"/>
                  </a:lnSpc>
                  <a:spcBef>
                    <a:spcPts val="1000"/>
                  </a:spcBef>
                  <a:spcAft>
                    <a:spcPts val="0"/>
                  </a:spcAft>
                  <a:buSzPct val="100000"/>
                  <a:buFont typeface="Wingdings" panose="05000000000000000000" charset="0"/>
                </a:pPr>
                <a:r>
                  <a:rPr lang="en-US" altLang="zh-CN" sz="2000" smtClean="0">
                    <a:latin typeface="Cambria Math" panose="02040503050406030204" pitchFamily="18" charset="0"/>
                  </a:rPr>
                  <a:t>                </a:t>
                </a:r>
                <a14:m>
                  <m:oMath xmlns:m="http://schemas.openxmlformats.org/officeDocument/2006/math">
                    <m:sSub>
                      <m:sSubPr>
                        <m:ctrlPr>
                          <a:rPr lang="en-US" altLang="zh-CN" sz="2000" i="1" smtClean="0">
                            <a:latin typeface="Cambria Math" panose="02040503050406030204" pitchFamily="18" charset="0"/>
                          </a:rPr>
                        </m:ctrlPr>
                      </m:sSubPr>
                      <m:e>
                        <m:r>
                          <a:rPr lang="zh-CN" altLang="en-US" sz="2000" i="1">
                            <a:latin typeface="Cambria Math" panose="02040503050406030204" pitchFamily="18" charset="0"/>
                          </a:rPr>
                          <m:t>𝜋</m:t>
                        </m:r>
                      </m:e>
                      <m:sub>
                        <m:r>
                          <a:rPr lang="en-US" altLang="zh-CN" sz="2000" i="1">
                            <a:latin typeface="Cambria Math" panose="02040503050406030204" pitchFamily="18" charset="0"/>
                          </a:rPr>
                          <m:t>𝐻</m:t>
                        </m:r>
                      </m:sub>
                    </m:sSub>
                    <m:r>
                      <a:rPr lang="en-US" altLang="zh-CN" sz="2000" i="1" smtClean="0">
                        <a:latin typeface="Cambria Math" panose="02040503050406030204" pitchFamily="18" charset="0"/>
                        <a:ea typeface="Cambria Math" panose="02040503050406030204" pitchFamily="18" charset="0"/>
                      </a:rPr>
                      <m:t>&gt;</m:t>
                    </m:r>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𝜋</m:t>
                        </m:r>
                      </m:e>
                      <m:sub>
                        <m:r>
                          <a:rPr lang="en-US" altLang="zh-CN" sz="2000" i="1">
                            <a:latin typeface="Cambria Math" panose="02040503050406030204" pitchFamily="18" charset="0"/>
                          </a:rPr>
                          <m:t>𝐿</m:t>
                        </m:r>
                      </m:sub>
                    </m:sSub>
                  </m:oMath>
                </a14:m>
                <a:r>
                  <a:rPr lang="zh-CN" altLang="en-US" sz="2000">
                    <a:latin typeface="宋体" panose="02010600030101010101" pitchFamily="2" charset="-122"/>
                    <a:sym typeface="+mn-ea"/>
                  </a:rPr>
                  <a:t>，即</a:t>
                </a:r>
                <a14:m>
                  <m:oMath xmlns:m="http://schemas.openxmlformats.org/officeDocument/2006/math">
                    <m:f>
                      <m:fPr>
                        <m:ctrlPr>
                          <a:rPr lang="en-US" altLang="zh-CN" sz="2000" i="1">
                            <a:latin typeface="Cambria Math" panose="02040503050406030204" pitchFamily="18" charset="0"/>
                          </a:rPr>
                        </m:ctrlPr>
                      </m:fPr>
                      <m:num>
                        <m:r>
                          <a:rPr lang="en-US" altLang="zh-CN" sz="2000" i="1">
                            <a:latin typeface="Cambria Math" panose="02040503050406030204" pitchFamily="18" charset="0"/>
                          </a:rPr>
                          <m:t>4</m:t>
                        </m:r>
                      </m:num>
                      <m:den>
                        <m:r>
                          <a:rPr lang="en-US" altLang="zh-CN" sz="2000" i="1">
                            <a:latin typeface="Cambria Math" panose="02040503050406030204" pitchFamily="18" charset="0"/>
                          </a:rPr>
                          <m:t>1</m:t>
                        </m:r>
                        <m:r>
                          <a:rPr lang="en-US" altLang="zh-CN" sz="2000" i="1">
                            <a:latin typeface="Cambria Math" panose="02040503050406030204" pitchFamily="18" charset="0"/>
                          </a:rPr>
                          <m:t>−</m:t>
                        </m:r>
                        <m:r>
                          <a:rPr lang="zh-CN" altLang="en-US" sz="2000" i="1">
                            <a:latin typeface="Cambria Math" panose="02040503050406030204" pitchFamily="18" charset="0"/>
                          </a:rPr>
                          <m:t>𝛿</m:t>
                        </m:r>
                      </m:den>
                    </m:f>
                    <m:r>
                      <a:rPr lang="en-US" altLang="zh-CN" sz="2000" i="1" smtClean="0">
                        <a:latin typeface="Cambria Math" panose="02040503050406030204" pitchFamily="18" charset="0"/>
                        <a:ea typeface="Cambria Math" panose="02040503050406030204" pitchFamily="18" charset="0"/>
                      </a:rPr>
                      <m:t>&gt;</m:t>
                    </m:r>
                    <m:r>
                      <a:rPr lang="en-US" altLang="zh-CN" sz="2000" i="1">
                        <a:latin typeface="Cambria Math" panose="02040503050406030204" pitchFamily="18" charset="0"/>
                      </a:rPr>
                      <m:t>5</m:t>
                    </m:r>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zh-CN" altLang="en-US" sz="2000" i="1">
                            <a:latin typeface="Cambria Math" panose="02040503050406030204" pitchFamily="18" charset="0"/>
                          </a:rPr>
                          <m:t>𝛿</m:t>
                        </m:r>
                      </m:num>
                      <m:den>
                        <m:r>
                          <a:rPr lang="en-US" altLang="zh-CN" sz="2000" i="1">
                            <a:latin typeface="Cambria Math" panose="02040503050406030204" pitchFamily="18" charset="0"/>
                          </a:rPr>
                          <m:t>1</m:t>
                        </m:r>
                        <m:r>
                          <a:rPr lang="en-US" altLang="zh-CN" sz="2000" i="1">
                            <a:latin typeface="Cambria Math" panose="02040503050406030204" pitchFamily="18" charset="0"/>
                          </a:rPr>
                          <m:t>−</m:t>
                        </m:r>
                        <m:r>
                          <a:rPr lang="zh-CN" altLang="en-US" sz="2000" i="1">
                            <a:latin typeface="Cambria Math" panose="02040503050406030204" pitchFamily="18" charset="0"/>
                          </a:rPr>
                          <m:t>𝛿</m:t>
                        </m:r>
                      </m:den>
                    </m:f>
                    <m:r>
                      <a:rPr lang="zh-CN" altLang="en-US" sz="2000" i="1" smtClean="0">
                        <a:latin typeface="Cambria Math" panose="02040503050406030204" pitchFamily="18" charset="0"/>
                      </a:rPr>
                      <m:t>⇔</m:t>
                    </m:r>
                    <m:r>
                      <a:rPr lang="zh-CN" altLang="en-US" sz="2000" i="1" smtClean="0">
                        <a:latin typeface="Cambria Math" panose="02040503050406030204" pitchFamily="18" charset="0"/>
                      </a:rPr>
                      <m:t>𝛿</m:t>
                    </m:r>
                    <m:r>
                      <a:rPr lang="en-US" altLang="zh-CN" sz="2000" i="1" smtClean="0">
                        <a:latin typeface="Cambria Math" panose="02040503050406030204" pitchFamily="18" charset="0"/>
                        <a:ea typeface="Cambria Math" panose="02040503050406030204" pitchFamily="18" charset="0"/>
                      </a:rPr>
                      <m:t>&gt;</m:t>
                    </m:r>
                    <m:f>
                      <m:fPr>
                        <m:ctrlPr>
                          <a:rPr lang="en-US" altLang="zh-CN" sz="2000" i="1" smtClean="0">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1</m:t>
                        </m:r>
                      </m:num>
                      <m:den>
                        <m:r>
                          <a:rPr lang="en-US" altLang="zh-CN" sz="2000" i="1">
                            <a:latin typeface="Cambria Math" panose="02040503050406030204" pitchFamily="18" charset="0"/>
                            <a:ea typeface="Cambria Math" panose="02040503050406030204" pitchFamily="18" charset="0"/>
                          </a:rPr>
                          <m:t>4</m:t>
                        </m:r>
                      </m:den>
                    </m:f>
                  </m:oMath>
                </a14:m>
                <a:endPar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4" name="Title 6"/>
              <p:cNvSpPr txBox="1">
                <a:spLocks noRot="1" noChangeAspect="1" noMove="1" noResize="1" noEditPoints="1" noAdjustHandles="1" noChangeArrowheads="1" noChangeShapeType="1" noTextEdit="1"/>
              </p:cNvSpPr>
              <p:nvPr>
                <p:custDataLst>
                  <p:tags r:id="rId3"/>
                </p:custDataLst>
              </p:nvPr>
            </p:nvSpPr>
            <p:spPr>
              <a:xfrm>
                <a:off x="1415415" y="1628775"/>
                <a:ext cx="9229725" cy="4262120"/>
              </a:xfrm>
              <a:prstGeom prst="rect">
                <a:avLst/>
              </a:prstGeom>
              <a:blipFill rotWithShape="1">
                <a:blip r:embed="rId4"/>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4" name="组合 3"/>
          <p:cNvGrpSpPr/>
          <p:nvPr/>
        </p:nvGrpSpPr>
        <p:grpSpPr>
          <a:xfrm>
            <a:off x="533400" y="152400"/>
            <a:ext cx="10235565" cy="762000"/>
            <a:chOff x="840" y="240"/>
            <a:chExt cx="13900" cy="1200"/>
          </a:xfrm>
        </p:grpSpPr>
        <p:sp>
          <p:nvSpPr>
            <p:cNvPr id="5" name="文本框 6"/>
            <p:cNvSpPr txBox="1"/>
            <p:nvPr>
              <p:custDataLst>
                <p:tags r:id="rId6"/>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fontScale="80000"/>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dirty="0">
                  <a:solidFill>
                    <a:schemeClr val="accent1"/>
                  </a:solidFill>
                  <a:sym typeface="+mn-ea"/>
                </a:rPr>
                <a:t>无限次重复博弈：</a:t>
              </a:r>
              <a:r>
                <a:rPr lang="zh-CN" altLang="en-US" sz="3500" dirty="0">
                  <a:solidFill>
                    <a:schemeClr val="accent1"/>
                  </a:solidFill>
                  <a:sym typeface="+mn-ea"/>
                </a:rPr>
                <a:t>唯一纯策略纳什均衡博弈的无限次重复博弈</a:t>
              </a:r>
              <a:endParaRPr lang="zh-CN" altLang="en-US" sz="3500" dirty="0">
                <a:solidFill>
                  <a:schemeClr val="accent1"/>
                </a:solidFill>
                <a:sym typeface="+mn-ea"/>
              </a:endParaRPr>
            </a:p>
          </p:txBody>
        </p:sp>
        <p:cxnSp>
          <p:nvCxnSpPr>
            <p:cNvPr id="7" name="直接连接符 6"/>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460375" y="1624965"/>
            <a:ext cx="11277600" cy="4826635"/>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2"/>
            </p:custDataLst>
          </p:nvPr>
        </p:nvSpPr>
        <p:spPr>
          <a:xfrm>
            <a:off x="1411605" y="1884680"/>
            <a:ext cx="9423400" cy="42621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265" lvl="0" indent="-342265" algn="just" fontAlgn="ctr">
              <a:lnSpc>
                <a:spcPct val="130000"/>
              </a:lnSpc>
              <a:spcBef>
                <a:spcPts val="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上述触发策略组合构成整个无限次重复博弈的子博弈完美纳什均衡，其</a:t>
            </a:r>
            <a:r>
              <a:rPr lang="zh-CN" altLang="en-US" sz="2000" spc="100" dirty="0">
                <a:ln w="3175">
                  <a:noFill/>
                  <a:prstDash val="dash"/>
                </a:ln>
                <a:solidFill>
                  <a:srgbClr val="FF0000"/>
                </a:solidFill>
                <a:latin typeface="Cambria Math" panose="02040503050406030204" pitchFamily="18" charset="0"/>
                <a:ea typeface="微软雅黑" panose="020B0503020204020204" pitchFamily="34" charset="-122"/>
                <a:cs typeface="Cambria Math" panose="02040503050406030204" pitchFamily="18" charset="0"/>
                <a:sym typeface="+mn-ea"/>
              </a:rPr>
              <a:t>均衡路径为两博弈方每阶段都选择</a:t>
            </a:r>
            <a:r>
              <a:rPr altLang="zh-CN" sz="2000" spc="100" dirty="0">
                <a:ln w="3175">
                  <a:noFill/>
                  <a:prstDash val="dash"/>
                </a:ln>
                <a:solidFill>
                  <a:srgbClr val="FF0000"/>
                </a:solidFill>
                <a:latin typeface="Cambria Math" panose="02040503050406030204" pitchFamily="18" charset="0"/>
                <a:ea typeface="微软雅黑" panose="020B0503020204020204" pitchFamily="34" charset="-122"/>
                <a:cs typeface="Cambria Math" panose="02040503050406030204" pitchFamily="18" charset="0"/>
                <a:sym typeface="+mn-ea"/>
              </a:rPr>
              <a:t>H</a:t>
            </a:r>
            <a:r>
              <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，因为：</a:t>
            </a:r>
            <a:endPar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800100" lvl="1" indent="-34290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重复博弈的子博弈就是重复一定次数之后的重复博弈过程，因此无限次重复博弈的子博弈还是无限次重复博弈。上述两博弈方的触发策略在所有子博弈中都仍然构成相同的触发策略，因此必然也是所有子博弈的纳什均衡。</a:t>
            </a:r>
            <a:endParaRPr lang="zh-CN" altLang="en-US" sz="2000" spc="100" dirty="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4" name="组合 3"/>
          <p:cNvGrpSpPr/>
          <p:nvPr/>
        </p:nvGrpSpPr>
        <p:grpSpPr>
          <a:xfrm>
            <a:off x="533400" y="152400"/>
            <a:ext cx="10235565" cy="762000"/>
            <a:chOff x="840" y="240"/>
            <a:chExt cx="13900" cy="1200"/>
          </a:xfrm>
        </p:grpSpPr>
        <p:sp>
          <p:nvSpPr>
            <p:cNvPr id="5" name="文本框 6"/>
            <p:cNvSpPr txBox="1"/>
            <p:nvPr>
              <p:custDataLst>
                <p:tags r:id="rId4"/>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fontScale="80000"/>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dirty="0">
                  <a:solidFill>
                    <a:schemeClr val="accent1"/>
                  </a:solidFill>
                  <a:sym typeface="+mn-ea"/>
                </a:rPr>
                <a:t>无限次重复博弈：</a:t>
              </a:r>
              <a:r>
                <a:rPr lang="zh-CN" altLang="en-US" sz="3500" dirty="0">
                  <a:solidFill>
                    <a:schemeClr val="accent1"/>
                  </a:solidFill>
                  <a:sym typeface="+mn-ea"/>
                </a:rPr>
                <a:t>唯一纯策略纳什均衡博弈的无限次重复博弈</a:t>
              </a:r>
              <a:endParaRPr lang="zh-CN" altLang="en-US" sz="3500" dirty="0">
                <a:solidFill>
                  <a:schemeClr val="accent1"/>
                </a:solidFill>
                <a:sym typeface="+mn-ea"/>
              </a:endParaRPr>
            </a:p>
          </p:txBody>
        </p:sp>
        <p:cxnSp>
          <p:nvCxnSpPr>
            <p:cNvPr id="7" name="直接连接符 6"/>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Title 6"/>
              <p:cNvSpPr txBox="1"/>
              <p:nvPr>
                <p:custDataLst>
                  <p:tags r:id="rId1"/>
                </p:custDataLst>
              </p:nvPr>
            </p:nvSpPr>
            <p:spPr>
              <a:xfrm>
                <a:off x="767715" y="1103630"/>
                <a:ext cx="10041255" cy="182118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auto">
                  <a:lnSpc>
                    <a:spcPct val="120000"/>
                  </a:lnSpc>
                  <a:spcBef>
                    <a:spcPts val="0"/>
                  </a:spcBef>
                  <a:spcAft>
                    <a:spcPts val="80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设G是一个完全信息的静态博弈。用(e</a:t>
                </a:r>
                <a:r>
                  <a:rPr lang="zh-CN" altLang="en-US" sz="2000" spc="100" baseline="-250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1</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，…，e</a:t>
                </a:r>
                <a:r>
                  <a:rPr lang="zh-CN" altLang="en-US" sz="2000" spc="100" baseline="-250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n</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)记G的纳什均衡的得益，用(x</a:t>
                </a:r>
                <a:r>
                  <a:rPr lang="zh-CN" altLang="en-US" sz="2000" spc="100" baseline="-250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1</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，…，x</a:t>
                </a:r>
                <a:r>
                  <a:rPr lang="zh-CN" altLang="en-US" sz="2000" spc="100" baseline="-250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n</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)表示G的任意可实现得益。如果， x</a:t>
                </a:r>
                <a:r>
                  <a:rPr lang="zh-CN" altLang="en-US" sz="2000" spc="100" baseline="-250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i</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&gt;e</a:t>
                </a:r>
                <a:r>
                  <a:rPr lang="zh-CN" altLang="en-US" sz="2000" spc="100" baseline="-250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i</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对任意博弈方i都成立，而</a:t>
                </a:r>
                <a14:m>
                  <m:oMath xmlns:m="http://schemas.openxmlformats.org/officeDocument/2006/math">
                    <m:r>
                      <a:rPr lang="zh-CN" altLang="en-US" sz="2000" i="1" smtClean="0">
                        <a:latin typeface="Cambria Math" panose="02040503050406030204" pitchFamily="18" charset="0"/>
                      </a:rPr>
                      <m:t>𝛿</m:t>
                    </m:r>
                  </m:oMath>
                </a14:m>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足够接近1，那么无限次重复博弈博弈G(∞，</a:t>
                </a:r>
                <a14:m>
                  <m:oMath xmlns:m="http://schemas.openxmlformats.org/officeDocument/2006/math">
                    <m:r>
                      <a:rPr lang="zh-CN" altLang="en-US" sz="2000" i="1" smtClean="0">
                        <a:latin typeface="Cambria Math" panose="02040503050406030204" pitchFamily="18" charset="0"/>
                      </a:rPr>
                      <m:t>𝛿</m:t>
                    </m:r>
                  </m:oMath>
                </a14:m>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)中一定存在一个子博弈完美纳什均衡，各博弈方的平均得益是(</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x</a:t>
                </a:r>
                <a:r>
                  <a:rPr lang="zh-CN" altLang="en-US" sz="2000" spc="100" baseline="-250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1</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，…，x</a:t>
                </a:r>
                <a:r>
                  <a:rPr lang="zh-CN" altLang="en-US" sz="2000" spc="100" baseline="-250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n</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a:t>
                </a: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a:t>
                </a:r>
                <a:endPar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endParaRPr>
              </a:p>
            </p:txBody>
          </p:sp>
        </mc:Choice>
        <mc:Fallback>
          <p:sp>
            <p:nvSpPr>
              <p:cNvPr id="11" name="Title 6"/>
              <p:cNvSpPr txBox="1">
                <a:spLocks noRot="1" noChangeAspect="1" noMove="1" noResize="1" noEditPoints="1" noAdjustHandles="1" noChangeArrowheads="1" noChangeShapeType="1" noTextEdit="1"/>
              </p:cNvSpPr>
              <p:nvPr>
                <p:custDataLst>
                  <p:tags r:id="rId2"/>
                </p:custDataLst>
              </p:nvPr>
            </p:nvSpPr>
            <p:spPr>
              <a:xfrm>
                <a:off x="767715" y="1103630"/>
                <a:ext cx="10041255" cy="1821180"/>
              </a:xfrm>
              <a:prstGeom prst="rect">
                <a:avLst/>
              </a:prstGeom>
              <a:blipFill rotWithShape="1">
                <a:blip r:embed="rId3"/>
                <a:stretch>
                  <a:fillRect r="-487"/>
                </a:stretch>
              </a:blipFill>
              <a:ln w="3175">
                <a:noFill/>
                <a:prstDash val="dash"/>
              </a:ln>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3503930" y="2924810"/>
            <a:ext cx="5244465" cy="3536950"/>
          </a:xfrm>
          <a:prstGeom prst="rect">
            <a:avLst/>
          </a:prstGeom>
        </p:spPr>
      </p:pic>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3" name="组合 2"/>
          <p:cNvGrpSpPr/>
          <p:nvPr/>
        </p:nvGrpSpPr>
        <p:grpSpPr>
          <a:xfrm>
            <a:off x="533400" y="152400"/>
            <a:ext cx="10235565" cy="762000"/>
            <a:chOff x="840" y="240"/>
            <a:chExt cx="13900" cy="1200"/>
          </a:xfrm>
        </p:grpSpPr>
        <p:sp>
          <p:nvSpPr>
            <p:cNvPr id="7" name="文本框 6"/>
            <p:cNvSpPr txBox="1"/>
            <p:nvPr>
              <p:custDataLst>
                <p:tags r:id="rId6"/>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民间定理</a:t>
              </a:r>
              <a:endParaRPr lang="zh-CN" altLang="en-US" sz="2800" dirty="0">
                <a:solidFill>
                  <a:schemeClr val="accent1"/>
                </a:solidFill>
                <a:sym typeface="+mn-ea"/>
              </a:endParaRPr>
            </a:p>
          </p:txBody>
        </p:sp>
        <p:cxnSp>
          <p:nvCxnSpPr>
            <p:cNvPr id="8" name="直接连接符 7"/>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460375" y="1473200"/>
            <a:ext cx="11277600" cy="4737735"/>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3" name="组合 2"/>
          <p:cNvGrpSpPr/>
          <p:nvPr/>
        </p:nvGrpSpPr>
        <p:grpSpPr>
          <a:xfrm>
            <a:off x="533400" y="152400"/>
            <a:ext cx="10235565" cy="762000"/>
            <a:chOff x="840" y="240"/>
            <a:chExt cx="13900" cy="1200"/>
          </a:xfrm>
        </p:grpSpPr>
        <p:sp>
          <p:nvSpPr>
            <p:cNvPr id="7" name="文本框 6"/>
            <p:cNvSpPr txBox="1"/>
            <p:nvPr>
              <p:custDataLst>
                <p:tags r:id="rId3"/>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无限次重复古诺模型</a:t>
              </a:r>
              <a:endParaRPr lang="zh-CN" altLang="en-US" sz="2800" dirty="0">
                <a:solidFill>
                  <a:schemeClr val="accent1"/>
                </a:solidFill>
                <a:sym typeface="+mn-ea"/>
              </a:endParaRPr>
            </a:p>
          </p:txBody>
        </p:sp>
        <p:cxnSp>
          <p:nvCxnSpPr>
            <p:cNvPr id="8" name="直接连接符 7"/>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5" name="Title 6"/>
              <p:cNvSpPr txBox="1"/>
              <p:nvPr>
                <p:custDataLst>
                  <p:tags r:id="rId5"/>
                </p:custDataLst>
              </p:nvPr>
            </p:nvSpPr>
            <p:spPr>
              <a:xfrm>
                <a:off x="3287395" y="1799590"/>
                <a:ext cx="7706995" cy="422910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反需求函数和边际成本</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altLang="zh-CN" sz="2000" i="1">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P</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2000">
                    <a:latin typeface="+mn-ea"/>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Q</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c</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c</a:t>
                </a:r>
                <a:r>
                  <a:rPr altLang="zh-CN" sz="2000" baseline="-2500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得益（支付）函数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P</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c</a:t>
                </a:r>
                <a:r>
                  <a:rPr altLang="zh-CN" sz="2000" baseline="-25000">
                    <a:latin typeface="Times New Roman" panose="02020603050405020304" pitchFamily="18" charset="0"/>
                    <a:cs typeface="Times New Roman" panose="02020603050405020304" pitchFamily="18" charset="0"/>
                    <a:sym typeface="+mn-ea"/>
                  </a:rPr>
                  <a:t>1</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 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=6</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en-US" sz="2000" baseline="30000">
                    <a:latin typeface="Times New Roman" panose="02020603050405020304" pitchFamily="18" charset="0"/>
                    <a:cs typeface="Times New Roman" panose="02020603050405020304" pitchFamily="18" charset="0"/>
                    <a:sym typeface="+mn-ea"/>
                  </a:rPr>
                  <a:t>2</a:t>
                </a:r>
                <a:endParaRPr lang="en-US" sz="2000" baseline="30000">
                  <a:latin typeface="Times New Roman" panose="02020603050405020304" pitchFamily="18" charset="0"/>
                  <a:cs typeface="Times New Roman" panose="02020603050405020304" pitchFamily="18" charset="0"/>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altLang="zh-CN" sz="2000" i="1">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ea typeface="宋体" panose="02010600030101010101" pitchFamily="2" charset="-122"/>
                    <a:cs typeface="Times New Roman" panose="02020603050405020304" pitchFamily="18" charset="0"/>
                    <a:sym typeface="+mn-ea"/>
                  </a:rPr>
                  <a:t>P</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c</a:t>
                </a:r>
                <a:r>
                  <a:rPr altLang="zh-CN" sz="2000" baseline="-25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(8</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 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mn-ea"/>
                    <a:cs typeface="Times New Roman" panose="02020603050405020304" pitchFamily="18" charset="0"/>
                    <a:sym typeface="+mn-ea"/>
                  </a:rPr>
                  <a:t>-</a:t>
                </a:r>
                <a:r>
                  <a:rPr altLang="zh-CN" sz="2000">
                    <a:latin typeface="Times New Roman" panose="02020603050405020304" pitchFamily="18" charset="0"/>
                    <a:cs typeface="Times New Roman" panose="02020603050405020304" pitchFamily="18" charset="0"/>
                    <a:sym typeface="+mn-ea"/>
                  </a:rPr>
                  <a:t>2</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6</a:t>
                </a:r>
                <a:r>
                  <a:rPr altLang="zh-CN" sz="2000" i="1">
                    <a:latin typeface="Times New Roman" panose="02020603050405020304" pitchFamily="18" charset="0"/>
                    <a:cs typeface="Times New Roman" panose="02020603050405020304" pitchFamily="18" charset="0"/>
                    <a:sym typeface="+mn-ea"/>
                  </a:rPr>
                  <a:t>q</a:t>
                </a:r>
                <a:r>
                  <a:rPr lang="en-US" sz="2000" baseline="-25000">
                    <a:latin typeface="Times New Roman" panose="02020603050405020304" pitchFamily="18" charset="0"/>
                    <a:cs typeface="Times New Roman" panose="02020603050405020304" pitchFamily="18" charset="0"/>
                    <a:sym typeface="+mn-ea"/>
                  </a:rPr>
                  <a:t>2</a:t>
                </a:r>
                <a:r>
                  <a:rPr 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en-US" sz="2000">
                    <a:latin typeface="Times New Roman" panose="02020603050405020304" pitchFamily="18" charset="0"/>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lang="en-US" sz="2000" baseline="-25000">
                    <a:latin typeface="Times New Roman" panose="02020603050405020304" pitchFamily="18" charset="0"/>
                    <a:cs typeface="Times New Roman" panose="02020603050405020304" pitchFamily="18" charset="0"/>
                    <a:sym typeface="+mn-ea"/>
                  </a:rPr>
                  <a:t>2</a:t>
                </a:r>
                <a:r>
                  <a:rPr lang="en-US" sz="2000" baseline="30000">
                    <a:latin typeface="Times New Roman" panose="02020603050405020304" pitchFamily="18" charset="0"/>
                    <a:cs typeface="Times New Roman" panose="02020603050405020304" pitchFamily="18" charset="0"/>
                    <a:sym typeface="+mn-ea"/>
                  </a:rPr>
                  <a:t>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求解</a:t>
                </a:r>
                <a:r>
                  <a:rPr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max</a:t>
                </a: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altLang="zh-CN"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max</a:t>
                </a:r>
                <a:r>
                  <a:rPr altLang="zh-CN" sz="2000" i="1">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一阶条件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f>
                      <m:fPr>
                        <m:ctrlPr>
                          <a:rPr lang="en-US" altLang="zh-CN" sz="2000" i="1" smtClean="0">
                            <a:solidFill>
                              <a:schemeClr val="dk1">
                                <a:lumMod val="75000"/>
                                <a:lumOff val="25000"/>
                              </a:schemeClr>
                            </a:solidFill>
                            <a:latin typeface="Cambria Math" panose="02040503050406030204" pitchFamily="18" charset="0"/>
                            <a:cs typeface="Cambria Math" panose="02040503050406030204" pitchFamily="18" charset="0"/>
                          </a:rPr>
                        </m:ctrlPr>
                      </m:fPr>
                      <m:num>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𝑢</m:t>
                            </m:r>
                          </m:e>
                          <m:sub>
                            <m:r>
                              <a:rPr lang="en-US" altLang="zh-CN" sz="2000" b="0" i="1" smtClean="0">
                                <a:latin typeface="Cambria Math" panose="02040503050406030204" pitchFamily="18" charset="0"/>
                                <a:cs typeface="Times New Roman" panose="02020603050405020304" pitchFamily="18" charset="0"/>
                              </a:rPr>
                              <m:t>1</m:t>
                            </m:r>
                          </m:sub>
                        </m:sSub>
                      </m:num>
                      <m:den>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1</m:t>
                            </m:r>
                          </m:sub>
                        </m:sSub>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6</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2</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1</m:t>
                        </m:r>
                      </m:sub>
                    </m:sSub>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2</m:t>
                        </m:r>
                      </m:sub>
                    </m:sSub>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0</m:t>
                    </m:r>
                    <m:r>
                      <a:rPr lang="zh-CN" altLang="en-US" sz="2000" i="1">
                        <a:latin typeface="Cambria Math" panose="02040503050406030204" pitchFamily="18" charset="0"/>
                        <a:cs typeface="Times New Roman" panose="02020603050405020304" pitchFamily="18" charset="0"/>
                      </a:rPr>
                      <m:t>，</m:t>
                    </m:r>
                    <m:f>
                      <m:fPr>
                        <m:ctrlPr>
                          <a:rPr lang="en-US" altLang="zh-CN" sz="2000" i="1" smtClean="0">
                            <a:latin typeface="Cambria Math" panose="02040503050406030204" pitchFamily="18" charset="0"/>
                            <a:cs typeface="Times New Roman" panose="02020603050405020304" pitchFamily="18" charset="0"/>
                          </a:rPr>
                        </m:ctrlPr>
                      </m:fPr>
                      <m:num>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𝑢</m:t>
                            </m:r>
                          </m:e>
                          <m:sub>
                            <m:r>
                              <a:rPr lang="en-US" altLang="zh-CN" sz="2000" b="0" i="1" smtClean="0">
                                <a:latin typeface="Cambria Math" panose="02040503050406030204" pitchFamily="18" charset="0"/>
                                <a:cs typeface="Times New Roman" panose="02020603050405020304" pitchFamily="18" charset="0"/>
                              </a:rPr>
                              <m:t>2</m:t>
                            </m:r>
                          </m:sub>
                        </m:sSub>
                      </m:num>
                      <m:den>
                        <m:r>
                          <a:rPr lang="zh-CN" altLang="en-US"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2</m:t>
                            </m:r>
                          </m:sub>
                        </m:sSub>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6</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2</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2</m:t>
                        </m:r>
                      </m:sub>
                    </m:sSub>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𝑞</m:t>
                        </m:r>
                      </m:e>
                      <m:sub>
                        <m:r>
                          <a:rPr lang="en-US" altLang="zh-CN" sz="2000" b="0" i="1" smtClean="0">
                            <a:latin typeface="Cambria Math" panose="02040503050406030204" pitchFamily="18" charset="0"/>
                            <a:cs typeface="Times New Roman" panose="02020603050405020304" pitchFamily="18" charset="0"/>
                          </a:rPr>
                          <m:t>1</m:t>
                        </m:r>
                      </m:sub>
                    </m:sSub>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0</m:t>
                    </m:r>
                  </m:oMath>
                </a14:m>
                <a:endParaRPr lang="en-US" altLang="zh-CN" sz="2000" b="0" i="1" spc="100" dirty="0" smtClean="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5" name="Title 6"/>
              <p:cNvSpPr txBox="1">
                <a:spLocks noRot="1" noChangeAspect="1" noMove="1" noResize="1" noEditPoints="1" noAdjustHandles="1" noChangeArrowheads="1" noChangeShapeType="1" noTextEdit="1"/>
              </p:cNvSpPr>
              <p:nvPr>
                <p:custDataLst>
                  <p:tags r:id="rId6"/>
                </p:custDataLst>
              </p:nvPr>
            </p:nvSpPr>
            <p:spPr>
              <a:xfrm>
                <a:off x="3287395" y="1799590"/>
                <a:ext cx="7706995" cy="4229100"/>
              </a:xfrm>
              <a:prstGeom prst="rect">
                <a:avLst/>
              </a:prstGeom>
              <a:blipFill rotWithShape="1">
                <a:blip r:embed="rId7"/>
                <a:stretch>
                  <a:fillRect/>
                </a:stretch>
              </a:blipFill>
              <a:ln w="3175">
                <a:noFill/>
                <a:prstDash val="dash"/>
              </a:ln>
            </p:spPr>
            <p:txBody>
              <a:bodyPr/>
              <a:lstStyle/>
              <a:p>
                <a:r>
                  <a:rPr lang="zh-CN" altLang="en-US">
                    <a:noFill/>
                  </a:rPr>
                  <a:t> </a:t>
                </a:r>
              </a:p>
            </p:txBody>
          </p:sp>
        </mc:Fallback>
      </mc:AlternateContent>
      <p:sp>
        <p:nvSpPr>
          <p:cNvPr id="17" name="Title 6"/>
          <p:cNvSpPr txBox="1"/>
          <p:nvPr>
            <p:custDataLst>
              <p:tags r:id="rId8"/>
            </p:custDataLst>
          </p:nvPr>
        </p:nvSpPr>
        <p:spPr>
          <a:xfrm>
            <a:off x="695325" y="762000"/>
            <a:ext cx="5090160" cy="7829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4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双寡头古诺模型</a:t>
            </a:r>
            <a:endParaRPr lang="zh-CN" altLang="en-US" sz="24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2"/>
            </p:custDataLst>
          </p:nvPr>
        </p:nvSpPr>
        <p:spPr>
          <a:xfrm>
            <a:off x="3575685" y="2132965"/>
            <a:ext cx="6833235" cy="324231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反应函数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0.5(6</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 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0.5(6</a:t>
            </a:r>
            <a:r>
              <a:rPr altLang="zh-CN" sz="2000">
                <a:latin typeface="+mn-ea"/>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解得</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altLang="zh-CN" sz="2000" i="1">
                <a:solidFill>
                  <a:schemeClr val="dk1">
                    <a:lumMod val="75000"/>
                    <a:lumOff val="25000"/>
                  </a:schemeClr>
                </a:solidFill>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2</a:t>
            </a:r>
            <a:endParaRPr altLang="zh-CN" sz="2000">
              <a:latin typeface="Times New Roman" panose="02020603050405020304" pitchFamily="18" charset="0"/>
              <a:ea typeface="宋体" panose="02010600030101010101" pitchFamily="2" charset="-122"/>
              <a:cs typeface="Times New Roman" panose="02020603050405020304" pitchFamily="18" charset="0"/>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altLang="zh-CN" sz="2000" i="1">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u</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4</a:t>
            </a:r>
            <a:endParaRPr altLang="zh-CN" sz="2000">
              <a:latin typeface="Times New Roman" panose="02020603050405020304" pitchFamily="18" charset="0"/>
              <a:ea typeface="宋体" panose="02010600030101010101" pitchFamily="2" charset="-122"/>
              <a:cs typeface="Times New Roman" panose="02020603050405020304" pitchFamily="18" charset="0"/>
              <a:sym typeface="+mn-ea"/>
            </a:endParaRPr>
          </a:p>
          <a:p>
            <a:pPr marL="0" lvl="1"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（一次性博弈）唯一纳什均衡（</a:t>
            </a:r>
            <a:r>
              <a:rPr altLang="zh-CN"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2,2</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），即古诺产量</a:t>
            </a:r>
            <a:r>
              <a:rPr altLang="zh-CN" sz="2000" i="1">
                <a:latin typeface="Times New Roman" panose="02020603050405020304" pitchFamily="18" charset="0"/>
                <a:cs typeface="Times New Roman" panose="02020603050405020304" pitchFamily="18" charset="0"/>
                <a:sym typeface="+mn-ea"/>
              </a:rPr>
              <a:t>q</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3" name="组合 2"/>
          <p:cNvGrpSpPr/>
          <p:nvPr/>
        </p:nvGrpSpPr>
        <p:grpSpPr>
          <a:xfrm>
            <a:off x="533400" y="152400"/>
            <a:ext cx="10235565" cy="762000"/>
            <a:chOff x="840" y="240"/>
            <a:chExt cx="13900" cy="1200"/>
          </a:xfrm>
        </p:grpSpPr>
        <p:sp>
          <p:nvSpPr>
            <p:cNvPr id="7" name="文本框 6"/>
            <p:cNvSpPr txBox="1"/>
            <p:nvPr>
              <p:custDataLst>
                <p:tags r:id="rId4"/>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无限次重复古诺模型</a:t>
              </a:r>
              <a:endParaRPr lang="zh-CN" altLang="en-US" sz="2800" dirty="0">
                <a:solidFill>
                  <a:schemeClr val="accent1"/>
                </a:solidFill>
                <a:sym typeface="+mn-ea"/>
              </a:endParaRP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7080" y="862965"/>
            <a:ext cx="3448685"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defTabSz="913765" fontAlgn="ctr">
              <a:lnSpc>
                <a:spcPct val="130000"/>
              </a:lnSpc>
              <a:spcBef>
                <a:spcPts val="1000"/>
              </a:spcBef>
              <a:spcAft>
                <a:spcPts val="0"/>
              </a:spcAft>
              <a:buClrTx/>
              <a:buSzTx/>
              <a:buFont typeface="Wingdings" panose="05000000000000000000" charset="0"/>
              <a:buChar char="Ø"/>
            </a:pPr>
            <a:r>
              <a:rPr lang="zh-CN" altLang="en-US" sz="2400" spc="100" dirty="0" smtClean="0">
                <a:ln w="3175">
                  <a:noFill/>
                  <a:prstDash val="dash"/>
                </a:ln>
                <a:solidFill>
                  <a:schemeClr val="dk1">
                    <a:lumMod val="75000"/>
                    <a:lumOff val="25000"/>
                  </a:schemeClr>
                </a:solidFill>
                <a:effectLst/>
                <a:sym typeface="+mn-ea"/>
              </a:rPr>
              <a:t>双寡头卡特尔模型</a:t>
            </a:r>
            <a:endParaRPr lang="zh-CN" altLang="en-US" sz="2400" spc="100" dirty="0" smtClean="0">
              <a:ln w="3175">
                <a:noFill/>
                <a:prstDash val="dash"/>
              </a:ln>
              <a:solidFill>
                <a:schemeClr val="dk1">
                  <a:lumMod val="75000"/>
                  <a:lumOff val="25000"/>
                </a:schemeClr>
              </a:solidFill>
              <a:effectLst/>
              <a:sym typeface="+mn-ea"/>
            </a:endParaRPr>
          </a:p>
        </p:txBody>
      </p:sp>
      <p:sp>
        <p:nvSpPr>
          <p:cNvPr id="14" name="矩形 13"/>
          <p:cNvSpPr/>
          <p:nvPr userDrawn="1">
            <p:custDataLst>
              <p:tags r:id="rId2"/>
            </p:custDataLst>
          </p:nvPr>
        </p:nvSpPr>
        <p:spPr>
          <a:xfrm>
            <a:off x="460375" y="1624330"/>
            <a:ext cx="11277600" cy="4725035"/>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mc:AlternateContent xmlns:mc="http://schemas.openxmlformats.org/markup-compatibility/2006">
        <mc:Choice xmlns:a14="http://schemas.microsoft.com/office/drawing/2010/main" Requires="a14">
          <p:sp>
            <p:nvSpPr>
              <p:cNvPr id="4" name="Title 6"/>
              <p:cNvSpPr txBox="1"/>
              <p:nvPr>
                <p:custDataLst>
                  <p:tags r:id="rId4"/>
                </p:custDataLst>
              </p:nvPr>
            </p:nvSpPr>
            <p:spPr>
              <a:xfrm>
                <a:off x="3719830" y="1988820"/>
                <a:ext cx="7156450" cy="44342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得益函数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PQ</a:t>
                </a:r>
                <a:r>
                  <a:rPr lang="en-US" altLang="zh-CN" sz="2000" dirty="0">
                    <a:latin typeface="+mn-ea"/>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cQ</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(6</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Q</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一阶条件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f>
                      <m:fPr>
                        <m:ctrlPr>
                          <a:rPr lang="en-US" altLang="zh-CN" sz="2000" i="1" smtClean="0">
                            <a:solidFill>
                              <a:schemeClr val="dk1">
                                <a:lumMod val="75000"/>
                                <a:lumOff val="25000"/>
                              </a:schemeClr>
                            </a:solidFill>
                            <a:latin typeface="Cambria Math" panose="02040503050406030204" pitchFamily="18" charset="0"/>
                            <a:cs typeface="Cambria Math" panose="02040503050406030204" pitchFamily="18" charset="0"/>
                          </a:rPr>
                        </m:ctrlPr>
                      </m:fPr>
                      <m:num>
                        <m:r>
                          <a:rPr lang="zh-CN" altLang="en-US" sz="200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𝑢</m:t>
                        </m:r>
                      </m:num>
                      <m:den>
                        <m:r>
                          <a:rPr lang="zh-CN" altLang="en-US" sz="200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𝑄</m:t>
                        </m:r>
                      </m:den>
                    </m:f>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6</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2</m:t>
                    </m:r>
                    <m:r>
                      <a:rPr lang="en-US" altLang="zh-CN" sz="2000" b="0" i="1" smtClean="0">
                        <a:latin typeface="Cambria Math" panose="02040503050406030204" pitchFamily="18" charset="0"/>
                        <a:cs typeface="Times New Roman" panose="02020603050405020304" pitchFamily="18" charset="0"/>
                      </a:rPr>
                      <m:t>𝑄</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0</m:t>
                    </m:r>
                  </m:oMath>
                </a14:m>
                <a:endParaRPr lang="en-US" altLang="zh-CN" sz="2000" b="0" i="1" smtClean="0">
                  <a:latin typeface="Cambria Math" panose="02040503050406030204" pitchFamily="18" charset="0"/>
                  <a:cs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dirty="0">
                    <a:solidFill>
                      <a:schemeClr val="tx1"/>
                    </a:solidFill>
                    <a:latin typeface="Times New Roman" panose="02020603050405020304" pitchFamily="18" charset="0"/>
                    <a:cs typeface="Times New Roman" panose="02020603050405020304" pitchFamily="18" charset="0"/>
                  </a:rPr>
                  <a:t>求得</a:t>
                </a:r>
                <a:endParaRPr lang="en-US" altLang="zh-CN" sz="2000" dirty="0">
                  <a:solidFill>
                    <a:schemeClr val="tx1"/>
                  </a:solidFill>
                  <a:latin typeface="Times New Roman" panose="02020603050405020304" pitchFamily="18" charset="0"/>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Q</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 q</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cs typeface="Times New Roman" panose="02020603050405020304" pitchFamily="18" charset="0"/>
                    <a:sym typeface="+mn-ea"/>
                  </a:rPr>
                  <a:t>Q</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 P</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5</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cs typeface="Times New Roman" panose="02020603050405020304" pitchFamily="18" charset="0"/>
                    <a:sym typeface="+mn-ea"/>
                  </a:rPr>
                  <a:t>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9</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0.5</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4.5</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dirty="0">
                    <a:solidFill>
                      <a:schemeClr val="tx1"/>
                    </a:solidFill>
                    <a:latin typeface="Times New Roman" panose="02020603050405020304" pitchFamily="18" charset="0"/>
                    <a:cs typeface="Times New Roman" panose="02020603050405020304" pitchFamily="18" charset="0"/>
                  </a:rPr>
                  <a:t>最佳垄断产量</a:t>
                </a:r>
                <a:r>
                  <a:rPr altLang="zh-CN" sz="2000" i="1">
                    <a:latin typeface="Times New Roman" panose="02020603050405020304" pitchFamily="18" charset="0"/>
                    <a:cs typeface="Times New Roman" panose="02020603050405020304" pitchFamily="18" charset="0"/>
                    <a:sym typeface="+mn-ea"/>
                  </a:rPr>
                  <a:t>Q</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i="1">
                    <a:latin typeface="Times New Roman" panose="02020603050405020304" pitchFamily="18" charset="0"/>
                    <a:cs typeface="Times New Roman" panose="02020603050405020304" pitchFamily="18" charset="0"/>
                    <a:sym typeface="+mn-ea"/>
                  </a:rPr>
                  <a:t>q</a:t>
                </a:r>
                <a:r>
                  <a:rPr altLang="zh-CN"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1.5</a:t>
                </a:r>
                <a:endPar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l" fontAlgn="ctr">
                  <a:lnSpc>
                    <a:spcPct val="130000"/>
                  </a:lnSpc>
                  <a:spcBef>
                    <a:spcPts val="1000"/>
                  </a:spcBef>
                  <a:spcAft>
                    <a:spcPts val="0"/>
                  </a:spcAft>
                  <a:buSzPct val="100000"/>
                  <a:buFont typeface="Wingdings" panose="05000000000000000000" charset="0"/>
                  <a:buChar char="l"/>
                </a:pPr>
                <a:endPar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4" name="Title 6"/>
              <p:cNvSpPr txBox="1">
                <a:spLocks noRot="1" noChangeAspect="1" noMove="1" noResize="1" noEditPoints="1" noAdjustHandles="1" noChangeArrowheads="1" noChangeShapeType="1" noTextEdit="1"/>
              </p:cNvSpPr>
              <p:nvPr>
                <p:custDataLst>
                  <p:tags r:id="rId5"/>
                </p:custDataLst>
              </p:nvPr>
            </p:nvSpPr>
            <p:spPr>
              <a:xfrm>
                <a:off x="3719830" y="1988820"/>
                <a:ext cx="7156450" cy="4434205"/>
              </a:xfrm>
              <a:prstGeom prst="rect">
                <a:avLst/>
              </a:prstGeom>
              <a:blipFill rotWithShape="1">
                <a:blip r:embed="rId6"/>
                <a:stretch>
                  <a:fillRect t="-4110" b="-4139"/>
                </a:stretch>
              </a:blipFill>
              <a:ln w="3175">
                <a:noFill/>
                <a:prstDash val="dash"/>
              </a:ln>
            </p:spPr>
            <p:txBody>
              <a:bodyPr/>
              <a:lstStyle/>
              <a:p>
                <a:r>
                  <a:rPr lang="zh-CN" altLang="en-US">
                    <a:noFill/>
                  </a:rPr>
                  <a:t> </a:t>
                </a:r>
              </a:p>
            </p:txBody>
          </p:sp>
        </mc:Fallback>
      </mc:AlternateContent>
      <p:grpSp>
        <p:nvGrpSpPr>
          <p:cNvPr id="5" name="组合 4"/>
          <p:cNvGrpSpPr/>
          <p:nvPr/>
        </p:nvGrpSpPr>
        <p:grpSpPr>
          <a:xfrm>
            <a:off x="533400" y="152400"/>
            <a:ext cx="10235565" cy="762000"/>
            <a:chOff x="840" y="240"/>
            <a:chExt cx="13900" cy="1200"/>
          </a:xfrm>
        </p:grpSpPr>
        <p:sp>
          <p:nvSpPr>
            <p:cNvPr id="7" name="文本框 6"/>
            <p:cNvSpPr txBox="1"/>
            <p:nvPr>
              <p:custDataLst>
                <p:tags r:id="rId7"/>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无限次重复古诺模型</a:t>
              </a:r>
              <a:endParaRPr lang="zh-CN" altLang="en-US" sz="2800" dirty="0">
                <a:solidFill>
                  <a:schemeClr val="accent1"/>
                </a:solidFill>
                <a:sym typeface="+mn-ea"/>
              </a:endParaRPr>
            </a:p>
          </p:txBody>
        </p:sp>
        <p:cxnSp>
          <p:nvCxnSpPr>
            <p:cNvPr id="8" name="直接连接符 7"/>
            <p:cNvCxnSpPr/>
            <p:nvPr>
              <p:custDataLst>
                <p:tags r:id="rId8"/>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7080" y="862965"/>
            <a:ext cx="3448685"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defTabSz="913765" fontAlgn="ctr">
              <a:lnSpc>
                <a:spcPct val="130000"/>
              </a:lnSpc>
              <a:spcBef>
                <a:spcPts val="1000"/>
              </a:spcBef>
              <a:spcAft>
                <a:spcPts val="0"/>
              </a:spcAft>
              <a:buClrTx/>
              <a:buSzTx/>
              <a:buFont typeface="Wingdings" panose="05000000000000000000" charset="0"/>
              <a:buChar char="Ø"/>
            </a:pPr>
            <a:r>
              <a:rPr lang="zh-CN" altLang="en-US" sz="2400" spc="100" dirty="0" smtClean="0">
                <a:ln w="3175">
                  <a:noFill/>
                  <a:prstDash val="dash"/>
                </a:ln>
                <a:solidFill>
                  <a:schemeClr val="dk1">
                    <a:lumMod val="75000"/>
                    <a:lumOff val="25000"/>
                  </a:schemeClr>
                </a:solidFill>
                <a:effectLst/>
                <a:sym typeface="+mn-ea"/>
              </a:rPr>
              <a:t>触发策略</a:t>
            </a:r>
            <a:endParaRPr lang="zh-CN" altLang="en-US" sz="2400" spc="100" dirty="0" smtClean="0">
              <a:ln w="3175">
                <a:noFill/>
                <a:prstDash val="dash"/>
              </a:ln>
              <a:solidFill>
                <a:schemeClr val="dk1">
                  <a:lumMod val="75000"/>
                  <a:lumOff val="25000"/>
                </a:schemeClr>
              </a:solidFill>
              <a:effectLst/>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4" name="Title 6"/>
          <p:cNvSpPr txBox="1"/>
          <p:nvPr>
            <p:custDataLst>
              <p:tags r:id="rId3"/>
            </p:custDataLst>
          </p:nvPr>
        </p:nvSpPr>
        <p:spPr>
          <a:xfrm>
            <a:off x="1271270" y="1412875"/>
            <a:ext cx="9235440" cy="443992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在无限次重复古诺模型中，当贴现率δ满足一定条件时，</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两厂商都采用下列触发策略构成一个子博弈完美纳什均衡</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第一阶段生产垄断产量的一半</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；在第</a:t>
            </a:r>
            <a:r>
              <a:rPr lang="en-US" altLang="zh-CN"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t</a:t>
            </a:r>
            <a:r>
              <a:rPr lang="en-US" sz="2000">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20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阶</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段，如果前</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t-1</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阶段的结果都是（</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1.5，1.5</a:t>
            </a:r>
            <a:r>
              <a:rPr lang="zh-CN" altLang="en-US" sz="20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)，则继续生产</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，否则生产古诺产量</a:t>
            </a:r>
            <a:r>
              <a:rPr altLang="zh-CN" sz="2000" i="1">
                <a:latin typeface="Times New Roman" panose="02020603050405020304" pitchFamily="18" charset="0"/>
                <a:cs typeface="Times New Roman" panose="02020603050405020304" pitchFamily="18" charset="0"/>
                <a:sym typeface="+mn-ea"/>
              </a:rPr>
              <a:t>q</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该触发策略的实质同样是博弈方</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先试图合作，选择符合双方利益的产量，而一旦发现对方不合作，偏离对双方有利的产量，则以选择纳什均衡产量来进行报复</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。双方都采用上述触发策略的博弈路径为</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每阶段生产产量(</a:t>
            </a:r>
            <a:r>
              <a:rPr altLang="zh-CN" sz="2000" b="1" spc="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000" b="1" spc="0">
                <a:latin typeface="Times New Roman" panose="02020603050405020304" pitchFamily="18" charset="0"/>
                <a:ea typeface="宋体" panose="02010600030101010101" pitchFamily="2" charset="-122"/>
                <a:cs typeface="Times New Roman" panose="02020603050405020304" pitchFamily="18" charset="0"/>
                <a:sym typeface="+mn-ea"/>
              </a:rPr>
              <a:t>，</a:t>
            </a:r>
            <a:r>
              <a:rPr altLang="zh-CN" sz="2000" b="1" spc="0">
                <a:latin typeface="Times New Roman" panose="02020603050405020304" pitchFamily="18" charset="0"/>
                <a:ea typeface="宋体" panose="02010600030101010101" pitchFamily="2" charset="-122"/>
                <a:cs typeface="Times New Roman" panose="02020603050405020304" pitchFamily="18" charset="0"/>
                <a:sym typeface="+mn-ea"/>
              </a:rPr>
              <a:t>1.5</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)，双方每阶段的得益都</a:t>
            </a: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是</a:t>
            </a:r>
            <a:r>
              <a:rPr altLang="zh-CN" sz="2000" b="1" spc="0">
                <a:latin typeface="Times New Roman" panose="02020603050405020304" pitchFamily="18" charset="0"/>
                <a:ea typeface="宋体" panose="02010600030101010101" pitchFamily="2" charset="-122"/>
                <a:cs typeface="Times New Roman" panose="02020603050405020304" pitchFamily="18" charset="0"/>
                <a:sym typeface="+mn-ea"/>
              </a:rPr>
              <a:t>π*=4.5</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5" name="组合 4"/>
          <p:cNvGrpSpPr/>
          <p:nvPr/>
        </p:nvGrpSpPr>
        <p:grpSpPr>
          <a:xfrm>
            <a:off x="533400" y="152400"/>
            <a:ext cx="10235565" cy="762000"/>
            <a:chOff x="840" y="240"/>
            <a:chExt cx="13900" cy="1200"/>
          </a:xfrm>
        </p:grpSpPr>
        <p:sp>
          <p:nvSpPr>
            <p:cNvPr id="7" name="文本框 6"/>
            <p:cNvSpPr txBox="1"/>
            <p:nvPr>
              <p:custDataLst>
                <p:tags r:id="rId4"/>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无限次重复古诺模型</a:t>
              </a:r>
              <a:endParaRPr lang="zh-CN" altLang="en-US" sz="2800" dirty="0">
                <a:solidFill>
                  <a:schemeClr val="accent1"/>
                </a:solidFill>
                <a:sym typeface="+mn-ea"/>
              </a:endParaRPr>
            </a:p>
          </p:txBody>
        </p:sp>
        <p:cxnSp>
          <p:nvCxnSpPr>
            <p:cNvPr id="8" name="直接连接符 7"/>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7080" y="862965"/>
            <a:ext cx="7467600" cy="96139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defTabSz="913765" fontAlgn="ctr">
              <a:lnSpc>
                <a:spcPct val="130000"/>
              </a:lnSpc>
              <a:spcBef>
                <a:spcPts val="1000"/>
              </a:spcBef>
              <a:spcAft>
                <a:spcPts val="0"/>
              </a:spcAft>
              <a:buClrTx/>
              <a:buSzTx/>
              <a:buFont typeface="Wingdings" panose="05000000000000000000" charset="0"/>
              <a:buChar char="Ø"/>
            </a:pPr>
            <a:r>
              <a:rPr lang="zh-CN" altLang="en-US" sz="2400" spc="100" dirty="0" smtClean="0">
                <a:ln w="3175">
                  <a:noFill/>
                  <a:prstDash val="dash"/>
                </a:ln>
                <a:solidFill>
                  <a:schemeClr val="dk1">
                    <a:lumMod val="75000"/>
                    <a:lumOff val="25000"/>
                  </a:schemeClr>
                </a:solidFill>
                <a:effectLst/>
                <a:sym typeface="+mn-ea"/>
              </a:rPr>
              <a:t>触发策略构成一个子博弈完美纳什均衡（证明）</a:t>
            </a:r>
            <a:endParaRPr lang="zh-CN" altLang="en-US" sz="2400" spc="100" dirty="0" smtClean="0">
              <a:ln w="3175">
                <a:noFill/>
                <a:prstDash val="dash"/>
              </a:ln>
              <a:solidFill>
                <a:schemeClr val="dk1">
                  <a:lumMod val="75000"/>
                  <a:lumOff val="25000"/>
                </a:schemeClr>
              </a:solidFill>
              <a:effectLst/>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mc:AlternateContent xmlns:mc="http://schemas.openxmlformats.org/markup-compatibility/2006">
        <mc:Choice xmlns:a14="http://schemas.microsoft.com/office/drawing/2010/main" Requires="a14">
          <p:sp>
            <p:nvSpPr>
              <p:cNvPr id="4" name="Title 6"/>
              <p:cNvSpPr txBox="1"/>
              <p:nvPr>
                <p:custDataLst>
                  <p:tags r:id="rId3"/>
                </p:custDataLst>
              </p:nvPr>
            </p:nvSpPr>
            <p:spPr>
              <a:xfrm>
                <a:off x="1165860" y="1772920"/>
                <a:ext cx="9235440" cy="211963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设厂商1已采用该触发策略，如果厂商2也采用该触发策略，则每期得益4.5，无限次重复博弈总得益的现值为：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ctr">
                  <a:lnSpc>
                    <a:spcPct val="130000"/>
                  </a:lnSpc>
                  <a:spcBef>
                    <a:spcPts val="1000"/>
                  </a:spcBef>
                  <a:spcAft>
                    <a:spcPts val="0"/>
                  </a:spcAft>
                  <a:buSzPct val="100000"/>
                  <a:buFont typeface="Wingdings" panose="05000000000000000000" charset="0"/>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zh-CN" altLang="en-US" sz="2000" b="0" i="1" smtClean="0">
                              <a:latin typeface="Cambria Math" panose="02040503050406030204" pitchFamily="18" charset="0"/>
                            </a:rPr>
                            <m:t>𝜋</m:t>
                          </m:r>
                        </m:e>
                        <m:sub>
                          <m:r>
                            <a:rPr lang="en-US" altLang="zh-CN" sz="2000" b="0" i="1" smtClean="0">
                              <a:latin typeface="Cambria Math" panose="02040503050406030204" pitchFamily="18" charset="0"/>
                            </a:rPr>
                            <m:t>𝐾</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r>
                        <a:rPr altLang="zh-CN" sz="2000" b="0" i="1" smtClean="0">
                          <a:latin typeface="Cambria Math" panose="02040503050406030204" pitchFamily="18" charset="0"/>
                        </a:rPr>
                        <m:t>+</m:t>
                      </m:r>
                      <m:r>
                        <a:rPr lang="zh-CN" altLang="en-US" sz="2000" b="0" i="1" smtClean="0">
                          <a:latin typeface="Cambria Math" panose="02040503050406030204" pitchFamily="18" charset="0"/>
                        </a:rPr>
                        <m:t>𝛿</m:t>
                      </m:r>
                      <m:r>
                        <a:rPr altLang="zh-CN" sz="2000" b="0" i="1" baseline="30000" smtClean="0">
                          <a:latin typeface="Cambria Math" panose="02040503050406030204" pitchFamily="18" charset="0"/>
                        </a:rPr>
                        <m:t>2</m:t>
                      </m:r>
                      <m:r>
                        <a:rPr altLang="zh-CN" sz="2000" b="0" i="1" smtClean="0">
                          <a:latin typeface="Cambria Math" panose="02040503050406030204" pitchFamily="18" charset="0"/>
                        </a:rPr>
                        <m:t>+……</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num>
                        <m:den>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den>
                      </m:f>
                    </m:oMath>
                  </m:oMathPara>
                </a14:m>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4" name="Title 6"/>
              <p:cNvSpPr txBox="1">
                <a:spLocks noRot="1" noChangeAspect="1" noMove="1" noResize="1" noEditPoints="1" noAdjustHandles="1" noChangeArrowheads="1" noChangeShapeType="1" noTextEdit="1"/>
              </p:cNvSpPr>
              <p:nvPr>
                <p:custDataLst>
                  <p:tags r:id="rId4"/>
                </p:custDataLst>
              </p:nvPr>
            </p:nvSpPr>
            <p:spPr>
              <a:xfrm>
                <a:off x="1165860" y="1772920"/>
                <a:ext cx="9235440" cy="2119630"/>
              </a:xfrm>
              <a:prstGeom prst="rect">
                <a:avLst/>
              </a:prstGeom>
              <a:blipFill rotWithShape="1">
                <a:blip r:embed="rId5"/>
                <a:stretch>
                  <a:fillRect r="-1114"/>
                </a:stretch>
              </a:blipFill>
              <a:ln w="3175">
                <a:noFill/>
                <a:prstDash val="dash"/>
              </a:ln>
            </p:spPr>
            <p:txBody>
              <a:bodyPr/>
              <a:lstStyle/>
              <a:p>
                <a:r>
                  <a:rPr lang="zh-CN" altLang="en-US">
                    <a:noFill/>
                  </a:rPr>
                  <a:t> </a:t>
                </a:r>
              </a:p>
            </p:txBody>
          </p:sp>
        </mc:Fallback>
      </mc:AlternateContent>
      <p:grpSp>
        <p:nvGrpSpPr>
          <p:cNvPr id="5" name="组合 4"/>
          <p:cNvGrpSpPr/>
          <p:nvPr/>
        </p:nvGrpSpPr>
        <p:grpSpPr>
          <a:xfrm>
            <a:off x="533400" y="152400"/>
            <a:ext cx="10235565" cy="762000"/>
            <a:chOff x="840" y="240"/>
            <a:chExt cx="13900" cy="1200"/>
          </a:xfrm>
        </p:grpSpPr>
        <p:sp>
          <p:nvSpPr>
            <p:cNvPr id="7" name="文本框 6"/>
            <p:cNvSpPr txBox="1"/>
            <p:nvPr>
              <p:custDataLst>
                <p:tags r:id="rId6"/>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无限次重复古诺模型</a:t>
              </a:r>
              <a:endParaRPr lang="zh-CN" altLang="en-US" sz="2800" dirty="0">
                <a:solidFill>
                  <a:schemeClr val="accent1"/>
                </a:solidFill>
                <a:sym typeface="+mn-ea"/>
              </a:endParaRPr>
            </a:p>
          </p:txBody>
        </p:sp>
        <p:cxnSp>
          <p:nvCxnSpPr>
            <p:cNvPr id="8" name="直接连接符 7"/>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mc:AlternateContent xmlns:mc="http://schemas.openxmlformats.org/markup-compatibility/2006">
        <mc:Choice xmlns:a14="http://schemas.microsoft.com/office/drawing/2010/main" Requires="a14">
          <p:sp>
            <p:nvSpPr>
              <p:cNvPr id="3" name="Title 6"/>
              <p:cNvSpPr txBox="1"/>
              <p:nvPr>
                <p:custDataLst>
                  <p:tags r:id="rId2"/>
                </p:custDataLst>
              </p:nvPr>
            </p:nvSpPr>
            <p:spPr>
              <a:xfrm>
                <a:off x="839470" y="908685"/>
                <a:ext cx="9929495" cy="497268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628650" lvl="1"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如果厂商</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偏离上述触发策略，则他在第一阶段所选产量应该是给定厂商1产量为1.5的情况下，自己的最大利润产量，即：</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2" indent="-342900" algn="l" fontAlgn="ctr">
                  <a:lnSpc>
                    <a:spcPct val="130000"/>
                  </a:lnSpc>
                  <a:spcBef>
                    <a:spcPts val="1000"/>
                  </a:spcBef>
                  <a:spcAft>
                    <a:spcPts val="0"/>
                  </a:spcAft>
                  <a:buSzPct val="100000"/>
                  <a:buFont typeface="Arial" panose="020B0604020202020204" pitchFamily="34" charset="0"/>
                  <a:buChar char="•"/>
                </a:pP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max u</a:t>
                </a:r>
                <a:r>
                  <a:rPr lang="en-US" altLang="zh-CN" sz="2000" i="1" baseline="-25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max</a:t>
                </a:r>
                <a:r>
                  <a:rPr lang="zh-CN" altLang="en-US"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max</a:t>
                </a:r>
                <a:r>
                  <a:rPr lang="en-US" altLang="zh-CN"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(8</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1.5)</a:t>
                </a:r>
                <a:r>
                  <a:rPr lang="en-US" altLang="zh-CN" sz="2000" i="1" dirty="0">
                    <a:latin typeface="Times New Roman" panose="02020603050405020304" pitchFamily="18" charset="0"/>
                    <a:cs typeface="Times New Roman" panose="02020603050405020304" pitchFamily="18" charset="0"/>
                    <a:sym typeface="+mn-ea"/>
                  </a:rPr>
                  <a:t> 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max</a:t>
                </a:r>
                <a:r>
                  <a:rPr lang="en-US" altLang="zh-CN"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(4.5</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q</a:t>
                </a:r>
                <a:r>
                  <a:rPr lang="en-US" altLang="zh-CN" sz="2000" i="1"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 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endParaRPr lang="en-US" altLang="zh-CN" sz="2000" baseline="-25000" dirty="0">
                  <a:latin typeface="Times New Roman" panose="02020603050405020304" pitchFamily="18" charset="0"/>
                  <a:cs typeface="Times New Roman" panose="02020603050405020304" pitchFamily="18" charset="0"/>
                  <a:sym typeface="+mn-ea"/>
                </a:endParaRPr>
              </a:p>
              <a:p>
                <a:pPr marL="628650" lvl="1" indent="-34290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一阶条件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5850" lvl="2" indent="-342900" algn="l" fontAlgn="ctr">
                  <a:lnSpc>
                    <a:spcPct val="130000"/>
                  </a:lnSpc>
                  <a:spcBef>
                    <a:spcPts val="1000"/>
                  </a:spcBef>
                  <a:spcAft>
                    <a:spcPts val="0"/>
                  </a:spcAft>
                  <a:buSzPct val="100000"/>
                  <a:buFont typeface="Arial" panose="020B0604020202020204" pitchFamily="34" charset="0"/>
                  <a:buChar char="•"/>
                </a:pPr>
                <a:r>
                  <a:rPr lang="zh-CN" altLang="en-US" sz="2000" dirty="0">
                    <a:solidFill>
                      <a:schemeClr val="dk1">
                        <a:lumMod val="75000"/>
                        <a:lumOff val="25000"/>
                      </a:schemeClr>
                    </a:solidFill>
                    <a:latin typeface="Times New Roman" panose="02020603050405020304" pitchFamily="18" charset="0"/>
                    <a:ea typeface="宋体" panose="02010600030101010101" pitchFamily="2" charset="-122"/>
                    <a:cs typeface="Times New Roman" panose="02020603050405020304" pitchFamily="18" charset="0"/>
                    <a:sym typeface="+mn-ea"/>
                  </a:rPr>
                  <a:t> </a:t>
                </a:r>
                <a14:m>
                  <m:oMath xmlns:m="http://schemas.openxmlformats.org/officeDocument/2006/math">
                    <m:f>
                      <m:f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fPr>
                      <m:num>
                        <m:r>
                          <a:rPr lang="zh-CN" altLang="en-US"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𝑢</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2</m:t>
                            </m:r>
                          </m:sub>
                        </m:sSub>
                      </m:num>
                      <m:den>
                        <m:r>
                          <a:rPr lang="zh-CN" altLang="en-US" sz="2000" i="1" smtClean="0">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00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2</m:t>
                            </m:r>
                          </m:sub>
                        </m:sSub>
                      </m:den>
                    </m:f>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4</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5</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2</m:t>
                    </m:r>
                    <m:sSub>
                      <m:sSubPr>
                        <m:ctrlP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000" b="0" i="1" smtClean="0">
                        <a:latin typeface="Cambria Math" panose="02040503050406030204" pitchFamily="18" charset="0"/>
                        <a:ea typeface="宋体" panose="02010600030101010101" pitchFamily="2" charset="-122"/>
                        <a:cs typeface="Times New Roman" panose="02020603050405020304" pitchFamily="18" charset="0"/>
                      </a:rPr>
                      <m:t>0</m:t>
                    </m:r>
                  </m:oMath>
                </a14:m>
                <a:endParaRPr lang="en-US" altLang="zh-CN" sz="2000" b="0" i="1" smtClean="0">
                  <a:latin typeface="Cambria Math" panose="02040503050406030204" pitchFamily="18" charset="0"/>
                  <a:ea typeface="宋体" panose="02010600030101010101" pitchFamily="2" charset="-122"/>
                  <a:cs typeface="Times New Roman" panose="02020603050405020304" pitchFamily="18" charset="0"/>
                </a:endParaRPr>
              </a:p>
              <a:p>
                <a:pPr marL="628650" lvl="1" indent="-342900" algn="l" fontAlgn="ctr">
                  <a:lnSpc>
                    <a:spcPct val="130000"/>
                  </a:lnSpc>
                  <a:spcBef>
                    <a:spcPts val="1000"/>
                  </a:spcBef>
                  <a:spcAft>
                    <a:spcPts val="0"/>
                  </a:spcAft>
                  <a:buSzPct val="100000"/>
                  <a:buFont typeface="Wingdings" panose="05000000000000000000" charset="0"/>
                  <a:buChar char="l"/>
                </a:pPr>
                <a:r>
                  <a:rPr lang="zh-CN" altLang="en-US" sz="2000" b="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求得</a:t>
                </a:r>
                <a:endParaRPr lang="zh-CN" altLang="en-US" sz="2000" b="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1085850" lvl="2" indent="-34290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2.25</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marL="1085850" lvl="2" indent="-342900" algn="l" fontAlgn="ctr">
                  <a:lnSpc>
                    <a:spcPct val="130000"/>
                  </a:lnSpc>
                  <a:spcBef>
                    <a:spcPts val="1000"/>
                  </a:spcBef>
                  <a:spcAft>
                    <a:spcPts val="0"/>
                  </a:spcAft>
                  <a:buSzPct val="100000"/>
                  <a:buFont typeface="Arial" panose="020B0604020202020204" pitchFamily="34" charset="0"/>
                  <a:buChar char="•"/>
                </a:pP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P</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mn-ea"/>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c</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i="1" dirty="0">
                    <a:latin typeface="Times New Roman" panose="02020603050405020304" pitchFamily="18" charset="0"/>
                    <a:cs typeface="Times New Roman" panose="02020603050405020304" pitchFamily="18" charset="0"/>
                    <a:sym typeface="+mn-ea"/>
                  </a:rPr>
                  <a:t>q</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(8</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2.25</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1.5)</a:t>
                </a:r>
                <a:r>
                  <a:rPr lang="en-US" altLang="zh-CN" sz="2000" i="1"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2.25</a:t>
                </a:r>
                <a:r>
                  <a:rPr lang="en-US" altLang="zh-CN" sz="2000" dirty="0">
                    <a:latin typeface="+mn-ea"/>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2.25</a:t>
                </a:r>
                <a:r>
                  <a:rPr lang="en-US" altLang="zh-CN" sz="2000" i="1"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5.0625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u</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sym typeface="+mn-ea"/>
                  </a:rPr>
                  <a:t>3.375</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3" name="Title 6"/>
              <p:cNvSpPr txBox="1">
                <a:spLocks noRot="1" noChangeAspect="1" noMove="1" noResize="1" noEditPoints="1" noAdjustHandles="1" noChangeArrowheads="1" noChangeShapeType="1" noTextEdit="1"/>
              </p:cNvSpPr>
              <p:nvPr>
                <p:custDataLst>
                  <p:tags r:id="rId3"/>
                </p:custDataLst>
              </p:nvPr>
            </p:nvSpPr>
            <p:spPr>
              <a:xfrm>
                <a:off x="839470" y="908685"/>
                <a:ext cx="9929495" cy="4972685"/>
              </a:xfrm>
              <a:prstGeom prst="rect">
                <a:avLst/>
              </a:prstGeom>
              <a:blipFill rotWithShape="1">
                <a:blip r:embed="rId4"/>
                <a:stretch>
                  <a:fillRect/>
                </a:stretch>
              </a:blipFill>
              <a:ln w="3175">
                <a:noFill/>
                <a:prstDash val="dash"/>
              </a:ln>
            </p:spPr>
            <p:txBody>
              <a:bodyPr/>
              <a:lstStyle/>
              <a:p>
                <a:r>
                  <a:rPr lang="zh-CN" altLang="en-US">
                    <a:noFill/>
                  </a:rPr>
                  <a:t> </a:t>
                </a:r>
              </a:p>
            </p:txBody>
          </p:sp>
        </mc:Fallback>
      </mc:AlternateContent>
      <p:grpSp>
        <p:nvGrpSpPr>
          <p:cNvPr id="5" name="组合 4"/>
          <p:cNvGrpSpPr/>
          <p:nvPr/>
        </p:nvGrpSpPr>
        <p:grpSpPr>
          <a:xfrm>
            <a:off x="533400" y="152400"/>
            <a:ext cx="10235565" cy="762000"/>
            <a:chOff x="840" y="240"/>
            <a:chExt cx="13900" cy="1200"/>
          </a:xfrm>
        </p:grpSpPr>
        <p:sp>
          <p:nvSpPr>
            <p:cNvPr id="7" name="文本框 6"/>
            <p:cNvSpPr txBox="1"/>
            <p:nvPr>
              <p:custDataLst>
                <p:tags r:id="rId5"/>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无限次重复古诺模型</a:t>
              </a:r>
              <a:endParaRPr lang="zh-CN" altLang="en-US" sz="2800" dirty="0">
                <a:solidFill>
                  <a:schemeClr val="accent1"/>
                </a:solidFill>
                <a:sym typeface="+mn-ea"/>
              </a:endParaRPr>
            </a:p>
          </p:txBody>
        </p:sp>
        <p:cxnSp>
          <p:nvCxnSpPr>
            <p:cNvPr id="8" name="直接连接符 7"/>
            <p:cNvCxnSpPr/>
            <p:nvPr>
              <p:custDataLst>
                <p:tags r:id="rId6"/>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1004570" y="1834515"/>
            <a:ext cx="10189210" cy="1409700"/>
          </a:xfrm>
          <a:prstGeom prst="rect">
            <a:avLst/>
          </a:prstGeom>
          <a:solidFill>
            <a:schemeClr val="l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Title 6"/>
              <p:cNvSpPr txBox="1"/>
              <p:nvPr>
                <p:custDataLst>
                  <p:tags r:id="rId2"/>
                </p:custDataLst>
              </p:nvPr>
            </p:nvSpPr>
            <p:spPr>
              <a:xfrm>
                <a:off x="622935" y="260350"/>
                <a:ext cx="10758805" cy="56991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20000"/>
                  </a:lnSpc>
                  <a:spcBef>
                    <a:spcPts val="0"/>
                  </a:spcBef>
                  <a:spcAft>
                    <a:spcPts val="800"/>
                  </a:spcAft>
                  <a:buSzPct val="100000"/>
                  <a:buFont typeface="Wingdings" panose="05000000000000000000" charset="0"/>
                </a:pPr>
                <a:endParaRPr lang="en-US" altLang="zh-CN" sz="2000" i="1" smtClean="0">
                  <a:latin typeface="Cambria Math" panose="02040503050406030204" pitchFamily="18" charset="0"/>
                </a:endParaRPr>
              </a:p>
              <a:p>
                <a:pPr marL="628650" lvl="1" indent="-342900" algn="l" fontAlgn="ctr">
                  <a:lnSpc>
                    <a:spcPct val="130000"/>
                  </a:lnSpc>
                  <a:spcBef>
                    <a:spcPts val="1000"/>
                  </a:spcBef>
                  <a:spcAft>
                    <a:spcPts val="0"/>
                  </a:spcAft>
                  <a:buClrTx/>
                  <a:buSzTx/>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第一阶段得益高于不偏离触发策略时第一阶段得益4.5，但从第二阶段开始，厂商1将报复性地永远采用古诺产量2，这样厂商2也被迫永远采用古诺产量2，从此得利润4，因此，无限次重复博弈第一阶段偏离的情况下总得益的现值是：</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0000"/>
                  </a:lnSpc>
                  <a:spcBef>
                    <a:spcPts val="0"/>
                  </a:spcBef>
                  <a:spcAft>
                    <a:spcPts val="800"/>
                  </a:spcAft>
                  <a:buSzPct val="100000"/>
                  <a:buFont typeface="Wingdings" panose="05000000000000000000" charset="0"/>
                </a:pPr>
                <a14:m>
                  <m:oMathPara xmlns:m="http://schemas.openxmlformats.org/officeDocument/2006/math">
                    <m:oMathParaPr>
                      <m:jc m:val="centerGroup"/>
                    </m:oMathParaPr>
                    <m:oMath xmlns:m="http://schemas.openxmlformats.org/officeDocument/2006/math">
                      <m:sSub>
                        <m:sSubPr>
                          <m:ctrlPr>
                            <a:rPr lang="en-US" altLang="zh-CN" sz="2000" i="1" dirty="0" smtClean="0">
                              <a:latin typeface="Cambria Math" panose="02040503050406030204" pitchFamily="18" charset="0"/>
                            </a:rPr>
                          </m:ctrlPr>
                        </m:sSubPr>
                        <m:e>
                          <m:r>
                            <a:rPr lang="zh-CN" altLang="en-US" sz="2000" i="1" dirty="0" smtClean="0">
                              <a:latin typeface="Cambria Math" panose="02040503050406030204" pitchFamily="18" charset="0"/>
                            </a:rPr>
                            <m:t>𝜋</m:t>
                          </m:r>
                        </m:e>
                        <m:sub>
                          <m:r>
                            <m:rPr>
                              <m:sty m:val="p"/>
                            </m:rPr>
                            <a:rPr lang="en-US" altLang="zh-CN" sz="2000" i="1" dirty="0">
                              <a:latin typeface="Cambria Math" panose="02040503050406030204" pitchFamily="18" charset="0"/>
                            </a:rPr>
                            <m:t>G</m:t>
                          </m:r>
                        </m:sub>
                      </m:sSub>
                      <m:r>
                        <a:rPr lang="en-US" altLang="zh-CN" sz="2000" i="1" dirty="0">
                          <a:latin typeface="Cambria Math" panose="02040503050406030204" pitchFamily="18" charset="0"/>
                        </a:rPr>
                        <m:t>=</m:t>
                      </m:r>
                      <m:r>
                        <a:rPr lang="en-US" altLang="zh-CN" sz="2000" i="1" dirty="0">
                          <a:latin typeface="Cambria Math" panose="02040503050406030204" pitchFamily="18" charset="0"/>
                        </a:rPr>
                        <m:t>5</m:t>
                      </m:r>
                      <m:r>
                        <a:rPr lang="en-US" altLang="zh-CN" sz="2000" i="1" dirty="0">
                          <a:latin typeface="Cambria Math" panose="02040503050406030204" pitchFamily="18" charset="0"/>
                        </a:rPr>
                        <m:t>.</m:t>
                      </m:r>
                      <m:r>
                        <a:rPr lang="en-US" altLang="zh-CN" sz="2000" i="1" dirty="0">
                          <a:latin typeface="Cambria Math" panose="02040503050406030204" pitchFamily="18" charset="0"/>
                        </a:rPr>
                        <m:t>0625</m:t>
                      </m:r>
                      <m:r>
                        <a:rPr lang="en-US" altLang="zh-CN" sz="2000" i="1" dirty="0">
                          <a:latin typeface="Cambria Math" panose="02040503050406030204" pitchFamily="18" charset="0"/>
                        </a:rPr>
                        <m:t>+</m:t>
                      </m:r>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r>
                        <a:rPr altLang="zh-CN" sz="2000" b="0" i="1" smtClean="0">
                          <a:latin typeface="Cambria Math" panose="02040503050406030204" pitchFamily="18" charset="0"/>
                        </a:rPr>
                        <m:t>+</m:t>
                      </m:r>
                      <m:r>
                        <a:rPr lang="zh-CN" altLang="en-US" sz="2000" b="0" i="1" smtClean="0">
                          <a:latin typeface="Cambria Math" panose="02040503050406030204" pitchFamily="18" charset="0"/>
                        </a:rPr>
                        <m:t>𝛿</m:t>
                      </m:r>
                      <m:r>
                        <a:rPr altLang="zh-CN" sz="2000" b="0" i="1" baseline="30000" smtClean="0">
                          <a:latin typeface="Cambria Math" panose="02040503050406030204" pitchFamily="18" charset="0"/>
                        </a:rPr>
                        <m:t>2</m:t>
                      </m:r>
                      <m:r>
                        <a:rPr altLang="zh-CN" sz="2000" b="0" i="1" smtClean="0">
                          <a:latin typeface="Cambria Math" panose="02040503050406030204" pitchFamily="18" charset="0"/>
                        </a:rPr>
                        <m:t>+……</m:t>
                      </m:r>
                      <m:r>
                        <a:rPr lang="en-US" altLang="zh-CN" sz="2000" b="0" i="1" smtClean="0">
                          <a:latin typeface="Cambria Math" panose="02040503050406030204" pitchFamily="18" charset="0"/>
                        </a:rPr>
                        <m:t>）</m:t>
                      </m:r>
                      <m:r>
                        <a:rPr lang="en-US" altLang="zh-CN" sz="2000" i="1" dirty="0">
                          <a:latin typeface="Cambria Math" panose="02040503050406030204" pitchFamily="18" charset="0"/>
                        </a:rPr>
                        <m:t>=</m:t>
                      </m:r>
                      <m:r>
                        <a:rPr lang="en-US" altLang="zh-CN" sz="2000" i="1" dirty="0">
                          <a:latin typeface="Cambria Math" panose="02040503050406030204" pitchFamily="18" charset="0"/>
                        </a:rPr>
                        <m:t>5</m:t>
                      </m:r>
                      <m:r>
                        <a:rPr lang="en-US" altLang="zh-CN" sz="2000" i="1" dirty="0">
                          <a:latin typeface="Cambria Math" panose="02040503050406030204" pitchFamily="18" charset="0"/>
                        </a:rPr>
                        <m:t>.</m:t>
                      </m:r>
                      <m:r>
                        <a:rPr lang="en-US" altLang="zh-CN" sz="2000" i="1" dirty="0">
                          <a:latin typeface="Cambria Math" panose="02040503050406030204" pitchFamily="18" charset="0"/>
                        </a:rPr>
                        <m:t>0625</m:t>
                      </m:r>
                      <m:r>
                        <a:rPr lang="en-US" altLang="zh-CN" sz="2000" i="1" dirty="0">
                          <a:latin typeface="Cambria Math" panose="02040503050406030204" pitchFamily="18" charset="0"/>
                        </a:rPr>
                        <m:t>+</m:t>
                      </m:r>
                      <m:f>
                        <m:fPr>
                          <m:ctrlPr>
                            <a:rPr lang="en-US" altLang="zh-CN" sz="2000" i="1" dirty="0" smtClean="0">
                              <a:latin typeface="Cambria Math" panose="02040503050406030204" pitchFamily="18" charset="0"/>
                            </a:rPr>
                          </m:ctrlPr>
                        </m:fPr>
                        <m:num>
                          <m:r>
                            <a:rPr lang="en-US" altLang="zh-CN" sz="2000" i="1" dirty="0">
                              <a:latin typeface="Cambria Math" panose="02040503050406030204" pitchFamily="18" charset="0"/>
                            </a:rPr>
                            <m:t>4</m:t>
                          </m:r>
                          <m:r>
                            <a:rPr lang="zh-CN" altLang="en-US" sz="2000" i="1" dirty="0" smtClean="0">
                              <a:latin typeface="Cambria Math" panose="02040503050406030204" pitchFamily="18" charset="0"/>
                            </a:rPr>
                            <m:t>𝛿</m:t>
                          </m:r>
                        </m:num>
                        <m:den>
                          <m:r>
                            <a:rPr lang="en-US" altLang="zh-CN" sz="2000" i="1" dirty="0">
                              <a:latin typeface="Cambria Math" panose="02040503050406030204" pitchFamily="18" charset="0"/>
                            </a:rPr>
                            <m:t>1</m:t>
                          </m:r>
                          <m:r>
                            <a:rPr lang="en-US" altLang="zh-CN" sz="2000" i="1" dirty="0" smtClean="0">
                              <a:latin typeface="Cambria Math" panose="02040503050406030204" pitchFamily="18" charset="0"/>
                            </a:rPr>
                            <m:t>−</m:t>
                          </m:r>
                          <m:r>
                            <a:rPr lang="zh-CN" altLang="en-US" sz="2000" i="1" dirty="0" smtClean="0">
                              <a:latin typeface="Cambria Math" panose="02040503050406030204" pitchFamily="18" charset="0"/>
                            </a:rPr>
                            <m:t>𝛿</m:t>
                          </m:r>
                        </m:den>
                      </m:f>
                    </m:oMath>
                  </m:oMathPara>
                </a14:m>
                <a:endParaRPr lang="zh-CN" altLang="en-US" sz="2000" i="1" dirty="0" smtClean="0">
                  <a:latin typeface="Cambria Math" panose="02040503050406030204" pitchFamily="18" charset="0"/>
                </a:endParaRPr>
              </a:p>
              <a:p>
                <a:pPr marL="628650" lvl="1" indent="-342900" algn="l" fontAlgn="auto">
                  <a:lnSpc>
                    <a:spcPct val="120000"/>
                  </a:lnSpc>
                  <a:spcBef>
                    <a:spcPts val="0"/>
                  </a:spcBef>
                  <a:spcAft>
                    <a:spcPts val="800"/>
                  </a:spcAft>
                  <a:buSzPct val="100000"/>
                  <a:buFont typeface="Wingdings" panose="05000000000000000000" charset="0"/>
                  <a:buChar char="l"/>
                </a:pPr>
                <a14:m>
                  <m:oMath xmlns:m="http://schemas.openxmlformats.org/officeDocument/2006/math">
                    <m:sSub>
                      <m:sSubPr>
                        <m:ctrlPr>
                          <a:rPr lang="en-US" altLang="zh-CN" sz="2000" i="1" smtClean="0">
                            <a:solidFill>
                              <a:schemeClr val="tx1"/>
                            </a:solidFill>
                            <a:latin typeface="Cambria Math" panose="02040503050406030204" pitchFamily="18" charset="0"/>
                            <a:cs typeface="Cambria Math" panose="02040503050406030204" pitchFamily="18" charset="0"/>
                          </a:rPr>
                        </m:ctrlPr>
                      </m:sSubPr>
                      <m:e>
                        <m:r>
                          <a:rPr lang="zh-CN" altLang="en-US" sz="2000" b="0" i="1" smtClean="0">
                            <a:latin typeface="Cambria Math" panose="02040503050406030204" pitchFamily="18" charset="0"/>
                          </a:rPr>
                          <m:t>𝜋</m:t>
                        </m:r>
                      </m:e>
                      <m:sub>
                        <m:r>
                          <a:rPr lang="en-US" altLang="zh-CN" sz="2000" b="0" i="1" smtClean="0">
                            <a:latin typeface="Cambria Math" panose="02040503050406030204" pitchFamily="18" charset="0"/>
                          </a:rPr>
                          <m:t>𝐾</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4</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num>
                      <m:den>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den>
                    </m:f>
                  </m:oMath>
                </a14:m>
                <a:r>
                  <a:rPr lang="zh-CN" altLang="en-US" sz="2000">
                    <a:sym typeface="+mn-ea"/>
                  </a:rPr>
                  <a:t>，</a:t>
                </a:r>
                <a14:m>
                  <m:oMath xmlns:m="http://schemas.openxmlformats.org/officeDocument/2006/math">
                    <m:sSub>
                      <m:sSubPr>
                        <m:ctrlPr>
                          <a:rPr lang="en-US" altLang="zh-CN" sz="2000" i="1" dirty="0" smtClean="0">
                            <a:latin typeface="Cambria Math" panose="02040503050406030204" pitchFamily="18" charset="0"/>
                          </a:rPr>
                        </m:ctrlPr>
                      </m:sSubPr>
                      <m:e>
                        <m:r>
                          <a:rPr lang="zh-CN" altLang="en-US" sz="2000" i="1" dirty="0" smtClean="0">
                            <a:latin typeface="Cambria Math" panose="02040503050406030204" pitchFamily="18" charset="0"/>
                          </a:rPr>
                          <m:t>𝜋</m:t>
                        </m:r>
                      </m:e>
                      <m:sub>
                        <m:r>
                          <m:rPr>
                            <m:sty m:val="p"/>
                          </m:rPr>
                          <a:rPr lang="en-US" altLang="zh-CN" sz="2000" i="1" dirty="0">
                            <a:latin typeface="Cambria Math" panose="02040503050406030204" pitchFamily="18" charset="0"/>
                          </a:rPr>
                          <m:t>G</m:t>
                        </m:r>
                      </m:sub>
                    </m:sSub>
                    <m:r>
                      <a:rPr lang="en-US" altLang="zh-CN" sz="2000" i="1" dirty="0">
                        <a:latin typeface="Cambria Math" panose="02040503050406030204" pitchFamily="18" charset="0"/>
                      </a:rPr>
                      <m:t>=</m:t>
                    </m:r>
                    <m:r>
                      <a:rPr lang="en-US" altLang="zh-CN" sz="2000" i="1" dirty="0">
                        <a:latin typeface="Cambria Math" panose="02040503050406030204" pitchFamily="18" charset="0"/>
                      </a:rPr>
                      <m:t>5</m:t>
                    </m:r>
                    <m:r>
                      <a:rPr lang="en-US" altLang="zh-CN" sz="2000" i="1" dirty="0">
                        <a:latin typeface="Cambria Math" panose="02040503050406030204" pitchFamily="18" charset="0"/>
                      </a:rPr>
                      <m:t>.</m:t>
                    </m:r>
                    <m:r>
                      <a:rPr lang="en-US" altLang="zh-CN" sz="2000" i="1" dirty="0">
                        <a:latin typeface="Cambria Math" panose="02040503050406030204" pitchFamily="18" charset="0"/>
                      </a:rPr>
                      <m:t>0625</m:t>
                    </m:r>
                    <m:r>
                      <a:rPr lang="en-US" altLang="zh-CN" sz="2000" i="1" dirty="0">
                        <a:latin typeface="Cambria Math" panose="02040503050406030204" pitchFamily="18" charset="0"/>
                      </a:rPr>
                      <m:t>+</m:t>
                    </m:r>
                    <m:f>
                      <m:fPr>
                        <m:ctrlPr>
                          <a:rPr lang="en-US" altLang="zh-CN" sz="2000" i="1" dirty="0" smtClean="0">
                            <a:latin typeface="Cambria Math" panose="02040503050406030204" pitchFamily="18" charset="0"/>
                          </a:rPr>
                        </m:ctrlPr>
                      </m:fPr>
                      <m:num>
                        <m:r>
                          <a:rPr lang="en-US" altLang="zh-CN" sz="2000" i="1" dirty="0">
                            <a:latin typeface="Cambria Math" panose="02040503050406030204" pitchFamily="18" charset="0"/>
                          </a:rPr>
                          <m:t>4</m:t>
                        </m:r>
                        <m:r>
                          <a:rPr lang="zh-CN" altLang="en-US" sz="2000" i="1" dirty="0" smtClean="0">
                            <a:latin typeface="Cambria Math" panose="02040503050406030204" pitchFamily="18" charset="0"/>
                          </a:rPr>
                          <m:t>𝛿</m:t>
                        </m:r>
                      </m:num>
                      <m:den>
                        <m:r>
                          <a:rPr lang="en-US" altLang="zh-CN" sz="2000" i="1" dirty="0">
                            <a:latin typeface="Cambria Math" panose="02040503050406030204" pitchFamily="18" charset="0"/>
                          </a:rPr>
                          <m:t>1</m:t>
                        </m:r>
                        <m:r>
                          <a:rPr lang="en-US" altLang="zh-CN" sz="2000" i="1" dirty="0" smtClean="0">
                            <a:latin typeface="Cambria Math" panose="02040503050406030204" pitchFamily="18" charset="0"/>
                          </a:rPr>
                          <m:t>−</m:t>
                        </m:r>
                        <m:r>
                          <a:rPr lang="zh-CN" altLang="en-US" sz="2000" i="1" dirty="0" smtClean="0">
                            <a:latin typeface="Cambria Math" panose="02040503050406030204" pitchFamily="18" charset="0"/>
                          </a:rPr>
                          <m:t>𝛿</m:t>
                        </m:r>
                      </m:den>
                    </m:f>
                  </m:oMath>
                </a14:m>
                <a:endParaRPr lang="zh-CN" altLang="en-US" sz="2000" i="1" dirty="0" smtClean="0">
                  <a:latin typeface="Cambria Math" panose="02040503050406030204" pitchFamily="18" charset="0"/>
                </a:endParaRPr>
              </a:p>
              <a:p>
                <a:pPr marL="628650" lvl="1" indent="-342900" algn="l" fontAlgn="auto">
                  <a:lnSpc>
                    <a:spcPct val="120000"/>
                  </a:lnSpc>
                  <a:spcBef>
                    <a:spcPts val="0"/>
                  </a:spcBef>
                  <a:spcAft>
                    <a:spcPts val="800"/>
                  </a:spcAft>
                  <a:buSzPct val="100000"/>
                  <a:buFont typeface="Wingdings" panose="05000000000000000000" charset="0"/>
                  <a:buChar char="l"/>
                </a:pPr>
                <a:r>
                  <a:rPr lang="zh-CN" altLang="en-US" sz="2000">
                    <a:sym typeface="+mn-ea"/>
                  </a:rPr>
                  <a:t>当</a:t>
                </a:r>
                <a14:m>
                  <m:oMath xmlns:m="http://schemas.openxmlformats.org/officeDocument/2006/math">
                    <m:sSub>
                      <m:sSubPr>
                        <m:ctrlPr>
                          <a:rPr lang="en-US" altLang="zh-CN" sz="2000" i="1">
                            <a:latin typeface="Cambria Math" panose="02040503050406030204" pitchFamily="18" charset="0"/>
                          </a:rPr>
                        </m:ctrlPr>
                      </m:sSubPr>
                      <m:e>
                        <m:r>
                          <a:rPr lang="zh-CN" altLang="en-US" sz="2000" i="1">
                            <a:latin typeface="Cambria Math" panose="02040503050406030204" pitchFamily="18" charset="0"/>
                          </a:rPr>
                          <m:t>𝜋</m:t>
                        </m:r>
                      </m:e>
                      <m:sub>
                        <m:r>
                          <a:rPr lang="en-US" altLang="zh-CN" sz="2000" i="1">
                            <a:latin typeface="Cambria Math" panose="02040503050406030204" pitchFamily="18" charset="0"/>
                          </a:rPr>
                          <m:t>𝐾</m:t>
                        </m:r>
                      </m:sub>
                    </m:sSub>
                    <m:r>
                      <a:rPr lang="en-US" altLang="zh-CN" sz="2000" i="1" smtClean="0">
                        <a:latin typeface="Cambria Math" panose="02040503050406030204" pitchFamily="18" charset="0"/>
                        <a:ea typeface="Cambria Math" panose="02040503050406030204" pitchFamily="18" charset="0"/>
                        <a:cs typeface="Cambria Math" panose="02040503050406030204" pitchFamily="18" charset="0"/>
                      </a:rPr>
                      <m:t>≥</m:t>
                    </m:r>
                    <m:sSub>
                      <m:sSubPr>
                        <m:ctrlPr>
                          <a:rPr lang="en-US" altLang="zh-CN" sz="2000" i="1" dirty="0">
                            <a:latin typeface="Cambria Math" panose="02040503050406030204" pitchFamily="18" charset="0"/>
                          </a:rPr>
                        </m:ctrlPr>
                      </m:sSubPr>
                      <m:e>
                        <m:r>
                          <a:rPr lang="zh-CN" altLang="en-US" sz="2000" i="1" dirty="0">
                            <a:latin typeface="Cambria Math" panose="02040503050406030204" pitchFamily="18" charset="0"/>
                          </a:rPr>
                          <m:t>𝜋</m:t>
                        </m:r>
                      </m:e>
                      <m:sub>
                        <m:r>
                          <m:rPr>
                            <m:sty m:val="p"/>
                          </m:rPr>
                          <a:rPr lang="en-US" altLang="zh-CN" sz="2000" i="1" dirty="0">
                            <a:latin typeface="Cambria Math" panose="02040503050406030204" pitchFamily="18" charset="0"/>
                          </a:rPr>
                          <m:t>G</m:t>
                        </m:r>
                      </m:sub>
                    </m:sSub>
                    <m:r>
                      <a:rPr lang="en-US" altLang="zh-CN" sz="2000" i="1" dirty="0" smtClean="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4</m:t>
                        </m:r>
                        <m:r>
                          <a:rPr lang="en-US" altLang="zh-CN" sz="2000" i="1">
                            <a:latin typeface="Cambria Math" panose="02040503050406030204" pitchFamily="18" charset="0"/>
                          </a:rPr>
                          <m:t>.</m:t>
                        </m:r>
                        <m:r>
                          <a:rPr lang="en-US" altLang="zh-CN" sz="2000" i="1">
                            <a:latin typeface="Cambria Math" panose="02040503050406030204" pitchFamily="18" charset="0"/>
                          </a:rPr>
                          <m:t>5</m:t>
                        </m:r>
                      </m:num>
                      <m:den>
                        <m:r>
                          <a:rPr lang="en-US" altLang="zh-CN" sz="2000" i="1">
                            <a:latin typeface="Cambria Math" panose="02040503050406030204" pitchFamily="18" charset="0"/>
                          </a:rPr>
                          <m:t>1</m:t>
                        </m:r>
                        <m:r>
                          <a:rPr lang="en-US" altLang="zh-CN" sz="2000" i="1">
                            <a:latin typeface="Cambria Math" panose="02040503050406030204" pitchFamily="18" charset="0"/>
                          </a:rPr>
                          <m:t>−</m:t>
                        </m:r>
                        <m:r>
                          <a:rPr lang="zh-CN" altLang="en-US" sz="2000" i="1">
                            <a:latin typeface="Cambria Math" panose="02040503050406030204" pitchFamily="18" charset="0"/>
                          </a:rPr>
                          <m:t>𝛿</m:t>
                        </m:r>
                      </m:den>
                    </m:f>
                    <m:r>
                      <a:rPr lang="en-US" altLang="zh-CN" sz="200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2000" i="1" dirty="0">
                        <a:latin typeface="Cambria Math" panose="02040503050406030204" pitchFamily="18" charset="0"/>
                      </a:rPr>
                      <m:t>5</m:t>
                    </m:r>
                    <m:r>
                      <a:rPr lang="en-US" altLang="zh-CN" sz="2000" i="1" dirty="0">
                        <a:latin typeface="Cambria Math" panose="02040503050406030204" pitchFamily="18" charset="0"/>
                      </a:rPr>
                      <m:t>.</m:t>
                    </m:r>
                    <m:r>
                      <a:rPr lang="en-US" altLang="zh-CN" sz="2000" i="1" dirty="0">
                        <a:latin typeface="Cambria Math" panose="02040503050406030204" pitchFamily="18" charset="0"/>
                      </a:rPr>
                      <m:t>0625</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4</m:t>
                        </m:r>
                        <m:r>
                          <a:rPr lang="zh-CN" altLang="en-US" sz="2000" i="1" dirty="0">
                            <a:latin typeface="Cambria Math" panose="02040503050406030204" pitchFamily="18" charset="0"/>
                          </a:rPr>
                          <m:t>𝛿</m:t>
                        </m:r>
                      </m:num>
                      <m:den>
                        <m:r>
                          <a:rPr lang="en-US" altLang="zh-CN" sz="2000" i="1" dirty="0">
                            <a:latin typeface="Cambria Math" panose="02040503050406030204" pitchFamily="18" charset="0"/>
                          </a:rPr>
                          <m:t>1</m:t>
                        </m:r>
                        <m:r>
                          <a:rPr lang="en-US" altLang="zh-CN" sz="2000" i="1" dirty="0">
                            <a:latin typeface="Cambria Math" panose="02040503050406030204" pitchFamily="18" charset="0"/>
                          </a:rPr>
                          <m:t>−</m:t>
                        </m:r>
                        <m:r>
                          <a:rPr lang="zh-CN" altLang="en-US" sz="2000" i="1" dirty="0">
                            <a:latin typeface="Cambria Math" panose="02040503050406030204" pitchFamily="18" charset="0"/>
                          </a:rPr>
                          <m:t>𝛿</m:t>
                        </m:r>
                      </m:den>
                    </m:f>
                    <m:r>
                      <a:rPr lang="zh-CN" altLang="en-US" sz="2000" i="1" dirty="0" smtClean="0">
                        <a:latin typeface="Cambria Math" panose="02040503050406030204" pitchFamily="18" charset="0"/>
                      </a:rPr>
                      <m:t>⇔</m:t>
                    </m:r>
                    <m:r>
                      <a:rPr lang="zh-CN" altLang="en-US" sz="2000" i="1" dirty="0" smtClean="0">
                        <a:latin typeface="Cambria Math" panose="02040503050406030204" pitchFamily="18" charset="0"/>
                      </a:rPr>
                      <m:t>𝛿</m:t>
                    </m:r>
                    <m:r>
                      <a:rPr lang="en-US" altLang="zh-CN" sz="2000" i="1" dirty="0" smtClean="0">
                        <a:latin typeface="Cambria Math" panose="02040503050406030204" pitchFamily="18" charset="0"/>
                        <a:ea typeface="Cambria Math" panose="02040503050406030204" pitchFamily="18" charset="0"/>
                        <a:cs typeface="Cambria Math" panose="02040503050406030204" pitchFamily="18" charset="0"/>
                      </a:rPr>
                      <m:t>≥</m:t>
                    </m:r>
                    <m:f>
                      <m:fPr>
                        <m:ctrlPr>
                          <a:rPr lang="en-US" altLang="zh-CN" sz="2000" i="1" dirty="0" smtClean="0">
                            <a:latin typeface="Cambria Math" panose="02040503050406030204" pitchFamily="18" charset="0"/>
                            <a:ea typeface="Cambria Math" panose="02040503050406030204" pitchFamily="18" charset="0"/>
                          </a:rPr>
                        </m:ctrlPr>
                      </m:fPr>
                      <m:num>
                        <m:r>
                          <a:rPr lang="en-US" altLang="zh-CN" sz="2000" b="0" i="1" dirty="0" smtClean="0">
                            <a:latin typeface="Cambria Math" panose="02040503050406030204" pitchFamily="18" charset="0"/>
                            <a:ea typeface="Cambria Math" panose="02040503050406030204" pitchFamily="18" charset="0"/>
                          </a:rPr>
                          <m:t>9</m:t>
                        </m:r>
                      </m:num>
                      <m:den>
                        <m:r>
                          <a:rPr lang="en-US" altLang="zh-CN" sz="2000" b="0" i="1" dirty="0" smtClean="0">
                            <a:latin typeface="Cambria Math" panose="02040503050406030204" pitchFamily="18" charset="0"/>
                            <a:ea typeface="Cambria Math" panose="02040503050406030204" pitchFamily="18" charset="0"/>
                          </a:rPr>
                          <m:t>17</m:t>
                        </m:r>
                      </m:den>
                    </m:f>
                  </m:oMath>
                </a14:m>
                <a:r>
                  <a:rPr lang="zh-CN" altLang="en-US" sz="2000">
                    <a:sym typeface="+mn-ea"/>
                  </a:rPr>
                  <a:t>时，</a:t>
                </a:r>
                <a:r>
                  <a:rPr lang="zh-CN" altLang="en-US" sz="2000">
                    <a:solidFill>
                      <a:srgbClr val="FF0000"/>
                    </a:solidFill>
                    <a:sym typeface="+mn-ea"/>
                  </a:rPr>
                  <a:t>上述触发策略是厂商</a:t>
                </a:r>
                <a:r>
                  <a:rPr lang="en-US" altLang="zh-CN" sz="2000">
                    <a:solidFill>
                      <a:srgbClr val="FF0000"/>
                    </a:solidFill>
                    <a:sym typeface="+mn-ea"/>
                  </a:rPr>
                  <a:t>2</a:t>
                </a:r>
                <a:r>
                  <a:rPr lang="zh-CN" altLang="en-US" sz="2000">
                    <a:solidFill>
                      <a:srgbClr val="FF0000"/>
                    </a:solidFill>
                    <a:sym typeface="+mn-ea"/>
                  </a:rPr>
                  <a:t>对厂商</a:t>
                </a:r>
                <a:r>
                  <a:rPr lang="en-US" altLang="zh-CN" sz="2000">
                    <a:solidFill>
                      <a:srgbClr val="FF0000"/>
                    </a:solidFill>
                    <a:sym typeface="+mn-ea"/>
                  </a:rPr>
                  <a:t>1</a:t>
                </a:r>
                <a:r>
                  <a:rPr lang="zh-CN" altLang="en-US" sz="2000">
                    <a:solidFill>
                      <a:srgbClr val="FF0000"/>
                    </a:solidFill>
                    <a:sym typeface="+mn-ea"/>
                  </a:rPr>
                  <a:t>的触发策略的最佳反应</a:t>
                </a:r>
                <a:r>
                  <a:rPr lang="zh-CN" altLang="en-US" sz="2000">
                    <a:sym typeface="+mn-ea"/>
                  </a:rPr>
                  <a:t>（卡特尔稳定）</a:t>
                </a:r>
                <a:r>
                  <a:rPr lang="zh-CN" altLang="en-US" sz="2000">
                    <a:sym typeface="+mn-ea"/>
                  </a:rPr>
                  <a:t>；否则，偏离是他的最佳反应。</a:t>
                </a:r>
                <a:endParaRPr lang="zh-CN" altLang="en-US" sz="2000">
                  <a:sym typeface="+mn-ea"/>
                </a:endParaRPr>
              </a:p>
              <a:p>
                <a:pPr marL="628650" lvl="1" indent="-342900" algn="l" fontAlgn="auto">
                  <a:lnSpc>
                    <a:spcPct val="120000"/>
                  </a:lnSpc>
                  <a:spcBef>
                    <a:spcPts val="0"/>
                  </a:spcBef>
                  <a:spcAft>
                    <a:spcPts val="80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rPr>
                  <a:t>因此，上述触发策略在整个博弈中构成纳什均衡，意味着在每个子博弈中都构成纳什均衡，因此是子博弈完美纳什均衡。</a:t>
                </a:r>
                <a:endParaRPr lang="zh-CN" altLang="en-US" sz="2000" spc="10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5" name="Title 6"/>
              <p:cNvSpPr txBox="1">
                <a:spLocks noRot="1" noChangeAspect="1" noMove="1" noResize="1" noEditPoints="1" noAdjustHandles="1" noChangeArrowheads="1" noChangeShapeType="1" noTextEdit="1"/>
              </p:cNvSpPr>
              <p:nvPr>
                <p:custDataLst>
                  <p:tags r:id="rId3"/>
                </p:custDataLst>
              </p:nvPr>
            </p:nvSpPr>
            <p:spPr>
              <a:xfrm>
                <a:off x="622935" y="260350"/>
                <a:ext cx="10758805" cy="5699125"/>
              </a:xfrm>
              <a:prstGeom prst="rect">
                <a:avLst/>
              </a:prstGeom>
              <a:blipFill rotWithShape="1">
                <a:blip r:embed="rId4"/>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7" name="组合 6"/>
          <p:cNvGrpSpPr/>
          <p:nvPr/>
        </p:nvGrpSpPr>
        <p:grpSpPr>
          <a:xfrm>
            <a:off x="533400" y="152400"/>
            <a:ext cx="10235565" cy="762000"/>
            <a:chOff x="840" y="240"/>
            <a:chExt cx="13900" cy="1200"/>
          </a:xfrm>
        </p:grpSpPr>
        <p:sp>
          <p:nvSpPr>
            <p:cNvPr id="3" name="文本框 2"/>
            <p:cNvSpPr txBox="1"/>
            <p:nvPr>
              <p:custDataLst>
                <p:tags r:id="rId6"/>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无限次重复古诺模型</a:t>
              </a:r>
              <a:endParaRPr lang="zh-CN" altLang="en-US" sz="2800" dirty="0">
                <a:solidFill>
                  <a:schemeClr val="accent1"/>
                </a:solidFill>
                <a:sym typeface="+mn-ea"/>
              </a:endParaRPr>
            </a:p>
          </p:txBody>
        </p:sp>
        <p:cxnSp>
          <p:nvCxnSpPr>
            <p:cNvPr id="9" name="直接连接符 8"/>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7080" y="981075"/>
            <a:ext cx="3997960" cy="7620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defTabSz="913765" fontAlgn="ctr">
              <a:lnSpc>
                <a:spcPct val="130000"/>
              </a:lnSpc>
              <a:spcBef>
                <a:spcPts val="1000"/>
              </a:spcBef>
              <a:spcAft>
                <a:spcPts val="0"/>
              </a:spcAft>
              <a:buClrTx/>
              <a:buSzTx/>
              <a:buFont typeface="Wingdings" panose="05000000000000000000" charset="0"/>
              <a:buChar char="Ø"/>
            </a:pPr>
            <a:r>
              <a:rPr lang="zh-CN" altLang="en-US" sz="2400" spc="100" dirty="0" smtClean="0">
                <a:ln w="3175">
                  <a:noFill/>
                  <a:prstDash val="dash"/>
                </a:ln>
                <a:solidFill>
                  <a:schemeClr val="dk1">
                    <a:lumMod val="75000"/>
                    <a:lumOff val="25000"/>
                  </a:schemeClr>
                </a:solidFill>
                <a:effectLst/>
                <a:sym typeface="+mn-ea"/>
              </a:rPr>
              <a:t>双寡头的囚徒困境博弈</a:t>
            </a:r>
            <a:endParaRPr lang="zh-CN" altLang="en-US" sz="2400" spc="100" dirty="0" smtClean="0">
              <a:ln w="3175">
                <a:noFill/>
                <a:prstDash val="dash"/>
              </a:ln>
              <a:solidFill>
                <a:schemeClr val="dk1">
                  <a:lumMod val="75000"/>
                  <a:lumOff val="25000"/>
                </a:schemeClr>
              </a:solidFill>
              <a:effectLst/>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graphicFrame>
        <p:nvGraphicFramePr>
          <p:cNvPr id="4" name="表格 3"/>
          <p:cNvGraphicFramePr>
            <a:graphicFrameLocks noGrp="1"/>
          </p:cNvGraphicFramePr>
          <p:nvPr>
            <p:custDataLst>
              <p:tags r:id="rId3"/>
            </p:custDataLst>
          </p:nvPr>
        </p:nvGraphicFramePr>
        <p:xfrm>
          <a:off x="2783840" y="2132965"/>
          <a:ext cx="6949440" cy="3466465"/>
        </p:xfrm>
        <a:graphic>
          <a:graphicData uri="http://schemas.openxmlformats.org/drawingml/2006/table">
            <a:tbl>
              <a:tblPr firstRow="1" bandRow="1">
                <a:tableStyleId>{2D5ABB26-0587-4C30-8999-92F81FD0307C}</a:tableStyleId>
              </a:tblPr>
              <a:tblGrid>
                <a:gridCol w="1440815"/>
                <a:gridCol w="1524000"/>
                <a:gridCol w="1943100"/>
                <a:gridCol w="2041525"/>
              </a:tblGrid>
              <a:tr h="82359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厂商</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814070">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突破</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zh-CN" altLang="en-US" sz="1900" b="1" spc="130">
                          <a:solidFill>
                            <a:srgbClr val="577CCE"/>
                          </a:solidFill>
                          <a:latin typeface="微软雅黑" panose="020B0503020204020204" pitchFamily="34" charset="-122"/>
                          <a:ea typeface="微软雅黑" panose="020B0503020204020204" pitchFamily="34" charset="-122"/>
                        </a:rPr>
                        <a:t>不突破</a:t>
                      </a: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914400">
                <a:tc rowSpan="2">
                  <a:txBody>
                    <a:bodyPr/>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厂商</a:t>
                      </a: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突破</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5.0625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sym typeface="+mn-ea"/>
                        </a:rPr>
                        <a:t>3.375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914400">
                <a:tc vMerge="1">
                  <a:tcPr>
                    <a:lnL>
                      <a:noFill/>
                    </a:lnL>
                    <a:lnR>
                      <a:noFill/>
                    </a:lnR>
                    <a:lnB>
                      <a:noFill/>
                    </a:lnB>
                  </a:tcPr>
                </a:tc>
                <a:tc>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不突破</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dirty="0">
                          <a:latin typeface="Times New Roman" panose="02020603050405020304" pitchFamily="18" charset="0"/>
                          <a:cs typeface="Times New Roman" panose="02020603050405020304" pitchFamily="18" charset="0"/>
                          <a:sym typeface="+mn-ea"/>
                        </a:rPr>
                        <a:t>3.375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5.0625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4.5</a:t>
                      </a:r>
                      <a:r>
                        <a:rPr lang="zh-CN" altLang="en-US"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4.5</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grpSp>
        <p:nvGrpSpPr>
          <p:cNvPr id="7" name="组合 6"/>
          <p:cNvGrpSpPr/>
          <p:nvPr/>
        </p:nvGrpSpPr>
        <p:grpSpPr>
          <a:xfrm>
            <a:off x="533400" y="152400"/>
            <a:ext cx="10235565" cy="762000"/>
            <a:chOff x="840" y="240"/>
            <a:chExt cx="13900" cy="1200"/>
          </a:xfrm>
        </p:grpSpPr>
        <p:sp>
          <p:nvSpPr>
            <p:cNvPr id="8" name="文本框 7"/>
            <p:cNvSpPr txBox="1"/>
            <p:nvPr>
              <p:custDataLst>
                <p:tags r:id="rId4"/>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无限次重复古诺模型</a:t>
              </a:r>
              <a:endParaRPr lang="zh-CN" altLang="en-US" sz="2800" dirty="0">
                <a:solidFill>
                  <a:schemeClr val="accent1"/>
                </a:solidFill>
                <a:sym typeface="+mn-ea"/>
              </a:endParaRPr>
            </a:p>
          </p:txBody>
        </p:sp>
        <p:cxnSp>
          <p:nvCxnSpPr>
            <p:cNvPr id="9" name="直接连接符 8"/>
            <p:cNvCxnSpPr/>
            <p:nvPr>
              <p:custDataLst>
                <p:tags r:id="rId5"/>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Title 6"/>
          <p:cNvSpPr txBox="1"/>
          <p:nvPr>
            <p:custDataLst>
              <p:tags r:id="rId1"/>
            </p:custDataLst>
          </p:nvPr>
        </p:nvSpPr>
        <p:spPr>
          <a:xfrm>
            <a:off x="911225" y="908685"/>
            <a:ext cx="10225405" cy="385064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altLang="zh-CN" sz="2400" b="1" dirty="0" smtClean="0"/>
              <a:t>“</a:t>
            </a:r>
            <a:r>
              <a:rPr lang="zh-CN" altLang="en-US" sz="2400" b="1" dirty="0" smtClean="0"/>
              <a:t>有效工资率</a:t>
            </a:r>
            <a:r>
              <a:rPr altLang="zh-CN" sz="2400" b="1" dirty="0" smtClean="0"/>
              <a:t>”</a:t>
            </a:r>
            <a:r>
              <a:rPr lang="zh-CN" altLang="en-US" sz="2400" b="1" dirty="0" smtClean="0"/>
              <a:t>问题：</a:t>
            </a:r>
            <a:endParaRPr lang="zh-CN" altLang="en-US" sz="2400" b="1" dirty="0" smtClean="0"/>
          </a:p>
          <a:p>
            <a:pPr marL="800100" lvl="1" indent="-34290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对于现代厂商来说，尽可能压低雇员的工资不一定是真精明，根据投入产出总体利益决定工资水平才是科学管理。在发展中国家，较高的工资意味着雇员有较好的营养和生活质量，劳动力质量和劳动效率较高，从而厂商的收益也会增加。在发达国家，较高的工资意味着吸引能力较强的工作人员，或促使工人更加努力工作，也有利于提高厂商的收益。因此厂商既要考虑降低劳动力成本，也要用适当的高薪激励员工努力，必须</a:t>
            </a:r>
            <a:r>
              <a:rPr lang="zh-CN" altLang="en-US" sz="2000" spc="100">
                <a:ln w="3175">
                  <a:noFill/>
                  <a:prstDash val="dash"/>
                </a:ln>
                <a:solidFill>
                  <a:srgbClr val="FF0000"/>
                </a:solidFill>
                <a:latin typeface="Cambria Math" panose="02040503050406030204" pitchFamily="18" charset="0"/>
                <a:ea typeface="微软雅黑" panose="020B0503020204020204" pitchFamily="34" charset="-122"/>
                <a:cs typeface="Cambria Math" panose="02040503050406030204" pitchFamily="18" charset="0"/>
                <a:sym typeface="+mn-ea"/>
              </a:rPr>
              <a:t>在考虑到工人对工资率反应的情况下，确定效率最高的工资水平</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endPar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7" name="组合 6"/>
          <p:cNvGrpSpPr/>
          <p:nvPr/>
        </p:nvGrpSpPr>
        <p:grpSpPr>
          <a:xfrm>
            <a:off x="533400" y="152400"/>
            <a:ext cx="10235565" cy="762000"/>
            <a:chOff x="840" y="240"/>
            <a:chExt cx="13900" cy="1200"/>
          </a:xfrm>
        </p:grpSpPr>
        <p:sp>
          <p:nvSpPr>
            <p:cNvPr id="8" name="文本框 7"/>
            <p:cNvSpPr txBox="1"/>
            <p:nvPr>
              <p:custDataLst>
                <p:tags r:id="rId3"/>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有效工资率</a:t>
              </a:r>
              <a:endParaRPr lang="zh-CN" altLang="en-US" sz="2800" dirty="0">
                <a:solidFill>
                  <a:schemeClr val="accent1"/>
                </a:solidFill>
                <a:sym typeface="+mn-ea"/>
              </a:endParaRPr>
            </a:p>
          </p:txBody>
        </p:sp>
        <p:cxnSp>
          <p:nvCxnSpPr>
            <p:cNvPr id="9" name="直接连接符 8"/>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Title 6"/>
          <p:cNvSpPr txBox="1"/>
          <p:nvPr>
            <p:custDataLst>
              <p:tags r:id="rId1"/>
            </p:custDataLst>
          </p:nvPr>
        </p:nvSpPr>
        <p:spPr>
          <a:xfrm>
            <a:off x="767080" y="1052830"/>
            <a:ext cx="9985375" cy="447992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400" b="1" dirty="0" smtClean="0"/>
              <a:t>模型假设：</a:t>
            </a:r>
            <a:endParaRPr lang="zh-CN" altLang="en-US" sz="2400" b="1" dirty="0" smtClean="0"/>
          </a:p>
          <a:p>
            <a:pPr marL="800100" lvl="1" indent="-34290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首先厂商选择工资率为</a:t>
            </a:r>
            <a:r>
              <a:rPr lang="en-US" alt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w</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，然后工人选择接受或拒绝。若拒绝，则工人当个体户可得到收入</a:t>
            </a:r>
            <a:r>
              <a:rPr lang="en-US" alt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w</a:t>
            </a:r>
            <a:r>
              <a:rPr lang="en-US" altLang="zh-CN" sz="2000" spc="100" baseline="-250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0</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但小于w；若接受</a:t>
            </a:r>
            <a:r>
              <a:rPr lang="en-US" alt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w</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，则工人可选择工作努力（负效用e)或偷懒（无负效用）。</a:t>
            </a:r>
            <a:endPar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800100" lvl="1" indent="-34290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厂商无法看出工人工作是否努力，只能看到产量高低。设高产量为y&gt;0，低产量0。</a:t>
            </a:r>
            <a:endPar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800100" lvl="1" indent="-34290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工人努力工作时一定是高产量y，不努力时却并不一定是0。当工人不努力时获高产量y的概率为p，低产量0的概率为1-p。</a:t>
            </a:r>
            <a:endPar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800100" lvl="1" indent="-34290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工人工作努力时，厂商得益为y-</a:t>
            </a:r>
            <a:r>
              <a:rPr lang="en-US" alt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w</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（假设单位产品价格为</a:t>
            </a:r>
            <a:r>
              <a:rPr lang="en-US" alt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1</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），工人得益为w-e。</a:t>
            </a:r>
            <a:endPar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800100" lvl="1" indent="-34290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工人工作偷懒时，厂商期望得益为py-</a:t>
            </a:r>
            <a:r>
              <a:rPr lang="en-US" alt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w</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lang="en-US" alt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py+0(1-p)-w</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），工人得益为w。</a:t>
            </a:r>
            <a:endParaRPr lang="en-US" alt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7" name="组合 6"/>
          <p:cNvGrpSpPr/>
          <p:nvPr/>
        </p:nvGrpSpPr>
        <p:grpSpPr>
          <a:xfrm>
            <a:off x="533400" y="152400"/>
            <a:ext cx="10235565" cy="762000"/>
            <a:chOff x="840" y="240"/>
            <a:chExt cx="13900" cy="1200"/>
          </a:xfrm>
        </p:grpSpPr>
        <p:sp>
          <p:nvSpPr>
            <p:cNvPr id="8" name="文本框 7"/>
            <p:cNvSpPr txBox="1"/>
            <p:nvPr>
              <p:custDataLst>
                <p:tags r:id="rId3"/>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有效工资率</a:t>
              </a:r>
              <a:endParaRPr lang="zh-CN" altLang="en-US" sz="2800" dirty="0">
                <a:solidFill>
                  <a:schemeClr val="accent1"/>
                </a:solidFill>
                <a:sym typeface="+mn-ea"/>
              </a:endParaRPr>
            </a:p>
          </p:txBody>
        </p:sp>
        <p:cxnSp>
          <p:nvCxnSpPr>
            <p:cNvPr id="9" name="直接连接符 8"/>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Title 6"/>
          <p:cNvSpPr txBox="1"/>
          <p:nvPr>
            <p:custDataLst>
              <p:tags r:id="rId1"/>
            </p:custDataLst>
          </p:nvPr>
        </p:nvSpPr>
        <p:spPr>
          <a:xfrm>
            <a:off x="798195" y="836295"/>
            <a:ext cx="10395585" cy="323786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400" b="1" dirty="0" smtClean="0"/>
              <a:t>一次性博弈：</a:t>
            </a:r>
            <a:endParaRPr lang="zh-CN" altLang="en-US" sz="2400" b="1" dirty="0" smtClean="0"/>
          </a:p>
          <a:p>
            <a:pPr marL="800100" lvl="1" indent="-342900" algn="just" fontAlgn="ctr">
              <a:lnSpc>
                <a:spcPct val="130000"/>
              </a:lnSpc>
              <a:spcBef>
                <a:spcPts val="1000"/>
              </a:spcBef>
              <a:spcAft>
                <a:spcPts val="0"/>
              </a:spcAft>
              <a:buSzPct val="100000"/>
              <a:buFont typeface="Wingdings" panose="05000000000000000000" charset="0"/>
              <a:buChar char="l"/>
            </a:pP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一次性博弈结果肯定不理想。因为厂商通常要预付工资给工人，或者即使发</a:t>
            </a:r>
            <a:r>
              <a:rPr 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觉</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工人不努力也必须支付工资，因此工人没有努力工作的动力，必然会偷懒</a:t>
            </a:r>
            <a:r>
              <a:rPr 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厂商了解工人的这种思路，一般不愿意冒险雇佣肯定不会努力工作的工人（当p较小时，期望利润py</a:t>
            </a:r>
            <a:r>
              <a:rPr 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-w</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常常是负数），必然选择w=0</a:t>
            </a:r>
            <a:r>
              <a:rPr 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工人只能做个体户。如果假设w</a:t>
            </a:r>
            <a:r>
              <a:rPr 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e&gt;</a:t>
            </a:r>
            <a:r>
              <a:rPr lang="en-US" altLang="zh-CN"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w</a:t>
            </a:r>
            <a:r>
              <a:rPr lang="en-US" altLang="zh-CN" sz="2000" spc="100" baseline="-250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0</a:t>
            </a:r>
            <a:r>
              <a:rPr lang="zh-CN" altLang="en-US"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做个体户对工人也是不利的。</a:t>
            </a:r>
            <a:endPar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7" name="组合 6"/>
          <p:cNvGrpSpPr/>
          <p:nvPr/>
        </p:nvGrpSpPr>
        <p:grpSpPr>
          <a:xfrm>
            <a:off x="533400" y="152400"/>
            <a:ext cx="10235565" cy="762000"/>
            <a:chOff x="840" y="240"/>
            <a:chExt cx="13900" cy="1200"/>
          </a:xfrm>
        </p:grpSpPr>
        <p:sp>
          <p:nvSpPr>
            <p:cNvPr id="8" name="文本框 7"/>
            <p:cNvSpPr txBox="1"/>
            <p:nvPr>
              <p:custDataLst>
                <p:tags r:id="rId3"/>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有效工资率</a:t>
              </a:r>
              <a:endParaRPr lang="zh-CN" altLang="en-US" sz="2800" dirty="0">
                <a:solidFill>
                  <a:schemeClr val="accent1"/>
                </a:solidFill>
                <a:sym typeface="+mn-ea"/>
              </a:endParaRPr>
            </a:p>
          </p:txBody>
        </p:sp>
        <p:cxnSp>
          <p:nvCxnSpPr>
            <p:cNvPr id="9" name="直接连接符 8"/>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3" name="Title 6"/>
          <p:cNvSpPr txBox="1"/>
          <p:nvPr>
            <p:custDataLst>
              <p:tags r:id="rId1"/>
            </p:custDataLst>
          </p:nvPr>
        </p:nvSpPr>
        <p:spPr>
          <a:xfrm>
            <a:off x="839470" y="1124585"/>
            <a:ext cx="10297160" cy="323786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400" b="1">
                <a:solidFill>
                  <a:schemeClr val="tx1"/>
                </a:solidFill>
                <a:sym typeface="+mn-ea"/>
              </a:rPr>
              <a:t>无限次重复博弈中，假设厂商已经找到了足以使工人努力工作的</a:t>
            </a:r>
            <a:r>
              <a:rPr lang="zh-CN" altLang="en-US" sz="2400" b="1">
                <a:sym typeface="+mn-ea"/>
              </a:rPr>
              <a:t>最低的</a:t>
            </a:r>
            <a:r>
              <a:rPr lang="zh-CN" altLang="en-US" sz="2400" b="1">
                <a:solidFill>
                  <a:schemeClr val="tx1"/>
                </a:solidFill>
                <a:sym typeface="+mn-ea"/>
              </a:rPr>
              <a:t>工资率</a:t>
            </a:r>
            <a:endParaRPr lang="zh-CN" altLang="en-US" sz="2400" b="1">
              <a:solidFill>
                <a:schemeClr val="tx1"/>
              </a:solidFill>
              <a:sym typeface="+mn-ea"/>
            </a:endParaRPr>
          </a:p>
          <a:p>
            <a:pPr marL="800100" lvl="1" indent="-342900" algn="just" fontAlgn="ctr">
              <a:lnSpc>
                <a:spcPct val="130000"/>
              </a:lnSpc>
              <a:spcBef>
                <a:spcPts val="1000"/>
              </a:spcBef>
              <a:spcAft>
                <a:spcPts val="0"/>
              </a:spcAft>
              <a:buSzPct val="100000"/>
              <a:buFont typeface="Wingdings" panose="05000000000000000000" charset="0"/>
              <a:buChar char="l"/>
            </a:pP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触发策略为：</a:t>
            </a:r>
            <a:endPar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1257300" lvl="2" indent="-342900" algn="just" fontAlgn="ctr">
              <a:lnSpc>
                <a:spcPct val="130000"/>
              </a:lnSpc>
              <a:spcBef>
                <a:spcPts val="1000"/>
              </a:spcBef>
              <a:spcAft>
                <a:spcPts val="0"/>
              </a:spcAft>
              <a:buSzPct val="100000"/>
              <a:buFont typeface="Arial" panose="020B0604020202020204" pitchFamily="34" charset="0"/>
              <a:buChar char="•"/>
            </a:pP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厂商在第一阶段给工资率w</a:t>
            </a:r>
            <a:r>
              <a:rPr 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在第</a:t>
            </a:r>
            <a:r>
              <a:rPr 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阶段，如果前面t-1阶段的结果都是(w</a:t>
            </a:r>
            <a:r>
              <a:rPr 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y)</a:t>
            </a:r>
            <a:r>
              <a:rPr lang="zh-CN"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则继续给w</a:t>
            </a:r>
            <a:r>
              <a:rPr 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lang="zh-CN" altLang="en-US"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否则从此永远是w=0。</a:t>
            </a:r>
            <a:endPar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a:p>
            <a:pPr marL="1257300" lvl="2" indent="-342900" algn="just" fontAlgn="ctr">
              <a:lnSpc>
                <a:spcPct val="130000"/>
              </a:lnSpc>
              <a:spcBef>
                <a:spcPts val="1000"/>
              </a:spcBef>
              <a:spcAft>
                <a:spcPts val="0"/>
              </a:spcAft>
              <a:buSzPct val="100000"/>
              <a:buFont typeface="Arial" panose="020B0604020202020204" pitchFamily="34" charset="0"/>
              <a:buChar char="•"/>
            </a:pP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工人的策略是如果w&gt;</a:t>
            </a:r>
            <a:r>
              <a:rPr lang="en-US" altLang="zh-CN"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w</a:t>
            </a:r>
            <a:r>
              <a:rPr lang="en-US" altLang="zh-CN" sz="2000" spc="100" baseline="-250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0</a:t>
            </a:r>
            <a:r>
              <a:rPr lang="zh-CN" altLang="en-US"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则接受，否则宁愿做个体户，得</a:t>
            </a:r>
            <a:r>
              <a:rPr lang="en-US" altLang="zh-CN"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w</a:t>
            </a:r>
            <a:r>
              <a:rPr lang="en-US" altLang="zh-CN" sz="2000" spc="100" baseline="-250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0</a:t>
            </a:r>
            <a:r>
              <a:rPr lang="zh-CN" altLang="en-US"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并在以前各期结果都是</a:t>
            </a:r>
            <a:r>
              <a:rPr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(w</a:t>
            </a:r>
            <a:r>
              <a:rPr lang="en-US"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a:t>
            </a:r>
            <a:r>
              <a:rPr lang="zh-CN" altLang="en-US"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y)</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和当前工资率为</a:t>
            </a:r>
            <a:r>
              <a:rPr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w</a:t>
            </a:r>
            <a:r>
              <a:rPr lang="en-US"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a:t>
            </a:r>
            <a:r>
              <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rPr>
              <a:t>时努力工作，否则偷懒。</a:t>
            </a:r>
            <a:endParaRPr sz="2000" spc="100">
              <a:ln w="3175">
                <a:noFill/>
                <a:prstDash val="dash"/>
              </a:ln>
              <a:solidFill>
                <a:schemeClr val="tx1"/>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7" name="组合 6"/>
          <p:cNvGrpSpPr/>
          <p:nvPr/>
        </p:nvGrpSpPr>
        <p:grpSpPr>
          <a:xfrm>
            <a:off x="533400" y="152400"/>
            <a:ext cx="10235565" cy="762000"/>
            <a:chOff x="840" y="240"/>
            <a:chExt cx="13900" cy="1200"/>
          </a:xfrm>
        </p:grpSpPr>
        <p:sp>
          <p:nvSpPr>
            <p:cNvPr id="8" name="文本框 7"/>
            <p:cNvSpPr txBox="1"/>
            <p:nvPr>
              <p:custDataLst>
                <p:tags r:id="rId3"/>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有效工资率</a:t>
              </a:r>
              <a:endParaRPr lang="zh-CN" altLang="en-US" sz="2800" dirty="0">
                <a:solidFill>
                  <a:schemeClr val="accent1"/>
                </a:solidFill>
                <a:sym typeface="+mn-ea"/>
              </a:endParaRPr>
            </a:p>
          </p:txBody>
        </p:sp>
        <p:cxnSp>
          <p:nvCxnSpPr>
            <p:cNvPr id="9" name="直接连接符 8"/>
            <p:cNvCxnSpPr/>
            <p:nvPr>
              <p:custDataLst>
                <p:tags r:id="rId4"/>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3" name="Title 6"/>
              <p:cNvSpPr txBox="1"/>
              <p:nvPr>
                <p:custDataLst>
                  <p:tags r:id="rId2"/>
                </p:custDataLst>
              </p:nvPr>
            </p:nvSpPr>
            <p:spPr>
              <a:xfrm>
                <a:off x="1588246" y="1884579"/>
                <a:ext cx="9021857" cy="385084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sym typeface="+mn-ea"/>
                  </a:rPr>
                  <a:t>工人努力工作时无限次重复博弈得益的现值</a:t>
                </a:r>
                <a:endParaRPr lang="zh-CN" altLang="en-US" sz="2000">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sSub>
                      <m:sSubPr>
                        <m:ctrlPr>
                          <a:rPr lang="en-US" altLang="zh-CN" sz="2000" i="1" smtClean="0">
                            <a:solidFill>
                              <a:schemeClr val="tx1"/>
                            </a:solidFill>
                            <a:latin typeface="Cambria Math" panose="02040503050406030204" pitchFamily="18" charset="0"/>
                            <a:cs typeface="Cambria Math" panose="02040503050406030204" pitchFamily="18" charset="0"/>
                          </a:rPr>
                        </m:ctrlPr>
                      </m:sSub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𝑒</m:t>
                        </m:r>
                      </m:sub>
                    </m:sSub>
                    <m:r>
                      <a:rPr lang="en-US" altLang="zh-CN" sz="2000" b="0" i="1" smtClean="0">
                        <a:latin typeface="Cambria Math" panose="02040503050406030204" pitchFamily="18" charset="0"/>
                      </a:rPr>
                      <m:t>=</m:t>
                    </m:r>
                    <m:d>
                      <m:dPr>
                        <m:ctrlPr>
                          <a:rPr lang="en-US" altLang="zh-CN" sz="2000" b="0" i="1" smtClean="0">
                            <a:latin typeface="Cambria Math" panose="02040503050406030204" pitchFamily="18" charset="0"/>
                          </a:rPr>
                        </m:ctrlPr>
                      </m:dPr>
                      <m:e>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𝑤</m:t>
                            </m:r>
                          </m:e>
                          <m:sup>
                            <m:r>
                              <a:rPr lang="en-US" altLang="zh-CN" sz="2000" b="0" i="1" smtClean="0">
                                <a:latin typeface="Cambria Math" panose="02040503050406030204" pitchFamily="18" charset="0"/>
                              </a:rPr>
                              <m:t>∗</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𝑒</m:t>
                        </m:r>
                      </m:e>
                    </m:d>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𝑒</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r>
                              <a:rPr lang="en-US" altLang="zh-CN" sz="2000" i="1">
                                <a:latin typeface="Cambria Math" panose="02040503050406030204" pitchFamily="18" charset="0"/>
                              </a:rPr>
                              <m:t>∗</m:t>
                            </m:r>
                          </m:sup>
                        </m:sSup>
                        <m:r>
                          <a:rPr lang="en-US" altLang="zh-CN" sz="2000" i="1">
                            <a:latin typeface="Cambria Math" panose="02040503050406030204" pitchFamily="18" charset="0"/>
                          </a:rPr>
                          <m:t>−</m:t>
                        </m:r>
                        <m:r>
                          <a:rPr lang="en-US" altLang="zh-CN" sz="2000" i="1">
                            <a:latin typeface="Cambria Math" panose="02040503050406030204" pitchFamily="18" charset="0"/>
                          </a:rPr>
                          <m:t>𝑒</m:t>
                        </m:r>
                      </m:num>
                      <m:den>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den>
                    </m:f>
                  </m:oMath>
                </a14:m>
                <a:endParaRPr lang="zh-CN" altLang="en-US" sz="2000" b="0" i="1" smtClean="0">
                  <a:latin typeface="Cambria Math" panose="02040503050406030204" pitchFamily="18" charset="0"/>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sym typeface="+mn-ea"/>
                  </a:rPr>
                  <a:t>工人偷懒时无限重复博弈得益的现值</a:t>
                </a:r>
                <a:endParaRPr lang="zh-CN" altLang="en-US" sz="2000">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sSub>
                      <m:sSubPr>
                        <m:ctrlPr>
                          <a:rPr lang="en-US" altLang="zh-CN" sz="2000" i="1" smtClean="0">
                            <a:solidFill>
                              <a:schemeClr val="tx1"/>
                            </a:solidFill>
                            <a:latin typeface="Cambria Math" panose="02040503050406030204" pitchFamily="18" charset="0"/>
                            <a:cs typeface="Cambria Math" panose="02040503050406030204" pitchFamily="18" charset="0"/>
                          </a:rPr>
                        </m:ctrlPr>
                      </m:sSub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𝑠</m:t>
                        </m:r>
                      </m:sub>
                    </m:sSub>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𝑤</m:t>
                        </m:r>
                      </m:e>
                      <m:sup>
                        <m:r>
                          <a:rPr lang="en-US" altLang="zh-CN" sz="2000" b="0" i="1" smtClean="0">
                            <a:latin typeface="Cambria Math" panose="02040503050406030204" pitchFamily="18" charset="0"/>
                          </a:rPr>
                          <m:t>∗</m:t>
                        </m:r>
                      </m:sup>
                    </m:sSup>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𝑝</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𝑠</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e>
                            </m:d>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b="0" i="1" smtClean="0">
                                    <a:latin typeface="Cambria Math" panose="02040503050406030204" pitchFamily="18" charset="0"/>
                                  </a:rPr>
                                  <m:t>0</m:t>
                                </m:r>
                              </m:sub>
                            </m:sSub>
                          </m:num>
                          <m:den>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den>
                        </m:f>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d>
                          <m:dPr>
                            <m:begChr m:val="["/>
                            <m:endChr m:val="]"/>
                            <m:ctrlPr>
                              <a:rPr lang="en-US" altLang="zh-CN" sz="2000" b="0" i="1" smtClean="0">
                                <a:latin typeface="Cambria Math" panose="02040503050406030204" pitchFamily="18" charset="0"/>
                              </a:rPr>
                            </m:ctrlPr>
                          </m:dPr>
                          <m:e>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e>
                            </m:d>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𝑤</m:t>
                                </m:r>
                              </m:e>
                              <m:sup>
                                <m:r>
                                  <a:rPr lang="en-US" altLang="zh-CN" sz="2000" b="0" i="1" smtClean="0">
                                    <a:latin typeface="Cambria Math" panose="02040503050406030204" pitchFamily="18" charset="0"/>
                                  </a:rPr>
                                  <m:t>∗</m:t>
                                </m:r>
                              </m:sup>
                            </m:sSup>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e>
                            </m:d>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b="0" i="1" smtClean="0">
                                    <a:latin typeface="Cambria Math" panose="02040503050406030204" pitchFamily="18" charset="0"/>
                                  </a:rPr>
                                  <m:t>0</m:t>
                                </m:r>
                              </m:sub>
                            </m:sSub>
                          </m:e>
                        </m:d>
                      </m:num>
                      <m:den>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r>
                              <a:rPr lang="en-US" altLang="zh-CN" sz="2000" b="0" i="1" smtClean="0">
                                <a:latin typeface="Cambria Math" panose="02040503050406030204" pitchFamily="18" charset="0"/>
                              </a:rPr>
                              <m:t>𝑝</m:t>
                            </m:r>
                          </m:e>
                        </m:d>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e>
                        </m:d>
                      </m:den>
                    </m:f>
                  </m:oMath>
                </a14:m>
                <a:endParaRPr lang="zh-CN" altLang="en-US" sz="2000" b="0" i="1" smtClean="0">
                  <a:latin typeface="Cambria Math" panose="02040503050406030204" pitchFamily="18" charset="0"/>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solidFill>
                      <a:schemeClr val="tx1"/>
                    </a:solidFill>
                    <a:latin typeface="Cambria Math" panose="02040503050406030204" pitchFamily="18" charset="0"/>
                  </a:rPr>
                  <a:t>当</a:t>
                </a:r>
                <a:r>
                  <a:rPr altLang="zh-CN" sz="2000" i="1">
                    <a:solidFill>
                      <a:schemeClr val="tx1"/>
                    </a:solidFill>
                    <a:latin typeface="Cambria Math" panose="02040503050406030204" pitchFamily="18" charset="0"/>
                  </a:rPr>
                  <a:t>V</a:t>
                </a:r>
                <a:r>
                  <a:rPr altLang="zh-CN" sz="2000" i="1" baseline="-25000">
                    <a:solidFill>
                      <a:schemeClr val="tx1"/>
                    </a:solidFill>
                    <a:latin typeface="Cambria Math" panose="02040503050406030204" pitchFamily="18" charset="0"/>
                  </a:rPr>
                  <a:t>e</a:t>
                </a:r>
                <a:r>
                  <a:rPr altLang="zh-CN" sz="2000" i="1">
                    <a:solidFill>
                      <a:schemeClr val="tx1"/>
                    </a:solidFill>
                    <a:latin typeface="Cambria Math" panose="02040503050406030204" pitchFamily="18" charset="0"/>
                  </a:rPr>
                  <a:t>≥V</a:t>
                </a:r>
                <a:r>
                  <a:rPr altLang="zh-CN" sz="2000" i="1" baseline="-25000">
                    <a:solidFill>
                      <a:schemeClr val="tx1"/>
                    </a:solidFill>
                    <a:latin typeface="Cambria Math" panose="02040503050406030204" pitchFamily="18" charset="0"/>
                  </a:rPr>
                  <a:t>s</a:t>
                </a:r>
                <a:r>
                  <a:rPr lang="zh-CN" altLang="en-US" sz="2000">
                    <a:solidFill>
                      <a:schemeClr val="tx1"/>
                    </a:solidFill>
                    <a:latin typeface="Cambria Math" panose="02040503050406030204" pitchFamily="18" charset="0"/>
                  </a:rPr>
                  <a:t>时，工人选择努力工作</a:t>
                </a:r>
                <a:endParaRPr lang="en-US" altLang="zh-CN" sz="2000" i="1">
                  <a:solidFill>
                    <a:schemeClr val="tx1"/>
                  </a:solidFill>
                  <a:latin typeface="Cambria Math" panose="02040503050406030204" pitchFamily="18" charset="0"/>
                </a:endParaRPr>
              </a:p>
              <a:p>
                <a:pPr marL="800100" lvl="1" indent="-342900" algn="just"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𝑒</m:t>
                        </m:r>
                      </m:sub>
                    </m:sSub>
                    <m:r>
                      <a:rPr lang="en-US" altLang="zh-CN" sz="2000" i="1">
                        <a:latin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𝑠</m:t>
                        </m:r>
                      </m:sub>
                    </m:sSub>
                    <m:r>
                      <a:rPr lang="en-US" altLang="zh-CN" sz="2000" i="1" smtClean="0">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r>
                          <a:rPr lang="en-US" altLang="zh-CN" sz="2000" i="1">
                            <a:latin typeface="Cambria Math" panose="02040503050406030204" pitchFamily="18" charset="0"/>
                          </a:rPr>
                          <m:t>∗</m:t>
                        </m:r>
                      </m:sup>
                    </m:sSup>
                    <m:r>
                      <a:rPr lang="en-US" altLang="zh-CN" sz="2000" i="1" smtClean="0">
                        <a:latin typeface="Cambria Math" panose="02040503050406030204" pitchFamily="18" charset="0"/>
                        <a:ea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0</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𝑒</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e>
                        </m:d>
                        <m:r>
                          <a:rPr lang="en-US" altLang="zh-CN" sz="2000" b="0" i="1" smtClean="0">
                            <a:latin typeface="Cambria Math" panose="02040503050406030204" pitchFamily="18" charset="0"/>
                          </a:rPr>
                          <m:t>𝑒</m:t>
                        </m:r>
                      </m:num>
                      <m:den>
                        <m:r>
                          <a:rPr lang="zh-CN" altLang="en-US" sz="2000" b="0" i="1" smtClean="0">
                            <a:latin typeface="Cambria Math" panose="02040503050406030204" pitchFamily="18" charset="0"/>
                          </a:rPr>
                          <m:t>𝛿</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e>
                        </m:d>
                      </m:den>
                    </m:f>
                  </m:oMath>
                </a14:m>
                <a:r>
                  <a:rPr lang="en-US" altLang="zh-CN" sz="2000" dirty="0" smtClean="0"/>
                  <a:t>   </a:t>
                </a:r>
                <a:endParaRPr lang="en-US" altLang="zh-CN" sz="2000" dirty="0" smtClean="0"/>
              </a:p>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2000" spc="10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3" name="Title 6"/>
              <p:cNvSpPr txBox="1">
                <a:spLocks noRot="1" noChangeAspect="1" noMove="1" noResize="1" noEditPoints="1" noAdjustHandles="1" noChangeArrowheads="1" noChangeShapeType="1" noTextEdit="1"/>
              </p:cNvSpPr>
              <p:nvPr>
                <p:custDataLst>
                  <p:tags r:id="rId3"/>
                </p:custDataLst>
              </p:nvPr>
            </p:nvSpPr>
            <p:spPr>
              <a:xfrm>
                <a:off x="1588246" y="1884579"/>
                <a:ext cx="9021857" cy="3850842"/>
              </a:xfrm>
              <a:prstGeom prst="rect">
                <a:avLst/>
              </a:prstGeom>
              <a:blipFill rotWithShape="1">
                <a:blip r:embed="rId4"/>
                <a:stretch>
                  <a:fillRect l="-1" t="-4433" r="6" b="-4433"/>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7" name="组合 6"/>
          <p:cNvGrpSpPr/>
          <p:nvPr/>
        </p:nvGrpSpPr>
        <p:grpSpPr>
          <a:xfrm>
            <a:off x="533400" y="152400"/>
            <a:ext cx="10235565" cy="762000"/>
            <a:chOff x="840" y="240"/>
            <a:chExt cx="13900" cy="1200"/>
          </a:xfrm>
        </p:grpSpPr>
        <p:sp>
          <p:nvSpPr>
            <p:cNvPr id="8" name="文本框 7"/>
            <p:cNvSpPr txBox="1"/>
            <p:nvPr>
              <p:custDataLst>
                <p:tags r:id="rId6"/>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有效工资率</a:t>
              </a:r>
              <a:endParaRPr lang="zh-CN" altLang="en-US" sz="2800" dirty="0">
                <a:solidFill>
                  <a:schemeClr val="accent1"/>
                </a:solidFill>
                <a:sym typeface="+mn-ea"/>
              </a:endParaRPr>
            </a:p>
          </p:txBody>
        </p:sp>
        <p:cxnSp>
          <p:nvCxnSpPr>
            <p:cNvPr id="9" name="直接连接符 8"/>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 name="Title 6"/>
          <p:cNvSpPr txBox="1"/>
          <p:nvPr>
            <p:custDataLst>
              <p:tags r:id="rId8"/>
            </p:custDataLst>
          </p:nvPr>
        </p:nvSpPr>
        <p:spPr>
          <a:xfrm>
            <a:off x="839470" y="836930"/>
            <a:ext cx="10297160" cy="94678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400" b="1">
                <a:sym typeface="+mn-ea"/>
              </a:rPr>
              <a:t>设厂商已采用上述触发策略</a:t>
            </a:r>
            <a:endParaRPr lang="zh-CN" altLang="en-US" sz="2400" b="1">
              <a:solidFill>
                <a:schemeClr val="tx1"/>
              </a:solidFill>
              <a:sym typeface="+mn-ea"/>
            </a:endParaRPr>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3" name="Title 6"/>
              <p:cNvSpPr txBox="1"/>
              <p:nvPr>
                <p:custDataLst>
                  <p:tags r:id="rId2"/>
                </p:custDataLst>
              </p:nvPr>
            </p:nvSpPr>
            <p:spPr>
              <a:xfrm>
                <a:off x="1588246" y="1884579"/>
                <a:ext cx="9021857" cy="385084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0" smtClean="0">
                    <a:latin typeface="Cambria Math" panose="02040503050406030204" pitchFamily="18" charset="0"/>
                  </a:rPr>
                  <a:t>如果厂商给工资率</a:t>
                </a:r>
                <a:r>
                  <a:rPr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w*</a:t>
                </a:r>
                <a:r>
                  <a:rPr lang="zh-CN" altLang="en-US"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，则各阶段得益为：</a:t>
                </a:r>
                <a:r>
                  <a:rPr altLang="zh-CN"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y-</a:t>
                </a:r>
                <a:r>
                  <a:rPr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w*</a:t>
                </a:r>
                <a:endParaRPr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sym typeface="+mn-ea"/>
                  </a:rPr>
                  <a:t>无限次重复博弈得益现值为：(y-</a:t>
                </a:r>
                <a:r>
                  <a:rPr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w*</a:t>
                </a:r>
                <a:r>
                  <a:rPr lang="zh-CN" altLang="en-US" sz="2000">
                    <a:sym typeface="+mn-ea"/>
                  </a:rPr>
                  <a:t>)</a:t>
                </a:r>
                <a:r>
                  <a:rPr altLang="zh-CN" sz="2000">
                    <a:sym typeface="+mn-ea"/>
                  </a:rPr>
                  <a:t>/</a:t>
                </a:r>
                <a:r>
                  <a:rPr lang="zh-CN" altLang="en-US" sz="2000">
                    <a:sym typeface="+mn-ea"/>
                  </a:rPr>
                  <a:t>(1-</a:t>
                </a:r>
                <a14:m>
                  <m:oMath xmlns:m="http://schemas.openxmlformats.org/officeDocument/2006/math">
                    <m:r>
                      <a:rPr lang="zh-CN" altLang="en-US" sz="2000" i="1" smtClean="0">
                        <a:latin typeface="Cambria Math" panose="02040503050406030204" pitchFamily="18" charset="0"/>
                      </a:rPr>
                      <m:t>𝛿</m:t>
                    </m:r>
                  </m:oMath>
                </a14:m>
                <a:r>
                  <a:rPr lang="zh-CN" altLang="en-US" sz="2000">
                    <a:sym typeface="+mn-ea"/>
                  </a:rPr>
                  <a:t>)。</a:t>
                </a:r>
                <a:endParaRPr lang="zh-CN" altLang="en-US" sz="2000">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sym typeface="+mn-ea"/>
                  </a:rPr>
                  <a:t>如果厂商不愿给</a:t>
                </a:r>
                <a:r>
                  <a:rPr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w*</a:t>
                </a:r>
                <a:r>
                  <a:rPr lang="zh-CN" altLang="en-US" sz="2000" spc="100">
                    <a:ln w="3175">
                      <a:noFill/>
                      <a:prstDash val="dash"/>
                    </a:ln>
                    <a:latin typeface="Cambria Math" panose="02040503050406030204" pitchFamily="18" charset="0"/>
                    <a:ea typeface="微软雅黑" panose="020B0503020204020204" pitchFamily="34" charset="-122"/>
                    <a:cs typeface="Cambria Math" panose="02040503050406030204" pitchFamily="18" charset="0"/>
                    <a:sym typeface="+mn-ea"/>
                  </a:rPr>
                  <a:t>，</a:t>
                </a:r>
                <a:r>
                  <a:rPr lang="zh-CN" altLang="en-US" sz="2000">
                    <a:sym typeface="+mn-ea"/>
                  </a:rPr>
                  <a:t>而解雇工人，则厂商得益为0。</a:t>
                </a:r>
                <a:endParaRPr lang="zh-CN" altLang="en-US" sz="2000">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sym typeface="+mn-ea"/>
                  </a:rPr>
                  <a:t>因此只要</a:t>
                </a:r>
                <a14:m>
                  <m:oMath xmlns:m="http://schemas.openxmlformats.org/officeDocument/2006/math">
                    <m:r>
                      <a:rPr lang="en-US" altLang="zh-CN" sz="2000" b="0" i="1" smtClean="0">
                        <a:latin typeface="Cambria Math" panose="02040503050406030204" pitchFamily="18" charset="0"/>
                      </a:rPr>
                      <m:t>𝑦</m:t>
                    </m:r>
                    <m:r>
                      <a:rPr lang="en-US" altLang="zh-CN" sz="2000" b="0" i="1" smtClean="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r>
                          <a:rPr lang="en-US" altLang="zh-CN" sz="2000" i="1">
                            <a:latin typeface="Cambria Math" panose="02040503050406030204" pitchFamily="18" charset="0"/>
                          </a:rPr>
                          <m:t>∗</m:t>
                        </m:r>
                      </m:sup>
                    </m:sSup>
                    <m:r>
                      <a:rPr lang="en-US" altLang="zh-CN" sz="200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oMath>
                </a14:m>
                <a:r>
                  <a:rPr lang="zh-CN" altLang="en-US" sz="2000" smtClean="0">
                    <a:latin typeface="Cambria Math" panose="02040503050406030204" pitchFamily="18" charset="0"/>
                    <a:ea typeface="宋体" panose="02010600030101010101" pitchFamily="2" charset="-122"/>
                  </a:rPr>
                  <a:t>，</a:t>
                </a:r>
                <a:r>
                  <a:rPr lang="zh-CN" altLang="en-US" sz="2000">
                    <a:sym typeface="+mn-ea"/>
                  </a:rPr>
                  <a:t>厂商选择触发策略就是对工人触发策略的最佳反应。</a:t>
                </a:r>
                <a:endParaRPr lang="zh-CN" altLang="en-US" sz="2000">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r>
                      <a:rPr lang="en-US" altLang="zh-CN" sz="2000" b="0" i="1" smtClean="0">
                        <a:solidFill>
                          <a:schemeClr val="tx1"/>
                        </a:solidFill>
                        <a:latin typeface="Cambria Math" panose="02040503050406030204" pitchFamily="18" charset="0"/>
                        <a:cs typeface="Cambria Math" panose="02040503050406030204" pitchFamily="18" charset="0"/>
                      </a:rPr>
                      <m:t>𝑦</m:t>
                    </m:r>
                    <m:r>
                      <a:rPr lang="en-US" altLang="zh-CN" sz="2000" b="0" i="1" smtClean="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r>
                          <a:rPr lang="en-US" altLang="zh-CN" sz="2000" i="1">
                            <a:latin typeface="Cambria Math" panose="02040503050406030204" pitchFamily="18" charset="0"/>
                          </a:rPr>
                          <m:t>∗</m:t>
                        </m:r>
                      </m:sup>
                    </m:sSup>
                    <m:r>
                      <a:rPr lang="en-US" altLang="zh-CN" sz="200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𝑦</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𝑒</m:t>
                    </m:r>
                    <m:r>
                      <a:rPr lang="en-US" altLang="zh-CN" sz="2000" b="0" i="1" smtClean="0">
                        <a:latin typeface="Cambria Math" panose="02040503050406030204" pitchFamily="18" charset="0"/>
                        <a:ea typeface="Cambria Math" panose="02040503050406030204" pitchFamily="18" charset="0"/>
                      </a:rPr>
                      <m:t>&gt;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r>
                              <a:rPr lang="en-US" altLang="zh-CN" sz="2000" i="1">
                                <a:latin typeface="Cambria Math" panose="02040503050406030204" pitchFamily="18" charset="0"/>
                              </a:rPr>
                              <m:t>−</m:t>
                            </m:r>
                            <m:r>
                              <a:rPr lang="zh-CN" altLang="en-US" sz="2000" i="1">
                                <a:latin typeface="Cambria Math" panose="02040503050406030204" pitchFamily="18" charset="0"/>
                              </a:rPr>
                              <m:t>𝛿</m:t>
                            </m:r>
                          </m:e>
                        </m:d>
                        <m:r>
                          <a:rPr lang="en-US" altLang="zh-CN" sz="2000" i="1">
                            <a:latin typeface="Cambria Math" panose="02040503050406030204" pitchFamily="18" charset="0"/>
                          </a:rPr>
                          <m:t>𝑒</m:t>
                        </m:r>
                      </m:num>
                      <m:den>
                        <m:r>
                          <a:rPr lang="zh-CN" altLang="en-US" sz="2000" i="1">
                            <a:latin typeface="Cambria Math" panose="02040503050406030204" pitchFamily="18" charset="0"/>
                          </a:rPr>
                          <m:t>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r>
                              <a:rPr lang="en-US" altLang="zh-CN" sz="2000" i="1">
                                <a:latin typeface="Cambria Math" panose="02040503050406030204" pitchFamily="18" charset="0"/>
                              </a:rPr>
                              <m:t>−</m:t>
                            </m:r>
                            <m:r>
                              <a:rPr lang="en-US" altLang="zh-CN" sz="2000" i="1">
                                <a:latin typeface="Cambria Math" panose="02040503050406030204" pitchFamily="18" charset="0"/>
                              </a:rPr>
                              <m:t>𝑝</m:t>
                            </m:r>
                          </m:e>
                        </m:d>
                      </m:den>
                    </m:f>
                  </m:oMath>
                </a14:m>
                <a:endParaRPr lang="zh-CN" altLang="en-US" sz="2000" spc="10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3" name="Title 6"/>
              <p:cNvSpPr txBox="1">
                <a:spLocks noRot="1" noChangeAspect="1" noMove="1" noResize="1" noEditPoints="1" noAdjustHandles="1" noChangeArrowheads="1" noChangeShapeType="1" noTextEdit="1"/>
              </p:cNvSpPr>
              <p:nvPr>
                <p:custDataLst>
                  <p:tags r:id="rId3"/>
                </p:custDataLst>
              </p:nvPr>
            </p:nvSpPr>
            <p:spPr>
              <a:xfrm>
                <a:off x="1588246" y="1884579"/>
                <a:ext cx="9021857" cy="3850842"/>
              </a:xfrm>
              <a:prstGeom prst="rect">
                <a:avLst/>
              </a:prstGeom>
              <a:blipFill rotWithShape="1">
                <a:blip r:embed="rId4"/>
                <a:stretch>
                  <a:fillRect l="-1" t="-14" r="6" b="3"/>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7" name="组合 6"/>
          <p:cNvGrpSpPr/>
          <p:nvPr/>
        </p:nvGrpSpPr>
        <p:grpSpPr>
          <a:xfrm>
            <a:off x="533400" y="152400"/>
            <a:ext cx="10235565" cy="762000"/>
            <a:chOff x="840" y="240"/>
            <a:chExt cx="13900" cy="1200"/>
          </a:xfrm>
        </p:grpSpPr>
        <p:sp>
          <p:nvSpPr>
            <p:cNvPr id="8" name="文本框 7"/>
            <p:cNvSpPr txBox="1"/>
            <p:nvPr>
              <p:custDataLst>
                <p:tags r:id="rId6"/>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有效工资率</a:t>
              </a:r>
              <a:endParaRPr lang="zh-CN" altLang="en-US" sz="2800" dirty="0">
                <a:solidFill>
                  <a:schemeClr val="accent1"/>
                </a:solidFill>
                <a:sym typeface="+mn-ea"/>
              </a:endParaRPr>
            </a:p>
          </p:txBody>
        </p:sp>
        <p:cxnSp>
          <p:nvCxnSpPr>
            <p:cNvPr id="9" name="直接连接符 8"/>
            <p:cNvCxnSpPr/>
            <p:nvPr>
              <p:custDataLst>
                <p:tags r:id="rId7"/>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 name="Title 6"/>
          <p:cNvSpPr txBox="1"/>
          <p:nvPr>
            <p:custDataLst>
              <p:tags r:id="rId8"/>
            </p:custDataLst>
          </p:nvPr>
        </p:nvSpPr>
        <p:spPr>
          <a:xfrm>
            <a:off x="839470" y="836930"/>
            <a:ext cx="10297160" cy="94678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400" b="1">
                <a:sym typeface="+mn-ea"/>
              </a:rPr>
              <a:t>设工人已采用上述触发策略</a:t>
            </a:r>
            <a:endParaRPr lang="zh-CN" altLang="en-US" sz="2400" b="1">
              <a:solidFill>
                <a:schemeClr val="tx1"/>
              </a:solidFill>
              <a:sym typeface="+mn-ea"/>
            </a:endParaRPr>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7" name="组合 6"/>
          <p:cNvGrpSpPr/>
          <p:nvPr/>
        </p:nvGrpSpPr>
        <p:grpSpPr>
          <a:xfrm>
            <a:off x="533400" y="152400"/>
            <a:ext cx="10235565" cy="762000"/>
            <a:chOff x="840" y="240"/>
            <a:chExt cx="13900" cy="1200"/>
          </a:xfrm>
        </p:grpSpPr>
        <p:sp>
          <p:nvSpPr>
            <p:cNvPr id="8" name="文本框 7"/>
            <p:cNvSpPr txBox="1"/>
            <p:nvPr>
              <p:custDataLst>
                <p:tags r:id="rId2"/>
              </p:custDataLst>
            </p:nvPr>
          </p:nvSpPr>
          <p:spPr>
            <a:xfrm>
              <a:off x="1200" y="240"/>
              <a:ext cx="1354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无限次重复博弈：</a:t>
              </a:r>
              <a:r>
                <a:rPr lang="zh-CN" altLang="en-US" sz="2800" dirty="0">
                  <a:solidFill>
                    <a:schemeClr val="accent1"/>
                  </a:solidFill>
                  <a:sym typeface="+mn-ea"/>
                </a:rPr>
                <a:t>有效工资率</a:t>
              </a:r>
              <a:endParaRPr lang="zh-CN" altLang="en-US" sz="2800" dirty="0">
                <a:solidFill>
                  <a:schemeClr val="accent1"/>
                </a:solidFill>
                <a:sym typeface="+mn-ea"/>
              </a:endParaRPr>
            </a:p>
          </p:txBody>
        </p:sp>
        <p:cxnSp>
          <p:nvCxnSpPr>
            <p:cNvPr id="9" name="直接连接符 8"/>
            <p:cNvCxnSpPr/>
            <p:nvPr>
              <p:custDataLst>
                <p:tags r:id="rId3"/>
              </p:custDataLst>
            </p:nvPr>
          </p:nvCxnSpPr>
          <p:spPr>
            <a:xfrm>
              <a:off x="840" y="480"/>
              <a:ext cx="0" cy="720"/>
            </a:xfrm>
            <a:prstGeom prst="line">
              <a:avLst/>
            </a:prstGeom>
            <a:ln w="1016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1343025" y="1503680"/>
            <a:ext cx="9022080" cy="3850640"/>
            <a:chOff x="2501" y="2968"/>
            <a:chExt cx="14208" cy="6064"/>
          </a:xfrm>
        </p:grpSpPr>
        <mc:AlternateContent xmlns:mc="http://schemas.openxmlformats.org/markup-compatibility/2006">
          <mc:Choice xmlns:a14="http://schemas.microsoft.com/office/drawing/2010/main" Requires="a14">
            <p:sp>
              <p:nvSpPr>
                <p:cNvPr id="13" name="Title 6"/>
                <p:cNvSpPr txBox="1"/>
                <p:nvPr>
                  <p:custDataLst>
                    <p:tags r:id="rId4"/>
                  </p:custDataLst>
                </p:nvPr>
              </p:nvSpPr>
              <p:spPr>
                <a:xfrm>
                  <a:off x="2501" y="2968"/>
                  <a:ext cx="14208" cy="6064"/>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latin typeface="Cambria Math" panose="02040503050406030204" pitchFamily="18" charset="0"/>
                    </a:rPr>
                    <a:t>满足</a:t>
                  </a:r>
                  <a:endParaRPr lang="zh-CN" altLang="en-US" sz="2000">
                    <a:latin typeface="Cambria Math" panose="02040503050406030204" pitchFamily="18" charset="0"/>
                  </a:endParaRPr>
                </a:p>
                <a:p>
                  <a:pPr marL="800100" lvl="1" indent="-342900" algn="just"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𝑒</m:t>
                          </m:r>
                        </m:sub>
                      </m:sSub>
                      <m:r>
                        <a:rPr lang="en-US" altLang="zh-CN" sz="2000" i="1" smtClean="0">
                          <a:latin typeface="Cambria Math" panose="02040503050406030204" pitchFamily="18" charset="0"/>
                          <a:ea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𝑠</m:t>
                          </m:r>
                        </m:sub>
                      </m:sSub>
                      <m:r>
                        <a:rPr lang="en-US" altLang="zh-CN" sz="2000" i="1" smtClean="0">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r>
                            <a:rPr lang="en-US" altLang="zh-CN" sz="2000" i="1">
                              <a:latin typeface="Cambria Math" panose="02040503050406030204" pitchFamily="18" charset="0"/>
                            </a:rPr>
                            <m:t>∗</m:t>
                          </m:r>
                        </m:sup>
                      </m:sSup>
                      <m:r>
                        <a:rPr lang="en-US" altLang="zh-CN" sz="2000" i="1" smtClean="0">
                          <a:latin typeface="Cambria Math" panose="02040503050406030204" pitchFamily="18" charset="0"/>
                          <a:ea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0</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𝑒</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𝛿</m:t>
                              </m:r>
                            </m:e>
                          </m:d>
                          <m:r>
                            <a:rPr lang="en-US" altLang="zh-CN" sz="2000" b="0" i="1" smtClean="0">
                              <a:latin typeface="Cambria Math" panose="02040503050406030204" pitchFamily="18" charset="0"/>
                            </a:rPr>
                            <m:t>𝑒</m:t>
                          </m:r>
                        </m:num>
                        <m:den>
                          <m:r>
                            <a:rPr lang="zh-CN" altLang="en-US" sz="2000" b="0" i="1" smtClean="0">
                              <a:latin typeface="Cambria Math" panose="02040503050406030204" pitchFamily="18" charset="0"/>
                            </a:rPr>
                            <m:t>𝛿</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𝑝</m:t>
                              </m:r>
                            </m:e>
                          </m:d>
                        </m:den>
                      </m:f>
                    </m:oMath>
                  </a14:m>
                  <a:endParaRPr lang="en-US" altLang="zh-CN" sz="2000" b="0" i="1" smtClean="0">
                    <a:latin typeface="Cambria Math" panose="02040503050406030204" pitchFamily="18" charset="0"/>
                  </a:endParaRPr>
                </a:p>
                <a:p>
                  <a:pPr marL="800100" lvl="1" indent="-342900" algn="just" fontAlgn="ctr">
                    <a:lnSpc>
                      <a:spcPct val="130000"/>
                    </a:lnSpc>
                    <a:spcBef>
                      <a:spcPts val="1000"/>
                    </a:spcBef>
                    <a:spcAft>
                      <a:spcPts val="0"/>
                    </a:spcAft>
                    <a:buSzPct val="100000"/>
                    <a:buFont typeface="Arial" panose="020B0604020202020204" pitchFamily="34" charset="0"/>
                    <a:buChar char="•"/>
                  </a:pPr>
                  <a14:m>
                    <m:oMath xmlns:m="http://schemas.openxmlformats.org/officeDocument/2006/math">
                      <m:r>
                        <a:rPr lang="en-US" altLang="zh-CN" sz="2000" b="0" i="1" smtClean="0">
                          <a:latin typeface="Cambria Math" panose="02040503050406030204" pitchFamily="18" charset="0"/>
                        </a:rPr>
                        <m:t>𝑦</m:t>
                      </m:r>
                      <m:r>
                        <a:rPr lang="en-US" altLang="zh-CN" sz="2000" b="0" i="1" smtClean="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𝑤</m:t>
                          </m:r>
                        </m:e>
                        <m:sup>
                          <m:r>
                            <a:rPr lang="en-US" altLang="zh-CN" sz="2000" i="1">
                              <a:latin typeface="Cambria Math" panose="02040503050406030204" pitchFamily="18" charset="0"/>
                            </a:rPr>
                            <m:t>∗</m:t>
                          </m:r>
                        </m:sup>
                      </m:sSup>
                      <m:r>
                        <a:rPr lang="en-US" altLang="zh-CN" sz="200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oMath>
                  </a14:m>
                  <a:endParaRPr lang="en-US" altLang="zh-CN" sz="2000" b="0" i="1" smtClean="0">
                    <a:latin typeface="Cambria Math" panose="02040503050406030204" pitchFamily="18" charset="0"/>
                    <a:ea typeface="Cambria Math" panose="02040503050406030204" pitchFamily="18" charset="0"/>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0" smtClean="0">
                      <a:latin typeface="Cambria Math" panose="02040503050406030204" pitchFamily="18" charset="0"/>
                    </a:rPr>
                    <a:t>上述两式的条件下，双方的触发策略构成一个纳什均衡。</a:t>
                  </a:r>
                  <a:r>
                    <a:rPr lang="zh-CN" altLang="en-US" sz="2000">
                      <a:sym typeface="+mn-ea"/>
                    </a:rPr>
                    <a:t>此时，才有设置效率工资的可能。</a:t>
                  </a:r>
                  <a:endParaRPr lang="zh-CN" altLang="en-US" sz="2000">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rPr>
                    <a:t>双方的触发策略是子博弈完美纳什均衡。</a:t>
                  </a:r>
                  <a:endParaRPr lang="zh-CN" altLang="en-US" sz="2000" spc="100">
                    <a:ln w="3175">
                      <a:noFill/>
                      <a:prstDash val="dash"/>
                    </a:ln>
                    <a:solidFill>
                      <a:schemeClr val="dk1">
                        <a:lumMod val="75000"/>
                        <a:lumOff val="25000"/>
                      </a:schemeClr>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p:sp>
              <p:nvSpPr>
                <p:cNvPr id="13" name="Title 6"/>
                <p:cNvSpPr txBox="1">
                  <a:spLocks noRot="1" noChangeAspect="1" noMove="1" noResize="1" noEditPoints="1" noAdjustHandles="1" noChangeArrowheads="1" noChangeShapeType="1" noTextEdit="1"/>
                </p:cNvSpPr>
                <p:nvPr>
                  <p:custDataLst>
                    <p:tags r:id="rId5"/>
                  </p:custDataLst>
                </p:nvPr>
              </p:nvSpPr>
              <p:spPr>
                <a:xfrm>
                  <a:off x="2501" y="2968"/>
                  <a:ext cx="14208" cy="6064"/>
                </a:xfrm>
                <a:prstGeom prst="rect">
                  <a:avLst/>
                </a:prstGeom>
                <a:blipFill rotWithShape="1">
                  <a:blip r:embed="rId6"/>
                </a:blipFill>
                <a:ln w="3175">
                  <a:noFill/>
                  <a:prstDash val="dash"/>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9940" y="4669"/>
                  <a:ext cx="5803" cy="1461"/>
                </a:xfrm>
                <a:prstGeom prst="rect">
                  <a:avLst/>
                </a:prstGeom>
                <a:noFill/>
              </p:spPr>
              <p:txBody>
                <a:bodyPr wrap="square" rtlCol="0" anchor="t">
                  <a:spAutoFit/>
                </a:bodyPr>
                <a:p>
                  <a:pPr lvl="0" indent="0" algn="just" fontAlgn="ctr">
                    <a:lnSpc>
                      <a:spcPct val="130000"/>
                    </a:lnSpc>
                    <a:spcBef>
                      <a:spcPts val="1000"/>
                    </a:spcBef>
                    <a:spcAft>
                      <a:spcPts val="0"/>
                    </a:spcAft>
                    <a:buSzPct val="100000"/>
                    <a:buFont typeface="Wingdings" panose="05000000000000000000" charset="0"/>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𝑦</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𝑒</m:t>
                        </m:r>
                        <m:r>
                          <a:rPr lang="en-US" altLang="zh-CN" sz="2000" b="0" i="1" smtClean="0">
                            <a:latin typeface="Cambria Math" panose="02040503050406030204" pitchFamily="18" charset="0"/>
                            <a:ea typeface="Cambria Math" panose="02040503050406030204" pitchFamily="18" charset="0"/>
                          </a:rPr>
                          <m:t>&gt;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0</m:t>
                            </m:r>
                          </m:sub>
                        </m:sSub>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r>
                                  <a:rPr lang="en-US" altLang="zh-CN" sz="2000" i="1">
                                    <a:latin typeface="Cambria Math" panose="02040503050406030204" pitchFamily="18" charset="0"/>
                                  </a:rPr>
                                  <m:t>−</m:t>
                                </m:r>
                                <m:r>
                                  <a:rPr lang="zh-CN" altLang="en-US" sz="2000" i="1">
                                    <a:latin typeface="Cambria Math" panose="02040503050406030204" pitchFamily="18" charset="0"/>
                                  </a:rPr>
                                  <m:t>𝛿</m:t>
                                </m:r>
                              </m:e>
                            </m:d>
                            <m:r>
                              <a:rPr lang="en-US" altLang="zh-CN" sz="2000" i="1">
                                <a:latin typeface="Cambria Math" panose="02040503050406030204" pitchFamily="18" charset="0"/>
                              </a:rPr>
                              <m:t>𝑒</m:t>
                            </m:r>
                          </m:num>
                          <m:den>
                            <m:r>
                              <a:rPr lang="zh-CN" altLang="en-US" sz="2000" i="1">
                                <a:latin typeface="Cambria Math" panose="02040503050406030204" pitchFamily="18" charset="0"/>
                              </a:rPr>
                              <m:t>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r>
                                  <a:rPr lang="en-US" altLang="zh-CN" sz="2000" i="1">
                                    <a:latin typeface="Cambria Math" panose="02040503050406030204" pitchFamily="18" charset="0"/>
                                  </a:rPr>
                                  <m:t>−</m:t>
                                </m:r>
                                <m:r>
                                  <a:rPr lang="en-US" altLang="zh-CN" sz="2000" i="1">
                                    <a:latin typeface="Cambria Math" panose="02040503050406030204" pitchFamily="18" charset="0"/>
                                  </a:rPr>
                                  <m:t>𝑝</m:t>
                                </m:r>
                              </m:e>
                            </m:d>
                          </m:den>
                        </m:f>
                      </m:oMath>
                    </m:oMathPara>
                  </a14:m>
                  <a:endParaRPr lang="en-US" altLang="zh-CN" sz="2000" i="1">
                    <a:latin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9940" y="4669"/>
                  <a:ext cx="5803" cy="1461"/>
                </a:xfrm>
                <a:prstGeom prst="rect">
                  <a:avLst/>
                </a:prstGeom>
                <a:blipFill rotWithShape="1">
                  <a:blip r:embed="rId7"/>
                </a:blipFill>
              </p:spPr>
              <p:txBody>
                <a:bodyPr/>
                <a:lstStyle/>
                <a:p>
                  <a:r>
                    <a:rPr lang="zh-CN" altLang="en-US">
                      <a:noFill/>
                    </a:rPr>
                    <a:t> </a:t>
                  </a:r>
                </a:p>
              </p:txBody>
            </p:sp>
          </mc:Fallback>
        </mc:AlternateContent>
      </p:grpSp>
      <p:sp>
        <p:nvSpPr>
          <p:cNvPr id="4" name="文本框 3"/>
          <p:cNvSpPr txBox="1"/>
          <p:nvPr/>
        </p:nvSpPr>
        <p:spPr>
          <a:xfrm>
            <a:off x="6887845" y="1196975"/>
            <a:ext cx="4146550" cy="891540"/>
          </a:xfrm>
          <a:prstGeom prst="rect">
            <a:avLst/>
          </a:prstGeom>
          <a:noFill/>
          <a:ln w="25400">
            <a:solidFill>
              <a:schemeClr val="accent1"/>
            </a:solidFill>
            <a:prstDash val="sysDash"/>
          </a:ln>
        </p:spPr>
        <p:txBody>
          <a:bodyPr wrap="square" rtlCol="0" anchor="t">
            <a:spAutoFit/>
          </a:bodyPr>
          <a:p>
            <a:pPr lvl="0" indent="0" algn="just" fontAlgn="ctr">
              <a:lnSpc>
                <a:spcPct val="130000"/>
              </a:lnSpc>
              <a:spcBef>
                <a:spcPts val="1000"/>
              </a:spcBef>
              <a:spcAft>
                <a:spcPts val="0"/>
              </a:spcAft>
              <a:buSzPct val="100000"/>
              <a:buFont typeface="Wingdings" panose="05000000000000000000" charset="0"/>
              <a:buNone/>
            </a:pPr>
            <a:r>
              <a:rPr lang="zh-CN" altLang="en-US" sz="2000">
                <a:sym typeface="+mn-ea"/>
              </a:rPr>
              <a:t>该不等式是存在有效工资率，工资激励有效的基本条件。</a:t>
            </a:r>
            <a:endParaRPr lang="zh-CN" altLang="en-US" sz="2000">
              <a:sym typeface="+mn-ea"/>
            </a:endParaRPr>
          </a:p>
        </p:txBody>
      </p:sp>
      <p:sp>
        <p:nvSpPr>
          <p:cNvPr id="10" name="Title 6"/>
          <p:cNvSpPr txBox="1"/>
          <p:nvPr>
            <p:custDataLst>
              <p:tags r:id="rId8"/>
            </p:custDataLst>
          </p:nvPr>
        </p:nvSpPr>
        <p:spPr>
          <a:xfrm>
            <a:off x="839470" y="836930"/>
            <a:ext cx="2846705" cy="94678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400" b="1">
                <a:sym typeface="+mn-ea"/>
              </a:rPr>
              <a:t>总结</a:t>
            </a:r>
            <a:endParaRPr lang="zh-CN" altLang="en-US" sz="2400" b="1">
              <a:solidFill>
                <a:schemeClr val="tx1"/>
              </a:solidFill>
              <a:sym typeface="+mn-ea"/>
            </a:endParaRPr>
          </a:p>
        </p:txBody>
      </p:sp>
      <p:sp>
        <p:nvSpPr>
          <p:cNvPr id="14" name="右箭头 13"/>
          <p:cNvSpPr/>
          <p:nvPr/>
        </p:nvSpPr>
        <p:spPr>
          <a:xfrm rot="16200000">
            <a:off x="8472855" y="2276425"/>
            <a:ext cx="360045" cy="216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631039" y="1988957"/>
            <a:ext cx="9144000" cy="1896745"/>
          </a:xfrm>
        </p:spPr>
        <p:txBody>
          <a:bodyPr/>
          <a:p>
            <a:pPr algn="ctr"/>
            <a:r>
              <a:rPr lang="en-US" altLang="zh-CN" sz="9600"/>
              <a:t>THANKS</a:t>
            </a:r>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d1405322-07db-46f2-ac77-21da349bc302}"/>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718cbff5-2429-446f-9b83-5aad0de7739e}"/>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ID" val="diagram20221168_1*b*1"/>
  <p:tag name="KSO_WM_TEMPLATE_CATEGORY" val="diagram"/>
  <p:tag name="KSO_WM_TEMPLATE_INDEX" val="20221168"/>
  <p:tag name="KSO_WM_UNIT_LAYERLEVEL" val="1"/>
  <p:tag name="KSO_WM_TAG_VERSION" val="1.0"/>
  <p:tag name="KSO_WM_BEAUTIFY_FLAG" val="#wm#"/>
  <p:tag name="KSO_WM_UNIT_DEFAULT_FONT" val="20;24;2"/>
  <p:tag name="KSO_WM_UNIT_BLOCK" val="0"/>
  <p:tag name="KSO_WM_UNIT_SM_LIMIT_TYPE" val="2"/>
  <p:tag name="KSO_WM_UNIT_DEC_AREA_ID" val="204cf403550748f2b1b12b510f35b0c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21168_1*a*1"/>
  <p:tag name="KSO_WM_TEMPLATE_CATEGORY" val="diagram"/>
  <p:tag name="KSO_WM_TEMPLATE_INDEX" val="20221168"/>
  <p:tag name="KSO_WM_UNIT_LAYERLEVEL" val="1"/>
  <p:tag name="KSO_WM_TAG_VERSION" val="1.0"/>
  <p:tag name="KSO_WM_BEAUTIFY_FLAG" val="#wm#"/>
  <p:tag name="KSO_WM_UNIT_DEFAULT_FONT" val="66;96;2"/>
  <p:tag name="KSO_WM_UNIT_BLOCK" val="0"/>
  <p:tag name="KSO_WM_UNIT_SM_LIMIT_TYPE" val="2"/>
  <p:tag name="KSO_WM_UNIT_DEC_AREA_ID" val="f075e2182f8048389128d0f4615d35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3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8&quot;,&quot;maxSize&quot;:{&quot;size1&quot;:22.2},&quot;minSize&quot;:{&quot;size1&quot;:13.5},&quot;normalSize&quot;:{&quot;size1&quot;:13.5},&quot;subLayout&quot;:[{&quot;id&quot;:&quot;2022-08-19T17:33:58&quot;,&quot;margin&quot;:{&quot;bottom&quot;:0.026000002399086952,&quot;left&quot;:2.117000102996826,&quot;right&quot;:1.2699999809265137,&quot;top&quot;:0.4230000078678131},&quot;type&quot;:0},{&quot;id&quot;:&quot;2022-08-19T17:33: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3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8&quot;,&quot;maxSize&quot;:{&quot;size1&quot;:22.2},&quot;minSize&quot;:{&quot;size1&quot;:13.5},&quot;normalSize&quot;:{&quot;size1&quot;:13.5},&quot;subLayout&quot;:[{&quot;id&quot;:&quot;2022-08-19T17:33:58&quot;,&quot;margin&quot;:{&quot;bottom&quot;:0.026000002399086952,&quot;left&quot;:2.117000102996826,&quot;right&quot;:1.2699999809265137,&quot;top&quot;:0.4230000078678131},&quot;type&quot;:0},{&quot;id&quot;:&quot;2022-08-19T17:33: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4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8&quot;,&quot;maxSize&quot;:{&quot;size1&quot;:22.2},&quot;minSize&quot;:{&quot;size1&quot;:13.5},&quot;normalSize&quot;:{&quot;size1&quot;:13.5},&quot;subLayout&quot;:[{&quot;id&quot;:&quot;2022-08-19T17:33:58&quot;,&quot;margin&quot;:{&quot;bottom&quot;:0.026000002399086952,&quot;left&quot;:2.117000102996826,&quot;right&quot;:1.2699999809265137,&quot;top&quot;:0.4230000078678131},&quot;type&quot;:0},{&quot;id&quot;:&quot;2022-08-19T17:33: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4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8&quot;,&quot;maxSize&quot;:{&quot;size1&quot;:22.2},&quot;minSize&quot;:{&quot;size1&quot;:13.5},&quot;normalSize&quot;:{&quot;size1&quot;:13.5},&quot;subLayout&quot;:[{&quot;id&quot;:&quot;2022-08-19T17:33:58&quot;,&quot;margin&quot;:{&quot;bottom&quot;:0.026000002399086952,&quot;left&quot;:2.117000102996826,&quot;right&quot;:1.2699999809265137,&quot;top&quot;:0.4230000078678131},&quot;type&quot;:0},{&quot;id&quot;:&quot;2022-08-19T17:33: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5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8&quot;,&quot;maxSize&quot;:{&quot;size1&quot;:22.2},&quot;minSize&quot;:{&quot;size1&quot;:13.5},&quot;normalSize&quot;:{&quot;size1&quot;:13.5},&quot;subLayout&quot;:[{&quot;id&quot;:&quot;2022-08-19T17:33:58&quot;,&quot;margin&quot;:{&quot;bottom&quot;:0.026000002399086952,&quot;left&quot;:2.117000102996826,&quot;right&quot;:1.2699999809265137,&quot;top&quot;:0.4230000078678131},&quot;type&quot;:0},{&quot;id&quot;:&quot;2022-08-19T17:33: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5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8&quot;,&quot;maxSize&quot;:{&quot;size1&quot;:22.2},&quot;minSize&quot;:{&quot;size1&quot;:13.5},&quot;normalSize&quot;:{&quot;size1&quot;:13.5},&quot;subLayout&quot;:[{&quot;id&quot;:&quot;2022-08-19T17:33:58&quot;,&quot;margin&quot;:{&quot;bottom&quot;:0.026000002399086952,&quot;left&quot;:2.117000102996826,&quot;right&quot;:1.2699999809265137,&quot;top&quot;:0.4230000078678131},&quot;type&quot;:0},{&quot;id&quot;:&quot;2022-08-19T17:33: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1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6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8&quot;,&quot;maxSize&quot;:{&quot;size1&quot;:22.2},&quot;minSize&quot;:{&quot;size1&quot;:13.5},&quot;normalSize&quot;:{&quot;size1&quot;:13.5},&quot;subLayout&quot;:[{&quot;id&quot;:&quot;2022-08-19T17:33:58&quot;,&quot;margin&quot;:{&quot;bottom&quot;:0.026000002399086952,&quot;left&quot;:2.117000102996826,&quot;right&quot;:1.2699999809265137,&quot;top&quot;:0.4230000078678131},&quot;type&quot;:0},{&quot;id&quot;:&quot;2022-08-19T17:33: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6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9&quot;,&quot;maxSize&quot;:{&quot;size1&quot;:22.2},&quot;minSize&quot;:{&quot;size1&quot;:13.5},&quot;normalSize&quot;:{&quot;size1&quot;:13.5},&quot;subLayout&quot;:[{&quot;id&quot;:&quot;2022-08-19T17:33:59&quot;,&quot;margin&quot;:{&quot;bottom&quot;:0.026000002399086952,&quot;left&quot;:2.117000102996826,&quot;right&quot;:1.2699999809265137,&quot;top&quot;:0.4230000078678131},&quot;type&quot;:0},{&quot;id&quot;:&quot;2022-08-19T17:33:5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6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9&quot;,&quot;maxSize&quot;:{&quot;size1&quot;:22.2},&quot;minSize&quot;:{&quot;size1&quot;:13.5},&quot;normalSize&quot;:{&quot;size1&quot;:13.5},&quot;subLayout&quot;:[{&quot;id&quot;:&quot;2022-08-19T17:33:59&quot;,&quot;margin&quot;:{&quot;bottom&quot;:0.026000002399086952,&quot;left&quot;:2.117000102996826,&quot;right&quot;:1.2699999809265137,&quot;top&quot;:0.4230000078678131},&quot;type&quot;:0},{&quot;id&quot;:&quot;2022-08-19T17:33:5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7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9&quot;,&quot;maxSize&quot;:{&quot;size1&quot;:22.2},&quot;minSize&quot;:{&quot;size1&quot;:13.5},&quot;normalSize&quot;:{&quot;size1&quot;:13.5},&quot;subLayout&quot;:[{&quot;id&quot;:&quot;2022-08-19T17:33:59&quot;,&quot;margin&quot;:{&quot;bottom&quot;:0.026000002399086952,&quot;left&quot;:2.117000102996826,&quot;right&quot;:1.2699999809265137,&quot;top&quot;:0.4230000078678131},&quot;type&quot;:0},{&quot;id&quot;:&quot;2022-08-19T17:33:5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7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17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7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7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7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8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9&quot;,&quot;maxSize&quot;:{&quot;size1&quot;:22.2},&quot;minSize&quot;:{&quot;size1&quot;:13.5},&quot;normalSize&quot;:{&quot;size1&quot;:13.5},&quot;subLayout&quot;:[{&quot;id&quot;:&quot;2022-08-19T17:33:59&quot;,&quot;margin&quot;:{&quot;bottom&quot;:0.026000002399086952,&quot;left&quot;:2.117000102996826,&quot;right&quot;:1.2699999809265137,&quot;top&quot;:0.4230000078678131},&quot;type&quot;:0},{&quot;id&quot;:&quot;2022-08-19T17:33:5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8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8&quot;,&quot;maxSize&quot;:{&quot;size1&quot;:22.2},&quot;minSize&quot;:{&quot;size1&quot;:13.5},&quot;normalSize&quot;:{&quot;size1&quot;:13.5},&quot;subLayout&quot;:[{&quot;id&quot;:&quot;2022-08-19T17:33:58&quot;,&quot;margin&quot;:{&quot;bottom&quot;:0.026000002399086952,&quot;left&quot;:2.117000102996826,&quot;right&quot;:1.2699999809265137,&quot;top&quot;:0.4230000078678131},&quot;type&quot;:0},{&quot;id&quot;:&quot;2022-08-19T17:33: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169_1*i*1"/>
  <p:tag name="KSO_WM_TEMPLATE_CATEGORY" val="diagram"/>
  <p:tag name="KSO_WM_TEMPLATE_INDEX" val="20212169"/>
  <p:tag name="KSO_WM_UNIT_LAYERLEVEL" val="1"/>
  <p:tag name="KSO_WM_TAG_VERSION" val="1.0"/>
  <p:tag name="KSO_WM_BEAUTIFY_FLAG" val="#wm#"/>
  <p:tag name="KSO_WM_UNIT_BLOCK" val="0"/>
  <p:tag name="KSO_WM_UNIT_SM_LIMIT_TYPE" val="2"/>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0}"/>
  <p:tag name="KSO_WM_UNIT_DEC_AREA_ID" val="544e3ac726024a87a4e983faf016091e"/>
  <p:tag name="KSO_WM_CHIP_GROUPID" val="5eedbca6fa6683b8872baa7d"/>
  <p:tag name="KSO_WM_CHIP_XID" val="5eedbca6fa6683b8872baa7e"/>
  <p:tag name="KSO_WM_UNIT_TEXT_FILL_FORE_SCHEMECOLOR_INDEX_BRIGHTNESS" val="0"/>
  <p:tag name="KSO_WM_UNIT_TEXT_FILL_FORE_SCHEMECOLOR_INDEX" val="2"/>
  <p:tag name="KSO_WM_UNIT_TEXT_FILL_TYPE" val="1"/>
  <p:tag name="KSO_WM_UNIT_VALUE" val="675"/>
  <p:tag name="KSO_WM_TEMPLATE_ASSEMBLE_XID" val="60656f2f4054ed1e2fb80528"/>
  <p:tag name="KSO_WM_TEMPLATE_ASSEMBLE_GROUPID" val="60656f2f4054ed1e2fb80528"/>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169_1*i*4"/>
  <p:tag name="KSO_WM_TEMPLATE_CATEGORY" val="diagram"/>
  <p:tag name="KSO_WM_TEMPLATE_INDEX" val="20212169"/>
  <p:tag name="KSO_WM_UNIT_LAYERLEVEL" val="1"/>
  <p:tag name="KSO_WM_TAG_VERSION" val="1.0"/>
  <p:tag name="KSO_WM_BEAUTIFY_FLAG" val="#wm#"/>
  <p:tag name="KSO_WM_UNIT_BLOCK" val="0"/>
  <p:tag name="KSO_WM_UNIT_SM_LIMIT_TYPE" val="2"/>
  <p:tag name="KSO_WM_UNIT_DECORATE_INFO" val="{&quot;DecorateInfoH&quot;:{&quot;IsAbs&quot;:true},&quot;DecorateInfoW&quot;:{&quot;IsAbs&quot;:true},&quot;DecorateInfoX&quot;:{&quot;IsAbs&quot;:true,&quot;Pos&quot;:1},&quot;DecorateInfoY&quot;:{&quot;IsAbs&quot;:true,&quot;Pos&quot;:1},&quot;ReferentInfo&quot;:{&quot;Id&quot;:&quot;4c5760f1573244b288069be05e051cb5&quot;,&quot;X&quot;:{&quot;Pos&quot;:1},&quot;Y&quot;:{&quot;Pos&quot;:1}},&quot;whChangeMode&quot;:0}"/>
  <p:tag name="KSO_WM_UNIT_DEC_AREA_ID" val="6c593065b925441185049ec7104e01a9"/>
  <p:tag name="KSO_WM_CHIP_GROUPID" val="5eedbca6fa6683b8872baa7d"/>
  <p:tag name="KSO_WM_CHIP_XID" val="5eedbca6fa6683b8872baa7e"/>
  <p:tag name="KSO_WM_UNIT_SHADOW_SCHEMECOLOR_INDEX_BRIGHTNESS" val="0.05"/>
  <p:tag name="KSO_WM_UNIT_SHADOW_SCHEMECOLOR_INDEX" val="13"/>
  <p:tag name="KSO_WM_UNIT_TEXT_FILL_FORE_SCHEMECOLOR_INDEX_BRIGHTNESS" val="0"/>
  <p:tag name="KSO_WM_UNIT_TEXT_FILL_FORE_SCHEMECOLOR_INDEX" val="14"/>
  <p:tag name="KSO_WM_UNIT_TEXT_FILL_TYPE" val="1"/>
  <p:tag name="KSO_WM_UNIT_VALUE" val="480"/>
  <p:tag name="KSO_WM_TEMPLATE_ASSEMBLE_XID" val="60656f2f4054ed1e2fb80528"/>
  <p:tag name="KSO_WM_TEMPLATE_ASSEMBLE_GROUPID" val="60656f2f4054ed1e2fb80528"/>
</p:tagLst>
</file>

<file path=ppt/tags/tag189.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69_1*f*1"/>
  <p:tag name="KSO_WM_TEMPLATE_CATEGORY" val="diagram"/>
  <p:tag name="KSO_WM_TEMPLATE_INDEX" val="20212169"/>
  <p:tag name="KSO_WM_UNIT_LAYERLEVEL" val="1"/>
  <p:tag name="KSO_WM_TAG_VERSION" val="1.0"/>
  <p:tag name="KSO_WM_BEAUTIFY_FLAG" val="#wm#"/>
  <p:tag name="KSO_WM_UNIT_DEFAULT_FONT" val="14;20;2"/>
  <p:tag name="KSO_WM_UNIT_BLOCK" val="0"/>
  <p:tag name="KSO_WM_UNIT_VALUE" val="42"/>
  <p:tag name="KSO_WM_UNIT_SHOW_EDIT_AREA_INDICATION" val="1"/>
  <p:tag name="KSO_WM_CHIP_GROUPID" val="5e6b05596848fb12bee65ac8"/>
  <p:tag name="KSO_WM_CHIP_XID" val="5e6b05596848fb12bee65aca"/>
  <p:tag name="KSO_WM_UNIT_DEC_AREA_ID" val="3d6647a8059d4cfea72b601870b01d5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1ce8ecbb05048718e0dbe368dd5b0a4"/>
  <p:tag name="KSO_WM_UNIT_SUPPORT_BIG_FONT" val="1"/>
  <p:tag name="KSO_WM_UNIT_TEXT_FILL_FORE_SCHEMECOLOR_INDEX_BRIGHTNESS" val="0.25"/>
  <p:tag name="KSO_WM_UNIT_TEXT_FILL_FORE_SCHEMECOLOR_INDEX" val="13"/>
  <p:tag name="KSO_WM_UNIT_TEXT_FILL_TYPE" val="1"/>
  <p:tag name="KSO_WM_TEMPLATE_ASSEMBLE_XID" val="60656f2f4054ed1e2fb80528"/>
  <p:tag name="KSO_WM_TEMPLATE_ASSEMBLE_GROUPID" val="60656f2f4054ed1e2fb80528"/>
</p:tagLst>
</file>

<file path=ppt/tags/tag1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169_1*f*2"/>
  <p:tag name="KSO_WM_TEMPLATE_CATEGORY" val="diagram"/>
  <p:tag name="KSO_WM_TEMPLATE_INDEX" val="20212169"/>
  <p:tag name="KSO_WM_UNIT_LAYERLEVEL" val="1"/>
  <p:tag name="KSO_WM_TAG_VERSION" val="1.0"/>
  <p:tag name="KSO_WM_BEAUTIFY_FLAG" val="#wm#"/>
  <p:tag name="KSO_WM_UNIT_DEFAULT_FONT" val="14;20;2"/>
  <p:tag name="KSO_WM_UNIT_BLOCK" val="0"/>
  <p:tag name="KSO_WM_UNIT_VALUE" val="247"/>
  <p:tag name="KSO_WM_UNIT_SHOW_EDIT_AREA_INDICATION" val="1"/>
  <p:tag name="KSO_WM_CHIP_GROUPID" val="5e6b05596848fb12bee65ac8"/>
  <p:tag name="KSO_WM_CHIP_XID" val="5e6b05596848fb12bee65aca"/>
  <p:tag name="KSO_WM_UNIT_DEC_AREA_ID" val="4c5760f1573244b288069be05e051cb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163ea665a7f462fba39aea648a424b8"/>
  <p:tag name="KSO_WM_UNIT_SUPPORT_BIG_FONT" val="1"/>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2f4054ed1e2fb80528"/>
  <p:tag name="KSO_WM_TEMPLATE_ASSEMBLE_GROUPID" val="60656f2f4054ed1e2fb80528"/>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93.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69_1*f*1"/>
  <p:tag name="KSO_WM_TEMPLATE_CATEGORY" val="diagram"/>
  <p:tag name="KSO_WM_TEMPLATE_INDEX" val="20212169"/>
  <p:tag name="KSO_WM_UNIT_LAYERLEVEL" val="1"/>
  <p:tag name="KSO_WM_TAG_VERSION" val="1.0"/>
  <p:tag name="KSO_WM_BEAUTIFY_FLAG" val="#wm#"/>
  <p:tag name="KSO_WM_UNIT_DEFAULT_FONT" val="14;20;2"/>
  <p:tag name="KSO_WM_UNIT_BLOCK" val="0"/>
  <p:tag name="KSO_WM_UNIT_VALUE" val="42"/>
  <p:tag name="KSO_WM_UNIT_SHOW_EDIT_AREA_INDICATION" val="1"/>
  <p:tag name="KSO_WM_CHIP_GROUPID" val="5e6b05596848fb12bee65ac8"/>
  <p:tag name="KSO_WM_CHIP_XID" val="5e6b05596848fb12bee65aca"/>
  <p:tag name="KSO_WM_UNIT_DEC_AREA_ID" val="3d6647a8059d4cfea72b601870b01d5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1ce8ecbb05048718e0dbe368dd5b0a4"/>
  <p:tag name="KSO_WM_UNIT_SUPPORT_BIG_FONT" val="1"/>
  <p:tag name="KSO_WM_UNIT_TEXT_FILL_FORE_SCHEMECOLOR_INDEX_BRIGHTNESS" val="0.25"/>
  <p:tag name="KSO_WM_UNIT_TEXT_FILL_FORE_SCHEMECOLOR_INDEX" val="13"/>
  <p:tag name="KSO_WM_UNIT_TEXT_FILL_TYPE" val="1"/>
  <p:tag name="KSO_WM_TEMPLATE_ASSEMBLE_XID" val="60656f2f4054ed1e2fb80528"/>
  <p:tag name="KSO_WM_TEMPLATE_ASSEMBLE_GROUPID" val="60656f2f4054ed1e2fb80528"/>
</p:tagLst>
</file>

<file path=ppt/tags/tag19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8&quot;,&quot;maxSize&quot;:{&quot;size1&quot;:22.2},&quot;minSize&quot;:{&quot;size1&quot;:13.5},&quot;normalSize&quot;:{&quot;size1&quot;:13.5},&quot;subLayout&quot;:[{&quot;id&quot;:&quot;2022-08-19T17:33:58&quot;,&quot;margin&quot;:{&quot;bottom&quot;:0.026000002399086952,&quot;left&quot;:2.117000102996826,&quot;right&quot;:1.2699999809265137,&quot;top&quot;:0.4230000078678131},&quot;type&quot;:0},{&quot;id&quot;:&quot;2022-08-19T17:33: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23_1*f*1"/>
  <p:tag name="KSO_WM_TEMPLATE_CATEGORY" val="diagram"/>
  <p:tag name="KSO_WM_TEMPLATE_INDEX" val="20212123"/>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69ef95089831457eb0ed0de8196078ac"/>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2775c6c5464743cea9e98db15cca8abd"/>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21"/>
  <p:tag name="KSO_WM_TEMPLATE_ASSEMBLE_GROUPID" val="60656f144054ed1e2fb8032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9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2&quot;,&quot;maxSize&quot;:{&quot;size1&quot;:22.2},&quot;minSize&quot;:{&quot;size1&quot;:13.5},&quot;normalSize&quot;:{&quot;size1&quot;:13.5},&quot;subLayout&quot;:[{&quot;id&quot;:&quot;2022-08-19T17:34:02&quot;,&quot;margin&quot;:{&quot;bottom&quot;:0.026000002399086952,&quot;left&quot;:2.117000102996826,&quot;right&quot;:1.2699999809265137,&quot;top&quot;:0.4230000078678131},&quot;type&quot;:0},{&quot;id&quot;:&quot;2022-08-19T17:34: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00.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201.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202.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0*210"/>
  <p:tag name="TABLE_ENDDRAG_RECT" val="258*59*451*210"/>
</p:tagLst>
</file>

<file path=ppt/tags/tag203.xml><?xml version="1.0" encoding="utf-8"?>
<p:tagLst xmlns:p="http://schemas.openxmlformats.org/presentationml/2006/main">
  <p:tag name="KSO_WM_BEAUTIFY_FLAG" val="#wm#"/>
  <p:tag name="KSO_WM_UNIT_TYPE" val="β"/>
  <p:tag name="TABLE_SKINIDX" val="2"/>
  <p:tag name="TABLE_COLORIDX" val="c"/>
  <p:tag name="KSO_WM_UNIT_TABLE_BEAUTIFY" val="smartTable{941a53c5-8bf7-424f-a54e-a942f888a755}"/>
  <p:tag name="TABLE_ENDDRAG_ORIGIN_RECT" val="464*200"/>
  <p:tag name="TABLE_ENDDRAG_RECT" val="236*309*464*200"/>
</p:tagLst>
</file>

<file path=ppt/tags/tag204.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0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0&quot;,&quot;maxSize&quot;:{&quot;size1&quot;:22.2},&quot;minSize&quot;:{&quot;size1&quot;:13.5},&quot;normalSize&quot;:{&quot;size1&quot;:13.5},&quot;subLayout&quot;:[{&quot;id&quot;:&quot;2022-08-19T17:34:00&quot;,&quot;margin&quot;:{&quot;bottom&quot;:0.026000002399086952,&quot;left&quot;:2.117000102996826,&quot;right&quot;:1.2699999809265137,&quot;top&quot;:0.4230000078678131},&quot;type&quot;:0},{&quot;id&quot;:&quot;2022-08-19T17:34:0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23_1*f*1"/>
  <p:tag name="KSO_WM_TEMPLATE_CATEGORY" val="diagram"/>
  <p:tag name="KSO_WM_TEMPLATE_INDEX" val="20212123"/>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69ef95089831457eb0ed0de8196078ac"/>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2775c6c5464743cea9e98db15cca8abd"/>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21"/>
  <p:tag name="KSO_WM_TEMPLATE_ASSEMBLE_GROUPID" val="60656f144054ed1e2fb8032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1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2&quot;,&quot;maxSize&quot;:{&quot;size1&quot;:22.2},&quot;minSize&quot;:{&quot;size1&quot;:13.5},&quot;normalSize&quot;:{&quot;size1&quot;:13.5},&quot;subLayout&quot;:[{&quot;id&quot;:&quot;2022-08-19T17:34:02&quot;,&quot;margin&quot;:{&quot;bottom&quot;:0.026000002399086952,&quot;left&quot;:2.117000102996826,&quot;right&quot;:1.2699999809265137,&quot;top&quot;:0.4230000078678131},&quot;type&quot;:0},{&quot;id&quot;:&quot;2022-08-19T17:34: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12.xml><?xml version="1.0" encoding="utf-8"?>
<p:tagLst xmlns:p="http://schemas.openxmlformats.org/presentationml/2006/main">
  <p:tag name="KSO_WM_BEAUTIFY_FLAG" val="#wm#"/>
  <p:tag name="KSO_WM_UNIT_TYPE" val="β"/>
  <p:tag name="TABLE_SKINIDX" val="2"/>
  <p:tag name="TABLE_COLORIDX" val="c"/>
  <p:tag name="KSO_WM_UNIT_TABLE_BEAUTIFY" val="smartTable{31fc716e-89fe-4839-831d-359fb807ff5f}"/>
  <p:tag name="TABLE_ENDDRAG_ORIGIN_RECT" val="450*210"/>
  <p:tag name="TABLE_ENDDRAG_RECT" val="258*59*451*210"/>
</p:tagLst>
</file>

<file path=ppt/tags/tag213.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50*210"/>
  <p:tag name="TABLE_ENDDRAG_RECT" val="258*59*451*210"/>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15.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17.xml><?xml version="1.0" encoding="utf-8"?>
<p:tagLst xmlns:p="http://schemas.openxmlformats.org/presentationml/2006/main">
  <p:tag name="KSO_WM_UNIT_TEXT_SUBTYPE" val="a"/>
  <p:tag name="KSO_WM_UNIT_SUBTYPE" val="a"/>
  <p:tag name="KSO_WM_UNIT_PRESET_TEXT" val="单击此处添加正文，文字是您思想的提炼，请尽量言简意赅的阐述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93_1*f*1"/>
  <p:tag name="KSO_WM_TEMPLATE_CATEGORY" val="diagram"/>
  <p:tag name="KSO_WM_TEMPLATE_INDEX" val="20207393"/>
  <p:tag name="KSO_WM_UNIT_LAYERLEVEL" val="1"/>
  <p:tag name="KSO_WM_TAG_VERSION" val="1.0"/>
  <p:tag name="KSO_WM_BEAUTIFY_FLAG" val="#wm#"/>
  <p:tag name="KSO_WM_UNIT_DEFAULT_FONT" val="14;20;2"/>
  <p:tag name="KSO_WM_UNIT_BLOCK" val="0"/>
  <p:tag name="KSO_WM_UNIT_VALUE" val="44"/>
  <p:tag name="KSO_WM_UNIT_SHOW_EDIT_AREA_INDICATION" val="1"/>
  <p:tag name="KSO_WM_CHIP_GROUPID" val="5e6b05596848fb12bee65ac8"/>
  <p:tag name="KSO_WM_CHIP_XID" val="5e6b05596848fb12bee65aca"/>
  <p:tag name="KSO_WM_UNIT_DEC_AREA_ID" val="03794ceed3404189b4fa352de3de20c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c648e78a12fb45cea46305b7776fd70e"/>
  <p:tag name="KSO_WM_UNIT_TEXT_FILL_FORE_SCHEMECOLOR_INDEX_BRIGHTNESS" val="0.25"/>
  <p:tag name="KSO_WM_UNIT_TEXT_FILL_FORE_SCHEMECOLOR_INDEX" val="13"/>
  <p:tag name="KSO_WM_UNIT_TEXT_FILL_TYPE" val="1"/>
  <p:tag name="KSO_WM_TEMPLATE_ASSEMBLE_XID" val="60656f224054ed1e2fb803ed"/>
  <p:tag name="KSO_WM_TEMPLATE_ASSEMBLE_GROUPID" val="60656f224054ed1e2fb803ed"/>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2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2&quot;,&quot;maxSize&quot;:{&quot;size1&quot;:22.2},&quot;minSize&quot;:{&quot;size1&quot;:13.5},&quot;normalSize&quot;:{&quot;size1&quot;:13.5},&quot;subLayout&quot;:[{&quot;id&quot;:&quot;2022-08-19T17:34:02&quot;,&quot;margin&quot;:{&quot;bottom&quot;:0.026000002399086952,&quot;left&quot;:2.117000102996826,&quot;right&quot;:1.2699999809265137,&quot;top&quot;:0.4230000078678131},&quot;type&quot;:0},{&quot;id&quot;:&quot;2022-08-19T17:34: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2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2.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3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3:59&quot;,&quot;maxSize&quot;:{&quot;size1&quot;:22.2},&quot;minSize&quot;:{&quot;size1&quot;:13.5},&quot;normalSize&quot;:{&quot;size1&quot;:13.5},&quot;subLayout&quot;:[{&quot;id&quot;:&quot;2022-08-19T17:33:59&quot;,&quot;margin&quot;:{&quot;bottom&quot;:0.026000002399086952,&quot;left&quot;:2.117000102996826,&quot;right&quot;:1.2699999809265137,&quot;top&quot;:0.4230000078678131},&quot;type&quot;:0},{&quot;id&quot;:&quot;2022-08-19T17:33:5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23_1*f*1"/>
  <p:tag name="KSO_WM_TEMPLATE_CATEGORY" val="diagram"/>
  <p:tag name="KSO_WM_TEMPLATE_INDEX" val="20212123"/>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69ef95089831457eb0ed0de8196078ac"/>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2775c6c5464743cea9e98db15cca8abd"/>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21"/>
  <p:tag name="KSO_WM_TEMPLATE_ASSEMBLE_GROUPID" val="60656f144054ed1e2fb8032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3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2&quot;,&quot;maxSize&quot;:{&quot;size1&quot;:22.2},&quot;minSize&quot;:{&quot;size1&quot;:13.5},&quot;normalSize&quot;:{&quot;size1&quot;:13.5},&quot;subLayout&quot;:[{&quot;id&quot;:&quot;2022-08-19T17:34:02&quot;,&quot;margin&quot;:{&quot;bottom&quot;:0.026000002399086952,&quot;left&quot;:2.117000102996826,&quot;right&quot;:1.2699999809265137,&quot;top&quot;:0.4230000078678131},&quot;type&quot;:0},{&quot;id&quot;:&quot;2022-08-19T17:34: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4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2&quot;,&quot;maxSize&quot;:{&quot;size1&quot;:22.2},&quot;minSize&quot;:{&quot;size1&quot;:13.5},&quot;normalSize&quot;:{&quot;size1&quot;:13.5},&quot;subLayout&quot;:[{&quot;id&quot;:&quot;2022-08-19T17:34:02&quot;,&quot;margin&quot;:{&quot;bottom&quot;:0.026000002399086952,&quot;left&quot;:2.117000102996826,&quot;right&quot;:1.2699999809265137,&quot;top&quot;:0.4230000078678131},&quot;type&quot;:0},{&quot;id&quot;:&quot;2022-08-19T17:34: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8.xml><?xml version="1.0" encoding="utf-8"?>
<p:tagLst xmlns:p="http://schemas.openxmlformats.org/presentationml/2006/main">
  <p:tag name="KSO_WM_UNIT_TABLE_BEAUTIFY" val="smartTable{16007844-5c4a-442b-a654-827eeb72b086}"/>
  <p:tag name="TABLE_ENDDRAG_ORIGIN_RECT" val="389*194"/>
  <p:tag name="TABLE_ENDDRAG_RECT" val="279*237*389*194"/>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4&quot;,&quot;maxSize&quot;:{&quot;size1&quot;:22.2},&quot;minSize&quot;:{&quot;size1&quot;:13.5},&quot;normalSize&quot;:{&quot;size1&quot;:13.5},&quot;subLayout&quot;:[{&quot;id&quot;:&quot;2022-08-19T17:34:04&quot;,&quot;margin&quot;:{&quot;bottom&quot;:0.026000002399086952,&quot;left&quot;:2.117000102996826,&quot;right&quot;:1.2699999809265137,&quot;top&quot;:0.4230000078678131},&quot;type&quot;:0},{&quot;id&quot;:&quot;2022-08-19T17:34:0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5.xml><?xml version="1.0" encoding="utf-8"?>
<p:tagLst xmlns:p="http://schemas.openxmlformats.org/presentationml/2006/main">
  <p:tag name="KSO_WM_UNIT_TABLE_BEAUTIFY" val="smartTable{16007844-5c4a-442b-a654-827eeb72b086}"/>
</p:tagLst>
</file>

<file path=ppt/tags/tag256.xml><?xml version="1.0" encoding="utf-8"?>
<p:tagLst xmlns:p="http://schemas.openxmlformats.org/presentationml/2006/main">
  <p:tag name="KSO_WM_UNIT_TABLE_BEAUTIFY" val="smartTable{12e8f06d-5e5f-4e1d-bc14-931d7133490c}"/>
</p:tagLst>
</file>

<file path=ppt/tags/tag257.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4&quot;,&quot;maxSize&quot;:{&quot;size1&quot;:22.2},&quot;minSize&quot;:{&quot;size1&quot;:13.5},&quot;normalSize&quot;:{&quot;size1&quot;:13.5},&quot;subLayout&quot;:[{&quot;id&quot;:&quot;2022-08-19T17:34:04&quot;,&quot;margin&quot;:{&quot;bottom&quot;:0.026000002399086952,&quot;left&quot;:2.117000102996826,&quot;right&quot;:1.2699999809265137,&quot;top&quot;:0.4230000078678131},&quot;type&quot;:0},{&quot;id&quot;:&quot;2022-08-19T17:34:0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d8df20e39ed64c549853196dce0d805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6.xml><?xml version="1.0" encoding="utf-8"?>
<p:tagLst xmlns:p="http://schemas.openxmlformats.org/presentationml/2006/main">
  <p:tag name="KSO_WM_SLIDE_ID" val="diagram20220059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492"/>
  <p:tag name="KSO_WM_SLIDE_POSITION" val="36*24"/>
  <p:tag name="KSO_WM_SLIDE_LAYOUT" val="a_b_d"/>
  <p:tag name="KSO_WM_SLIDE_LAYOUT_CNT" val="1_1_1"/>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8-19T17:34:04&quot;,&quot;maxSize&quot;:{&quot;size1&quot;:31.1},&quot;minSize&quot;:{&quot;size1&quot;:20},&quot;normalSize&quot;:{&quot;size1&quot;:20},&quot;subLayout&quot;:[{&quot;id&quot;:&quot;2022-08-19T17:34:04&quot;,&quot;maxSize&quot;:{&quot;size1&quot;:100},&quot;minSize&quot;:{&quot;size1&quot;:66.7},&quot;normalSize&quot;:{&quot;size1&quot;:66.7},&quot;subLayout&quot;:[{&quot;id&quot;:&quot;2022-08-19T17:34:04&quot;,&quot;margin&quot;:{&quot;bottom&quot;:0.026000002399086952,&quot;left&quot;:2.117000102996826,&quot;right&quot;:1.2699999809265137,&quot;top&quot;:0.847000002861023},&quot;type&quot;:0},{&quot;id&quot;:&quot;2022-08-19T17:34:04&quot;,&quot;margin&quot;:{&quot;bottom&quot;:0,&quot;left&quot;:2.117000102996826,&quot;right&quot;:1.2699999809265137,&quot;top&quot;:0},&quot;type&quot;:0}],&quot;type&quot;:0},{&quot;id&quot;:&quot;2022-08-19T17:34:04&quot;,&quot;margin&quot;:{&quot;bottom&quot;:0.847000002861023,&quot;left&quot;:1.2699999809265137,&quot;right&quot;:1.2699999809265137,&quot;top&quot;:0.3970000147819519},&quot;type&quot;:0}],&quot;type&quot;:0}"/>
</p:tagLst>
</file>

<file path=ppt/tags/tag2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8.xml><?xml version="1.0" encoding="utf-8"?>
<p:tagLst xmlns:p="http://schemas.openxmlformats.org/presentationml/2006/main">
  <p:tag name="KSO_WM_UNIT_TABLE_BEAUTIFY" val="smartTable{16007844-5c4a-442b-a654-827eeb72b086}"/>
  <p:tag name="TABLE_ENDDRAG_ORIGIN_RECT" val="389*194"/>
  <p:tag name="TABLE_ENDDRAG_RECT" val="279*237*389*194"/>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d8df20e39ed64c549853196dce0d805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4&quot;,&quot;maxSize&quot;:{&quot;size1&quot;:22.2},&quot;minSize&quot;:{&quot;size1&quot;:13.5},&quot;normalSize&quot;:{&quot;size1&quot;:13.5},&quot;subLayout&quot;:[{&quot;id&quot;:&quot;2022-08-19T17:34:04&quot;,&quot;margin&quot;:{&quot;bottom&quot;:0.026000002399086952,&quot;left&quot;:2.117000102996826,&quot;right&quot;:1.2699999809265137,&quot;top&quot;:0.4230000078678131},&quot;type&quot;:0},{&quot;id&quot;:&quot;2022-08-19T17:34:0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4_1*f*1"/>
  <p:tag name="KSO_WM_TEMPLATE_CATEGORY" val="diagram"/>
  <p:tag name="KSO_WM_TEMPLATE_INDEX" val="20212964"/>
  <p:tag name="KSO_WM_UNIT_LAYERLEVEL" val="1"/>
  <p:tag name="KSO_WM_TAG_VERSION" val="1.0"/>
  <p:tag name="KSO_WM_BEAUTIFY_FLAG" val="#wm#"/>
  <p:tag name="KSO_WM_UNIT_DEFAULT_FONT" val="14;20;2"/>
  <p:tag name="KSO_WM_UNIT_BLOCK" val="0"/>
  <p:tag name="KSO_WM_UNIT_VALUE" val="156"/>
  <p:tag name="KSO_WM_UNIT_SHOW_EDIT_AREA_INDICATION" val="1"/>
  <p:tag name="KSO_WM_CHIP_GROUPID" val="5e6b05596848fb12bee65ac8"/>
  <p:tag name="KSO_WM_CHIP_XID" val="5e6b05596848fb12bee65aca"/>
  <p:tag name="KSO_WM_UNIT_DEC_AREA_ID" val="b8c12a2fd8d64cdfb32e1cb99015d19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0662533a33b940ec8bf06c5294177040"/>
  <p:tag name="KSO_WM_UNIT_SUPPORT_UNIT_TYPE" val="[&quot;d&quot;,&quot;β&quot;]"/>
  <p:tag name="KSO_WM_UNIT_TEXT_FILL_FORE_SCHEMECOLOR_INDEX_BRIGHTNESS" val="0.25"/>
  <p:tag name="KSO_WM_UNIT_TEXT_FILL_FORE_SCHEMECOLOR_INDEX" val="13"/>
  <p:tag name="KSO_WM_UNIT_TEXT_FILL_TYPE" val="1"/>
  <p:tag name="KSO_WM_TEMPLATE_ASSEMBLE_XID" val="60656f144054ed1e2fb80311"/>
  <p:tag name="KSO_WM_TEMPLATE_ASSEMBLE_GROUPID" val="60656f144054ed1e2fb80311"/>
</p:tagLst>
</file>

<file path=ppt/tags/tag276.xml><?xml version="1.0" encoding="utf-8"?>
<p:tagLst xmlns:p="http://schemas.openxmlformats.org/presentationml/2006/main">
  <p:tag name="KSO_WM_BEAUTIFY_FLAG" val="#wm#"/>
  <p:tag name="KSO_WM_UNIT_TYPE" val="β"/>
  <p:tag name="TABLE_SKINIDX" val="3"/>
  <p:tag name="TABLE_COLORIDX" val="b"/>
  <p:tag name="KSO_WM_UNIT_TABLE_BEAUTIFY" val="smartTable{a1e559d4-60d6-4b15-9c4c-2f76b2c7b788}"/>
  <p:tag name="TABLE_ENDDRAG_ORIGIN_RECT" val="436*335"/>
  <p:tag name="TABLE_ENDDRAG_RECT" val="224*88*436*335"/>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7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7&quot;,&quot;maxSize&quot;:{&quot;size1&quot;:22.2},&quot;minSize&quot;:{&quot;size1&quot;:13.5},&quot;normalSize&quot;:{&quot;size1&quot;:13.5},&quot;subLayout&quot;:[{&quot;id&quot;:&quot;2022-08-19T17:34:07&quot;,&quot;margin&quot;:{&quot;bottom&quot;:0.026000002399086952,&quot;left&quot;:2.117000102996826,&quot;right&quot;:1.2699999809265137,&quot;top&quot;:0.4230000078678131},&quot;type&quot;:0},{&quot;id&quot;:&quot;2022-08-19T17:34:0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Lst>
</file>

<file path=ppt/tags/tag2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282.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8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9&quot;,&quot;maxSize&quot;:{&quot;size1&quot;:22.2},&quot;minSize&quot;:{&quot;size1&quot;:13.5},&quot;normalSize&quot;:{&quot;size1&quot;:13.5},&quot;subLayout&quot;:[{&quot;id&quot;:&quot;2022-08-19T17:34:09&quot;,&quot;margin&quot;:{&quot;bottom&quot;:0.026000002399086952,&quot;left&quot;:2.117000102996826,&quot;right&quot;:1.2699999809265137,&quot;top&quot;:0.4230000078678131},&quot;type&quot;:0},{&quot;id&quot;:&quot;2022-08-19T17:34:0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9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5&quot;,&quot;maxSize&quot;:{&quot;size1&quot;:22.2},&quot;minSize&quot;:{&quot;size1&quot;:13.5},&quot;normalSize&quot;:{&quot;size1&quot;:13.5},&quot;subLayout&quot;:[{&quot;id&quot;:&quot;2022-08-19T17:34:05&quot;,&quot;margin&quot;:{&quot;bottom&quot;:0.026000002399086952,&quot;left&quot;:2.117000102996826,&quot;right&quot;:1.2699999809265137,&quot;top&quot;:0.4230000078678131},&quot;type&quot;:0},{&quot;id&quot;:&quot;2022-08-19T17:34:0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9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0&quot;,&quot;maxSize&quot;:{&quot;size1&quot;:22.2},&quot;minSize&quot;:{&quot;size1&quot;:13.5},&quot;normalSize&quot;:{&quot;size1&quot;:13.5},&quot;subLayout&quot;:[{&quot;id&quot;:&quot;2022-08-19T17:34:10&quot;,&quot;margin&quot;:{&quot;bottom&quot;:0.026000002399086952,&quot;left&quot;:2.117000102996826,&quot;right&quot;:1.2699999809265137,&quot;top&quot;:0.4230000078678131},&quot;type&quot;:0},{&quot;id&quot;:&quot;2022-08-19T17:34:1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9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0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0&quot;,&quot;maxSize&quot;:{&quot;size1&quot;:22.2},&quot;minSize&quot;:{&quot;size1&quot;:13.5},&quot;normalSize&quot;:{&quot;size1&quot;:13.5},&quot;subLayout&quot;:[{&quot;id&quot;:&quot;2022-08-19T17:34:10&quot;,&quot;margin&quot;:{&quot;bottom&quot;:0.026000002399086952,&quot;left&quot;:2.117000102996826,&quot;right&quot;:1.2699999809265137,&quot;top&quot;:0.4230000078678131},&quot;type&quot;:0},{&quot;id&quot;:&quot;2022-08-19T17:34:1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3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304.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0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0&quot;,&quot;maxSize&quot;:{&quot;size1&quot;:22.2},&quot;minSize&quot;:{&quot;size1&quot;:13.5},&quot;normalSize&quot;:{&quot;size1&quot;:13.5},&quot;subLayout&quot;:[{&quot;id&quot;:&quot;2022-08-19T17:34:10&quot;,&quot;margin&quot;:{&quot;bottom&quot;:0.026000002399086952,&quot;left&quot;:2.117000102996826,&quot;right&quot;:1.2699999809265137,&quot;top&quot;:0.4230000078678131},&quot;type&quot;:0},{&quot;id&quot;:&quot;2022-08-19T17:34:1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1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1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1&quot;,&quot;maxSize&quot;:{&quot;size1&quot;:22.2},&quot;minSize&quot;:{&quot;size1&quot;:13.5},&quot;normalSize&quot;:{&quot;size1&quot;:13.5},&quot;subLayout&quot;:[{&quot;id&quot;:&quot;2022-08-19T17:34:11&quot;,&quot;margin&quot;:{&quot;bottom&quot;:0.026000002399086952,&quot;left&quot;:2.117000102996826,&quot;right&quot;:1.2699999809265137,&quot;top&quot;:0.4230000078678131},&quot;type&quot;:0},{&quot;id&quot;:&quot;2022-08-19T17:34:1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1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1&quot;,&quot;maxSize&quot;:{&quot;size1&quot;:22.2},&quot;minSize&quot;:{&quot;size1&quot;:13.5},&quot;normalSize&quot;:{&quot;size1&quot;:13.5},&quot;subLayout&quot;:[{&quot;id&quot;:&quot;2022-08-19T17:34:11&quot;,&quot;margin&quot;:{&quot;bottom&quot;:0.026000002399086952,&quot;left&quot;:2.117000102996826,&quot;right&quot;:1.2699999809265137,&quot;top&quot;:0.4230000078678131},&quot;type&quot;:0},{&quot;id&quot;:&quot;2022-08-19T17:34:1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Lst>
</file>

<file path=ppt/tags/tag3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2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1&quot;,&quot;maxSize&quot;:{&quot;size1&quot;:22.2},&quot;minSize&quot;:{&quot;size1&quot;:13.5},&quot;normalSize&quot;:{&quot;size1&quot;:13.5},&quot;subLayout&quot;:[{&quot;id&quot;:&quot;2022-08-19T17:34:11&quot;,&quot;margin&quot;:{&quot;bottom&quot;:0.026000002399086952,&quot;left&quot;:2.117000102996826,&quot;right&quot;:1.2699999809265137,&quot;top&quot;:0.4230000078678131},&quot;type&quot;:0},{&quot;id&quot;:&quot;2022-08-19T17:34:1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2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2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739848a71ad74996a825331355f966ce"/>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d7418be03734712a9d50b3142f22d9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12"/>
  <p:tag name="KSO_WM_TEMPLATE_ASSEMBLE_GROUPID" val="60656f144054ed1e2fb80312"/>
</p:tagLst>
</file>

<file path=ppt/tags/tag33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8&quot;,&quot;maxSize&quot;:{&quot;size1&quot;:22.2},&quot;minSize&quot;:{&quot;size1&quot;:13.5},&quot;normalSize&quot;:{&quot;size1&quot;:13.5},&quot;subLayout&quot;:[{&quot;id&quot;:&quot;2022-08-19T17:34:08&quot;,&quot;margin&quot;:{&quot;bottom&quot;:0.026000002399086952,&quot;left&quot;:2.117000102996826,&quot;right&quot;:1.2699999809265137,&quot;top&quot;:0.4230000078678131},&quot;type&quot;:0},{&quot;id&quot;:&quot;2022-08-19T17:34:0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3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08&quot;,&quot;maxSize&quot;:{&quot;size1&quot;:22.2},&quot;minSize&quot;:{&quot;size1&quot;:13.5},&quot;normalSize&quot;:{&quot;size1&quot;:13.5},&quot;subLayout&quot;:[{&quot;id&quot;:&quot;2022-08-19T17:34:08&quot;,&quot;margin&quot;:{&quot;bottom&quot;:0.026000002399086952,&quot;left&quot;:2.117000102996826,&quot;right&quot;:1.2699999809265137,&quot;top&quot;:0.4230000078678131},&quot;type&quot;:0},{&quot;id&quot;:&quot;2022-08-19T17:34:0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4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2&quot;,&quot;maxSize&quot;:{&quot;size1&quot;:22.2},&quot;minSize&quot;:{&quot;size1&quot;:13.5},&quot;normalSize&quot;:{&quot;size1&quot;:13.5},&quot;subLayout&quot;:[{&quot;id&quot;:&quot;2022-08-19T17:34:12&quot;,&quot;margin&quot;:{&quot;bottom&quot;:0.026000002399086952,&quot;left&quot;:2.117000102996826,&quot;right&quot;:1.2699999809265137,&quot;top&quot;:0.4230000078678131},&quot;type&quot;:0},{&quot;id&quot;:&quot;2022-08-19T17:34:1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4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2&quot;,&quot;maxSize&quot;:{&quot;size1&quot;:22.2},&quot;minSize&quot;:{&quot;size1&quot;:13.5},&quot;normalSize&quot;:{&quot;size1&quot;:13.5},&quot;subLayout&quot;:[{&quot;id&quot;:&quot;2022-08-19T17:34:12&quot;,&quot;margin&quot;:{&quot;bottom&quot;:0.026000002399086952,&quot;left&quot;:2.117000102996826,&quot;right&quot;:1.2699999809265137,&quot;top&quot;:0.4230000078678131},&quot;type&quot;:0},{&quot;id&quot;:&quot;2022-08-19T17:34:1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5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2&quot;,&quot;maxSize&quot;:{&quot;size1&quot;:22.2},&quot;minSize&quot;:{&quot;size1&quot;:13.5},&quot;normalSize&quot;:{&quot;size1&quot;:13.5},&quot;subLayout&quot;:[{&quot;id&quot;:&quot;2022-08-19T17:34:12&quot;,&quot;margin&quot;:{&quot;bottom&quot;:0.026000002399086952,&quot;left&quot;:2.117000102996826,&quot;right&quot;:1.2699999809265137,&quot;top&quot;:0.4230000078678131},&quot;type&quot;:0},{&quot;id&quot;:&quot;2022-08-19T17:34:1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5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2&quot;,&quot;maxSize&quot;:{&quot;size1&quot;:22.2},&quot;minSize&quot;:{&quot;size1&quot;:13.5},&quot;normalSize&quot;:{&quot;size1&quot;:13.5},&quot;subLayout&quot;:[{&quot;id&quot;:&quot;2022-08-19T17:34:12&quot;,&quot;margin&quot;:{&quot;bottom&quot;:0.026000002399086952,&quot;left&quot;:2.117000102996826,&quot;right&quot;:1.2699999809265137,&quot;top&quot;:0.4230000078678131},&quot;type&quot;:0},{&quot;id&quot;:&quot;2022-08-19T17:34:1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123_1*i*1"/>
  <p:tag name="KSO_WM_UNIT_LAYERLEVEL" val="1"/>
  <p:tag name="KSO_WM_TAG_VERSION" val="1.0"/>
  <p:tag name="KSO_WM_BEAUTIFY_FLAG" val="#wm#"/>
  <p:tag name="KSO_WM_SLIDE_BK_DARK_LIGHT" val="2"/>
  <p:tag name="KSO_WM_UNIT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2123"/>
  <p:tag name="KSO_WM_UNIT_VALUE" val="1150"/>
  <p:tag name="KSO_WM_TEMPLATE_ASSEMBLE_XID" val="60656f144054ed1e2fb80321"/>
  <p:tag name="KSO_WM_TEMPLATE_ASSEMBLE_GROUPID" val="60656f144054ed1e2fb80321"/>
</p:tagLst>
</file>

<file path=ppt/tags/tag3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23_1*f*1"/>
  <p:tag name="KSO_WM_TEMPLATE_CATEGORY" val="diagram"/>
  <p:tag name="KSO_WM_TEMPLATE_INDEX" val="20212123"/>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69ef95089831457eb0ed0de8196078ac"/>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2775c6c5464743cea9e98db15cca8abd"/>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21"/>
  <p:tag name="KSO_WM_TEMPLATE_ASSEMBLE_GROUPID" val="60656f144054ed1e2fb80321"/>
</p:tagLst>
</file>

<file path=ppt/tags/tag3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123_1*f*1"/>
  <p:tag name="KSO_WM_TEMPLATE_CATEGORY" val="diagram"/>
  <p:tag name="KSO_WM_TEMPLATE_INDEX" val="20212123"/>
  <p:tag name="KSO_WM_UNIT_LAYERLEVEL" val="1"/>
  <p:tag name="KSO_WM_TAG_VERSION" val="1.0"/>
  <p:tag name="KSO_WM_BEAUTIFY_FLAG" val="#wm#"/>
  <p:tag name="KSO_WM_UNIT_DEFAULT_FONT" val="14;20;2"/>
  <p:tag name="KSO_WM_UNIT_BLOCK" val="0"/>
  <p:tag name="KSO_WM_UNIT_VALUE" val="312"/>
  <p:tag name="KSO_WM_UNIT_SHOW_EDIT_AREA_INDICATION" val="1"/>
  <p:tag name="KSO_WM_CHIP_GROUPID" val="5e6b05596848fb12bee65ac8"/>
  <p:tag name="KSO_WM_CHIP_XID" val="5e6b05596848fb12bee65aca"/>
  <p:tag name="KSO_WM_UNIT_DEC_AREA_ID" val="69ef95089831457eb0ed0de8196078ac"/>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2775c6c5464743cea9e98db15cca8abd"/>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0656f144054ed1e2fb80321"/>
  <p:tag name="KSO_WM_TEMPLATE_ASSEMBLE_GROUPID" val="60656f144054ed1e2fb80321"/>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6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2&quot;,&quot;maxSize&quot;:{&quot;size1&quot;:22.2},&quot;minSize&quot;:{&quot;size1&quot;:13.5},&quot;normalSize&quot;:{&quot;size1&quot;:13.5},&quot;subLayout&quot;:[{&quot;id&quot;:&quot;2022-08-19T17:34:12&quot;,&quot;margin&quot;:{&quot;bottom&quot;:0.026000002399086952,&quot;left&quot;:2.117000102996826,&quot;right&quot;:1.2699999809265137,&quot;top&quot;:0.4230000078678131},&quot;type&quot;:0},{&quot;id&quot;:&quot;2022-08-19T17:34:1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66.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506*251"/>
  <p:tag name="TABLE_ENDDRAG_RECT" val="139*196*506*251"/>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6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3&quot;,&quot;maxSize&quot;:{&quot;size1&quot;:22.2},&quot;minSize&quot;:{&quot;size1&quot;:13.5},&quot;normalSize&quot;:{&quot;size1&quot;:13.5},&quot;subLayout&quot;:[{&quot;id&quot;:&quot;2022-08-19T17:34:13&quot;,&quot;margin&quot;:{&quot;bottom&quot;:0.026000002399086952,&quot;left&quot;:2.117000102996826,&quot;right&quot;:1.2699999809265137,&quot;top&quot;:0.4230000078678131},&quot;type&quot;:0},{&quot;id&quot;:&quot;2022-08-19T17:34:1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7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9&quot;,&quot;maxSize&quot;:{&quot;size1&quot;:22.2},&quot;minSize&quot;:{&quot;size1&quot;:13.5},&quot;normalSize&quot;:{&quot;size1&quot;:13.5},&quot;subLayout&quot;:[{&quot;id&quot;:&quot;2022-08-19T17:34:19&quot;,&quot;margin&quot;:{&quot;bottom&quot;:0.026000002399086952,&quot;left&quot;:2.117000102996826,&quot;right&quot;:1.2699999809265137,&quot;top&quot;:0.4230000078678131},&quot;type&quot;:0},{&quot;id&quot;:&quot;2022-08-19T17:34:1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7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9&quot;,&quot;maxSize&quot;:{&quot;size1&quot;:22.2},&quot;minSize&quot;:{&quot;size1&quot;:13.5},&quot;normalSize&quot;:{&quot;size1&quot;:13.5},&quot;subLayout&quot;:[{&quot;id&quot;:&quot;2022-08-19T17:34:19&quot;,&quot;margin&quot;:{&quot;bottom&quot;:0.026000002399086952,&quot;left&quot;:2.117000102996826,&quot;right&quot;:1.2699999809265137,&quot;top&quot;:0.4230000078678131},&quot;type&quot;:0},{&quot;id&quot;:&quot;2022-08-19T17:34:1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8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9&quot;,&quot;maxSize&quot;:{&quot;size1&quot;:22.2},&quot;minSize&quot;:{&quot;size1&quot;:13.5},&quot;normalSize&quot;:{&quot;size1&quot;:13.5},&quot;subLayout&quot;:[{&quot;id&quot;:&quot;2022-08-19T17:34:19&quot;,&quot;margin&quot;:{&quot;bottom&quot;:0.026000002399086952,&quot;left&quot;:2.117000102996826,&quot;right&quot;:1.2699999809265137,&quot;top&quot;:0.4230000078678131},&quot;type&quot;:0},{&quot;id&quot;:&quot;2022-08-19T17:34:1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8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9&quot;,&quot;maxSize&quot;:{&quot;size1&quot;:22.2},&quot;minSize&quot;:{&quot;size1&quot;:13.5},&quot;normalSize&quot;:{&quot;size1&quot;:13.5},&quot;subLayout&quot;:[{&quot;id&quot;:&quot;2022-08-19T17:34:19&quot;,&quot;margin&quot;:{&quot;bottom&quot;:0.026000002399086952,&quot;left&quot;:2.117000102996826,&quot;right&quot;:1.2699999809265137,&quot;top&quot;:0.4230000078678131},&quot;type&quot;:0},{&quot;id&quot;:&quot;2022-08-19T17:34:1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9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9&quot;,&quot;maxSize&quot;:{&quot;size1&quot;:22.2},&quot;minSize&quot;:{&quot;size1&quot;:13.5},&quot;normalSize&quot;:{&quot;size1&quot;:13.5},&quot;subLayout&quot;:[{&quot;id&quot;:&quot;2022-08-19T17:34:19&quot;,&quot;margin&quot;:{&quot;bottom&quot;:0.026000002399086952,&quot;left&quot;:2.117000102996826,&quot;right&quot;:1.2699999809265137,&quot;top&quot;:0.4230000078678131},&quot;type&quot;:0},{&quot;id&quot;:&quot;2022-08-19T17:34:1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9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9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9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9&quot;,&quot;maxSize&quot;:{&quot;size1&quot;:22.2},&quot;minSize&quot;:{&quot;size1&quot;:13.5},&quot;normalSize&quot;:{&quot;size1&quot;:13.5},&quot;subLayout&quot;:[{&quot;id&quot;:&quot;2022-08-19T17:34:19&quot;,&quot;margin&quot;:{&quot;bottom&quot;:0.026000002399086952,&quot;left&quot;:2.117000102996826,&quot;right&quot;:1.2699999809265137,&quot;top&quot;:0.4230000078678131},&quot;type&quot;:0},{&quot;id&quot;:&quot;2022-08-19T17:34:1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0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0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19T17:34:19&quot;,&quot;maxSize&quot;:{&quot;size1&quot;:22.2},&quot;minSize&quot;:{&quot;size1&quot;:13.5},&quot;normalSize&quot;:{&quot;size1&quot;:13.5},&quot;subLayout&quot;:[{&quot;id&quot;:&quot;2022-08-19T17:34:19&quot;,&quot;margin&quot;:{&quot;bottom&quot;:0.026000002399086952,&quot;left&quot;:2.117000102996826,&quot;right&quot;:1.2699999809265137,&quot;top&quot;:0.4230000078678131},&quot;type&quot;:0},{&quot;id&quot;:&quot;2022-08-19T17:34:1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06.xml><?xml version="1.0" encoding="utf-8"?>
<p:tagLst xmlns:p="http://schemas.openxmlformats.org/presentationml/2006/main">
  <p:tag name="KSO_WM_BEAUTIFY_FLAG" val="#wm#"/>
  <p:tag name="KSO_WM_TEMPLATE_CATEGORY" val="diagram"/>
  <p:tag name="KSO_WM_TEMPLATE_INDEX" val="20220059"/>
</p:tagLst>
</file>

<file path=ppt/tags/tag407.xml><?xml version="1.0" encoding="utf-8"?>
<p:tagLst xmlns:p="http://schemas.openxmlformats.org/presentationml/2006/main">
  <p:tag name="COMMONDATA" val="eyJoZGlkIjoiYzgwYTliZDBhMzdlY2M5ZjlmY2FkNGNmZmJjMzljZWMifQ=="/>
  <p:tag name="KSO_WPP_MARK_KEY" val="3b783db8-5fb3-40c8-9766-4205d0db8c3a"/>
  <p:tag name="commondata" val="eyJoZGlkIjoiZTJkYzVmOWY0NzgwODMzY2FkNTVkNTU3YmRlMTI0NzUifQ=="/>
</p:tagLst>
</file>

<file path=ppt/theme/theme1.xml><?xml version="1.0" encoding="utf-8"?>
<a:theme xmlns:a="http://schemas.openxmlformats.org/drawingml/2006/main" name="柏林">
  <a:themeElements>
    <a:clrScheme name="黄橙色">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博弈论</Template>
  <TotalTime>0</TotalTime>
  <Words>9909</Words>
  <Application>WPS 演示</Application>
  <PresentationFormat>宽屏</PresentationFormat>
  <Paragraphs>1001</Paragraphs>
  <Slides>51</Slides>
  <Notes>0</Notes>
  <HiddenSlides>0</HiddenSlides>
  <MMClips>0</MMClips>
  <ScaleCrop>false</ScaleCrop>
  <HeadingPairs>
    <vt:vector size="8" baseType="variant">
      <vt:variant>
        <vt:lpstr>已用的字体</vt:lpstr>
      </vt:variant>
      <vt:variant>
        <vt:i4>21</vt:i4>
      </vt:variant>
      <vt:variant>
        <vt:lpstr>主题</vt:lpstr>
      </vt:variant>
      <vt:variant>
        <vt:i4>2</vt:i4>
      </vt:variant>
      <vt:variant>
        <vt:lpstr>嵌入 OLE 服务器</vt:lpstr>
      </vt:variant>
      <vt:variant>
        <vt:i4>4</vt:i4>
      </vt:variant>
      <vt:variant>
        <vt:lpstr>幻灯片标题</vt:lpstr>
      </vt:variant>
      <vt:variant>
        <vt:i4>51</vt:i4>
      </vt:variant>
    </vt:vector>
  </HeadingPairs>
  <TitlesOfParts>
    <vt:vector size="78" baseType="lpstr">
      <vt:lpstr>Arial</vt:lpstr>
      <vt:lpstr>宋体</vt:lpstr>
      <vt:lpstr>Wingdings</vt:lpstr>
      <vt:lpstr>隶书</vt:lpstr>
      <vt:lpstr>华文彩云</vt:lpstr>
      <vt:lpstr>Wide Latin</vt:lpstr>
      <vt:lpstr>微软雅黑</vt:lpstr>
      <vt:lpstr>华文新魏</vt:lpstr>
      <vt:lpstr>华文行楷</vt:lpstr>
      <vt:lpstr>YouSheBiaoTiHei</vt:lpstr>
      <vt:lpstr>Segoe Print</vt:lpstr>
      <vt:lpstr>华文中宋</vt:lpstr>
      <vt:lpstr>Wingdings</vt:lpstr>
      <vt:lpstr>Segoe UI</vt:lpstr>
      <vt:lpstr>黑体</vt:lpstr>
      <vt:lpstr>Arial Unicode MS</vt:lpstr>
      <vt:lpstr>Calibri</vt:lpstr>
      <vt:lpstr>Cambria Math</vt:lpstr>
      <vt:lpstr>Times New Roman</vt:lpstr>
      <vt:lpstr>Trebuchet MS</vt:lpstr>
      <vt:lpstr>YouSheBiaoTiHei</vt:lpstr>
      <vt:lpstr>柏林</vt:lpstr>
      <vt:lpstr>1_Office 主题​​</vt:lpstr>
      <vt:lpstr>Equation.KSEE3</vt:lpstr>
      <vt:lpstr>Equation.KSEE3</vt:lpstr>
      <vt:lpstr>Equation.KSEE3</vt:lpstr>
      <vt:lpstr>Equation.KSEE3</vt:lpstr>
      <vt:lpstr>PowerPoint 演示文稿</vt:lpstr>
      <vt:lpstr>第五讲：重复博弈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博弈论</dc:title>
  <dc:creator>anning</dc:creator>
  <cp:lastModifiedBy>夢晨</cp:lastModifiedBy>
  <cp:revision>333</cp:revision>
  <dcterms:created xsi:type="dcterms:W3CDTF">2017-06-11T00:10:00Z</dcterms:created>
  <dcterms:modified xsi:type="dcterms:W3CDTF">2026-05-06T04:33:04Z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37710ED1C29349839E86FE7E06610081</vt:lpwstr>
  </property>
  <property fmtid="{D5CDD505-2E9C-101B-9397-08002B2CF9AE}" pid="3" name="KSOProductBuildVer">
    <vt:lpwstr>2052-12.1.0.25865</vt:lpwstr>
  </property>
</Properties>
</file>