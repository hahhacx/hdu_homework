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wmv" ContentType="video/x-ms-wmv"/>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6" r:id="rId3"/>
  </p:sldMasterIdLst>
  <p:notesMasterIdLst>
    <p:notesMasterId r:id="rId42"/>
  </p:notesMasterIdLst>
  <p:sldIdLst>
    <p:sldId id="556" r:id="rId4"/>
    <p:sldId id="557" r:id="rId5"/>
    <p:sldId id="679" r:id="rId6"/>
    <p:sldId id="680" r:id="rId7"/>
    <p:sldId id="681" r:id="rId8"/>
    <p:sldId id="682" r:id="rId9"/>
    <p:sldId id="748" r:id="rId10"/>
    <p:sldId id="683" r:id="rId11"/>
    <p:sldId id="493" r:id="rId12"/>
    <p:sldId id="755" r:id="rId13"/>
    <p:sldId id="757" r:id="rId14"/>
    <p:sldId id="750" r:id="rId15"/>
    <p:sldId id="751" r:id="rId16"/>
    <p:sldId id="752" r:id="rId17"/>
    <p:sldId id="753" r:id="rId18"/>
    <p:sldId id="754" r:id="rId19"/>
    <p:sldId id="497" r:id="rId20"/>
    <p:sldId id="498" r:id="rId21"/>
    <p:sldId id="499" r:id="rId22"/>
    <p:sldId id="500" r:id="rId23"/>
    <p:sldId id="975" r:id="rId24"/>
    <p:sldId id="899" r:id="rId25"/>
    <p:sldId id="762" r:id="rId26"/>
    <p:sldId id="974" r:id="rId27"/>
    <p:sldId id="501" r:id="rId28"/>
    <p:sldId id="760" r:id="rId29"/>
    <p:sldId id="761" r:id="rId30"/>
    <p:sldId id="763" r:id="rId31"/>
    <p:sldId id="764" r:id="rId32"/>
    <p:sldId id="834" r:id="rId33"/>
    <p:sldId id="765" r:id="rId34"/>
    <p:sldId id="766" r:id="rId35"/>
    <p:sldId id="767" r:id="rId36"/>
    <p:sldId id="973" r:id="rId37"/>
    <p:sldId id="502" r:id="rId38"/>
    <p:sldId id="768" r:id="rId39"/>
    <p:sldId id="1053" r:id="rId40"/>
    <p:sldId id="622" r:id="rId41"/>
    <p:sldId id="770" r:id="rId43"/>
    <p:sldId id="1063" r:id="rId44"/>
    <p:sldId id="1071" r:id="rId45"/>
    <p:sldId id="507" r:id="rId46"/>
    <p:sldId id="1061" r:id="rId47"/>
    <p:sldId id="1062" r:id="rId48"/>
    <p:sldId id="1064" r:id="rId49"/>
    <p:sldId id="1065" r:id="rId50"/>
    <p:sldId id="1066" r:id="rId51"/>
    <p:sldId id="1070" r:id="rId52"/>
    <p:sldId id="1067" r:id="rId53"/>
    <p:sldId id="1068" r:id="rId54"/>
    <p:sldId id="1069" r:id="rId55"/>
    <p:sldId id="836" r:id="rId56"/>
    <p:sldId id="837" r:id="rId57"/>
    <p:sldId id="1055" r:id="rId58"/>
    <p:sldId id="1056" r:id="rId59"/>
    <p:sldId id="1057" r:id="rId60"/>
    <p:sldId id="1058" r:id="rId61"/>
    <p:sldId id="1059" r:id="rId62"/>
    <p:sldId id="833" r:id="rId63"/>
    <p:sldId id="1060" r:id="rId64"/>
    <p:sldId id="510" r:id="rId65"/>
    <p:sldId id="511" r:id="rId66"/>
    <p:sldId id="1138" r:id="rId67"/>
    <p:sldId id="512" r:id="rId68"/>
    <p:sldId id="513" r:id="rId69"/>
    <p:sldId id="514" r:id="rId70"/>
    <p:sldId id="515" r:id="rId71"/>
    <p:sldId id="516" r:id="rId72"/>
    <p:sldId id="517" r:id="rId73"/>
    <p:sldId id="1185" r:id="rId74"/>
    <p:sldId id="1186" r:id="rId75"/>
    <p:sldId id="518" r:id="rId76"/>
    <p:sldId id="519" r:id="rId77"/>
    <p:sldId id="1187" r:id="rId78"/>
    <p:sldId id="1312" r:id="rId79"/>
    <p:sldId id="1227" r:id="rId80"/>
    <p:sldId id="1228" r:id="rId81"/>
    <p:sldId id="1229" r:id="rId82"/>
    <p:sldId id="520" r:id="rId83"/>
    <p:sldId id="521" r:id="rId84"/>
    <p:sldId id="522" r:id="rId85"/>
    <p:sldId id="1230" r:id="rId86"/>
    <p:sldId id="1231" r:id="rId87"/>
    <p:sldId id="1270" r:id="rId88"/>
    <p:sldId id="1271" r:id="rId89"/>
    <p:sldId id="1273" r:id="rId90"/>
    <p:sldId id="1274" r:id="rId91"/>
    <p:sldId id="1275" r:id="rId92"/>
    <p:sldId id="1276" r:id="rId93"/>
    <p:sldId id="1269" r:id="rId94"/>
    <p:sldId id="1431" r:id="rId95"/>
    <p:sldId id="1424" r:id="rId96"/>
    <p:sldId id="1432" r:id="rId97"/>
    <p:sldId id="1433" r:id="rId98"/>
    <p:sldId id="1425" r:id="rId99"/>
    <p:sldId id="1426" r:id="rId100"/>
    <p:sldId id="1427" r:id="rId101"/>
    <p:sldId id="1428" r:id="rId102"/>
    <p:sldId id="1429" r:id="rId103"/>
    <p:sldId id="1430" r:id="rId104"/>
    <p:sldId id="1386" r:id="rId105"/>
    <p:sldId id="524" r:id="rId106"/>
    <p:sldId id="525" r:id="rId107"/>
    <p:sldId id="526" r:id="rId108"/>
    <p:sldId id="527" r:id="rId109"/>
    <p:sldId id="528" r:id="rId110"/>
    <p:sldId id="529" r:id="rId111"/>
    <p:sldId id="530" r:id="rId112"/>
    <p:sldId id="1362" r:id="rId113"/>
    <p:sldId id="534" r:id="rId114"/>
    <p:sldId id="535" r:id="rId115"/>
    <p:sldId id="536" r:id="rId116"/>
    <p:sldId id="537" r:id="rId117"/>
    <p:sldId id="538" r:id="rId118"/>
    <p:sldId id="539" r:id="rId119"/>
    <p:sldId id="540" r:id="rId120"/>
    <p:sldId id="541" r:id="rId121"/>
    <p:sldId id="542" r:id="rId122"/>
    <p:sldId id="543" r:id="rId123"/>
    <p:sldId id="544" r:id="rId124"/>
    <p:sldId id="1473" r:id="rId125"/>
    <p:sldId id="1474" r:id="rId126"/>
    <p:sldId id="1487" r:id="rId127"/>
    <p:sldId id="545" r:id="rId128"/>
    <p:sldId id="546" r:id="rId129"/>
    <p:sldId id="547" r:id="rId130"/>
    <p:sldId id="548" r:id="rId131"/>
    <p:sldId id="549" r:id="rId132"/>
    <p:sldId id="1502" r:id="rId133"/>
    <p:sldId id="1501" r:id="rId134"/>
    <p:sldId id="550" r:id="rId135"/>
    <p:sldId id="1503" r:id="rId136"/>
    <p:sldId id="1512" r:id="rId137"/>
    <p:sldId id="551" r:id="rId138"/>
    <p:sldId id="552" r:id="rId139"/>
    <p:sldId id="1515" r:id="rId140"/>
    <p:sldId id="1514" r:id="rId141"/>
    <p:sldId id="554" r:id="rId142"/>
    <p:sldId id="555" r:id="rId143"/>
    <p:sldId id="558" r:id="rId144"/>
  </p:sldIdLst>
  <p:sldSz cx="12192000" cy="6858000"/>
  <p:notesSz cx="6858000" cy="9144000"/>
  <p:custDataLst>
    <p:tags r:id="rId1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26" userDrawn="1">
          <p15:clr>
            <a:srgbClr val="A4A3A4"/>
          </p15:clr>
        </p15:guide>
        <p15:guide id="1" orient="horz" pos="1987" userDrawn="1">
          <p15:clr>
            <a:srgbClr val="A4A3A4"/>
          </p15:clr>
        </p15:guide>
        <p15:guide id="2" pos="38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iu" initials="q" lastIdx="6"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7CCE"/>
    <a:srgbClr val="5BA080"/>
    <a:srgbClr val="FFFF00"/>
    <a:srgbClr val="64AC04"/>
    <a:srgbClr val="87F7E2"/>
    <a:srgbClr val="CA440C"/>
    <a:srgbClr val="C73E09"/>
    <a:srgbClr val="B72A07"/>
    <a:srgbClr val="A31F05"/>
    <a:srgbClr val="CC49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varScale="1">
        <p:scale>
          <a:sx n="76" d="100"/>
          <a:sy n="76" d="100"/>
        </p:scale>
        <p:origin x="318" y="96"/>
      </p:cViewPr>
      <p:guideLst>
        <p:guide orient="horz" pos="2160"/>
        <p:guide pos="3826"/>
        <p:guide orient="horz" pos="1987"/>
        <p:guide pos="3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notesMaster" Target="notesMasters/notes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9" Type="http://schemas.openxmlformats.org/officeDocument/2006/relationships/tags" Target="tags/tag909.xml"/><Relationship Id="rId148" Type="http://schemas.openxmlformats.org/officeDocument/2006/relationships/commentAuthors" Target="commentAuthors.xml"/><Relationship Id="rId147" Type="http://schemas.openxmlformats.org/officeDocument/2006/relationships/tableStyles" Target="tableStyles.xml"/><Relationship Id="rId146" Type="http://schemas.openxmlformats.org/officeDocument/2006/relationships/viewProps" Target="viewProps.xml"/><Relationship Id="rId145" Type="http://schemas.openxmlformats.org/officeDocument/2006/relationships/presProps" Target="presProps.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endParaRPr lang="zh-CN" altLang="en-US"/>
          </a:p>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3.GIF"/><Relationship Id="rId5" Type="http://schemas.openxmlformats.org/officeDocument/2006/relationships/image" Target="../media/image2.png"/><Relationship Id="rId4" Type="http://schemas.microsoft.com/office/2007/relationships/media" Target="../media/media1.wmv"/><Relationship Id="rId3" Type="http://schemas.openxmlformats.org/officeDocument/2006/relationships/video" Target="../media/media1.wmv"/><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userDrawn="1"/>
        </p:nvSpPr>
        <p:spPr>
          <a:xfrm>
            <a:off x="4151784" y="2590078"/>
            <a:ext cx="4816301" cy="1660332"/>
          </a:xfrm>
          <a:prstGeom prst="rect">
            <a:avLst/>
          </a:prstGeom>
          <a:solidFill>
            <a:schemeClr val="bg1">
              <a:lumMod val="85000"/>
              <a:lumOff val="15000"/>
            </a:schemeClr>
          </a:solidFill>
          <a:ln>
            <a:no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295800" y="2733709"/>
            <a:ext cx="4528656" cy="1373070"/>
          </a:xfrm>
        </p:spPr>
        <p:txBody>
          <a:bodyPr anchor="b">
            <a:noAutofit/>
          </a:bodyPr>
          <a:lstStyle>
            <a:lvl1pPr algn="r">
              <a:defRPr sz="4000">
                <a:latin typeface="隶书" panose="02010509060101010101" pitchFamily="49" charset="-122"/>
                <a:ea typeface="隶书" panose="02010509060101010101" pitchFamily="49" charset="-122"/>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4295800" y="4394039"/>
            <a:ext cx="4528656" cy="1117687"/>
          </a:xfrm>
        </p:spPr>
        <p:txBody>
          <a:bodyPr>
            <a:normAutofit/>
          </a:bodyPr>
          <a:lstStyle>
            <a:lvl1pPr marL="0" indent="0" algn="r">
              <a:buNone/>
              <a:defRPr sz="2800">
                <a:latin typeface="华文彩云" panose="02010800040101010101" pitchFamily="2" charset="-122"/>
                <a:ea typeface="华文彩云" panose="020108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a:xfrm>
            <a:off x="2708691" y="6196856"/>
            <a:ext cx="2743200" cy="365125"/>
          </a:xfrm>
        </p:spPr>
        <p:txBody>
          <a:bodyPr/>
          <a:lstStyle>
            <a:lvl1pPr>
              <a:defRPr sz="1400">
                <a:latin typeface="Wide Latin" panose="020A0A07050505020404" pitchFamily="18" charset="0"/>
              </a:defRPr>
            </a:lvl1pPr>
          </a:lstStyle>
          <a:p>
            <a:fld id="{78ABE3C1-DBE1-495D-B57B-2849774B866A}" type="datetimeFigureOut">
              <a:rPr lang="en-US" smtClean="0"/>
            </a:fld>
            <a:endParaRPr lang="en-US" dirty="0"/>
          </a:p>
        </p:txBody>
      </p:sp>
      <p:sp>
        <p:nvSpPr>
          <p:cNvPr id="17" name="Arc 7"/>
          <p:cNvSpPr/>
          <p:nvPr userDrawn="1"/>
        </p:nvSpPr>
        <p:spPr>
          <a:xfrm>
            <a:off x="-5064224" y="548680"/>
            <a:ext cx="9144000" cy="6172200"/>
          </a:xfrm>
          <a:prstGeom prst="arc">
            <a:avLst>
              <a:gd name="adj1" fmla="val 16769945"/>
              <a:gd name="adj2" fmla="val 4842458"/>
            </a:avLst>
          </a:prstGeom>
          <a:noFill/>
          <a:ln w="25400">
            <a:solidFill>
              <a:schemeClr val="tx1">
                <a:alpha val="50196"/>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8" name="Gears_720x720 (seamless loop)_v3.wmv">
            <a:hlinkClick r:id="" action="ppaction://media"/>
          </p:cNvPr>
          <p:cNvPicPr>
            <a:picLocks noChangeAspect="1"/>
          </p:cNvPicPr>
          <p:nvPr userDrawn="1">
            <a:videoFile r:link="rId3"/>
            <p:extLst>
              <p:ext uri="{DAA4B4D4-6D71-4841-9C94-3DE7FCFB9230}">
                <p14:media xmlns:p14="http://schemas.microsoft.com/office/powerpoint/2010/main" r:embed="rId4"/>
              </p:ext>
            </p:extLst>
          </p:nvPr>
        </p:nvPicPr>
        <p:blipFill>
          <a:blip r:embed="rId5" cstate="print"/>
          <a:stretch>
            <a:fillRect/>
          </a:stretch>
        </p:blipFill>
        <p:spPr>
          <a:xfrm>
            <a:off x="-3139440" y="0"/>
            <a:ext cx="6858000" cy="6858000"/>
          </a:xfrm>
          <a:prstGeom prst="chord">
            <a:avLst>
              <a:gd name="adj1" fmla="val 15899861"/>
              <a:gd name="adj2" fmla="val 5700170"/>
            </a:avLst>
          </a:prstGeom>
          <a:effectLst>
            <a:outerShdw blurRad="254000" dist="38100" algn="l" rotWithShape="0">
              <a:schemeClr val="tx1">
                <a:alpha val="86000"/>
              </a:schemeClr>
            </a:outerShdw>
          </a:effectLst>
          <a:scene3d>
            <a:camera prst="orthographicFront"/>
            <a:lightRig rig="threePt" dir="t"/>
          </a:scene3d>
          <a:sp3d>
            <a:bevelT/>
          </a:sp3d>
        </p:spPr>
      </p:pic>
      <p:sp>
        <p:nvSpPr>
          <p:cNvPr id="19" name="Arc 8"/>
          <p:cNvSpPr/>
          <p:nvPr userDrawn="1"/>
        </p:nvSpPr>
        <p:spPr>
          <a:xfrm>
            <a:off x="-5801139" y="45720"/>
            <a:ext cx="8686800" cy="6400800"/>
          </a:xfrm>
          <a:prstGeom prst="arc">
            <a:avLst>
              <a:gd name="adj1" fmla="val 16200000"/>
              <a:gd name="adj2" fmla="val 5392005"/>
            </a:avLst>
          </a:prstGeom>
          <a:noFill/>
          <a:ln w="57150">
            <a:gradFill flip="none" rotWithShape="1">
              <a:gsLst>
                <a:gs pos="0">
                  <a:schemeClr val="tx2">
                    <a:lumMod val="20000"/>
                    <a:lumOff val="80000"/>
                    <a:alpha val="30000"/>
                  </a:schemeClr>
                </a:gs>
                <a:gs pos="100000">
                  <a:schemeClr val="accent5">
                    <a:lumMod val="20000"/>
                    <a:lumOff val="80000"/>
                    <a:alpha val="1000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20" name="图片 19"/>
          <p:cNvPicPr>
            <a:picLocks noChangeAspect="1"/>
          </p:cNvPicPr>
          <p:nvPr userDrawn="1"/>
        </p:nvPicPr>
        <p:blipFill>
          <a:blip r:embed="rId6"/>
          <a:stretch>
            <a:fillRect/>
          </a:stretch>
        </p:blipFill>
        <p:spPr>
          <a:xfrm>
            <a:off x="10920536" y="5577880"/>
            <a:ext cx="1143000" cy="1143000"/>
          </a:xfrm>
          <a:prstGeom prst="rect">
            <a:avLst/>
          </a:prstGeom>
          <a:scene3d>
            <a:camera prst="orthographicFront"/>
            <a:lightRig rig="threePt" dir="t"/>
          </a:scene3d>
          <a:sp3d>
            <a:bevelT/>
          </a:sp3d>
        </p:spPr>
      </p:pic>
      <p:grpSp>
        <p:nvGrpSpPr>
          <p:cNvPr id="21" name="Group 174"/>
          <p:cNvGrpSpPr/>
          <p:nvPr userDrawn="1"/>
        </p:nvGrpSpPr>
        <p:grpSpPr>
          <a:xfrm>
            <a:off x="9255345" y="2689662"/>
            <a:ext cx="1521175" cy="1461163"/>
            <a:chOff x="3689350" y="2546350"/>
            <a:chExt cx="1765300" cy="1765300"/>
          </a:xfrm>
          <a:scene3d>
            <a:camera prst="orthographicFront">
              <a:rot lat="0" lon="0" rev="0"/>
            </a:camera>
            <a:lightRig rig="chilly" dir="t">
              <a:rot lat="0" lon="0" rev="18480000"/>
            </a:lightRig>
          </a:scene3d>
        </p:grpSpPr>
        <p:sp>
          <p:nvSpPr>
            <p:cNvPr id="2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8"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9"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0"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1"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2"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3"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80" fill="hold"/>
                                        <p:tgtEl>
                                          <p:spTgt spid="18"/>
                                        </p:tgtEl>
                                      </p:cBhvr>
                                    </p:cmd>
                                  </p:childTnLst>
                                </p:cTn>
                              </p:par>
                              <p:par>
                                <p:cTn id="7" presetID="8" presetClass="emph" presetSubtype="0" fill="hold" nodeType="withEffect">
                                  <p:stCondLst>
                                    <p:cond delay="0"/>
                                  </p:stCondLst>
                                  <p:childTnLst>
                                    <p:animRot by="5400000">
                                      <p:cBhvr>
                                        <p:cTn id="8" dur="4000" fill="hold"/>
                                        <p:tgtEl>
                                          <p:spTgt spid="21"/>
                                        </p:tgtEl>
                                        <p:attrNameLst>
                                          <p:attrName>r</p:attrName>
                                        </p:attrNameLst>
                                      </p:cBhvr>
                                    </p:animRot>
                                  </p:childTnLst>
                                </p:cTn>
                              </p:par>
                              <p:par>
                                <p:cTn id="9" presetID="21" presetClass="entr" presetSubtype="3"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3)">
                                      <p:cBhvr>
                                        <p:cTn id="11"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repeatCount="indefinite" fill="hold" display="0">
                  <p:stCondLst>
                    <p:cond delay="indefinite"/>
                  </p:stCondLst>
                </p:cTn>
                <p:tgtEl>
                  <p:spTgt spid="18"/>
                </p:tgtEl>
              </p:cMediaNode>
            </p:video>
          </p:childTnLst>
        </p:cTn>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6" name="Picture 15"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defRPr sz="4000">
                <a:latin typeface="华文新魏" panose="02010800040101010101" pitchFamily="2" charset="-122"/>
                <a:ea typeface="华文新魏" panose="02010800040101010101" pitchFamily="2" charset="-122"/>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80321" y="2336872"/>
            <a:ext cx="9613861" cy="4260479"/>
          </a:xfrm>
        </p:spPr>
        <p:txBody>
          <a:bodyPr/>
          <a:lstStyle>
            <a:lvl1pPr>
              <a:defRPr sz="2800">
                <a:latin typeface="华文行楷" panose="02010800040101010101" pitchFamily="2" charset="-122"/>
                <a:ea typeface="华文行楷" panose="02010800040101010101" pitchFamily="2" charset="-122"/>
              </a:defRPr>
            </a:lvl1pPr>
            <a:lvl2pPr>
              <a:defRPr sz="2400">
                <a:latin typeface="华文行楷" panose="02010800040101010101" pitchFamily="2" charset="-122"/>
                <a:ea typeface="华文行楷" panose="02010800040101010101" pitchFamily="2" charset="-122"/>
              </a:defRPr>
            </a:lvl2pPr>
            <a:lvl3pPr>
              <a:defRPr sz="2200">
                <a:latin typeface="华文行楷" panose="02010800040101010101" pitchFamily="2" charset="-122"/>
                <a:ea typeface="华文行楷" panose="02010800040101010101" pitchFamily="2" charset="-122"/>
              </a:defRPr>
            </a:lvl3pPr>
            <a:lvl4pPr>
              <a:defRPr sz="2000">
                <a:latin typeface="华文行楷" panose="02010800040101010101" pitchFamily="2" charset="-122"/>
                <a:ea typeface="华文行楷" panose="02010800040101010101" pitchFamily="2" charset="-122"/>
              </a:defRPr>
            </a:lvl4pPr>
            <a:lvl5pPr>
              <a:defRPr sz="2000">
                <a:latin typeface="华文行楷" panose="02010800040101010101" pitchFamily="2" charset="-122"/>
                <a:ea typeface="华文行楷" panose="02010800040101010101" pitchFamily="2"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grpSp>
        <p:nvGrpSpPr>
          <p:cNvPr id="11" name="Group 174"/>
          <p:cNvGrpSpPr/>
          <p:nvPr userDrawn="1"/>
        </p:nvGrpSpPr>
        <p:grpSpPr>
          <a:xfrm>
            <a:off x="10775256" y="719341"/>
            <a:ext cx="1224136" cy="1180181"/>
            <a:chOff x="3689350" y="2546350"/>
            <a:chExt cx="1765300" cy="1765300"/>
          </a:xfrm>
          <a:scene3d>
            <a:camera prst="orthographicFront">
              <a:rot lat="0" lon="0" rev="0"/>
            </a:camera>
            <a:lightRig rig="chilly" dir="t">
              <a:rot lat="0" lon="0" rev="18480000"/>
            </a:lightRig>
          </a:scene3d>
        </p:grpSpPr>
        <p:sp>
          <p:nvSpPr>
            <p:cNvPr id="1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9"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0"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1"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2"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pic>
        <p:nvPicPr>
          <p:cNvPr id="8" name="图片 7"/>
          <p:cNvPicPr>
            <a:picLocks noChangeAspect="1"/>
          </p:cNvPicPr>
          <p:nvPr userDrawn="1"/>
        </p:nvPicPr>
        <p:blipFill>
          <a:blip r:embed="rId3"/>
          <a:stretch>
            <a:fillRect/>
          </a:stretch>
        </p:blipFill>
        <p:spPr>
          <a:xfrm>
            <a:off x="10925908" y="5589240"/>
            <a:ext cx="1143000" cy="1143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5400000">
                                      <p:cBhvr>
                                        <p:cTn id="6" dur="4000" fill="hold"/>
                                        <p:tgtEl>
                                          <p:spTgt spid="11"/>
                                        </p:tgtEl>
                                        <p:attrNameLst>
                                          <p:attrName>r</p:attrName>
                                        </p:attrNameLst>
                                      </p:cBhvr>
                                    </p:animRot>
                                  </p:childTnLst>
                                </p:cTn>
                              </p:par>
                              <p:par>
                                <p:cTn id="7" presetID="53" presetClass="entr" presetSubtype="16"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p:cTn id="9" dur="500" fill="hold"/>
                                        <p:tgtEl>
                                          <p:spTgt spid="8"/>
                                        </p:tgtEl>
                                        <p:attrNameLst>
                                          <p:attrName>ppt_w</p:attrName>
                                        </p:attrNameLst>
                                      </p:cBhvr>
                                      <p:tavLst>
                                        <p:tav tm="0">
                                          <p:val>
                                            <p:fltVal val="0"/>
                                          </p:val>
                                        </p:tav>
                                        <p:tav tm="100000">
                                          <p:val>
                                            <p:strVal val="#ppt_w"/>
                                          </p:val>
                                        </p:tav>
                                      </p:tavLst>
                                    </p:anim>
                                    <p:anim calcmode="lin" valueType="num">
                                      <p:cBhvr>
                                        <p:cTn id="10" dur="500" fill="hold"/>
                                        <p:tgtEl>
                                          <p:spTgt spid="8"/>
                                        </p:tgtEl>
                                        <p:attrNameLst>
                                          <p:attrName>ppt_h</p:attrName>
                                        </p:attrNameLst>
                                      </p:cBhvr>
                                      <p:tavLst>
                                        <p:tav tm="0">
                                          <p:val>
                                            <p:fltVal val="0"/>
                                          </p:val>
                                        </p:tav>
                                        <p:tav tm="100000">
                                          <p:val>
                                            <p:strVal val="#ppt_h"/>
                                          </p:val>
                                        </p:tav>
                                      </p:tavLst>
                                    </p:anim>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30578ACC-22D6-47C1-A373-4FD133E34F3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80320" y="2336873"/>
            <a:ext cx="46983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5594123" y="2336873"/>
            <a:ext cx="47000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80322" y="3030008"/>
            <a:ext cx="4698355"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5594123" y="3030008"/>
            <a:ext cx="4700059"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685846" y="2336873"/>
            <a:ext cx="5608336" cy="359931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E331444B-B92B-4E27-8C94-BB93EAF5CB1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363EFA5E-FA76-400D-B3DC-F0BA90E6D10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446C117F-5CCF-4837-BE5F-2B92066CAFAF}"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84EB90BD-B6CE-46B7-997F-7313B992CC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hasCustomPrompt="1"/>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4" name="Text Placeholder 3"/>
          <p:cNvSpPr>
            <a:spLocks noGrp="1"/>
          </p:cNvSpPr>
          <p:nvPr>
            <p:ph type="body" sz="half" idx="2" hasCustomPrompt="1"/>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DB9D11F-B188-461D-B23F-39381795C052}"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endParaRPr lang="en-US" sz="7200" dirty="0">
              <a:solidFill>
                <a:schemeClr val="tx1"/>
              </a:solidFill>
              <a:effectLst/>
            </a:endParaRP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endParaRPr lang="en-US" sz="7200" dirty="0">
              <a:solidFill>
                <a:schemeClr val="tx1"/>
              </a:solidFill>
              <a:effectLs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52E6D8D9-55A2-4063-B0F3-121F44549695}"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zh-CN" altLang="en-US"/>
              <a:t>单击此处编辑母版标题样式</a:t>
            </a:r>
            <a:endParaRPr lang="en-US" dirty="0"/>
          </a:p>
        </p:txBody>
      </p:sp>
      <p:sp>
        <p:nvSpPr>
          <p:cNvPr id="7" name="Text Placeholder 2"/>
          <p:cNvSpPr>
            <a:spLocks noGrp="1"/>
          </p:cNvSpPr>
          <p:nvPr>
            <p:ph type="body" idx="1" hasCustomPrompt="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8" name="Text Placeholder 3"/>
          <p:cNvSpPr>
            <a:spLocks noGrp="1"/>
          </p:cNvSpPr>
          <p:nvPr>
            <p:ph type="body" sz="half" idx="15" hasCustomPrompt="1"/>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9" name="Text Placeholder 4"/>
          <p:cNvSpPr>
            <a:spLocks noGrp="1"/>
          </p:cNvSpPr>
          <p:nvPr>
            <p:ph type="body" sz="quarter" idx="3" hasCustomPrompt="1"/>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 name="Text Placeholder 3"/>
          <p:cNvSpPr>
            <a:spLocks noGrp="1"/>
          </p:cNvSpPr>
          <p:nvPr>
            <p:ph type="body" sz="half" idx="16" hasCustomPrompt="1"/>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1" name="Text Placeholder 4"/>
          <p:cNvSpPr>
            <a:spLocks noGrp="1"/>
          </p:cNvSpPr>
          <p:nvPr>
            <p:ph type="body" sz="quarter" idx="13" hasCustomPrompt="1"/>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2" name="Text Placeholder 3"/>
          <p:cNvSpPr>
            <a:spLocks noGrp="1"/>
          </p:cNvSpPr>
          <p:nvPr>
            <p:ph type="body" sz="half" idx="17" hasCustomPrompt="1"/>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D4B24536-994D-4021-A283-9F449C0DB50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zh-CN" altLang="en-US"/>
              <a:t>单击此处编辑母版标题样式</a:t>
            </a:r>
            <a:endParaRPr lang="en-US" dirty="0"/>
          </a:p>
        </p:txBody>
      </p:sp>
      <p:sp>
        <p:nvSpPr>
          <p:cNvPr id="19" name="Text Placeholder 2"/>
          <p:cNvSpPr>
            <a:spLocks noGrp="1"/>
          </p:cNvSpPr>
          <p:nvPr>
            <p:ph type="body" idx="1" hasCustomPrompt="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hasCustomPrompt="1"/>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2" name="Text Placeholder 4"/>
          <p:cNvSpPr>
            <a:spLocks noGrp="1"/>
          </p:cNvSpPr>
          <p:nvPr>
            <p:ph type="body" sz="quarter" idx="3" hasCustomPrompt="1"/>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hasCustomPrompt="1"/>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5" name="Text Placeholder 4"/>
          <p:cNvSpPr>
            <a:spLocks noGrp="1"/>
          </p:cNvSpPr>
          <p:nvPr>
            <p:ph type="body" sz="quarter" idx="13" hasCustomPrompt="1"/>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hasCustomPrompt="1"/>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3CBBBB78-C96F-47B7-AB17-D852CA960AC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80322" y="609597"/>
            <a:ext cx="8870004" cy="5326589"/>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6.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9.xml"/><Relationship Id="rId19" Type="http://schemas.openxmlformats.org/officeDocument/2006/relationships/tags" Target="../tags/tag123.xml"/><Relationship Id="rId18" Type="http://schemas.openxmlformats.org/officeDocument/2006/relationships/slideLayout" Target="../slideLayouts/slideLayout35.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8">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34.xml"/><Relationship Id="rId3" Type="http://schemas.openxmlformats.org/officeDocument/2006/relationships/image" Target="../media/image7.png"/><Relationship Id="rId2" Type="http://schemas.openxmlformats.org/officeDocument/2006/relationships/tags" Target="../tags/tag13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37.xml"/><Relationship Id="rId3" Type="http://schemas.openxmlformats.org/officeDocument/2006/relationships/image" Target="../media/image7.png"/><Relationship Id="rId2" Type="http://schemas.openxmlformats.org/officeDocument/2006/relationships/tags" Target="../tags/tag136.xml"/><Relationship Id="rId1" Type="http://schemas.openxmlformats.org/officeDocument/2006/relationships/tags" Target="../tags/tag13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image" Target="../media/image7.png"/><Relationship Id="rId1" Type="http://schemas.openxmlformats.org/officeDocument/2006/relationships/tags" Target="../tags/tag138.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image" Target="../media/image7.png"/><Relationship Id="rId1" Type="http://schemas.openxmlformats.org/officeDocument/2006/relationships/tags" Target="../tags/tag141.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image" Target="../media/image7.png"/><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53.xml"/><Relationship Id="rId3" Type="http://schemas.openxmlformats.org/officeDocument/2006/relationships/image" Target="../media/image7.png"/><Relationship Id="rId2" Type="http://schemas.openxmlformats.org/officeDocument/2006/relationships/tags" Target="../tags/tag152.xml"/><Relationship Id="rId1" Type="http://schemas.openxmlformats.org/officeDocument/2006/relationships/tags" Target="../tags/tag15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image" Target="../media/image7.png"/><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162.xml"/><Relationship Id="rId5" Type="http://schemas.openxmlformats.org/officeDocument/2006/relationships/image" Target="../media/image8.png"/><Relationship Id="rId4" Type="http://schemas.openxmlformats.org/officeDocument/2006/relationships/tags" Target="../tags/tag161.xml"/><Relationship Id="rId3" Type="http://schemas.openxmlformats.org/officeDocument/2006/relationships/image" Target="../media/image7.png"/><Relationship Id="rId2" Type="http://schemas.openxmlformats.org/officeDocument/2006/relationships/tags" Target="../tags/tag160.xml"/><Relationship Id="rId1" Type="http://schemas.openxmlformats.org/officeDocument/2006/relationships/tags" Target="../tags/tag159.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image" Target="../media/image7.png"/><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72.xml"/><Relationship Id="rId4" Type="http://schemas.openxmlformats.org/officeDocument/2006/relationships/image" Target="../media/image7.png"/><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13.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1" Type="http://schemas.openxmlformats.org/officeDocument/2006/relationships/slideLayout" Target="../slideLayouts/slideLayout24.xml"/><Relationship Id="rId10" Type="http://schemas.openxmlformats.org/officeDocument/2006/relationships/tags" Target="../tags/tag181.xml"/><Relationship Id="rId1" Type="http://schemas.openxmlformats.org/officeDocument/2006/relationships/tags" Target="../tags/tag173.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image" Target="../media/image7.png"/><Relationship Id="rId1" Type="http://schemas.openxmlformats.org/officeDocument/2006/relationships/tags" Target="../tags/tag18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image" Target="../media/image7.png"/><Relationship Id="rId1" Type="http://schemas.openxmlformats.org/officeDocument/2006/relationships/tags" Target="../tags/tag185.xml"/></Relationships>
</file>

<file path=ppt/slides/_rels/slide16.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image" Target="../media/image7.png"/><Relationship Id="rId7" Type="http://schemas.openxmlformats.org/officeDocument/2006/relationships/tags" Target="../tags/tag194.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tags" Target="../tags/tag189.xml"/><Relationship Id="rId11" Type="http://schemas.openxmlformats.org/officeDocument/2006/relationships/slideLayout" Target="../slideLayouts/slideLayout24.xml"/><Relationship Id="rId10" Type="http://schemas.openxmlformats.org/officeDocument/2006/relationships/tags" Target="../tags/tag196.xml"/><Relationship Id="rId1" Type="http://schemas.openxmlformats.org/officeDocument/2006/relationships/tags" Target="../tags/tag188.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201.xml"/><Relationship Id="rId5" Type="http://schemas.openxmlformats.org/officeDocument/2006/relationships/image" Target="../media/image7.png"/><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image" Target="../media/image7.png"/><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_rels/slide19.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image" Target="../media/image9.jpeg"/><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7" Type="http://schemas.openxmlformats.org/officeDocument/2006/relationships/slideLayout" Target="../slideLayouts/slideLayout24.xml"/><Relationship Id="rId16" Type="http://schemas.openxmlformats.org/officeDocument/2006/relationships/tags" Target="../tags/tag221.xml"/><Relationship Id="rId15" Type="http://schemas.openxmlformats.org/officeDocument/2006/relationships/tags" Target="../tags/tag220.xml"/><Relationship Id="rId14" Type="http://schemas.openxmlformats.org/officeDocument/2006/relationships/image" Target="../media/image7.png"/><Relationship Id="rId13" Type="http://schemas.openxmlformats.org/officeDocument/2006/relationships/tags" Target="../tags/tag219.xml"/><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tags" Target="../tags/tag216.xml"/><Relationship Id="rId1" Type="http://schemas.openxmlformats.org/officeDocument/2006/relationships/tags" Target="../tags/tag208.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image" Target="../media/image7.png"/><Relationship Id="rId2" Type="http://schemas.openxmlformats.org/officeDocument/2006/relationships/tags" Target="../tags/tag223.xml"/><Relationship Id="rId1" Type="http://schemas.openxmlformats.org/officeDocument/2006/relationships/tags" Target="../tags/tag222.xml"/></Relationships>
</file>

<file path=ppt/slides/_rels/slide21.xml.rels><?xml version="1.0" encoding="UTF-8" standalone="yes"?>
<Relationships xmlns="http://schemas.openxmlformats.org/package/2006/relationships"><Relationship Id="rId9" Type="http://schemas.openxmlformats.org/officeDocument/2006/relationships/tags" Target="../tags/tag233.xml"/><Relationship Id="rId8" Type="http://schemas.openxmlformats.org/officeDocument/2006/relationships/tags" Target="../tags/tag232.xml"/><Relationship Id="rId7" Type="http://schemas.openxmlformats.org/officeDocument/2006/relationships/image" Target="../media/image10.png"/><Relationship Id="rId6" Type="http://schemas.openxmlformats.org/officeDocument/2006/relationships/tags" Target="../tags/tag231.xml"/><Relationship Id="rId5" Type="http://schemas.openxmlformats.org/officeDocument/2006/relationships/image" Target="../media/image7.png"/><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0" Type="http://schemas.openxmlformats.org/officeDocument/2006/relationships/slideLayout" Target="../slideLayouts/slideLayout24.xml"/><Relationship Id="rId1" Type="http://schemas.openxmlformats.org/officeDocument/2006/relationships/tags" Target="../tags/tag227.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image" Target="../media/image10.png"/><Relationship Id="rId4" Type="http://schemas.openxmlformats.org/officeDocument/2006/relationships/tags" Target="../tags/tag236.xml"/><Relationship Id="rId3" Type="http://schemas.openxmlformats.org/officeDocument/2006/relationships/image" Target="../media/image7.png"/><Relationship Id="rId2" Type="http://schemas.openxmlformats.org/officeDocument/2006/relationships/tags" Target="../tags/tag235.xml"/><Relationship Id="rId1" Type="http://schemas.openxmlformats.org/officeDocument/2006/relationships/tags" Target="../tags/tag234.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41.xml"/><Relationship Id="rId4" Type="http://schemas.openxmlformats.org/officeDocument/2006/relationships/image" Target="../media/image11.png"/><Relationship Id="rId3" Type="http://schemas.openxmlformats.org/officeDocument/2006/relationships/image" Target="../media/image7.png"/><Relationship Id="rId2" Type="http://schemas.openxmlformats.org/officeDocument/2006/relationships/tags" Target="../tags/tag240.xml"/><Relationship Id="rId1" Type="http://schemas.openxmlformats.org/officeDocument/2006/relationships/tags" Target="../tags/tag239.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44.xml"/><Relationship Id="rId3" Type="http://schemas.openxmlformats.org/officeDocument/2006/relationships/image" Target="../media/image7.png"/><Relationship Id="rId2" Type="http://schemas.openxmlformats.org/officeDocument/2006/relationships/tags" Target="../tags/tag243.xml"/><Relationship Id="rId1" Type="http://schemas.openxmlformats.org/officeDocument/2006/relationships/tags" Target="../tags/tag242.xml"/></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249.xml"/><Relationship Id="rId5" Type="http://schemas.openxmlformats.org/officeDocument/2006/relationships/image" Target="../media/image7.png"/><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4.xml"/><Relationship Id="rId6" Type="http://schemas.openxmlformats.org/officeDocument/2006/relationships/tags" Target="../tags/tag252.xml"/><Relationship Id="rId5" Type="http://schemas.openxmlformats.org/officeDocument/2006/relationships/image" Target="../media/image12.wmf"/><Relationship Id="rId4" Type="http://schemas.openxmlformats.org/officeDocument/2006/relationships/oleObject" Target="../embeddings/oleObject1.bin"/><Relationship Id="rId3" Type="http://schemas.openxmlformats.org/officeDocument/2006/relationships/image" Target="../media/image7.png"/><Relationship Id="rId2" Type="http://schemas.openxmlformats.org/officeDocument/2006/relationships/tags" Target="../tags/tag251.xml"/><Relationship Id="rId1" Type="http://schemas.openxmlformats.org/officeDocument/2006/relationships/tags" Target="../tags/tag250.xml"/></Relationships>
</file>

<file path=ppt/slides/_rels/slide27.xml.rels><?xml version="1.0" encoding="UTF-8" standalone="yes"?>
<Relationships xmlns="http://schemas.openxmlformats.org/package/2006/relationships"><Relationship Id="rId9" Type="http://schemas.openxmlformats.org/officeDocument/2006/relationships/image" Target="../media/image14.wmf"/><Relationship Id="rId8" Type="http://schemas.openxmlformats.org/officeDocument/2006/relationships/oleObject" Target="../embeddings/oleObject4.bin"/><Relationship Id="rId7" Type="http://schemas.openxmlformats.org/officeDocument/2006/relationships/image" Target="../media/image13.wmf"/><Relationship Id="rId6" Type="http://schemas.openxmlformats.org/officeDocument/2006/relationships/oleObject" Target="../embeddings/oleObject3.bin"/><Relationship Id="rId5" Type="http://schemas.openxmlformats.org/officeDocument/2006/relationships/image" Target="../media/image12.wmf"/><Relationship Id="rId4" Type="http://schemas.openxmlformats.org/officeDocument/2006/relationships/oleObject" Target="../embeddings/oleObject2.bin"/><Relationship Id="rId3" Type="http://schemas.openxmlformats.org/officeDocument/2006/relationships/image" Target="../media/image7.png"/><Relationship Id="rId2" Type="http://schemas.openxmlformats.org/officeDocument/2006/relationships/tags" Target="../tags/tag254.xml"/><Relationship Id="rId19" Type="http://schemas.openxmlformats.org/officeDocument/2006/relationships/vmlDrawing" Target="../drawings/vmlDrawing2.vml"/><Relationship Id="rId18" Type="http://schemas.openxmlformats.org/officeDocument/2006/relationships/slideLayout" Target="../slideLayouts/slideLayout24.xml"/><Relationship Id="rId17" Type="http://schemas.openxmlformats.org/officeDocument/2006/relationships/tags" Target="../tags/tag255.xml"/><Relationship Id="rId16" Type="http://schemas.openxmlformats.org/officeDocument/2006/relationships/oleObject" Target="../embeddings/oleObject8.bin"/><Relationship Id="rId15" Type="http://schemas.openxmlformats.org/officeDocument/2006/relationships/image" Target="../media/image17.wmf"/><Relationship Id="rId14" Type="http://schemas.openxmlformats.org/officeDocument/2006/relationships/oleObject" Target="../embeddings/oleObject7.bin"/><Relationship Id="rId13" Type="http://schemas.openxmlformats.org/officeDocument/2006/relationships/image" Target="../media/image16.wmf"/><Relationship Id="rId12" Type="http://schemas.openxmlformats.org/officeDocument/2006/relationships/oleObject" Target="../embeddings/oleObject6.bin"/><Relationship Id="rId11" Type="http://schemas.openxmlformats.org/officeDocument/2006/relationships/image" Target="../media/image15.wmf"/><Relationship Id="rId10" Type="http://schemas.openxmlformats.org/officeDocument/2006/relationships/oleObject" Target="../embeddings/oleObject5.bin"/><Relationship Id="rId1" Type="http://schemas.openxmlformats.org/officeDocument/2006/relationships/tags" Target="../tags/tag253.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58.xml"/><Relationship Id="rId3" Type="http://schemas.openxmlformats.org/officeDocument/2006/relationships/image" Target="../media/image7.png"/><Relationship Id="rId2" Type="http://schemas.openxmlformats.org/officeDocument/2006/relationships/tags" Target="../tags/tag257.xml"/><Relationship Id="rId1" Type="http://schemas.openxmlformats.org/officeDocument/2006/relationships/tags" Target="../tags/tag256.xml"/></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oleObject" Target="../embeddings/oleObject11.bin"/><Relationship Id="rId7" Type="http://schemas.openxmlformats.org/officeDocument/2006/relationships/image" Target="../media/image13.wmf"/><Relationship Id="rId6" Type="http://schemas.openxmlformats.org/officeDocument/2006/relationships/oleObject" Target="../embeddings/oleObject10.bin"/><Relationship Id="rId5" Type="http://schemas.openxmlformats.org/officeDocument/2006/relationships/image" Target="../media/image12.wmf"/><Relationship Id="rId4" Type="http://schemas.openxmlformats.org/officeDocument/2006/relationships/oleObject" Target="../embeddings/oleObject9.bin"/><Relationship Id="rId3" Type="http://schemas.openxmlformats.org/officeDocument/2006/relationships/image" Target="../media/image7.png"/><Relationship Id="rId2" Type="http://schemas.openxmlformats.org/officeDocument/2006/relationships/tags" Target="../tags/tag260.xml"/><Relationship Id="rId13" Type="http://schemas.openxmlformats.org/officeDocument/2006/relationships/vmlDrawing" Target="../drawings/vmlDrawing3.vml"/><Relationship Id="rId12" Type="http://schemas.openxmlformats.org/officeDocument/2006/relationships/slideLayout" Target="../slideLayouts/slideLayout24.xml"/><Relationship Id="rId11" Type="http://schemas.openxmlformats.org/officeDocument/2006/relationships/tags" Target="../tags/tag261.xml"/><Relationship Id="rId10" Type="http://schemas.openxmlformats.org/officeDocument/2006/relationships/oleObject" Target="../embeddings/oleObject13.bin"/><Relationship Id="rId1" Type="http://schemas.openxmlformats.org/officeDocument/2006/relationships/tags" Target="../tags/tag259.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64.xml"/><Relationship Id="rId3" Type="http://schemas.openxmlformats.org/officeDocument/2006/relationships/image" Target="../media/image7.png"/><Relationship Id="rId2" Type="http://schemas.openxmlformats.org/officeDocument/2006/relationships/tags" Target="../tags/tag263.xml"/><Relationship Id="rId1" Type="http://schemas.openxmlformats.org/officeDocument/2006/relationships/tags" Target="../tags/tag26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67.xml"/><Relationship Id="rId3" Type="http://schemas.openxmlformats.org/officeDocument/2006/relationships/image" Target="../media/image7.png"/><Relationship Id="rId2" Type="http://schemas.openxmlformats.org/officeDocument/2006/relationships/tags" Target="../tags/tag266.xml"/><Relationship Id="rId1" Type="http://schemas.openxmlformats.org/officeDocument/2006/relationships/tags" Target="../tags/tag265.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71.xml"/><Relationship Id="rId4" Type="http://schemas.openxmlformats.org/officeDocument/2006/relationships/tags" Target="../tags/tag270.xml"/><Relationship Id="rId3" Type="http://schemas.openxmlformats.org/officeDocument/2006/relationships/image" Target="../media/image7.png"/><Relationship Id="rId2" Type="http://schemas.openxmlformats.org/officeDocument/2006/relationships/tags" Target="../tags/tag269.xml"/><Relationship Id="rId1" Type="http://schemas.openxmlformats.org/officeDocument/2006/relationships/tags" Target="../tags/tag268.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image" Target="../media/image7.png"/><Relationship Id="rId2" Type="http://schemas.openxmlformats.org/officeDocument/2006/relationships/tags" Target="../tags/tag273.xml"/><Relationship Id="rId1" Type="http://schemas.openxmlformats.org/officeDocument/2006/relationships/tags" Target="../tags/tag272.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78.xml"/><Relationship Id="rId3" Type="http://schemas.openxmlformats.org/officeDocument/2006/relationships/image" Target="../media/image7.png"/><Relationship Id="rId2" Type="http://schemas.openxmlformats.org/officeDocument/2006/relationships/tags" Target="../tags/tag277.xml"/><Relationship Id="rId1" Type="http://schemas.openxmlformats.org/officeDocument/2006/relationships/tags" Target="../tags/tag276.xml"/></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285.xml"/><Relationship Id="rId7" Type="http://schemas.openxmlformats.org/officeDocument/2006/relationships/image" Target="../media/image7.png"/><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image" Target="../media/image7.png"/><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294.xml"/><Relationship Id="rId3" Type="http://schemas.openxmlformats.org/officeDocument/2006/relationships/image" Target="../media/image7.png"/><Relationship Id="rId2" Type="http://schemas.openxmlformats.org/officeDocument/2006/relationships/tags" Target="../tags/tag293.xml"/><Relationship Id="rId1" Type="http://schemas.openxmlformats.org/officeDocument/2006/relationships/tags" Target="../tags/tag292.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01.xml"/><Relationship Id="rId7" Type="http://schemas.openxmlformats.org/officeDocument/2006/relationships/image" Target="../media/image7.png"/><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0" Type="http://schemas.openxmlformats.org/officeDocument/2006/relationships/notesSlide" Target="../notesSlides/notesSlide1.xml"/><Relationship Id="rId1" Type="http://schemas.openxmlformats.org/officeDocument/2006/relationships/tags" Target="../tags/tag295.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image" Target="../media/image7.png"/><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14.xml"/><Relationship Id="rId7" Type="http://schemas.openxmlformats.org/officeDocument/2006/relationships/image" Target="../media/image7.png"/><Relationship Id="rId6" Type="http://schemas.openxmlformats.org/officeDocument/2006/relationships/tags" Target="../tags/tag313.xml"/><Relationship Id="rId5" Type="http://schemas.openxmlformats.org/officeDocument/2006/relationships/tags" Target="../tags/tag31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tags" Target="../tags/tag308.xml"/></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21.xml"/><Relationship Id="rId7" Type="http://schemas.openxmlformats.org/officeDocument/2006/relationships/tags" Target="../tags/tag320.xml"/><Relationship Id="rId6" Type="http://schemas.openxmlformats.org/officeDocument/2006/relationships/image" Target="../media/image7.png"/><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326.xml"/><Relationship Id="rId5" Type="http://schemas.openxmlformats.org/officeDocument/2006/relationships/image" Target="../media/image7.png"/><Relationship Id="rId4" Type="http://schemas.openxmlformats.org/officeDocument/2006/relationships/tags" Target="../tags/tag325.xml"/><Relationship Id="rId3" Type="http://schemas.openxmlformats.org/officeDocument/2006/relationships/tags" Target="../tags/tag324.xml"/><Relationship Id="rId2" Type="http://schemas.openxmlformats.org/officeDocument/2006/relationships/tags" Target="../tags/tag323.xml"/><Relationship Id="rId1" Type="http://schemas.openxmlformats.org/officeDocument/2006/relationships/tags" Target="../tags/tag322.xml"/></Relationships>
</file>

<file path=ppt/slides/_rels/slide43.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331.xml"/><Relationship Id="rId5" Type="http://schemas.openxmlformats.org/officeDocument/2006/relationships/image" Target="../media/image7.png"/><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35.xml"/><Relationship Id="rId4" Type="http://schemas.openxmlformats.org/officeDocument/2006/relationships/image" Target="../media/image7.png"/><Relationship Id="rId3" Type="http://schemas.openxmlformats.org/officeDocument/2006/relationships/tags" Target="../tags/tag334.xml"/><Relationship Id="rId2" Type="http://schemas.openxmlformats.org/officeDocument/2006/relationships/tags" Target="../tags/tag333.xml"/><Relationship Id="rId1" Type="http://schemas.openxmlformats.org/officeDocument/2006/relationships/tags" Target="../tags/tag332.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340.xml"/><Relationship Id="rId6" Type="http://schemas.openxmlformats.org/officeDocument/2006/relationships/image" Target="../media/image18.jpeg"/><Relationship Id="rId5" Type="http://schemas.openxmlformats.org/officeDocument/2006/relationships/image" Target="../media/image7.png"/><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345.xml"/><Relationship Id="rId5" Type="http://schemas.openxmlformats.org/officeDocument/2006/relationships/image" Target="../media/image7.png"/><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s>
</file>

<file path=ppt/slides/_rels/slide47.xml.rels><?xml version="1.0" encoding="UTF-8" standalone="yes"?>
<Relationships xmlns="http://schemas.openxmlformats.org/package/2006/relationships"><Relationship Id="rId9" Type="http://schemas.openxmlformats.org/officeDocument/2006/relationships/tags" Target="../tags/tag353.xml"/><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tags" Target="../tags/tag350.xml"/><Relationship Id="rId5" Type="http://schemas.openxmlformats.org/officeDocument/2006/relationships/image" Target="../media/image7.png"/><Relationship Id="rId4" Type="http://schemas.openxmlformats.org/officeDocument/2006/relationships/tags" Target="../tags/tag349.xml"/><Relationship Id="rId3" Type="http://schemas.openxmlformats.org/officeDocument/2006/relationships/tags" Target="../tags/tag348.xml"/><Relationship Id="rId2" Type="http://schemas.openxmlformats.org/officeDocument/2006/relationships/tags" Target="../tags/tag347.xml"/><Relationship Id="rId12" Type="http://schemas.openxmlformats.org/officeDocument/2006/relationships/slideLayout" Target="../slideLayouts/slideLayout24.xml"/><Relationship Id="rId11" Type="http://schemas.openxmlformats.org/officeDocument/2006/relationships/tags" Target="../tags/tag355.xml"/><Relationship Id="rId10" Type="http://schemas.openxmlformats.org/officeDocument/2006/relationships/tags" Target="../tags/tag354.xml"/><Relationship Id="rId1" Type="http://schemas.openxmlformats.org/officeDocument/2006/relationships/tags" Target="../tags/tag346.xml"/></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61.xml"/><Relationship Id="rId7" Type="http://schemas.openxmlformats.org/officeDocument/2006/relationships/tags" Target="../tags/tag360.xml"/><Relationship Id="rId6" Type="http://schemas.openxmlformats.org/officeDocument/2006/relationships/image" Target="../media/image18.jpeg"/><Relationship Id="rId5" Type="http://schemas.openxmlformats.org/officeDocument/2006/relationships/image" Target="../media/image7.png"/><Relationship Id="rId4" Type="http://schemas.openxmlformats.org/officeDocument/2006/relationships/tags" Target="../tags/tag359.xml"/><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tags" Target="../tags/tag356.xml"/></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image" Target="../media/image7.png"/><Relationship Id="rId2" Type="http://schemas.openxmlformats.org/officeDocument/2006/relationships/tags" Target="../tags/tag363.xml"/><Relationship Id="rId1" Type="http://schemas.openxmlformats.org/officeDocument/2006/relationships/tags" Target="../tags/tag362.xml"/></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69.xml"/><Relationship Id="rId4" Type="http://schemas.openxmlformats.org/officeDocument/2006/relationships/tags" Target="../tags/tag368.xml"/><Relationship Id="rId3" Type="http://schemas.openxmlformats.org/officeDocument/2006/relationships/image" Target="../media/image7.png"/><Relationship Id="rId2" Type="http://schemas.openxmlformats.org/officeDocument/2006/relationships/tags" Target="../tags/tag367.xml"/><Relationship Id="rId1" Type="http://schemas.openxmlformats.org/officeDocument/2006/relationships/tags" Target="../tags/tag366.xml"/></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image" Target="../media/image7.png"/><Relationship Id="rId2" Type="http://schemas.openxmlformats.org/officeDocument/2006/relationships/tags" Target="../tags/tag371.xml"/><Relationship Id="rId1" Type="http://schemas.openxmlformats.org/officeDocument/2006/relationships/tags" Target="../tags/tag370.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77.xml"/><Relationship Id="rId4" Type="http://schemas.openxmlformats.org/officeDocument/2006/relationships/tags" Target="../tags/tag376.xml"/><Relationship Id="rId3" Type="http://schemas.openxmlformats.org/officeDocument/2006/relationships/image" Target="../media/image7.png"/><Relationship Id="rId2" Type="http://schemas.openxmlformats.org/officeDocument/2006/relationships/tags" Target="../tags/tag375.xml"/><Relationship Id="rId1" Type="http://schemas.openxmlformats.org/officeDocument/2006/relationships/tags" Target="../tags/tag374.xml"/></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image" Target="../media/image7.png"/><Relationship Id="rId3" Type="http://schemas.openxmlformats.org/officeDocument/2006/relationships/tags" Target="../tags/tag380.xml"/><Relationship Id="rId2" Type="http://schemas.openxmlformats.org/officeDocument/2006/relationships/tags" Target="../tags/tag379.xml"/><Relationship Id="rId1" Type="http://schemas.openxmlformats.org/officeDocument/2006/relationships/tags" Target="../tags/tag378.xml"/></Relationships>
</file>

<file path=ppt/slides/_rels/slide54.xml.rels><?xml version="1.0" encoding="UTF-8" standalone="yes"?>
<Relationships xmlns="http://schemas.openxmlformats.org/package/2006/relationships"><Relationship Id="rId9" Type="http://schemas.openxmlformats.org/officeDocument/2006/relationships/tags" Target="../tags/tag389.xml"/><Relationship Id="rId8" Type="http://schemas.openxmlformats.org/officeDocument/2006/relationships/tags" Target="../tags/tag388.xml"/><Relationship Id="rId7" Type="http://schemas.openxmlformats.org/officeDocument/2006/relationships/tags" Target="../tags/tag387.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tags" Target="../tags/tag386.xml"/><Relationship Id="rId3" Type="http://schemas.openxmlformats.org/officeDocument/2006/relationships/tags" Target="../tags/tag385.xml"/><Relationship Id="rId2" Type="http://schemas.openxmlformats.org/officeDocument/2006/relationships/tags" Target="../tags/tag384.xml"/><Relationship Id="rId10" Type="http://schemas.openxmlformats.org/officeDocument/2006/relationships/slideLayout" Target="../slideLayouts/slideLayout24.xml"/><Relationship Id="rId1" Type="http://schemas.openxmlformats.org/officeDocument/2006/relationships/tags" Target="../tags/tag383.xml"/></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image" Target="../media/image7.png"/><Relationship Id="rId2" Type="http://schemas.openxmlformats.org/officeDocument/2006/relationships/tags" Target="../tags/tag391.xml"/><Relationship Id="rId1" Type="http://schemas.openxmlformats.org/officeDocument/2006/relationships/tags" Target="../tags/tag390.xml"/></Relationships>
</file>

<file path=ppt/slides/_rels/slide56.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97.xml"/><Relationship Id="rId4" Type="http://schemas.openxmlformats.org/officeDocument/2006/relationships/tags" Target="../tags/tag396.xml"/><Relationship Id="rId3" Type="http://schemas.openxmlformats.org/officeDocument/2006/relationships/image" Target="../media/image7.png"/><Relationship Id="rId2" Type="http://schemas.openxmlformats.org/officeDocument/2006/relationships/tags" Target="../tags/tag395.xml"/><Relationship Id="rId1" Type="http://schemas.openxmlformats.org/officeDocument/2006/relationships/tags" Target="../tags/tag394.xml"/></Relationships>
</file>

<file path=ppt/slides/_rels/slide57.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403.xml"/><Relationship Id="rId6" Type="http://schemas.openxmlformats.org/officeDocument/2006/relationships/tags" Target="../tags/tag402.xml"/><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image" Target="../media/image7.png"/><Relationship Id="rId2" Type="http://schemas.openxmlformats.org/officeDocument/2006/relationships/tags" Target="../tags/tag399.xml"/><Relationship Id="rId1" Type="http://schemas.openxmlformats.org/officeDocument/2006/relationships/tags" Target="../tags/tag398.xml"/></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410.xml"/><Relationship Id="rId7" Type="http://schemas.openxmlformats.org/officeDocument/2006/relationships/tags" Target="../tags/tag409.xml"/><Relationship Id="rId6" Type="http://schemas.openxmlformats.org/officeDocument/2006/relationships/tags" Target="../tags/tag408.xml"/><Relationship Id="rId5" Type="http://schemas.openxmlformats.org/officeDocument/2006/relationships/tags" Target="../tags/tag407.xml"/><Relationship Id="rId4" Type="http://schemas.openxmlformats.org/officeDocument/2006/relationships/tags" Target="../tags/tag406.xml"/><Relationship Id="rId3" Type="http://schemas.openxmlformats.org/officeDocument/2006/relationships/image" Target="../media/image7.png"/><Relationship Id="rId2" Type="http://schemas.openxmlformats.org/officeDocument/2006/relationships/tags" Target="../tags/tag405.xml"/><Relationship Id="rId1" Type="http://schemas.openxmlformats.org/officeDocument/2006/relationships/tags" Target="../tags/tag404.xml"/></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415.xml"/><Relationship Id="rId5" Type="http://schemas.openxmlformats.org/officeDocument/2006/relationships/image" Target="../media/image7.png"/><Relationship Id="rId4" Type="http://schemas.openxmlformats.org/officeDocument/2006/relationships/tags" Target="../tags/tag414.xml"/><Relationship Id="rId3" Type="http://schemas.openxmlformats.org/officeDocument/2006/relationships/tags" Target="../tags/tag413.xml"/><Relationship Id="rId2" Type="http://schemas.openxmlformats.org/officeDocument/2006/relationships/tags" Target="../tags/tag412.xml"/><Relationship Id="rId1" Type="http://schemas.openxmlformats.org/officeDocument/2006/relationships/tags" Target="../tags/tag411.xml"/></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420.xml"/><Relationship Id="rId5" Type="http://schemas.openxmlformats.org/officeDocument/2006/relationships/image" Target="../media/image7.png"/><Relationship Id="rId4" Type="http://schemas.openxmlformats.org/officeDocument/2006/relationships/tags" Target="../tags/tag419.xml"/><Relationship Id="rId3" Type="http://schemas.openxmlformats.org/officeDocument/2006/relationships/tags" Target="../tags/tag418.xml"/><Relationship Id="rId2" Type="http://schemas.openxmlformats.org/officeDocument/2006/relationships/tags" Target="../tags/tag417.xml"/><Relationship Id="rId1" Type="http://schemas.openxmlformats.org/officeDocument/2006/relationships/tags" Target="../tags/tag416.xml"/></Relationships>
</file>

<file path=ppt/slides/_rels/slide61.xml.rels><?xml version="1.0" encoding="UTF-8" standalone="yes"?>
<Relationships xmlns="http://schemas.openxmlformats.org/package/2006/relationships"><Relationship Id="rId9" Type="http://schemas.openxmlformats.org/officeDocument/2006/relationships/tags" Target="../tags/tag429.xml"/><Relationship Id="rId8" Type="http://schemas.openxmlformats.org/officeDocument/2006/relationships/tags" Target="../tags/tag428.xml"/><Relationship Id="rId7" Type="http://schemas.openxmlformats.org/officeDocument/2006/relationships/tags" Target="../tags/tag427.xml"/><Relationship Id="rId6" Type="http://schemas.openxmlformats.org/officeDocument/2006/relationships/tags" Target="../tags/tag426.xml"/><Relationship Id="rId5" Type="http://schemas.openxmlformats.org/officeDocument/2006/relationships/tags" Target="../tags/tag425.xml"/><Relationship Id="rId4" Type="http://schemas.openxmlformats.org/officeDocument/2006/relationships/tags" Target="../tags/tag424.xml"/><Relationship Id="rId3" Type="http://schemas.openxmlformats.org/officeDocument/2006/relationships/tags" Target="../tags/tag423.xml"/><Relationship Id="rId2" Type="http://schemas.openxmlformats.org/officeDocument/2006/relationships/tags" Target="../tags/tag422.xml"/><Relationship Id="rId17" Type="http://schemas.openxmlformats.org/officeDocument/2006/relationships/notesSlide" Target="../notesSlides/notesSlide2.xml"/><Relationship Id="rId16" Type="http://schemas.openxmlformats.org/officeDocument/2006/relationships/slideLayout" Target="../slideLayouts/slideLayout24.xml"/><Relationship Id="rId15" Type="http://schemas.openxmlformats.org/officeDocument/2006/relationships/tags" Target="../tags/tag434.xml"/><Relationship Id="rId14" Type="http://schemas.openxmlformats.org/officeDocument/2006/relationships/tags" Target="../tags/tag433.xml"/><Relationship Id="rId13" Type="http://schemas.openxmlformats.org/officeDocument/2006/relationships/tags" Target="../tags/tag432.xml"/><Relationship Id="rId12" Type="http://schemas.openxmlformats.org/officeDocument/2006/relationships/tags" Target="../tags/tag431.xml"/><Relationship Id="rId11" Type="http://schemas.openxmlformats.org/officeDocument/2006/relationships/image" Target="../media/image7.png"/><Relationship Id="rId10" Type="http://schemas.openxmlformats.org/officeDocument/2006/relationships/tags" Target="../tags/tag430.xml"/><Relationship Id="rId1" Type="http://schemas.openxmlformats.org/officeDocument/2006/relationships/tags" Target="../tags/tag421.xml"/></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4.xml"/><Relationship Id="rId6" Type="http://schemas.openxmlformats.org/officeDocument/2006/relationships/tags" Target="../tags/tag439.xml"/><Relationship Id="rId5" Type="http://schemas.openxmlformats.org/officeDocument/2006/relationships/tags" Target="../tags/tag438.xml"/><Relationship Id="rId4" Type="http://schemas.openxmlformats.org/officeDocument/2006/relationships/image" Target="../media/image7.png"/><Relationship Id="rId3" Type="http://schemas.openxmlformats.org/officeDocument/2006/relationships/tags" Target="../tags/tag437.xml"/><Relationship Id="rId2" Type="http://schemas.openxmlformats.org/officeDocument/2006/relationships/tags" Target="../tags/tag436.xml"/><Relationship Id="rId1" Type="http://schemas.openxmlformats.org/officeDocument/2006/relationships/tags" Target="../tags/tag435.xml"/></Relationships>
</file>

<file path=ppt/slides/_rels/slide63.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4.xml"/><Relationship Id="rId6" Type="http://schemas.openxmlformats.org/officeDocument/2006/relationships/tags" Target="../tags/tag444.xml"/><Relationship Id="rId5" Type="http://schemas.openxmlformats.org/officeDocument/2006/relationships/tags" Target="../tags/tag443.xml"/><Relationship Id="rId4" Type="http://schemas.openxmlformats.org/officeDocument/2006/relationships/tags" Target="../tags/tag442.xml"/><Relationship Id="rId3" Type="http://schemas.openxmlformats.org/officeDocument/2006/relationships/image" Target="../media/image7.png"/><Relationship Id="rId2" Type="http://schemas.openxmlformats.org/officeDocument/2006/relationships/tags" Target="../tags/tag441.xml"/><Relationship Id="rId1" Type="http://schemas.openxmlformats.org/officeDocument/2006/relationships/tags" Target="../tags/tag440.xml"/></Relationships>
</file>

<file path=ppt/slides/_rels/slide64.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4.xml"/><Relationship Id="rId7" Type="http://schemas.openxmlformats.org/officeDocument/2006/relationships/tags" Target="../tags/tag449.xml"/><Relationship Id="rId6" Type="http://schemas.openxmlformats.org/officeDocument/2006/relationships/tags" Target="../tags/tag448.xml"/><Relationship Id="rId5" Type="http://schemas.openxmlformats.org/officeDocument/2006/relationships/image" Target="../media/image7.png"/><Relationship Id="rId4" Type="http://schemas.openxmlformats.org/officeDocument/2006/relationships/image" Target="../media/image19.png"/><Relationship Id="rId3" Type="http://schemas.openxmlformats.org/officeDocument/2006/relationships/tags" Target="../tags/tag447.xml"/><Relationship Id="rId2" Type="http://schemas.openxmlformats.org/officeDocument/2006/relationships/tags" Target="../tags/tag446.xml"/><Relationship Id="rId1" Type="http://schemas.openxmlformats.org/officeDocument/2006/relationships/tags" Target="../tags/tag445.xml"/></Relationships>
</file>

<file path=ppt/slides/_rels/slide65.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24.xml"/><Relationship Id="rId7" Type="http://schemas.openxmlformats.org/officeDocument/2006/relationships/tags" Target="../tags/tag454.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image" Target="../media/image7.png"/><Relationship Id="rId3" Type="http://schemas.openxmlformats.org/officeDocument/2006/relationships/image" Target="../media/image20.emf"/><Relationship Id="rId2" Type="http://schemas.openxmlformats.org/officeDocument/2006/relationships/tags" Target="../tags/tag451.xml"/><Relationship Id="rId1" Type="http://schemas.openxmlformats.org/officeDocument/2006/relationships/tags" Target="../tags/tag450.xml"/></Relationships>
</file>

<file path=ppt/slides/_rels/slide66.xml.rels><?xml version="1.0" encoding="UTF-8" standalone="yes"?>
<Relationships xmlns="http://schemas.openxmlformats.org/package/2006/relationships"><Relationship Id="rId9" Type="http://schemas.openxmlformats.org/officeDocument/2006/relationships/tags" Target="../tags/tag462.xml"/><Relationship Id="rId8" Type="http://schemas.openxmlformats.org/officeDocument/2006/relationships/image" Target="../media/image7.png"/><Relationship Id="rId7" Type="http://schemas.openxmlformats.org/officeDocument/2006/relationships/tags" Target="../tags/tag461.xml"/><Relationship Id="rId6" Type="http://schemas.openxmlformats.org/officeDocument/2006/relationships/tags" Target="../tags/tag460.xml"/><Relationship Id="rId5" Type="http://schemas.openxmlformats.org/officeDocument/2006/relationships/tags" Target="../tags/tag459.xml"/><Relationship Id="rId4" Type="http://schemas.openxmlformats.org/officeDocument/2006/relationships/tags" Target="../tags/tag458.xml"/><Relationship Id="rId3" Type="http://schemas.openxmlformats.org/officeDocument/2006/relationships/tags" Target="../tags/tag457.xml"/><Relationship Id="rId2" Type="http://schemas.openxmlformats.org/officeDocument/2006/relationships/tags" Target="../tags/tag456.xml"/><Relationship Id="rId11" Type="http://schemas.openxmlformats.org/officeDocument/2006/relationships/slideLayout" Target="../slideLayouts/slideLayout24.xml"/><Relationship Id="rId10" Type="http://schemas.openxmlformats.org/officeDocument/2006/relationships/tags" Target="../tags/tag463.xml"/><Relationship Id="rId1" Type="http://schemas.openxmlformats.org/officeDocument/2006/relationships/tags" Target="../tags/tag455.xml"/></Relationships>
</file>

<file path=ppt/slides/_rels/slide67.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469.xml"/><Relationship Id="rId7" Type="http://schemas.openxmlformats.org/officeDocument/2006/relationships/tags" Target="../tags/tag468.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tags" Target="../tags/tag467.xml"/><Relationship Id="rId3" Type="http://schemas.openxmlformats.org/officeDocument/2006/relationships/tags" Target="../tags/tag466.xml"/><Relationship Id="rId2" Type="http://schemas.openxmlformats.org/officeDocument/2006/relationships/tags" Target="../tags/tag465.xml"/><Relationship Id="rId10" Type="http://schemas.openxmlformats.org/officeDocument/2006/relationships/notesSlide" Target="../notesSlides/notesSlide7.xml"/><Relationship Id="rId1" Type="http://schemas.openxmlformats.org/officeDocument/2006/relationships/tags" Target="../tags/tag464.xml"/></Relationships>
</file>

<file path=ppt/slides/_rels/slide6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24.xml"/><Relationship Id="rId7" Type="http://schemas.openxmlformats.org/officeDocument/2006/relationships/tags" Target="../tags/tag474.xml"/><Relationship Id="rId6" Type="http://schemas.openxmlformats.org/officeDocument/2006/relationships/tags" Target="../tags/tag473.xml"/><Relationship Id="rId5" Type="http://schemas.openxmlformats.org/officeDocument/2006/relationships/image" Target="../media/image7.png"/><Relationship Id="rId4" Type="http://schemas.openxmlformats.org/officeDocument/2006/relationships/image" Target="../media/image22.png"/><Relationship Id="rId3" Type="http://schemas.openxmlformats.org/officeDocument/2006/relationships/tags" Target="../tags/tag472.xml"/><Relationship Id="rId2" Type="http://schemas.openxmlformats.org/officeDocument/2006/relationships/tags" Target="../tags/tag471.xml"/><Relationship Id="rId1" Type="http://schemas.openxmlformats.org/officeDocument/2006/relationships/tags" Target="../tags/tag470.xml"/></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481.xml"/><Relationship Id="rId7" Type="http://schemas.openxmlformats.org/officeDocument/2006/relationships/tags" Target="../tags/tag480.xml"/><Relationship Id="rId6" Type="http://schemas.openxmlformats.org/officeDocument/2006/relationships/image" Target="../media/image7.png"/><Relationship Id="rId5" Type="http://schemas.openxmlformats.org/officeDocument/2006/relationships/tags" Target="../tags/tag479.xml"/><Relationship Id="rId4" Type="http://schemas.openxmlformats.org/officeDocument/2006/relationships/tags" Target="../tags/tag478.xml"/><Relationship Id="rId3" Type="http://schemas.openxmlformats.org/officeDocument/2006/relationships/tags" Target="../tags/tag477.xml"/><Relationship Id="rId2" Type="http://schemas.openxmlformats.org/officeDocument/2006/relationships/tags" Target="../tags/tag476.xml"/><Relationship Id="rId10" Type="http://schemas.openxmlformats.org/officeDocument/2006/relationships/notesSlide" Target="../notesSlides/notesSlide9.xml"/><Relationship Id="rId1" Type="http://schemas.openxmlformats.org/officeDocument/2006/relationships/tags" Target="../tags/tag475.xml"/></Relationships>
</file>

<file path=ppt/slides/_rels/slide70.xml.rels><?xml version="1.0" encoding="UTF-8" standalone="yes"?>
<Relationships xmlns="http://schemas.openxmlformats.org/package/2006/relationships"><Relationship Id="rId9" Type="http://schemas.openxmlformats.org/officeDocument/2006/relationships/tags" Target="../tags/tag489.xml"/><Relationship Id="rId8" Type="http://schemas.openxmlformats.org/officeDocument/2006/relationships/image" Target="../media/image7.png"/><Relationship Id="rId7" Type="http://schemas.openxmlformats.org/officeDocument/2006/relationships/tags" Target="../tags/tag488.xml"/><Relationship Id="rId6" Type="http://schemas.openxmlformats.org/officeDocument/2006/relationships/tags" Target="../tags/tag487.xml"/><Relationship Id="rId5" Type="http://schemas.openxmlformats.org/officeDocument/2006/relationships/tags" Target="../tags/tag486.xml"/><Relationship Id="rId4" Type="http://schemas.openxmlformats.org/officeDocument/2006/relationships/tags" Target="../tags/tag485.xml"/><Relationship Id="rId3" Type="http://schemas.openxmlformats.org/officeDocument/2006/relationships/tags" Target="../tags/tag484.xml"/><Relationship Id="rId2" Type="http://schemas.openxmlformats.org/officeDocument/2006/relationships/tags" Target="../tags/tag483.xml"/><Relationship Id="rId12" Type="http://schemas.openxmlformats.org/officeDocument/2006/relationships/notesSlide" Target="../notesSlides/notesSlide10.xml"/><Relationship Id="rId11" Type="http://schemas.openxmlformats.org/officeDocument/2006/relationships/slideLayout" Target="../slideLayouts/slideLayout24.xml"/><Relationship Id="rId10" Type="http://schemas.openxmlformats.org/officeDocument/2006/relationships/tags" Target="../tags/tag490.xml"/><Relationship Id="rId1" Type="http://schemas.openxmlformats.org/officeDocument/2006/relationships/tags" Target="../tags/tag482.xml"/></Relationships>
</file>

<file path=ppt/slides/_rels/slide7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4.xml"/><Relationship Id="rId6" Type="http://schemas.openxmlformats.org/officeDocument/2006/relationships/tags" Target="../tags/tag495.xml"/><Relationship Id="rId5" Type="http://schemas.openxmlformats.org/officeDocument/2006/relationships/tags" Target="../tags/tag494.xml"/><Relationship Id="rId4" Type="http://schemas.openxmlformats.org/officeDocument/2006/relationships/tags" Target="../tags/tag493.xml"/><Relationship Id="rId3" Type="http://schemas.openxmlformats.org/officeDocument/2006/relationships/image" Target="../media/image7.png"/><Relationship Id="rId2" Type="http://schemas.openxmlformats.org/officeDocument/2006/relationships/tags" Target="../tags/tag492.xml"/><Relationship Id="rId1" Type="http://schemas.openxmlformats.org/officeDocument/2006/relationships/tags" Target="../tags/tag491.xml"/></Relationships>
</file>

<file path=ppt/slides/_rels/slide7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4.xml"/><Relationship Id="rId6" Type="http://schemas.openxmlformats.org/officeDocument/2006/relationships/tags" Target="../tags/tag500.xml"/><Relationship Id="rId5" Type="http://schemas.openxmlformats.org/officeDocument/2006/relationships/tags" Target="../tags/tag499.xml"/><Relationship Id="rId4" Type="http://schemas.openxmlformats.org/officeDocument/2006/relationships/image" Target="../media/image7.png"/><Relationship Id="rId3" Type="http://schemas.openxmlformats.org/officeDocument/2006/relationships/tags" Target="../tags/tag498.xml"/><Relationship Id="rId2" Type="http://schemas.openxmlformats.org/officeDocument/2006/relationships/tags" Target="../tags/tag497.xml"/><Relationship Id="rId1" Type="http://schemas.openxmlformats.org/officeDocument/2006/relationships/tags" Target="../tags/tag496.xml"/></Relationships>
</file>

<file path=ppt/slides/_rels/slide7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4.xml"/><Relationship Id="rId7" Type="http://schemas.openxmlformats.org/officeDocument/2006/relationships/tags" Target="../tags/tag505.xml"/><Relationship Id="rId6" Type="http://schemas.openxmlformats.org/officeDocument/2006/relationships/tags" Target="../tags/tag504.xml"/><Relationship Id="rId5" Type="http://schemas.openxmlformats.org/officeDocument/2006/relationships/tags" Target="../tags/tag503.xml"/><Relationship Id="rId4" Type="http://schemas.openxmlformats.org/officeDocument/2006/relationships/image" Target="../media/image7.png"/><Relationship Id="rId3" Type="http://schemas.openxmlformats.org/officeDocument/2006/relationships/image" Target="../media/image23.png"/><Relationship Id="rId2" Type="http://schemas.openxmlformats.org/officeDocument/2006/relationships/tags" Target="../tags/tag502.xml"/><Relationship Id="rId1" Type="http://schemas.openxmlformats.org/officeDocument/2006/relationships/tags" Target="../tags/tag501.xml"/></Relationships>
</file>

<file path=ppt/slides/_rels/slide74.xml.rels><?xml version="1.0" encoding="UTF-8" standalone="yes"?>
<Relationships xmlns="http://schemas.openxmlformats.org/package/2006/relationships"><Relationship Id="rId9" Type="http://schemas.openxmlformats.org/officeDocument/2006/relationships/tags" Target="../tags/tag513.xml"/><Relationship Id="rId8" Type="http://schemas.openxmlformats.org/officeDocument/2006/relationships/image" Target="../media/image7.png"/><Relationship Id="rId7" Type="http://schemas.openxmlformats.org/officeDocument/2006/relationships/tags" Target="../tags/tag512.xml"/><Relationship Id="rId6" Type="http://schemas.openxmlformats.org/officeDocument/2006/relationships/tags" Target="../tags/tag511.xml"/><Relationship Id="rId5" Type="http://schemas.openxmlformats.org/officeDocument/2006/relationships/tags" Target="../tags/tag510.xml"/><Relationship Id="rId4" Type="http://schemas.openxmlformats.org/officeDocument/2006/relationships/tags" Target="../tags/tag509.xml"/><Relationship Id="rId3" Type="http://schemas.openxmlformats.org/officeDocument/2006/relationships/tags" Target="../tags/tag508.xml"/><Relationship Id="rId2" Type="http://schemas.openxmlformats.org/officeDocument/2006/relationships/tags" Target="../tags/tag507.xml"/><Relationship Id="rId12" Type="http://schemas.openxmlformats.org/officeDocument/2006/relationships/notesSlide" Target="../notesSlides/notesSlide14.xml"/><Relationship Id="rId11" Type="http://schemas.openxmlformats.org/officeDocument/2006/relationships/slideLayout" Target="../slideLayouts/slideLayout24.xml"/><Relationship Id="rId10" Type="http://schemas.openxmlformats.org/officeDocument/2006/relationships/tags" Target="../tags/tag514.xml"/><Relationship Id="rId1" Type="http://schemas.openxmlformats.org/officeDocument/2006/relationships/tags" Target="../tags/tag506.xml"/></Relationships>
</file>

<file path=ppt/slides/_rels/slide7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4.xml"/><Relationship Id="rId5" Type="http://schemas.openxmlformats.org/officeDocument/2006/relationships/tags" Target="../tags/tag518.xml"/><Relationship Id="rId4" Type="http://schemas.openxmlformats.org/officeDocument/2006/relationships/tags" Target="../tags/tag517.xml"/><Relationship Id="rId3" Type="http://schemas.openxmlformats.org/officeDocument/2006/relationships/image" Target="../media/image7.png"/><Relationship Id="rId2" Type="http://schemas.openxmlformats.org/officeDocument/2006/relationships/tags" Target="../tags/tag516.xml"/><Relationship Id="rId1" Type="http://schemas.openxmlformats.org/officeDocument/2006/relationships/tags" Target="../tags/tag515.xml"/></Relationships>
</file>

<file path=ppt/slides/_rels/slide76.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image" Target="../media/image7.png"/><Relationship Id="rId3" Type="http://schemas.openxmlformats.org/officeDocument/2006/relationships/tags" Target="../tags/tag521.xml"/><Relationship Id="rId2" Type="http://schemas.openxmlformats.org/officeDocument/2006/relationships/tags" Target="../tags/tag520.xml"/><Relationship Id="rId1" Type="http://schemas.openxmlformats.org/officeDocument/2006/relationships/tags" Target="../tags/tag519.xml"/></Relationships>
</file>

<file path=ppt/slides/_rels/slide77.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527.xml"/><Relationship Id="rId4" Type="http://schemas.openxmlformats.org/officeDocument/2006/relationships/tags" Target="../tags/tag526.xml"/><Relationship Id="rId3" Type="http://schemas.openxmlformats.org/officeDocument/2006/relationships/image" Target="../media/image7.png"/><Relationship Id="rId2" Type="http://schemas.openxmlformats.org/officeDocument/2006/relationships/tags" Target="../tags/tag525.xml"/><Relationship Id="rId1" Type="http://schemas.openxmlformats.org/officeDocument/2006/relationships/tags" Target="../tags/tag524.xml"/></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531.xml"/><Relationship Id="rId4" Type="http://schemas.openxmlformats.org/officeDocument/2006/relationships/tags" Target="../tags/tag530.xml"/><Relationship Id="rId3" Type="http://schemas.openxmlformats.org/officeDocument/2006/relationships/image" Target="../media/image7.png"/><Relationship Id="rId2" Type="http://schemas.openxmlformats.org/officeDocument/2006/relationships/tags" Target="../tags/tag529.xml"/><Relationship Id="rId1" Type="http://schemas.openxmlformats.org/officeDocument/2006/relationships/tags" Target="../tags/tag528.xml"/></Relationships>
</file>

<file path=ppt/slides/_rels/slide79.xml.rels><?xml version="1.0" encoding="UTF-8" standalone="yes"?>
<Relationships xmlns="http://schemas.openxmlformats.org/package/2006/relationships"><Relationship Id="rId9" Type="http://schemas.openxmlformats.org/officeDocument/2006/relationships/tags" Target="../tags/tag539.xml"/><Relationship Id="rId8" Type="http://schemas.openxmlformats.org/officeDocument/2006/relationships/image" Target="../media/image7.png"/><Relationship Id="rId7" Type="http://schemas.openxmlformats.org/officeDocument/2006/relationships/tags" Target="../tags/tag538.xml"/><Relationship Id="rId6" Type="http://schemas.openxmlformats.org/officeDocument/2006/relationships/tags" Target="../tags/tag537.xml"/><Relationship Id="rId5" Type="http://schemas.openxmlformats.org/officeDocument/2006/relationships/tags" Target="../tags/tag536.xml"/><Relationship Id="rId4" Type="http://schemas.openxmlformats.org/officeDocument/2006/relationships/tags" Target="../tags/tag535.xml"/><Relationship Id="rId3" Type="http://schemas.openxmlformats.org/officeDocument/2006/relationships/tags" Target="../tags/tag534.xml"/><Relationship Id="rId2" Type="http://schemas.openxmlformats.org/officeDocument/2006/relationships/tags" Target="../tags/tag533.xml"/><Relationship Id="rId13" Type="http://schemas.openxmlformats.org/officeDocument/2006/relationships/notesSlide" Target="../notesSlides/notesSlide16.xml"/><Relationship Id="rId12" Type="http://schemas.openxmlformats.org/officeDocument/2006/relationships/slideLayout" Target="../slideLayouts/slideLayout24.xml"/><Relationship Id="rId11" Type="http://schemas.openxmlformats.org/officeDocument/2006/relationships/tags" Target="../tags/tag541.xml"/><Relationship Id="rId10" Type="http://schemas.openxmlformats.org/officeDocument/2006/relationships/tags" Target="../tags/tag540.xml"/><Relationship Id="rId1" Type="http://schemas.openxmlformats.org/officeDocument/2006/relationships/tags" Target="../tags/tag532.xml"/></Relationships>
</file>

<file path=ppt/slides/_rels/slide80.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4.xml"/><Relationship Id="rId7" Type="http://schemas.openxmlformats.org/officeDocument/2006/relationships/tags" Target="../tags/tag547.xml"/><Relationship Id="rId6" Type="http://schemas.openxmlformats.org/officeDocument/2006/relationships/tags" Target="../tags/tag546.xml"/><Relationship Id="rId5" Type="http://schemas.openxmlformats.org/officeDocument/2006/relationships/tags" Target="../tags/tag545.xml"/><Relationship Id="rId4" Type="http://schemas.openxmlformats.org/officeDocument/2006/relationships/image" Target="../media/image7.png"/><Relationship Id="rId3" Type="http://schemas.openxmlformats.org/officeDocument/2006/relationships/tags" Target="../tags/tag544.xml"/><Relationship Id="rId2" Type="http://schemas.openxmlformats.org/officeDocument/2006/relationships/tags" Target="../tags/tag543.xml"/><Relationship Id="rId1" Type="http://schemas.openxmlformats.org/officeDocument/2006/relationships/tags" Target="../tags/tag542.xml"/></Relationships>
</file>

<file path=ppt/slides/_rels/slide81.xml.rels><?xml version="1.0" encoding="UTF-8" standalone="yes"?>
<Relationships xmlns="http://schemas.openxmlformats.org/package/2006/relationships"><Relationship Id="rId9" Type="http://schemas.openxmlformats.org/officeDocument/2006/relationships/tags" Target="../tags/tag555.xml"/><Relationship Id="rId8" Type="http://schemas.openxmlformats.org/officeDocument/2006/relationships/image" Target="../media/image7.png"/><Relationship Id="rId7" Type="http://schemas.openxmlformats.org/officeDocument/2006/relationships/tags" Target="../tags/tag554.xml"/><Relationship Id="rId6" Type="http://schemas.openxmlformats.org/officeDocument/2006/relationships/tags" Target="../tags/tag553.xml"/><Relationship Id="rId5" Type="http://schemas.openxmlformats.org/officeDocument/2006/relationships/tags" Target="../tags/tag552.xml"/><Relationship Id="rId4" Type="http://schemas.openxmlformats.org/officeDocument/2006/relationships/tags" Target="../tags/tag551.xml"/><Relationship Id="rId3" Type="http://schemas.openxmlformats.org/officeDocument/2006/relationships/tags" Target="../tags/tag550.xml"/><Relationship Id="rId2" Type="http://schemas.openxmlformats.org/officeDocument/2006/relationships/tags" Target="../tags/tag549.xml"/><Relationship Id="rId13" Type="http://schemas.openxmlformats.org/officeDocument/2006/relationships/notesSlide" Target="../notesSlides/notesSlide18.xml"/><Relationship Id="rId12" Type="http://schemas.openxmlformats.org/officeDocument/2006/relationships/slideLayout" Target="../slideLayouts/slideLayout24.xml"/><Relationship Id="rId11" Type="http://schemas.openxmlformats.org/officeDocument/2006/relationships/tags" Target="../tags/tag557.xml"/><Relationship Id="rId10" Type="http://schemas.openxmlformats.org/officeDocument/2006/relationships/tags" Target="../tags/tag556.xml"/><Relationship Id="rId1" Type="http://schemas.openxmlformats.org/officeDocument/2006/relationships/tags" Target="../tags/tag548.xml"/></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4.xml"/><Relationship Id="rId6" Type="http://schemas.openxmlformats.org/officeDocument/2006/relationships/tags" Target="../tags/tag562.xml"/><Relationship Id="rId5" Type="http://schemas.openxmlformats.org/officeDocument/2006/relationships/tags" Target="../tags/tag561.xml"/><Relationship Id="rId4" Type="http://schemas.openxmlformats.org/officeDocument/2006/relationships/image" Target="../media/image7.png"/><Relationship Id="rId3" Type="http://schemas.openxmlformats.org/officeDocument/2006/relationships/tags" Target="../tags/tag560.xml"/><Relationship Id="rId2" Type="http://schemas.openxmlformats.org/officeDocument/2006/relationships/tags" Target="../tags/tag559.xml"/><Relationship Id="rId1" Type="http://schemas.openxmlformats.org/officeDocument/2006/relationships/tags" Target="../tags/tag558.xml"/></Relationships>
</file>

<file path=ppt/slides/_rels/slide83.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4.xml"/><Relationship Id="rId5" Type="http://schemas.openxmlformats.org/officeDocument/2006/relationships/tags" Target="../tags/tag566.xml"/><Relationship Id="rId4" Type="http://schemas.openxmlformats.org/officeDocument/2006/relationships/tags" Target="../tags/tag565.xml"/><Relationship Id="rId3" Type="http://schemas.openxmlformats.org/officeDocument/2006/relationships/image" Target="../media/image7.png"/><Relationship Id="rId2" Type="http://schemas.openxmlformats.org/officeDocument/2006/relationships/tags" Target="../tags/tag564.xml"/><Relationship Id="rId1" Type="http://schemas.openxmlformats.org/officeDocument/2006/relationships/tags" Target="../tags/tag563.xml"/></Relationships>
</file>

<file path=ppt/slides/_rels/slide84.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571.xml"/><Relationship Id="rId5" Type="http://schemas.openxmlformats.org/officeDocument/2006/relationships/tags" Target="../tags/tag570.xml"/><Relationship Id="rId4" Type="http://schemas.openxmlformats.org/officeDocument/2006/relationships/tags" Target="../tags/tag569.xml"/><Relationship Id="rId3" Type="http://schemas.openxmlformats.org/officeDocument/2006/relationships/image" Target="../media/image7.png"/><Relationship Id="rId2" Type="http://schemas.openxmlformats.org/officeDocument/2006/relationships/tags" Target="../tags/tag568.xml"/><Relationship Id="rId1" Type="http://schemas.openxmlformats.org/officeDocument/2006/relationships/tags" Target="../tags/tag567.xml"/></Relationships>
</file>

<file path=ppt/slides/_rels/slide85.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575.xml"/><Relationship Id="rId4" Type="http://schemas.openxmlformats.org/officeDocument/2006/relationships/tags" Target="../tags/tag574.xml"/><Relationship Id="rId3" Type="http://schemas.openxmlformats.org/officeDocument/2006/relationships/image" Target="../media/image7.png"/><Relationship Id="rId2" Type="http://schemas.openxmlformats.org/officeDocument/2006/relationships/tags" Target="../tags/tag573.xml"/><Relationship Id="rId1" Type="http://schemas.openxmlformats.org/officeDocument/2006/relationships/tags" Target="../tags/tag572.xml"/></Relationships>
</file>

<file path=ppt/slides/_rels/slide86.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4.xml"/><Relationship Id="rId6" Type="http://schemas.openxmlformats.org/officeDocument/2006/relationships/tags" Target="../tags/tag580.xml"/><Relationship Id="rId5" Type="http://schemas.openxmlformats.org/officeDocument/2006/relationships/tags" Target="../tags/tag579.xml"/><Relationship Id="rId4" Type="http://schemas.openxmlformats.org/officeDocument/2006/relationships/image" Target="../media/image7.png"/><Relationship Id="rId3" Type="http://schemas.openxmlformats.org/officeDocument/2006/relationships/tags" Target="../tags/tag578.xml"/><Relationship Id="rId2" Type="http://schemas.openxmlformats.org/officeDocument/2006/relationships/tags" Target="../tags/tag577.xml"/><Relationship Id="rId1" Type="http://schemas.openxmlformats.org/officeDocument/2006/relationships/tags" Target="../tags/tag576.xml"/></Relationships>
</file>

<file path=ppt/slides/_rels/slide87.x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oleObject" Target="../embeddings/oleObject15.bin"/><Relationship Id="rId7" Type="http://schemas.openxmlformats.org/officeDocument/2006/relationships/image" Target="../media/image24.wmf"/><Relationship Id="rId6" Type="http://schemas.openxmlformats.org/officeDocument/2006/relationships/oleObject" Target="../embeddings/oleObject14.bin"/><Relationship Id="rId5" Type="http://schemas.openxmlformats.org/officeDocument/2006/relationships/tags" Target="../tags/tag584.xml"/><Relationship Id="rId4" Type="http://schemas.openxmlformats.org/officeDocument/2006/relationships/tags" Target="../tags/tag583.xml"/><Relationship Id="rId3" Type="http://schemas.openxmlformats.org/officeDocument/2006/relationships/image" Target="../media/image7.png"/><Relationship Id="rId21" Type="http://schemas.openxmlformats.org/officeDocument/2006/relationships/notesSlide" Target="../notesSlides/notesSlide22.xml"/><Relationship Id="rId20" Type="http://schemas.openxmlformats.org/officeDocument/2006/relationships/vmlDrawing" Target="../drawings/vmlDrawing4.vml"/><Relationship Id="rId2" Type="http://schemas.openxmlformats.org/officeDocument/2006/relationships/tags" Target="../tags/tag582.xml"/><Relationship Id="rId19" Type="http://schemas.openxmlformats.org/officeDocument/2006/relationships/slideLayout" Target="../slideLayouts/slideLayout24.xml"/><Relationship Id="rId18" Type="http://schemas.openxmlformats.org/officeDocument/2006/relationships/tags" Target="../tags/tag585.xml"/><Relationship Id="rId17" Type="http://schemas.openxmlformats.org/officeDocument/2006/relationships/image" Target="../media/image29.wmf"/><Relationship Id="rId16" Type="http://schemas.openxmlformats.org/officeDocument/2006/relationships/oleObject" Target="../embeddings/oleObject19.bin"/><Relationship Id="rId15" Type="http://schemas.openxmlformats.org/officeDocument/2006/relationships/image" Target="../media/image28.wmf"/><Relationship Id="rId14" Type="http://schemas.openxmlformats.org/officeDocument/2006/relationships/oleObject" Target="../embeddings/oleObject18.bin"/><Relationship Id="rId13" Type="http://schemas.openxmlformats.org/officeDocument/2006/relationships/image" Target="../media/image27.wmf"/><Relationship Id="rId12" Type="http://schemas.openxmlformats.org/officeDocument/2006/relationships/oleObject" Target="../embeddings/oleObject17.bin"/><Relationship Id="rId11" Type="http://schemas.openxmlformats.org/officeDocument/2006/relationships/image" Target="../media/image26.wmf"/><Relationship Id="rId10" Type="http://schemas.openxmlformats.org/officeDocument/2006/relationships/oleObject" Target="../embeddings/oleObject16.bin"/><Relationship Id="rId1" Type="http://schemas.openxmlformats.org/officeDocument/2006/relationships/tags" Target="../tags/tag581.xml"/></Relationships>
</file>

<file path=ppt/slides/_rels/slide88.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24.xml"/><Relationship Id="rId5" Type="http://schemas.openxmlformats.org/officeDocument/2006/relationships/tags" Target="../tags/tag589.xml"/><Relationship Id="rId4" Type="http://schemas.openxmlformats.org/officeDocument/2006/relationships/tags" Target="../tags/tag588.xml"/><Relationship Id="rId3" Type="http://schemas.openxmlformats.org/officeDocument/2006/relationships/tags" Target="../tags/tag587.xml"/><Relationship Id="rId2" Type="http://schemas.openxmlformats.org/officeDocument/2006/relationships/image" Target="../media/image7.png"/><Relationship Id="rId1" Type="http://schemas.openxmlformats.org/officeDocument/2006/relationships/tags" Target="../tags/tag586.xml"/></Relationships>
</file>

<file path=ppt/slides/_rels/slide89.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24.xml"/><Relationship Id="rId5" Type="http://schemas.openxmlformats.org/officeDocument/2006/relationships/tags" Target="../tags/tag593.xml"/><Relationship Id="rId4" Type="http://schemas.openxmlformats.org/officeDocument/2006/relationships/tags" Target="../tags/tag592.xml"/><Relationship Id="rId3" Type="http://schemas.openxmlformats.org/officeDocument/2006/relationships/tags" Target="../tags/tag591.xml"/><Relationship Id="rId2" Type="http://schemas.openxmlformats.org/officeDocument/2006/relationships/image" Target="../media/image7.png"/><Relationship Id="rId1" Type="http://schemas.openxmlformats.org/officeDocument/2006/relationships/tags" Target="../tags/tag590.xml"/></Relationships>
</file>

<file path=ppt/slides/_rels/slide90.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601.xml"/><Relationship Id="rId7" Type="http://schemas.openxmlformats.org/officeDocument/2006/relationships/tags" Target="../tags/tag600.xml"/><Relationship Id="rId6" Type="http://schemas.openxmlformats.org/officeDocument/2006/relationships/tags" Target="../tags/tag599.xml"/><Relationship Id="rId5" Type="http://schemas.openxmlformats.org/officeDocument/2006/relationships/tags" Target="../tags/tag598.xml"/><Relationship Id="rId4" Type="http://schemas.openxmlformats.org/officeDocument/2006/relationships/tags" Target="../tags/tag597.xml"/><Relationship Id="rId3" Type="http://schemas.openxmlformats.org/officeDocument/2006/relationships/tags" Target="../tags/tag596.xml"/><Relationship Id="rId2" Type="http://schemas.openxmlformats.org/officeDocument/2006/relationships/tags" Target="../tags/tag595.xml"/><Relationship Id="rId12" Type="http://schemas.openxmlformats.org/officeDocument/2006/relationships/slideLayout" Target="../slideLayouts/slideLayout24.xml"/><Relationship Id="rId11" Type="http://schemas.openxmlformats.org/officeDocument/2006/relationships/tags" Target="../tags/tag603.xml"/><Relationship Id="rId10" Type="http://schemas.openxmlformats.org/officeDocument/2006/relationships/tags" Target="../tags/tag602.xml"/><Relationship Id="rId1" Type="http://schemas.openxmlformats.org/officeDocument/2006/relationships/tags" Target="../tags/tag594.xml"/></Relationships>
</file>

<file path=ppt/slides/_rels/slide9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611.xml"/><Relationship Id="rId7" Type="http://schemas.openxmlformats.org/officeDocument/2006/relationships/tags" Target="../tags/tag610.xml"/><Relationship Id="rId6" Type="http://schemas.openxmlformats.org/officeDocument/2006/relationships/tags" Target="../tags/tag609.xml"/><Relationship Id="rId5" Type="http://schemas.openxmlformats.org/officeDocument/2006/relationships/tags" Target="../tags/tag608.xml"/><Relationship Id="rId4" Type="http://schemas.openxmlformats.org/officeDocument/2006/relationships/tags" Target="../tags/tag607.xml"/><Relationship Id="rId3" Type="http://schemas.openxmlformats.org/officeDocument/2006/relationships/tags" Target="../tags/tag606.xml"/><Relationship Id="rId2" Type="http://schemas.openxmlformats.org/officeDocument/2006/relationships/tags" Target="../tags/tag605.xml"/><Relationship Id="rId11" Type="http://schemas.openxmlformats.org/officeDocument/2006/relationships/slideLayout" Target="../slideLayouts/slideLayout24.xml"/><Relationship Id="rId10" Type="http://schemas.openxmlformats.org/officeDocument/2006/relationships/tags" Target="../tags/tag612.xml"/><Relationship Id="rId1" Type="http://schemas.openxmlformats.org/officeDocument/2006/relationships/tags" Target="../tags/tag604.xml"/></Relationships>
</file>

<file path=ppt/slides/_rels/slide92.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24.xml"/><Relationship Id="rId6" Type="http://schemas.openxmlformats.org/officeDocument/2006/relationships/tags" Target="../tags/tag617.xml"/><Relationship Id="rId5" Type="http://schemas.openxmlformats.org/officeDocument/2006/relationships/tags" Target="../tags/tag616.xml"/><Relationship Id="rId4" Type="http://schemas.openxmlformats.org/officeDocument/2006/relationships/tags" Target="../tags/tag615.xml"/><Relationship Id="rId3" Type="http://schemas.openxmlformats.org/officeDocument/2006/relationships/image" Target="../media/image7.png"/><Relationship Id="rId2" Type="http://schemas.openxmlformats.org/officeDocument/2006/relationships/tags" Target="../tags/tag614.xml"/><Relationship Id="rId1" Type="http://schemas.openxmlformats.org/officeDocument/2006/relationships/tags" Target="../tags/tag613.xml"/></Relationships>
</file>

<file path=ppt/slides/_rels/slide93.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24.xml"/><Relationship Id="rId6" Type="http://schemas.openxmlformats.org/officeDocument/2006/relationships/tags" Target="../tags/tag622.xml"/><Relationship Id="rId5" Type="http://schemas.openxmlformats.org/officeDocument/2006/relationships/tags" Target="../tags/tag621.xml"/><Relationship Id="rId4" Type="http://schemas.openxmlformats.org/officeDocument/2006/relationships/image" Target="../media/image7.png"/><Relationship Id="rId3" Type="http://schemas.openxmlformats.org/officeDocument/2006/relationships/tags" Target="../tags/tag620.xml"/><Relationship Id="rId2" Type="http://schemas.openxmlformats.org/officeDocument/2006/relationships/tags" Target="../tags/tag619.xml"/><Relationship Id="rId1" Type="http://schemas.openxmlformats.org/officeDocument/2006/relationships/tags" Target="../tags/tag618.xml"/></Relationships>
</file>

<file path=ppt/slides/_rels/slide94.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24.xml"/><Relationship Id="rId7" Type="http://schemas.openxmlformats.org/officeDocument/2006/relationships/tags" Target="../tags/tag628.xml"/><Relationship Id="rId6" Type="http://schemas.openxmlformats.org/officeDocument/2006/relationships/tags" Target="../tags/tag627.xml"/><Relationship Id="rId5" Type="http://schemas.openxmlformats.org/officeDocument/2006/relationships/tags" Target="../tags/tag626.xml"/><Relationship Id="rId4" Type="http://schemas.openxmlformats.org/officeDocument/2006/relationships/image" Target="../media/image7.png"/><Relationship Id="rId3" Type="http://schemas.openxmlformats.org/officeDocument/2006/relationships/tags" Target="../tags/tag625.xml"/><Relationship Id="rId2" Type="http://schemas.openxmlformats.org/officeDocument/2006/relationships/tags" Target="../tags/tag624.xml"/><Relationship Id="rId1" Type="http://schemas.openxmlformats.org/officeDocument/2006/relationships/tags" Target="../tags/tag623.xml"/></Relationships>
</file>

<file path=ppt/slides/_rels/slide95.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24.xml"/><Relationship Id="rId7" Type="http://schemas.openxmlformats.org/officeDocument/2006/relationships/tags" Target="../tags/tag634.xml"/><Relationship Id="rId6" Type="http://schemas.openxmlformats.org/officeDocument/2006/relationships/tags" Target="../tags/tag633.xml"/><Relationship Id="rId5" Type="http://schemas.openxmlformats.org/officeDocument/2006/relationships/tags" Target="../tags/tag632.xml"/><Relationship Id="rId4" Type="http://schemas.openxmlformats.org/officeDocument/2006/relationships/tags" Target="../tags/tag631.xml"/><Relationship Id="rId3" Type="http://schemas.openxmlformats.org/officeDocument/2006/relationships/image" Target="../media/image7.png"/><Relationship Id="rId2" Type="http://schemas.openxmlformats.org/officeDocument/2006/relationships/tags" Target="../tags/tag630.xml"/><Relationship Id="rId1" Type="http://schemas.openxmlformats.org/officeDocument/2006/relationships/tags" Target="../tags/tag629.xml"/></Relationships>
</file>

<file path=ppt/slides/_rels/slide96.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24.xml"/><Relationship Id="rId6" Type="http://schemas.openxmlformats.org/officeDocument/2006/relationships/tags" Target="../tags/tag639.xml"/><Relationship Id="rId5" Type="http://schemas.openxmlformats.org/officeDocument/2006/relationships/tags" Target="../tags/tag638.xml"/><Relationship Id="rId4" Type="http://schemas.openxmlformats.org/officeDocument/2006/relationships/image" Target="../media/image7.png"/><Relationship Id="rId3" Type="http://schemas.openxmlformats.org/officeDocument/2006/relationships/tags" Target="../tags/tag637.xml"/><Relationship Id="rId2" Type="http://schemas.openxmlformats.org/officeDocument/2006/relationships/tags" Target="../tags/tag636.xml"/><Relationship Id="rId1" Type="http://schemas.openxmlformats.org/officeDocument/2006/relationships/tags" Target="../tags/tag635.xml"/></Relationships>
</file>

<file path=ppt/slides/_rels/slide97.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24.xml"/><Relationship Id="rId7" Type="http://schemas.openxmlformats.org/officeDocument/2006/relationships/tags" Target="../tags/tag644.xml"/><Relationship Id="rId6" Type="http://schemas.openxmlformats.org/officeDocument/2006/relationships/tags" Target="../tags/tag643.xml"/><Relationship Id="rId5" Type="http://schemas.openxmlformats.org/officeDocument/2006/relationships/image" Target="../media/image7.png"/><Relationship Id="rId4" Type="http://schemas.openxmlformats.org/officeDocument/2006/relationships/image" Target="../media/image30.emf"/><Relationship Id="rId3" Type="http://schemas.openxmlformats.org/officeDocument/2006/relationships/tags" Target="../tags/tag642.xml"/><Relationship Id="rId2" Type="http://schemas.openxmlformats.org/officeDocument/2006/relationships/tags" Target="../tags/tag641.xml"/><Relationship Id="rId1" Type="http://schemas.openxmlformats.org/officeDocument/2006/relationships/tags" Target="../tags/tag640.xml"/></Relationships>
</file>

<file path=ppt/slides/_rels/slide98.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24.xml"/><Relationship Id="rId6" Type="http://schemas.openxmlformats.org/officeDocument/2006/relationships/tags" Target="../tags/tag649.xml"/><Relationship Id="rId5" Type="http://schemas.openxmlformats.org/officeDocument/2006/relationships/tags" Target="../tags/tag648.xml"/><Relationship Id="rId4" Type="http://schemas.openxmlformats.org/officeDocument/2006/relationships/image" Target="../media/image7.png"/><Relationship Id="rId3" Type="http://schemas.openxmlformats.org/officeDocument/2006/relationships/tags" Target="../tags/tag647.xml"/><Relationship Id="rId2" Type="http://schemas.openxmlformats.org/officeDocument/2006/relationships/tags" Target="../tags/tag646.xml"/><Relationship Id="rId1" Type="http://schemas.openxmlformats.org/officeDocument/2006/relationships/tags" Target="../tags/tag645.xml"/></Relationships>
</file>

<file path=ppt/slides/_rels/slide99.xml.rels><?xml version="1.0" encoding="UTF-8" standalone="yes"?>
<Relationships xmlns="http://schemas.openxmlformats.org/package/2006/relationships"><Relationship Id="rId9" Type="http://schemas.openxmlformats.org/officeDocument/2006/relationships/notesSlide" Target="../notesSlides/notesSlide32.xml"/><Relationship Id="rId8" Type="http://schemas.openxmlformats.org/officeDocument/2006/relationships/slideLayout" Target="../slideLayouts/slideLayout24.xml"/><Relationship Id="rId7" Type="http://schemas.openxmlformats.org/officeDocument/2006/relationships/tags" Target="../tags/tag654.xml"/><Relationship Id="rId6" Type="http://schemas.openxmlformats.org/officeDocument/2006/relationships/tags" Target="../tags/tag653.xml"/><Relationship Id="rId5" Type="http://schemas.openxmlformats.org/officeDocument/2006/relationships/tags" Target="../tags/tag652.xml"/><Relationship Id="rId4" Type="http://schemas.openxmlformats.org/officeDocument/2006/relationships/image" Target="../media/image7.png"/><Relationship Id="rId3" Type="http://schemas.openxmlformats.org/officeDocument/2006/relationships/image" Target="../media/image31.emf"/><Relationship Id="rId2" Type="http://schemas.openxmlformats.org/officeDocument/2006/relationships/tags" Target="../tags/tag651.xml"/><Relationship Id="rId1" Type="http://schemas.openxmlformats.org/officeDocument/2006/relationships/tags" Target="../tags/tag650.xml"/></Relationships>
</file>

<file path=ppt/slides/_rels/slide100.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24.xml"/><Relationship Id="rId6" Type="http://schemas.openxmlformats.org/officeDocument/2006/relationships/tags" Target="../tags/tag659.xml"/><Relationship Id="rId5" Type="http://schemas.openxmlformats.org/officeDocument/2006/relationships/tags" Target="../tags/tag658.xml"/><Relationship Id="rId4" Type="http://schemas.openxmlformats.org/officeDocument/2006/relationships/tags" Target="../tags/tag657.xml"/><Relationship Id="rId3" Type="http://schemas.openxmlformats.org/officeDocument/2006/relationships/image" Target="../media/image7.png"/><Relationship Id="rId2" Type="http://schemas.openxmlformats.org/officeDocument/2006/relationships/tags" Target="../tags/tag656.xml"/><Relationship Id="rId1" Type="http://schemas.openxmlformats.org/officeDocument/2006/relationships/tags" Target="../tags/tag655.xml"/></Relationships>
</file>

<file path=ppt/slides/_rels/slide101.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24.xml"/><Relationship Id="rId5" Type="http://schemas.openxmlformats.org/officeDocument/2006/relationships/tags" Target="../tags/tag663.xml"/><Relationship Id="rId4" Type="http://schemas.openxmlformats.org/officeDocument/2006/relationships/tags" Target="../tags/tag662.xml"/><Relationship Id="rId3" Type="http://schemas.openxmlformats.org/officeDocument/2006/relationships/image" Target="../media/image7.png"/><Relationship Id="rId2" Type="http://schemas.openxmlformats.org/officeDocument/2006/relationships/tags" Target="../tags/tag661.xml"/><Relationship Id="rId1" Type="http://schemas.openxmlformats.org/officeDocument/2006/relationships/tags" Target="../tags/tag660.xml"/></Relationships>
</file>

<file path=ppt/slides/_rels/slide102.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slideLayout" Target="../slideLayouts/slideLayout24.xml"/><Relationship Id="rId7" Type="http://schemas.openxmlformats.org/officeDocument/2006/relationships/tags" Target="../tags/tag669.xml"/><Relationship Id="rId6" Type="http://schemas.openxmlformats.org/officeDocument/2006/relationships/tags" Target="../tags/tag668.xml"/><Relationship Id="rId5" Type="http://schemas.openxmlformats.org/officeDocument/2006/relationships/image" Target="../media/image7.png"/><Relationship Id="rId4" Type="http://schemas.openxmlformats.org/officeDocument/2006/relationships/tags" Target="../tags/tag667.xml"/><Relationship Id="rId3" Type="http://schemas.openxmlformats.org/officeDocument/2006/relationships/tags" Target="../tags/tag666.xml"/><Relationship Id="rId2" Type="http://schemas.openxmlformats.org/officeDocument/2006/relationships/tags" Target="../tags/tag665.xml"/><Relationship Id="rId1" Type="http://schemas.openxmlformats.org/officeDocument/2006/relationships/tags" Target="../tags/tag664.xml"/></Relationships>
</file>

<file path=ppt/slides/_rels/slide103.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675.xml"/><Relationship Id="rId7" Type="http://schemas.openxmlformats.org/officeDocument/2006/relationships/tags" Target="../tags/tag674.xml"/><Relationship Id="rId6" Type="http://schemas.openxmlformats.org/officeDocument/2006/relationships/image" Target="../media/image7.png"/><Relationship Id="rId5" Type="http://schemas.openxmlformats.org/officeDocument/2006/relationships/image" Target="../media/image32.png"/><Relationship Id="rId4" Type="http://schemas.openxmlformats.org/officeDocument/2006/relationships/tags" Target="../tags/tag673.xml"/><Relationship Id="rId3" Type="http://schemas.openxmlformats.org/officeDocument/2006/relationships/tags" Target="../tags/tag672.xml"/><Relationship Id="rId2" Type="http://schemas.openxmlformats.org/officeDocument/2006/relationships/tags" Target="../tags/tag671.xml"/><Relationship Id="rId10" Type="http://schemas.openxmlformats.org/officeDocument/2006/relationships/notesSlide" Target="../notesSlides/notesSlide36.xml"/><Relationship Id="rId1" Type="http://schemas.openxmlformats.org/officeDocument/2006/relationships/tags" Target="../tags/tag670.xml"/></Relationships>
</file>

<file path=ppt/slides/_rels/slide104.xml.rels><?xml version="1.0" encoding="UTF-8" standalone="yes"?>
<Relationships xmlns="http://schemas.openxmlformats.org/package/2006/relationships"><Relationship Id="rId9" Type="http://schemas.openxmlformats.org/officeDocument/2006/relationships/tags" Target="../tags/tag681.xml"/><Relationship Id="rId8" Type="http://schemas.openxmlformats.org/officeDocument/2006/relationships/image" Target="../media/image7.png"/><Relationship Id="rId7" Type="http://schemas.openxmlformats.org/officeDocument/2006/relationships/image" Target="../media/image34.emf"/><Relationship Id="rId6" Type="http://schemas.openxmlformats.org/officeDocument/2006/relationships/tags" Target="../tags/tag680.xml"/><Relationship Id="rId5" Type="http://schemas.openxmlformats.org/officeDocument/2006/relationships/image" Target="../media/image33.png"/><Relationship Id="rId4" Type="http://schemas.openxmlformats.org/officeDocument/2006/relationships/tags" Target="../tags/tag679.xml"/><Relationship Id="rId3" Type="http://schemas.openxmlformats.org/officeDocument/2006/relationships/tags" Target="../tags/tag678.xml"/><Relationship Id="rId2" Type="http://schemas.openxmlformats.org/officeDocument/2006/relationships/tags" Target="../tags/tag677.xml"/><Relationship Id="rId12" Type="http://schemas.openxmlformats.org/officeDocument/2006/relationships/notesSlide" Target="../notesSlides/notesSlide37.xml"/><Relationship Id="rId11" Type="http://schemas.openxmlformats.org/officeDocument/2006/relationships/slideLayout" Target="../slideLayouts/slideLayout24.xml"/><Relationship Id="rId10" Type="http://schemas.openxmlformats.org/officeDocument/2006/relationships/tags" Target="../tags/tag682.xml"/><Relationship Id="rId1" Type="http://schemas.openxmlformats.org/officeDocument/2006/relationships/tags" Target="../tags/tag676.xml"/></Relationships>
</file>

<file path=ppt/slides/_rels/slide105.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24.xml"/><Relationship Id="rId6" Type="http://schemas.openxmlformats.org/officeDocument/2006/relationships/tags" Target="../tags/tag687.xml"/><Relationship Id="rId5" Type="http://schemas.openxmlformats.org/officeDocument/2006/relationships/tags" Target="../tags/tag686.xml"/><Relationship Id="rId4" Type="http://schemas.openxmlformats.org/officeDocument/2006/relationships/image" Target="../media/image7.png"/><Relationship Id="rId3" Type="http://schemas.openxmlformats.org/officeDocument/2006/relationships/tags" Target="../tags/tag685.xml"/><Relationship Id="rId2" Type="http://schemas.openxmlformats.org/officeDocument/2006/relationships/tags" Target="../tags/tag684.xml"/><Relationship Id="rId1" Type="http://schemas.openxmlformats.org/officeDocument/2006/relationships/tags" Target="../tags/tag683.xml"/></Relationships>
</file>

<file path=ppt/slides/_rels/slide106.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695.xml"/><Relationship Id="rId7" Type="http://schemas.openxmlformats.org/officeDocument/2006/relationships/tags" Target="../tags/tag694.xml"/><Relationship Id="rId6" Type="http://schemas.openxmlformats.org/officeDocument/2006/relationships/tags" Target="../tags/tag693.xml"/><Relationship Id="rId5" Type="http://schemas.openxmlformats.org/officeDocument/2006/relationships/tags" Target="../tags/tag692.xml"/><Relationship Id="rId4" Type="http://schemas.openxmlformats.org/officeDocument/2006/relationships/tags" Target="../tags/tag691.xml"/><Relationship Id="rId3" Type="http://schemas.openxmlformats.org/officeDocument/2006/relationships/tags" Target="../tags/tag690.xml"/><Relationship Id="rId2" Type="http://schemas.openxmlformats.org/officeDocument/2006/relationships/tags" Target="../tags/tag689.xml"/><Relationship Id="rId14" Type="http://schemas.openxmlformats.org/officeDocument/2006/relationships/notesSlide" Target="../notesSlides/notesSlide39.xml"/><Relationship Id="rId13" Type="http://schemas.openxmlformats.org/officeDocument/2006/relationships/slideLayout" Target="../slideLayouts/slideLayout24.xml"/><Relationship Id="rId12" Type="http://schemas.openxmlformats.org/officeDocument/2006/relationships/tags" Target="../tags/tag697.xml"/><Relationship Id="rId11" Type="http://schemas.openxmlformats.org/officeDocument/2006/relationships/tags" Target="../tags/tag696.xml"/><Relationship Id="rId10" Type="http://schemas.openxmlformats.org/officeDocument/2006/relationships/image" Target="../media/image7.png"/><Relationship Id="rId1" Type="http://schemas.openxmlformats.org/officeDocument/2006/relationships/tags" Target="../tags/tag688.xml"/></Relationships>
</file>

<file path=ppt/slides/_rels/slide107.xml.rels><?xml version="1.0" encoding="UTF-8" standalone="yes"?>
<Relationships xmlns="http://schemas.openxmlformats.org/package/2006/relationships"><Relationship Id="rId9" Type="http://schemas.openxmlformats.org/officeDocument/2006/relationships/tags" Target="../tags/tag703.xml"/><Relationship Id="rId8" Type="http://schemas.openxmlformats.org/officeDocument/2006/relationships/image" Target="../media/image37.png"/><Relationship Id="rId7" Type="http://schemas.openxmlformats.org/officeDocument/2006/relationships/tags" Target="../tags/tag702.xml"/><Relationship Id="rId6" Type="http://schemas.openxmlformats.org/officeDocument/2006/relationships/image" Target="../media/image7.png"/><Relationship Id="rId5" Type="http://schemas.openxmlformats.org/officeDocument/2006/relationships/image" Target="../media/image36.png"/><Relationship Id="rId4" Type="http://schemas.openxmlformats.org/officeDocument/2006/relationships/tags" Target="../tags/tag701.xml"/><Relationship Id="rId3" Type="http://schemas.openxmlformats.org/officeDocument/2006/relationships/tags" Target="../tags/tag700.xml"/><Relationship Id="rId2" Type="http://schemas.openxmlformats.org/officeDocument/2006/relationships/tags" Target="../tags/tag699.xml"/><Relationship Id="rId11" Type="http://schemas.openxmlformats.org/officeDocument/2006/relationships/notesSlide" Target="../notesSlides/notesSlide40.xml"/><Relationship Id="rId10" Type="http://schemas.openxmlformats.org/officeDocument/2006/relationships/slideLayout" Target="../slideLayouts/slideLayout24.xml"/><Relationship Id="rId1" Type="http://schemas.openxmlformats.org/officeDocument/2006/relationships/tags" Target="../tags/tag698.xml"/></Relationships>
</file>

<file path=ppt/slides/_rels/slide108.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710.xml"/><Relationship Id="rId7" Type="http://schemas.openxmlformats.org/officeDocument/2006/relationships/tags" Target="../tags/tag709.xml"/><Relationship Id="rId6" Type="http://schemas.openxmlformats.org/officeDocument/2006/relationships/image" Target="../media/image7.png"/><Relationship Id="rId5" Type="http://schemas.openxmlformats.org/officeDocument/2006/relationships/tags" Target="../tags/tag708.xml"/><Relationship Id="rId4" Type="http://schemas.openxmlformats.org/officeDocument/2006/relationships/tags" Target="../tags/tag707.xml"/><Relationship Id="rId3" Type="http://schemas.openxmlformats.org/officeDocument/2006/relationships/tags" Target="../tags/tag706.xml"/><Relationship Id="rId2" Type="http://schemas.openxmlformats.org/officeDocument/2006/relationships/tags" Target="../tags/tag705.xml"/><Relationship Id="rId10" Type="http://schemas.openxmlformats.org/officeDocument/2006/relationships/notesSlide" Target="../notesSlides/notesSlide41.xml"/><Relationship Id="rId1" Type="http://schemas.openxmlformats.org/officeDocument/2006/relationships/tags" Target="../tags/tag704.xml"/></Relationships>
</file>

<file path=ppt/slides/_rels/slide109.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24.xml"/><Relationship Id="rId5" Type="http://schemas.openxmlformats.org/officeDocument/2006/relationships/tags" Target="../tags/tag714.xml"/><Relationship Id="rId4" Type="http://schemas.openxmlformats.org/officeDocument/2006/relationships/tags" Target="../tags/tag713.xml"/><Relationship Id="rId3" Type="http://schemas.openxmlformats.org/officeDocument/2006/relationships/image" Target="../media/image7.png"/><Relationship Id="rId2" Type="http://schemas.openxmlformats.org/officeDocument/2006/relationships/tags" Target="../tags/tag712.xml"/><Relationship Id="rId1" Type="http://schemas.openxmlformats.org/officeDocument/2006/relationships/tags" Target="../tags/tag711.xml"/></Relationships>
</file>

<file path=ppt/slides/_rels/slide110.xml.rels><?xml version="1.0" encoding="UTF-8" standalone="yes"?>
<Relationships xmlns="http://schemas.openxmlformats.org/package/2006/relationships"><Relationship Id="rId8" Type="http://schemas.openxmlformats.org/officeDocument/2006/relationships/notesSlide" Target="../notesSlides/notesSlide43.xml"/><Relationship Id="rId7" Type="http://schemas.openxmlformats.org/officeDocument/2006/relationships/slideLayout" Target="../slideLayouts/slideLayout24.xml"/><Relationship Id="rId6" Type="http://schemas.openxmlformats.org/officeDocument/2006/relationships/tags" Target="../tags/tag719.xml"/><Relationship Id="rId5" Type="http://schemas.openxmlformats.org/officeDocument/2006/relationships/tags" Target="../tags/tag718.xml"/><Relationship Id="rId4" Type="http://schemas.openxmlformats.org/officeDocument/2006/relationships/image" Target="../media/image7.png"/><Relationship Id="rId3" Type="http://schemas.openxmlformats.org/officeDocument/2006/relationships/tags" Target="../tags/tag717.xml"/><Relationship Id="rId2" Type="http://schemas.openxmlformats.org/officeDocument/2006/relationships/tags" Target="../tags/tag716.xml"/><Relationship Id="rId1" Type="http://schemas.openxmlformats.org/officeDocument/2006/relationships/tags" Target="../tags/tag715.xml"/></Relationships>
</file>

<file path=ppt/slides/_rels/slide111.xml.rels><?xml version="1.0" encoding="UTF-8" standalone="yes"?>
<Relationships xmlns="http://schemas.openxmlformats.org/package/2006/relationships"><Relationship Id="rId9" Type="http://schemas.openxmlformats.org/officeDocument/2006/relationships/tags" Target="../tags/tag728.xml"/><Relationship Id="rId8" Type="http://schemas.openxmlformats.org/officeDocument/2006/relationships/tags" Target="../tags/tag727.xml"/><Relationship Id="rId7" Type="http://schemas.openxmlformats.org/officeDocument/2006/relationships/tags" Target="../tags/tag726.xml"/><Relationship Id="rId6" Type="http://schemas.openxmlformats.org/officeDocument/2006/relationships/tags" Target="../tags/tag725.xml"/><Relationship Id="rId5" Type="http://schemas.openxmlformats.org/officeDocument/2006/relationships/tags" Target="../tags/tag724.xml"/><Relationship Id="rId4" Type="http://schemas.openxmlformats.org/officeDocument/2006/relationships/tags" Target="../tags/tag723.xml"/><Relationship Id="rId3" Type="http://schemas.openxmlformats.org/officeDocument/2006/relationships/tags" Target="../tags/tag722.xml"/><Relationship Id="rId2" Type="http://schemas.openxmlformats.org/officeDocument/2006/relationships/tags" Target="../tags/tag721.xml"/><Relationship Id="rId14" Type="http://schemas.openxmlformats.org/officeDocument/2006/relationships/notesSlide" Target="../notesSlides/notesSlide44.xml"/><Relationship Id="rId13" Type="http://schemas.openxmlformats.org/officeDocument/2006/relationships/slideLayout" Target="../slideLayouts/slideLayout24.xml"/><Relationship Id="rId12" Type="http://schemas.openxmlformats.org/officeDocument/2006/relationships/tags" Target="../tags/tag730.xml"/><Relationship Id="rId11" Type="http://schemas.openxmlformats.org/officeDocument/2006/relationships/image" Target="../media/image7.png"/><Relationship Id="rId10" Type="http://schemas.openxmlformats.org/officeDocument/2006/relationships/tags" Target="../tags/tag729.xml"/><Relationship Id="rId1" Type="http://schemas.openxmlformats.org/officeDocument/2006/relationships/tags" Target="../tags/tag720.xml"/></Relationships>
</file>

<file path=ppt/slides/_rels/slide11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738.xml"/><Relationship Id="rId7" Type="http://schemas.openxmlformats.org/officeDocument/2006/relationships/tags" Target="../tags/tag737.xml"/><Relationship Id="rId6" Type="http://schemas.openxmlformats.org/officeDocument/2006/relationships/tags" Target="../tags/tag736.xml"/><Relationship Id="rId5" Type="http://schemas.openxmlformats.org/officeDocument/2006/relationships/tags" Target="../tags/tag735.xml"/><Relationship Id="rId4" Type="http://schemas.openxmlformats.org/officeDocument/2006/relationships/tags" Target="../tags/tag734.xml"/><Relationship Id="rId3" Type="http://schemas.openxmlformats.org/officeDocument/2006/relationships/tags" Target="../tags/tag733.xml"/><Relationship Id="rId2" Type="http://schemas.openxmlformats.org/officeDocument/2006/relationships/tags" Target="../tags/tag732.xml"/><Relationship Id="rId11" Type="http://schemas.openxmlformats.org/officeDocument/2006/relationships/slideLayout" Target="../slideLayouts/slideLayout24.xml"/><Relationship Id="rId10" Type="http://schemas.openxmlformats.org/officeDocument/2006/relationships/tags" Target="../tags/tag739.xml"/><Relationship Id="rId1" Type="http://schemas.openxmlformats.org/officeDocument/2006/relationships/tags" Target="../tags/tag731.xml"/></Relationships>
</file>

<file path=ppt/slides/_rels/slide113.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746.xml"/><Relationship Id="rId7" Type="http://schemas.openxmlformats.org/officeDocument/2006/relationships/image" Target="../media/image7.png"/><Relationship Id="rId6" Type="http://schemas.openxmlformats.org/officeDocument/2006/relationships/tags" Target="../tags/tag745.xml"/><Relationship Id="rId5" Type="http://schemas.openxmlformats.org/officeDocument/2006/relationships/tags" Target="../tags/tag744.xml"/><Relationship Id="rId4" Type="http://schemas.openxmlformats.org/officeDocument/2006/relationships/tags" Target="../tags/tag743.xml"/><Relationship Id="rId3" Type="http://schemas.openxmlformats.org/officeDocument/2006/relationships/tags" Target="../tags/tag742.xml"/><Relationship Id="rId2" Type="http://schemas.openxmlformats.org/officeDocument/2006/relationships/tags" Target="../tags/tag741.xml"/><Relationship Id="rId1" Type="http://schemas.openxmlformats.org/officeDocument/2006/relationships/tags" Target="../tags/tag740.xml"/></Relationships>
</file>

<file path=ppt/slides/_rels/slide114.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752.xml"/><Relationship Id="rId7" Type="http://schemas.openxmlformats.org/officeDocument/2006/relationships/image" Target="../media/image7.png"/><Relationship Id="rId6" Type="http://schemas.openxmlformats.org/officeDocument/2006/relationships/image" Target="../media/image38.png"/><Relationship Id="rId5" Type="http://schemas.openxmlformats.org/officeDocument/2006/relationships/tags" Target="../tags/tag751.xml"/><Relationship Id="rId4" Type="http://schemas.openxmlformats.org/officeDocument/2006/relationships/tags" Target="../tags/tag750.xml"/><Relationship Id="rId3" Type="http://schemas.openxmlformats.org/officeDocument/2006/relationships/tags" Target="../tags/tag749.xml"/><Relationship Id="rId2" Type="http://schemas.openxmlformats.org/officeDocument/2006/relationships/tags" Target="../tags/tag748.xml"/><Relationship Id="rId10" Type="http://schemas.openxmlformats.org/officeDocument/2006/relationships/notesSlide" Target="../notesSlides/notesSlide45.xml"/><Relationship Id="rId1" Type="http://schemas.openxmlformats.org/officeDocument/2006/relationships/tags" Target="../tags/tag747.xml"/></Relationships>
</file>

<file path=ppt/slides/_rels/slide115.xml.rels><?xml version="1.0" encoding="UTF-8" standalone="yes"?>
<Relationships xmlns="http://schemas.openxmlformats.org/package/2006/relationships"><Relationship Id="rId9" Type="http://schemas.openxmlformats.org/officeDocument/2006/relationships/tags" Target="../tags/tag760.xml"/><Relationship Id="rId8" Type="http://schemas.openxmlformats.org/officeDocument/2006/relationships/tags" Target="../tags/tag759.xml"/><Relationship Id="rId7" Type="http://schemas.openxmlformats.org/officeDocument/2006/relationships/tags" Target="../tags/tag758.xml"/><Relationship Id="rId6" Type="http://schemas.openxmlformats.org/officeDocument/2006/relationships/tags" Target="../tags/tag757.xml"/><Relationship Id="rId5" Type="http://schemas.openxmlformats.org/officeDocument/2006/relationships/image" Target="../media/image39.png"/><Relationship Id="rId4" Type="http://schemas.openxmlformats.org/officeDocument/2006/relationships/tags" Target="../tags/tag756.xml"/><Relationship Id="rId3" Type="http://schemas.openxmlformats.org/officeDocument/2006/relationships/tags" Target="../tags/tag755.xml"/><Relationship Id="rId2" Type="http://schemas.openxmlformats.org/officeDocument/2006/relationships/tags" Target="../tags/tag754.xml"/><Relationship Id="rId19" Type="http://schemas.openxmlformats.org/officeDocument/2006/relationships/notesSlide" Target="../notesSlides/notesSlide46.xml"/><Relationship Id="rId18" Type="http://schemas.openxmlformats.org/officeDocument/2006/relationships/slideLayout" Target="../slideLayouts/slideLayout24.xml"/><Relationship Id="rId17" Type="http://schemas.openxmlformats.org/officeDocument/2006/relationships/tags" Target="../tags/tag767.xml"/><Relationship Id="rId16" Type="http://schemas.openxmlformats.org/officeDocument/2006/relationships/image" Target="../media/image7.png"/><Relationship Id="rId15" Type="http://schemas.openxmlformats.org/officeDocument/2006/relationships/tags" Target="../tags/tag766.xml"/><Relationship Id="rId14" Type="http://schemas.openxmlformats.org/officeDocument/2006/relationships/tags" Target="../tags/tag765.xml"/><Relationship Id="rId13" Type="http://schemas.openxmlformats.org/officeDocument/2006/relationships/tags" Target="../tags/tag764.xml"/><Relationship Id="rId12" Type="http://schemas.openxmlformats.org/officeDocument/2006/relationships/tags" Target="../tags/tag763.xml"/><Relationship Id="rId11" Type="http://schemas.openxmlformats.org/officeDocument/2006/relationships/tags" Target="../tags/tag762.xml"/><Relationship Id="rId10" Type="http://schemas.openxmlformats.org/officeDocument/2006/relationships/tags" Target="../tags/tag761.xml"/><Relationship Id="rId1" Type="http://schemas.openxmlformats.org/officeDocument/2006/relationships/tags" Target="../tags/tag753.xml"/></Relationships>
</file>

<file path=ppt/slides/_rels/slide116.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772.xml"/><Relationship Id="rId5" Type="http://schemas.openxmlformats.org/officeDocument/2006/relationships/image" Target="../media/image7.png"/><Relationship Id="rId4" Type="http://schemas.openxmlformats.org/officeDocument/2006/relationships/tags" Target="../tags/tag771.xml"/><Relationship Id="rId3" Type="http://schemas.openxmlformats.org/officeDocument/2006/relationships/tags" Target="../tags/tag770.xml"/><Relationship Id="rId2" Type="http://schemas.openxmlformats.org/officeDocument/2006/relationships/tags" Target="../tags/tag769.xml"/><Relationship Id="rId1" Type="http://schemas.openxmlformats.org/officeDocument/2006/relationships/tags" Target="../tags/tag768.xml"/></Relationships>
</file>

<file path=ppt/slides/_rels/slide117.xml.rels><?xml version="1.0" encoding="UTF-8" standalone="yes"?>
<Relationships xmlns="http://schemas.openxmlformats.org/package/2006/relationships"><Relationship Id="rId9" Type="http://schemas.openxmlformats.org/officeDocument/2006/relationships/tags" Target="../tags/tag781.xml"/><Relationship Id="rId8" Type="http://schemas.openxmlformats.org/officeDocument/2006/relationships/tags" Target="../tags/tag780.xml"/><Relationship Id="rId7" Type="http://schemas.openxmlformats.org/officeDocument/2006/relationships/tags" Target="../tags/tag779.xml"/><Relationship Id="rId6" Type="http://schemas.openxmlformats.org/officeDocument/2006/relationships/tags" Target="../tags/tag778.xml"/><Relationship Id="rId5" Type="http://schemas.openxmlformats.org/officeDocument/2006/relationships/tags" Target="../tags/tag777.xml"/><Relationship Id="rId4" Type="http://schemas.openxmlformats.org/officeDocument/2006/relationships/tags" Target="../tags/tag776.xml"/><Relationship Id="rId3" Type="http://schemas.openxmlformats.org/officeDocument/2006/relationships/tags" Target="../tags/tag775.xml"/><Relationship Id="rId2" Type="http://schemas.openxmlformats.org/officeDocument/2006/relationships/tags" Target="../tags/tag774.xml"/><Relationship Id="rId13" Type="http://schemas.openxmlformats.org/officeDocument/2006/relationships/slideLayout" Target="../slideLayouts/slideLayout24.xml"/><Relationship Id="rId12" Type="http://schemas.openxmlformats.org/officeDocument/2006/relationships/tags" Target="../tags/tag782.xml"/><Relationship Id="rId11" Type="http://schemas.openxmlformats.org/officeDocument/2006/relationships/image" Target="../media/image7.png"/><Relationship Id="rId10" Type="http://schemas.openxmlformats.org/officeDocument/2006/relationships/image" Target="../media/image40.png"/><Relationship Id="rId1" Type="http://schemas.openxmlformats.org/officeDocument/2006/relationships/tags" Target="../tags/tag773.xml"/></Relationships>
</file>

<file path=ppt/slides/_rels/slide118.xml.rels><?xml version="1.0" encoding="UTF-8" standalone="yes"?>
<Relationships xmlns="http://schemas.openxmlformats.org/package/2006/relationships"><Relationship Id="rId9" Type="http://schemas.openxmlformats.org/officeDocument/2006/relationships/tags" Target="../tags/tag790.xml"/><Relationship Id="rId8" Type="http://schemas.openxmlformats.org/officeDocument/2006/relationships/tags" Target="../tags/tag789.xml"/><Relationship Id="rId7" Type="http://schemas.openxmlformats.org/officeDocument/2006/relationships/tags" Target="../tags/tag788.xml"/><Relationship Id="rId6" Type="http://schemas.openxmlformats.org/officeDocument/2006/relationships/tags" Target="../tags/tag787.xml"/><Relationship Id="rId5" Type="http://schemas.openxmlformats.org/officeDocument/2006/relationships/image" Target="../media/image41.png"/><Relationship Id="rId4" Type="http://schemas.openxmlformats.org/officeDocument/2006/relationships/tags" Target="../tags/tag786.xml"/><Relationship Id="rId3" Type="http://schemas.openxmlformats.org/officeDocument/2006/relationships/tags" Target="../tags/tag785.xml"/><Relationship Id="rId22" Type="http://schemas.openxmlformats.org/officeDocument/2006/relationships/notesSlide" Target="../notesSlides/notesSlide47.xml"/><Relationship Id="rId21" Type="http://schemas.openxmlformats.org/officeDocument/2006/relationships/slideLayout" Target="../slideLayouts/slideLayout24.xml"/><Relationship Id="rId20" Type="http://schemas.openxmlformats.org/officeDocument/2006/relationships/tags" Target="../tags/tag799.xml"/><Relationship Id="rId2" Type="http://schemas.openxmlformats.org/officeDocument/2006/relationships/tags" Target="../tags/tag784.xml"/><Relationship Id="rId19" Type="http://schemas.openxmlformats.org/officeDocument/2006/relationships/image" Target="../media/image7.png"/><Relationship Id="rId18" Type="http://schemas.openxmlformats.org/officeDocument/2006/relationships/image" Target="../media/image42.png"/><Relationship Id="rId17" Type="http://schemas.openxmlformats.org/officeDocument/2006/relationships/tags" Target="../tags/tag798.xml"/><Relationship Id="rId16" Type="http://schemas.openxmlformats.org/officeDocument/2006/relationships/tags" Target="../tags/tag797.xml"/><Relationship Id="rId15" Type="http://schemas.openxmlformats.org/officeDocument/2006/relationships/tags" Target="../tags/tag796.xml"/><Relationship Id="rId14" Type="http://schemas.openxmlformats.org/officeDocument/2006/relationships/tags" Target="../tags/tag795.xml"/><Relationship Id="rId13" Type="http://schemas.openxmlformats.org/officeDocument/2006/relationships/tags" Target="../tags/tag794.xml"/><Relationship Id="rId12" Type="http://schemas.openxmlformats.org/officeDocument/2006/relationships/tags" Target="../tags/tag793.xml"/><Relationship Id="rId11" Type="http://schemas.openxmlformats.org/officeDocument/2006/relationships/tags" Target="../tags/tag792.xml"/><Relationship Id="rId10" Type="http://schemas.openxmlformats.org/officeDocument/2006/relationships/tags" Target="../tags/tag791.xml"/><Relationship Id="rId1" Type="http://schemas.openxmlformats.org/officeDocument/2006/relationships/tags" Target="../tags/tag783.xml"/></Relationships>
</file>

<file path=ppt/slides/_rels/slide119.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805.xml"/><Relationship Id="rId6" Type="http://schemas.openxmlformats.org/officeDocument/2006/relationships/image" Target="../media/image7.png"/><Relationship Id="rId5" Type="http://schemas.openxmlformats.org/officeDocument/2006/relationships/tags" Target="../tags/tag804.xml"/><Relationship Id="rId4" Type="http://schemas.openxmlformats.org/officeDocument/2006/relationships/tags" Target="../tags/tag803.xml"/><Relationship Id="rId3" Type="http://schemas.openxmlformats.org/officeDocument/2006/relationships/tags" Target="../tags/tag802.xml"/><Relationship Id="rId2" Type="http://schemas.openxmlformats.org/officeDocument/2006/relationships/tags" Target="../tags/tag801.xml"/><Relationship Id="rId1" Type="http://schemas.openxmlformats.org/officeDocument/2006/relationships/tags" Target="../tags/tag800.xml"/></Relationships>
</file>

<file path=ppt/slides/_rels/slide120.xml.rels><?xml version="1.0" encoding="UTF-8" standalone="yes"?>
<Relationships xmlns="http://schemas.openxmlformats.org/package/2006/relationships"><Relationship Id="rId7" Type="http://schemas.openxmlformats.org/officeDocument/2006/relationships/notesSlide" Target="../notesSlides/notesSlide48.xml"/><Relationship Id="rId6" Type="http://schemas.openxmlformats.org/officeDocument/2006/relationships/slideLayout" Target="../slideLayouts/slideLayout24.xml"/><Relationship Id="rId5" Type="http://schemas.openxmlformats.org/officeDocument/2006/relationships/tags" Target="../tags/tag809.xml"/><Relationship Id="rId4" Type="http://schemas.openxmlformats.org/officeDocument/2006/relationships/image" Target="../media/image7.png"/><Relationship Id="rId3" Type="http://schemas.openxmlformats.org/officeDocument/2006/relationships/tags" Target="../tags/tag808.xml"/><Relationship Id="rId2" Type="http://schemas.openxmlformats.org/officeDocument/2006/relationships/tags" Target="../tags/tag807.xml"/><Relationship Id="rId1" Type="http://schemas.openxmlformats.org/officeDocument/2006/relationships/tags" Target="../tags/tag806.xml"/></Relationships>
</file>

<file path=ppt/slides/_rels/slide121.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24.xml"/><Relationship Id="rId4" Type="http://schemas.openxmlformats.org/officeDocument/2006/relationships/tags" Target="../tags/tag812.xml"/><Relationship Id="rId3" Type="http://schemas.openxmlformats.org/officeDocument/2006/relationships/image" Target="../media/image7.png"/><Relationship Id="rId2" Type="http://schemas.openxmlformats.org/officeDocument/2006/relationships/tags" Target="../tags/tag811.xml"/><Relationship Id="rId1" Type="http://schemas.openxmlformats.org/officeDocument/2006/relationships/tags" Target="../tags/tag810.xml"/></Relationships>
</file>

<file path=ppt/slides/_rels/slide122.xml.rels><?xml version="1.0" encoding="UTF-8" standalone="yes"?>
<Relationships xmlns="http://schemas.openxmlformats.org/package/2006/relationships"><Relationship Id="rId9" Type="http://schemas.openxmlformats.org/officeDocument/2006/relationships/notesSlide" Target="../notesSlides/notesSlide50.xml"/><Relationship Id="rId8" Type="http://schemas.openxmlformats.org/officeDocument/2006/relationships/vmlDrawing" Target="../drawings/vmlDrawing5.vml"/><Relationship Id="rId7" Type="http://schemas.openxmlformats.org/officeDocument/2006/relationships/slideLayout" Target="../slideLayouts/slideLayout19.xml"/><Relationship Id="rId6" Type="http://schemas.openxmlformats.org/officeDocument/2006/relationships/image" Target="../media/image43.wmf"/><Relationship Id="rId5" Type="http://schemas.openxmlformats.org/officeDocument/2006/relationships/oleObject" Target="../embeddings/oleObject21.bin"/><Relationship Id="rId4" Type="http://schemas.openxmlformats.org/officeDocument/2006/relationships/image" Target="../media/image24.wmf"/><Relationship Id="rId3" Type="http://schemas.openxmlformats.org/officeDocument/2006/relationships/oleObject" Target="../embeddings/oleObject20.bin"/><Relationship Id="rId2" Type="http://schemas.openxmlformats.org/officeDocument/2006/relationships/tags" Target="../tags/tag814.xml"/><Relationship Id="rId1" Type="http://schemas.openxmlformats.org/officeDocument/2006/relationships/tags" Target="../tags/tag813.xml"/></Relationships>
</file>

<file path=ppt/slides/_rels/slide123.xml.rels><?xml version="1.0" encoding="UTF-8" standalone="yes"?>
<Relationships xmlns="http://schemas.openxmlformats.org/package/2006/relationships"><Relationship Id="rId8" Type="http://schemas.openxmlformats.org/officeDocument/2006/relationships/notesSlide" Target="../notesSlides/notesSlide51.xml"/><Relationship Id="rId7" Type="http://schemas.openxmlformats.org/officeDocument/2006/relationships/slideLayout" Target="../slideLayouts/slideLayout24.xml"/><Relationship Id="rId6" Type="http://schemas.openxmlformats.org/officeDocument/2006/relationships/tags" Target="../tags/tag819.xml"/><Relationship Id="rId5" Type="http://schemas.openxmlformats.org/officeDocument/2006/relationships/image" Target="../media/image7.png"/><Relationship Id="rId4" Type="http://schemas.openxmlformats.org/officeDocument/2006/relationships/tags" Target="../tags/tag818.xml"/><Relationship Id="rId3" Type="http://schemas.openxmlformats.org/officeDocument/2006/relationships/tags" Target="../tags/tag817.xml"/><Relationship Id="rId2" Type="http://schemas.openxmlformats.org/officeDocument/2006/relationships/tags" Target="../tags/tag816.xml"/><Relationship Id="rId1" Type="http://schemas.openxmlformats.org/officeDocument/2006/relationships/tags" Target="../tags/tag815.xml"/></Relationships>
</file>

<file path=ppt/slides/_rels/slide124.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824.xml"/><Relationship Id="rId5" Type="http://schemas.openxmlformats.org/officeDocument/2006/relationships/image" Target="../media/image7.png"/><Relationship Id="rId4" Type="http://schemas.openxmlformats.org/officeDocument/2006/relationships/tags" Target="../tags/tag823.xml"/><Relationship Id="rId3" Type="http://schemas.openxmlformats.org/officeDocument/2006/relationships/tags" Target="../tags/tag822.xml"/><Relationship Id="rId2" Type="http://schemas.openxmlformats.org/officeDocument/2006/relationships/tags" Target="../tags/tag821.xml"/><Relationship Id="rId1" Type="http://schemas.openxmlformats.org/officeDocument/2006/relationships/tags" Target="../tags/tag820.xml"/></Relationships>
</file>

<file path=ppt/slides/_rels/slide125.xml.rels><?xml version="1.0" encoding="UTF-8" standalone="yes"?>
<Relationships xmlns="http://schemas.openxmlformats.org/package/2006/relationships"><Relationship Id="rId9" Type="http://schemas.openxmlformats.org/officeDocument/2006/relationships/tags" Target="../tags/tag832.xml"/><Relationship Id="rId8" Type="http://schemas.openxmlformats.org/officeDocument/2006/relationships/tags" Target="../tags/tag831.xml"/><Relationship Id="rId7" Type="http://schemas.openxmlformats.org/officeDocument/2006/relationships/image" Target="../media/image7.png"/><Relationship Id="rId6" Type="http://schemas.openxmlformats.org/officeDocument/2006/relationships/tags" Target="../tags/tag830.xml"/><Relationship Id="rId5" Type="http://schemas.openxmlformats.org/officeDocument/2006/relationships/tags" Target="../tags/tag829.xml"/><Relationship Id="rId4" Type="http://schemas.openxmlformats.org/officeDocument/2006/relationships/tags" Target="../tags/tag828.xml"/><Relationship Id="rId3" Type="http://schemas.openxmlformats.org/officeDocument/2006/relationships/tags" Target="../tags/tag827.xml"/><Relationship Id="rId2" Type="http://schemas.openxmlformats.org/officeDocument/2006/relationships/tags" Target="../tags/tag826.xml"/><Relationship Id="rId12" Type="http://schemas.openxmlformats.org/officeDocument/2006/relationships/notesSlide" Target="../notesSlides/notesSlide52.xml"/><Relationship Id="rId11" Type="http://schemas.openxmlformats.org/officeDocument/2006/relationships/slideLayout" Target="../slideLayouts/slideLayout24.xml"/><Relationship Id="rId10" Type="http://schemas.openxmlformats.org/officeDocument/2006/relationships/tags" Target="../tags/tag833.xml"/><Relationship Id="rId1" Type="http://schemas.openxmlformats.org/officeDocument/2006/relationships/tags" Target="../tags/tag825.xml"/></Relationships>
</file>

<file path=ppt/slides/_rels/slide126.xml.rels><?xml version="1.0" encoding="UTF-8" standalone="yes"?>
<Relationships xmlns="http://schemas.openxmlformats.org/package/2006/relationships"><Relationship Id="rId9" Type="http://schemas.openxmlformats.org/officeDocument/2006/relationships/notesSlide" Target="../notesSlides/notesSlide53.xml"/><Relationship Id="rId8" Type="http://schemas.openxmlformats.org/officeDocument/2006/relationships/slideLayout" Target="../slideLayouts/slideLayout24.xml"/><Relationship Id="rId7" Type="http://schemas.openxmlformats.org/officeDocument/2006/relationships/tags" Target="../tags/tag839.xml"/><Relationship Id="rId6" Type="http://schemas.openxmlformats.org/officeDocument/2006/relationships/tags" Target="../tags/tag838.xml"/><Relationship Id="rId5" Type="http://schemas.openxmlformats.org/officeDocument/2006/relationships/tags" Target="../tags/tag837.xml"/><Relationship Id="rId4" Type="http://schemas.openxmlformats.org/officeDocument/2006/relationships/image" Target="../media/image7.png"/><Relationship Id="rId3" Type="http://schemas.openxmlformats.org/officeDocument/2006/relationships/tags" Target="../tags/tag836.xml"/><Relationship Id="rId2" Type="http://schemas.openxmlformats.org/officeDocument/2006/relationships/tags" Target="../tags/tag835.xml"/><Relationship Id="rId1" Type="http://schemas.openxmlformats.org/officeDocument/2006/relationships/tags" Target="../tags/tag834.xml"/></Relationships>
</file>

<file path=ppt/slides/_rels/slide127.xml.rels><?xml version="1.0" encoding="UTF-8" standalone="yes"?>
<Relationships xmlns="http://schemas.openxmlformats.org/package/2006/relationships"><Relationship Id="rId8" Type="http://schemas.openxmlformats.org/officeDocument/2006/relationships/notesSlide" Target="../notesSlides/notesSlide54.xml"/><Relationship Id="rId7" Type="http://schemas.openxmlformats.org/officeDocument/2006/relationships/slideLayout" Target="../slideLayouts/slideLayout24.xml"/><Relationship Id="rId6" Type="http://schemas.openxmlformats.org/officeDocument/2006/relationships/tags" Target="../tags/tag844.xml"/><Relationship Id="rId5" Type="http://schemas.openxmlformats.org/officeDocument/2006/relationships/tags" Target="../tags/tag843.xml"/><Relationship Id="rId4" Type="http://schemas.openxmlformats.org/officeDocument/2006/relationships/tags" Target="../tags/tag842.xml"/><Relationship Id="rId3" Type="http://schemas.openxmlformats.org/officeDocument/2006/relationships/image" Target="../media/image7.png"/><Relationship Id="rId2" Type="http://schemas.openxmlformats.org/officeDocument/2006/relationships/tags" Target="../tags/tag841.xml"/><Relationship Id="rId1" Type="http://schemas.openxmlformats.org/officeDocument/2006/relationships/tags" Target="../tags/tag840.xml"/></Relationships>
</file>

<file path=ppt/slides/_rels/slide128.xml.rels><?xml version="1.0" encoding="UTF-8" standalone="yes"?>
<Relationships xmlns="http://schemas.openxmlformats.org/package/2006/relationships"><Relationship Id="rId8" Type="http://schemas.openxmlformats.org/officeDocument/2006/relationships/notesSlide" Target="../notesSlides/notesSlide55.xml"/><Relationship Id="rId7" Type="http://schemas.openxmlformats.org/officeDocument/2006/relationships/slideLayout" Target="../slideLayouts/slideLayout24.xml"/><Relationship Id="rId6" Type="http://schemas.openxmlformats.org/officeDocument/2006/relationships/tags" Target="../tags/tag849.xml"/><Relationship Id="rId5" Type="http://schemas.openxmlformats.org/officeDocument/2006/relationships/tags" Target="../tags/tag848.xml"/><Relationship Id="rId4" Type="http://schemas.openxmlformats.org/officeDocument/2006/relationships/tags" Target="../tags/tag847.xml"/><Relationship Id="rId3" Type="http://schemas.openxmlformats.org/officeDocument/2006/relationships/image" Target="../media/image7.png"/><Relationship Id="rId2" Type="http://schemas.openxmlformats.org/officeDocument/2006/relationships/tags" Target="../tags/tag846.xml"/><Relationship Id="rId1" Type="http://schemas.openxmlformats.org/officeDocument/2006/relationships/tags" Target="../tags/tag845.xml"/></Relationships>
</file>

<file path=ppt/slides/_rels/slide129.xml.rels><?xml version="1.0" encoding="UTF-8" standalone="yes"?>
<Relationships xmlns="http://schemas.openxmlformats.org/package/2006/relationships"><Relationship Id="rId8" Type="http://schemas.openxmlformats.org/officeDocument/2006/relationships/notesSlide" Target="../notesSlides/notesSlide56.xml"/><Relationship Id="rId7" Type="http://schemas.openxmlformats.org/officeDocument/2006/relationships/slideLayout" Target="../slideLayouts/slideLayout24.xml"/><Relationship Id="rId6" Type="http://schemas.openxmlformats.org/officeDocument/2006/relationships/tags" Target="../tags/tag854.xml"/><Relationship Id="rId5" Type="http://schemas.openxmlformats.org/officeDocument/2006/relationships/tags" Target="../tags/tag853.xml"/><Relationship Id="rId4" Type="http://schemas.openxmlformats.org/officeDocument/2006/relationships/tags" Target="../tags/tag852.xml"/><Relationship Id="rId3" Type="http://schemas.openxmlformats.org/officeDocument/2006/relationships/image" Target="../media/image7.png"/><Relationship Id="rId2" Type="http://schemas.openxmlformats.org/officeDocument/2006/relationships/tags" Target="../tags/tag851.xml"/><Relationship Id="rId1" Type="http://schemas.openxmlformats.org/officeDocument/2006/relationships/tags" Target="../tags/tag850.xml"/></Relationships>
</file>

<file path=ppt/slides/_rels/slide130.xml.rels><?xml version="1.0" encoding="UTF-8" standalone="yes"?>
<Relationships xmlns="http://schemas.openxmlformats.org/package/2006/relationships"><Relationship Id="rId8" Type="http://schemas.openxmlformats.org/officeDocument/2006/relationships/notesSlide" Target="../notesSlides/notesSlide57.xml"/><Relationship Id="rId7" Type="http://schemas.openxmlformats.org/officeDocument/2006/relationships/slideLayout" Target="../slideLayouts/slideLayout24.xml"/><Relationship Id="rId6" Type="http://schemas.openxmlformats.org/officeDocument/2006/relationships/tags" Target="../tags/tag859.xml"/><Relationship Id="rId5" Type="http://schemas.openxmlformats.org/officeDocument/2006/relationships/tags" Target="../tags/tag858.xml"/><Relationship Id="rId4" Type="http://schemas.openxmlformats.org/officeDocument/2006/relationships/tags" Target="../tags/tag857.xml"/><Relationship Id="rId3" Type="http://schemas.openxmlformats.org/officeDocument/2006/relationships/image" Target="../media/image7.png"/><Relationship Id="rId2" Type="http://schemas.openxmlformats.org/officeDocument/2006/relationships/tags" Target="../tags/tag856.xml"/><Relationship Id="rId1" Type="http://schemas.openxmlformats.org/officeDocument/2006/relationships/tags" Target="../tags/tag855.xml"/></Relationships>
</file>

<file path=ppt/slides/_rels/slide131.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slideLayout" Target="../slideLayouts/slideLayout24.xml"/><Relationship Id="rId6" Type="http://schemas.openxmlformats.org/officeDocument/2006/relationships/tags" Target="../tags/tag864.xml"/><Relationship Id="rId5" Type="http://schemas.openxmlformats.org/officeDocument/2006/relationships/tags" Target="../tags/tag863.xml"/><Relationship Id="rId4" Type="http://schemas.openxmlformats.org/officeDocument/2006/relationships/tags" Target="../tags/tag862.xml"/><Relationship Id="rId3" Type="http://schemas.openxmlformats.org/officeDocument/2006/relationships/image" Target="../media/image7.png"/><Relationship Id="rId2" Type="http://schemas.openxmlformats.org/officeDocument/2006/relationships/tags" Target="../tags/tag861.xml"/><Relationship Id="rId1" Type="http://schemas.openxmlformats.org/officeDocument/2006/relationships/tags" Target="../tags/tag860.xml"/></Relationships>
</file>

<file path=ppt/slides/_rels/slide132.xml.rels><?xml version="1.0" encoding="UTF-8" standalone="yes"?>
<Relationships xmlns="http://schemas.openxmlformats.org/package/2006/relationships"><Relationship Id="rId7" Type="http://schemas.openxmlformats.org/officeDocument/2006/relationships/notesSlide" Target="../notesSlides/notesSlide59.xml"/><Relationship Id="rId6" Type="http://schemas.openxmlformats.org/officeDocument/2006/relationships/slideLayout" Target="../slideLayouts/slideLayout24.xml"/><Relationship Id="rId5" Type="http://schemas.openxmlformats.org/officeDocument/2006/relationships/tags" Target="../tags/tag868.xml"/><Relationship Id="rId4" Type="http://schemas.openxmlformats.org/officeDocument/2006/relationships/tags" Target="../tags/tag867.xml"/><Relationship Id="rId3" Type="http://schemas.openxmlformats.org/officeDocument/2006/relationships/tags" Target="../tags/tag866.xml"/><Relationship Id="rId2" Type="http://schemas.openxmlformats.org/officeDocument/2006/relationships/image" Target="../media/image7.png"/><Relationship Id="rId1" Type="http://schemas.openxmlformats.org/officeDocument/2006/relationships/tags" Target="../tags/tag865.xml"/></Relationships>
</file>

<file path=ppt/slides/_rels/slide133.xml.rels><?xml version="1.0" encoding="UTF-8" standalone="yes"?>
<Relationships xmlns="http://schemas.openxmlformats.org/package/2006/relationships"><Relationship Id="rId7" Type="http://schemas.openxmlformats.org/officeDocument/2006/relationships/notesSlide" Target="../notesSlides/notesSlide60.xml"/><Relationship Id="rId6" Type="http://schemas.openxmlformats.org/officeDocument/2006/relationships/slideLayout" Target="../slideLayouts/slideLayout24.xml"/><Relationship Id="rId5" Type="http://schemas.openxmlformats.org/officeDocument/2006/relationships/tags" Target="../tags/tag872.xml"/><Relationship Id="rId4" Type="http://schemas.openxmlformats.org/officeDocument/2006/relationships/tags" Target="../tags/tag871.xml"/><Relationship Id="rId3" Type="http://schemas.openxmlformats.org/officeDocument/2006/relationships/tags" Target="../tags/tag870.xml"/><Relationship Id="rId2" Type="http://schemas.openxmlformats.org/officeDocument/2006/relationships/image" Target="../media/image7.png"/><Relationship Id="rId1" Type="http://schemas.openxmlformats.org/officeDocument/2006/relationships/tags" Target="../tags/tag869.xml"/></Relationships>
</file>

<file path=ppt/slides/_rels/slide134.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878.xml"/><Relationship Id="rId6" Type="http://schemas.openxmlformats.org/officeDocument/2006/relationships/tags" Target="../tags/tag877.xml"/><Relationship Id="rId5" Type="http://schemas.openxmlformats.org/officeDocument/2006/relationships/tags" Target="../tags/tag876.xml"/><Relationship Id="rId4" Type="http://schemas.openxmlformats.org/officeDocument/2006/relationships/tags" Target="../tags/tag875.xml"/><Relationship Id="rId3" Type="http://schemas.openxmlformats.org/officeDocument/2006/relationships/image" Target="../media/image7.png"/><Relationship Id="rId2" Type="http://schemas.openxmlformats.org/officeDocument/2006/relationships/tags" Target="../tags/tag874.xml"/><Relationship Id="rId1" Type="http://schemas.openxmlformats.org/officeDocument/2006/relationships/tags" Target="../tags/tag873.xml"/></Relationships>
</file>

<file path=ppt/slides/_rels/slide135.xml.rels><?xml version="1.0" encoding="UTF-8" standalone="yes"?>
<Relationships xmlns="http://schemas.openxmlformats.org/package/2006/relationships"><Relationship Id="rId9" Type="http://schemas.openxmlformats.org/officeDocument/2006/relationships/notesSlide" Target="../notesSlides/notesSlide61.xml"/><Relationship Id="rId8" Type="http://schemas.openxmlformats.org/officeDocument/2006/relationships/slideLayout" Target="../slideLayouts/slideLayout24.xml"/><Relationship Id="rId7" Type="http://schemas.openxmlformats.org/officeDocument/2006/relationships/tags" Target="../tags/tag883.xml"/><Relationship Id="rId6" Type="http://schemas.openxmlformats.org/officeDocument/2006/relationships/tags" Target="../tags/tag882.xml"/><Relationship Id="rId5" Type="http://schemas.openxmlformats.org/officeDocument/2006/relationships/tags" Target="../tags/tag881.xml"/><Relationship Id="rId4" Type="http://schemas.openxmlformats.org/officeDocument/2006/relationships/image" Target="../media/image7.png"/><Relationship Id="rId3" Type="http://schemas.openxmlformats.org/officeDocument/2006/relationships/image" Target="../media/image44.png"/><Relationship Id="rId2" Type="http://schemas.openxmlformats.org/officeDocument/2006/relationships/tags" Target="../tags/tag880.xml"/><Relationship Id="rId1" Type="http://schemas.openxmlformats.org/officeDocument/2006/relationships/tags" Target="../tags/tag879.xml"/></Relationships>
</file>

<file path=ppt/slides/_rels/slide136.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889.xml"/><Relationship Id="rId7" Type="http://schemas.openxmlformats.org/officeDocument/2006/relationships/tags" Target="../tags/tag888.xml"/><Relationship Id="rId6" Type="http://schemas.openxmlformats.org/officeDocument/2006/relationships/tags" Target="../tags/tag887.xml"/><Relationship Id="rId5" Type="http://schemas.openxmlformats.org/officeDocument/2006/relationships/image" Target="../media/image7.png"/><Relationship Id="rId4" Type="http://schemas.openxmlformats.org/officeDocument/2006/relationships/image" Target="../media/image45.png"/><Relationship Id="rId3" Type="http://schemas.openxmlformats.org/officeDocument/2006/relationships/tags" Target="../tags/tag886.xml"/><Relationship Id="rId2" Type="http://schemas.openxmlformats.org/officeDocument/2006/relationships/tags" Target="../tags/tag885.xml"/><Relationship Id="rId1" Type="http://schemas.openxmlformats.org/officeDocument/2006/relationships/tags" Target="../tags/tag884.xml"/></Relationships>
</file>

<file path=ppt/slides/_rels/slide137.xml.rels><?xml version="1.0" encoding="UTF-8" standalone="yes"?>
<Relationships xmlns="http://schemas.openxmlformats.org/package/2006/relationships"><Relationship Id="rId7" Type="http://schemas.openxmlformats.org/officeDocument/2006/relationships/notesSlide" Target="../notesSlides/notesSlide62.xml"/><Relationship Id="rId6" Type="http://schemas.openxmlformats.org/officeDocument/2006/relationships/slideLayout" Target="../slideLayouts/slideLayout24.xml"/><Relationship Id="rId5" Type="http://schemas.openxmlformats.org/officeDocument/2006/relationships/tags" Target="../tags/tag893.xml"/><Relationship Id="rId4" Type="http://schemas.openxmlformats.org/officeDocument/2006/relationships/tags" Target="../tags/tag892.xml"/><Relationship Id="rId3" Type="http://schemas.openxmlformats.org/officeDocument/2006/relationships/tags" Target="../tags/tag891.xml"/><Relationship Id="rId2" Type="http://schemas.openxmlformats.org/officeDocument/2006/relationships/image" Target="../media/image7.png"/><Relationship Id="rId1" Type="http://schemas.openxmlformats.org/officeDocument/2006/relationships/tags" Target="../tags/tag890.xml"/></Relationships>
</file>

<file path=ppt/slides/_rels/slide138.xml.rels><?xml version="1.0" encoding="UTF-8" standalone="yes"?>
<Relationships xmlns="http://schemas.openxmlformats.org/package/2006/relationships"><Relationship Id="rId9" Type="http://schemas.openxmlformats.org/officeDocument/2006/relationships/tags" Target="../tags/tag901.xml"/><Relationship Id="rId8" Type="http://schemas.openxmlformats.org/officeDocument/2006/relationships/tags" Target="../tags/tag900.xml"/><Relationship Id="rId7" Type="http://schemas.openxmlformats.org/officeDocument/2006/relationships/image" Target="../media/image7.png"/><Relationship Id="rId6" Type="http://schemas.openxmlformats.org/officeDocument/2006/relationships/tags" Target="../tags/tag899.xml"/><Relationship Id="rId5" Type="http://schemas.openxmlformats.org/officeDocument/2006/relationships/tags" Target="../tags/tag898.xml"/><Relationship Id="rId4" Type="http://schemas.openxmlformats.org/officeDocument/2006/relationships/tags" Target="../tags/tag897.xml"/><Relationship Id="rId3" Type="http://schemas.openxmlformats.org/officeDocument/2006/relationships/tags" Target="../tags/tag896.xml"/><Relationship Id="rId2" Type="http://schemas.openxmlformats.org/officeDocument/2006/relationships/tags" Target="../tags/tag895.xml"/><Relationship Id="rId12" Type="http://schemas.openxmlformats.org/officeDocument/2006/relationships/notesSlide" Target="../notesSlides/notesSlide63.xml"/><Relationship Id="rId11" Type="http://schemas.openxmlformats.org/officeDocument/2006/relationships/slideLayout" Target="../slideLayouts/slideLayout24.xml"/><Relationship Id="rId10" Type="http://schemas.openxmlformats.org/officeDocument/2006/relationships/tags" Target="../tags/tag902.xml"/><Relationship Id="rId1" Type="http://schemas.openxmlformats.org/officeDocument/2006/relationships/tags" Target="../tags/tag894.xml"/></Relationships>
</file>

<file path=ppt/slides/_rels/slide139.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907.xml"/><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tags" Target="../tags/tag906.xml"/><Relationship Id="rId4" Type="http://schemas.openxmlformats.org/officeDocument/2006/relationships/tags" Target="../tags/tag905.xml"/><Relationship Id="rId3" Type="http://schemas.openxmlformats.org/officeDocument/2006/relationships/image" Target="../media/image7.png"/><Relationship Id="rId2" Type="http://schemas.openxmlformats.org/officeDocument/2006/relationships/tags" Target="../tags/tag904.xml"/><Relationship Id="rId10" Type="http://schemas.openxmlformats.org/officeDocument/2006/relationships/notesSlide" Target="../notesSlides/notesSlide64.xml"/><Relationship Id="rId1" Type="http://schemas.openxmlformats.org/officeDocument/2006/relationships/tags" Target="../tags/tag903.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9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Object 2103"/>
          <p:cNvSpPr txBox="1"/>
          <p:nvPr>
            <p:custDataLst>
              <p:tags r:id="rId1"/>
            </p:custDataLst>
          </p:nvPr>
        </p:nvSpPr>
        <p:spPr>
          <a:xfrm>
            <a:off x="2351405" y="3500755"/>
            <a:ext cx="7355205" cy="445135"/>
          </a:xfrm>
          <a:prstGeom prst="rect">
            <a:avLst/>
          </a:prstGeom>
          <a:ln w="3175">
            <a:miter lim="400000"/>
          </a:ln>
        </p:spPr>
        <p:txBody>
          <a:bodyPr wrap="square" lIns="101600" tIns="38100" rIns="76200" bIns="38100"/>
          <a:lstStyle>
            <a:lvl1pPr algn="ctr">
              <a:defRPr sz="2400" spc="73">
                <a:solidFill>
                  <a:srgbClr val="FFE3B9"/>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4400" spc="200" dirty="0">
                <a:solidFill>
                  <a:schemeClr val="accent1"/>
                </a:solidFill>
                <a:latin typeface="Arial" panose="020B0604020202020204" pitchFamily="34" charset="0"/>
                <a:ea typeface="微软雅黑" panose="020B0503020204020204" pitchFamily="34" charset="-122"/>
              </a:rPr>
              <a:t>第三讲</a:t>
            </a:r>
            <a:r>
              <a:rPr lang="en-US" altLang="zh-CN" sz="4400" spc="200" dirty="0">
                <a:solidFill>
                  <a:schemeClr val="accent1"/>
                </a:solidFill>
                <a:latin typeface="Arial" panose="020B0604020202020204" pitchFamily="34" charset="0"/>
                <a:ea typeface="微软雅黑" panose="020B0503020204020204" pitchFamily="34" charset="-122"/>
              </a:rPr>
              <a:t> </a:t>
            </a:r>
            <a:r>
              <a:rPr lang="zh-CN" altLang="en-US" sz="4400" spc="200" dirty="0">
                <a:solidFill>
                  <a:schemeClr val="accent1"/>
                </a:solidFill>
                <a:latin typeface="Arial" panose="020B0604020202020204" pitchFamily="34" charset="0"/>
                <a:ea typeface="微软雅黑" panose="020B0503020204020204" pitchFamily="34" charset="-122"/>
                <a:sym typeface="+mn-ea"/>
              </a:rPr>
              <a:t>完全信息静态博弈</a:t>
            </a:r>
            <a:endParaRPr lang="en-US" altLang="zh-CN" sz="4400" b="1" dirty="0">
              <a:solidFill>
                <a:schemeClr val="lt1"/>
              </a:solidFill>
              <a:latin typeface="Arial" panose="020B0604020202020204" pitchFamily="34" charset="0"/>
              <a:ea typeface="微软雅黑" panose="020B0503020204020204" pitchFamily="34" charset="-122"/>
            </a:endParaRPr>
          </a:p>
          <a:p>
            <a:pPr marL="0" indent="0" algn="ctr">
              <a:lnSpc>
                <a:spcPct val="100000"/>
              </a:lnSpc>
              <a:spcBef>
                <a:spcPts val="0"/>
              </a:spcBef>
              <a:spcAft>
                <a:spcPts val="0"/>
              </a:spcAft>
              <a:buSzPct val="100000"/>
              <a:buNone/>
            </a:pPr>
            <a:endParaRPr lang="zh-CN" altLang="en-US" sz="4400" spc="200" dirty="0">
              <a:solidFill>
                <a:schemeClr val="accent1"/>
              </a:solidFill>
              <a:latin typeface="Arial" panose="020B0604020202020204" pitchFamily="34" charset="0"/>
              <a:ea typeface="微软雅黑" panose="020B0503020204020204" pitchFamily="34" charset="-122"/>
            </a:endParaRPr>
          </a:p>
        </p:txBody>
      </p:sp>
      <p:sp>
        <p:nvSpPr>
          <p:cNvPr id="419" name="Object 2105"/>
          <p:cNvSpPr txBox="1"/>
          <p:nvPr>
            <p:custDataLst>
              <p:tags r:id="rId2"/>
            </p:custDataLst>
          </p:nvPr>
        </p:nvSpPr>
        <p:spPr>
          <a:xfrm>
            <a:off x="3175909" y="1268889"/>
            <a:ext cx="5823585" cy="1583690"/>
          </a:xfrm>
          <a:prstGeom prst="rect">
            <a:avLst/>
          </a:prstGeom>
          <a:ln w="3175">
            <a:miter lim="400000"/>
          </a:ln>
        </p:spPr>
        <p:txBody>
          <a:bodyPr lIns="101600" tIns="38100" rIns="63500" bIns="38100" anchor="b" anchorCtr="0">
            <a:normAutofit/>
          </a:bodyPr>
          <a:lstStyle>
            <a:lvl1pPr algn="ctr">
              <a:defRPr sz="12400" spc="372">
                <a:solidFill>
                  <a:srgbClr val="FFFFFF"/>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7200" spc="300" dirty="0">
                <a:solidFill>
                  <a:schemeClr val="accent1"/>
                </a:solidFill>
                <a:latin typeface="Arial" panose="020B0604020202020204" pitchFamily="34" charset="0"/>
                <a:ea typeface="微软雅黑" panose="020B0503020204020204" pitchFamily="34" charset="-122"/>
              </a:rPr>
              <a:t>博弈论</a:t>
            </a:r>
            <a:endParaRPr lang="zh-CN" altLang="en-US" sz="7200" spc="300" dirty="0">
              <a:solidFill>
                <a:schemeClr val="accent1"/>
              </a:solidFill>
              <a:latin typeface="Arial" panose="020B0604020202020204" pitchFamily="34" charset="0"/>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8" name="object 8"/>
          <p:cNvSpPr txBox="1"/>
          <p:nvPr/>
        </p:nvSpPr>
        <p:spPr>
          <a:xfrm>
            <a:off x="9264015" y="3945890"/>
            <a:ext cx="2673985" cy="2277110"/>
          </a:xfrm>
          <a:prstGeom prst="rect">
            <a:avLst/>
          </a:prstGeom>
        </p:spPr>
        <p:txBody>
          <a:bodyPr vert="horz" wrap="square" lIns="0" tIns="0" rIns="0" bIns="0" rtlCol="0">
            <a:spAutoFit/>
          </a:bodyPr>
          <a:lstStyle/>
          <a:p>
            <a:pPr marL="12700">
              <a:lnSpc>
                <a:spcPct val="100000"/>
              </a:lnSpc>
            </a:pPr>
            <a:r>
              <a:rPr lang="zh-CN" altLang="en-US"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en-US" altLang="zh-CN" sz="32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王梦晨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杭州电子科技大学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     经济学院</a:t>
            </a:r>
            <a:endPar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p:txBody>
      </p:sp>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AutoShape 4"/>
          <p:cNvSpPr>
            <a:spLocks noGrp="1" noChangeArrowheads="1"/>
          </p:cNvSpPr>
          <p:nvPr>
            <p:ph type="title"/>
          </p:nvPr>
        </p:nvSpPr>
        <p:spPr>
          <a:xfrm>
            <a:off x="2423160" y="620395"/>
            <a:ext cx="7055485" cy="857250"/>
          </a:xfrm>
        </p:spPr>
        <p:txBody>
          <a:bodyPr/>
          <a:lstStyle/>
          <a:p>
            <a:pPr algn="ctr" eaLnBrk="1" hangingPunct="1">
              <a:buClrTx/>
              <a:buSzTx/>
              <a:buFontTx/>
            </a:pPr>
            <a:r>
              <a:rPr lang="zh-CN" altLang="en-US" sz="4000"/>
              <a:t>第三讲：</a:t>
            </a:r>
            <a:r>
              <a:rPr sz="4000">
                <a:sym typeface="+mn-ea"/>
              </a:rPr>
              <a:t>完全信息静态博弈</a:t>
            </a:r>
            <a:br>
              <a:rPr lang="en-US" altLang="zh-CN" sz="4000" b="1" dirty="0">
                <a:solidFill>
                  <a:schemeClr val="lt1"/>
                </a:solidFill>
                <a:latin typeface="Arial" panose="020B0604020202020204" pitchFamily="34" charset="0"/>
                <a:ea typeface="微软雅黑" panose="020B0503020204020204" pitchFamily="34" charset="-122"/>
              </a:rPr>
            </a:br>
            <a:endParaRPr lang="zh-CN" altLang="en-US" sz="4000"/>
          </a:p>
        </p:txBody>
      </p:sp>
      <p:sp>
        <p:nvSpPr>
          <p:cNvPr id="8195" name="AutoShape 5"/>
          <p:cNvSpPr>
            <a:spLocks noGrp="1" noChangeArrowheads="1"/>
          </p:cNvSpPr>
          <p:nvPr>
            <p:ph type="body" idx="1"/>
          </p:nvPr>
        </p:nvSpPr>
        <p:spPr>
          <a:xfrm>
            <a:off x="4007485" y="1477645"/>
            <a:ext cx="5297805" cy="5486400"/>
          </a:xfrm>
          <a:extLst>
            <a:ext uri="{91240B29-F687-4F45-9708-019B960494DF}">
              <a14:hiddenLine xmlns:a14="http://schemas.microsoft.com/office/drawing/2010/main" w="28575">
                <a:solidFill>
                  <a:schemeClr val="accent1"/>
                </a:solidFill>
                <a:round/>
              </a14:hiddenLine>
            </a:ext>
          </a:extLst>
        </p:spPr>
        <p:txBody>
          <a:bodyPr/>
          <a:lstStyle/>
          <a:p>
            <a:pPr marL="812800" indent="-812800" algn="ctr" eaLnBrk="1" hangingPunct="1">
              <a:lnSpc>
                <a:spcPct val="170000"/>
              </a:lnSpc>
              <a:buFont typeface="Wingdings" panose="05000000000000000000" pitchFamily="2" charset="2"/>
              <a:buNone/>
            </a:pPr>
            <a:r>
              <a:rPr lang="zh-CN" altLang="en-US" sz="2400" b="1" dirty="0">
                <a:solidFill>
                  <a:srgbClr val="0000CC"/>
                </a:solidFill>
              </a:rPr>
              <a:t>主要内容</a:t>
            </a:r>
            <a:endParaRPr lang="zh-CN" altLang="en-US" sz="2400" b="1" dirty="0">
              <a:solidFill>
                <a:srgbClr val="0000CC"/>
              </a:solidFill>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博弈的表述</a:t>
            </a:r>
            <a:endParaRPr sz="2400" dirty="0">
              <a:solidFill>
                <a:srgbClr val="002060"/>
              </a:solidFill>
              <a:latin typeface="微软雅黑" panose="020B0503020204020204" pitchFamily="34" charset="-122"/>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基本概念</a:t>
            </a:r>
            <a:endParaRPr sz="2400" dirty="0">
              <a:solidFill>
                <a:srgbClr val="002060"/>
              </a:solidFill>
              <a:latin typeface="微软雅黑" panose="020B0503020204020204" pitchFamily="34" charset="-122"/>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基本分析思路和方法</a:t>
            </a:r>
            <a:endParaRPr sz="2400" dirty="0">
              <a:solidFill>
                <a:srgbClr val="002060"/>
              </a:solidFill>
              <a:latin typeface="微软雅黑" panose="020B0503020204020204" pitchFamily="34" charset="-122"/>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纳什均衡</a:t>
            </a:r>
            <a:endParaRPr sz="2400" dirty="0">
              <a:solidFill>
                <a:srgbClr val="002060"/>
              </a:solidFill>
              <a:latin typeface="微软雅黑" panose="020B0503020204020204" pitchFamily="34" charset="-122"/>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无限策略博弈分析和反应函数</a:t>
            </a:r>
            <a:endParaRPr sz="2400" dirty="0">
              <a:solidFill>
                <a:srgbClr val="002060"/>
              </a:solidFill>
              <a:latin typeface="微软雅黑" panose="020B0503020204020204" pitchFamily="34" charset="-122"/>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混合策略和混合策略纳什均衡</a:t>
            </a:r>
            <a:endParaRPr sz="2400" dirty="0">
              <a:solidFill>
                <a:srgbClr val="002060"/>
              </a:solidFill>
              <a:latin typeface="微软雅黑" panose="020B0503020204020204" pitchFamily="34" charset="-122"/>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纳什均衡的存在性</a:t>
            </a:r>
            <a:endParaRPr sz="2400" dirty="0">
              <a:solidFill>
                <a:srgbClr val="002060"/>
              </a:solidFill>
              <a:latin typeface="微软雅黑" panose="020B0503020204020204" pitchFamily="34" charset="-122"/>
            </a:endParaRPr>
          </a:p>
          <a:p>
            <a:pPr>
              <a:lnSpc>
                <a:spcPct val="120000"/>
              </a:lnSpc>
              <a:buFont typeface="Wingdings" panose="05000000000000000000" charset="0"/>
              <a:buChar char="Ø"/>
            </a:pPr>
            <a:r>
              <a:rPr sz="2400" dirty="0">
                <a:solidFill>
                  <a:srgbClr val="002060"/>
                </a:solidFill>
                <a:latin typeface="微软雅黑" panose="020B0503020204020204" pitchFamily="34" charset="-122"/>
              </a:rPr>
              <a:t>纳什均衡的选择和分析方法扩展</a:t>
            </a:r>
            <a:endParaRPr lang="zh-CN" altLang="en-US" sz="2400" dirty="0">
              <a:solidFill>
                <a:srgbClr val="002060"/>
              </a:solidFill>
              <a:latin typeface="微软雅黑" panose="020B0503020204020204" pitchFamily="34" charset="-122"/>
            </a:endParaRPr>
          </a:p>
        </p:txBody>
      </p:sp>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博弈的表述</a:t>
            </a:r>
            <a:endParaRPr lang="zh-CN" altLang="en-US" sz="28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3490" name="Rectangle 3"/>
          <p:cNvSpPr>
            <a:spLocks noGrp="1"/>
          </p:cNvSpPr>
          <p:nvPr/>
        </p:nvSpPr>
        <p:spPr>
          <a:xfrm>
            <a:off x="695325" y="1196975"/>
            <a:ext cx="10713720" cy="426720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n"/>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策略式表述（静态）：所有参与人同时选择各自的策略，所有参与人选择的策略一起决定每个参与人的得益（</a:t>
            </a:r>
            <a:r>
              <a:rPr lang="zh-CN" altLang="en-US"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矩阵式或函数式</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buFont typeface="Wingdings" panose="05000000000000000000" pitchFamily="2" charset="2"/>
              <a:buChar char="n"/>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扩展式表述（</a:t>
            </a:r>
            <a:r>
              <a:rPr lang="zh-CN" altLang="en-US"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动态博弈</a:t>
            </a:r>
            <a:r>
              <a:rPr lang="en-US" altLang="zh-CN"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博弈树</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博弈的表述：</a:t>
            </a:r>
            <a:r>
              <a:rPr lang="zh-CN" altLang="en-US" sz="2800" dirty="0">
                <a:solidFill>
                  <a:schemeClr val="accent1"/>
                </a:solidFill>
                <a:sym typeface="+mn-ea"/>
              </a:rPr>
              <a:t>策略</a:t>
            </a:r>
            <a:r>
              <a:rPr lang="zh-CN" altLang="en-US" sz="2800" dirty="0">
                <a:solidFill>
                  <a:schemeClr val="accent1"/>
                </a:solidFill>
                <a:sym typeface="+mn-ea"/>
              </a:rPr>
              <a:t>式表述</a:t>
            </a:r>
            <a:endParaRPr lang="zh-CN" altLang="en-US" sz="28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3490" name="Rectangle 3"/>
          <p:cNvSpPr>
            <a:spLocks noGrp="1"/>
          </p:cNvSpPr>
          <p:nvPr/>
        </p:nvSpPr>
        <p:spPr>
          <a:xfrm>
            <a:off x="739140" y="908685"/>
            <a:ext cx="10713720" cy="466788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buFont typeface="Wingdings" panose="05000000000000000000" pitchFamily="2" charset="2"/>
              <a:buChar char="n"/>
            </a:pP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策略式表述（静态）：所有参与人同时选择各自的策略，所有参与人选择的策略一起决定每个参与人的得益。</a:t>
            </a:r>
            <a:endParaRPr lang="zh-CN" altLang="en-US" sz="2200" b="0" dirty="0">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30000"/>
              </a:lnSpc>
              <a:buFont typeface="Arial" panose="020B0604020202020204" pitchFamily="34" charset="0"/>
              <a:buChar char="•"/>
            </a:pPr>
            <a:r>
              <a:rPr lang="zh-CN" alt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“同时”是一个信息概念，而不是一个时间概念。</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只要每个参与人在选择自己的行动时不知道其他参与人的选择，我们就说他们在同时行动；</a:t>
            </a:r>
            <a:endPar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3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“同时选择”的是策略，而不是行动，因为策略是参与人行动的全面计划；</a:t>
            </a:r>
            <a:endPar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3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所有的参与人都知道博弈的结构，知道他们的对手知道这一结构，知道他们的对手了解他们知道这一结构</a:t>
            </a:r>
            <a:r>
              <a:rPr lang="en-US" altLang="zh-CN"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如此直至无穷，也即博弈的结构是共同知识。</a:t>
            </a:r>
            <a:endPar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Rectangle 3"/>
          <p:cNvSpPr>
            <a:spLocks noGrp="1"/>
          </p:cNvSpPr>
          <p:nvPr/>
        </p:nvSpPr>
        <p:spPr>
          <a:xfrm>
            <a:off x="891540" y="4364990"/>
            <a:ext cx="10713720" cy="1111885"/>
          </a:xfrm>
          <a:prstGeom prst="rect">
            <a:avLst/>
          </a:prstGeom>
          <a:noFill/>
          <a:ln w="22225">
            <a:solidFill>
              <a:schemeClr val="bg1">
                <a:lumMod val="65000"/>
              </a:schemeClr>
            </a:solidFill>
            <a:prstDash val="dashDot"/>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Font typeface="Wingdings" panose="05000000000000000000" pitchFamily="2" charset="2"/>
              <a:buNone/>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定义</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：在一个有</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人博弈的策略式表述中，参与人的策略空间</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,…,Sn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，得益函数为</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，我们用</a:t>
            </a:r>
            <a:r>
              <a:rPr lang="en-US" altLang="zh-CN"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G={S1</a:t>
            </a:r>
            <a:r>
              <a:rPr lang="en-US" altLang="zh-CN"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Sn</a:t>
            </a:r>
            <a:r>
              <a:rPr lang="zh-CN" altLang="en-US"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200" baseline="-25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200" baseline="-25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表示此博弈策略式表述。</a:t>
            </a:r>
            <a:endPar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a:xfrm>
            <a:off x="8616315" y="6380948"/>
            <a:ext cx="2700000" cy="316800"/>
          </a:xfrm>
        </p:spPr>
        <p:txBody>
          <a:bodyPr/>
          <a:lstStyle/>
          <a:p>
            <a:fld id="{49AE70B2-8BF9-45C0-BB95-33D1B9D3A854}" type="slidenum">
              <a:rPr lang="zh-CN" altLang="en-US" smtClean="0"/>
            </a:fld>
            <a:endParaRPr lang="zh-CN" altLang="en-US"/>
          </a:p>
        </p:txBody>
      </p:sp>
      <p:sp>
        <p:nvSpPr>
          <p:cNvPr id="63490" name="Rectangle 3"/>
          <p:cNvSpPr>
            <a:spLocks noGrp="1"/>
          </p:cNvSpPr>
          <p:nvPr/>
        </p:nvSpPr>
        <p:spPr>
          <a:xfrm>
            <a:off x="695325" y="836930"/>
            <a:ext cx="10713720" cy="466788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Font typeface="Wingdings" panose="05000000000000000000" pitchFamily="2" charset="2"/>
              <a:buNone/>
            </a:pP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策略式表述包含以下三个要素：</a:t>
            </a:r>
            <a:endParaRPr lang="zh-CN" altLang="en-US" sz="2200" b="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0" indent="-457200" algn="just">
              <a:lnSpc>
                <a:spcPct val="130000"/>
              </a:lnSpc>
              <a:buFont typeface="+mj-lt"/>
              <a:buAutoNum type="arabicPeriod"/>
            </a:pP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博弈方</a:t>
            </a:r>
            <a:endPar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927100" lvl="1" indent="-469900" algn="just">
              <a:lnSpc>
                <a:spcPct val="130000"/>
              </a:lnSpc>
              <a:buFont typeface="Arial" panose="020B0604020202020204" pitchFamily="34" charset="0"/>
              <a:buChar char="•"/>
            </a:pPr>
            <a:r>
              <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参与人的集合</a:t>
            </a:r>
            <a:endPar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927100" lvl="1" indent="-469900" algn="just">
              <a:lnSpc>
                <a:spcPct val="130000"/>
              </a:lnSpc>
              <a:buFont typeface="Arial" panose="020B0604020202020204" pitchFamily="34" charset="0"/>
              <a:buChar char="•"/>
            </a:pPr>
            <a:r>
              <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参与人</a:t>
            </a:r>
            <a:r>
              <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a:t>
            </a:r>
            <a:endPar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just">
              <a:lnSpc>
                <a:spcPct val="130000"/>
              </a:lnSpc>
              <a:buFont typeface="+mj-lt"/>
              <a:buAutoNum type="arabicPeriod"/>
            </a:pP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博弈方的策略空间</a:t>
            </a:r>
            <a:endPar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927100" lvl="1" indent="-469900" algn="just">
              <a:lnSpc>
                <a:spcPct val="130000"/>
              </a:lnSpc>
              <a:buFont typeface="Arial" panose="020B0604020202020204" pitchFamily="34" charset="0"/>
              <a:buChar char="•"/>
            </a:pPr>
            <a:r>
              <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博弈方的策略空间</a:t>
            </a:r>
            <a:endPar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927100" lvl="1" indent="-469900" algn="just">
              <a:lnSpc>
                <a:spcPct val="130000"/>
              </a:lnSpc>
              <a:buFont typeface="Arial" panose="020B0604020202020204" pitchFamily="34" charset="0"/>
              <a:buChar char="•"/>
            </a:pPr>
            <a:r>
              <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博弈方</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策略空间</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中的一个策略</a:t>
            </a:r>
            <a:endPar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927100" lvl="1" indent="-469900" algn="just">
              <a:lnSpc>
                <a:spcPct val="130000"/>
              </a:lnSpc>
              <a:buFont typeface="Arial" panose="020B0604020202020204" pitchFamily="34" charset="0"/>
              <a:buChar char="•"/>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所有博弈方的策略放在一起，称为博弈的策略组合</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457200" lvl="0" indent="-457200" algn="just">
              <a:lnSpc>
                <a:spcPct val="130000"/>
              </a:lnSpc>
              <a:buFont typeface="+mj-lt"/>
              <a:buAutoNum type="arabicPeriod"/>
            </a:pP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博弈方的得益</a:t>
            </a:r>
            <a:endPar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927100" lvl="1" indent="-469900" algn="just">
              <a:lnSpc>
                <a:spcPct val="130000"/>
              </a:lnSpc>
              <a:buFont typeface="Arial" panose="020B0604020202020204" pitchFamily="34" charset="0"/>
              <a:buChar char="•"/>
            </a:pPr>
            <a:r>
              <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0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博弈方</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rPr>
              <a:t>的得益</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 </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457200" lvl="1" indent="0" algn="just">
              <a:lnSpc>
                <a:spcPct val="130000"/>
              </a:lnSpc>
              <a:buFont typeface="Arial" panose="020B0604020202020204" pitchFamily="34" charset="0"/>
              <a:buNone/>
            </a:pPr>
            <a:r>
              <a:rPr lang="en-US" altLang="zh-CN"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u</a:t>
            </a:r>
            <a:r>
              <a:rPr lang="en-US" altLang="zh-CN" sz="2000" b="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927100" lvl="1" indent="-469900" algn="just">
              <a:lnSpc>
                <a:spcPct val="130000"/>
              </a:lnSpc>
              <a:buFont typeface="Arial" panose="020B0604020202020204" pitchFamily="34" charset="0"/>
              <a:buChar char="•"/>
            </a:pPr>
            <a:endPar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博弈的表述：</a:t>
            </a:r>
            <a:r>
              <a:rPr lang="zh-CN" altLang="en-US" sz="2800" dirty="0">
                <a:solidFill>
                  <a:schemeClr val="accent1"/>
                </a:solidFill>
                <a:sym typeface="+mn-ea"/>
              </a:rPr>
              <a:t>策略</a:t>
            </a:r>
            <a:r>
              <a:rPr lang="zh-CN" altLang="en-US" sz="2800" dirty="0">
                <a:solidFill>
                  <a:schemeClr val="accent1"/>
                </a:solidFill>
                <a:sym typeface="+mn-ea"/>
              </a:rPr>
              <a:t>式表述</a:t>
            </a:r>
            <a:endParaRPr lang="zh-CN" altLang="en-US" sz="2800" dirty="0">
              <a:solidFill>
                <a:schemeClr val="accent1"/>
              </a:solidFill>
              <a:sym typeface="+mn-ea"/>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3490" name="Rectangle 3"/>
          <p:cNvSpPr>
            <a:spLocks noGrp="1"/>
          </p:cNvSpPr>
          <p:nvPr/>
        </p:nvSpPr>
        <p:spPr>
          <a:xfrm>
            <a:off x="479425" y="1052830"/>
            <a:ext cx="10713720" cy="82296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27100" lvl="1" indent="-469900" algn="just">
              <a:lnSpc>
                <a:spcPct val="130000"/>
              </a:lnSpc>
              <a:buFont typeface="Wingdings" panose="05000000000000000000" charset="0"/>
              <a:buChar char="l"/>
            </a:pP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得益（支付）矩阵是两个或多个参与人参加的有限博弈策略式表述的一种直观的、表格形式的描述。</a:t>
            </a:r>
            <a:endPar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博弈的表述：</a:t>
            </a:r>
            <a:r>
              <a:rPr lang="zh-CN" altLang="en-US" sz="2800" dirty="0">
                <a:solidFill>
                  <a:schemeClr val="accent1"/>
                </a:solidFill>
                <a:sym typeface="+mn-ea"/>
              </a:rPr>
              <a:t>策略</a:t>
            </a:r>
            <a:r>
              <a:rPr lang="zh-CN" altLang="en-US" sz="2800" dirty="0">
                <a:solidFill>
                  <a:schemeClr val="accent1"/>
                </a:solidFill>
                <a:sym typeface="+mn-ea"/>
              </a:rPr>
              <a:t>式表述</a:t>
            </a:r>
            <a:r>
              <a:rPr lang="en-US" altLang="zh-CN" sz="2800" dirty="0">
                <a:solidFill>
                  <a:schemeClr val="accent1"/>
                </a:solidFill>
                <a:sym typeface="+mn-ea"/>
              </a:rPr>
              <a:t>——</a:t>
            </a:r>
            <a:r>
              <a:rPr lang="zh-CN" altLang="en-US" sz="2800" dirty="0">
                <a:solidFill>
                  <a:schemeClr val="accent1"/>
                </a:solidFill>
                <a:sym typeface="+mn-ea"/>
              </a:rPr>
              <a:t>得益矩阵</a:t>
            </a:r>
            <a:endParaRPr lang="zh-CN" altLang="en-US" sz="2800" dirty="0">
              <a:solidFill>
                <a:schemeClr val="accent1"/>
              </a:solidFill>
              <a:sym typeface="+mn-ea"/>
            </a:endParaRPr>
          </a:p>
        </p:txBody>
      </p:sp>
      <p:sp>
        <p:nvSpPr>
          <p:cNvPr id="8" name="Title 6"/>
          <p:cNvSpPr txBox="1"/>
          <p:nvPr>
            <p:custDataLst>
              <p:tags r:id="rId4"/>
            </p:custDataLst>
          </p:nvPr>
        </p:nvSpPr>
        <p:spPr>
          <a:xfrm>
            <a:off x="982980" y="1875790"/>
            <a:ext cx="10153650" cy="1826895"/>
          </a:xfrm>
          <a:prstGeom prst="rect">
            <a:avLst/>
          </a:prstGeom>
          <a:noFill/>
          <a:ln w="3175">
            <a:noFill/>
            <a:prstDash val="dash"/>
          </a:ln>
        </p:spPr>
        <p:txBody>
          <a:bodyPr wrap="square" lIns="63500" tIns="25400" rIns="63500" bIns="254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Wingdings" panose="05000000000000000000" charset="0"/>
              <a:buChar char="u"/>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博弈论中，用来描述两个人或多个参与人的</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策略和得益</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的矩阵。不同参与人的利润或效用就是得益，也称支付。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Wingdings" panose="05000000000000000000" charset="0"/>
              <a:buChar char="u"/>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得益（支付）矩阵是指从支付表中抽象出来由损益值组成的矩阵，用来讨论</a:t>
            </a:r>
            <a:r>
              <a:rPr lang="zh-CN" altLang="en-US" sz="2000"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有限策略</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的博弈均衡问题。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auto">
              <a:lnSpc>
                <a:spcPct val="120000"/>
              </a:lnSpc>
              <a:spcBef>
                <a:spcPts val="0"/>
              </a:spcBef>
              <a:spcAft>
                <a:spcPts val="800"/>
              </a:spcAft>
              <a:buSzPct val="100000"/>
              <a:buFont typeface="Wingdings" panose="05000000000000000000" charset="0"/>
              <a:buChar char="u"/>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custDataLst>
              <p:tags r:id="rId2"/>
            </p:custDataLst>
          </p:nvPr>
        </p:nvSpPr>
        <p:spPr>
          <a:xfrm>
            <a:off x="1004718" y="1066831"/>
            <a:ext cx="10188914" cy="5486339"/>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3"/>
            </p:custDataLst>
          </p:nvPr>
        </p:nvSpPr>
        <p:spPr>
          <a:xfrm>
            <a:off x="911225" y="1124585"/>
            <a:ext cx="3798570" cy="57594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得益矩阵</a:t>
            </a:r>
            <a:r>
              <a:rPr altLang="zh-CN"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4"/>
            </p:custDataLst>
          </p:nvPr>
        </p:nvGraphicFramePr>
        <p:xfrm>
          <a:off x="1991360" y="1700530"/>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2</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1</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2"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6"/>
            </p:custDataLst>
          </p:nvPr>
        </p:nvSpPr>
        <p:spPr>
          <a:xfrm>
            <a:off x="839476" y="161927"/>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博弈的表述：</a:t>
            </a:r>
            <a:r>
              <a:rPr lang="zh-CN" altLang="en-US" sz="2800" dirty="0">
                <a:solidFill>
                  <a:schemeClr val="accent1"/>
                </a:solidFill>
                <a:sym typeface="+mn-ea"/>
              </a:rPr>
              <a:t>得益矩阵</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博弈的表述：</a:t>
            </a:r>
            <a:r>
              <a:rPr lang="zh-CN" altLang="en-US" sz="2800" dirty="0">
                <a:solidFill>
                  <a:schemeClr val="accent1"/>
                </a:solidFill>
                <a:sym typeface="+mn-ea"/>
              </a:rPr>
              <a:t>扩展式表述</a:t>
            </a:r>
            <a:endParaRPr lang="zh-CN" altLang="en-US" sz="28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3490" name="Rectangle 3"/>
          <p:cNvSpPr>
            <a:spLocks noGrp="1"/>
          </p:cNvSpPr>
          <p:nvPr/>
        </p:nvSpPr>
        <p:spPr>
          <a:xfrm>
            <a:off x="739140" y="980440"/>
            <a:ext cx="10713720" cy="343725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buFont typeface="Wingdings" panose="05000000000000000000" charset="0"/>
              <a:buChar char="Ø"/>
            </a:pP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博弈的扩展式是用树形图对一个博弈故事的基本构成要素，包括</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可选行动与次序、结局以及效用</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的形象描述。博弈树在几何上由点与线段构成，博弈树上的点称作</a:t>
            </a:r>
            <a:r>
              <a:rPr lang="zh-CN" alt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决策点</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，每个决策点代表</a:t>
            </a:r>
            <a:r>
              <a:rPr lang="zh-CN" alt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相应博弈方的一个决策场景</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。在每个决策场景下，博弈方需要决定下一步的行动选择。而博弈树上与各决策点相连的</a:t>
            </a:r>
            <a:r>
              <a:rPr lang="zh-CN" alt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线段</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则代表各博弈方</a:t>
            </a:r>
            <a:r>
              <a:rPr lang="zh-CN" alt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选择的行动</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30000"/>
              </a:lnSpc>
              <a:buFont typeface="Wingdings" panose="05000000000000000000" charset="0"/>
              <a:buChar char="Ø"/>
            </a:pP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决策点上方的线段代表能导致此决策场景的行动，而决策点下方连接的线段则代表此决策场景下，博弈方能够选择的所有行动。决策点的前后次序描绘了整个博弈的行动次序。一般博弈的</a:t>
            </a:r>
            <a:r>
              <a:rPr lang="zh-CN" alt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第一个决策点被画为空心</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，代表</a:t>
            </a:r>
            <a:r>
              <a:rPr lang="zh-CN" altLang="en-US" sz="20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起始决策点</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，最后的决策点为实心，代表博弈行为的结束，其后紧跟的将是各结局的效用。</a:t>
            </a:r>
            <a:endPar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r>
              <a:rPr lang="zh-CN" altLang="en-US" sz="2800" dirty="0">
                <a:solidFill>
                  <a:schemeClr val="accent1"/>
                </a:solidFill>
                <a:sym typeface="+mn-ea"/>
              </a:rPr>
              <a:t>完全信息静态博弈</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userDrawn="1">
            <p:custDataLst>
              <p:tags r:id="rId3"/>
            </p:custDataLst>
          </p:nvPr>
        </p:nvSpPr>
        <p:spPr>
          <a:xfrm>
            <a:off x="457200" y="162877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r>
              <a:rPr lang="en-US" altLang="zh-CN">
                <a:solidFill>
                  <a:schemeClr val="lt1"/>
                </a:solidFill>
                <a:latin typeface="微软雅黑" panose="020B0503020204020204" pitchFamily="34" charset="-122"/>
                <a:ea typeface="微软雅黑" panose="020B0503020204020204" pitchFamily="34" charset="-122"/>
                <a:sym typeface="+mn-ea"/>
              </a:rPr>
              <a:t> </a:t>
            </a:r>
            <a:endParaRPr lang="en-US" altLang="zh-CN">
              <a:solidFill>
                <a:schemeClr val="lt1"/>
              </a:solidFill>
              <a:latin typeface="微软雅黑" panose="020B0503020204020204" pitchFamily="34" charset="-122"/>
              <a:ea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Title 6"/>
          <p:cNvSpPr txBox="1"/>
          <p:nvPr>
            <p:custDataLst>
              <p:tags r:id="rId5"/>
            </p:custDataLst>
          </p:nvPr>
        </p:nvSpPr>
        <p:spPr>
          <a:xfrm>
            <a:off x="982980" y="1844675"/>
            <a:ext cx="890333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完全信息静态博弈即各博弈方</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同时决策</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，且所有博弈方</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对各方得益都了解</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囚徒困境、田忌赛马、猜硬币、石头剪刀布、古诺产量决策都属于完全信息静态博弈。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静态博弈亦称策略型（或形）博弈。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完全信息静态博弈：</a:t>
            </a:r>
            <a:r>
              <a:rPr lang="zh-CN" altLang="en-US" sz="2800" dirty="0">
                <a:solidFill>
                  <a:schemeClr val="accent1"/>
                </a:solidFill>
                <a:sym typeface="+mn-ea"/>
              </a:rPr>
              <a:t>囚徒困境</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4" name="Title 6"/>
          <p:cNvSpPr txBox="1"/>
          <p:nvPr>
            <p:custDataLst>
              <p:tags r:id="rId4"/>
            </p:custDataLst>
          </p:nvPr>
        </p:nvSpPr>
        <p:spPr>
          <a:xfrm>
            <a:off x="622935" y="762000"/>
            <a:ext cx="6181725" cy="539750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警方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抓住两个合伙犯罪的罪犯</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，但没有足够证据指控</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他们的罪行</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。于是警方分开囚禁</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罪犯</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以防止串供或结成攻守同盟，</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分别和二人见面，并向双方提供以下相同的选择：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两人中有</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一人</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坦白</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认罪</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，则坦白者从轻处理，立即释放，另一人则将重判</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年徒刑。</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若两人都</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拒不认罪</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（或称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不坦白</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”），则两人同样判1年</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徒刑</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若两人</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同时认罪</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（或称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坦白</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”），则两人同样判5年</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监禁</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结果，两人都选择了“</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坦白</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5"/>
          <a:stretch>
            <a:fillRect/>
          </a:stretch>
        </p:blipFill>
        <p:spPr>
          <a:xfrm>
            <a:off x="6816090" y="1268730"/>
            <a:ext cx="5294630" cy="3745865"/>
          </a:xfrm>
          <a:prstGeom prst="rect">
            <a:avLst/>
          </a:prstGeom>
        </p:spPr>
      </p:pic>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custDataLst>
              <p:tags r:id="rId2"/>
            </p:custDataLst>
          </p:nvPr>
        </p:nvSpPr>
        <p:spPr>
          <a:xfrm>
            <a:off x="1004718" y="1066831"/>
            <a:ext cx="10188914" cy="5486339"/>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3"/>
            </p:custDataLst>
          </p:nvPr>
        </p:nvSpPr>
        <p:spPr>
          <a:xfrm>
            <a:off x="911225" y="1124585"/>
            <a:ext cx="3798570" cy="57594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得益矩阵</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4"/>
            </p:custDataLst>
          </p:nvPr>
        </p:nvGraphicFramePr>
        <p:xfrm>
          <a:off x="1991360" y="1700530"/>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2</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1</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2"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256"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完全信息静态博弈：</a:t>
            </a:r>
            <a:r>
              <a:rPr lang="zh-CN" altLang="en-US" sz="2800" dirty="0">
                <a:solidFill>
                  <a:schemeClr val="accent1"/>
                </a:solidFill>
                <a:sym typeface="+mn-ea"/>
              </a:rPr>
              <a:t>囚徒困境</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博弈活动构成的要素</a:t>
            </a:r>
            <a:endParaRPr lang="zh-CN" altLang="en-US" sz="32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911225" y="836930"/>
            <a:ext cx="10131425" cy="27546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博弈的参加者——博弈方</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各博弈方的策略或行为</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博弈的次序或规则</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博弈方的得益（或支付</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200" dirty="0">
              <a:latin typeface="Times New Roman" panose="02020603050405020304" pitchFamily="18" charset="0"/>
              <a:ea typeface="华文楷体" panose="02010600040101010101" pitchFamily="2"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r>
              <a:rPr lang="zh-CN" altLang="en-US" sz="2800" dirty="0">
                <a:solidFill>
                  <a:schemeClr val="accent1"/>
                </a:solidFill>
                <a:sym typeface="+mn-ea"/>
              </a:rPr>
              <a:t>均衡与博弈均衡</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8"/>
            </p:custDataLst>
          </p:nvPr>
        </p:nvSpPr>
        <p:spPr>
          <a:xfrm>
            <a:off x="2034382" y="184673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均衡（equilibrium ）系统状态的一种动态平衡。在这种情形下，状态不随时间变化。 马歇尔从物理学从借鉴过来的。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博弈均衡：博弈各方都不想改变策略的状态。</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2466" name="Rectangle 3"/>
          <p:cNvSpPr>
            <a:spLocks noGrp="1"/>
          </p:cNvSpPr>
          <p:nvPr/>
        </p:nvSpPr>
        <p:spPr>
          <a:xfrm>
            <a:off x="911225" y="1196975"/>
            <a:ext cx="10035540" cy="489585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u"/>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均衡</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：指博弈方（参与人）的最优策略或行动的组合。</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5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一般记为</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S*=(S</a:t>
            </a:r>
            <a:r>
              <a:rPr lang="en-US" altLang="zh-CN" sz="20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S</a:t>
            </a:r>
            <a:r>
              <a:rPr lang="en-US" altLang="zh-CN" sz="20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S</a:t>
            </a:r>
            <a:r>
              <a:rPr lang="en-US" altLang="zh-CN" sz="20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S</a:t>
            </a:r>
            <a:r>
              <a:rPr lang="en-US" altLang="zh-CN" sz="20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是第</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个参与人在均衡情况下的最优</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策略，它是参与人</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的所有策略中使其收益或支付最大的</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策略。</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5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博弈论中的均衡概念与我们在一般均衡理论中讨论的均衡概念是不同的。比如说，在一般均衡理论里，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均衡指的是由个人最优化行为导致的一组价格；</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而在博弈论里，这样一组价格只是均衡的结果而不是均衡本身，</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均衡是指所有个人的买卖规则（策略）的组合，均衡价格是这种策略组合产生的结果</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Font typeface="Wingdings" panose="05000000000000000000" pitchFamily="2" charset="2"/>
              <a:buChar char="u"/>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均衡结果</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：博弈分析者所感兴趣的所有东西，或为均衡策略组合、均衡行动组合、均衡支付组合等。</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6"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r>
              <a:rPr lang="zh-CN" altLang="en-US" sz="2800" dirty="0">
                <a:solidFill>
                  <a:schemeClr val="accent1"/>
                </a:solidFill>
                <a:sym typeface="+mn-ea"/>
              </a:rPr>
              <a:t>博弈均衡</a:t>
            </a:r>
            <a:endParaRPr lang="zh-CN" altLang="en-US" sz="2800" dirty="0">
              <a:solidFill>
                <a:schemeClr val="accent1"/>
              </a:solidFill>
              <a:sym typeface="+mn-ea"/>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2466" name="Rectangle 3"/>
          <p:cNvSpPr>
            <a:spLocks noGrp="1"/>
          </p:cNvSpPr>
          <p:nvPr/>
        </p:nvSpPr>
        <p:spPr>
          <a:xfrm>
            <a:off x="911225" y="981075"/>
            <a:ext cx="10580370" cy="568896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假设房地产市场中有且仅有A和B两家公司，如果B在不知市场需求的情况下先行动，A在得知B的行动后再选择是否开发，那么，B有两个策略，即 S</a:t>
            </a:r>
            <a:r>
              <a:rPr lang="en-US" altLang="zh-CN" sz="2000" b="0" baseline="-2500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 =（开发，不开发）；A有四个策略，即 S</a:t>
            </a:r>
            <a:r>
              <a:rPr lang="zh-CN" altLang="en-US" sz="2000" b="0" baseline="-250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 =（{开发，开发}，{开发，不开发}，{不开发，开发}，{不开发，不开发}）。这里，策略{ x，y }内的第一个元素是对应B选择“开发”时A的行动，第二个元素是对应B选择“不开发”时A的行动，比如说，{开发，开发}意味着不论B选择什么行动，A选择开发；{不开发，开发}意味着如果B开发，A不开发，如果B不开发，A开发。在房地产开发博弈中，假定B先选择A后选择，那么，如果需求小，B的最优策略是“开发”，A的最优策略是“如果B开发，我不开发；如果B不开发，我开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均衡是（{不开发，开发}，开发），而均衡结果是（不开发，开发）</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，即B开发A不开发。这里，“不开发”是均衡情况下A的最优行动，而非A的最优策略本身。</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均衡是一种策略组合，而均衡结果是均衡导致的某一结果。</a:t>
            </a:r>
            <a:endPar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lnSpc>
                <a:spcPct val="150000"/>
              </a:lnSpc>
              <a:buNone/>
            </a:pPr>
            <a:endPar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6"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r>
              <a:rPr lang="zh-CN" altLang="en-US" sz="2800" dirty="0">
                <a:solidFill>
                  <a:schemeClr val="accent1"/>
                </a:solidFill>
                <a:sym typeface="+mn-ea"/>
              </a:rPr>
              <a:t>博弈均衡</a:t>
            </a:r>
            <a:endParaRPr lang="zh-CN" altLang="en-US" sz="2800" dirty="0">
              <a:solidFill>
                <a:schemeClr val="accent1"/>
              </a:solidFill>
              <a:sym typeface="+mn-ea"/>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fractur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0" name="直接连接符 9"/>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7"/>
            </p:custDataLst>
          </p:nvPr>
        </p:nvSpPr>
        <p:spPr>
          <a:xfrm>
            <a:off x="2034382" y="184673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完全信息静态博弈均衡的设计进路：上策（或占优）均衡</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剔除下策均衡</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9"/>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基本分析思路</a:t>
            </a:r>
            <a:endParaRPr lang="zh-CN" altLang="en-US" sz="2800" dirty="0">
              <a:solidFill>
                <a:schemeClr val="accent1"/>
              </a:solidFill>
              <a:sym typeface="+mn-ea"/>
            </a:endParaRPr>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基本分析思路：</a:t>
            </a:r>
            <a:r>
              <a:rPr lang="zh-CN" altLang="en-US" sz="2800" dirty="0">
                <a:solidFill>
                  <a:schemeClr val="accent1"/>
                </a:solidFill>
                <a:sym typeface="+mn-ea"/>
              </a:rPr>
              <a:t>上策均衡</a:t>
            </a:r>
            <a:endParaRPr lang="zh-CN" altLang="en-US" sz="28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itle 6"/>
          <p:cNvSpPr txBox="1"/>
          <p:nvPr>
            <p:custDataLst>
              <p:tags r:id="rId3"/>
            </p:custDataLst>
          </p:nvPr>
        </p:nvSpPr>
        <p:spPr>
          <a:xfrm>
            <a:off x="6527800" y="1124585"/>
            <a:ext cx="4943475" cy="49504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上策</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：不管其它博弈方选择什么策略，一博弈方的某个策略给他带来的得益</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始终高于</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其它的策略，至少不低于其他策略的策略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囚徒困境中的“坦白”；双寡头削价中“低价”。</a:t>
            </a: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上策均衡</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：一个博弈的某个策略组合中的</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所有策略都是各个博弈方各自的上策</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，必然是该博弈比较稳定的结果。</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4"/>
            </p:custDataLst>
          </p:nvPr>
        </p:nvGraphicFramePr>
        <p:xfrm>
          <a:off x="335280" y="1844675"/>
          <a:ext cx="5716270" cy="2781300"/>
        </p:xfrm>
        <a:graphic>
          <a:graphicData uri="http://schemas.openxmlformats.org/drawingml/2006/table">
            <a:tbl>
              <a:tblPr firstRow="1" bandRow="1">
                <a:tableStyleId>{2D5ABB26-0587-4C30-8999-92F81FD0307C}</a:tableStyleId>
              </a:tblPr>
              <a:tblGrid>
                <a:gridCol w="1280795"/>
                <a:gridCol w="1460500"/>
                <a:gridCol w="1524000"/>
                <a:gridCol w="1450975"/>
              </a:tblGrid>
              <a:tr h="71882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2</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7105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7564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1</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7627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0" name="直接连接符 9"/>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6"/>
          <p:cNvSpPr txBox="1"/>
          <p:nvPr>
            <p:custDataLst>
              <p:tags r:id="rId2"/>
            </p:custDataLst>
          </p:nvPr>
        </p:nvSpPr>
        <p:spPr>
          <a:xfrm>
            <a:off x="839470" y="764540"/>
            <a:ext cx="4490720" cy="16694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上策均衡不是普遍存在的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比如，猜硬币博弈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3" name="表格 12"/>
          <p:cNvGraphicFramePr>
            <a:graphicFrameLocks noGrp="1"/>
          </p:cNvGraphicFramePr>
          <p:nvPr>
            <p:custDataLst>
              <p:tags r:id="rId3"/>
            </p:custDataLst>
          </p:nvPr>
        </p:nvGraphicFramePr>
        <p:xfrm>
          <a:off x="2567940" y="2204720"/>
          <a:ext cx="5021580" cy="3126105"/>
        </p:xfrm>
        <a:graphic>
          <a:graphicData uri="http://schemas.openxmlformats.org/drawingml/2006/table">
            <a:tbl>
              <a:tblPr firstRow="1" bandRow="1">
                <a:tableStyleId>{2D5ABB26-0587-4C30-8999-92F81FD0307C}</a:tableStyleId>
              </a:tblPr>
              <a:tblGrid>
                <a:gridCol w="991870"/>
                <a:gridCol w="1296035"/>
                <a:gridCol w="1366520"/>
                <a:gridCol w="1367155"/>
              </a:tblGrid>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a:noFill/>
                    </a:lnT>
                    <a:lnB w="3175" cap="rnd">
                      <a:solidFill>
                        <a:srgbClr val="FFFFFF"/>
                      </a:solidFill>
                      <a:prstDash val="dot"/>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a:noFill/>
                    </a:lnT>
                    <a:lnB w="3175" cap="rnd">
                      <a:solidFill>
                        <a:srgbClr val="FFFFFF"/>
                      </a:solidFill>
                      <a:prstDash val="dot"/>
                    </a:lnB>
                    <a:noFill/>
                  </a:tcPr>
                </a:tc>
                <a:tc gridSpan="2">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猜方</a:t>
                      </a:r>
                      <a:endParaRPr lang="zh-CN" altLang="en-US" sz="1800" b="1" spc="13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anchor="ctr">
                    <a:lnL w="3175">
                      <a:solidFill>
                        <a:srgbClr val="FFFFFF"/>
                      </a:solidFill>
                      <a:prstDash val="dot"/>
                    </a:lnL>
                    <a:lnR>
                      <a:noFill/>
                    </a:lnR>
                    <a:lnT>
                      <a:noFill/>
                    </a:lnT>
                    <a:lnB w="3175" cap="rnd">
                      <a:solidFill>
                        <a:srgbClr val="FFFFFF"/>
                      </a:solidFill>
                      <a:prstDash val="dot"/>
                    </a:lnB>
                    <a:noFill/>
                  </a:tcPr>
                </a:tc>
                <a:tc hMerge="1">
                  <a:tcPr>
                    <a:lnR>
                      <a:noFill/>
                    </a:lnR>
                    <a:lnT>
                      <a:noFill/>
                    </a:lnT>
                    <a:lnB w="3175" cap="rnd">
                      <a:solidFill>
                        <a:srgbClr val="FFFFFF"/>
                      </a:solidFill>
                      <a:prstDash val="dot"/>
                    </a:lnB>
                  </a:tcPr>
                </a:tc>
              </a:tr>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a:noFill/>
                    </a:lnR>
                    <a:lnT w="3175">
                      <a:solidFill>
                        <a:srgbClr val="FFFFFF"/>
                      </a:solidFill>
                      <a:prstDash val="dot"/>
                    </a:lnT>
                    <a:lnB>
                      <a:noFill/>
                    </a:lnB>
                    <a:noFill/>
                  </a:tcPr>
                </a:tc>
              </a:tr>
              <a:tr h="753745">
                <a:tc rowSpan="2">
                  <a:txBody>
                    <a:bodyPr/>
                    <a:lstStyle/>
                    <a:p>
                      <a:pPr indent="0" algn="l">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盖方</a:t>
                      </a:r>
                      <a:endParaRPr lang="zh-CN" altLang="en-US" sz="1600" b="0" spc="12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vert="eaVert"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r h="754380">
                <a:tc vMerge="1">
                  <a:tcPr>
                    <a:lnL>
                      <a:noFill/>
                    </a:lnL>
                    <a:lnR>
                      <a:noFill/>
                    </a:lnR>
                    <a:lnB>
                      <a:noFill/>
                    </a:lnB>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bl>
          </a:graphicData>
        </a:graphic>
      </p:graphicFrame>
      <p:graphicFrame>
        <p:nvGraphicFramePr>
          <p:cNvPr id="9" name="表格 8"/>
          <p:cNvGraphicFramePr>
            <a:graphicFrameLocks noGrp="1"/>
          </p:cNvGraphicFramePr>
          <p:nvPr>
            <p:custDataLst>
              <p:tags r:id="rId4"/>
            </p:custDataLst>
          </p:nvPr>
        </p:nvGraphicFramePr>
        <p:xfrm>
          <a:off x="4667250" y="3933190"/>
          <a:ext cx="2857500" cy="1191260"/>
        </p:xfrm>
        <a:graphic>
          <a:graphicData uri="http://schemas.openxmlformats.org/drawingml/2006/table">
            <a:tbl>
              <a:tblPr firstRow="1" bandRow="1">
                <a:tableStyleId>{2D5ABB26-0587-4C30-8999-92F81FD0307C}</a:tableStyleId>
              </a:tblPr>
              <a:tblGrid>
                <a:gridCol w="1463675"/>
                <a:gridCol w="1393825"/>
              </a:tblGrid>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基本分析思路：</a:t>
            </a:r>
            <a:r>
              <a:rPr lang="zh-CN" altLang="en-US" sz="2800" dirty="0">
                <a:solidFill>
                  <a:schemeClr val="accent1"/>
                </a:solidFill>
                <a:sym typeface="+mn-ea"/>
              </a:rPr>
              <a:t>上策均衡</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内容占位符 2"/>
          <p:cNvSpPr>
            <a:spLocks noGrp="1"/>
          </p:cNvSpPr>
          <p:nvPr>
            <p:custDataLst>
              <p:tags r:id="rId2"/>
            </p:custDataLst>
          </p:nvPr>
        </p:nvSpPr>
        <p:spPr>
          <a:xfrm>
            <a:off x="890699" y="836947"/>
            <a:ext cx="10245555" cy="4540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fontAlgn="auto">
              <a:lnSpc>
                <a:spcPct val="130000"/>
              </a:lnSpc>
              <a:buClrTx/>
              <a:buSzTx/>
            </a:pPr>
            <a:r>
              <a:rPr lang="zh-CN" altLang="en-US" sz="22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严格下策</a:t>
            </a:r>
            <a:r>
              <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：不管其它博弈方的策略如何变化，某种策略给一个博弈方带来的收益总是比另一种策略给他带来的收益小，则称前一种策略为相对于后一种策略的</a:t>
            </a:r>
            <a:r>
              <a:rPr lang="en-US" altLang="zh-CN"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严格下策</a:t>
            </a:r>
            <a:r>
              <a:rPr lang="en-US" altLang="zh-CN"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fontAlgn="auto">
              <a:lnSpc>
                <a:spcPct val="130000"/>
              </a:lnSpc>
              <a:buClrTx/>
              <a:buSzTx/>
            </a:pPr>
            <a:r>
              <a:rPr lang="zh-CN" altLang="en-US" sz="22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严格下策反复消去法</a:t>
            </a:r>
            <a:r>
              <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：反复寻找博弈的“严格下策”并消去的方法。</a:t>
            </a:r>
            <a:endPar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fontAlgn="auto">
              <a:lnSpc>
                <a:spcPct val="130000"/>
              </a:lnSpc>
              <a:buClrTx/>
              <a:buSzTx/>
            </a:pPr>
            <a:r>
              <a:rPr lang="zh-CN" altLang="en-US" sz="22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剔除下策均衡</a:t>
            </a:r>
            <a:r>
              <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（或非下策）：经过严格下策反复消去得到的均衡。</a:t>
            </a:r>
            <a:endPar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85800" lvl="1" indent="-228600" algn="just" fontAlgn="auto">
              <a:lnSpc>
                <a:spcPct val="130000"/>
              </a:lnSpc>
              <a:buClrTx/>
              <a:buSzTx/>
              <a:buFont typeface="Arial" panose="020B0604020202020204" pitchFamily="34" charset="0"/>
              <a:buChar char="•"/>
            </a:pP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上策均衡一定是剔除下策均衡，反之未必成立。</a:t>
            </a:r>
            <a:endPar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8" name="表格 17"/>
          <p:cNvGraphicFramePr>
            <a:graphicFrameLocks noGrp="1"/>
          </p:cNvGraphicFramePr>
          <p:nvPr>
            <p:custDataLst>
              <p:tags r:id="rId3"/>
            </p:custDataLst>
          </p:nvPr>
        </p:nvGraphicFramePr>
        <p:xfrm>
          <a:off x="119592" y="4354894"/>
          <a:ext cx="4285615" cy="974090"/>
        </p:xfrm>
        <a:graphic>
          <a:graphicData uri="http://schemas.openxmlformats.org/drawingml/2006/table">
            <a:tbl>
              <a:tblPr firstRow="1" bandRow="1">
                <a:tableStyleId>{2D5ABB26-0587-4C30-8999-92F81FD0307C}</a:tableStyleId>
              </a:tblPr>
              <a:tblGrid>
                <a:gridCol w="733425"/>
                <a:gridCol w="1184275"/>
                <a:gridCol w="1183640"/>
                <a:gridCol w="1184275"/>
              </a:tblGrid>
              <a:tr h="352425">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左</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中</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右</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11150">
                <a:tc>
                  <a:txBody>
                    <a:bodyPr/>
                    <a:lstStyle/>
                    <a:p>
                      <a:pPr algn="ctr">
                        <a:lnSpc>
                          <a:spcPct val="120000"/>
                        </a:lnSpc>
                        <a:spcBef>
                          <a:spcPts val="0"/>
                        </a:spcBef>
                        <a:spcAft>
                          <a:spcPts val="0"/>
                        </a:spcAft>
                      </a:pPr>
                      <a:r>
                        <a:rPr lang="zh-CN" altLang="en-US" sz="1400" spc="120" dirty="0">
                          <a:latin typeface="微软雅黑" panose="020B0503020204020204" pitchFamily="34" charset="-122"/>
                          <a:ea typeface="微软雅黑" panose="020B0503020204020204" pitchFamily="34" charset="-122"/>
                        </a:rPr>
                        <a:t>上</a:t>
                      </a:r>
                      <a:endParaRPr lang="zh-CN" altLang="en-US" sz="14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10515">
                <a:tc>
                  <a:txBody>
                    <a:bodyPr/>
                    <a:lstStyle/>
                    <a:p>
                      <a:pPr algn="ctr">
                        <a:lnSpc>
                          <a:spcPct val="120000"/>
                        </a:lnSpc>
                        <a:spcBef>
                          <a:spcPts val="0"/>
                        </a:spcBef>
                        <a:spcAft>
                          <a:spcPts val="0"/>
                        </a:spcAft>
                      </a:pPr>
                      <a:r>
                        <a:rPr lang="zh-CN" altLang="en-US" sz="1400" spc="120" dirty="0">
                          <a:latin typeface="微软雅黑" panose="020B0503020204020204" pitchFamily="34" charset="-122"/>
                          <a:ea typeface="微软雅黑" panose="020B0503020204020204" pitchFamily="34" charset="-122"/>
                        </a:rPr>
                        <a:t>下</a:t>
                      </a:r>
                      <a:endParaRPr lang="zh-CN" altLang="en-US" sz="14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4</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19" name="表格 18"/>
          <p:cNvGraphicFramePr>
            <a:graphicFrameLocks noGrp="1"/>
          </p:cNvGraphicFramePr>
          <p:nvPr>
            <p:custDataLst>
              <p:tags r:id="rId4"/>
            </p:custDataLst>
          </p:nvPr>
        </p:nvGraphicFramePr>
        <p:xfrm>
          <a:off x="4727819" y="4354892"/>
          <a:ext cx="3213735" cy="974090"/>
        </p:xfrm>
        <a:graphic>
          <a:graphicData uri="http://schemas.openxmlformats.org/drawingml/2006/table">
            <a:tbl>
              <a:tblPr firstRow="1" bandRow="1">
                <a:tableStyleId>{2D5ABB26-0587-4C30-8999-92F81FD0307C}</a:tableStyleId>
              </a:tblPr>
              <a:tblGrid>
                <a:gridCol w="760095"/>
                <a:gridCol w="1226820"/>
                <a:gridCol w="1226820"/>
              </a:tblGrid>
              <a:tr h="352425">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左</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中</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11150">
                <a:tc>
                  <a:txBody>
                    <a:bodyPr/>
                    <a:lstStyle/>
                    <a:p>
                      <a:pPr algn="ctr">
                        <a:lnSpc>
                          <a:spcPct val="120000"/>
                        </a:lnSpc>
                        <a:spcBef>
                          <a:spcPts val="0"/>
                        </a:spcBef>
                        <a:spcAft>
                          <a:spcPts val="0"/>
                        </a:spcAft>
                      </a:pPr>
                      <a:r>
                        <a:rPr lang="zh-CN" altLang="en-US" sz="1400" spc="120" dirty="0">
                          <a:latin typeface="微软雅黑" panose="020B0503020204020204" pitchFamily="34" charset="-122"/>
                          <a:ea typeface="微软雅黑" panose="020B0503020204020204" pitchFamily="34" charset="-122"/>
                        </a:rPr>
                        <a:t>上</a:t>
                      </a:r>
                      <a:endParaRPr lang="zh-CN" altLang="en-US" sz="14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10515">
                <a:tc>
                  <a:txBody>
                    <a:bodyPr/>
                    <a:lstStyle/>
                    <a:p>
                      <a:pPr algn="ctr">
                        <a:lnSpc>
                          <a:spcPct val="120000"/>
                        </a:lnSpc>
                        <a:spcBef>
                          <a:spcPts val="0"/>
                        </a:spcBef>
                        <a:spcAft>
                          <a:spcPts val="0"/>
                        </a:spcAft>
                      </a:pPr>
                      <a:r>
                        <a:rPr lang="zh-CN" altLang="en-US" sz="1400" spc="120" dirty="0">
                          <a:latin typeface="微软雅黑" panose="020B0503020204020204" pitchFamily="34" charset="-122"/>
                          <a:ea typeface="微软雅黑" panose="020B0503020204020204" pitchFamily="34" charset="-122"/>
                        </a:rPr>
                        <a:t>下</a:t>
                      </a:r>
                      <a:endParaRPr lang="zh-CN" altLang="en-US" sz="14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4</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20" name="表格 19"/>
          <p:cNvGraphicFramePr>
            <a:graphicFrameLocks noGrp="1"/>
          </p:cNvGraphicFramePr>
          <p:nvPr>
            <p:custDataLst>
              <p:tags r:id="rId5"/>
            </p:custDataLst>
          </p:nvPr>
        </p:nvGraphicFramePr>
        <p:xfrm>
          <a:off x="8453173" y="4522745"/>
          <a:ext cx="3213735" cy="649605"/>
        </p:xfrm>
        <a:graphic>
          <a:graphicData uri="http://schemas.openxmlformats.org/drawingml/2006/table">
            <a:tbl>
              <a:tblPr firstRow="1" bandRow="1">
                <a:tableStyleId>{2D5ABB26-0587-4C30-8999-92F81FD0307C}</a:tableStyleId>
              </a:tblPr>
              <a:tblGrid>
                <a:gridCol w="760095"/>
                <a:gridCol w="1226820"/>
                <a:gridCol w="1226820"/>
              </a:tblGrid>
              <a:tr h="34544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左</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中</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4165">
                <a:tc>
                  <a:txBody>
                    <a:bodyPr/>
                    <a:lstStyle/>
                    <a:p>
                      <a:pPr algn="ctr">
                        <a:lnSpc>
                          <a:spcPct val="120000"/>
                        </a:lnSpc>
                        <a:spcBef>
                          <a:spcPts val="0"/>
                        </a:spcBef>
                        <a:spcAft>
                          <a:spcPts val="0"/>
                        </a:spcAft>
                      </a:pPr>
                      <a:r>
                        <a:rPr lang="zh-CN" altLang="en-US" sz="1400" spc="120" dirty="0">
                          <a:latin typeface="微软雅黑" panose="020B0503020204020204" pitchFamily="34" charset="-122"/>
                          <a:ea typeface="微软雅黑" panose="020B0503020204020204" pitchFamily="34" charset="-122"/>
                        </a:rPr>
                        <a:t>上</a:t>
                      </a:r>
                      <a:endParaRPr lang="zh-CN" altLang="en-US" sz="14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21" name="表格 20"/>
          <p:cNvGraphicFramePr>
            <a:graphicFrameLocks noGrp="1"/>
          </p:cNvGraphicFramePr>
          <p:nvPr>
            <p:custDataLst>
              <p:tags r:id="rId6"/>
            </p:custDataLst>
          </p:nvPr>
        </p:nvGraphicFramePr>
        <p:xfrm>
          <a:off x="1415465" y="5554702"/>
          <a:ext cx="2142490" cy="649605"/>
        </p:xfrm>
        <a:graphic>
          <a:graphicData uri="http://schemas.openxmlformats.org/drawingml/2006/table">
            <a:tbl>
              <a:tblPr firstRow="1" bandRow="1">
                <a:tableStyleId>{2D5ABB26-0587-4C30-8999-92F81FD0307C}</a:tableStyleId>
              </a:tblPr>
              <a:tblGrid>
                <a:gridCol w="819785"/>
                <a:gridCol w="1322705"/>
              </a:tblGrid>
              <a:tr h="34544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altLang="en-US" sz="1600" spc="120" dirty="0">
                          <a:latin typeface="微软雅黑" panose="020B0503020204020204" pitchFamily="34" charset="-122"/>
                          <a:ea typeface="微软雅黑" panose="020B0503020204020204" pitchFamily="34" charset="-122"/>
                        </a:rPr>
                        <a:t>中</a:t>
                      </a:r>
                      <a:endParaRPr lang="zh-CN" altLang="en-US" sz="16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4165">
                <a:tc>
                  <a:txBody>
                    <a:bodyPr/>
                    <a:lstStyle/>
                    <a:p>
                      <a:pPr algn="ctr">
                        <a:lnSpc>
                          <a:spcPct val="120000"/>
                        </a:lnSpc>
                        <a:spcBef>
                          <a:spcPts val="0"/>
                        </a:spcBef>
                        <a:spcAft>
                          <a:spcPts val="0"/>
                        </a:spcAft>
                      </a:pPr>
                      <a:r>
                        <a:rPr lang="zh-CN" altLang="en-US" sz="1400" spc="120" dirty="0">
                          <a:latin typeface="微软雅黑" panose="020B0503020204020204" pitchFamily="34" charset="-122"/>
                          <a:ea typeface="微软雅黑" panose="020B0503020204020204" pitchFamily="34" charset="-122"/>
                        </a:rPr>
                        <a:t>上</a:t>
                      </a:r>
                      <a:endParaRPr lang="zh-CN" altLang="en-US" sz="1400" spc="120" dirty="0">
                        <a:latin typeface="微软雅黑" panose="020B0503020204020204" pitchFamily="34" charset="-122"/>
                        <a:ea typeface="微软雅黑" panose="020B0503020204020204" pitchFamily="34" charset="-122"/>
                      </a:endParaRPr>
                    </a:p>
                  </a:txBody>
                  <a:tcPr marL="177800" marR="177800" marT="6350" marB="6350"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6350" marB="63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22" name="箭头: 燕尾形 7"/>
          <p:cNvSpPr/>
          <p:nvPr>
            <p:custDataLst>
              <p:tags r:id="rId7"/>
            </p:custDataLst>
          </p:nvPr>
        </p:nvSpPr>
        <p:spPr>
          <a:xfrm>
            <a:off x="4583736" y="4940788"/>
            <a:ext cx="383697" cy="307298"/>
          </a:xfrm>
          <a:prstGeom prst="notchedRightArrow">
            <a:avLst/>
          </a:prstGeom>
          <a:blipFill>
            <a:blip r:embed="rId8"/>
            <a:tile tx="0" ty="0" sx="100000" sy="100000" flip="none" algn="tl"/>
          </a:blip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3" name="箭头: 燕尾形 8"/>
          <p:cNvSpPr/>
          <p:nvPr>
            <p:custDataLst>
              <p:tags r:id="rId9"/>
            </p:custDataLst>
          </p:nvPr>
        </p:nvSpPr>
        <p:spPr>
          <a:xfrm>
            <a:off x="8112270" y="4920982"/>
            <a:ext cx="383697" cy="327003"/>
          </a:xfrm>
          <a:prstGeom prst="notchedRightArrow">
            <a:avLst/>
          </a:prstGeom>
          <a:blipFill>
            <a:blip r:embed="rId8"/>
            <a:tile tx="0" ty="0" sx="100000" sy="100000" flip="none" algn="tl"/>
          </a:blip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10000"/>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4" name="箭头: 燕尾形 9"/>
          <p:cNvSpPr/>
          <p:nvPr>
            <p:custDataLst>
              <p:tags r:id="rId10"/>
            </p:custDataLst>
          </p:nvPr>
        </p:nvSpPr>
        <p:spPr>
          <a:xfrm>
            <a:off x="1199487" y="5876740"/>
            <a:ext cx="383697" cy="327003"/>
          </a:xfrm>
          <a:prstGeom prst="notchedRightArrow">
            <a:avLst/>
          </a:prstGeom>
          <a:blipFill>
            <a:blip r:embed="rId8"/>
            <a:tile tx="0" ty="0" sx="100000" sy="100000" flip="none" algn="tl"/>
          </a:blip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10000"/>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cxnSp>
        <p:nvCxnSpPr>
          <p:cNvPr id="25" name="直接连接符 24"/>
          <p:cNvCxnSpPr/>
          <p:nvPr>
            <p:custDataLst>
              <p:tags r:id="rId11"/>
            </p:custDataLst>
          </p:nvPr>
        </p:nvCxnSpPr>
        <p:spPr>
          <a:xfrm>
            <a:off x="3647224" y="4293412"/>
            <a:ext cx="0" cy="1296035"/>
          </a:xfrm>
          <a:prstGeom prst="line">
            <a:avLst/>
          </a:prstGeom>
          <a:ln w="28575">
            <a:solidFill>
              <a:schemeClr val="accent5"/>
            </a:solidFill>
          </a:ln>
        </p:spPr>
        <p:style>
          <a:lnRef idx="1">
            <a:schemeClr val="accent5"/>
          </a:lnRef>
          <a:fillRef idx="0">
            <a:schemeClr val="accent5"/>
          </a:fillRef>
          <a:effectRef idx="0">
            <a:schemeClr val="accent5"/>
          </a:effectRef>
          <a:fontRef idx="minor">
            <a:schemeClr val="tx1"/>
          </a:fontRef>
        </p:style>
      </p:cxnSp>
      <p:cxnSp>
        <p:nvCxnSpPr>
          <p:cNvPr id="26" name="直接连接符 25"/>
          <p:cNvCxnSpPr/>
          <p:nvPr>
            <p:custDataLst>
              <p:tags r:id="rId12"/>
            </p:custDataLst>
          </p:nvPr>
        </p:nvCxnSpPr>
        <p:spPr>
          <a:xfrm>
            <a:off x="5016181" y="5156645"/>
            <a:ext cx="3388995" cy="15240"/>
          </a:xfrm>
          <a:prstGeom prst="line">
            <a:avLst/>
          </a:prstGeom>
          <a:ln w="28575">
            <a:solidFill>
              <a:schemeClr val="accent5"/>
            </a:solidFill>
          </a:ln>
        </p:spPr>
        <p:style>
          <a:lnRef idx="1">
            <a:schemeClr val="accent5"/>
          </a:lnRef>
          <a:fillRef idx="0">
            <a:schemeClr val="accent5"/>
          </a:fillRef>
          <a:effectRef idx="0">
            <a:schemeClr val="accent5"/>
          </a:effectRef>
          <a:fontRef idx="minor">
            <a:schemeClr val="tx1"/>
          </a:fontRef>
        </p:style>
      </p:cxnSp>
      <p:cxnSp>
        <p:nvCxnSpPr>
          <p:cNvPr id="27" name="直接连接符 26"/>
          <p:cNvCxnSpPr/>
          <p:nvPr>
            <p:custDataLst>
              <p:tags r:id="rId13"/>
            </p:custDataLst>
          </p:nvPr>
        </p:nvCxnSpPr>
        <p:spPr>
          <a:xfrm>
            <a:off x="9840003" y="4365212"/>
            <a:ext cx="0" cy="1045210"/>
          </a:xfrm>
          <a:prstGeom prst="line">
            <a:avLst/>
          </a:prstGeom>
          <a:ln w="28575">
            <a:solidFill>
              <a:schemeClr val="accent5"/>
            </a:solidFill>
          </a:ln>
        </p:spPr>
        <p:style>
          <a:lnRef idx="1">
            <a:schemeClr val="accent5"/>
          </a:lnRef>
          <a:fillRef idx="0">
            <a:schemeClr val="accent5"/>
          </a:fillRef>
          <a:effectRef idx="0">
            <a:schemeClr val="accent5"/>
          </a:effectRef>
          <a:fontRef idx="minor">
            <a:schemeClr val="tx1"/>
          </a:fontRef>
        </p:style>
      </p:cxnSp>
      <p:pic>
        <p:nvPicPr>
          <p:cNvPr id="6" name="图片 1" descr="f01494d1831cca2c2d8b5f9021c13ad"/>
          <p:cNvPicPr>
            <a:picLocks noChangeAspect="1"/>
          </p:cNvPicPr>
          <p:nvPr/>
        </p:nvPicPr>
        <p:blipFill>
          <a:blip r:embed="rId1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1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基本分析思路：</a:t>
            </a:r>
            <a:r>
              <a:rPr lang="zh-CN" altLang="en-US" sz="2800" dirty="0">
                <a:solidFill>
                  <a:schemeClr val="accent1"/>
                </a:solidFill>
                <a:sym typeface="+mn-ea"/>
              </a:rPr>
              <a:t>严格下策反复消去法——剔除下策均衡</a:t>
            </a:r>
            <a:endParaRPr lang="zh-CN" altLang="en-US" sz="2800" dirty="0">
              <a:solidFill>
                <a:schemeClr val="accent1"/>
              </a:solidFill>
              <a:sym typeface="+mn-ea"/>
            </a:endParaRPr>
          </a:p>
        </p:txBody>
      </p:sp>
      <p:sp>
        <p:nvSpPr>
          <p:cNvPr id="4" name="文本框 3"/>
          <p:cNvSpPr txBox="1"/>
          <p:nvPr/>
        </p:nvSpPr>
        <p:spPr>
          <a:xfrm>
            <a:off x="2135505" y="4076700"/>
            <a:ext cx="1302385" cy="337185"/>
          </a:xfrm>
          <a:prstGeom prst="rect">
            <a:avLst/>
          </a:prstGeom>
          <a:noFill/>
        </p:spPr>
        <p:txBody>
          <a:bodyPr wrap="square" rtlCol="0">
            <a:spAutoFit/>
          </a:bodyPr>
          <a:lstStyle/>
          <a:p>
            <a:r>
              <a:rPr lang="zh-CN" altLang="en-US" sz="1600"/>
              <a:t>博弈方</a:t>
            </a:r>
            <a:r>
              <a:rPr lang="en-US" altLang="zh-CN" sz="1600"/>
              <a:t>2</a:t>
            </a:r>
            <a:endParaRPr lang="en-US" altLang="zh-CN" sz="1600"/>
          </a:p>
        </p:txBody>
      </p:sp>
      <p:sp>
        <p:nvSpPr>
          <p:cNvPr id="5" name="文本框 4"/>
          <p:cNvSpPr txBox="1"/>
          <p:nvPr/>
        </p:nvSpPr>
        <p:spPr>
          <a:xfrm>
            <a:off x="31115" y="4869180"/>
            <a:ext cx="428625" cy="1155700"/>
          </a:xfrm>
          <a:prstGeom prst="rect">
            <a:avLst/>
          </a:prstGeom>
          <a:noFill/>
        </p:spPr>
        <p:txBody>
          <a:bodyPr vert="eaVert" wrap="square" rtlCol="0">
            <a:spAutoFit/>
          </a:bodyPr>
          <a:lstStyle/>
          <a:p>
            <a:r>
              <a:rPr lang="zh-CN" altLang="en-US" sz="1600"/>
              <a:t>博弈方</a:t>
            </a:r>
            <a:r>
              <a:rPr lang="en-US" altLang="zh-CN" sz="1600"/>
              <a:t>1</a:t>
            </a:r>
            <a:endParaRPr lang="en-US" altLang="zh-CN" sz="1600"/>
          </a:p>
        </p:txBody>
      </p:sp>
    </p:spTree>
    <p:custDataLst>
      <p:tags r:id="rId1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695286" y="960305"/>
            <a:ext cx="11277678" cy="11212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剔除下策均衡也不是普遍存在的。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比如，斗鸡博弈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基本分析思路：</a:t>
            </a:r>
            <a:r>
              <a:rPr lang="zh-CN" altLang="en-US" sz="2800" dirty="0">
                <a:solidFill>
                  <a:schemeClr val="accent1"/>
                </a:solidFill>
                <a:sym typeface="+mn-ea"/>
              </a:rPr>
              <a:t>严格下策反复消去法——剔除下策均衡</a:t>
            </a:r>
            <a:endParaRPr lang="zh-CN" altLang="en-US" sz="2800" dirty="0">
              <a:solidFill>
                <a:schemeClr val="accent1"/>
              </a:solidFill>
              <a:sym typeface="+mn-ea"/>
            </a:endParaRPr>
          </a:p>
        </p:txBody>
      </p:sp>
      <p:sp>
        <p:nvSpPr>
          <p:cNvPr id="8" name="Title 6"/>
          <p:cNvSpPr txBox="1"/>
          <p:nvPr>
            <p:custDataLst>
              <p:tags r:id="rId5"/>
            </p:custDataLst>
          </p:nvPr>
        </p:nvSpPr>
        <p:spPr>
          <a:xfrm>
            <a:off x="839470" y="1916430"/>
            <a:ext cx="10452100" cy="229997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试想有两只公鸡遇到一起，每只公鸡有两个行动选择：一是退下来，一是进攻。如果一方退下来，而对方没有退下来，对方获得胜利，这只公鸡则很丢面子；如果对方也退下来双方则打个平手；如果自己没退下来，而对方退下来，自己则胜利，对方则失败；如果两只公鸡都前进，那么则两败俱伤。因此，对每只公鸡来说，最好的结果是，对方退下来，而自己不退。</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695286" y="980625"/>
            <a:ext cx="11277678" cy="11212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非下策均衡也不是普遍存在的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比如，斗鸡博弈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0" name="Group 36"/>
          <p:cNvGraphicFramePr/>
          <p:nvPr>
            <p:custDataLst>
              <p:tags r:id="rId3"/>
            </p:custDataLst>
          </p:nvPr>
        </p:nvGraphicFramePr>
        <p:xfrm>
          <a:off x="5303520" y="2015490"/>
          <a:ext cx="5055870" cy="3233420"/>
        </p:xfrm>
        <a:graphic>
          <a:graphicData uri="http://schemas.openxmlformats.org/drawingml/2006/table">
            <a:tbl>
              <a:tblPr/>
              <a:tblGrid>
                <a:gridCol w="1027430"/>
                <a:gridCol w="1303655"/>
                <a:gridCol w="1427480"/>
                <a:gridCol w="1297305"/>
              </a:tblGrid>
              <a:tr h="782320">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w="19050">
                      <a:solidFill>
                        <a:srgbClr val="FFFFFF"/>
                      </a:solidFill>
                      <a:prstDash val="solid"/>
                    </a:lnR>
                    <a:lnT>
                      <a:noFill/>
                    </a:lnT>
                    <a:lnB w="19050">
                      <a:solidFill>
                        <a:srgbClr val="FFFFFF"/>
                      </a:solidFill>
                      <a:prstDash val="solid"/>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w="19050">
                      <a:solidFill>
                        <a:srgbClr val="FFFFFF"/>
                      </a:solidFill>
                      <a:prstDash val="solid"/>
                    </a:lnR>
                    <a:lnT>
                      <a:noFill/>
                    </a:lnT>
                    <a:lnB w="19050">
                      <a:solidFill>
                        <a:srgbClr val="FFFFFF"/>
                      </a:solidFill>
                      <a:prstDash val="solid"/>
                    </a:lnB>
                    <a:lnTlToBr>
                      <a:noFill/>
                    </a:lnTlToBr>
                    <a:lnBlToTr>
                      <a:noFill/>
                    </a:lnBlToTr>
                    <a:noFill/>
                  </a:tcPr>
                </a:tc>
                <a:tc gridSpan="2">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小李</a:t>
                      </a:r>
                      <a:endParaRPr lang="zh-CN" altLang="en-US" sz="1900" b="1" spc="130">
                        <a:solidFill>
                          <a:srgbClr val="FF0000"/>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a:noFill/>
                    </a:lnR>
                    <a:lnT>
                      <a:noFill/>
                    </a:lnT>
                    <a:lnB w="19050">
                      <a:solidFill>
                        <a:srgbClr val="FFFFFF"/>
                      </a:solidFill>
                      <a:prstDash val="solid"/>
                    </a:lnB>
                    <a:lnTlToBr>
                      <a:noFill/>
                    </a:lnTlToBr>
                    <a:lnBlToTr>
                      <a:noFill/>
                    </a:lnBlToTr>
                    <a:noFill/>
                  </a:tcPr>
                </a:tc>
                <a:tc hMerge="1">
                  <a:tcPr>
                    <a:lnR>
                      <a:noFill/>
                    </a:lnR>
                    <a:lnT>
                      <a:noFill/>
                    </a:lnT>
                    <a:lnB w="19050">
                      <a:solidFill>
                        <a:srgbClr val="FFFFFF"/>
                      </a:solidFill>
                      <a:prstDash val="solid"/>
                    </a:lnB>
                  </a:tcPr>
                </a:tc>
              </a:tr>
              <a:tr h="850900">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w="19050">
                      <a:solidFill>
                        <a:srgbClr val="FFFFFF"/>
                      </a:solidFill>
                      <a:prstDash val="solid"/>
                    </a:lnR>
                    <a:lnT w="19050">
                      <a:solidFill>
                        <a:srgbClr val="FFFFFF"/>
                      </a:solidFill>
                      <a:prstDash val="solid"/>
                    </a:lnT>
                    <a:lnB>
                      <a:noFill/>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w="19050">
                      <a:solidFill>
                        <a:srgbClr val="FFFFFF"/>
                      </a:solidFill>
                      <a:prstDash val="solid"/>
                    </a:lnR>
                    <a:lnT w="19050">
                      <a:solidFill>
                        <a:srgbClr val="FFFFFF"/>
                      </a:solidFill>
                      <a:prstDash val="solid"/>
                    </a:lnT>
                    <a:lnB>
                      <a:noFill/>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进</a:t>
                      </a: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w="19050">
                      <a:solidFill>
                        <a:srgbClr val="FFFFFF"/>
                      </a:solidFill>
                      <a:prstDash val="solid"/>
                    </a:lnR>
                    <a:lnT w="19050">
                      <a:solidFill>
                        <a:srgbClr val="FFFFFF"/>
                      </a:solidFill>
                      <a:prstDash val="solid"/>
                    </a:lnT>
                    <a:lnB>
                      <a:noFill/>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退</a:t>
                      </a: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a:noFill/>
                    </a:lnR>
                    <a:lnT w="19050">
                      <a:solidFill>
                        <a:srgbClr val="FFFFFF"/>
                      </a:solidFill>
                      <a:prstDash val="solid"/>
                    </a:lnT>
                    <a:lnB>
                      <a:noFill/>
                    </a:lnB>
                    <a:lnTlToBr>
                      <a:noFill/>
                    </a:lnTlToBr>
                    <a:lnBlToTr>
                      <a:noFill/>
                    </a:lnBlToTr>
                    <a:noFill/>
                  </a:tcPr>
                </a:tc>
              </a:tr>
              <a:tr h="800100">
                <a:tc rowSpan="2">
                  <a:txBody>
                    <a:bodyPr/>
                    <a:lstStyle/>
                    <a:p>
                      <a:pPr marR="0" lvl="0" indent="0" algn="l"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小张</a:t>
                      </a:r>
                      <a:endParaRPr lang="zh-CN" altLang="en-US"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vert="eaVert"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进</a:t>
                      </a:r>
                      <a:endParaRPr lang="zh-CN" altLang="en-US"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r>
              <a:tr h="800100">
                <a:tc vMerge="1">
                  <a:tcPr>
                    <a:lnL>
                      <a:noFill/>
                    </a:lnL>
                    <a:lnR>
                      <a:noFill/>
                    </a:lnR>
                    <a:lnB>
                      <a:noFill/>
                    </a:lnB>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退</a:t>
                      </a:r>
                      <a:endParaRPr lang="zh-CN" altLang="en-US"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r>
            </a:tbl>
          </a:graphicData>
        </a:graphic>
      </p:graphicFrame>
      <p:graphicFrame>
        <p:nvGraphicFramePr>
          <p:cNvPr id="9" name="表格 8"/>
          <p:cNvGraphicFramePr>
            <a:graphicFrameLocks noGrp="1"/>
          </p:cNvGraphicFramePr>
          <p:nvPr>
            <p:custDataLst>
              <p:tags r:id="rId4"/>
            </p:custDataLst>
          </p:nvPr>
        </p:nvGraphicFramePr>
        <p:xfrm>
          <a:off x="7536180" y="3789045"/>
          <a:ext cx="2857500" cy="1191260"/>
        </p:xfrm>
        <a:graphic>
          <a:graphicData uri="http://schemas.openxmlformats.org/drawingml/2006/table">
            <a:tbl>
              <a:tblPr firstRow="1" bandRow="1">
                <a:tableStyleId>{2D5ABB26-0587-4C30-8999-92F81FD0307C}</a:tableStyleId>
              </a:tblPr>
              <a:tblGrid>
                <a:gridCol w="1463675"/>
                <a:gridCol w="1393825"/>
              </a:tblGrid>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2"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基本分析思路：</a:t>
            </a:r>
            <a:r>
              <a:rPr lang="zh-CN" altLang="en-US" sz="2800" dirty="0">
                <a:solidFill>
                  <a:schemeClr val="accent1"/>
                </a:solidFill>
                <a:sym typeface="+mn-ea"/>
              </a:rPr>
              <a:t>严格下策反复消去法——剔除下策均衡</a:t>
            </a:r>
            <a:endParaRPr lang="zh-CN" altLang="en-US" sz="2800" dirty="0">
              <a:solidFill>
                <a:schemeClr val="accent1"/>
              </a:solidFill>
              <a:sym typeface="+mn-ea"/>
            </a:endParaRPr>
          </a:p>
        </p:txBody>
      </p:sp>
      <p:pic>
        <p:nvPicPr>
          <p:cNvPr id="7" name="图片 6"/>
          <p:cNvPicPr>
            <a:picLocks noChangeAspect="1"/>
          </p:cNvPicPr>
          <p:nvPr/>
        </p:nvPicPr>
        <p:blipFill>
          <a:blip r:embed="rId7"/>
          <a:stretch>
            <a:fillRect/>
          </a:stretch>
        </p:blipFill>
        <p:spPr>
          <a:xfrm>
            <a:off x="1055370" y="2348865"/>
            <a:ext cx="4067175" cy="3380740"/>
          </a:xfrm>
          <a:prstGeom prst="rect">
            <a:avLst/>
          </a:prstGeom>
        </p:spPr>
      </p:pic>
      <p:sp>
        <p:nvSpPr>
          <p:cNvPr id="8" name="Title 6"/>
          <p:cNvSpPr txBox="1"/>
          <p:nvPr>
            <p:custDataLst>
              <p:tags r:id="rId8"/>
            </p:custDataLst>
          </p:nvPr>
        </p:nvSpPr>
        <p:spPr>
          <a:xfrm>
            <a:off x="839431" y="5589455"/>
            <a:ext cx="11277678" cy="112122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对于相当多的博弈，</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非下策均衡也不是普遍存在的，</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我们无法用严格下策反复消去法找到均衡的解。</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为了找出这些博弈的均衡解，需要引入纳什均衡。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文本框 17"/>
          <p:cNvSpPr txBox="1"/>
          <p:nvPr/>
        </p:nvSpPr>
        <p:spPr>
          <a:xfrm>
            <a:off x="7752715" y="4436745"/>
            <a:ext cx="993775" cy="476172"/>
          </a:xfrm>
          <a:prstGeom prst="ellipse">
            <a:avLst/>
          </a:prstGeom>
          <a:noFill/>
          <a:ln w="25400" cap="rnd">
            <a:solidFill>
              <a:schemeClr val="accent1"/>
            </a:solidFill>
            <a:prstDash val="solid"/>
          </a:ln>
          <a:effectLst/>
        </p:spPr>
        <p:txBody>
          <a:bodyPr wrap="square" rtlCol="0">
            <a:spAutoFit/>
          </a:bodyPr>
          <a:lstStyle/>
          <a:p>
            <a:endParaRPr lang="zh-CN" altLang="en-US"/>
          </a:p>
        </p:txBody>
      </p:sp>
      <p:sp>
        <p:nvSpPr>
          <p:cNvPr id="19" name="文本框 18"/>
          <p:cNvSpPr txBox="1"/>
          <p:nvPr/>
        </p:nvSpPr>
        <p:spPr>
          <a:xfrm>
            <a:off x="9192895" y="3860800"/>
            <a:ext cx="993775" cy="476172"/>
          </a:xfrm>
          <a:prstGeom prst="ellipse">
            <a:avLst/>
          </a:prstGeom>
          <a:noFill/>
          <a:ln w="25400" cap="rnd">
            <a:solidFill>
              <a:schemeClr val="accent1"/>
            </a:solidFill>
            <a:prstDash val="solid"/>
          </a:ln>
          <a:effectLst/>
        </p:spPr>
        <p:txBody>
          <a:bodyPr wrap="square" rtlCol="0">
            <a:spAutoFit/>
          </a:bodyPr>
          <a:lstStyle/>
          <a:p>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838796" y="762185"/>
            <a:ext cx="11277678" cy="11212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斗鸡博弈</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美苏古巴导弹危机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基本分析思路：</a:t>
            </a:r>
            <a:r>
              <a:rPr lang="zh-CN" altLang="en-US" sz="2800" dirty="0">
                <a:solidFill>
                  <a:schemeClr val="accent1"/>
                </a:solidFill>
                <a:sym typeface="+mn-ea"/>
              </a:rPr>
              <a:t>严格下策反复消去法——剔除下策均衡</a:t>
            </a:r>
            <a:endParaRPr lang="zh-CN" altLang="en-US" sz="2800" dirty="0">
              <a:solidFill>
                <a:schemeClr val="accent1"/>
              </a:solidFill>
              <a:sym typeface="+mn-ea"/>
            </a:endParaRPr>
          </a:p>
        </p:txBody>
      </p:sp>
      <p:pic>
        <p:nvPicPr>
          <p:cNvPr id="7" name="图片 6"/>
          <p:cNvPicPr>
            <a:picLocks noChangeAspect="1"/>
          </p:cNvPicPr>
          <p:nvPr/>
        </p:nvPicPr>
        <p:blipFill>
          <a:blip r:embed="rId5"/>
          <a:stretch>
            <a:fillRect/>
          </a:stretch>
        </p:blipFill>
        <p:spPr>
          <a:xfrm>
            <a:off x="7667625" y="1052830"/>
            <a:ext cx="4067175" cy="3380740"/>
          </a:xfrm>
          <a:prstGeom prst="rect">
            <a:avLst/>
          </a:prstGeom>
        </p:spPr>
      </p:pic>
      <p:sp>
        <p:nvSpPr>
          <p:cNvPr id="8" name="Title 6"/>
          <p:cNvSpPr txBox="1"/>
          <p:nvPr>
            <p:custDataLst>
              <p:tags r:id="rId6"/>
            </p:custDataLst>
          </p:nvPr>
        </p:nvSpPr>
        <p:spPr>
          <a:xfrm>
            <a:off x="838835" y="1484630"/>
            <a:ext cx="6231255" cy="4770755"/>
          </a:xfrm>
          <a:prstGeom prst="rect">
            <a:avLst/>
          </a:prstGeom>
          <a:noFill/>
          <a:ln w="3175">
            <a:noFill/>
            <a:prstDash val="dash"/>
          </a:ln>
        </p:spPr>
        <p:txBody>
          <a:bodyPr wrap="square" lIns="63500" tIns="25400" rIns="63500" bIns="25400" anchor="ctr" anchorCtr="0">
            <a:normAutofit fontScale="925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冷战期间美苏争霸最严重的一次危机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ü"/>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苏联：面临将导弹撤回国还是坚持部署在古巴的选择</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ü"/>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美国：挑起战争还是容忍苏联的挑衅行为。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结果</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ü"/>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苏联：将导弹从古巴撤回，做了丢面子的“撤退的鸡”，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ü"/>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美国：坚持自己的策略，做了“不退的鸡”，但是象征性地从土耳其撤回了一些导弹，给苏联一点面子。</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28674" name="内容占位符 2"/>
          <p:cNvSpPr>
            <a:spLocks noGrp="1"/>
          </p:cNvSpPr>
          <p:nvPr/>
        </p:nvSpPr>
        <p:spPr>
          <a:xfrm>
            <a:off x="1127125" y="1124585"/>
            <a:ext cx="9603105" cy="426720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buFont typeface="Wingdings" panose="05000000000000000000" charset="0"/>
              <a:buChar char="Ø"/>
            </a:pPr>
            <a:r>
              <a:rPr sz="2200" dirty="0">
                <a:latin typeface="Times New Roman" panose="02020603050405020304" pitchFamily="18" charset="0"/>
                <a:ea typeface="微软雅黑" panose="020B0503020204020204" pitchFamily="34" charset="-122"/>
                <a:cs typeface="Times New Roman" panose="02020603050405020304" pitchFamily="18" charset="0"/>
              </a:rPr>
              <a:t>为什么同一个街角的拐角处，总有着不同品牌的咖啡店并排，麦当劳的对面为什么总会有肯德基，阿迪达斯与耐克为什么总在相同的商场出现……</a:t>
            </a:r>
            <a:endParaRPr sz="22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4"/>
          <a:stretch>
            <a:fillRect/>
          </a:stretch>
        </p:blipFill>
        <p:spPr>
          <a:xfrm>
            <a:off x="2783205" y="2420620"/>
            <a:ext cx="6863080" cy="3984625"/>
          </a:xfrm>
          <a:prstGeom prst="rect">
            <a:avLst/>
          </a:prstGeom>
        </p:spPr>
      </p:pic>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41315" name="文本占位符 141314"/>
          <p:cNvSpPr>
            <a:spLocks noGrp="1"/>
          </p:cNvSpPr>
          <p:nvPr/>
        </p:nvSpPr>
        <p:spPr>
          <a:xfrm>
            <a:off x="767080" y="1124585"/>
            <a:ext cx="10850880" cy="446405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buFont typeface="Wingdings" panose="05000000000000000000" pitchFamily="2" charset="2"/>
              <a:buNone/>
            </a:pPr>
            <a:r>
              <a:rPr lang="en-US" altLang="zh-CN" sz="2200" dirty="0">
                <a:latin typeface="Times New Roman" panose="02020603050405020304" pitchFamily="18" charset="0"/>
              </a:rPr>
              <a:t>    </a:t>
            </a:r>
            <a:r>
              <a:rPr lang="zh-CN" altLang="en-US" sz="2200" dirty="0">
                <a:latin typeface="Times New Roman" panose="02020603050405020304" pitchFamily="18" charset="0"/>
              </a:rPr>
              <a:t>网络名句</a:t>
            </a:r>
            <a:endParaRPr lang="zh-CN" altLang="en-US" sz="2200" dirty="0">
              <a:latin typeface="Times New Roman" panose="02020603050405020304" pitchFamily="18" charset="0"/>
            </a:endParaRPr>
          </a:p>
          <a:p>
            <a:pPr>
              <a:lnSpc>
                <a:spcPct val="130000"/>
              </a:lnSpc>
              <a:spcBef>
                <a:spcPts val="0"/>
              </a:spcBef>
              <a:buFont typeface="Wingdings" panose="05000000000000000000" pitchFamily="2" charset="2"/>
              <a:buChar char="Ø"/>
            </a:pPr>
            <a:r>
              <a:rPr lang="zh-CN" altLang="en-US" sz="2000" dirty="0">
                <a:latin typeface="Times New Roman" panose="02020603050405020304" pitchFamily="18" charset="0"/>
              </a:rPr>
              <a:t>我尊重你是因为你尊重我，你尊重我是因为我尊重你；</a:t>
            </a:r>
            <a:endParaRPr lang="zh-CN" altLang="en-US" sz="2000" dirty="0">
              <a:latin typeface="Times New Roman" panose="02020603050405020304" pitchFamily="18" charset="0"/>
            </a:endParaRPr>
          </a:p>
          <a:p>
            <a:pPr>
              <a:lnSpc>
                <a:spcPct val="130000"/>
              </a:lnSpc>
              <a:spcBef>
                <a:spcPts val="0"/>
              </a:spcBef>
              <a:buFont typeface="Wingdings" panose="05000000000000000000" pitchFamily="2" charset="2"/>
              <a:buChar char="Ø"/>
            </a:pPr>
            <a:r>
              <a:rPr lang="zh-CN" altLang="en-US" sz="2000" dirty="0">
                <a:latin typeface="Times New Roman" panose="02020603050405020304" pitchFamily="18" charset="0"/>
              </a:rPr>
              <a:t>我喜欢你是因为你喜欢我，你喜欢我是因为我喜欢你；</a:t>
            </a:r>
            <a:endParaRPr lang="zh-CN" altLang="en-US" sz="2000" dirty="0">
              <a:latin typeface="Times New Roman" panose="02020603050405020304" pitchFamily="18" charset="0"/>
            </a:endParaRPr>
          </a:p>
          <a:p>
            <a:pPr>
              <a:lnSpc>
                <a:spcPct val="130000"/>
              </a:lnSpc>
              <a:spcBef>
                <a:spcPts val="0"/>
              </a:spcBef>
              <a:buFont typeface="Wingdings" panose="05000000000000000000" pitchFamily="2" charset="2"/>
              <a:buChar char="Ø"/>
            </a:pPr>
            <a:r>
              <a:rPr lang="zh-CN" altLang="en-US" sz="2000" dirty="0">
                <a:latin typeface="Times New Roman" panose="02020603050405020304" pitchFamily="18" charset="0"/>
              </a:rPr>
              <a:t>我爱你是因为你爱我，你爱我是因为我爱你。</a:t>
            </a:r>
            <a:endParaRPr lang="zh-CN" altLang="en-US" sz="2000" dirty="0">
              <a:latin typeface="Times New Roman" panose="02020603050405020304" pitchFamily="18" charset="0"/>
            </a:endParaRPr>
          </a:p>
          <a:p>
            <a:pPr marL="0" indent="0">
              <a:lnSpc>
                <a:spcPct val="130000"/>
              </a:lnSpc>
              <a:spcBef>
                <a:spcPts val="0"/>
              </a:spcBef>
              <a:buFont typeface="Wingdings" panose="05000000000000000000" pitchFamily="2" charset="2"/>
              <a:buNone/>
            </a:pPr>
            <a:r>
              <a:rPr lang="en-US" altLang="zh-CN" sz="2000">
                <a:latin typeface="Arial" panose="020B0604020202020204" pitchFamily="34" charset="0"/>
              </a:rPr>
              <a:t>     </a:t>
            </a:r>
            <a:endParaRPr lang="en-US" altLang="zh-CN" sz="2000">
              <a:latin typeface="Arial" panose="020B0604020202020204" pitchFamily="34" charset="0"/>
            </a:endParaRPr>
          </a:p>
          <a:p>
            <a:pPr marL="0" indent="0">
              <a:lnSpc>
                <a:spcPct val="130000"/>
              </a:lnSpc>
              <a:spcBef>
                <a:spcPts val="0"/>
              </a:spcBef>
              <a:buFont typeface="Wingdings" panose="05000000000000000000" pitchFamily="2" charset="2"/>
              <a:buNone/>
            </a:pPr>
            <a:r>
              <a:rPr lang="en-US" altLang="zh-CN" sz="2000">
                <a:latin typeface="Arial" panose="020B0604020202020204" pitchFamily="34" charset="0"/>
              </a:rPr>
              <a:t>——</a:t>
            </a:r>
            <a:r>
              <a:rPr lang="zh-CN" altLang="en-US" sz="2000" dirty="0">
                <a:latin typeface="Times New Roman" panose="02020603050405020304" pitchFamily="18" charset="0"/>
              </a:rPr>
              <a:t>我尊重你、我喜欢你、我爱你是我对你的行为选择的最优反应，而你尊重我、你喜欢我、你爱我是你对我的行动的最优反应。</a:t>
            </a:r>
            <a:endParaRPr lang="zh-CN" altLang="en-US" sz="2000" dirty="0">
              <a:latin typeface="Times New Roman" panose="02020603050405020304" pitchFamily="18" charset="0"/>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custDataLst>
              <p:tags r:id="rId3"/>
            </p:custDataLst>
          </p:nvPr>
        </p:nvSpPr>
        <p:spPr>
          <a:xfrm>
            <a:off x="479425" y="1268730"/>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3" name="Title 6"/>
          <p:cNvSpPr txBox="1"/>
          <p:nvPr>
            <p:custDataLst>
              <p:tags r:id="rId4"/>
            </p:custDataLst>
          </p:nvPr>
        </p:nvSpPr>
        <p:spPr>
          <a:xfrm>
            <a:off x="911225" y="1340485"/>
            <a:ext cx="10262870" cy="4389120"/>
          </a:xfrm>
          <a:prstGeom prst="rect">
            <a:avLst/>
          </a:prstGeom>
          <a:noFill/>
          <a:ln w="3175">
            <a:noFill/>
            <a:prstDash val="dash"/>
          </a:ln>
        </p:spPr>
        <p:txBody>
          <a:bodyPr wrap="square" lIns="63500" tIns="25400" rIns="63500" bIns="25400" anchor="ctr"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4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a:t>
            </a:r>
            <a:r>
              <a:rPr lang="zh-CN" altLang="en-US" sz="2200">
                <a:latin typeface="微软雅黑" panose="020B0503020204020204" pitchFamily="34" charset="-122"/>
                <a:ea typeface="微软雅黑" panose="020B0503020204020204" pitchFamily="34" charset="-122"/>
                <a:cs typeface="微软雅黑" panose="020B0503020204020204" pitchFamily="34" charset="-122"/>
                <a:sym typeface="+mn-ea"/>
              </a:rPr>
              <a:t>假设有</a:t>
            </a:r>
            <a:r>
              <a:rPr altLang="zh-CN" sz="22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2200">
                <a:latin typeface="微软雅黑" panose="020B0503020204020204" pitchFamily="34" charset="-122"/>
                <a:ea typeface="微软雅黑" panose="020B0503020204020204" pitchFamily="34" charset="-122"/>
                <a:cs typeface="微软雅黑" panose="020B0503020204020204" pitchFamily="34" charset="-122"/>
                <a:sym typeface="+mn-ea"/>
              </a:rPr>
              <a:t>个参与人进行博弈，给定其他人策略的条件下，每个人选择自己的最优策略，个人最优策略可能依赖于也可能不依赖于其他人的策略。</a:t>
            </a:r>
            <a:r>
              <a:rPr lang="zh-CN" altLang="en-US" sz="2200" b="1">
                <a:latin typeface="微软雅黑" panose="020B0503020204020204" pitchFamily="34" charset="-122"/>
                <a:ea typeface="微软雅黑" panose="020B0503020204020204" pitchFamily="34" charset="-122"/>
                <a:cs typeface="微软雅黑" panose="020B0503020204020204" pitchFamily="34" charset="-122"/>
                <a:sym typeface="+mn-ea"/>
              </a:rPr>
              <a:t>所有参与人选择的最优策略一起构成一个策略组合，即为纳什均衡。</a:t>
            </a:r>
            <a:endParaRPr lang="zh-CN" altLang="en-US" sz="2000" b="1">
              <a:ea typeface="楷体_GB2312" pitchFamily="1"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通俗地说，纳什均衡的含义就是：给定你的策略，我的策略是最好的策略；给定我的策略，你的策略也是你的最好的策略。即在给定别人策略的情况下，任何一个人都不想（有足够理由）单独改变自己策略时的均衡就是纳什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谁改动策略，谁也不能占便宜的状态。</a:t>
            </a:r>
            <a:endParaRPr lang="zh-CN" altLang="en-US" sz="22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rgbClr val="577CCE"/>
                </a:solidFill>
                <a:latin typeface="微软雅黑" panose="020B0503020204020204" pitchFamily="34" charset="-122"/>
                <a:ea typeface="微软雅黑" panose="020B0503020204020204" pitchFamily="34" charset="-122"/>
                <a:cs typeface="微软雅黑" panose="020B0503020204020204" pitchFamily="34" charset="-122"/>
                <a:sym typeface="+mn-ea"/>
              </a:rPr>
              <a:t>注意，上面两个都不是一个严格的数学定义。</a:t>
            </a:r>
            <a:endParaRPr lang="zh-CN" altLang="en-US" sz="2200" spc="100" dirty="0">
              <a:ln w="3175">
                <a:noFill/>
                <a:prstDash val="dash"/>
              </a:ln>
              <a:solidFill>
                <a:srgbClr val="577CCE"/>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200">
                <a:sym typeface="+mn-ea"/>
              </a:rPr>
              <a:t>纳什均衡是完全信息静态博弈的一般概念。</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1127125" y="1124585"/>
            <a:ext cx="8844280" cy="4267200"/>
            <a:chOff x="1775" y="1771"/>
            <a:chExt cx="13928" cy="6720"/>
          </a:xfrm>
        </p:grpSpPr>
        <p:sp>
          <p:nvSpPr>
            <p:cNvPr id="28674" name="内容占位符 2"/>
            <p:cNvSpPr>
              <a:spLocks noGrp="1"/>
            </p:cNvSpPr>
            <p:nvPr/>
          </p:nvSpPr>
          <p:spPr>
            <a:xfrm>
              <a:off x="1775" y="1771"/>
              <a:ext cx="13929" cy="672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buFont typeface="Wingdings" panose="05000000000000000000" charset="0"/>
                <a:buChar char="Ø"/>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博弈</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，有</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个博弈方；</a:t>
              </a:r>
              <a:endPar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spcBef>
                  <a:spcPts val="0"/>
                </a:spcBef>
                <a:buFont typeface="Wingdings" panose="05000000000000000000" charset="0"/>
                <a:buChar char="Ø"/>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策略空间</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：每个博弈方的全部可选策略的集合，分别用</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,…,Sn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表示；</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ij</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表示博弈方</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的第</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个策略，</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可取有限个值（有限策略博弈），也可取无限个值（无限策略博弈）；</a:t>
              </a:r>
              <a:endPar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spcBef>
                  <a:spcPts val="0"/>
                </a:spcBef>
                <a:buFont typeface="Wingdings" panose="05000000000000000000" charset="0"/>
                <a:buChar char="Ø"/>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得益</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：博弈方的得益用</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表示，</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200" b="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是各博弈方策略的多元函数。</a:t>
              </a:r>
              <a:endPar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spcBef>
                  <a:spcPts val="0"/>
                </a:spcBef>
                <a:buFont typeface="Wingdings" panose="05000000000000000000" charset="0"/>
                <a:buChar char="Ø"/>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个博弈方的博弈</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，常写成</a:t>
              </a:r>
              <a:endPar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8677" name="对象 4">
              <a:hlinkClick r:id="" action="ppaction://ole?verb=0"/>
            </p:cNvPr>
            <p:cNvGraphicFramePr>
              <a:graphicFrameLocks noChangeAspect="1"/>
            </p:cNvGraphicFramePr>
            <p:nvPr/>
          </p:nvGraphicFramePr>
          <p:xfrm>
            <a:off x="8239" y="5967"/>
            <a:ext cx="4560" cy="735"/>
          </p:xfrm>
          <a:graphic>
            <a:graphicData uri="http://schemas.openxmlformats.org/presentationml/2006/ole">
              <mc:AlternateContent xmlns:mc="http://schemas.openxmlformats.org/markup-compatibility/2006">
                <mc:Choice xmlns:v="urn:schemas-microsoft-com:vml" Requires="v">
                  <p:oleObj spid="_x0000_s3087" name="" r:id="rId4" imgW="1435735" imgH="228600" progId="Equation.KSEE3">
                    <p:embed/>
                  </p:oleObj>
                </mc:Choice>
                <mc:Fallback>
                  <p:oleObj name="" r:id="rId4" imgW="1435735" imgH="228600" progId="Equation.KSEE3">
                    <p:embed/>
                    <p:pic>
                      <p:nvPicPr>
                        <p:cNvPr id="0" name="图片 3083"/>
                        <p:cNvPicPr/>
                        <p:nvPr/>
                      </p:nvPicPr>
                      <p:blipFill>
                        <a:blip r:embed="rId5"/>
                        <a:stretch>
                          <a:fillRect/>
                        </a:stretch>
                      </p:blipFill>
                      <p:spPr>
                        <a:xfrm>
                          <a:off x="8239" y="5967"/>
                          <a:ext cx="4560" cy="735"/>
                        </a:xfrm>
                        <a:prstGeom prst="rect">
                          <a:avLst/>
                        </a:prstGeom>
                        <a:noFill/>
                        <a:ln w="38100">
                          <a:noFill/>
                          <a:miter/>
                        </a:ln>
                      </p:spPr>
                    </p:pic>
                  </p:oleObj>
                </mc:Fallback>
              </mc:AlternateContent>
            </a:graphicData>
          </a:graphic>
        </p:graphicFrame>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8" name="组合 7"/>
          <p:cNvGrpSpPr/>
          <p:nvPr/>
        </p:nvGrpSpPr>
        <p:grpSpPr>
          <a:xfrm>
            <a:off x="911225" y="1052830"/>
            <a:ext cx="9621520" cy="4267200"/>
            <a:chOff x="1435" y="1658"/>
            <a:chExt cx="15152" cy="6720"/>
          </a:xfrm>
        </p:grpSpPr>
        <p:grpSp>
          <p:nvGrpSpPr>
            <p:cNvPr id="4" name="组合 3"/>
            <p:cNvGrpSpPr/>
            <p:nvPr/>
          </p:nvGrpSpPr>
          <p:grpSpPr>
            <a:xfrm>
              <a:off x="1435" y="1658"/>
              <a:ext cx="15152" cy="6720"/>
              <a:chOff x="1775" y="1771"/>
              <a:chExt cx="15152" cy="6720"/>
            </a:xfrm>
          </p:grpSpPr>
          <p:sp>
            <p:nvSpPr>
              <p:cNvPr id="28674" name="内容占位符 2"/>
              <p:cNvSpPr>
                <a:spLocks noGrp="1"/>
              </p:cNvSpPr>
              <p:nvPr/>
            </p:nvSpPr>
            <p:spPr>
              <a:xfrm>
                <a:off x="1775" y="1771"/>
                <a:ext cx="15152" cy="672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buFont typeface="Wingdings" panose="05000000000000000000" charset="0"/>
                  <a:buChar char="Ø"/>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定义</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a:p>
                <a:pPr marL="927100" lvl="1" indent="-469900" algn="just">
                  <a:lnSpc>
                    <a:spcPct val="150000"/>
                  </a:lnSpc>
                  <a:spcBef>
                    <a:spcPts val="0"/>
                  </a:spcBef>
                  <a:buFont typeface="Arial" panose="020B0604020202020204" pitchFamily="34" charset="0"/>
                  <a:buChar char="•"/>
                </a:pP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在博弈</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中，如果各个博弈方的各一个策略组成的策略组合</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中，任一博弈方</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的策略</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都是对其余博弈方策略组合</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的最佳对策，即</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gn="just">
                  <a:lnSpc>
                    <a:spcPct val="150000"/>
                  </a:lnSpc>
                  <a:spcBef>
                    <a:spcPts val="0"/>
                  </a:spcBef>
                  <a:buFont typeface="Arial" panose="020B0604020202020204" pitchFamily="34" charset="0"/>
                  <a:buNone/>
                </a:pP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对任意</a:t>
                </a:r>
                <a:endPar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gn="just">
                  <a:lnSpc>
                    <a:spcPct val="150000"/>
                  </a:lnSpc>
                  <a:spcBef>
                    <a:spcPts val="0"/>
                  </a:spcBef>
                  <a:buFont typeface="Arial" panose="020B0604020202020204" pitchFamily="34" charset="0"/>
                  <a:buNone/>
                </a:pP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都成立，则称</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为</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的一个</a:t>
                </a:r>
                <a:r>
                  <a:rPr lang="en-US" altLang="zh-CN"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纳什均衡</a:t>
                </a:r>
                <a:r>
                  <a:rPr lang="en-US" altLang="zh-CN"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 name="组合 2"/>
              <p:cNvGrpSpPr/>
              <p:nvPr/>
            </p:nvGrpSpPr>
            <p:grpSpPr>
              <a:xfrm>
                <a:off x="3363" y="2792"/>
                <a:ext cx="13564" cy="3165"/>
                <a:chOff x="3363" y="2792"/>
                <a:chExt cx="13564" cy="3165"/>
              </a:xfrm>
            </p:grpSpPr>
            <p:graphicFrame>
              <p:nvGraphicFramePr>
                <p:cNvPr id="28677" name="对象 4">
                  <a:hlinkClick r:id="" action="ppaction://ole?verb=0"/>
                </p:cNvPr>
                <p:cNvGraphicFramePr>
                  <a:graphicFrameLocks noChangeAspect="1"/>
                </p:cNvGraphicFramePr>
                <p:nvPr/>
              </p:nvGraphicFramePr>
              <p:xfrm>
                <a:off x="4837" y="2792"/>
                <a:ext cx="4560" cy="735"/>
              </p:xfrm>
              <a:graphic>
                <a:graphicData uri="http://schemas.openxmlformats.org/presentationml/2006/ole">
                  <mc:AlternateContent xmlns:mc="http://schemas.openxmlformats.org/markup-compatibility/2006">
                    <mc:Choice xmlns:v="urn:schemas-microsoft-com:vml" Requires="v">
                      <p:oleObj spid="_x0000_s4104" name="" r:id="rId4" imgW="1435735" imgH="228600" progId="Equation.KSEE3">
                        <p:embed/>
                      </p:oleObj>
                    </mc:Choice>
                    <mc:Fallback>
                      <p:oleObj name="" r:id="rId4" imgW="1435735" imgH="228600" progId="Equation.KSEE3">
                        <p:embed/>
                        <p:pic>
                          <p:nvPicPr>
                            <p:cNvPr id="0" name="图片 3083"/>
                            <p:cNvPicPr/>
                            <p:nvPr/>
                          </p:nvPicPr>
                          <p:blipFill>
                            <a:blip r:embed="rId5"/>
                            <a:stretch>
                              <a:fillRect/>
                            </a:stretch>
                          </p:blipFill>
                          <p:spPr>
                            <a:xfrm>
                              <a:off x="4837" y="2792"/>
                              <a:ext cx="4560" cy="735"/>
                            </a:xfrm>
                            <a:prstGeom prst="rect">
                              <a:avLst/>
                            </a:prstGeom>
                            <a:noFill/>
                            <a:ln w="38100">
                              <a:noFill/>
                              <a:miter/>
                            </a:ln>
                          </p:spPr>
                        </p:pic>
                      </p:oleObj>
                    </mc:Fallback>
                  </mc:AlternateContent>
                </a:graphicData>
              </a:graphic>
            </p:graphicFrame>
            <p:graphicFrame>
              <p:nvGraphicFramePr>
                <p:cNvPr id="28676" name="对象 3">
                  <a:hlinkClick r:id="" action="ppaction://ole?verb=0"/>
                </p:cNvPr>
                <p:cNvGraphicFramePr>
                  <a:graphicFrameLocks noChangeAspect="1"/>
                </p:cNvGraphicFramePr>
                <p:nvPr/>
              </p:nvGraphicFramePr>
              <p:xfrm>
                <a:off x="6084" y="3585"/>
                <a:ext cx="2971" cy="736"/>
              </p:xfrm>
              <a:graphic>
                <a:graphicData uri="http://schemas.openxmlformats.org/presentationml/2006/ole">
                  <mc:AlternateContent xmlns:mc="http://schemas.openxmlformats.org/markup-compatibility/2006">
                    <mc:Choice xmlns:v="urn:schemas-microsoft-com:vml" Requires="v">
                      <p:oleObj spid="_x0000_s4105" name="" r:id="rId6" imgW="609600" imgH="241300" progId="Equation.KSEE3">
                        <p:embed/>
                      </p:oleObj>
                    </mc:Choice>
                    <mc:Fallback>
                      <p:oleObj name="" r:id="rId6" imgW="609600" imgH="241300" progId="Equation.KSEE3">
                        <p:embed/>
                        <p:pic>
                          <p:nvPicPr>
                            <p:cNvPr id="0" name="图片 3082"/>
                            <p:cNvPicPr/>
                            <p:nvPr/>
                          </p:nvPicPr>
                          <p:blipFill>
                            <a:blip r:embed="rId7"/>
                            <a:stretch>
                              <a:fillRect/>
                            </a:stretch>
                          </p:blipFill>
                          <p:spPr>
                            <a:xfrm>
                              <a:off x="6084" y="3585"/>
                              <a:ext cx="2971" cy="736"/>
                            </a:xfrm>
                            <a:prstGeom prst="rect">
                              <a:avLst/>
                            </a:prstGeom>
                            <a:noFill/>
                            <a:ln w="38100">
                              <a:noFill/>
                              <a:miter/>
                            </a:ln>
                          </p:spPr>
                        </p:pic>
                      </p:oleObj>
                    </mc:Fallback>
                  </mc:AlternateContent>
                </a:graphicData>
              </a:graphic>
            </p:graphicFrame>
            <p:graphicFrame>
              <p:nvGraphicFramePr>
                <p:cNvPr id="28679" name="对象 6">
                  <a:hlinkClick r:id="" action="ppaction://ole?verb=0"/>
                </p:cNvPr>
                <p:cNvGraphicFramePr>
                  <a:graphicFrameLocks noChangeAspect="1"/>
                </p:cNvGraphicFramePr>
                <p:nvPr/>
              </p:nvGraphicFramePr>
              <p:xfrm>
                <a:off x="13908" y="3527"/>
                <a:ext cx="508" cy="820"/>
              </p:xfrm>
              <a:graphic>
                <a:graphicData uri="http://schemas.openxmlformats.org/presentationml/2006/ole">
                  <mc:AlternateContent xmlns:mc="http://schemas.openxmlformats.org/markup-compatibility/2006">
                    <mc:Choice xmlns:v="urn:schemas-microsoft-com:vml" Requires="v">
                      <p:oleObj spid="_x0000_s4106" name="" r:id="rId8" imgW="165100" imgH="241300" progId="Equation.KSEE3">
                        <p:embed/>
                      </p:oleObj>
                    </mc:Choice>
                    <mc:Fallback>
                      <p:oleObj name="" r:id="rId8" imgW="165100" imgH="241300" progId="Equation.KSEE3">
                        <p:embed/>
                        <p:pic>
                          <p:nvPicPr>
                            <p:cNvPr id="0" name="图片 3078"/>
                            <p:cNvPicPr/>
                            <p:nvPr/>
                          </p:nvPicPr>
                          <p:blipFill>
                            <a:blip r:embed="rId9"/>
                            <a:stretch>
                              <a:fillRect/>
                            </a:stretch>
                          </p:blipFill>
                          <p:spPr>
                            <a:xfrm>
                              <a:off x="13908" y="3527"/>
                              <a:ext cx="508" cy="820"/>
                            </a:xfrm>
                            <a:prstGeom prst="rect">
                              <a:avLst/>
                            </a:prstGeom>
                            <a:noFill/>
                            <a:ln w="38100">
                              <a:noFill/>
                              <a:miter/>
                            </a:ln>
                          </p:spPr>
                        </p:pic>
                      </p:oleObj>
                    </mc:Fallback>
                  </mc:AlternateContent>
                </a:graphicData>
              </a:graphic>
            </p:graphicFrame>
            <p:graphicFrame>
              <p:nvGraphicFramePr>
                <p:cNvPr id="28680" name="对象 7">
                  <a:hlinkClick r:id="" action="ppaction://ole?verb=0"/>
                </p:cNvPr>
                <p:cNvGraphicFramePr>
                  <a:graphicFrameLocks noChangeAspect="1"/>
                </p:cNvGraphicFramePr>
                <p:nvPr/>
              </p:nvGraphicFramePr>
              <p:xfrm>
                <a:off x="6538" y="4328"/>
                <a:ext cx="3746" cy="795"/>
              </p:xfrm>
              <a:graphic>
                <a:graphicData uri="http://schemas.openxmlformats.org/presentationml/2006/ole">
                  <mc:AlternateContent xmlns:mc="http://schemas.openxmlformats.org/markup-compatibility/2006">
                    <mc:Choice xmlns:v="urn:schemas-microsoft-com:vml" Requires="v">
                      <p:oleObj spid="_x0000_s4107" name="" r:id="rId10" imgW="1257300" imgH="241300" progId="Equation.KSEE3">
                        <p:embed/>
                      </p:oleObj>
                    </mc:Choice>
                    <mc:Fallback>
                      <p:oleObj name="" r:id="rId10" imgW="1257300" imgH="241300" progId="Equation.KSEE3">
                        <p:embed/>
                        <p:pic>
                          <p:nvPicPr>
                            <p:cNvPr id="0" name="图片 3079"/>
                            <p:cNvPicPr/>
                            <p:nvPr/>
                          </p:nvPicPr>
                          <p:blipFill>
                            <a:blip r:embed="rId11"/>
                            <a:stretch>
                              <a:fillRect/>
                            </a:stretch>
                          </p:blipFill>
                          <p:spPr>
                            <a:xfrm>
                              <a:off x="6538" y="4328"/>
                              <a:ext cx="3746" cy="795"/>
                            </a:xfrm>
                            <a:prstGeom prst="rect">
                              <a:avLst/>
                            </a:prstGeom>
                            <a:noFill/>
                            <a:ln w="38100">
                              <a:noFill/>
                              <a:miter/>
                            </a:ln>
                          </p:spPr>
                        </p:pic>
                      </p:oleObj>
                    </mc:Fallback>
                  </mc:AlternateContent>
                </a:graphicData>
              </a:graphic>
            </p:graphicFrame>
            <p:graphicFrame>
              <p:nvGraphicFramePr>
                <p:cNvPr id="28684" name="对象 11">
                  <a:hlinkClick r:id="" action="ppaction://ole?verb=0"/>
                </p:cNvPr>
                <p:cNvGraphicFramePr>
                  <a:graphicFrameLocks noChangeAspect="1"/>
                </p:cNvGraphicFramePr>
                <p:nvPr/>
              </p:nvGraphicFramePr>
              <p:xfrm>
                <a:off x="3363" y="5123"/>
                <a:ext cx="10752" cy="834"/>
              </p:xfrm>
              <a:graphic>
                <a:graphicData uri="http://schemas.openxmlformats.org/presentationml/2006/ole">
                  <mc:AlternateContent xmlns:mc="http://schemas.openxmlformats.org/markup-compatibility/2006">
                    <mc:Choice xmlns:v="urn:schemas-microsoft-com:vml" Requires="v">
                      <p:oleObj spid="_x0000_s4108" name="" r:id="rId12" imgW="3276600" imgH="254000" progId="Equation.KSEE3">
                        <p:embed/>
                      </p:oleObj>
                    </mc:Choice>
                    <mc:Fallback>
                      <p:oleObj name="" r:id="rId12" imgW="3276600" imgH="254000" progId="Equation.KSEE3">
                        <p:embed/>
                        <p:pic>
                          <p:nvPicPr>
                            <p:cNvPr id="0" name="图片 3075"/>
                            <p:cNvPicPr/>
                            <p:nvPr/>
                          </p:nvPicPr>
                          <p:blipFill>
                            <a:blip r:embed="rId13"/>
                            <a:stretch>
                              <a:fillRect/>
                            </a:stretch>
                          </p:blipFill>
                          <p:spPr>
                            <a:xfrm>
                              <a:off x="3363" y="5123"/>
                              <a:ext cx="10752" cy="834"/>
                            </a:xfrm>
                            <a:prstGeom prst="rect">
                              <a:avLst/>
                            </a:prstGeom>
                            <a:noFill/>
                            <a:ln w="38100">
                              <a:noFill/>
                              <a:miter/>
                            </a:ln>
                          </p:spPr>
                        </p:pic>
                      </p:oleObj>
                    </mc:Fallback>
                  </mc:AlternateContent>
                </a:graphicData>
              </a:graphic>
            </p:graphicFrame>
            <p:graphicFrame>
              <p:nvGraphicFramePr>
                <p:cNvPr id="28682" name="对象 9">
                  <a:hlinkClick r:id="" action="ppaction://ole?verb=0"/>
                </p:cNvPr>
                <p:cNvGraphicFramePr>
                  <a:graphicFrameLocks noChangeAspect="1"/>
                </p:cNvGraphicFramePr>
                <p:nvPr/>
              </p:nvGraphicFramePr>
              <p:xfrm>
                <a:off x="15450" y="5060"/>
                <a:ext cx="1477" cy="800"/>
              </p:xfrm>
              <a:graphic>
                <a:graphicData uri="http://schemas.openxmlformats.org/presentationml/2006/ole">
                  <mc:AlternateContent xmlns:mc="http://schemas.openxmlformats.org/markup-compatibility/2006">
                    <mc:Choice xmlns:v="urn:schemas-microsoft-com:vml" Requires="v">
                      <p:oleObj spid="_x0000_s4109" name="" r:id="rId14" imgW="444500" imgH="241300" progId="Equation.KSEE3">
                        <p:embed/>
                      </p:oleObj>
                    </mc:Choice>
                    <mc:Fallback>
                      <p:oleObj name="" r:id="rId14" imgW="444500" imgH="241300" progId="Equation.KSEE3">
                        <p:embed/>
                        <p:pic>
                          <p:nvPicPr>
                            <p:cNvPr id="0" name="图片 3081"/>
                            <p:cNvPicPr/>
                            <p:nvPr/>
                          </p:nvPicPr>
                          <p:blipFill>
                            <a:blip r:embed="rId15"/>
                            <a:stretch>
                              <a:fillRect/>
                            </a:stretch>
                          </p:blipFill>
                          <p:spPr>
                            <a:xfrm>
                              <a:off x="15450" y="5060"/>
                              <a:ext cx="1477" cy="800"/>
                            </a:xfrm>
                            <a:prstGeom prst="rect">
                              <a:avLst/>
                            </a:prstGeom>
                            <a:noFill/>
                            <a:ln w="38100">
                              <a:noFill/>
                              <a:miter/>
                            </a:ln>
                          </p:spPr>
                        </p:pic>
                      </p:oleObj>
                    </mc:Fallback>
                  </mc:AlternateContent>
                </a:graphicData>
              </a:graphic>
            </p:graphicFrame>
          </p:grpSp>
        </p:grpSp>
        <p:graphicFrame>
          <p:nvGraphicFramePr>
            <p:cNvPr id="5" name="对象 3">
              <a:hlinkClick r:id="" action="ppaction://ole?verb=0"/>
            </p:cNvPr>
            <p:cNvGraphicFramePr>
              <a:graphicFrameLocks noChangeAspect="1"/>
            </p:cNvGraphicFramePr>
            <p:nvPr/>
          </p:nvGraphicFramePr>
          <p:xfrm>
            <a:off x="5744" y="5836"/>
            <a:ext cx="2971" cy="736"/>
          </p:xfrm>
          <a:graphic>
            <a:graphicData uri="http://schemas.openxmlformats.org/presentationml/2006/ole">
              <mc:AlternateContent xmlns:mc="http://schemas.openxmlformats.org/markup-compatibility/2006">
                <mc:Choice xmlns:v="urn:schemas-microsoft-com:vml" Requires="v">
                  <p:oleObj spid="_x0000_s4110" name="" r:id="rId16" imgW="609600" imgH="241300" progId="Equation.KSEE3">
                    <p:embed/>
                  </p:oleObj>
                </mc:Choice>
                <mc:Fallback>
                  <p:oleObj name="" r:id="rId16" imgW="609600" imgH="241300" progId="Equation.KSEE3">
                    <p:embed/>
                    <p:pic>
                      <p:nvPicPr>
                        <p:cNvPr id="0" name="图片 3082"/>
                        <p:cNvPicPr/>
                        <p:nvPr/>
                      </p:nvPicPr>
                      <p:blipFill>
                        <a:blip r:embed="rId7"/>
                        <a:stretch>
                          <a:fillRect/>
                        </a:stretch>
                      </p:blipFill>
                      <p:spPr>
                        <a:xfrm>
                          <a:off x="5744" y="5836"/>
                          <a:ext cx="2971" cy="736"/>
                        </a:xfrm>
                        <a:prstGeom prst="rect">
                          <a:avLst/>
                        </a:prstGeom>
                        <a:noFill/>
                        <a:ln w="38100">
                          <a:noFill/>
                          <a:miter/>
                        </a:ln>
                      </p:spPr>
                    </p:pic>
                  </p:oleObj>
                </mc:Fallback>
              </mc:AlternateContent>
            </a:graphicData>
          </a:graphic>
        </p:graphicFrame>
      </p:grpSp>
    </p:spTree>
    <p:custDataLst>
      <p:tags r:id="rId1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0722" name="Rectangle 3"/>
          <p:cNvSpPr>
            <a:spLocks noGrp="1"/>
          </p:cNvSpPr>
          <p:nvPr/>
        </p:nvSpPr>
        <p:spPr>
          <a:xfrm>
            <a:off x="911225" y="836930"/>
            <a:ext cx="9855835" cy="426720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None/>
            </a:pPr>
            <a:endParaRPr lang="zh-CN" altLang="en-US" sz="2400" dirty="0">
              <a:latin typeface="黑体" panose="02010609060101010101" pitchFamily="49" charset="-122"/>
            </a:endParaRPr>
          </a:p>
          <a:p>
            <a:pPr>
              <a:lnSpc>
                <a:spcPct val="90000"/>
              </a:lnSpc>
              <a:buFont typeface="Wingdings" panose="05000000000000000000" charset="0"/>
              <a:buChar char="u"/>
            </a:pPr>
            <a:r>
              <a:rPr lang="zh-CN" sz="2400" dirty="0">
                <a:latin typeface="微软雅黑" panose="020B0503020204020204" pitchFamily="34" charset="-122"/>
                <a:ea typeface="微软雅黑" panose="020B0503020204020204" pitchFamily="34" charset="-122"/>
              </a:rPr>
              <a:t>纳什均衡</a:t>
            </a:r>
            <a:r>
              <a:rPr lang="zh-CN" altLang="en-US" sz="2400" dirty="0">
                <a:latin typeface="微软雅黑" panose="020B0503020204020204" pitchFamily="34" charset="-122"/>
                <a:ea typeface="微软雅黑" panose="020B0503020204020204" pitchFamily="34" charset="-122"/>
              </a:rPr>
              <a:t>与上策均衡的关系</a:t>
            </a:r>
            <a:endParaRPr lang="zh-CN" altLang="en-US" sz="2400" dirty="0">
              <a:latin typeface="微软雅黑" panose="020B0503020204020204" pitchFamily="34" charset="-122"/>
              <a:ea typeface="微软雅黑" panose="020B0503020204020204" pitchFamily="34" charset="-122"/>
            </a:endParaRPr>
          </a:p>
          <a:p>
            <a:pPr marL="927100" lvl="1" indent="-469900" algn="just">
              <a:lnSpc>
                <a:spcPct val="130000"/>
              </a:lnSpc>
              <a:spcBef>
                <a:spcPts val="0"/>
              </a:spcBef>
              <a:buFont typeface="Arial" panose="020B0604020202020204" pitchFamily="34" charset="0"/>
              <a:buChar char="•"/>
            </a:pPr>
            <a:r>
              <a:rPr lang="zh-CN" altLang="en-US" sz="2200" b="0" dirty="0">
                <a:solidFill>
                  <a:schemeClr val="tx1"/>
                </a:solidFill>
                <a:latin typeface="微软雅黑" panose="020B0503020204020204" pitchFamily="34" charset="-122"/>
                <a:ea typeface="微软雅黑" panose="020B0503020204020204" pitchFamily="34" charset="-122"/>
              </a:rPr>
              <a:t>上策均衡一定是</a:t>
            </a:r>
            <a:r>
              <a:rPr lang="zh-CN" sz="2200" b="0" dirty="0">
                <a:latin typeface="微软雅黑" panose="020B0503020204020204" pitchFamily="34" charset="-122"/>
                <a:ea typeface="微软雅黑" panose="020B0503020204020204" pitchFamily="34" charset="-122"/>
                <a:sym typeface="+mn-ea"/>
              </a:rPr>
              <a:t>纳什均衡</a:t>
            </a:r>
            <a:r>
              <a:rPr lang="zh-CN" altLang="en-US" sz="2200" b="0" dirty="0">
                <a:latin typeface="微软雅黑" panose="020B0503020204020204" pitchFamily="34" charset="-122"/>
                <a:ea typeface="微软雅黑" panose="020B0503020204020204" pitchFamily="34" charset="-122"/>
              </a:rPr>
              <a:t>；但反之，纳什均衡不一定是上策均衡。</a:t>
            </a:r>
            <a:endParaRPr lang="zh-CN" altLang="en-US" sz="2200" b="0" dirty="0">
              <a:latin typeface="微软雅黑" panose="020B0503020204020204" pitchFamily="34" charset="-122"/>
              <a:ea typeface="微软雅黑" panose="020B0503020204020204" pitchFamily="34" charset="-122"/>
            </a:endParaRPr>
          </a:p>
          <a:p>
            <a:pPr marL="927100" lvl="1" indent="-469900" algn="just">
              <a:lnSpc>
                <a:spcPct val="130000"/>
              </a:lnSpc>
              <a:spcBef>
                <a:spcPts val="0"/>
              </a:spcBef>
              <a:buFont typeface="Arial" panose="020B0604020202020204" pitchFamily="34" charset="0"/>
              <a:buChar char="•"/>
            </a:pPr>
            <a:r>
              <a:rPr lang="zh-CN" altLang="en-US" sz="2200" b="0" dirty="0">
                <a:latin typeface="微软雅黑" panose="020B0503020204020204" pitchFamily="34" charset="-122"/>
                <a:ea typeface="微软雅黑" panose="020B0503020204020204" pitchFamily="34" charset="-122"/>
              </a:rPr>
              <a:t>因为：一个参与人的</a:t>
            </a:r>
            <a:r>
              <a:rPr lang="zh-CN" altLang="en-US" sz="2200" b="0" dirty="0">
                <a:latin typeface="微软雅黑" panose="020B0503020204020204" pitchFamily="34" charset="-122"/>
                <a:ea typeface="微软雅黑" panose="020B0503020204020204" pitchFamily="34" charset="-122"/>
                <a:sym typeface="+mn-ea"/>
              </a:rPr>
              <a:t>上策均衡</a:t>
            </a:r>
            <a:r>
              <a:rPr lang="zh-CN" altLang="en-US" sz="2200" b="0" dirty="0">
                <a:latin typeface="微软雅黑" panose="020B0503020204020204" pitchFamily="34" charset="-122"/>
                <a:ea typeface="微软雅黑" panose="020B0503020204020204" pitchFamily="34" charset="-122"/>
              </a:rPr>
              <a:t>是对于所有其他参与人的任何策略组合的最优选择，当然也一定是对于所有其他参与人的某个特定策略的最优选择。</a:t>
            </a:r>
            <a:endParaRPr lang="zh-CN" altLang="en-US" sz="2200" b="0" dirty="0">
              <a:latin typeface="微软雅黑" panose="020B0503020204020204" pitchFamily="34" charset="-122"/>
              <a:ea typeface="微软雅黑" panose="020B0503020204020204" pitchFamily="34" charset="-122"/>
            </a:endParaRPr>
          </a:p>
          <a:p>
            <a:pPr>
              <a:lnSpc>
                <a:spcPct val="90000"/>
              </a:lnSpc>
              <a:buNone/>
            </a:pPr>
            <a:endParaRPr lang="zh-CN" altLang="en-US" sz="2400" b="0" dirty="0">
              <a:latin typeface="黑体" panose="02010609060101010101" pitchFamily="49" charset="-122"/>
            </a:endParaRPr>
          </a:p>
          <a:p>
            <a:pPr>
              <a:lnSpc>
                <a:spcPct val="90000"/>
              </a:lnSpc>
              <a:buNone/>
            </a:pPr>
            <a:endParaRPr lang="zh-CN" altLang="en-US" sz="2400" dirty="0">
              <a:latin typeface="黑体" panose="02010609060101010101" pitchFamily="49" charset="-122"/>
            </a:endParaRPr>
          </a:p>
          <a:p>
            <a:pPr>
              <a:lnSpc>
                <a:spcPct val="90000"/>
              </a:lnSpc>
              <a:buNone/>
            </a:pPr>
            <a:endParaRPr lang="zh-CN" altLang="en-US" sz="2400" dirty="0">
              <a:ea typeface="楷体_GB2312" pitchFamily="1" charset="-122"/>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0" name="组合 9"/>
          <p:cNvGrpSpPr/>
          <p:nvPr/>
        </p:nvGrpSpPr>
        <p:grpSpPr>
          <a:xfrm>
            <a:off x="839470" y="764540"/>
            <a:ext cx="10638155" cy="5784850"/>
            <a:chOff x="1322" y="1204"/>
            <a:chExt cx="16753" cy="9110"/>
          </a:xfrm>
        </p:grpSpPr>
        <p:sp>
          <p:nvSpPr>
            <p:cNvPr id="30722" name="Rectangle 3"/>
            <p:cNvSpPr>
              <a:spLocks noGrp="1"/>
            </p:cNvSpPr>
            <p:nvPr/>
          </p:nvSpPr>
          <p:spPr>
            <a:xfrm>
              <a:off x="1322" y="1204"/>
              <a:ext cx="16753" cy="911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None/>
              </a:pPr>
              <a:endParaRPr lang="zh-CN" altLang="en-US" sz="2400" dirty="0">
                <a:latin typeface="黑体" panose="02010609060101010101" pitchFamily="49" charset="-122"/>
              </a:endParaRPr>
            </a:p>
            <a:p>
              <a:pPr>
                <a:lnSpc>
                  <a:spcPct val="90000"/>
                </a:lnSpc>
                <a:buFont typeface="Wingdings" panose="05000000000000000000" charset="0"/>
                <a:buChar char="u"/>
              </a:pPr>
              <a:r>
                <a:rPr lang="zh-CN" sz="2400" dirty="0">
                  <a:latin typeface="微软雅黑" panose="020B0503020204020204" pitchFamily="34" charset="-122"/>
                  <a:ea typeface="微软雅黑" panose="020B0503020204020204" pitchFamily="34" charset="-122"/>
                  <a:cs typeface="微软雅黑" panose="020B0503020204020204" pitchFamily="34" charset="-122"/>
                </a:rPr>
                <a:t>纳什均衡</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与</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剔除下策均衡</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的关系</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30000"/>
                </a:lnSpc>
                <a:spcBef>
                  <a:spcPts val="0"/>
                </a:spcBef>
                <a:buFont typeface="Arial" panose="020B0604020202020204" pitchFamily="34" charset="0"/>
                <a:buChar char="•"/>
              </a:pPr>
              <a:r>
                <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在重复剔除过程中，如果最后剩下的策略组合是唯一的，它一定是纳什均衡，但一个纳什均衡不一定是一个剔除下策均衡。</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sym typeface="+mn-ea"/>
                </a:rPr>
                <a:t>也可以说，纳什均衡一定是重复剔除严格下策过程中没有被剔除的策略组合 ，但没有被剔除掉的策略组合不一定是纳什均衡，除非它是唯一的。</a:t>
              </a:r>
              <a:endParaRPr lang="zh-CN" altLang="en-US" sz="22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a:lnSpc>
                  <a:spcPct val="130000"/>
                </a:lnSpc>
                <a:spcBef>
                  <a:spcPts val="0"/>
                </a:spcBef>
                <a:buFont typeface="Wingdings" panose="05000000000000000000" charset="0"/>
                <a:buChar char="u"/>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纳什均衡与严格下策反复消去法的相容性</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30000"/>
                </a:lnSpc>
                <a:spcBef>
                  <a:spcPts val="0"/>
                </a:spcBef>
                <a:buFont typeface="Arial" panose="020B0604020202020204" pitchFamily="34" charset="0"/>
                <a:buChar char="•"/>
              </a:pP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命题</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2.1 </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个</a:t>
              </a:r>
              <a:r>
                <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博弈方的博弈</a:t>
              </a:r>
              <a:r>
                <a:rPr lang="en-US" altLang="zh-CN"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中，如果严格下策反复消去法排除了除</a:t>
              </a:r>
              <a:r>
                <a:rPr lang="en-US" altLang="zh-CN"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之外的所有策略组合，那么</a:t>
              </a:r>
              <a:r>
                <a:rPr lang="en-US" altLang="zh-CN"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一定是该博弈唯一的纳什均衡。</a:t>
              </a:r>
              <a:endPar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27100" lvl="1" indent="-469900" algn="just">
                <a:lnSpc>
                  <a:spcPct val="130000"/>
                </a:lnSpc>
                <a:spcBef>
                  <a:spcPts val="0"/>
                </a:spcBef>
                <a:buFont typeface="Arial" panose="020B0604020202020204" pitchFamily="34" charset="0"/>
                <a:buChar char="•"/>
              </a:pPr>
              <a:r>
                <a:rPr lang="zh-CN" altLang="en-US"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命题</a:t>
              </a:r>
              <a:r>
                <a:rPr lang="en-US" altLang="zh-CN" sz="22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2.2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sym typeface="+mn-ea"/>
                </a:rPr>
                <a:t>在</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sym typeface="+mn-ea"/>
                </a:rPr>
                <a:t>个博</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sym typeface="+mn-ea"/>
                </a:rPr>
                <a:t>弈方的博弈</a:t>
              </a:r>
              <a:r>
                <a:rPr lang="en-US" altLang="zh-CN" sz="2200" b="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sym typeface="+mn-ea"/>
                </a:rPr>
                <a:t>中，如果</a:t>
              </a:r>
              <a:r>
                <a:rPr lang="en-US" altLang="zh-CN" sz="2200" b="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sym typeface="+mn-ea"/>
                </a:rPr>
                <a:t>是</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sym typeface="+mn-ea"/>
                </a:rPr>
                <a:t>G</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sym typeface="+mn-ea"/>
                </a:rPr>
                <a:t>的一个纳什均衡，那么严格下策反复消去法一定不会将它消去。</a:t>
              </a:r>
              <a:endParaRPr lang="zh-CN" altLang="en-US" sz="2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endParaRPr lang="zh-CN" altLang="en-US" sz="2400" b="0" dirty="0">
                <a:latin typeface="黑体" panose="02010609060101010101" pitchFamily="49" charset="-122"/>
              </a:endParaRPr>
            </a:p>
            <a:p>
              <a:pPr>
                <a:lnSpc>
                  <a:spcPct val="90000"/>
                </a:lnSpc>
                <a:buNone/>
              </a:pPr>
              <a:endParaRPr lang="zh-CN" altLang="en-US" sz="2400" dirty="0">
                <a:latin typeface="黑体" panose="02010609060101010101" pitchFamily="49" charset="-122"/>
              </a:endParaRPr>
            </a:p>
            <a:p>
              <a:pPr>
                <a:lnSpc>
                  <a:spcPct val="90000"/>
                </a:lnSpc>
                <a:buNone/>
              </a:pPr>
              <a:endParaRPr lang="zh-CN" altLang="en-US" sz="2400" dirty="0">
                <a:ea typeface="楷体_GB2312" pitchFamily="1" charset="-122"/>
              </a:endParaRPr>
            </a:p>
          </p:txBody>
        </p:sp>
        <p:graphicFrame>
          <p:nvGraphicFramePr>
            <p:cNvPr id="28677" name="对象 4">
              <a:hlinkClick r:id="" action="ppaction://ole?verb=0"/>
            </p:cNvPr>
            <p:cNvGraphicFramePr>
              <a:graphicFrameLocks noChangeAspect="1"/>
            </p:cNvGraphicFramePr>
            <p:nvPr/>
          </p:nvGraphicFramePr>
          <p:xfrm>
            <a:off x="8466" y="6026"/>
            <a:ext cx="4560" cy="735"/>
          </p:xfrm>
          <a:graphic>
            <a:graphicData uri="http://schemas.openxmlformats.org/presentationml/2006/ole">
              <mc:AlternateContent xmlns:mc="http://schemas.openxmlformats.org/markup-compatibility/2006">
                <mc:Choice xmlns:v="urn:schemas-microsoft-com:vml" Requires="v">
                  <p:oleObj spid="_x0000_s5126" name="" r:id="rId4" imgW="1435735" imgH="228600" progId="Equation.KSEE3">
                    <p:embed/>
                  </p:oleObj>
                </mc:Choice>
                <mc:Fallback>
                  <p:oleObj name="" r:id="rId4" imgW="1435735" imgH="228600" progId="Equation.KSEE3">
                    <p:embed/>
                    <p:pic>
                      <p:nvPicPr>
                        <p:cNvPr id="0" name="图片 3083"/>
                        <p:cNvPicPr/>
                        <p:nvPr/>
                      </p:nvPicPr>
                      <p:blipFill>
                        <a:blip r:embed="rId5"/>
                        <a:stretch>
                          <a:fillRect/>
                        </a:stretch>
                      </p:blipFill>
                      <p:spPr>
                        <a:xfrm>
                          <a:off x="8466" y="6026"/>
                          <a:ext cx="4560" cy="735"/>
                        </a:xfrm>
                        <a:prstGeom prst="rect">
                          <a:avLst/>
                        </a:prstGeom>
                        <a:noFill/>
                        <a:ln w="38100">
                          <a:noFill/>
                          <a:miter/>
                        </a:ln>
                      </p:spPr>
                    </p:pic>
                  </p:oleObj>
                </mc:Fallback>
              </mc:AlternateContent>
            </a:graphicData>
          </a:graphic>
        </p:graphicFrame>
        <p:graphicFrame>
          <p:nvGraphicFramePr>
            <p:cNvPr id="28676" name="对象 3">
              <a:hlinkClick r:id="" action="ppaction://ole?verb=0"/>
            </p:cNvPr>
            <p:cNvGraphicFramePr>
              <a:graphicFrameLocks noChangeAspect="1"/>
            </p:cNvGraphicFramePr>
            <p:nvPr/>
          </p:nvGraphicFramePr>
          <p:xfrm>
            <a:off x="5631" y="6647"/>
            <a:ext cx="2971" cy="736"/>
          </p:xfrm>
          <a:graphic>
            <a:graphicData uri="http://schemas.openxmlformats.org/presentationml/2006/ole">
              <mc:AlternateContent xmlns:mc="http://schemas.openxmlformats.org/markup-compatibility/2006">
                <mc:Choice xmlns:v="urn:schemas-microsoft-com:vml" Requires="v">
                  <p:oleObj spid="_x0000_s5127" name="" r:id="rId6" imgW="609600" imgH="241300" progId="Equation.KSEE3">
                    <p:embed/>
                  </p:oleObj>
                </mc:Choice>
                <mc:Fallback>
                  <p:oleObj name="" r:id="rId6" imgW="609600" imgH="241300" progId="Equation.KSEE3">
                    <p:embed/>
                    <p:pic>
                      <p:nvPicPr>
                        <p:cNvPr id="0" name="图片 3082"/>
                        <p:cNvPicPr/>
                        <p:nvPr/>
                      </p:nvPicPr>
                      <p:blipFill>
                        <a:blip r:embed="rId7"/>
                        <a:stretch>
                          <a:fillRect/>
                        </a:stretch>
                      </p:blipFill>
                      <p:spPr>
                        <a:xfrm>
                          <a:off x="5631" y="6647"/>
                          <a:ext cx="2971" cy="736"/>
                        </a:xfrm>
                        <a:prstGeom prst="rect">
                          <a:avLst/>
                        </a:prstGeom>
                        <a:noFill/>
                        <a:ln w="38100">
                          <a:noFill/>
                          <a:miter/>
                        </a:ln>
                      </p:spPr>
                    </p:pic>
                  </p:oleObj>
                </mc:Fallback>
              </mc:AlternateContent>
            </a:graphicData>
          </a:graphic>
        </p:graphicFrame>
        <p:graphicFrame>
          <p:nvGraphicFramePr>
            <p:cNvPr id="3" name="对象 3">
              <a:hlinkClick r:id="" action="ppaction://ole?verb=0"/>
            </p:cNvPr>
            <p:cNvGraphicFramePr>
              <a:graphicFrameLocks noChangeAspect="1"/>
            </p:cNvGraphicFramePr>
            <p:nvPr/>
          </p:nvGraphicFramePr>
          <p:xfrm>
            <a:off x="14136" y="6647"/>
            <a:ext cx="2971" cy="736"/>
          </p:xfrm>
          <a:graphic>
            <a:graphicData uri="http://schemas.openxmlformats.org/presentationml/2006/ole">
              <mc:AlternateContent xmlns:mc="http://schemas.openxmlformats.org/markup-compatibility/2006">
                <mc:Choice xmlns:v="urn:schemas-microsoft-com:vml" Requires="v">
                  <p:oleObj spid="_x0000_s5128" name="" r:id="rId8" imgW="609600" imgH="241300" progId="Equation.KSEE3">
                    <p:embed/>
                  </p:oleObj>
                </mc:Choice>
                <mc:Fallback>
                  <p:oleObj name="" r:id="rId8" imgW="609600" imgH="241300" progId="Equation.KSEE3">
                    <p:embed/>
                    <p:pic>
                      <p:nvPicPr>
                        <p:cNvPr id="0" name="图片 3082"/>
                        <p:cNvPicPr/>
                        <p:nvPr/>
                      </p:nvPicPr>
                      <p:blipFill>
                        <a:blip r:embed="rId7"/>
                        <a:stretch>
                          <a:fillRect/>
                        </a:stretch>
                      </p:blipFill>
                      <p:spPr>
                        <a:xfrm>
                          <a:off x="14136" y="6647"/>
                          <a:ext cx="2971" cy="736"/>
                        </a:xfrm>
                        <a:prstGeom prst="rect">
                          <a:avLst/>
                        </a:prstGeom>
                        <a:noFill/>
                        <a:ln w="38100">
                          <a:noFill/>
                          <a:miter/>
                        </a:ln>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8239" y="8009"/>
            <a:ext cx="4560" cy="735"/>
          </p:xfrm>
          <a:graphic>
            <a:graphicData uri="http://schemas.openxmlformats.org/presentationml/2006/ole">
              <mc:AlternateContent xmlns:mc="http://schemas.openxmlformats.org/markup-compatibility/2006">
                <mc:Choice xmlns:v="urn:schemas-microsoft-com:vml" Requires="v">
                  <p:oleObj spid="_x0000_s5129" name="" r:id="rId9" imgW="1435735" imgH="228600" progId="Equation.KSEE3">
                    <p:embed/>
                  </p:oleObj>
                </mc:Choice>
                <mc:Fallback>
                  <p:oleObj name="" r:id="rId9" imgW="1435735" imgH="228600" progId="Equation.KSEE3">
                    <p:embed/>
                    <p:pic>
                      <p:nvPicPr>
                        <p:cNvPr id="0" name="图片 3083"/>
                        <p:cNvPicPr/>
                        <p:nvPr/>
                      </p:nvPicPr>
                      <p:blipFill>
                        <a:blip r:embed="rId5"/>
                        <a:stretch>
                          <a:fillRect/>
                        </a:stretch>
                      </p:blipFill>
                      <p:spPr>
                        <a:xfrm>
                          <a:off x="8239" y="8009"/>
                          <a:ext cx="4560" cy="735"/>
                        </a:xfrm>
                        <a:prstGeom prst="rect">
                          <a:avLst/>
                        </a:prstGeom>
                        <a:noFill/>
                        <a:ln w="38100">
                          <a:noFill/>
                          <a:miter/>
                        </a:ln>
                      </p:spPr>
                    </p:pic>
                  </p:oleObj>
                </mc:Fallback>
              </mc:AlternateContent>
            </a:graphicData>
          </a:graphic>
        </p:graphicFrame>
        <p:graphicFrame>
          <p:nvGraphicFramePr>
            <p:cNvPr id="8" name="对象 3">
              <a:hlinkClick r:id="" action="ppaction://ole?verb=0"/>
            </p:cNvPr>
            <p:cNvGraphicFramePr>
              <a:graphicFrameLocks noChangeAspect="1"/>
            </p:cNvGraphicFramePr>
            <p:nvPr/>
          </p:nvGraphicFramePr>
          <p:xfrm>
            <a:off x="14567" y="8008"/>
            <a:ext cx="2971" cy="736"/>
          </p:xfrm>
          <a:graphic>
            <a:graphicData uri="http://schemas.openxmlformats.org/presentationml/2006/ole">
              <mc:AlternateContent xmlns:mc="http://schemas.openxmlformats.org/markup-compatibility/2006">
                <mc:Choice xmlns:v="urn:schemas-microsoft-com:vml" Requires="v">
                  <p:oleObj spid="_x0000_s5130" name="" r:id="rId10" imgW="609600" imgH="241300" progId="Equation.KSEE3">
                    <p:embed/>
                  </p:oleObj>
                </mc:Choice>
                <mc:Fallback>
                  <p:oleObj name="" r:id="rId10" imgW="609600" imgH="241300" progId="Equation.KSEE3">
                    <p:embed/>
                    <p:pic>
                      <p:nvPicPr>
                        <p:cNvPr id="0" name="图片 3082"/>
                        <p:cNvPicPr/>
                        <p:nvPr/>
                      </p:nvPicPr>
                      <p:blipFill>
                        <a:blip r:embed="rId7"/>
                        <a:stretch>
                          <a:fillRect/>
                        </a:stretch>
                      </p:blipFill>
                      <p:spPr>
                        <a:xfrm>
                          <a:off x="14567" y="8008"/>
                          <a:ext cx="2971" cy="736"/>
                        </a:xfrm>
                        <a:prstGeom prst="rect">
                          <a:avLst/>
                        </a:prstGeom>
                        <a:noFill/>
                        <a:ln w="38100">
                          <a:noFill/>
                          <a:miter/>
                        </a:ln>
                      </p:spPr>
                    </p:pic>
                  </p:oleObj>
                </mc:Fallback>
              </mc:AlternateContent>
            </a:graphicData>
          </a:graphic>
        </p:graphicFrame>
      </p:gr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28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0722" name="Rectangle 3"/>
          <p:cNvSpPr>
            <a:spLocks noGrp="1"/>
          </p:cNvSpPr>
          <p:nvPr/>
        </p:nvSpPr>
        <p:spPr>
          <a:xfrm>
            <a:off x="839470" y="764540"/>
            <a:ext cx="10638155" cy="106997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None/>
            </a:pPr>
            <a:endParaRPr lang="zh-CN" altLang="en-US" sz="2400" dirty="0">
              <a:latin typeface="黑体" panose="02010609060101010101" pitchFamily="49" charset="-122"/>
            </a:endParaRPr>
          </a:p>
          <a:p>
            <a:pPr>
              <a:lnSpc>
                <a:spcPct val="90000"/>
              </a:lnSpc>
              <a:buFont typeface="Wingdings" panose="05000000000000000000" charset="0"/>
              <a:buChar char="u"/>
            </a:pPr>
            <a:r>
              <a:rPr lang="zh-CN" sz="2400" dirty="0">
                <a:latin typeface="微软雅黑" panose="020B0503020204020204" pitchFamily="34" charset="-122"/>
                <a:ea typeface="微软雅黑" panose="020B0503020204020204" pitchFamily="34" charset="-122"/>
                <a:cs typeface="微软雅黑" panose="020B0503020204020204" pitchFamily="34" charset="-122"/>
              </a:rPr>
              <a:t>纳什均衡</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与上策均衡、</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剔除下策均衡</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的关系</a:t>
            </a:r>
            <a:endParaRPr lang="zh-CN" altLang="en-US" sz="2400" b="0" dirty="0">
              <a:latin typeface="黑体" panose="02010609060101010101" pitchFamily="49" charset="-122"/>
            </a:endParaRPr>
          </a:p>
          <a:p>
            <a:pPr>
              <a:lnSpc>
                <a:spcPct val="90000"/>
              </a:lnSpc>
              <a:buNone/>
            </a:pPr>
            <a:endParaRPr lang="zh-CN" altLang="en-US" sz="2400" dirty="0">
              <a:latin typeface="黑体" panose="02010609060101010101" pitchFamily="49" charset="-122"/>
            </a:endParaRPr>
          </a:p>
          <a:p>
            <a:pPr>
              <a:lnSpc>
                <a:spcPct val="90000"/>
              </a:lnSpc>
              <a:buNone/>
            </a:pPr>
            <a:endParaRPr lang="zh-CN" altLang="en-US" sz="2400" dirty="0">
              <a:ea typeface="楷体_GB2312" pitchFamily="1" charset="-122"/>
            </a:endParaRPr>
          </a:p>
        </p:txBody>
      </p:sp>
      <p:grpSp>
        <p:nvGrpSpPr>
          <p:cNvPr id="18" name="组合 17"/>
          <p:cNvGrpSpPr/>
          <p:nvPr/>
        </p:nvGrpSpPr>
        <p:grpSpPr>
          <a:xfrm>
            <a:off x="2999740" y="2132965"/>
            <a:ext cx="4923155" cy="3618865"/>
            <a:chOff x="4610" y="4379"/>
            <a:chExt cx="7526" cy="5508"/>
          </a:xfrm>
        </p:grpSpPr>
        <p:sp>
          <p:nvSpPr>
            <p:cNvPr id="12" name="椭圆 11"/>
            <p:cNvSpPr/>
            <p:nvPr/>
          </p:nvSpPr>
          <p:spPr>
            <a:xfrm>
              <a:off x="5517" y="5060"/>
              <a:ext cx="4221" cy="2207"/>
            </a:xfrm>
            <a:prstGeom prst="ellipse">
              <a:avLst/>
            </a:prstGeom>
            <a:solidFill>
              <a:schemeClr val="bg1"/>
            </a:solidFill>
            <a:ln>
              <a:solidFill>
                <a:srgbClr val="577C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971" y="5740"/>
              <a:ext cx="3381" cy="607"/>
            </a:xfrm>
            <a:prstGeom prst="rect">
              <a:avLst/>
            </a:prstGeom>
            <a:noFill/>
          </p:spPr>
          <p:txBody>
            <a:bodyPr wrap="square" rtlCol="0">
              <a:spAutoFit/>
            </a:bodyPr>
            <a:lstStyle/>
            <a:p>
              <a:pPr algn="ctr"/>
              <a:r>
                <a:rPr lang="zh-CN" altLang="en-US" sz="2000" b="1"/>
                <a:t>上策均衡</a:t>
              </a:r>
              <a:endParaRPr lang="zh-CN" altLang="en-US" sz="2000" b="1"/>
            </a:p>
          </p:txBody>
        </p:sp>
        <p:sp>
          <p:nvSpPr>
            <p:cNvPr id="14" name="椭圆 13"/>
            <p:cNvSpPr/>
            <p:nvPr/>
          </p:nvSpPr>
          <p:spPr>
            <a:xfrm>
              <a:off x="5064" y="4746"/>
              <a:ext cx="5396" cy="3761"/>
            </a:xfrm>
            <a:prstGeom prst="ellipse">
              <a:avLst/>
            </a:prstGeom>
            <a:noFill/>
            <a:ln>
              <a:solidFill>
                <a:srgbClr val="577CCE"/>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971" y="7441"/>
              <a:ext cx="3381" cy="607"/>
            </a:xfrm>
            <a:prstGeom prst="rect">
              <a:avLst/>
            </a:prstGeom>
            <a:noFill/>
          </p:spPr>
          <p:txBody>
            <a:bodyPr wrap="square" rtlCol="0">
              <a:spAutoFit/>
            </a:bodyPr>
            <a:lstStyle/>
            <a:p>
              <a:pPr algn="ctr"/>
              <a:r>
                <a:rPr lang="zh-CN" altLang="en-US" sz="2000" b="1"/>
                <a:t>剔除下策均衡</a:t>
              </a:r>
              <a:endParaRPr lang="zh-CN" altLang="en-US" sz="2000" b="1"/>
            </a:p>
          </p:txBody>
        </p:sp>
        <p:sp>
          <p:nvSpPr>
            <p:cNvPr id="16" name="椭圆 15"/>
            <p:cNvSpPr/>
            <p:nvPr/>
          </p:nvSpPr>
          <p:spPr>
            <a:xfrm>
              <a:off x="4610" y="4379"/>
              <a:ext cx="7526" cy="5508"/>
            </a:xfrm>
            <a:prstGeom prst="ellipse">
              <a:avLst/>
            </a:prstGeom>
            <a:noFill/>
            <a:ln>
              <a:solidFill>
                <a:srgbClr val="577CCE"/>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6878" y="8688"/>
              <a:ext cx="3381" cy="607"/>
            </a:xfrm>
            <a:prstGeom prst="rect">
              <a:avLst/>
            </a:prstGeom>
            <a:noFill/>
          </p:spPr>
          <p:txBody>
            <a:bodyPr wrap="square" rtlCol="0">
              <a:spAutoFit/>
            </a:bodyPr>
            <a:lstStyle/>
            <a:p>
              <a:pPr algn="ctr"/>
              <a:r>
                <a:rPr lang="zh-CN" altLang="en-US" sz="2000" b="1"/>
                <a:t>纯策略纳什均衡</a:t>
              </a:r>
              <a:endParaRPr lang="zh-CN" altLang="en-US" sz="2000" b="1"/>
            </a:p>
          </p:txBody>
        </p:sp>
      </p:gr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endParaRPr lang="zh-CN" altLang="en-US" sz="28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0722" name="Rectangle 3"/>
          <p:cNvSpPr>
            <a:spLocks noGrp="1"/>
          </p:cNvSpPr>
          <p:nvPr/>
        </p:nvSpPr>
        <p:spPr>
          <a:xfrm>
            <a:off x="839470" y="1340485"/>
            <a:ext cx="9855835" cy="426720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None/>
            </a:pPr>
            <a:endParaRPr lang="zh-CN" altLang="en-US" sz="2400" dirty="0">
              <a:latin typeface="黑体" panose="02010609060101010101" pitchFamily="49" charset="-122"/>
            </a:endParaRPr>
          </a:p>
          <a:p>
            <a:pPr>
              <a:lnSpc>
                <a:spcPct val="130000"/>
              </a:lnSpc>
              <a:spcBef>
                <a:spcPts val="0"/>
              </a:spcBef>
              <a:buFont typeface="Wingdings" panose="05000000000000000000" charset="0"/>
              <a:buChar char="l"/>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sym typeface="+mn-ea"/>
              </a:rPr>
              <a:t>如果所有的博弈方都预测一个特定的博弈结果会出现，则所有的博弈方都不会选择与预测结果不一致的策略，即没有哪个博弈方有偏离这个预测结果的愿望，则该预测结果最终会成为博弈的结果。</a:t>
            </a: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30000"/>
              </a:lnSpc>
              <a:spcBef>
                <a:spcPts val="0"/>
              </a:spcBef>
              <a:buFont typeface="Wingdings" panose="05000000000000000000" charset="0"/>
              <a:buChar char="l"/>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sym typeface="+mn-ea"/>
              </a:rPr>
              <a:t>只有纳什均衡才具有一致预测的性质</a:t>
            </a: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927100" lvl="1" indent="-469900">
              <a:lnSpc>
                <a:spcPct val="130000"/>
              </a:lnSpc>
              <a:spcBef>
                <a:spcPts val="0"/>
              </a:spcBef>
              <a:buFont typeface="Arial" panose="020B0604020202020204" pitchFamily="34" charset="0"/>
              <a:buChar char="•"/>
            </a:pPr>
            <a:r>
              <a:rPr lang="zh-CN" altLang="en-US" sz="2200" b="0" dirty="0">
                <a:solidFill>
                  <a:schemeClr val="tx1"/>
                </a:solidFill>
                <a:latin typeface="微软雅黑" panose="020B0503020204020204" pitchFamily="34" charset="-122"/>
                <a:ea typeface="微软雅黑" panose="020B0503020204020204" pitchFamily="34" charset="-122"/>
              </a:rPr>
              <a:t>一致预测是纳什均衡的本质属性</a:t>
            </a:r>
            <a:endParaRPr lang="zh-CN" altLang="en-US" sz="2200" b="0" dirty="0">
              <a:solidFill>
                <a:schemeClr val="tx1"/>
              </a:solidFill>
              <a:latin typeface="微软雅黑" panose="020B0503020204020204" pitchFamily="34" charset="-122"/>
              <a:ea typeface="微软雅黑" panose="020B0503020204020204" pitchFamily="34" charset="-122"/>
            </a:endParaRPr>
          </a:p>
          <a:p>
            <a:pPr marL="927100" lvl="1" indent="-469900">
              <a:lnSpc>
                <a:spcPct val="130000"/>
              </a:lnSpc>
              <a:spcBef>
                <a:spcPts val="0"/>
              </a:spcBef>
              <a:buFont typeface="Arial" panose="020B0604020202020204" pitchFamily="34" charset="0"/>
              <a:buChar char="•"/>
            </a:pPr>
            <a:r>
              <a:rPr lang="zh-CN" altLang="en-US" sz="2200" b="0" dirty="0">
                <a:solidFill>
                  <a:schemeClr val="tx1"/>
                </a:solidFill>
                <a:latin typeface="微软雅黑" panose="020B0503020204020204" pitchFamily="34" charset="-122"/>
                <a:ea typeface="微软雅黑" panose="020B0503020204020204" pitchFamily="34" charset="-122"/>
              </a:rPr>
              <a:t>一致预测并不意味着一定能准确预测，因为有多重均衡，预测不一致的可能。</a:t>
            </a:r>
            <a:endParaRPr lang="zh-CN" altLang="en-US" sz="2200" b="0" dirty="0">
              <a:solidFill>
                <a:schemeClr val="tx1"/>
              </a:solidFill>
              <a:latin typeface="微软雅黑" panose="020B0503020204020204" pitchFamily="34" charset="-122"/>
              <a:ea typeface="微软雅黑" panose="020B0503020204020204" pitchFamily="34" charset="-122"/>
            </a:endParaRPr>
          </a:p>
          <a:p>
            <a:pPr>
              <a:lnSpc>
                <a:spcPct val="90000"/>
              </a:lnSpc>
              <a:buNone/>
            </a:pPr>
            <a:endParaRPr lang="zh-CN" altLang="en-US" sz="2200" b="0" dirty="0">
              <a:solidFill>
                <a:schemeClr val="tx1"/>
              </a:solidFill>
              <a:latin typeface="微软雅黑" panose="020B0503020204020204" pitchFamily="34" charset="-122"/>
              <a:ea typeface="微软雅黑" panose="020B0503020204020204" pitchFamily="34" charset="-122"/>
            </a:endParaRPr>
          </a:p>
        </p:txBody>
      </p:sp>
      <p:sp>
        <p:nvSpPr>
          <p:cNvPr id="3" name="Rectangle 3"/>
          <p:cNvSpPr>
            <a:spLocks noGrp="1"/>
          </p:cNvSpPr>
          <p:nvPr/>
        </p:nvSpPr>
        <p:spPr>
          <a:xfrm>
            <a:off x="777240" y="764540"/>
            <a:ext cx="10638155" cy="61912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None/>
            </a:pPr>
            <a:endParaRPr lang="zh-CN" altLang="en-US" sz="2400" dirty="0">
              <a:latin typeface="黑体" panose="02010609060101010101" pitchFamily="49" charset="-122"/>
            </a:endParaRPr>
          </a:p>
          <a:p>
            <a:pPr>
              <a:lnSpc>
                <a:spcPct val="90000"/>
              </a:lnSpc>
              <a:buFont typeface="Wingdings" panose="05000000000000000000" charset="0"/>
              <a:buChar char="u"/>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一致预测性质（了解）</a:t>
            </a:r>
            <a:endParaRPr lang="zh-CN" altLang="en-US" sz="2400" dirty="0">
              <a:latin typeface="黑体" panose="02010609060101010101" pitchFamily="49" charset="-122"/>
            </a:endParaRPr>
          </a:p>
          <a:p>
            <a:pPr>
              <a:lnSpc>
                <a:spcPct val="90000"/>
              </a:lnSpc>
              <a:buNone/>
            </a:pPr>
            <a:endParaRPr lang="zh-CN" altLang="en-US" sz="2400" dirty="0">
              <a:ea typeface="楷体_GB2312" pitchFamily="1" charset="-122"/>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custDataLst>
              <p:tags r:id="rId2"/>
            </p:custDataLst>
          </p:nvPr>
        </p:nvSpPr>
        <p:spPr>
          <a:xfrm>
            <a:off x="1004718" y="1066831"/>
            <a:ext cx="10188914" cy="5486339"/>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256"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r>
              <a:rPr lang="zh-CN" altLang="en-US" sz="2800" dirty="0">
                <a:solidFill>
                  <a:schemeClr val="accent1"/>
                </a:solidFill>
                <a:sym typeface="+mn-ea"/>
              </a:rPr>
              <a:t>囚徒困境</a:t>
            </a:r>
            <a:endParaRPr lang="zh-CN" altLang="en-US" sz="2800" dirty="0">
              <a:solidFill>
                <a:schemeClr val="accent1"/>
              </a:solidFill>
              <a:sym typeface="+mn-ea"/>
            </a:endParaRPr>
          </a:p>
        </p:txBody>
      </p:sp>
      <p:sp>
        <p:nvSpPr>
          <p:cNvPr id="15362" name="Rectangle 3"/>
          <p:cNvSpPr>
            <a:spLocks noGrp="1"/>
          </p:cNvSpPr>
          <p:nvPr/>
        </p:nvSpPr>
        <p:spPr>
          <a:xfrm>
            <a:off x="839470" y="1066800"/>
            <a:ext cx="9989185" cy="426720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spcBef>
                <a:spcPts val="0"/>
              </a:spcBef>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sym typeface="+mn-ea"/>
              </a:rPr>
              <a:t>双方都不能通过单方面改变行动增加自己的收益，谁也没有动力偏离的策略组合，被称为</a:t>
            </a:r>
            <a:r>
              <a:rPr lang="zh-CN" altLang="en-US" sz="2200" b="0" dirty="0">
                <a:solidFill>
                  <a:schemeClr val="tx1"/>
                </a:solidFill>
                <a:latin typeface="微软雅黑" panose="020B0503020204020204" pitchFamily="34" charset="-122"/>
                <a:ea typeface="微软雅黑" panose="020B0503020204020204" pitchFamily="34" charset="-122"/>
                <a:sym typeface="+mn-ea"/>
              </a:rPr>
              <a:t>纳什均衡</a:t>
            </a:r>
            <a:r>
              <a:rPr lang="zh-CN" altLang="en-US" sz="2200" b="0" dirty="0">
                <a:latin typeface="微软雅黑" panose="020B0503020204020204" pitchFamily="34" charset="-122"/>
                <a:ea typeface="微软雅黑" panose="020B0503020204020204" pitchFamily="34" charset="-122"/>
                <a:sym typeface="+mn-ea"/>
              </a:rPr>
              <a:t>。</a:t>
            </a:r>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30000"/>
              </a:lnSpc>
              <a:spcBef>
                <a:spcPts val="0"/>
              </a:spcBef>
              <a:buFont typeface="Wingdings" panose="05000000000000000000" pitchFamily="2" charset="2"/>
              <a:buChar char="u"/>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囚徒困境反映了个人理性和集体理性的矛盾</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个人理性与集体理性的冲突，各人追求利己行为而导致的最终结局是一个“纳什均衡”，也是对所有人都不利的结局。他们两人都是在坦白与抵赖策略上首先想到自己。只有当他们都首先替对方着想时，或者相互合谋</a:t>
            </a:r>
            <a:r>
              <a:rPr lang="en-US" altLang="zh-CN" sz="22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串供</a:t>
            </a:r>
            <a:r>
              <a:rPr lang="en-US" altLang="zh-CN" sz="22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时，才可以得到最短时间的监禁的结果。</a:t>
            </a:r>
            <a:endParaRPr lang="zh-CN" altLang="en-US" sz="2200" b="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30000"/>
              </a:lnSpc>
              <a:spcBef>
                <a:spcPts val="0"/>
              </a:spcBef>
              <a:buFont typeface="Wingdings" panose="05000000000000000000" pitchFamily="2" charset="2"/>
              <a:buChar char="u"/>
            </a:pP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“囚徒困境”的内在根源是在个体之间存在行为和利益相互制约的博弈结构中，以个体理性和个体选择为基础的分散决策方式，无法有效地协调各方面的利益，并实现整体、个体利益共同的最优。</a:t>
            </a:r>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custDataLst>
              <p:tags r:id="rId2"/>
            </p:custDataLst>
          </p:nvPr>
        </p:nvSpPr>
        <p:spPr>
          <a:xfrm>
            <a:off x="1004718" y="1066831"/>
            <a:ext cx="10188914" cy="5486339"/>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6386" name="Rectangle 3"/>
          <p:cNvSpPr>
            <a:spLocks noGrp="1"/>
          </p:cNvSpPr>
          <p:nvPr/>
        </p:nvSpPr>
        <p:spPr>
          <a:xfrm>
            <a:off x="982980" y="836930"/>
            <a:ext cx="9688195" cy="515937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宋体" panose="02010600030101010101" pitchFamily="2" charset="-122"/>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宋体" panose="02010600030101010101" pitchFamily="2" charset="-122"/>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宋体" panose="02010600030101010101" pitchFamily="2" charset="-122"/>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对经典经济学的冲击</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Font typeface="Wingdings" panose="05000000000000000000" charset="0"/>
              <a:buChar char="u"/>
            </a:pP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“纳什均衡”首先对亚当</a:t>
            </a:r>
            <a:r>
              <a:rPr lang="en-US" altLang="zh-CN" sz="22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斯密的“看不见的手”的原理提出挑战。按照斯密的理论，在市场经济中，每一个人都从利己的目的出发，而最终全社会达到利他的效果。</a:t>
            </a:r>
            <a:endParaRPr lang="zh-CN" altLang="en-US" sz="2200" b="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Font typeface="Wingdings" panose="05000000000000000000" charset="0"/>
              <a:buChar char="u"/>
            </a:pP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从“纳什均衡”引出了“看不见的手”的原理的一个悖论：从利己目的出发，结果损人不利己，既不利己也不利他。两个囚徒的命运就是如此。</a:t>
            </a:r>
            <a:endParaRPr lang="zh-CN" altLang="en-US" sz="2200" b="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Font typeface="Wingdings" panose="05000000000000000000" charset="0"/>
              <a:buChar char="u"/>
            </a:pPr>
            <a:r>
              <a:rPr lang="zh-CN" altLang="en-US" sz="2200" b="0" dirty="0">
                <a:latin typeface="微软雅黑" panose="020B0503020204020204" pitchFamily="34" charset="-122"/>
                <a:ea typeface="微软雅黑" panose="020B0503020204020204" pitchFamily="34" charset="-122"/>
                <a:cs typeface="微软雅黑" panose="020B0503020204020204" pitchFamily="34" charset="-122"/>
              </a:rPr>
              <a:t>从这个意义上说，“纳什均衡”提出的悖论实际上动摇了西方经济学的基石。</a:t>
            </a:r>
            <a:endParaRPr lang="zh-CN" altLang="en-US" sz="2200" b="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buFont typeface="Wingdings" panose="05000000000000000000" charset="0"/>
              <a:buChar char="u"/>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现实中的“囚徒困境”类型问题大量存在。</a:t>
            </a:r>
            <a:endParaRPr lang="en-US" altLang="zh-CN" sz="22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50000"/>
              </a:lnSpc>
              <a:buFont typeface="Wingdings" panose="05000000000000000000" pitchFamily="2" charset="2"/>
              <a:buChar char="u"/>
            </a:pPr>
            <a:endParaRPr lang="zh-CN" altLang="en-US" sz="2000" b="0" dirty="0">
              <a:latin typeface="楷体_GB2312" pitchFamily="1" charset="-122"/>
              <a:ea typeface="宋体" panose="02010600030101010101" pitchFamily="2" charset="-122"/>
            </a:endParaRPr>
          </a:p>
          <a:p>
            <a:pPr marL="0" indent="0">
              <a:lnSpc>
                <a:spcPct val="120000"/>
              </a:lnSpc>
              <a:buNone/>
            </a:pPr>
            <a:endParaRPr lang="en-US" altLang="zh-CN" sz="2000" b="0" dirty="0">
              <a:latin typeface="楷体_GB2312" pitchFamily="1" charset="-122"/>
              <a:ea typeface="楷体_GB2312" pitchFamily="1" charset="-122"/>
            </a:endParaRPr>
          </a:p>
        </p:txBody>
      </p:sp>
      <p:sp>
        <p:nvSpPr>
          <p:cNvPr id="7"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a:t>
            </a:r>
            <a:r>
              <a:rPr lang="zh-CN" altLang="en-US" sz="2800" dirty="0">
                <a:solidFill>
                  <a:schemeClr val="accent1"/>
                </a:solidFill>
                <a:sym typeface="+mn-ea"/>
              </a:rPr>
              <a:t>囚徒困境</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纳什均衡的求解：</a:t>
            </a:r>
            <a:r>
              <a:rPr lang="zh-CN" altLang="en-US" sz="2800" dirty="0">
                <a:solidFill>
                  <a:schemeClr val="accent1"/>
                </a:solidFill>
                <a:sym typeface="+mn-ea"/>
              </a:rPr>
              <a:t>划线法</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6083" name="文本占位符 46082" descr="7b0a202020202262756c6c6574223a20227b5c2263617465676f727949645c223a31303032352c5c2274656d706c61746549645c223a32303233313133367d220a7d0a"/>
          <p:cNvSpPr>
            <a:spLocks noGrp="1"/>
          </p:cNvSpPr>
          <p:nvPr/>
        </p:nvSpPr>
        <p:spPr>
          <a:xfrm>
            <a:off x="767080" y="1052830"/>
            <a:ext cx="10615930" cy="259270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nSpc>
                <a:spcPct val="90000"/>
              </a:lnSpc>
              <a:buFont typeface="Wingdings" panose="05000000000000000000" pitchFamily="2" charset="2"/>
              <a:buNone/>
            </a:pPr>
            <a:r>
              <a:rPr lang="zh-CN" altLang="en-US" sz="2200" b="1" dirty="0">
                <a:latin typeface="Times New Roman" panose="02020603050405020304" pitchFamily="18" charset="0"/>
              </a:rPr>
              <a:t>基本思路</a:t>
            </a:r>
            <a:endParaRPr lang="zh-CN" altLang="en-US" sz="2200" b="1" dirty="0">
              <a:latin typeface="Times New Roman" panose="02020603050405020304" pitchFamily="18" charset="0"/>
            </a:endParaRPr>
          </a:p>
          <a:p>
            <a:pPr algn="just">
              <a:lnSpc>
                <a:spcPct val="130000"/>
              </a:lnSpc>
              <a:spcBef>
                <a:spcPts val="0"/>
              </a:spcBef>
              <a:buFont typeface="Wingdings" panose="05000000000000000000" charset="0"/>
              <a:buChar char="u"/>
            </a:pPr>
            <a:r>
              <a:rPr lang="zh-CN" altLang="en-US" sz="2000" dirty="0">
                <a:latin typeface="Times New Roman" panose="02020603050405020304" pitchFamily="18" charset="0"/>
                <a:sym typeface="+mn-ea"/>
              </a:rPr>
              <a:t>最佳对策：给定对方的策略选择，自己的最优策略。</a:t>
            </a:r>
            <a:endParaRPr lang="zh-CN" altLang="en-US" sz="2000" dirty="0">
              <a:latin typeface="Times New Roman" panose="02020603050405020304" pitchFamily="18" charset="0"/>
            </a:endParaRPr>
          </a:p>
          <a:p>
            <a:pPr algn="just">
              <a:lnSpc>
                <a:spcPct val="130000"/>
              </a:lnSpc>
              <a:spcBef>
                <a:spcPts val="0"/>
              </a:spcBef>
              <a:buFont typeface="Wingdings" panose="05000000000000000000" charset="0"/>
              <a:buChar char="u"/>
            </a:pPr>
            <a:r>
              <a:rPr lang="zh-CN" altLang="en-US" sz="2000" dirty="0">
                <a:latin typeface="Times New Roman" panose="02020603050405020304" pitchFamily="18" charset="0"/>
                <a:sym typeface="+mn-ea"/>
              </a:rPr>
              <a:t>划线法：在</a:t>
            </a:r>
            <a:r>
              <a:rPr lang="zh-CN" altLang="en-US" sz="2000" b="1" dirty="0">
                <a:latin typeface="Times New Roman" panose="02020603050405020304" pitchFamily="18" charset="0"/>
                <a:sym typeface="+mn-ea"/>
              </a:rPr>
              <a:t>最佳对策得益</a:t>
            </a:r>
            <a:r>
              <a:rPr lang="zh-CN" altLang="en-US" sz="2000" dirty="0">
                <a:latin typeface="Times New Roman" panose="02020603050405020304" pitchFamily="18" charset="0"/>
                <a:sym typeface="+mn-ea"/>
              </a:rPr>
              <a:t>下划线分析博弈的方法</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algn="just">
              <a:lnSpc>
                <a:spcPct val="130000"/>
              </a:lnSpc>
              <a:spcBef>
                <a:spcPts val="0"/>
              </a:spcBef>
              <a:buFont typeface="Wingdings" panose="05000000000000000000" charset="0"/>
              <a:buChar char="u"/>
            </a:pPr>
            <a:r>
              <a:rPr lang="zh-CN" altLang="en-US" sz="2000" dirty="0">
                <a:latin typeface="Times New Roman" panose="02020603050405020304" pitchFamily="18" charset="0"/>
                <a:sym typeface="+mn-ea"/>
              </a:rPr>
              <a:t>纳什均衡：如果某策略组合都画上了线，那就是纳什均衡。此时，各方的行为选择都是给定对方策略下的最佳对策，每一方都不能通过单方面的改变行为选择来提高自己的收益。</a:t>
            </a:r>
            <a:endParaRPr lang="zh-CN" altLang="en-US" sz="2000" dirty="0">
              <a:latin typeface="Times New Roman" panose="02020603050405020304" pitchFamily="18" charset="0"/>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纳什均衡的求解：</a:t>
            </a:r>
            <a:r>
              <a:rPr lang="zh-CN" altLang="en-US" sz="2800" dirty="0">
                <a:solidFill>
                  <a:schemeClr val="accent1"/>
                </a:solidFill>
                <a:sym typeface="+mn-ea"/>
              </a:rPr>
              <a:t>划线法</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3"/>
            </p:custDataLst>
          </p:nvPr>
        </p:nvSpPr>
        <p:spPr>
          <a:xfrm>
            <a:off x="1199603" y="4220990"/>
            <a:ext cx="3350038" cy="957684"/>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夫妻之争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4"/>
            </p:custDataLst>
          </p:nvPr>
        </p:nvGraphicFramePr>
        <p:xfrm>
          <a:off x="4549775" y="3860800"/>
          <a:ext cx="5448935" cy="2682875"/>
        </p:xfrm>
        <a:graphic>
          <a:graphicData uri="http://schemas.openxmlformats.org/drawingml/2006/table">
            <a:tbl>
              <a:tblPr firstRow="1" bandRow="1">
                <a:tableStyleId>{2D5ABB26-0587-4C30-8999-92F81FD0307C}</a:tableStyleId>
              </a:tblPr>
              <a:tblGrid>
                <a:gridCol w="1220470"/>
                <a:gridCol w="1392555"/>
                <a:gridCol w="1452880"/>
                <a:gridCol w="1383030"/>
              </a:tblGrid>
              <a:tr h="7486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丈夫</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929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妻子</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aphicFrame>
        <p:nvGraphicFramePr>
          <p:cNvPr id="2" name="表格 1"/>
          <p:cNvGraphicFramePr>
            <a:graphicFrameLocks noGrp="1"/>
          </p:cNvGraphicFramePr>
          <p:nvPr>
            <p:custDataLst>
              <p:tags r:id="rId5"/>
            </p:custDataLst>
          </p:nvPr>
        </p:nvGraphicFramePr>
        <p:xfrm>
          <a:off x="4583430" y="836930"/>
          <a:ext cx="5462270" cy="2879090"/>
        </p:xfrm>
        <a:graphic>
          <a:graphicData uri="http://schemas.openxmlformats.org/drawingml/2006/table">
            <a:tbl>
              <a:tblPr firstRow="1" bandRow="1">
                <a:tableStyleId>{2D5ABB26-0587-4C30-8999-92F81FD0307C}</a:tableStyleId>
              </a:tblPr>
              <a:tblGrid>
                <a:gridCol w="1224280"/>
                <a:gridCol w="1395095"/>
                <a:gridCol w="1456690"/>
                <a:gridCol w="1386205"/>
              </a:tblGrid>
              <a:tr h="98171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2</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3246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1</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3" name="Title 6"/>
          <p:cNvSpPr txBox="1"/>
          <p:nvPr>
            <p:custDataLst>
              <p:tags r:id="rId6"/>
            </p:custDataLst>
          </p:nvPr>
        </p:nvSpPr>
        <p:spPr>
          <a:xfrm>
            <a:off x="1199603" y="924070"/>
            <a:ext cx="3350038" cy="957684"/>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8" name="组合 7"/>
          <p:cNvGrpSpPr/>
          <p:nvPr/>
        </p:nvGrpSpPr>
        <p:grpSpPr>
          <a:xfrm>
            <a:off x="1562735" y="5260975"/>
            <a:ext cx="2711450" cy="1540510"/>
            <a:chOff x="2461" y="8285"/>
            <a:chExt cx="4270" cy="2426"/>
          </a:xfrm>
        </p:grpSpPr>
        <p:sp>
          <p:nvSpPr>
            <p:cNvPr id="5" name="爆炸形 1 4"/>
            <p:cNvSpPr/>
            <p:nvPr/>
          </p:nvSpPr>
          <p:spPr>
            <a:xfrm>
              <a:off x="2461" y="8285"/>
              <a:ext cx="4270" cy="2426"/>
            </a:xfrm>
            <a:prstGeom prst="irregularSeal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184" y="9232"/>
              <a:ext cx="3153" cy="580"/>
            </a:xfrm>
            <a:prstGeom prst="rect">
              <a:avLst/>
            </a:prstGeom>
            <a:noFill/>
          </p:spPr>
          <p:txBody>
            <a:bodyPr wrap="square" rtlCol="0">
              <a:spAutoFit/>
            </a:bodyPr>
            <a:lstStyle/>
            <a:p>
              <a:r>
                <a:rPr lang="zh-CN" altLang="en-US"/>
                <a:t>纳什均衡不唯一</a:t>
              </a:r>
              <a:endParaRPr lang="zh-CN" altLang="en-US"/>
            </a:p>
          </p:txBody>
        </p: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纳什均衡的求解：</a:t>
            </a:r>
            <a:r>
              <a:rPr lang="zh-CN" altLang="en-US" sz="2800" dirty="0">
                <a:solidFill>
                  <a:schemeClr val="accent1"/>
                </a:solidFill>
                <a:sym typeface="+mn-ea"/>
              </a:rPr>
              <a:t>划线法</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3"/>
            </p:custDataLst>
          </p:nvPr>
        </p:nvSpPr>
        <p:spPr>
          <a:xfrm>
            <a:off x="1271358" y="1340630"/>
            <a:ext cx="3350038" cy="957684"/>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猜硬币博弈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7" name="表格 6"/>
          <p:cNvGraphicFramePr>
            <a:graphicFrameLocks noGrp="1"/>
          </p:cNvGraphicFramePr>
          <p:nvPr>
            <p:custDataLst>
              <p:tags r:id="rId5"/>
            </p:custDataLst>
          </p:nvPr>
        </p:nvGraphicFramePr>
        <p:xfrm>
          <a:off x="4367530" y="1628775"/>
          <a:ext cx="5021580" cy="3126105"/>
        </p:xfrm>
        <a:graphic>
          <a:graphicData uri="http://schemas.openxmlformats.org/drawingml/2006/table">
            <a:tbl>
              <a:tblPr firstRow="1" bandRow="1">
                <a:tableStyleId>{2D5ABB26-0587-4C30-8999-92F81FD0307C}</a:tableStyleId>
              </a:tblPr>
              <a:tblGrid>
                <a:gridCol w="991870"/>
                <a:gridCol w="1296035"/>
                <a:gridCol w="1366520"/>
                <a:gridCol w="1367155"/>
              </a:tblGrid>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a:noFill/>
                    </a:lnT>
                    <a:lnB w="3175" cap="rnd">
                      <a:solidFill>
                        <a:srgbClr val="FFFFFF"/>
                      </a:solidFill>
                      <a:prstDash val="dot"/>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a:noFill/>
                    </a:lnT>
                    <a:lnB w="3175" cap="rnd">
                      <a:solidFill>
                        <a:srgbClr val="FFFFFF"/>
                      </a:solidFill>
                      <a:prstDash val="dot"/>
                    </a:lnB>
                    <a:noFill/>
                  </a:tcPr>
                </a:tc>
                <a:tc gridSpan="2">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猜方</a:t>
                      </a:r>
                      <a:endParaRPr lang="zh-CN" altLang="en-US" sz="1800" b="1" spc="13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anchor="ctr">
                    <a:lnL w="3175">
                      <a:solidFill>
                        <a:srgbClr val="FFFFFF"/>
                      </a:solidFill>
                      <a:prstDash val="dot"/>
                    </a:lnL>
                    <a:lnR>
                      <a:noFill/>
                    </a:lnR>
                    <a:lnT>
                      <a:noFill/>
                    </a:lnT>
                    <a:lnB w="3175" cap="rnd">
                      <a:solidFill>
                        <a:srgbClr val="FFFFFF"/>
                      </a:solidFill>
                      <a:prstDash val="dot"/>
                    </a:lnB>
                    <a:noFill/>
                  </a:tcPr>
                </a:tc>
                <a:tc hMerge="1">
                  <a:tcPr>
                    <a:lnR>
                      <a:noFill/>
                    </a:lnR>
                    <a:lnT>
                      <a:noFill/>
                    </a:lnT>
                    <a:lnB w="3175" cap="rnd">
                      <a:solidFill>
                        <a:srgbClr val="FFFFFF"/>
                      </a:solidFill>
                      <a:prstDash val="dot"/>
                    </a:lnB>
                  </a:tcPr>
                </a:tc>
              </a:tr>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a:noFill/>
                    </a:lnR>
                    <a:lnT w="3175">
                      <a:solidFill>
                        <a:srgbClr val="FFFFFF"/>
                      </a:solidFill>
                      <a:prstDash val="dot"/>
                    </a:lnT>
                    <a:lnB>
                      <a:noFill/>
                    </a:lnB>
                    <a:noFill/>
                  </a:tcPr>
                </a:tc>
              </a:tr>
              <a:tr h="753745">
                <a:tc rowSpan="2">
                  <a:txBody>
                    <a:bodyPr/>
                    <a:lstStyle/>
                    <a:p>
                      <a:pPr indent="0" algn="l">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盖方</a:t>
                      </a:r>
                      <a:endParaRPr lang="zh-CN" altLang="en-US" sz="1600" b="0" spc="12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vert="eaVert"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r h="754380">
                <a:tc vMerge="1">
                  <a:tcPr>
                    <a:lnL>
                      <a:noFill/>
                    </a:lnL>
                    <a:lnR>
                      <a:noFill/>
                    </a:lnR>
                    <a:lnB>
                      <a:noFill/>
                    </a:lnB>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bl>
          </a:graphicData>
        </a:graphic>
      </p:graphicFrame>
      <p:graphicFrame>
        <p:nvGraphicFramePr>
          <p:cNvPr id="8" name="表格 7"/>
          <p:cNvGraphicFramePr>
            <a:graphicFrameLocks noGrp="1"/>
          </p:cNvGraphicFramePr>
          <p:nvPr>
            <p:custDataLst>
              <p:tags r:id="rId6"/>
            </p:custDataLst>
          </p:nvPr>
        </p:nvGraphicFramePr>
        <p:xfrm>
          <a:off x="6466840" y="3357245"/>
          <a:ext cx="2857500" cy="1191260"/>
        </p:xfrm>
        <a:graphic>
          <a:graphicData uri="http://schemas.openxmlformats.org/drawingml/2006/table">
            <a:tbl>
              <a:tblPr firstRow="1" bandRow="1">
                <a:tableStyleId>{2D5ABB26-0587-4C30-8999-92F81FD0307C}</a:tableStyleId>
              </a:tblPr>
              <a:tblGrid>
                <a:gridCol w="1463675"/>
                <a:gridCol w="1393825"/>
              </a:tblGrid>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595630">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pSp>
        <p:nvGrpSpPr>
          <p:cNvPr id="14" name="组合 13"/>
          <p:cNvGrpSpPr/>
          <p:nvPr/>
        </p:nvGrpSpPr>
        <p:grpSpPr>
          <a:xfrm>
            <a:off x="839470" y="3450590"/>
            <a:ext cx="2711450" cy="1540510"/>
            <a:chOff x="2461" y="8285"/>
            <a:chExt cx="4270" cy="2426"/>
          </a:xfrm>
        </p:grpSpPr>
        <p:sp>
          <p:nvSpPr>
            <p:cNvPr id="16" name="爆炸形 1 15"/>
            <p:cNvSpPr/>
            <p:nvPr/>
          </p:nvSpPr>
          <p:spPr>
            <a:xfrm>
              <a:off x="2461" y="8285"/>
              <a:ext cx="4270" cy="2426"/>
            </a:xfrm>
            <a:prstGeom prst="irregularSeal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3184" y="9232"/>
              <a:ext cx="3153" cy="580"/>
            </a:xfrm>
            <a:prstGeom prst="rect">
              <a:avLst/>
            </a:prstGeom>
            <a:noFill/>
          </p:spPr>
          <p:txBody>
            <a:bodyPr wrap="square" rtlCol="0">
              <a:spAutoFit/>
            </a:bodyPr>
            <a:lstStyle/>
            <a:p>
              <a:r>
                <a:rPr lang="zh-CN" altLang="en-US"/>
                <a:t>不存在纳什均衡</a:t>
              </a:r>
              <a:endParaRPr lang="zh-CN" altLang="en-US"/>
            </a:p>
          </p:txBody>
        </p:sp>
      </p:gr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纳什均衡的求解：</a:t>
            </a:r>
            <a:r>
              <a:rPr lang="zh-CN" altLang="en-US" sz="2800" dirty="0">
                <a:solidFill>
                  <a:schemeClr val="accent1"/>
                </a:solidFill>
                <a:sym typeface="+mn-ea"/>
              </a:rPr>
              <a:t>箭头法</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6083" name="文本占位符 46082" descr="7b0a202020202262756c6c6574223a20227b5c2263617465676f727949645c223a31303032352c5c2274656d706c61746549645c223a32303233313133367d220a7d0a"/>
          <p:cNvSpPr>
            <a:spLocks noGrp="1"/>
          </p:cNvSpPr>
          <p:nvPr/>
        </p:nvSpPr>
        <p:spPr>
          <a:xfrm>
            <a:off x="767080" y="1052830"/>
            <a:ext cx="10615930" cy="233616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gn="l">
              <a:lnSpc>
                <a:spcPct val="90000"/>
              </a:lnSpc>
              <a:spcBef>
                <a:spcPct val="20000"/>
              </a:spcBef>
              <a:buNone/>
            </a:pPr>
            <a:r>
              <a:rPr lang="zh-CN" altLang="en-US" sz="2200" b="1" dirty="0">
                <a:latin typeface="Times New Roman" panose="02020603050405020304" pitchFamily="18" charset="0"/>
                <a:sym typeface="+mn-ea"/>
              </a:rPr>
              <a:t>基本思路</a:t>
            </a:r>
            <a:endParaRPr lang="zh-CN" altLang="en-US" sz="2200" b="1" dirty="0">
              <a:latin typeface="Times New Roman" panose="02020603050405020304" pitchFamily="18" charset="0"/>
              <a:sym typeface="+mn-ea"/>
            </a:endParaRPr>
          </a:p>
          <a:p>
            <a:pPr algn="just">
              <a:lnSpc>
                <a:spcPct val="130000"/>
              </a:lnSpc>
              <a:spcBef>
                <a:spcPts val="0"/>
              </a:spcBef>
              <a:buFont typeface="Wingdings" panose="05000000000000000000" charset="0"/>
              <a:buChar char="u"/>
            </a:pPr>
            <a:r>
              <a:rPr lang="zh-CN" altLang="en-US" sz="2000" dirty="0">
                <a:latin typeface="Times New Roman" panose="02020603050405020304" pitchFamily="18" charset="0"/>
                <a:sym typeface="+mn-ea"/>
              </a:rPr>
              <a:t>对博弈中的每个策略组合进行分析，考察在每个策略组合处各个博弈方能否通过单独改变自己的策略而增加得益。如能，则从所分析的策略组合对应的得益数组引一箭头，指到改变策略后策略组合对应的得益数组。若存在一策略组合，其得益数组</a:t>
            </a:r>
            <a:r>
              <a:rPr lang="zh-CN" altLang="en-US" sz="2000" dirty="0">
                <a:solidFill>
                  <a:srgbClr val="FF0000"/>
                </a:solidFill>
                <a:latin typeface="Times New Roman" panose="02020603050405020304" pitchFamily="18" charset="0"/>
                <a:sym typeface="+mn-ea"/>
              </a:rPr>
              <a:t>只有进来的箭头而没有出去的箭头</a:t>
            </a:r>
            <a:r>
              <a:rPr lang="zh-CN" altLang="en-US" sz="2000" dirty="0">
                <a:latin typeface="Times New Roman" panose="02020603050405020304" pitchFamily="18" charset="0"/>
                <a:sym typeface="+mn-ea"/>
              </a:rPr>
              <a:t>，则该策略组合就是纳什均衡。</a:t>
            </a:r>
            <a:endParaRPr lang="zh-CN" altLang="en-US" sz="2000" dirty="0">
              <a:latin typeface="Times New Roman" panose="02020603050405020304" pitchFamily="18" charset="0"/>
              <a:sym typeface="+mn-ea"/>
            </a:endParaRPr>
          </a:p>
          <a:p>
            <a:pPr algn="just">
              <a:lnSpc>
                <a:spcPct val="130000"/>
              </a:lnSpc>
              <a:spcBef>
                <a:spcPts val="0"/>
              </a:spcBef>
              <a:buFont typeface="Wingdings" panose="05000000000000000000" charset="0"/>
              <a:buChar char="u"/>
            </a:pPr>
            <a:endParaRPr lang="zh-CN" altLang="en-US" sz="2000" dirty="0">
              <a:latin typeface="Times New Roman" panose="02020603050405020304" pitchFamily="18" charset="0"/>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纳什均衡的求解：</a:t>
            </a:r>
            <a:r>
              <a:rPr lang="zh-CN" altLang="en-US" sz="2800" dirty="0">
                <a:solidFill>
                  <a:schemeClr val="accent1"/>
                </a:solidFill>
                <a:sym typeface="+mn-ea"/>
              </a:rPr>
              <a:t>箭头法</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3"/>
            </p:custDataLst>
          </p:nvPr>
        </p:nvSpPr>
        <p:spPr>
          <a:xfrm>
            <a:off x="1055458" y="4220990"/>
            <a:ext cx="3350038" cy="957684"/>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夫妻之争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4"/>
            </p:custDataLst>
          </p:nvPr>
        </p:nvGraphicFramePr>
        <p:xfrm>
          <a:off x="5160010" y="4004945"/>
          <a:ext cx="5448935" cy="2603500"/>
        </p:xfrm>
        <a:graphic>
          <a:graphicData uri="http://schemas.openxmlformats.org/drawingml/2006/table">
            <a:tbl>
              <a:tblPr firstRow="1" bandRow="1">
                <a:tableStyleId>{2D5ABB26-0587-4C30-8999-92F81FD0307C}</a:tableStyleId>
              </a:tblPr>
              <a:tblGrid>
                <a:gridCol w="1220470"/>
                <a:gridCol w="1392555"/>
                <a:gridCol w="1452880"/>
                <a:gridCol w="1383030"/>
              </a:tblGrid>
              <a:tr h="66929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丈夫</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929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妻子</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aphicFrame>
        <p:nvGraphicFramePr>
          <p:cNvPr id="2" name="表格 1"/>
          <p:cNvGraphicFramePr>
            <a:graphicFrameLocks noGrp="1"/>
          </p:cNvGraphicFramePr>
          <p:nvPr>
            <p:custDataLst>
              <p:tags r:id="rId5"/>
            </p:custDataLst>
          </p:nvPr>
        </p:nvGraphicFramePr>
        <p:xfrm>
          <a:off x="5087620" y="836930"/>
          <a:ext cx="5524500" cy="2898775"/>
        </p:xfrm>
        <a:graphic>
          <a:graphicData uri="http://schemas.openxmlformats.org/drawingml/2006/table">
            <a:tbl>
              <a:tblPr firstRow="1" bandRow="1">
                <a:tableStyleId>{2D5ABB26-0587-4C30-8999-92F81FD0307C}</a:tableStyleId>
              </a:tblPr>
              <a:tblGrid>
                <a:gridCol w="1238250"/>
                <a:gridCol w="1410970"/>
                <a:gridCol w="1473835"/>
                <a:gridCol w="1401445"/>
              </a:tblGrid>
              <a:tr h="10013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2</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3246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囚徒 1</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3" name="Title 6"/>
          <p:cNvSpPr txBox="1"/>
          <p:nvPr>
            <p:custDataLst>
              <p:tags r:id="rId6"/>
            </p:custDataLst>
          </p:nvPr>
        </p:nvSpPr>
        <p:spPr>
          <a:xfrm>
            <a:off x="1127213" y="837075"/>
            <a:ext cx="3350038" cy="957684"/>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4" name="组合 23"/>
          <p:cNvGrpSpPr/>
          <p:nvPr/>
        </p:nvGrpSpPr>
        <p:grpSpPr>
          <a:xfrm>
            <a:off x="8472170" y="5661025"/>
            <a:ext cx="1368425" cy="648335"/>
            <a:chOff x="12435" y="4152"/>
            <a:chExt cx="2155" cy="1021"/>
          </a:xfrm>
        </p:grpSpPr>
        <p:cxnSp>
          <p:nvCxnSpPr>
            <p:cNvPr id="5" name="直接箭头连接符 4"/>
            <p:cNvCxnSpPr/>
            <p:nvPr/>
          </p:nvCxnSpPr>
          <p:spPr>
            <a:xfrm flipH="1">
              <a:off x="13002" y="4152"/>
              <a:ext cx="10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13002" y="5173"/>
              <a:ext cx="10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V="1">
              <a:off x="12435" y="4493"/>
              <a:ext cx="0" cy="3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14590" y="4494"/>
              <a:ext cx="0" cy="3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11" name="灯片编号占位符 10"/>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4" name="组合 13"/>
          <p:cNvGrpSpPr/>
          <p:nvPr/>
        </p:nvGrpSpPr>
        <p:grpSpPr>
          <a:xfrm>
            <a:off x="1559560" y="5229225"/>
            <a:ext cx="2711450" cy="1540510"/>
            <a:chOff x="2461" y="8285"/>
            <a:chExt cx="4270" cy="2426"/>
          </a:xfrm>
        </p:grpSpPr>
        <p:sp>
          <p:nvSpPr>
            <p:cNvPr id="16" name="爆炸形 1 15"/>
            <p:cNvSpPr/>
            <p:nvPr/>
          </p:nvSpPr>
          <p:spPr>
            <a:xfrm>
              <a:off x="2461" y="8285"/>
              <a:ext cx="4270" cy="2426"/>
            </a:xfrm>
            <a:prstGeom prst="irregularSeal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3184" y="9232"/>
              <a:ext cx="3153" cy="580"/>
            </a:xfrm>
            <a:prstGeom prst="rect">
              <a:avLst/>
            </a:prstGeom>
            <a:noFill/>
          </p:spPr>
          <p:txBody>
            <a:bodyPr wrap="square" rtlCol="0">
              <a:spAutoFit/>
            </a:bodyPr>
            <a:lstStyle/>
            <a:p>
              <a:r>
                <a:rPr lang="zh-CN" altLang="en-US"/>
                <a:t>纳什均衡不唯一</a:t>
              </a:r>
              <a:endParaRPr lang="zh-CN" altLang="en-US"/>
            </a:p>
          </p:txBody>
        </p:sp>
      </p:grpSp>
      <p:grpSp>
        <p:nvGrpSpPr>
          <p:cNvPr id="23" name="组合 22"/>
          <p:cNvGrpSpPr/>
          <p:nvPr/>
        </p:nvGrpSpPr>
        <p:grpSpPr>
          <a:xfrm>
            <a:off x="8543925" y="2780665"/>
            <a:ext cx="1368425" cy="581660"/>
            <a:chOff x="12435" y="8896"/>
            <a:chExt cx="2155" cy="916"/>
          </a:xfrm>
        </p:grpSpPr>
        <p:cxnSp>
          <p:nvCxnSpPr>
            <p:cNvPr id="10" name="直接箭头连接符 9"/>
            <p:cNvCxnSpPr/>
            <p:nvPr/>
          </p:nvCxnSpPr>
          <p:spPr>
            <a:xfrm flipV="1">
              <a:off x="14590" y="9143"/>
              <a:ext cx="0" cy="3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13002" y="8896"/>
              <a:ext cx="10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13002" y="9812"/>
              <a:ext cx="10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12435" y="9132"/>
              <a:ext cx="0" cy="3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纳什均衡的求解：</a:t>
            </a:r>
            <a:r>
              <a:rPr lang="zh-CN" altLang="en-US" sz="2800" dirty="0">
                <a:solidFill>
                  <a:schemeClr val="accent1"/>
                </a:solidFill>
                <a:sym typeface="+mn-ea"/>
              </a:rPr>
              <a:t>箭头法</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3"/>
            </p:custDataLst>
          </p:nvPr>
        </p:nvSpPr>
        <p:spPr>
          <a:xfrm>
            <a:off x="1271358" y="1340630"/>
            <a:ext cx="3350038" cy="957684"/>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猜硬币博弈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7" name="表格 6"/>
          <p:cNvGraphicFramePr>
            <a:graphicFrameLocks noGrp="1"/>
          </p:cNvGraphicFramePr>
          <p:nvPr>
            <p:custDataLst>
              <p:tags r:id="rId5"/>
            </p:custDataLst>
          </p:nvPr>
        </p:nvGraphicFramePr>
        <p:xfrm>
          <a:off x="4367530" y="1628775"/>
          <a:ext cx="5021580" cy="3126105"/>
        </p:xfrm>
        <a:graphic>
          <a:graphicData uri="http://schemas.openxmlformats.org/drawingml/2006/table">
            <a:tbl>
              <a:tblPr firstRow="1" bandRow="1">
                <a:tableStyleId>{2D5ABB26-0587-4C30-8999-92F81FD0307C}</a:tableStyleId>
              </a:tblPr>
              <a:tblGrid>
                <a:gridCol w="991870"/>
                <a:gridCol w="1296035"/>
                <a:gridCol w="1366520"/>
                <a:gridCol w="1367155"/>
              </a:tblGrid>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a:noFill/>
                    </a:lnT>
                    <a:lnB w="3175" cap="rnd">
                      <a:solidFill>
                        <a:srgbClr val="FFFFFF"/>
                      </a:solidFill>
                      <a:prstDash val="dot"/>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a:noFill/>
                    </a:lnT>
                    <a:lnB w="3175" cap="rnd">
                      <a:solidFill>
                        <a:srgbClr val="FFFFFF"/>
                      </a:solidFill>
                      <a:prstDash val="dot"/>
                    </a:lnB>
                    <a:noFill/>
                  </a:tcPr>
                </a:tc>
                <a:tc gridSpan="2">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猜方</a:t>
                      </a:r>
                      <a:endParaRPr lang="zh-CN" altLang="en-US" sz="1800" b="1" spc="13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anchor="ctr">
                    <a:lnL w="3175">
                      <a:solidFill>
                        <a:srgbClr val="FFFFFF"/>
                      </a:solidFill>
                      <a:prstDash val="dot"/>
                    </a:lnL>
                    <a:lnR>
                      <a:noFill/>
                    </a:lnR>
                    <a:lnT>
                      <a:noFill/>
                    </a:lnT>
                    <a:lnB w="3175" cap="rnd">
                      <a:solidFill>
                        <a:srgbClr val="FFFFFF"/>
                      </a:solidFill>
                      <a:prstDash val="dot"/>
                    </a:lnB>
                    <a:noFill/>
                  </a:tcPr>
                </a:tc>
                <a:tc hMerge="1">
                  <a:tcPr>
                    <a:lnR>
                      <a:noFill/>
                    </a:lnR>
                    <a:lnT>
                      <a:noFill/>
                    </a:lnT>
                    <a:lnB w="3175" cap="rnd">
                      <a:solidFill>
                        <a:srgbClr val="FFFFFF"/>
                      </a:solidFill>
                      <a:prstDash val="dot"/>
                    </a:lnB>
                  </a:tcPr>
                </a:tc>
              </a:tr>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a:noFill/>
                    </a:lnR>
                    <a:lnT w="3175">
                      <a:solidFill>
                        <a:srgbClr val="FFFFFF"/>
                      </a:solidFill>
                      <a:prstDash val="dot"/>
                    </a:lnT>
                    <a:lnB>
                      <a:noFill/>
                    </a:lnB>
                    <a:noFill/>
                  </a:tcPr>
                </a:tc>
              </a:tr>
              <a:tr h="753745">
                <a:tc rowSpan="2">
                  <a:txBody>
                    <a:bodyPr/>
                    <a:lstStyle/>
                    <a:p>
                      <a:pPr indent="0" algn="l">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盖方</a:t>
                      </a:r>
                      <a:endParaRPr lang="zh-CN" altLang="en-US" sz="1600" b="0" spc="12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vert="eaVert"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r h="754380">
                <a:tc vMerge="1">
                  <a:tcPr>
                    <a:lnL>
                      <a:noFill/>
                    </a:lnL>
                    <a:lnR>
                      <a:noFill/>
                    </a:lnR>
                    <a:lnB>
                      <a:noFill/>
                    </a:lnB>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bl>
          </a:graphicData>
        </a:graphic>
      </p:graphicFrame>
      <p:graphicFrame>
        <p:nvGraphicFramePr>
          <p:cNvPr id="8" name="表格 7"/>
          <p:cNvGraphicFramePr>
            <a:graphicFrameLocks noGrp="1"/>
          </p:cNvGraphicFramePr>
          <p:nvPr>
            <p:custDataLst>
              <p:tags r:id="rId6"/>
            </p:custDataLst>
          </p:nvPr>
        </p:nvGraphicFramePr>
        <p:xfrm>
          <a:off x="6466840" y="3357245"/>
          <a:ext cx="2857500" cy="1191260"/>
        </p:xfrm>
        <a:graphic>
          <a:graphicData uri="http://schemas.openxmlformats.org/drawingml/2006/table">
            <a:tbl>
              <a:tblPr firstRow="1" bandRow="1">
                <a:tableStyleId>{2D5ABB26-0587-4C30-8999-92F81FD0307C}</a:tableStyleId>
              </a:tblPr>
              <a:tblGrid>
                <a:gridCol w="1463675"/>
                <a:gridCol w="1393825"/>
              </a:tblGrid>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cxnSp>
        <p:nvCxnSpPr>
          <p:cNvPr id="2" name="直接箭头连接符 1"/>
          <p:cNvCxnSpPr/>
          <p:nvPr/>
        </p:nvCxnSpPr>
        <p:spPr>
          <a:xfrm flipV="1">
            <a:off x="8610352" y="3836283"/>
            <a:ext cx="0" cy="2160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7247617" y="3845808"/>
            <a:ext cx="0" cy="2160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H="1">
            <a:off x="7607806" y="3644895"/>
            <a:ext cx="64807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7679561" y="4220582"/>
            <a:ext cx="64807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839470" y="3450590"/>
            <a:ext cx="2711450" cy="1540510"/>
            <a:chOff x="2461" y="8285"/>
            <a:chExt cx="4270" cy="2426"/>
          </a:xfrm>
        </p:grpSpPr>
        <p:sp>
          <p:nvSpPr>
            <p:cNvPr id="16" name="爆炸形 1 15"/>
            <p:cNvSpPr/>
            <p:nvPr/>
          </p:nvSpPr>
          <p:spPr>
            <a:xfrm>
              <a:off x="2461" y="8285"/>
              <a:ext cx="4270" cy="2426"/>
            </a:xfrm>
            <a:prstGeom prst="irregularSeal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3184" y="9232"/>
              <a:ext cx="3153" cy="580"/>
            </a:xfrm>
            <a:prstGeom prst="rect">
              <a:avLst/>
            </a:prstGeom>
            <a:noFill/>
          </p:spPr>
          <p:txBody>
            <a:bodyPr wrap="square" rtlCol="0">
              <a:spAutoFit/>
            </a:bodyPr>
            <a:lstStyle/>
            <a:p>
              <a:r>
                <a:rPr lang="zh-CN" altLang="en-US"/>
                <a:t>不存在纳什均衡</a:t>
              </a:r>
              <a:endParaRPr lang="zh-CN" altLang="en-US"/>
            </a:p>
          </p:txBody>
        </p:sp>
      </p:gr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1</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custDataLst>
              <p:tags r:id="rId3"/>
            </p:custDataLst>
          </p:nvPr>
        </p:nvSpPr>
        <p:spPr>
          <a:xfrm>
            <a:off x="1004718" y="1066831"/>
            <a:ext cx="10188914" cy="5486339"/>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4"/>
            </p:custDataLst>
          </p:nvPr>
        </p:nvSpPr>
        <p:spPr>
          <a:xfrm>
            <a:off x="6224734" y="1870082"/>
            <a:ext cx="4155527" cy="387983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军备竞赛</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Title 6"/>
          <p:cNvSpPr txBox="1"/>
          <p:nvPr>
            <p:custDataLst>
              <p:tags r:id="rId5"/>
            </p:custDataLst>
          </p:nvPr>
        </p:nvSpPr>
        <p:spPr>
          <a:xfrm>
            <a:off x="839470" y="914400"/>
            <a:ext cx="10481945" cy="176593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军备竞赛</a:t>
            </a:r>
            <a:endPar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冷战时期，美国和苏联大搞军备竞赛，双方都在军备支出方面投入了大量资金。如果双方都不增加军费支出，则双方的相对安全状况并没有变化，但是却可以有更多的资金投入经济建设。因此，都不搞军备竞赛对双方都有好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6"/>
            </p:custDataLst>
          </p:nvPr>
        </p:nvGraphicFramePr>
        <p:xfrm>
          <a:off x="1847215" y="2853055"/>
          <a:ext cx="7371715" cy="3844290"/>
        </p:xfrm>
        <a:graphic>
          <a:graphicData uri="http://schemas.openxmlformats.org/drawingml/2006/table">
            <a:tbl>
              <a:tblPr firstRow="1" bandRow="1">
                <a:tableStyleId>{2D5ABB26-0587-4C30-8999-92F81FD0307C}</a:tableStyleId>
              </a:tblPr>
              <a:tblGrid>
                <a:gridCol w="1651635"/>
                <a:gridCol w="1883410"/>
                <a:gridCol w="1964055"/>
                <a:gridCol w="1872615"/>
              </a:tblGrid>
              <a:tr h="94551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苏联</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94678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军备竞赛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不竞赛</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106299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美国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军备竞赛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-3000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-3000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spc="130">
                          <a:solidFill>
                            <a:srgbClr val="40404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8890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不竞赛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10000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3"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1</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6224734" y="1870082"/>
            <a:ext cx="4155527" cy="387983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军备竞赛</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3143250" y="836930"/>
          <a:ext cx="7371715" cy="3844290"/>
        </p:xfrm>
        <a:graphic>
          <a:graphicData uri="http://schemas.openxmlformats.org/drawingml/2006/table">
            <a:tbl>
              <a:tblPr firstRow="1" bandRow="1">
                <a:tableStyleId>{2D5ABB26-0587-4C30-8999-92F81FD0307C}</a:tableStyleId>
              </a:tblPr>
              <a:tblGrid>
                <a:gridCol w="1651635"/>
                <a:gridCol w="1883410"/>
                <a:gridCol w="1964055"/>
                <a:gridCol w="1872615"/>
              </a:tblGrid>
              <a:tr h="94551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苏联</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94678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军备竞赛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不竞赛</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106299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美国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军备竞赛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-3000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-3000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spc="130">
                          <a:solidFill>
                            <a:srgbClr val="404040"/>
                          </a:solidFill>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8890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不竞赛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10000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2" name="Title 6"/>
          <p:cNvSpPr txBox="1"/>
          <p:nvPr>
            <p:custDataLst>
              <p:tags r:id="rId5"/>
            </p:custDataLst>
          </p:nvPr>
        </p:nvSpPr>
        <p:spPr>
          <a:xfrm>
            <a:off x="828675" y="1052830"/>
            <a:ext cx="10481945" cy="6858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军备竞赛</a:t>
            </a:r>
            <a:endPar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Title 6"/>
          <p:cNvSpPr txBox="1"/>
          <p:nvPr>
            <p:custDataLst>
              <p:tags r:id="rId7"/>
            </p:custDataLst>
          </p:nvPr>
        </p:nvSpPr>
        <p:spPr>
          <a:xfrm>
            <a:off x="762000" y="4734560"/>
            <a:ext cx="10481945" cy="193230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Arial" panose="020B0604020202020204" pitchFamily="34" charset="0"/>
              <a:buChar char="•"/>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该博弈存在一个纳什均衡（军备竞赛，军备竞赛）</a:t>
            </a:r>
            <a:endPar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20204" pitchFamily="34" charset="0"/>
              <a:buChar char="•"/>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的结果是双方都不断增加军费。因为，给定对方不搞军备竞赛，则自己搞军备竞赛将可以使自己收益相对较高；如果对方搞军备竞赛，则自己更要搞军备竞赛才不至于使自己的处境相对较差。结果，军备竞赛实际上是各个国家的优势策略，大家都搞军备竞赛是纳什均衡。</a:t>
            </a:r>
            <a:endPar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20204" pitchFamily="34" charset="0"/>
              <a:buChar char="•"/>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现实中的</a:t>
            </a:r>
            <a:r>
              <a:rPr lang="zh-CN" altLang="en-US" sz="19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囚徒困境</a:t>
            </a:r>
            <a:endParaRPr lang="zh-CN" altLang="en-US" sz="19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2</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839470" y="914400"/>
            <a:ext cx="10297160" cy="2535555"/>
          </a:xfrm>
          <a:prstGeom prst="rect">
            <a:avLst/>
          </a:prstGeom>
          <a:noFill/>
          <a:ln w="3175">
            <a:noFill/>
            <a:prstDash val="dash"/>
          </a:ln>
        </p:spPr>
        <p:txBody>
          <a:bodyPr wrap="square" lIns="63500" tIns="25400" rIns="63500" bIns="25400" anchor="ctr" anchorCtr="0">
            <a:normAutofit fontScale="95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鹰鸽博弈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auto">
              <a:lnSpc>
                <a:spcPct val="120000"/>
              </a:lnSpc>
              <a:spcBef>
                <a:spcPts val="0"/>
              </a:spcBef>
              <a:spcAft>
                <a:spcPts val="800"/>
              </a:spcAft>
              <a:buSzPct val="100000"/>
              <a:buFont typeface="Arial" panose="020B0604020202020204" pitchFamily="34" charset="0"/>
              <a:buNone/>
            </a:pPr>
            <a:r>
              <a:rPr lang="zh-CN" altLang="en-US" sz="21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雄鹰凶猛好斗，从来不知道妥协。而鸽子温顺善良，避免冲突，爱好和平。哪个习性更适合生存呢？英国生物学家约翰·梅纳德·史密斯根据这两个动物的习性提出了著名的鹰鸽博弈。当两只鹰同时发现食物的时候，天性决定它们一定要战斗，最后会两败俱伤。所以二者的收益都是-2。当两只鸽子相遇的时候，天性要求它们共同分享食物，所以各自收益都是</a:t>
            </a:r>
            <a:r>
              <a:rPr lang="en-US" altLang="zh-CN" sz="21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1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。当鹰和鸽子相遇，鸽子会逃走，鹰独得全部食物，故鹰的收益是2，鸽子的收益是0。</a:t>
            </a:r>
            <a:endParaRPr lang="zh-CN" altLang="en-US" sz="21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2423160" y="3429000"/>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鸟乙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鹰</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鸟甲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鹰</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2</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335280" y="762000"/>
            <a:ext cx="10801350" cy="25355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800100" lvl="1" indent="-342900" algn="l"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鹰鸽博弈的两个纯策略均衡是一只鸟成为鹰，另一只成为鸽子。这时候鹰不会愿意变成鸽子而让出一半的食物，鸽子也不会愿意变成鹰而两败俱伤。所以鹰鸽博弈的纯策略均衡十分类似于</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斗鸡博弈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。但它不同于囚徒困境博弈，因为一鹰一鸽的结局好于二鹰相斗。但哪一只鸟成为鹰，哪一只成为鸽子则不一定。两只鸽子也不是一个均衡，因为它们之中总会有一只首先变成鹰，获得更多的食物。</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2423160" y="3429000"/>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鸟乙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鹰</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鸟甲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鹰</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2</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335280" y="836930"/>
            <a:ext cx="10801350" cy="51155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800100" lvl="1" indent="-342900" algn="just"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诺贝尔经济学奖获得者莱因哈特赛尔顿教授也有一个著名的“鹰鸽博弈”理论：假设有一场比赛，参与者可以选择与对手合作，也可以选择竞争。选择合作策略的结果是，可以避免对手之间浪费时间和精力的消耗斗争，可以像众多鸽子一样瓜分战利品；但如果选择的是竞争策略，那么双方必定会因为争夺战利品而像老鹰之间那样斗个你死我活，即使是获得胜利，也会被啄掉不少羽毛。</a:t>
            </a:r>
            <a:endParaRPr lang="zh-CN" altLang="en-US" sz="2000" spc="100" dirty="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一只狮子和一只野狼同时发现了一只小鹿，于是商量好共同去追捕那只小鹿。它们配合得很默契，当野狼把小鹿扑倒后，狮子便上前一口把小鹿咬死。但这时狮子起了贪念，不想和野狼共同分享这只小鹿，于是想把野狼也咬死，可是野狼拼命抵抗，后来野狼虽然被狮子咬死了，但狮子也受了很重的伤，无法享受美味。这个故事中的狮子如果不起贪念，和野狼共享那只小鹿，那不就皆大欢喜了吗？如果它不咬死野狼，而是和野狼平分猎物，不但自己不会受到重伤，也可享受美味。</a:t>
            </a:r>
            <a:endParaRPr lang="zh-CN" altLang="en-US" sz="2000" spc="100" dirty="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3</a:t>
            </a:r>
            <a:endParaRPr lang="en-US" altLang="zh-CN"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911225" y="764540"/>
            <a:ext cx="3080385" cy="7988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智猪博弈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Title 6"/>
          <p:cNvSpPr txBox="1"/>
          <p:nvPr>
            <p:custDataLst>
              <p:tags r:id="rId4"/>
            </p:custDataLst>
          </p:nvPr>
        </p:nvSpPr>
        <p:spPr>
          <a:xfrm>
            <a:off x="1199515" y="1484630"/>
            <a:ext cx="10285730" cy="440309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just" fontAlgn="auto">
              <a:lnSpc>
                <a:spcPct val="120000"/>
              </a:lnSpc>
              <a:spcBef>
                <a:spcPts val="0"/>
              </a:spcBef>
              <a:spcAft>
                <a:spcPts val="800"/>
              </a:spcAft>
              <a:buSzPct val="10000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假设猪圈里有一头大猪、一头小猪。猪圈的一头有猪食槽，另一头安装着控制猪食供应的按钮，按一下按钮会有10个单位的猪食进槽，但是谁按按钮就会首先付出2个单位的成本，若大猪先到槽边，大猪可吃到</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个单位的食物，小猪只能吃到</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个单位的食物；若两猪同时到槽边，大猪吃到</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个单位，小猪吃到</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个单位；若小猪先到槽边，小猪吃到</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个单位，大猪吃到</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个单位；若都不去按按钮，就会一起饿死。那么，在这种情况下，你认为对小猪来说最佳选择是什么？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fontAlgn="auto">
              <a:lnSpc>
                <a:spcPct val="120000"/>
              </a:lnSpc>
              <a:spcBef>
                <a:spcPts val="0"/>
              </a:spcBef>
              <a:spcAft>
                <a:spcPts val="800"/>
              </a:spcAft>
              <a:buSzPct val="100000"/>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A.主动去按按钮；</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fontAlgn="auto">
              <a:lnSpc>
                <a:spcPct val="120000"/>
              </a:lnSpc>
              <a:spcBef>
                <a:spcPts val="0"/>
              </a:spcBef>
              <a:spcAft>
                <a:spcPts val="800"/>
              </a:spcAft>
              <a:buSzPct val="100000"/>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B.等大猪去按，如果大猪不去再去按；</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fontAlgn="auto">
              <a:lnSpc>
                <a:spcPct val="120000"/>
              </a:lnSpc>
              <a:spcBef>
                <a:spcPts val="0"/>
              </a:spcBef>
              <a:spcAft>
                <a:spcPts val="800"/>
              </a:spcAft>
              <a:buSzPct val="100000"/>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C.去按按钮，然后快速跑向猪食；</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fontAlgn="auto">
              <a:lnSpc>
                <a:spcPct val="120000"/>
              </a:lnSpc>
              <a:spcBef>
                <a:spcPts val="0"/>
              </a:spcBef>
              <a:spcAft>
                <a:spcPts val="800"/>
              </a:spcAft>
              <a:buSzPct val="100000"/>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D.耐心等待，决不去按按钮。</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fontAlgn="auto">
              <a:lnSpc>
                <a:spcPct val="120000"/>
              </a:lnSpc>
              <a:spcBef>
                <a:spcPts val="0"/>
              </a:spcBef>
              <a:spcAft>
                <a:spcPts val="800"/>
              </a:spcAft>
              <a:buSzPct val="100000"/>
            </a:pP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7" name="图片 6" descr="智猪博弈2"/>
          <p:cNvPicPr>
            <a:picLocks noChangeAspect="1"/>
          </p:cNvPicPr>
          <p:nvPr/>
        </p:nvPicPr>
        <p:blipFill>
          <a:blip r:embed="rId6"/>
          <a:stretch>
            <a:fillRect/>
          </a:stretch>
        </p:blipFill>
        <p:spPr>
          <a:xfrm>
            <a:off x="5520055" y="3833495"/>
            <a:ext cx="5304155" cy="2992755"/>
          </a:xfrm>
          <a:prstGeom prst="rect">
            <a:avLst/>
          </a:prstGeom>
        </p:spPr>
      </p:pic>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3</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839470" y="914400"/>
            <a:ext cx="4377055" cy="7988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智猪博弈</a:t>
            </a:r>
            <a:r>
              <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博弈矩阵</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1919605" y="1713230"/>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大猪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3</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表格 3"/>
          <p:cNvGraphicFramePr>
            <a:graphicFrameLocks noGrp="1"/>
          </p:cNvGraphicFramePr>
          <p:nvPr>
            <p:custDataLst>
              <p:tags r:id="rId3"/>
            </p:custDataLst>
          </p:nvPr>
        </p:nvGraphicFramePr>
        <p:xfrm>
          <a:off x="551180" y="1628775"/>
          <a:ext cx="4265930" cy="2529840"/>
        </p:xfrm>
        <a:graphic>
          <a:graphicData uri="http://schemas.openxmlformats.org/drawingml/2006/table">
            <a:tbl>
              <a:tblPr firstRow="1" bandRow="1">
                <a:tableStyleId>{2D5ABB26-0587-4C30-8999-92F81FD0307C}</a:tableStyleId>
              </a:tblPr>
              <a:tblGrid>
                <a:gridCol w="956310"/>
                <a:gridCol w="1089660"/>
                <a:gridCol w="1136650"/>
                <a:gridCol w="1083310"/>
              </a:tblGrid>
              <a:tr h="63246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3246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大猪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2" name="Title 6"/>
          <p:cNvSpPr txBox="1"/>
          <p:nvPr>
            <p:custDataLst>
              <p:tags r:id="rId4"/>
            </p:custDataLst>
          </p:nvPr>
        </p:nvSpPr>
        <p:spPr>
          <a:xfrm>
            <a:off x="767080" y="908685"/>
            <a:ext cx="10663555" cy="146558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智猪博弈</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答案：大猪按按钮，小猪将舒舒服服地等在食槽边，而大猪则为一点残羹不知疲倦地奔忙于踏板和食槽之间。</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6" name="组合 15"/>
          <p:cNvGrpSpPr/>
          <p:nvPr/>
        </p:nvGrpSpPr>
        <p:grpSpPr>
          <a:xfrm>
            <a:off x="3143250" y="2996565"/>
            <a:ext cx="1522095" cy="1149985"/>
            <a:chOff x="4950" y="4719"/>
            <a:chExt cx="2397" cy="1811"/>
          </a:xfrm>
        </p:grpSpPr>
        <p:sp>
          <p:nvSpPr>
            <p:cNvPr id="18" name="文本框 17"/>
            <p:cNvSpPr txBox="1"/>
            <p:nvPr/>
          </p:nvSpPr>
          <p:spPr>
            <a:xfrm>
              <a:off x="6765" y="4719"/>
              <a:ext cx="583" cy="782"/>
            </a:xfrm>
            <a:prstGeom prst="ellipse">
              <a:avLst/>
            </a:prstGeom>
            <a:noFill/>
            <a:ln w="25400" cap="rnd">
              <a:solidFill>
                <a:schemeClr val="accent1"/>
              </a:solidFill>
              <a:prstDash val="solid"/>
            </a:ln>
            <a:effectLst/>
          </p:spPr>
          <p:txBody>
            <a:bodyPr wrap="square" rtlCol="0">
              <a:spAutoFit/>
            </a:bodyPr>
            <a:lstStyle/>
            <a:p>
              <a:endParaRPr lang="zh-CN" altLang="en-US"/>
            </a:p>
          </p:txBody>
        </p:sp>
        <p:sp>
          <p:nvSpPr>
            <p:cNvPr id="8" name="文本框 7"/>
            <p:cNvSpPr txBox="1"/>
            <p:nvPr/>
          </p:nvSpPr>
          <p:spPr>
            <a:xfrm>
              <a:off x="4950" y="4719"/>
              <a:ext cx="583" cy="782"/>
            </a:xfrm>
            <a:prstGeom prst="ellipse">
              <a:avLst/>
            </a:prstGeom>
            <a:noFill/>
            <a:ln w="25400" cap="rnd">
              <a:solidFill>
                <a:schemeClr val="accent1"/>
              </a:solidFill>
              <a:prstDash val="solid"/>
            </a:ln>
            <a:effectLst/>
          </p:spPr>
          <p:txBody>
            <a:bodyPr wrap="square" rtlCol="0">
              <a:spAutoFit/>
            </a:bodyPr>
            <a:lstStyle/>
            <a:p>
              <a:endParaRPr lang="zh-CN" altLang="en-US"/>
            </a:p>
          </p:txBody>
        </p:sp>
        <p:sp>
          <p:nvSpPr>
            <p:cNvPr id="9" name="文本框 8"/>
            <p:cNvSpPr txBox="1"/>
            <p:nvPr/>
          </p:nvSpPr>
          <p:spPr>
            <a:xfrm>
              <a:off x="4950" y="5748"/>
              <a:ext cx="583" cy="782"/>
            </a:xfrm>
            <a:prstGeom prst="ellipse">
              <a:avLst/>
            </a:prstGeom>
            <a:noFill/>
            <a:ln w="25400" cap="rnd">
              <a:solidFill>
                <a:schemeClr val="accent1"/>
              </a:solidFill>
              <a:prstDash val="solid"/>
            </a:ln>
            <a:effectLst/>
          </p:spPr>
          <p:txBody>
            <a:bodyPr wrap="square" rtlCol="0">
              <a:spAutoFit/>
            </a:bodyPr>
            <a:lstStyle/>
            <a:p>
              <a:endParaRPr lang="zh-CN" altLang="en-US"/>
            </a:p>
          </p:txBody>
        </p:sp>
        <p:sp>
          <p:nvSpPr>
            <p:cNvPr id="10" name="文本框 9"/>
            <p:cNvSpPr txBox="1"/>
            <p:nvPr/>
          </p:nvSpPr>
          <p:spPr>
            <a:xfrm>
              <a:off x="6765" y="5740"/>
              <a:ext cx="583" cy="782"/>
            </a:xfrm>
            <a:prstGeom prst="ellipse">
              <a:avLst/>
            </a:prstGeom>
            <a:noFill/>
            <a:ln w="25400" cap="rnd">
              <a:solidFill>
                <a:schemeClr val="accent1"/>
              </a:solidFill>
              <a:prstDash val="solid"/>
            </a:ln>
            <a:effectLst/>
          </p:spPr>
          <p:txBody>
            <a:bodyPr wrap="square" rtlCol="0">
              <a:spAutoFit/>
            </a:bodyPr>
            <a:lstStyle/>
            <a:p>
              <a:endParaRPr lang="zh-CN" altLang="en-US"/>
            </a:p>
          </p:txBody>
        </p:sp>
      </p:grpSp>
      <p:sp>
        <p:nvSpPr>
          <p:cNvPr id="11" name="Title 6"/>
          <p:cNvSpPr txBox="1"/>
          <p:nvPr>
            <p:custDataLst>
              <p:tags r:id="rId6"/>
            </p:custDataLst>
          </p:nvPr>
        </p:nvSpPr>
        <p:spPr>
          <a:xfrm>
            <a:off x="5448300" y="2880360"/>
            <a:ext cx="2096770" cy="1278255"/>
          </a:xfrm>
          <a:prstGeom prst="rect">
            <a:avLst/>
          </a:prstGeom>
          <a:noFill/>
          <a:ln w="15875">
            <a:solidFill>
              <a:schemeClr val="accent1"/>
            </a:solid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等待是小猪的上策。</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大猪有没有上策？</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右箭头 11"/>
          <p:cNvSpPr/>
          <p:nvPr/>
        </p:nvSpPr>
        <p:spPr>
          <a:xfrm>
            <a:off x="4922520" y="3394710"/>
            <a:ext cx="419735" cy="255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14"/>
          <p:cNvGraphicFramePr>
            <a:graphicFrameLocks noGrp="1"/>
          </p:cNvGraphicFramePr>
          <p:nvPr>
            <p:custDataLst>
              <p:tags r:id="rId7"/>
            </p:custDataLst>
          </p:nvPr>
        </p:nvGraphicFramePr>
        <p:xfrm>
          <a:off x="1559560" y="4302760"/>
          <a:ext cx="3018155" cy="2529840"/>
        </p:xfrm>
        <a:graphic>
          <a:graphicData uri="http://schemas.openxmlformats.org/drawingml/2006/table">
            <a:tbl>
              <a:tblPr firstRow="1" bandRow="1">
                <a:tableStyleId>{2D5ABB26-0587-4C30-8999-92F81FD0307C}</a:tableStyleId>
              </a:tblPr>
              <a:tblGrid>
                <a:gridCol w="922020"/>
                <a:gridCol w="1050925"/>
                <a:gridCol w="1045210"/>
              </a:tblGrid>
              <a:tr h="63246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r>
              <a:tr h="63246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大猪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13" name="Title 6"/>
          <p:cNvSpPr txBox="1"/>
          <p:nvPr>
            <p:custDataLst>
              <p:tags r:id="rId8"/>
            </p:custDataLst>
          </p:nvPr>
        </p:nvSpPr>
        <p:spPr>
          <a:xfrm>
            <a:off x="8378825" y="2880360"/>
            <a:ext cx="2096770" cy="1278255"/>
          </a:xfrm>
          <a:prstGeom prst="rect">
            <a:avLst/>
          </a:prstGeom>
          <a:noFill/>
          <a:ln w="15875">
            <a:solidFill>
              <a:schemeClr val="accent1"/>
            </a:solid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lang="zh-CN" altLang="en-US" sz="1800">
                <a:sym typeface="+mn-ea"/>
              </a:rPr>
              <a:t>按是小猪的严格下策，理性的小猪是不会选择按。</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右箭头 13"/>
          <p:cNvSpPr/>
          <p:nvPr/>
        </p:nvSpPr>
        <p:spPr>
          <a:xfrm>
            <a:off x="911225" y="5733415"/>
            <a:ext cx="419735" cy="255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a:off x="7752080" y="3394710"/>
            <a:ext cx="419735" cy="255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右箭头 18"/>
          <p:cNvSpPr/>
          <p:nvPr/>
        </p:nvSpPr>
        <p:spPr>
          <a:xfrm>
            <a:off x="4831080" y="5805170"/>
            <a:ext cx="419735" cy="255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itle 6"/>
          <p:cNvSpPr txBox="1"/>
          <p:nvPr>
            <p:custDataLst>
              <p:tags r:id="rId9"/>
            </p:custDataLst>
          </p:nvPr>
        </p:nvSpPr>
        <p:spPr>
          <a:xfrm>
            <a:off x="5545455" y="5554345"/>
            <a:ext cx="2096770" cy="1278255"/>
          </a:xfrm>
          <a:prstGeom prst="rect">
            <a:avLst/>
          </a:prstGeom>
          <a:noFill/>
          <a:ln w="15875">
            <a:solidFill>
              <a:schemeClr val="accent1"/>
            </a:solid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lang="zh-CN" altLang="en-US" sz="1800">
                <a:sym typeface="+mn-ea"/>
              </a:rPr>
              <a:t>等是大猪的严格下策，理性的大猪是不会选择等。</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 name="右箭头 20"/>
          <p:cNvSpPr/>
          <p:nvPr/>
        </p:nvSpPr>
        <p:spPr>
          <a:xfrm>
            <a:off x="7752080" y="5805170"/>
            <a:ext cx="419735" cy="255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itle 6"/>
          <p:cNvSpPr txBox="1"/>
          <p:nvPr>
            <p:custDataLst>
              <p:tags r:id="rId10"/>
            </p:custDataLst>
          </p:nvPr>
        </p:nvSpPr>
        <p:spPr>
          <a:xfrm>
            <a:off x="8399780" y="5554345"/>
            <a:ext cx="3335020" cy="737235"/>
          </a:xfrm>
          <a:prstGeom prst="rect">
            <a:avLst/>
          </a:prstGeom>
          <a:noFill/>
          <a:ln w="15875">
            <a:solidFill>
              <a:schemeClr val="accent1"/>
            </a:solid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lang="zh-CN" altLang="en-US" sz="1800">
                <a:sym typeface="+mn-ea"/>
              </a:rPr>
              <a:t>剔除下策均衡：大猪按，小猪等</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3</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839470" y="914400"/>
            <a:ext cx="4377055" cy="7988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智猪博弈</a:t>
            </a:r>
            <a:r>
              <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博弈矩阵</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262890" y="3429000"/>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大猪</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7" name="图片 6" descr="智猪博弈2"/>
          <p:cNvPicPr>
            <a:picLocks noChangeAspect="1"/>
          </p:cNvPicPr>
          <p:nvPr/>
        </p:nvPicPr>
        <p:blipFill>
          <a:blip r:embed="rId6"/>
          <a:stretch>
            <a:fillRect/>
          </a:stretch>
        </p:blipFill>
        <p:spPr>
          <a:xfrm>
            <a:off x="6023610" y="980440"/>
            <a:ext cx="5903595" cy="3330575"/>
          </a:xfrm>
          <a:prstGeom prst="rect">
            <a:avLst/>
          </a:prstGeom>
        </p:spPr>
      </p:pic>
      <p:sp>
        <p:nvSpPr>
          <p:cNvPr id="22" name="Title 6"/>
          <p:cNvSpPr txBox="1"/>
          <p:nvPr>
            <p:custDataLst>
              <p:tags r:id="rId7"/>
            </p:custDataLst>
          </p:nvPr>
        </p:nvSpPr>
        <p:spPr>
          <a:xfrm>
            <a:off x="7392035" y="5445125"/>
            <a:ext cx="3280410" cy="1066800"/>
          </a:xfrm>
          <a:prstGeom prst="rect">
            <a:avLst/>
          </a:prstGeom>
          <a:noFill/>
          <a:ln w="15875">
            <a:solidFill>
              <a:schemeClr val="accent1"/>
            </a:solid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lang="zh-CN" altLang="en-US" sz="1800">
                <a:sym typeface="+mn-ea"/>
              </a:rPr>
              <a:t>划线法与严格下策反复消去法得到的结果一样，即纳什均衡：大猪按，小猪等</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 name="右箭头 20"/>
          <p:cNvSpPr/>
          <p:nvPr/>
        </p:nvSpPr>
        <p:spPr>
          <a:xfrm>
            <a:off x="6816090" y="5733415"/>
            <a:ext cx="419735" cy="255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3</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Title 6"/>
          <p:cNvSpPr txBox="1"/>
          <p:nvPr>
            <p:custDataLst>
              <p:tags r:id="rId4"/>
            </p:custDataLst>
          </p:nvPr>
        </p:nvSpPr>
        <p:spPr>
          <a:xfrm>
            <a:off x="839470" y="836930"/>
            <a:ext cx="9800590" cy="33623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3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智猪博弈背后的哲理</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◆小猪角度：自己不能努力，即使努力劳动成果也会被大猪侵占，所以最优选择是等待，坐享大猪的劳动成果，这称为</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搭便车</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(free-riding)。但是，因为如此，小猪没有权利，很多时候处于任人宰割的地位。</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◆大猪角度：</a:t>
            </a:r>
            <a:r>
              <a:rPr lang="zh-CN" altLang="en-US" sz="2000">
                <a:latin typeface="Times New Roman" panose="02020603050405020304" pitchFamily="18" charset="0"/>
                <a:sym typeface="+mn-ea"/>
              </a:rPr>
              <a:t>主观上为了自己的利益，但客观上为小猪带来了好处</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。但也正因为如此，大猪拥有主导权，而这种权利可以使大猪在利益分配中获得更多的利益。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3</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Title 6"/>
          <p:cNvSpPr txBox="1"/>
          <p:nvPr>
            <p:custDataLst>
              <p:tags r:id="rId4"/>
            </p:custDataLst>
          </p:nvPr>
        </p:nvSpPr>
        <p:spPr>
          <a:xfrm>
            <a:off x="684530" y="981075"/>
            <a:ext cx="10822305" cy="5876925"/>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30000"/>
              </a:lnSpc>
              <a:spcBef>
                <a:spcPts val="0"/>
              </a:spcBef>
              <a:spcAft>
                <a:spcPts val="800"/>
              </a:spcAft>
              <a:buSzPct val="100000"/>
              <a:buFont typeface="Wingdings" panose="05000000000000000000" charset="0"/>
              <a:buChar char="Ø"/>
            </a:pPr>
            <a:r>
              <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生活中的智猪博弈</a:t>
            </a:r>
            <a:endParaRPr lang="zh-CN" altLang="en-US" sz="244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◆公司治理</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a:sym typeface="+mn-ea"/>
              </a:rPr>
              <a:t>在股份公司中，大股东通常较小股东更有监督管理层的动力。因为大股东可以平衡其监督的成本收益，而小股东却不能（监督是其劣战略）。结果是大股东承担监督管理层的责任，但大股东监督的行为客观上为小股东带来一些好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◆股市博弈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a:sym typeface="+mn-ea"/>
              </a:rPr>
              <a:t>在股市中，大户是“大猪”，散户是“小猪”。大户要自己搜集信息，进行投资分析，而散户不会花成本进行技术分析，只是选择“跟大户”，跟着大户的投资策略进行股票买卖。</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技术创新搭便车</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a:sym typeface="+mn-ea"/>
              </a:rPr>
              <a:t>大企业花钱进行研发，而小企业等待大企业开发出新技术新产品后通过模仿或创新成果的扩散生产并出售类似产品。</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◆能者多劳</a:t>
            </a:r>
            <a:endPar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◆广告搭便车：</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大企业是</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大猪</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，小企业是</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小猪</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。大企业投入大量资金为产品打广告，中小企业等大企业的广告为产品打开销路形成市场后才生产类似产品进行销售。</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◆网络购物</a:t>
            </a:r>
            <a:endPar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◆公共物品，富人和穷人修路博弈</a:t>
            </a:r>
            <a:endPar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◆天塌下来有高个子顶着</a:t>
            </a:r>
            <a:endPar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有趣的博弈</a:t>
            </a:r>
            <a:r>
              <a:rPr lang="en-US" altLang="zh-CN" sz="3200" dirty="0">
                <a:solidFill>
                  <a:schemeClr val="accent1"/>
                </a:solidFill>
                <a:sym typeface="+mn-ea"/>
              </a:rPr>
              <a:t>3</a:t>
            </a:r>
            <a:endParaRPr lang="en-US" altLang="zh-CN"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Title 6"/>
          <p:cNvSpPr txBox="1"/>
          <p:nvPr>
            <p:custDataLst>
              <p:tags r:id="rId4"/>
            </p:custDataLst>
          </p:nvPr>
        </p:nvSpPr>
        <p:spPr>
          <a:xfrm>
            <a:off x="622935" y="914400"/>
            <a:ext cx="10654030" cy="405193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3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如何解决</a:t>
            </a:r>
            <a:r>
              <a:rPr lang="zh-CN" altLang="en-US" sz="2200">
                <a:latin typeface="Times New Roman" panose="02020603050405020304" pitchFamily="18" charset="0"/>
                <a:sym typeface="+mn-ea"/>
              </a:rPr>
              <a:t>搭便车</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问题？</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30000"/>
              </a:lnSpc>
              <a:buClr>
                <a:schemeClr val="bg1"/>
              </a:buClr>
              <a:buFont typeface="Wingdings" panose="05000000000000000000" pitchFamily="2" charset="2"/>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◆基本思路是界定产权，明确各方的责任、权力和利益</a:t>
            </a:r>
            <a:r>
              <a:rPr altLang="zh-CN" sz="2000">
                <a:solidFill>
                  <a:schemeClr val="tx1"/>
                </a:solidFill>
                <a:latin typeface="Arial" panose="020B0604020202020204" pitchFamily="34" charset="0"/>
                <a:sym typeface="+mn-ea"/>
              </a:rPr>
              <a:t>——</a:t>
            </a:r>
            <a:r>
              <a:rPr lang="zh-CN" altLang="en-US" sz="2000">
                <a:solidFill>
                  <a:schemeClr val="tx1"/>
                </a:solidFill>
                <a:latin typeface="Times New Roman" panose="02020603050405020304" pitchFamily="18" charset="0"/>
                <a:sym typeface="+mn-ea"/>
              </a:rPr>
              <a:t>规定谁付出劳动，谁受</a:t>
            </a:r>
            <a:r>
              <a:rPr altLang="zh-CN" sz="2000">
                <a:solidFill>
                  <a:schemeClr val="tx1"/>
                </a:solidFill>
                <a:latin typeface="Times New Roman" panose="02020603050405020304" pitchFamily="18" charset="0"/>
                <a:sym typeface="+mn-ea"/>
              </a:rPr>
              <a:t>   </a:t>
            </a:r>
            <a:r>
              <a:rPr lang="zh-CN" altLang="en-US" sz="2000">
                <a:solidFill>
                  <a:schemeClr val="tx1"/>
                </a:solidFill>
                <a:latin typeface="Times New Roman" panose="02020603050405020304" pitchFamily="18" charset="0"/>
                <a:sym typeface="+mn-ea"/>
              </a:rPr>
              <a:t>益，小猪“不劳而获”动机将被抑制。</a:t>
            </a:r>
            <a:endParaRPr lang="zh-CN" altLang="en-US" sz="2000" dirty="0">
              <a:solidFill>
                <a:schemeClr val="tx1"/>
              </a:solidFill>
              <a:latin typeface="Times New Roman" panose="02020603050405020304" pitchFamily="18" charset="0"/>
            </a:endParaRPr>
          </a:p>
          <a:p>
            <a:pPr lvl="0" indent="0" algn="just" fontAlgn="auto">
              <a:lnSpc>
                <a:spcPct val="130000"/>
              </a:lnSpc>
              <a:spcBef>
                <a:spcPts val="0"/>
              </a:spcBef>
              <a:spcAft>
                <a:spcPts val="800"/>
              </a:spcAft>
              <a:buSzPct val="100000"/>
              <a:buFont typeface="Wingdings" panose="05000000000000000000" charset="0"/>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◆通过界定产权，可以防止搭便车。</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◆通过明确责权利，可以削弱一方在利益分配中的独导地位。</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◆这都要通过法律或制度来实施。</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auto">
              <a:lnSpc>
                <a:spcPct val="130000"/>
              </a:lnSpc>
              <a:spcBef>
                <a:spcPts val="0"/>
              </a:spcBef>
              <a:spcAft>
                <a:spcPts val="800"/>
              </a:spcAft>
              <a:buSzPct val="100000"/>
              <a:buFont typeface="Wingdings" panose="05000000000000000000" charset="0"/>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◆在某些领域，这一问题是没有办法解决的。所以莫勒尔说：尽管大家同乘一条船，可一些是划船，另一些人只是坐船。</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2"/>
            </p:custDataLst>
          </p:nvPr>
        </p:nvSpPr>
        <p:spPr>
          <a:xfrm>
            <a:off x="839470" y="764540"/>
            <a:ext cx="9307830" cy="22193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没有纳什均衡存在又如何分析？</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Wingdings" panose="05000000000000000000" charset="0"/>
              <a:buChar char="l"/>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纳什均衡不唯一。在不唯一的情况下，哪一个才是最可能出现的呢？</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altLang="zh-CN"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(允许了不可置信的威胁的存在)</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纳什博弈：</a:t>
            </a:r>
            <a:r>
              <a:rPr lang="zh-CN" altLang="en-US" sz="2800" dirty="0">
                <a:solidFill>
                  <a:schemeClr val="accent1"/>
                </a:solidFill>
                <a:sym typeface="+mn-ea"/>
              </a:rPr>
              <a:t>缺点</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纳什博弈：</a:t>
            </a:r>
            <a:r>
              <a:rPr lang="zh-CN" altLang="en-US" sz="2800" dirty="0">
                <a:solidFill>
                  <a:schemeClr val="accent1"/>
                </a:solidFill>
                <a:sym typeface="+mn-ea"/>
              </a:rPr>
              <a:t>缺点</a:t>
            </a:r>
            <a:endParaRPr lang="zh-CN" altLang="en-US" sz="28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839470" y="764540"/>
            <a:ext cx="9307830" cy="33261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a:t>
            </a:r>
            <a:r>
              <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监督博弈</a:t>
            </a:r>
            <a:r>
              <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（不存在纳什均衡）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给定工人偷懒，老板的最优选择是监督；</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给定工人不偷懒，老板的最优选择是不监督；</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给定老板监督，工人的最优选择是不偷懒；</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给定老板不监督，工人的最优选择是偷懒；</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形成如此循环</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4" name="表格 3"/>
          <p:cNvGraphicFramePr>
            <a:graphicFrameLocks noGrp="1"/>
          </p:cNvGraphicFramePr>
          <p:nvPr>
            <p:custDataLst>
              <p:tags r:id="rId5"/>
            </p:custDataLst>
          </p:nvPr>
        </p:nvGraphicFramePr>
        <p:xfrm>
          <a:off x="3431540" y="3429000"/>
          <a:ext cx="6431280" cy="3206750"/>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工人</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3439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偷懒</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不偷懒</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老板</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监督</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不监督</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cxnSp>
        <p:nvCxnSpPr>
          <p:cNvPr id="7" name="直接箭头连接符 6"/>
          <p:cNvCxnSpPr/>
          <p:nvPr/>
        </p:nvCxnSpPr>
        <p:spPr>
          <a:xfrm flipH="1">
            <a:off x="7896096" y="6236965"/>
            <a:ext cx="64807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7896468" y="5516875"/>
            <a:ext cx="64833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7319888" y="5661020"/>
            <a:ext cx="0" cy="4324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9120113" y="5661020"/>
            <a:ext cx="0" cy="4324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767080" y="692785"/>
            <a:ext cx="11277600" cy="7747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a:t>
            </a:r>
            <a:r>
              <a:rPr altLang="zh-CN"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斗鸡博弈</a:t>
            </a:r>
            <a:r>
              <a:rPr altLang="zh-CN"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（存在两个纳什均衡）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0" name="Group 36"/>
          <p:cNvGraphicFramePr/>
          <p:nvPr>
            <p:custDataLst>
              <p:tags r:id="rId3"/>
            </p:custDataLst>
          </p:nvPr>
        </p:nvGraphicFramePr>
        <p:xfrm>
          <a:off x="5303520" y="2015490"/>
          <a:ext cx="5055870" cy="3233420"/>
        </p:xfrm>
        <a:graphic>
          <a:graphicData uri="http://schemas.openxmlformats.org/drawingml/2006/table">
            <a:tbl>
              <a:tblPr/>
              <a:tblGrid>
                <a:gridCol w="1027430"/>
                <a:gridCol w="1303655"/>
                <a:gridCol w="1427480"/>
                <a:gridCol w="1297305"/>
              </a:tblGrid>
              <a:tr h="782320">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w="19050">
                      <a:solidFill>
                        <a:srgbClr val="FFFFFF"/>
                      </a:solidFill>
                      <a:prstDash val="solid"/>
                    </a:lnR>
                    <a:lnT>
                      <a:noFill/>
                    </a:lnT>
                    <a:lnB w="19050">
                      <a:solidFill>
                        <a:srgbClr val="FFFFFF"/>
                      </a:solidFill>
                      <a:prstDash val="solid"/>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w="19050">
                      <a:solidFill>
                        <a:srgbClr val="FFFFFF"/>
                      </a:solidFill>
                      <a:prstDash val="solid"/>
                    </a:lnR>
                    <a:lnT>
                      <a:noFill/>
                    </a:lnT>
                    <a:lnB w="19050">
                      <a:solidFill>
                        <a:srgbClr val="FFFFFF"/>
                      </a:solidFill>
                      <a:prstDash val="solid"/>
                    </a:lnB>
                    <a:lnTlToBr>
                      <a:noFill/>
                    </a:lnTlToBr>
                    <a:lnBlToTr>
                      <a:noFill/>
                    </a:lnBlToTr>
                    <a:noFill/>
                  </a:tcPr>
                </a:tc>
                <a:tc gridSpan="2">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小李</a:t>
                      </a:r>
                      <a:endParaRPr lang="zh-CN" altLang="en-US" sz="1900" b="1" spc="130">
                        <a:solidFill>
                          <a:srgbClr val="FF0000"/>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a:noFill/>
                    </a:lnR>
                    <a:lnT>
                      <a:noFill/>
                    </a:lnT>
                    <a:lnB w="19050">
                      <a:solidFill>
                        <a:srgbClr val="FFFFFF"/>
                      </a:solidFill>
                      <a:prstDash val="solid"/>
                    </a:lnB>
                    <a:lnTlToBr>
                      <a:noFill/>
                    </a:lnTlToBr>
                    <a:lnBlToTr>
                      <a:noFill/>
                    </a:lnBlToTr>
                    <a:noFill/>
                  </a:tcPr>
                </a:tc>
                <a:tc hMerge="1">
                  <a:tcPr>
                    <a:lnR>
                      <a:noFill/>
                    </a:lnR>
                    <a:lnT>
                      <a:noFill/>
                    </a:lnT>
                    <a:lnB w="19050">
                      <a:solidFill>
                        <a:srgbClr val="FFFFFF"/>
                      </a:solidFill>
                      <a:prstDash val="solid"/>
                    </a:lnB>
                  </a:tcPr>
                </a:tc>
              </a:tr>
              <a:tr h="850900">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w="19050">
                      <a:solidFill>
                        <a:srgbClr val="FFFFFF"/>
                      </a:solidFill>
                      <a:prstDash val="solid"/>
                    </a:lnR>
                    <a:lnT w="19050">
                      <a:solidFill>
                        <a:srgbClr val="FFFFFF"/>
                      </a:solidFill>
                      <a:prstDash val="solid"/>
                    </a:lnT>
                    <a:lnB>
                      <a:noFill/>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w="19050">
                      <a:solidFill>
                        <a:srgbClr val="FFFFFF"/>
                      </a:solidFill>
                      <a:prstDash val="solid"/>
                    </a:lnR>
                    <a:lnT w="19050">
                      <a:solidFill>
                        <a:srgbClr val="FFFFFF"/>
                      </a:solidFill>
                      <a:prstDash val="solid"/>
                    </a:lnT>
                    <a:lnB>
                      <a:noFill/>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进</a:t>
                      </a: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w="19050">
                      <a:solidFill>
                        <a:srgbClr val="FFFFFF"/>
                      </a:solidFill>
                      <a:prstDash val="solid"/>
                    </a:lnR>
                    <a:lnT w="19050">
                      <a:solidFill>
                        <a:srgbClr val="FFFFFF"/>
                      </a:solidFill>
                      <a:prstDash val="solid"/>
                    </a:lnT>
                    <a:lnB>
                      <a:noFill/>
                    </a:lnB>
                    <a:lnTlToBr>
                      <a:noFill/>
                    </a:lnTlToBr>
                    <a:lnBlToTr>
                      <a:noFill/>
                    </a:lnBlToTr>
                    <a:no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退</a:t>
                      </a:r>
                      <a:endParaRPr lang="zh-CN" altLang="en-US" sz="1900" b="1" spc="130">
                        <a:solidFill>
                          <a:srgbClr val="FFFFFF"/>
                        </a:solidFill>
                        <a:latin typeface="微软雅黑" panose="020B0503020204020204" pitchFamily="34" charset="-122"/>
                        <a:ea typeface="微软雅黑" panose="020B0503020204020204" pitchFamily="34" charset="-122"/>
                      </a:endParaRPr>
                    </a:p>
                  </a:txBody>
                  <a:tcPr marL="215900" marR="215900" marT="133350" marB="133350" anchor="ctr" horzOverflow="overflow">
                    <a:lnL w="19050">
                      <a:solidFill>
                        <a:srgbClr val="FFFFFF"/>
                      </a:solidFill>
                      <a:prstDash val="solid"/>
                    </a:lnL>
                    <a:lnR>
                      <a:noFill/>
                    </a:lnR>
                    <a:lnT w="19050">
                      <a:solidFill>
                        <a:srgbClr val="FFFFFF"/>
                      </a:solidFill>
                      <a:prstDash val="solid"/>
                    </a:lnT>
                    <a:lnB>
                      <a:noFill/>
                    </a:lnB>
                    <a:lnTlToBr>
                      <a:noFill/>
                    </a:lnTlToBr>
                    <a:lnBlToTr>
                      <a:noFill/>
                    </a:lnBlToTr>
                    <a:noFill/>
                  </a:tcPr>
                </a:tc>
              </a:tr>
              <a:tr h="800100">
                <a:tc rowSpan="2">
                  <a:txBody>
                    <a:bodyPr/>
                    <a:lstStyle/>
                    <a:p>
                      <a:pPr marR="0" lvl="0" indent="0" algn="l"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小张</a:t>
                      </a:r>
                      <a:endParaRPr lang="zh-CN" altLang="en-US"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vert="eaVert"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进</a:t>
                      </a:r>
                      <a:endParaRPr lang="zh-CN" altLang="en-US"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r>
              <a:tr h="800100">
                <a:tc vMerge="1">
                  <a:tcPr>
                    <a:lnL>
                      <a:noFill/>
                    </a:lnL>
                    <a:lnR>
                      <a:noFill/>
                    </a:lnR>
                    <a:lnB>
                      <a:noFill/>
                    </a:lnB>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退</a:t>
                      </a:r>
                      <a:endParaRPr lang="zh-CN" altLang="en-US" sz="1700" b="0" spc="13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folHlink"/>
                        </a:buClr>
                        <a:buSzPct val="60000"/>
                        <a:buFont typeface="Wingdings" panose="05000000000000000000" pitchFamily="2" charset="2"/>
                        <a:buNone/>
                      </a:pPr>
                      <a:endParaRPr lang="en-US" altLang="zh-CN" sz="1700" b="0" spc="13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horzOverflow="overflow">
                    <a:lnL>
                      <a:noFill/>
                    </a:lnL>
                    <a:lnR>
                      <a:noFill/>
                    </a:lnR>
                    <a:lnT>
                      <a:noFill/>
                    </a:lnT>
                    <a:lnB>
                      <a:noFill/>
                    </a:lnB>
                    <a:lnTlToBr>
                      <a:noFill/>
                    </a:lnTlToBr>
                    <a:lnBlToTr>
                      <a:noFill/>
                    </a:lnBlToTr>
                    <a:solidFill>
                      <a:srgbClr val="FFFFFF"/>
                    </a:solidFill>
                  </a:tcPr>
                </a:tc>
              </a:tr>
            </a:tbl>
          </a:graphicData>
        </a:graphic>
      </p:graphicFrame>
      <p:graphicFrame>
        <p:nvGraphicFramePr>
          <p:cNvPr id="9" name="表格 8"/>
          <p:cNvGraphicFramePr>
            <a:graphicFrameLocks noGrp="1"/>
          </p:cNvGraphicFramePr>
          <p:nvPr>
            <p:custDataLst>
              <p:tags r:id="rId4"/>
            </p:custDataLst>
          </p:nvPr>
        </p:nvGraphicFramePr>
        <p:xfrm>
          <a:off x="7536180" y="3789045"/>
          <a:ext cx="2857500" cy="1191260"/>
        </p:xfrm>
        <a:graphic>
          <a:graphicData uri="http://schemas.openxmlformats.org/drawingml/2006/table">
            <a:tbl>
              <a:tblPr firstRow="1" bandRow="1">
                <a:tableStyleId>{2D5ABB26-0587-4C30-8999-92F81FD0307C}</a:tableStyleId>
              </a:tblPr>
              <a:tblGrid>
                <a:gridCol w="1463675"/>
                <a:gridCol w="1393825"/>
              </a:tblGrid>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2"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7" name="图片 6"/>
          <p:cNvPicPr>
            <a:picLocks noChangeAspect="1"/>
          </p:cNvPicPr>
          <p:nvPr/>
        </p:nvPicPr>
        <p:blipFill>
          <a:blip r:embed="rId6"/>
          <a:stretch>
            <a:fillRect/>
          </a:stretch>
        </p:blipFill>
        <p:spPr>
          <a:xfrm>
            <a:off x="1055370" y="2348865"/>
            <a:ext cx="4067175" cy="3380740"/>
          </a:xfrm>
          <a:prstGeom prst="rect">
            <a:avLst/>
          </a:prstGeom>
        </p:spPr>
      </p:pic>
      <p:sp>
        <p:nvSpPr>
          <p:cNvPr id="8" name="Title 6"/>
          <p:cNvSpPr txBox="1"/>
          <p:nvPr>
            <p:custDataLst>
              <p:tags r:id="rId7"/>
            </p:custDataLst>
          </p:nvPr>
        </p:nvSpPr>
        <p:spPr>
          <a:xfrm>
            <a:off x="839431" y="5589455"/>
            <a:ext cx="11277678" cy="11212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纳什均衡：（小张进，小李退）、（小张退，小李进）</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文本框 17"/>
          <p:cNvSpPr txBox="1"/>
          <p:nvPr/>
        </p:nvSpPr>
        <p:spPr>
          <a:xfrm>
            <a:off x="7752715" y="4436745"/>
            <a:ext cx="993775" cy="476172"/>
          </a:xfrm>
          <a:prstGeom prst="ellipse">
            <a:avLst/>
          </a:prstGeom>
          <a:noFill/>
          <a:ln w="25400" cap="rnd">
            <a:solidFill>
              <a:schemeClr val="accent1"/>
            </a:solidFill>
            <a:prstDash val="solid"/>
          </a:ln>
          <a:effectLst/>
        </p:spPr>
        <p:txBody>
          <a:bodyPr wrap="square" rtlCol="0">
            <a:spAutoFit/>
          </a:bodyPr>
          <a:lstStyle/>
          <a:p>
            <a:endParaRPr lang="zh-CN" altLang="en-US"/>
          </a:p>
        </p:txBody>
      </p:sp>
      <p:sp>
        <p:nvSpPr>
          <p:cNvPr id="19" name="文本框 18"/>
          <p:cNvSpPr txBox="1"/>
          <p:nvPr/>
        </p:nvSpPr>
        <p:spPr>
          <a:xfrm>
            <a:off x="9192895" y="3860800"/>
            <a:ext cx="993775" cy="476172"/>
          </a:xfrm>
          <a:prstGeom prst="ellipse">
            <a:avLst/>
          </a:prstGeom>
          <a:noFill/>
          <a:ln w="25400" cap="rnd">
            <a:solidFill>
              <a:schemeClr val="accent1"/>
            </a:solidFill>
            <a:prstDash val="solid"/>
          </a:ln>
          <a:effectLst/>
        </p:spPr>
        <p:txBody>
          <a:bodyPr wrap="square" rtlCol="0">
            <a:spAutoFit/>
          </a:bodyPr>
          <a:lstStyle/>
          <a:p>
            <a:endParaRPr lang="zh-CN" altLang="en-US"/>
          </a:p>
        </p:txBody>
      </p:sp>
      <p:sp>
        <p:nvSpPr>
          <p:cNvPr id="4" name="文本框 6"/>
          <p:cNvSpPr txBox="1"/>
          <p:nvPr>
            <p:custDataLst>
              <p:tags r:id="rId8"/>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纳什博弈：</a:t>
            </a:r>
            <a:r>
              <a:rPr lang="zh-CN" altLang="en-US" sz="2800" dirty="0">
                <a:solidFill>
                  <a:schemeClr val="accent1"/>
                </a:solidFill>
                <a:sym typeface="+mn-ea"/>
              </a:rPr>
              <a:t>缺点</a:t>
            </a:r>
            <a:endParaRPr lang="zh-CN" altLang="en-US" sz="2800" dirty="0">
              <a:solidFill>
                <a:schemeClr val="accent1"/>
              </a:solidFill>
              <a:sym typeface="+mn-ea"/>
            </a:endParaRPr>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767080" y="692785"/>
            <a:ext cx="10666095" cy="390017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在博弈中纳什均衡点如果有两个或两个以上，结果就难以预料。这对每个博弈方都是麻烦事，因为后果难料，行动也往往进退两难。</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左边还是右边</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如两个骑自行车的人对面碰头，很容易互相“相撞”：因为不知道对方会不会躲、往哪边躲，自己也不知该如何反应，于是撞到一起。自行车相撞一般不会造成什么大杯顾可是如果换成马车、汽车，就可能出现伤亡。所以，应该有一个强制性的规定，来告诉人们该怎么做。</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纳什博弈：</a:t>
            </a:r>
            <a:r>
              <a:rPr lang="zh-CN" altLang="en-US" sz="2800" dirty="0">
                <a:solidFill>
                  <a:schemeClr val="accent1"/>
                </a:solidFill>
                <a:sym typeface="+mn-ea"/>
              </a:rPr>
              <a:t>缺点</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767080" y="692785"/>
            <a:ext cx="10666095" cy="390017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谁打电话</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上面的例子是通过规定解决了问题，不过，若是遇到电话打到一半突然断了的事，你该怎么办？</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如你正在和朋友通话，电话断了，而话还没说完。这时有两个选择，马上打给对方，或等待对方打来。注意：如果你打过去，他就应该等在电话旁，好把自家电话的线路空出来，如果他也在打给你，你们只能听到忙音；另一方面，假如你等待对方打电话，而他也在等待，那么你们的聊天就没有机会继续下去。</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纳什博弈：</a:t>
            </a:r>
            <a:r>
              <a:rPr lang="zh-CN" altLang="en-US" sz="2800" dirty="0">
                <a:solidFill>
                  <a:schemeClr val="accent1"/>
                </a:solidFill>
                <a:sym typeface="+mn-ea"/>
              </a:rPr>
              <a:t>缺点</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767080" y="692785"/>
            <a:ext cx="10666095" cy="27025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 欧共体在空中客车与波音公司的</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竞争中对空中客车公司的战略性补贴。</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欧共体为了打破美国波音公司对全球民航业的垄断，曾放弃欧州传统的自由竞争精神而对与波音公司进行竞争的空中客车公司进行补贴。</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当双方都未获得政府的补贴时，两个公司都开发新型飞机会因市场饱和而亏损，但若一家公司开发而另一家公司不开发时，则开发的那家公司会获巨额利润，见下表。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9" name="表格 8"/>
          <p:cNvGraphicFramePr>
            <a:graphicFrameLocks noGrp="1"/>
          </p:cNvGraphicFramePr>
          <p:nvPr>
            <p:custDataLst>
              <p:tags r:id="rId4"/>
            </p:custDataLst>
          </p:nvPr>
        </p:nvGraphicFramePr>
        <p:xfrm>
          <a:off x="2495550" y="3213100"/>
          <a:ext cx="5716270" cy="2781300"/>
        </p:xfrm>
        <a:graphic>
          <a:graphicData uri="http://schemas.openxmlformats.org/drawingml/2006/table">
            <a:tbl>
              <a:tblPr firstRow="1" bandRow="1">
                <a:tableStyleId>{2D5ABB26-0587-4C30-8999-92F81FD0307C}</a:tableStyleId>
              </a:tblPr>
              <a:tblGrid>
                <a:gridCol w="1280795"/>
                <a:gridCol w="1460500"/>
                <a:gridCol w="1524000"/>
                <a:gridCol w="1450975"/>
              </a:tblGrid>
              <a:tr h="71882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空中客车</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7105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开发</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不开发</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7564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波音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开发</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7627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不开发</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4" name="Title 6"/>
          <p:cNvSpPr txBox="1"/>
          <p:nvPr>
            <p:custDataLst>
              <p:tags r:id="rId5"/>
            </p:custDataLst>
          </p:nvPr>
        </p:nvSpPr>
        <p:spPr>
          <a:xfrm>
            <a:off x="762635" y="5949315"/>
            <a:ext cx="10666095" cy="9715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此时有两个纳什均衡，即一家开发而另一家不开发。</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纳什博弈：</a:t>
            </a:r>
            <a:r>
              <a:rPr lang="zh-CN" altLang="en-US" sz="2800" dirty="0">
                <a:solidFill>
                  <a:schemeClr val="accent1"/>
                </a:solidFill>
                <a:sym typeface="+mn-ea"/>
              </a:rPr>
              <a:t>缺点</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2"/>
            </p:custDataLst>
          </p:nvPr>
        </p:nvSpPr>
        <p:spPr>
          <a:xfrm>
            <a:off x="407035" y="692785"/>
            <a:ext cx="10666095" cy="13995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下面，考虑欧共体对空中客车进行补贴20个单位的情况。此时，当两家都开发时，空中客车仍然盈利10单位而不是亏损，博弈矩阵见下表。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9" name="表格 8"/>
          <p:cNvGraphicFramePr>
            <a:graphicFrameLocks noGrp="1"/>
          </p:cNvGraphicFramePr>
          <p:nvPr>
            <p:custDataLst>
              <p:tags r:id="rId4"/>
            </p:custDataLst>
          </p:nvPr>
        </p:nvGraphicFramePr>
        <p:xfrm>
          <a:off x="2711450" y="2038350"/>
          <a:ext cx="5716270" cy="2781300"/>
        </p:xfrm>
        <a:graphic>
          <a:graphicData uri="http://schemas.openxmlformats.org/drawingml/2006/table">
            <a:tbl>
              <a:tblPr firstRow="1" bandRow="1">
                <a:tableStyleId>{2D5ABB26-0587-4C30-8999-92F81FD0307C}</a:tableStyleId>
              </a:tblPr>
              <a:tblGrid>
                <a:gridCol w="1280795"/>
                <a:gridCol w="1460500"/>
                <a:gridCol w="1524000"/>
                <a:gridCol w="1450975"/>
              </a:tblGrid>
              <a:tr h="71882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空中客车</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7105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开发</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不开发</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7564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波音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开发</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7627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不开发</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120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4" name="Title 6"/>
          <p:cNvSpPr txBox="1"/>
          <p:nvPr>
            <p:custDataLst>
              <p:tags r:id="rId5"/>
            </p:custDataLst>
          </p:nvPr>
        </p:nvSpPr>
        <p:spPr>
          <a:xfrm>
            <a:off x="407035" y="4819650"/>
            <a:ext cx="10666095" cy="202057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此时只有一个纳什均衡，即波音公司不开发和空中客车公司开发的均衡（不开发，开发)，这有利于空中客车。</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在这里，欧共体对空中客车的补贴就是使空中客车一定要开发（无论波音是否开发）的</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威胁</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变得</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可置信的一种“承诺行动”</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纳什博弈：</a:t>
            </a:r>
            <a:r>
              <a:rPr lang="zh-CN" altLang="en-US" sz="2800" dirty="0">
                <a:solidFill>
                  <a:schemeClr val="accent1"/>
                </a:solidFill>
                <a:sym typeface="+mn-ea"/>
              </a:rPr>
              <a:t>缺点</a:t>
            </a:r>
            <a:endParaRPr lang="zh-CN" altLang="en-US" sz="2800" dirty="0">
              <a:solidFill>
                <a:schemeClr val="accent1"/>
              </a:solidFill>
              <a:sym typeface="+mn-ea"/>
            </a:endParaRPr>
          </a:p>
        </p:txBody>
      </p:sp>
      <p:sp>
        <p:nvSpPr>
          <p:cNvPr id="18" name="文本框 17"/>
          <p:cNvSpPr txBox="1"/>
          <p:nvPr>
            <p:custDataLst>
              <p:tags r:id="rId7"/>
            </p:custDataLst>
          </p:nvPr>
        </p:nvSpPr>
        <p:spPr>
          <a:xfrm>
            <a:off x="5735955" y="4292600"/>
            <a:ext cx="993775" cy="476172"/>
          </a:xfrm>
          <a:prstGeom prst="ellipse">
            <a:avLst/>
          </a:prstGeom>
          <a:noFill/>
          <a:ln w="25400" cap="rnd">
            <a:solidFill>
              <a:schemeClr val="accent1"/>
            </a:solidFill>
            <a:prstDash val="solid"/>
          </a:ln>
          <a:effectLst/>
        </p:spPr>
        <p:txBody>
          <a:bodyPr wrap="square" rtlCol="0">
            <a:spAutoFit/>
          </a:bodyPr>
          <a:p>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习题</a:t>
            </a:r>
            <a:endParaRPr lang="zh-CN" altLang="en-US"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839470" y="914400"/>
            <a:ext cx="4656455" cy="6661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用划线法求解该博弈的纳什均衡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1847850" y="1713230"/>
          <a:ext cx="6838950" cy="3206750"/>
        </p:xfrm>
        <a:graphic>
          <a:graphicData uri="http://schemas.openxmlformats.org/drawingml/2006/table">
            <a:tbl>
              <a:tblPr firstRow="1" bandRow="1">
                <a:tableStyleId>{2D5ABB26-0587-4C30-8999-92F81FD0307C}</a:tableStyleId>
              </a:tblPr>
              <a:tblGrid>
                <a:gridCol w="1440815"/>
                <a:gridCol w="1643380"/>
                <a:gridCol w="1251585"/>
                <a:gridCol w="1251585"/>
                <a:gridCol w="1251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3">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marL="215900" marR="215900" marT="133350" marB="133350" anchor="ctr">
                    <a:lnL>
                      <a:noFill/>
                    </a:lnL>
                    <a:lnR>
                      <a:noFill/>
                    </a:lnR>
                    <a:lnT>
                      <a:noFill/>
                    </a:lnT>
                    <a:lnB>
                      <a:noFill/>
                    </a:lnB>
                    <a:lnTlToBr>
                      <a:noFill/>
                    </a:lnTlToBr>
                    <a:lnBlToTr>
                      <a:noFill/>
                    </a:lnBlToTr>
                    <a:solidFill>
                      <a:srgbClr val="FFFFFF"/>
                    </a:solidFill>
                  </a:tcPr>
                </a:tc>
                <a:tc hMerge="1">
                  <a:tcPr marL="215900" marR="215900" marT="133350" marB="133350" anchor="ctr">
                    <a:lnL>
                      <a:noFill/>
                    </a:lnL>
                    <a:lnR>
                      <a:noFill/>
                    </a:lnR>
                    <a:lnT>
                      <a:noFill/>
                    </a:lnT>
                    <a:lnB>
                      <a:noFill/>
                    </a:lnB>
                    <a:lnTlToBr>
                      <a:noFill/>
                    </a:lnTlToBr>
                    <a:lnBlToTr>
                      <a:noFill/>
                    </a:lnBlToTr>
                    <a:solidFill>
                      <a:srgbClr val="FFFFFF"/>
                    </a:solidFill>
                  </a:tcPr>
                </a:tc>
              </a:tr>
              <a:tr h="83439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gridSpan="3">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左</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中</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hMerge="1">
                  <a:tcPr marL="215900" marR="215900" marT="133350" marB="133350" anchor="ctr">
                    <a:lnL>
                      <a:noFill/>
                    </a:lnL>
                    <a:lnR>
                      <a:noFill/>
                    </a:lnR>
                    <a:lnT>
                      <a:noFill/>
                    </a:lnT>
                    <a:lnB w="9525">
                      <a:solidFill>
                        <a:srgbClr val="577CCE"/>
                      </a:solidFill>
                      <a:prstDash val="sysDash"/>
                    </a:lnB>
                    <a:solidFill>
                      <a:srgbClr val="FFFFFF"/>
                    </a:solidFill>
                  </a:tcPr>
                </a:tc>
                <a:tc hMerge="1">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上</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1,3</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下</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习题</a:t>
            </a:r>
            <a:endParaRPr lang="zh-CN" altLang="en-US"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3"/>
            </p:custDataLst>
          </p:nvPr>
        </p:nvSpPr>
        <p:spPr>
          <a:xfrm>
            <a:off x="839470" y="914400"/>
            <a:ext cx="4656455" cy="6661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用箭头法求解该博弈的纳什均衡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1847850" y="1713230"/>
          <a:ext cx="6838950" cy="3206750"/>
        </p:xfrm>
        <a:graphic>
          <a:graphicData uri="http://schemas.openxmlformats.org/drawingml/2006/table">
            <a:tbl>
              <a:tblPr firstRow="1" bandRow="1">
                <a:tableStyleId>{2D5ABB26-0587-4C30-8999-92F81FD0307C}</a:tableStyleId>
              </a:tblPr>
              <a:tblGrid>
                <a:gridCol w="1440815"/>
                <a:gridCol w="1643380"/>
                <a:gridCol w="1251585"/>
                <a:gridCol w="1251585"/>
                <a:gridCol w="125158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3">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marL="215900" marR="215900" marT="133350" marB="133350" anchor="ctr">
                    <a:lnL>
                      <a:noFill/>
                    </a:lnL>
                    <a:lnR>
                      <a:noFill/>
                    </a:lnR>
                    <a:lnT>
                      <a:noFill/>
                    </a:lnT>
                    <a:lnB>
                      <a:noFill/>
                    </a:lnB>
                    <a:lnTlToBr>
                      <a:noFill/>
                    </a:lnTlToBr>
                    <a:lnBlToTr>
                      <a:noFill/>
                    </a:lnBlToTr>
                    <a:solidFill>
                      <a:srgbClr val="FFFFFF"/>
                    </a:solidFill>
                  </a:tcPr>
                </a:tc>
                <a:tc hMerge="1">
                  <a:tcPr marL="215900" marR="215900" marT="133350" marB="133350" anchor="ctr">
                    <a:lnL>
                      <a:noFill/>
                    </a:lnL>
                    <a:lnR>
                      <a:noFill/>
                    </a:lnR>
                    <a:lnT>
                      <a:noFill/>
                    </a:lnT>
                    <a:lnB>
                      <a:noFill/>
                    </a:lnB>
                    <a:lnTlToBr>
                      <a:noFill/>
                    </a:lnTlToBr>
                    <a:lnBlToTr>
                      <a:noFill/>
                    </a:lnBlToTr>
                    <a:solidFill>
                      <a:srgbClr val="FFFFFF"/>
                    </a:solidFill>
                  </a:tcPr>
                </a:tc>
              </a:tr>
              <a:tr h="83439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gridSpan="3">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左</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中</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hMerge="1">
                  <a:tcPr marL="215900" marR="215900" marT="133350" marB="133350" anchor="ctr">
                    <a:lnL>
                      <a:noFill/>
                    </a:lnL>
                    <a:lnR>
                      <a:noFill/>
                    </a:lnR>
                    <a:lnT>
                      <a:noFill/>
                    </a:lnT>
                    <a:lnB w="9525">
                      <a:solidFill>
                        <a:srgbClr val="577CCE"/>
                      </a:solidFill>
                      <a:prstDash val="sysDash"/>
                    </a:lnB>
                    <a:solidFill>
                      <a:srgbClr val="FFFFFF"/>
                    </a:solidFill>
                  </a:tcPr>
                </a:tc>
                <a:tc hMerge="1">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上</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1,3</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下</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buNone/>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0,0</a:t>
                      </a:r>
                      <a:endPar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得益、反应函数</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3"/>
            </p:custDataLst>
          </p:nvPr>
        </p:nvSpPr>
        <p:spPr>
          <a:xfrm>
            <a:off x="2501265" y="3789252"/>
            <a:ext cx="7315200" cy="685109"/>
          </a:xfrm>
          <a:prstGeom prst="rect">
            <a:avLst/>
          </a:prstGeom>
          <a:noFill/>
          <a:ln w="3175">
            <a:noFill/>
            <a:prstDash val="dash"/>
          </a:ln>
        </p:spPr>
        <p:txBody>
          <a:bodyPr wrap="square" lIns="63500" tIns="25400" rIns="63500" bIns="25400" anchor="b" anchorCtr="0">
            <a:normAutofit fontScale="925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反应函数通常是从最优化得益函数(利润、效用函数) 中求得。</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Title 6"/>
          <p:cNvSpPr txBox="1"/>
          <p:nvPr>
            <p:custDataLst>
              <p:tags r:id="rId4"/>
            </p:custDataLst>
          </p:nvPr>
        </p:nvSpPr>
        <p:spPr>
          <a:xfrm>
            <a:off x="2501265" y="1772920"/>
            <a:ext cx="7315200" cy="92011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在无限策略博弈中，并不用得益博弈矩阵，而是用</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得益反应函数</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来讨论博弈的纳什均衡问题。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9" name="组合 8"/>
          <p:cNvGrpSpPr/>
          <p:nvPr>
            <p:custDataLst>
              <p:tags r:id="rId5"/>
            </p:custDataLst>
          </p:nvPr>
        </p:nvGrpSpPr>
        <p:grpSpPr>
          <a:xfrm rot="10800000">
            <a:off x="1456845" y="1066804"/>
            <a:ext cx="844068" cy="703390"/>
            <a:chOff x="13507" y="7307"/>
            <a:chExt cx="4780" cy="4212"/>
          </a:xfrm>
          <a:solidFill>
            <a:srgbClr val="000000">
              <a:alpha val="10000"/>
            </a:srgbClr>
          </a:solidFill>
        </p:grpSpPr>
        <p:sp>
          <p:nvSpPr>
            <p:cNvPr id="10" name="任意多边形: 形状 26"/>
            <p:cNvSpPr>
              <a:spLocks noChangeAspect="1"/>
            </p:cNvSpPr>
            <p:nvPr>
              <p:custDataLst>
                <p:tags r:id="rId6"/>
              </p:custDataLst>
            </p:nvPr>
          </p:nvSpPr>
          <p:spPr>
            <a:xfrm rot="10800000">
              <a:off x="13507"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1" name="任意多边形: 形状 27"/>
            <p:cNvSpPr>
              <a:spLocks noChangeAspect="1"/>
            </p:cNvSpPr>
            <p:nvPr>
              <p:custDataLst>
                <p:tags r:id="rId7"/>
              </p:custDataLst>
            </p:nvPr>
          </p:nvSpPr>
          <p:spPr>
            <a:xfrm rot="10800000">
              <a:off x="16209"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grpSp>
      <p:grpSp>
        <p:nvGrpSpPr>
          <p:cNvPr id="12" name="组合 11"/>
          <p:cNvGrpSpPr/>
          <p:nvPr>
            <p:custDataLst>
              <p:tags r:id="rId8"/>
            </p:custDataLst>
          </p:nvPr>
        </p:nvGrpSpPr>
        <p:grpSpPr>
          <a:xfrm>
            <a:off x="9897527" y="5849857"/>
            <a:ext cx="844068" cy="703390"/>
            <a:chOff x="13507" y="7307"/>
            <a:chExt cx="4780" cy="4212"/>
          </a:xfrm>
          <a:solidFill>
            <a:srgbClr val="000000">
              <a:alpha val="10000"/>
            </a:srgbClr>
          </a:solidFill>
        </p:grpSpPr>
        <p:sp>
          <p:nvSpPr>
            <p:cNvPr id="13" name="任意多边形: 形状 26"/>
            <p:cNvSpPr>
              <a:spLocks noChangeAspect="1"/>
            </p:cNvSpPr>
            <p:nvPr>
              <p:custDataLst>
                <p:tags r:id="rId9"/>
              </p:custDataLst>
            </p:nvPr>
          </p:nvSpPr>
          <p:spPr>
            <a:xfrm rot="10800000">
              <a:off x="13507"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4" name="任意多边形: 形状 27"/>
            <p:cNvSpPr>
              <a:spLocks noChangeAspect="1"/>
            </p:cNvSpPr>
            <p:nvPr>
              <p:custDataLst>
                <p:tags r:id="rId10"/>
              </p:custDataLst>
            </p:nvPr>
          </p:nvSpPr>
          <p:spPr>
            <a:xfrm rot="10800000">
              <a:off x="16209"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grpSp>
      <p:pic>
        <p:nvPicPr>
          <p:cNvPr id="6" name="图片 1" descr="f01494d1831cca2c2d8b5f9021c13ad"/>
          <p:cNvPicPr>
            <a:picLocks noChangeAspect="1"/>
          </p:cNvPicPr>
          <p:nvPr/>
        </p:nvPicPr>
        <p:blipFill>
          <a:blip r:embed="rId1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Title 6"/>
          <p:cNvSpPr txBox="1"/>
          <p:nvPr>
            <p:custDataLst>
              <p:tags r:id="rId12"/>
            </p:custDataLst>
          </p:nvPr>
        </p:nvSpPr>
        <p:spPr>
          <a:xfrm>
            <a:off x="2501265" y="4686300"/>
            <a:ext cx="7315200" cy="92011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各博弈方反应函数的交点就是纳什均衡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Title 6"/>
          <p:cNvSpPr txBox="1"/>
          <p:nvPr>
            <p:custDataLst>
              <p:tags r:id="rId13"/>
            </p:custDataLst>
          </p:nvPr>
        </p:nvSpPr>
        <p:spPr>
          <a:xfrm>
            <a:off x="2495550" y="5373370"/>
            <a:ext cx="7315200" cy="92011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用反应函数求纳什均衡的方法称为反应函数法。反应函数法是划线法思路的推广。</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Title 6"/>
          <p:cNvSpPr txBox="1"/>
          <p:nvPr>
            <p:custDataLst>
              <p:tags r:id="rId14"/>
            </p:custDataLst>
          </p:nvPr>
        </p:nvSpPr>
        <p:spPr>
          <a:xfrm>
            <a:off x="2501265" y="2780665"/>
            <a:ext cx="7315200" cy="796290"/>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反应函数：当</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得益为</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策略的多元函数</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时，每个博弈方针对其他博弈方所有策略的最佳反应所构成的函数。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0" name="直接连接符 9"/>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userDrawn="1">
            <p:custDataLst>
              <p:tags r:id="rId2"/>
            </p:custDataLst>
          </p:nvPr>
        </p:nvSpPr>
        <p:spPr>
          <a:xfrm>
            <a:off x="622935" y="1772920"/>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3"/>
            </p:custDataLst>
          </p:nvPr>
        </p:nvSpPr>
        <p:spPr>
          <a:xfrm>
            <a:off x="2997835" y="2188845"/>
            <a:ext cx="710120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若得益函数连续、拟凹，博弈存在一个纯策略纳什均衡。</a:t>
            </a:r>
            <a:endPar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a:p>
            <a:pPr marL="285750" lvl="1" indent="0" algn="l" fontAlgn="auto">
              <a:lnSpc>
                <a:spcPct val="120000"/>
              </a:lnSpc>
              <a:spcBef>
                <a:spcPts val="0"/>
              </a:spcBef>
              <a:spcAft>
                <a:spcPts val="800"/>
              </a:spcAft>
              <a:buSzPct val="100000"/>
              <a:buFont typeface="Arial" panose="020B0604020202020204" pitchFamily="34" charset="0"/>
              <a:buNone/>
            </a:pP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D：Debrreu(德布鲁)</a:t>
            </a:r>
            <a:endPar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a:p>
            <a:pPr marL="285750" lvl="1" indent="0" algn="l" fontAlgn="auto">
              <a:lnSpc>
                <a:spcPct val="120000"/>
              </a:lnSpc>
              <a:spcBef>
                <a:spcPts val="0"/>
              </a:spcBef>
              <a:spcAft>
                <a:spcPts val="800"/>
              </a:spcAft>
              <a:buSzPct val="100000"/>
              <a:buFont typeface="Arial" panose="020B0604020202020204" pitchFamily="34" charset="0"/>
              <a:buNone/>
            </a:pPr>
            <a:r>
              <a:rPr lang="en-US" altLang="zh-CN"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G</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：Glickssberg(格里兹格)</a:t>
            </a:r>
            <a:endPar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a:p>
            <a:pPr marL="285750" lvl="1" indent="0" algn="l" fontAlgn="auto">
              <a:lnSpc>
                <a:spcPct val="120000"/>
              </a:lnSpc>
              <a:spcBef>
                <a:spcPts val="0"/>
              </a:spcBef>
              <a:spcAft>
                <a:spcPts val="800"/>
              </a:spcAft>
              <a:buSzPct val="100000"/>
              <a:buFont typeface="Arial" panose="020B0604020202020204" pitchFamily="34" charset="0"/>
              <a:buNone/>
            </a:pPr>
            <a:r>
              <a:rPr lang="en-US" altLang="zh-CN"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F</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：Fan(芬)</a:t>
            </a:r>
            <a:endPar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en-US" altLang="zh-CN" sz="2800" dirty="0">
                <a:solidFill>
                  <a:schemeClr val="accent1"/>
                </a:solidFill>
                <a:sym typeface="+mn-ea"/>
              </a:rPr>
              <a:t>DGF定理</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 name="直接连接符 1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2"/>
            </p:custDataLst>
          </p:nvPr>
        </p:nvSpPr>
        <p:spPr>
          <a:xfrm>
            <a:off x="762635" y="1196975"/>
            <a:ext cx="11277600" cy="477456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设一市场有两个厂商供应同样的产品。厂商</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产量</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cs typeface="Times New Roman" panose="02020603050405020304" pitchFamily="18" charset="0"/>
                <a:sym typeface="+mn-ea"/>
              </a:rPr>
              <a:t>，厂商</a:t>
            </a:r>
            <a:r>
              <a:rPr altLang="zh-CN" sz="2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cs typeface="Times New Roman" panose="02020603050405020304" pitchFamily="18" charset="0"/>
                <a:sym typeface="+mn-ea"/>
              </a:rPr>
              <a:t>产量</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cs typeface="Times New Roman" panose="02020603050405020304" pitchFamily="18" charset="0"/>
                <a:sym typeface="+mn-ea"/>
              </a:rPr>
              <a:t>，市场总供给</a:t>
            </a:r>
            <a:endParaRPr lang="zh-CN" altLang="en-US" sz="2000">
              <a:latin typeface="Times New Roman" panose="02020603050405020304" pitchFamily="18" charset="0"/>
              <a:cs typeface="Times New Roman" panose="02020603050405020304" pitchFamily="18" charset="0"/>
              <a:sym typeface="+mn-ea"/>
            </a:endParaRPr>
          </a:p>
          <a:p>
            <a:pPr lvl="0" indent="0" algn="just" fontAlgn="ctr">
              <a:lnSpc>
                <a:spcPct val="130000"/>
              </a:lnSpc>
              <a:spcBef>
                <a:spcPts val="1000"/>
              </a:spcBef>
              <a:spcAft>
                <a:spcPts val="0"/>
              </a:spcAft>
              <a:buSzPct val="100000"/>
              <a:buFont typeface="Wingdings" panose="05000000000000000000" charset="0"/>
            </a:pP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     Q</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cs typeface="Times New Roman" panose="02020603050405020304" pitchFamily="18" charset="0"/>
                <a:sym typeface="+mn-ea"/>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市场出清价格</a:t>
            </a:r>
            <a:r>
              <a:rPr altLang="zh-CN" sz="2000">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（可以将产品全部卖出去的价格）是市场总供给的函数</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30000"/>
              </a:lnSpc>
              <a:spcBef>
                <a:spcPts val="1000"/>
              </a:spcBef>
              <a:spcAft>
                <a:spcPts val="0"/>
              </a:spcAft>
              <a:buSzPct val="100000"/>
              <a:buFont typeface="Wingdings" panose="05000000000000000000" charset="0"/>
            </a:pPr>
            <a:r>
              <a:rPr altLang="zh-CN" sz="2000" i="1">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    P</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 P</a:t>
            </a:r>
            <a:r>
              <a:rPr lang="zh-CN" altLang="en-US" sz="200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微软雅黑" panose="020B0503020204020204" pitchFamily="34" charset="-122"/>
                <a:ea typeface="微软雅黑" panose="020B0503020204020204" pitchFamily="34" charset="-122"/>
                <a:cs typeface="Times New Roman" panose="02020603050405020304" pitchFamily="18" charset="0"/>
                <a:sym typeface="+mn-ea"/>
              </a:rPr>
              <a:t>设两个厂商都没有固定成本，每增加一单位产量的边际成本</a:t>
            </a:r>
            <a:endParaRPr lang="zh-CN" altLang="en-US" sz="2000">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0" lvl="1" indent="0" algn="just" fontAlgn="ctr">
              <a:lnSpc>
                <a:spcPct val="130000"/>
              </a:lnSpc>
              <a:spcBef>
                <a:spcPts val="1000"/>
              </a:spcBef>
              <a:spcAft>
                <a:spcPts val="0"/>
              </a:spcAft>
              <a:buSzPct val="100000"/>
              <a:buFont typeface="Wingdings" panose="05000000000000000000" charset="0"/>
            </a:pPr>
            <a:r>
              <a:rPr lang="en-US" sz="2000" i="1">
                <a:latin typeface="Times New Roman" panose="02020603050405020304" pitchFamily="18" charset="0"/>
                <a:cs typeface="Times New Roman" panose="02020603050405020304" pitchFamily="18" charset="0"/>
                <a:sym typeface="+mn-ea"/>
              </a:rPr>
              <a:t>    </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c</a:t>
            </a:r>
            <a:r>
              <a:rPr altLang="zh-CN" sz="2000" baseline="-250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sz="200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sz="200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两个厂商</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同时决策</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，即决策之前都不知道另一方产量。</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两个博弈方的策略空间是他们可以选择的产量。产量是连续可分的，因此两个</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30000"/>
              </a:lnSpc>
              <a:spcBef>
                <a:spcPts val="1000"/>
              </a:spcBef>
              <a:spcAft>
                <a:spcPts val="0"/>
              </a:spcAft>
              <a:buSzPct val="100000"/>
              <a:buFont typeface="Wingdings" panose="05000000000000000000" charset="0"/>
            </a:pPr>
            <a:r>
              <a:rPr altLang="zh-CN"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厂商都有</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无限多种可选策略</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两个博弈方的</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得益是两个厂商各自的利润</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，即各自的销售收益减去各自的成本。</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Font typeface="Arial" panose="020B0604020202020204" pitchFamily="34" charset="0"/>
              <a:buNone/>
            </a:pPr>
            <a:endParaRPr lang="en-US" altLang="zh-CN" sz="2000" b="0" i="1"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4"/>
            </p:custDataLst>
          </p:nvPr>
        </p:nvSpPr>
        <p:spPr>
          <a:xfrm>
            <a:off x="762641"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双寡头古诺模型</a:t>
            </a:r>
            <a:endParaRPr lang="zh-CN" altLang="en-US" sz="2800" dirty="0">
              <a:solidFill>
                <a:schemeClr val="accent1"/>
              </a:solidFill>
              <a:sym typeface="+mn-ea"/>
            </a:endParaRPr>
          </a:p>
        </p:txBody>
      </p:sp>
      <p:grpSp>
        <p:nvGrpSpPr>
          <p:cNvPr id="4" name="组合 3"/>
          <p:cNvGrpSpPr/>
          <p:nvPr/>
        </p:nvGrpSpPr>
        <p:grpSpPr>
          <a:xfrm>
            <a:off x="2861310" y="4381500"/>
            <a:ext cx="7680325" cy="1908810"/>
            <a:chOff x="4506" y="6900"/>
            <a:chExt cx="12095" cy="3006"/>
          </a:xfrm>
        </p:grpSpPr>
        <p:sp>
          <p:nvSpPr>
            <p:cNvPr id="5" name="内容占位符 2"/>
            <p:cNvSpPr>
              <a:spLocks noGrp="1"/>
            </p:cNvSpPr>
            <p:nvPr/>
          </p:nvSpPr>
          <p:spPr>
            <a:xfrm rot="780000">
              <a:off x="15021" y="6900"/>
              <a:ext cx="1581" cy="3007"/>
            </a:xfrm>
            <a:prstGeom prst="rect">
              <a:avLst/>
            </a:prstGeom>
            <a:effectLst>
              <a:glow rad="63500">
                <a:schemeClr val="accent2">
                  <a:satMod val="175000"/>
                  <a:alpha val="40000"/>
                </a:schemeClr>
              </a:glow>
            </a:effectLst>
          </p:spPr>
          <p:txBody>
            <a:bodyPr vert="horz" lIns="90000" tIns="46800" rIns="90000" bIns="46800" rtlCol="0">
              <a:scene3d>
                <a:camera prst="orthographicFront"/>
                <a:lightRig rig="threePt" dir="t"/>
              </a:scene3d>
            </a:bodyPr>
            <a:lstStyle>
              <a:lvl1pPr marL="171450" indent="-171450" algn="l" defTabSz="685165"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165"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lnSpc>
                  <a:spcPct val="130000"/>
                </a:lnSpc>
                <a:buFont typeface="Wingdings" panose="05000000000000000000" charset="0"/>
                <a:buNone/>
              </a:pPr>
              <a:r>
                <a:rPr lang="zh-CN" altLang="en-US" sz="1380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pitchFamily="34" charset="-122"/>
                  <a:ea typeface="微软雅黑" panose="020B0503020204020204" pitchFamily="34" charset="-122"/>
                  <a:sym typeface="+mn-ea"/>
                </a:rPr>
                <a:t>？</a:t>
              </a:r>
              <a:endParaRPr lang="zh-CN" altLang="en-US" sz="1380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5"/>
              </p:custDataLst>
            </p:nvPr>
          </p:nvSpPr>
          <p:spPr>
            <a:xfrm>
              <a:off x="4506" y="7759"/>
              <a:ext cx="6794" cy="1200"/>
            </a:xfrm>
            <a:prstGeom prst="rect">
              <a:avLst/>
            </a:prstGeom>
            <a:noFill/>
            <a:ln w="31750">
              <a:solidFill>
                <a:schemeClr val="accent1"/>
              </a:solidFill>
              <a:prstDash val="sysDash"/>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800" dirty="0">
                  <a:solidFill>
                    <a:schemeClr val="tx1"/>
                  </a:solidFill>
                  <a:sym typeface="+mn-ea"/>
                </a:rPr>
                <a:t>     </a:t>
              </a:r>
              <a:r>
                <a:rPr lang="zh-CN" altLang="en-US" sz="2400" dirty="0">
                  <a:solidFill>
                    <a:schemeClr val="tx1"/>
                  </a:solidFill>
                  <a:sym typeface="+mn-ea"/>
                </a:rPr>
                <a:t>如何求该博弈的纳什均衡</a:t>
              </a:r>
              <a:endParaRPr lang="zh-CN" altLang="en-US" sz="2400" dirty="0">
                <a:solidFill>
                  <a:schemeClr val="tx1"/>
                </a:solidFill>
                <a:sym typeface="+mn-ea"/>
              </a:endParaRPr>
            </a:p>
          </p:txBody>
        </p: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 name="直接连接符 1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Title 6"/>
              <p:cNvSpPr txBox="1"/>
              <p:nvPr>
                <p:custDataLst>
                  <p:tags r:id="rId2"/>
                </p:custDataLst>
              </p:nvPr>
            </p:nvSpPr>
            <p:spPr>
              <a:xfrm>
                <a:off x="839425" y="1124569"/>
                <a:ext cx="11277678" cy="4229126"/>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反需求函数和边际成本</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c</a:t>
                </a:r>
                <a:r>
                  <a:rPr altLang="zh-CN" sz="2000" baseline="-250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得益（支付）函数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P</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cs typeface="Times New Roman" panose="02020603050405020304" pitchFamily="18" charset="0"/>
                    <a:sym typeface="+mn-ea"/>
                  </a:rPr>
                  <a:t>1</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 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=6</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en-US" sz="2000" baseline="30000">
                    <a:latin typeface="Times New Roman" panose="02020603050405020304" pitchFamily="18" charset="0"/>
                    <a:cs typeface="Times New Roman" panose="02020603050405020304" pitchFamily="18" charset="0"/>
                    <a:sym typeface="+mn-ea"/>
                  </a:rPr>
                  <a:t>2</a:t>
                </a:r>
                <a:endParaRPr lang="en-US" sz="2000" baseline="30000">
                  <a:latin typeface="Times New Roman" panose="02020603050405020304" pitchFamily="18" charset="0"/>
                  <a:cs typeface="Times New Roman" panose="02020603050405020304" pitchFamily="18" charset="0"/>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P</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 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mn-ea"/>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=6</a:t>
                </a:r>
                <a:r>
                  <a:rPr altLang="zh-CN" sz="2000" i="1">
                    <a:latin typeface="Times New Roman" panose="02020603050405020304" pitchFamily="18" charset="0"/>
                    <a:cs typeface="Times New Roman" panose="02020603050405020304" pitchFamily="18" charset="0"/>
                    <a:sym typeface="+mn-ea"/>
                  </a:rPr>
                  <a:t>q</a:t>
                </a:r>
                <a:r>
                  <a:rPr lang="en-US" sz="2000" baseline="-25000">
                    <a:latin typeface="Times New Roman" panose="02020603050405020304" pitchFamily="18" charset="0"/>
                    <a:cs typeface="Times New Roman" panose="02020603050405020304" pitchFamily="18" charset="0"/>
                    <a:sym typeface="+mn-ea"/>
                  </a:rPr>
                  <a:t>2</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lang="en-US" sz="2000" baseline="-25000">
                    <a:latin typeface="Times New Roman" panose="02020603050405020304" pitchFamily="18" charset="0"/>
                    <a:cs typeface="Times New Roman" panose="02020603050405020304" pitchFamily="18" charset="0"/>
                    <a:sym typeface="+mn-ea"/>
                  </a:rPr>
                  <a:t>2</a:t>
                </a:r>
                <a:r>
                  <a:rPr lang="en-US" sz="2000" baseline="30000">
                    <a:latin typeface="Times New Roman" panose="02020603050405020304" pitchFamily="18" charset="0"/>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求解</a:t>
                </a:r>
                <a:r>
                  <a:rPr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max</a:t>
                </a: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max</a:t>
                </a: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一阶条件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f>
                      <m:fPr>
                        <m:ctrlPr>
                          <a:rPr lang="en-US" altLang="zh-CN" sz="2000" i="1" smtClean="0">
                            <a:solidFill>
                              <a:schemeClr val="dk1">
                                <a:lumMod val="75000"/>
                                <a:lumOff val="25000"/>
                              </a:schemeClr>
                            </a:solidFill>
                            <a:latin typeface="Cambria Math" panose="02040503050406030204" pitchFamily="18" charset="0"/>
                            <a:cs typeface="Cambria Math" panose="020405030504060302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𝑢</m:t>
                            </m:r>
                          </m:e>
                          <m:sub>
                            <m:r>
                              <a:rPr lang="en-US" altLang="zh-CN" sz="2000" b="0" i="1" smtClean="0">
                                <a:latin typeface="Cambria Math" panose="02040503050406030204" pitchFamily="18" charset="0"/>
                                <a:cs typeface="Times New Roman" panose="02020603050405020304" pitchFamily="18" charset="0"/>
                              </a:rPr>
                              <m:t>1</m:t>
                            </m:r>
                          </m:sub>
                        </m:sSub>
                      </m:num>
                      <m:den>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1</m:t>
                            </m:r>
                          </m:sub>
                        </m:sSub>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6</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1</m:t>
                        </m:r>
                      </m:sub>
                    </m:sSub>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2</m:t>
                        </m:r>
                      </m:sub>
                    </m:sSub>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0</m:t>
                    </m:r>
                    <m:r>
                      <a:rPr lang="zh-CN" altLang="en-US" sz="2000" i="1">
                        <a:latin typeface="Cambria Math" panose="02040503050406030204" pitchFamily="18" charset="0"/>
                        <a:cs typeface="Times New Roman" panose="02020603050405020304" pitchFamily="18" charset="0"/>
                      </a:rPr>
                      <m:t>，</m:t>
                    </m:r>
                    <m:f>
                      <m:fPr>
                        <m:ctrlPr>
                          <a:rPr lang="en-US" altLang="zh-CN" sz="2000" i="1" smtClean="0">
                            <a:latin typeface="Cambria Math" panose="02040503050406030204" pitchFamily="18" charset="0"/>
                            <a:cs typeface="Times New Roman" panose="020206030504050203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𝑢</m:t>
                            </m:r>
                          </m:e>
                          <m:sub>
                            <m:r>
                              <a:rPr lang="en-US" altLang="zh-CN" sz="2000" b="0" i="1" smtClean="0">
                                <a:latin typeface="Cambria Math" panose="02040503050406030204" pitchFamily="18" charset="0"/>
                                <a:cs typeface="Times New Roman" panose="02020603050405020304" pitchFamily="18" charset="0"/>
                              </a:rPr>
                              <m:t>2</m:t>
                            </m:r>
                          </m:sub>
                        </m:sSub>
                      </m:num>
                      <m:den>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2</m:t>
                            </m:r>
                          </m:sub>
                        </m:sSub>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6</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2</m:t>
                        </m:r>
                      </m:sub>
                    </m:sSub>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1</m:t>
                        </m:r>
                      </m:sub>
                    </m:sSub>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0</m:t>
                    </m:r>
                  </m:oMath>
                </a14:m>
                <a:endParaRPr lang="en-US" altLang="zh-CN" sz="2000" b="0" i="1"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5" name="Title 6"/>
              <p:cNvSpPr txBox="1">
                <a:spLocks noRot="1" noChangeAspect="1" noMove="1" noResize="1" noEditPoints="1" noAdjustHandles="1" noChangeArrowheads="1" noChangeShapeType="1" noTextEdit="1"/>
              </p:cNvSpPr>
              <p:nvPr>
                <p:custDataLst>
                  <p:tags r:id="rId3"/>
                </p:custDataLst>
              </p:nvPr>
            </p:nvSpPr>
            <p:spPr>
              <a:xfrm>
                <a:off x="839425" y="1124569"/>
                <a:ext cx="11277678" cy="4229126"/>
              </a:xfrm>
              <a:prstGeom prst="rect">
                <a:avLst/>
              </a:prstGeom>
              <a:blipFill rotWithShape="1">
                <a:blip r:embed="rId4"/>
                <a:stretch>
                  <a:fillRect l="-5" t="-15"/>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双寡头古诺模型</a:t>
            </a:r>
            <a:endParaRPr lang="zh-CN" altLang="en-US" sz="2800" dirty="0">
              <a:solidFill>
                <a:schemeClr val="accent1"/>
              </a:solidFill>
              <a:sym typeface="+mn-ea"/>
            </a:endParaRPr>
          </a:p>
        </p:txBody>
      </p:sp>
      <p:sp>
        <p:nvSpPr>
          <p:cNvPr id="4" name="云形标注 3"/>
          <p:cNvSpPr/>
          <p:nvPr/>
        </p:nvSpPr>
        <p:spPr bwMode="auto">
          <a:xfrm>
            <a:off x="7463790" y="2708993"/>
            <a:ext cx="2924810" cy="1464145"/>
          </a:xfrm>
          <a:prstGeom prst="cloudCallout">
            <a:avLst>
              <a:gd name="adj1" fmla="val -65659"/>
              <a:gd name="adj2" fmla="val -10181"/>
            </a:avLst>
          </a:prstGeom>
          <a:noFill/>
          <a:ln>
            <a:solidFill>
              <a:srgbClr val="577CCE"/>
            </a:solidFill>
          </a:ln>
          <a:effectLst/>
        </p:spPr>
        <p:txBody>
          <a:bodyPr vert="horz" wrap="square" lIns="90170" tIns="46990" rIns="90170" bIns="46990" numCol="1" rtlCol="0" anchor="ctr" anchorCtr="0" compatLnSpc="1">
            <a:spAutoFit/>
          </a:bodyPr>
          <a:lstStyle/>
          <a:p>
            <a:pPr eaLnBrk="1" hangingPunct="1"/>
            <a:r>
              <a:rPr lang="zh-CN" altLang="en-US" sz="1800" b="1" dirty="0">
                <a:solidFill>
                  <a:schemeClr val="tx1"/>
                </a:solidFill>
                <a:latin typeface="微软雅黑" panose="020B0503020204020204" pitchFamily="34" charset="-122"/>
                <a:ea typeface="微软雅黑" panose="020B0503020204020204" pitchFamily="34" charset="-122"/>
              </a:rPr>
              <a:t>两个博弈方的得益都取决于双方策略（产量）</a:t>
            </a:r>
            <a:endParaRPr kumimoji="0" lang="zh-CN" altLang="en-US"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2"/>
            </p:custDataLst>
          </p:nvPr>
        </p:nvSpPr>
        <p:spPr>
          <a:xfrm>
            <a:off x="5807811" y="1484482"/>
            <a:ext cx="4404316" cy="2809536"/>
          </a:xfrm>
          <a:prstGeom prst="rect">
            <a:avLst/>
          </a:prstGeom>
          <a:noFill/>
          <a:ln w="3175">
            <a:noFill/>
            <a:prstDash val="dash"/>
          </a:ln>
        </p:spPr>
        <p:txBody>
          <a:bodyPr wrap="square" lIns="63500" tIns="25400" rIns="63500" bIns="25400" anchor="ctr" anchorCtr="0">
            <a:normAutofit fontScale="925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R</a:t>
            </a:r>
            <a:r>
              <a:rPr lang="en-US" altLang="zh-CN" sz="2000" baseline="-2500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0.5(6</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endParaRPr altLang="zh-CN" sz="2000">
              <a:latin typeface="Times New Roman" panose="02020603050405020304" pitchFamily="18" charset="0"/>
              <a:ea typeface="宋体" panose="02010600030101010101" pitchFamily="2" charset="-122"/>
              <a:cs typeface="Times New Roman" panose="02020603050405020304" pitchFamily="18" charset="0"/>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R</a:t>
            </a:r>
            <a:r>
              <a:rPr lang="en-US" altLang="zh-CN" sz="2000" baseline="-2500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lang="en-US" sz="2000" baseline="-25000">
                <a:latin typeface="Times New Roman" panose="02020603050405020304" pitchFamily="18" charset="0"/>
                <a:cs typeface="Times New Roman" panose="02020603050405020304" pitchFamily="18" charset="0"/>
                <a:sym typeface="+mn-ea"/>
              </a:rPr>
              <a:t>1</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0.5(6</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解得</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endParaRPr altLang="zh-CN" sz="2000">
              <a:latin typeface="Times New Roman" panose="02020603050405020304" pitchFamily="18" charset="0"/>
              <a:ea typeface="宋体" panose="02010600030101010101" pitchFamily="2" charset="-122"/>
              <a:cs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4</a:t>
            </a:r>
            <a:endParaRPr lang="zh-CN" altLang="en-US" sz="2000" dirty="0"/>
          </a:p>
          <a:p>
            <a:pPr marL="285750" lvl="0" indent="-285750" algn="l"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p:cNvPicPr>
            <a:picLocks noChangeAspect="1"/>
          </p:cNvPicPr>
          <p:nvPr/>
        </p:nvPicPr>
        <p:blipFill rotWithShape="1">
          <a:blip r:embed="rId3"/>
          <a:srcRect b="10425"/>
          <a:stretch>
            <a:fillRect/>
          </a:stretch>
        </p:blipFill>
        <p:spPr>
          <a:xfrm>
            <a:off x="1055370" y="764540"/>
            <a:ext cx="4221480" cy="3452495"/>
          </a:xfrm>
          <a:prstGeom prst="rect">
            <a:avLst/>
          </a:prstGeom>
        </p:spPr>
      </p:pic>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双寡头古诺模型</a:t>
            </a:r>
            <a:endParaRPr lang="zh-CN" altLang="en-US" sz="2800" dirty="0">
              <a:solidFill>
                <a:schemeClr val="accent1"/>
              </a:solidFill>
              <a:sym typeface="+mn-ea"/>
            </a:endParaRPr>
          </a:p>
        </p:txBody>
      </p:sp>
      <p:sp>
        <p:nvSpPr>
          <p:cNvPr id="5" name="圆角矩形标注 4"/>
          <p:cNvSpPr/>
          <p:nvPr/>
        </p:nvSpPr>
        <p:spPr>
          <a:xfrm>
            <a:off x="7679690" y="764540"/>
            <a:ext cx="2082165" cy="864235"/>
          </a:xfrm>
          <a:prstGeom prst="wedgeRoundRectCallout">
            <a:avLst>
              <a:gd name="adj1" fmla="val -26622"/>
              <a:gd name="adj2" fmla="val 7402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厂商</a:t>
            </a:r>
            <a:r>
              <a:rPr lang="en-US" altLang="zh-CN">
                <a:solidFill>
                  <a:schemeClr val="tx1"/>
                </a:solidFill>
              </a:rPr>
              <a:t>1</a:t>
            </a:r>
            <a:r>
              <a:rPr lang="zh-CN" altLang="en-US">
                <a:solidFill>
                  <a:schemeClr val="tx1"/>
                </a:solidFill>
              </a:rPr>
              <a:t>对厂商</a:t>
            </a:r>
            <a:r>
              <a:rPr lang="en-US" altLang="zh-CN">
                <a:solidFill>
                  <a:schemeClr val="tx1"/>
                </a:solidFill>
              </a:rPr>
              <a:t>2</a:t>
            </a:r>
            <a:r>
              <a:rPr lang="zh-CN" altLang="en-US">
                <a:solidFill>
                  <a:schemeClr val="tx1"/>
                </a:solidFill>
              </a:rPr>
              <a:t>产量的</a:t>
            </a:r>
            <a:r>
              <a:rPr lang="en-US" altLang="zh-CN">
                <a:solidFill>
                  <a:schemeClr val="tx1"/>
                </a:solidFill>
              </a:rPr>
              <a:t>“</a:t>
            </a:r>
            <a:r>
              <a:rPr lang="zh-CN" altLang="en-US">
                <a:solidFill>
                  <a:schemeClr val="tx1"/>
                </a:solidFill>
              </a:rPr>
              <a:t>反应函数</a:t>
            </a:r>
            <a:r>
              <a:rPr lang="en-US" altLang="zh-CN">
                <a:solidFill>
                  <a:schemeClr val="tx1"/>
                </a:solidFill>
              </a:rPr>
              <a:t>”</a:t>
            </a:r>
            <a:endParaRPr lang="en-US" altLang="zh-CN">
              <a:solidFill>
                <a:schemeClr val="tx1"/>
              </a:solidFill>
            </a:endParaRPr>
          </a:p>
        </p:txBody>
      </p:sp>
      <p:sp>
        <p:nvSpPr>
          <p:cNvPr id="8" name="圆角矩形标注 7"/>
          <p:cNvSpPr/>
          <p:nvPr/>
        </p:nvSpPr>
        <p:spPr>
          <a:xfrm>
            <a:off x="8472170" y="2780665"/>
            <a:ext cx="1976120" cy="811530"/>
          </a:xfrm>
          <a:prstGeom prst="wedgeRoundRectCallout">
            <a:avLst>
              <a:gd name="adj1" fmla="val -32536"/>
              <a:gd name="adj2" fmla="val -7332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sym typeface="+mn-ea"/>
              </a:rPr>
              <a:t>厂商</a:t>
            </a:r>
            <a:r>
              <a:rPr lang="en-US" altLang="zh-CN">
                <a:solidFill>
                  <a:schemeClr val="tx1"/>
                </a:solidFill>
                <a:sym typeface="+mn-ea"/>
              </a:rPr>
              <a:t>2</a:t>
            </a:r>
            <a:r>
              <a:rPr lang="zh-CN" altLang="en-US">
                <a:solidFill>
                  <a:schemeClr val="tx1"/>
                </a:solidFill>
                <a:sym typeface="+mn-ea"/>
              </a:rPr>
              <a:t>对厂商</a:t>
            </a:r>
            <a:r>
              <a:rPr lang="en-US" altLang="zh-CN">
                <a:solidFill>
                  <a:schemeClr val="tx1"/>
                </a:solidFill>
                <a:sym typeface="+mn-ea"/>
              </a:rPr>
              <a:t>1</a:t>
            </a:r>
            <a:r>
              <a:rPr lang="zh-CN" altLang="en-US">
                <a:solidFill>
                  <a:schemeClr val="tx1"/>
                </a:solidFill>
                <a:sym typeface="+mn-ea"/>
              </a:rPr>
              <a:t>产量的</a:t>
            </a:r>
            <a:r>
              <a:rPr lang="en-US" altLang="zh-CN">
                <a:solidFill>
                  <a:schemeClr val="tx1"/>
                </a:solidFill>
                <a:sym typeface="+mn-ea"/>
              </a:rPr>
              <a:t>“</a:t>
            </a:r>
            <a:r>
              <a:rPr lang="zh-CN" altLang="en-US">
                <a:solidFill>
                  <a:schemeClr val="tx1"/>
                </a:solidFill>
                <a:sym typeface="+mn-ea"/>
              </a:rPr>
              <a:t>反应函数</a:t>
            </a:r>
            <a:r>
              <a:rPr lang="en-US" altLang="zh-CN">
                <a:solidFill>
                  <a:schemeClr val="tx1"/>
                </a:solidFill>
                <a:sym typeface="+mn-ea"/>
              </a:rPr>
              <a:t>”</a:t>
            </a:r>
            <a:endParaRPr lang="zh-CN" altLang="en-US"/>
          </a:p>
        </p:txBody>
      </p:sp>
      <p:sp>
        <p:nvSpPr>
          <p:cNvPr id="7" name="Title 6"/>
          <p:cNvSpPr txBox="1"/>
          <p:nvPr>
            <p:custDataLst>
              <p:tags r:id="rId6"/>
            </p:custDataLst>
          </p:nvPr>
        </p:nvSpPr>
        <p:spPr>
          <a:xfrm>
            <a:off x="911225" y="4383405"/>
            <a:ext cx="9984105" cy="215328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当一方产量选择为0时，另一方的最佳反应为3，这正是实现市场总利益最大的产量，这时候等于一个厂商垄断市场；当一方产量达到6时，另一方被迫生产0，因为后者坚持生产无利可图；在两个反应函数对应的两条直线上，只有交点(2，2)代表的产量组合，才是由相互对对方的最佳反应构成的。</a:t>
            </a:r>
            <a:endParaRPr lang="zh-CN" altLang="en-US" sz="1800"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策略组合(2,2)是该博弈唯一的纳什均衡。此时，市场总供给</a:t>
            </a:r>
            <a:r>
              <a:rPr altLang="zh-CN" sz="1800" i="1">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1800" i="1">
                <a:latin typeface="Times New Roman" panose="02020603050405020304" pitchFamily="18" charset="0"/>
                <a:cs typeface="Times New Roman" panose="02020603050405020304" pitchFamily="18" charset="0"/>
                <a:sym typeface="+mn-ea"/>
              </a:rPr>
              <a:t>q</a:t>
            </a:r>
            <a:r>
              <a:rPr altLang="zh-CN" sz="1800" baseline="-25000">
                <a:latin typeface="Times New Roman" panose="02020603050405020304" pitchFamily="18" charset="0"/>
                <a:cs typeface="Times New Roman" panose="02020603050405020304" pitchFamily="18" charset="0"/>
                <a:sym typeface="+mn-ea"/>
              </a:rPr>
              <a:t>1+</a:t>
            </a:r>
            <a:r>
              <a:rPr altLang="zh-CN" sz="1800" i="1">
                <a:latin typeface="Times New Roman" panose="02020603050405020304" pitchFamily="18" charset="0"/>
                <a:cs typeface="Times New Roman" panose="02020603050405020304" pitchFamily="18" charset="0"/>
                <a:sym typeface="+mn-ea"/>
              </a:rPr>
              <a:t>q</a:t>
            </a:r>
            <a:r>
              <a:rPr altLang="zh-CN" sz="1800" baseline="-25000">
                <a:latin typeface="Times New Roman" panose="02020603050405020304" pitchFamily="18" charset="0"/>
                <a:cs typeface="Times New Roman" panose="02020603050405020304" pitchFamily="18" charset="0"/>
                <a:sym typeface="+mn-ea"/>
              </a:rPr>
              <a:t>2</a:t>
            </a:r>
            <a:r>
              <a:rPr altLang="zh-CN" sz="1800">
                <a:latin typeface="Times New Roman" panose="02020603050405020304" pitchFamily="18" charset="0"/>
                <a:cs typeface="Times New Roman" panose="02020603050405020304" pitchFamily="18" charset="0"/>
                <a:sym typeface="+mn-ea"/>
              </a:rPr>
              <a:t>=4</a:t>
            </a:r>
            <a:r>
              <a:rPr lang="zh-CN" altLang="en-US" sz="1800">
                <a:latin typeface="Times New Roman" panose="02020603050405020304" pitchFamily="18" charset="0"/>
                <a:cs typeface="Times New Roman" panose="02020603050405020304" pitchFamily="18" charset="0"/>
                <a:sym typeface="+mn-ea"/>
              </a:rPr>
              <a:t>，市场价格</a:t>
            </a:r>
            <a:r>
              <a:rPr altLang="zh-CN" sz="1800" i="1">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 P</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1800" i="1">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 P</a:t>
            </a:r>
            <a:r>
              <a:rPr lang="zh-CN" altLang="en-US" sz="180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180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180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180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18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1800">
                <a:latin typeface="+mn-ea"/>
                <a:cs typeface="Times New Roman" panose="02020603050405020304" pitchFamily="18" charset="0"/>
                <a:sym typeface="+mn-ea"/>
              </a:rPr>
              <a:t>-</a:t>
            </a:r>
            <a:r>
              <a:rPr altLang="zh-CN" sz="1800" i="1">
                <a:latin typeface="Times New Roman" panose="02020603050405020304" pitchFamily="18" charset="0"/>
                <a:ea typeface="宋体" panose="02010600030101010101" pitchFamily="2" charset="-122"/>
                <a:cs typeface="Times New Roman" panose="02020603050405020304" pitchFamily="18" charset="0"/>
                <a:sym typeface="+mn-ea"/>
              </a:rPr>
              <a:t>Q</a:t>
            </a:r>
            <a:r>
              <a:rPr altLang="zh-CN" sz="1800">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双方各自得益（利润）为</a:t>
            </a:r>
            <a:r>
              <a:rPr altLang="zh-CN" sz="180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，两个厂商利润总和为</a:t>
            </a:r>
            <a:r>
              <a:rPr altLang="zh-CN" sz="1800">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椭圆 9"/>
          <p:cNvSpPr/>
          <p:nvPr/>
        </p:nvSpPr>
        <p:spPr>
          <a:xfrm>
            <a:off x="2207260" y="3068955"/>
            <a:ext cx="288290" cy="28829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7"/>
            </p:custDataLst>
          </p:nvPr>
        </p:nvSpPr>
        <p:spPr>
          <a:xfrm>
            <a:off x="2034382" y="184673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Wingdings" panose="05000000000000000000" charset="0"/>
              <a:buChar char="ü"/>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在某个寡头市场中，如果几个重要的厂商联合起来限制产量，操纵价格，以获取</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垄断利润</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，这种</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联合组织</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就被称为卡特尔。卡特尔的作用是消除厂商之间的竞争。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Wingdings" panose="05000000000000000000" charset="0"/>
              <a:buChar char="ü"/>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卡特尔模型</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(Cartel)是一种正式的</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串谋</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行为，它能使一个竞争性市场变成一个垄断市场，属于寡头市场的一个特例。卡特尔以扩大整体利益作为它的主要目标，为了达到这一目的，在卡特尔内部将订立一系列的协议，来确定整个卡特尔的产量、产品价格，指定各企业的销售额及销售区域等。</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9"/>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双寡头卡特尔模型</a:t>
            </a:r>
            <a:endParaRPr lang="zh-CN" altLang="en-US" sz="2800" dirty="0">
              <a:solidFill>
                <a:schemeClr val="accent1"/>
              </a:solidFill>
              <a:sym typeface="+mn-ea"/>
            </a:endParaRPr>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custDataLst>
              <p:tags r:id="rId2"/>
            </p:custDataLst>
          </p:nvPr>
        </p:nvSpPr>
        <p:spPr>
          <a:xfrm>
            <a:off x="1343025" y="2420620"/>
            <a:ext cx="8291830" cy="384810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5" name="Title 6"/>
              <p:cNvSpPr txBox="1"/>
              <p:nvPr>
                <p:custDataLst>
                  <p:tags r:id="rId3"/>
                </p:custDataLst>
              </p:nvPr>
            </p:nvSpPr>
            <p:spPr>
              <a:xfrm>
                <a:off x="2927350" y="2708910"/>
                <a:ext cx="6426200" cy="379666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PQ</a:t>
                </a:r>
                <a:r>
                  <a:rPr lang="en-US" altLang="zh-CN" sz="2000" dirty="0">
                    <a:latin typeface="+mn-ea"/>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cQ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(6</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一阶条件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f>
                      <m:fPr>
                        <m:ctrlPr>
                          <a:rPr lang="en-US" altLang="zh-CN" sz="2000" i="1" smtClean="0">
                            <a:solidFill>
                              <a:schemeClr val="dk1">
                                <a:lumMod val="75000"/>
                                <a:lumOff val="25000"/>
                              </a:schemeClr>
                            </a:solidFill>
                            <a:latin typeface="Cambria Math" panose="02040503050406030204" pitchFamily="18" charset="0"/>
                            <a:cs typeface="Cambria Math" panose="02040503050406030204" pitchFamily="18" charset="0"/>
                          </a:rPr>
                        </m:ctrlPr>
                      </m:fPr>
                      <m:num>
                        <m:r>
                          <a:rPr lang="zh-CN" altLang="en-US" sz="200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𝑢</m:t>
                        </m:r>
                      </m:num>
                      <m:den>
                        <m:r>
                          <a:rPr lang="zh-CN" altLang="en-US" sz="200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𝑄</m:t>
                        </m:r>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6</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r>
                      <a:rPr lang="en-US" altLang="zh-CN" sz="2000" b="0" i="1" smtClean="0">
                        <a:latin typeface="Cambria Math" panose="02040503050406030204" pitchFamily="18" charset="0"/>
                        <a:cs typeface="Times New Roman" panose="02020603050405020304" pitchFamily="18" charset="0"/>
                      </a:rPr>
                      <m:t>𝑄</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0</m:t>
                    </m:r>
                  </m:oMath>
                </a14:m>
                <a:endParaRPr lang="en-US" altLang="zh-CN" sz="2000" b="0" i="1">
                  <a:latin typeface="Cambria Math" panose="02040503050406030204" pitchFamily="18" charset="0"/>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dirty="0">
                    <a:solidFill>
                      <a:schemeClr val="tx1"/>
                    </a:solidFill>
                    <a:latin typeface="Times New Roman" panose="02020603050405020304" pitchFamily="18" charset="0"/>
                    <a:cs typeface="Times New Roman" panose="02020603050405020304" pitchFamily="18" charset="0"/>
                  </a:rPr>
                  <a:t>求得</a:t>
                </a:r>
                <a:endParaRPr lang="en-US" altLang="zh-CN" sz="2000" dirty="0">
                  <a:solidFill>
                    <a:schemeClr val="tx1"/>
                  </a:solidFill>
                  <a:latin typeface="Times New Roman" panose="02020603050405020304" pitchFamily="18" charset="0"/>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cs typeface="Times New Roman" panose="02020603050405020304" pitchFamily="18" charset="0"/>
                    <a:sym typeface="+mn-ea"/>
                  </a:rPr>
                  <a:t>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 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9</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5" name="Title 6"/>
              <p:cNvSpPr txBox="1">
                <a:spLocks noRot="1" noChangeAspect="1" noMove="1" noResize="1" noEditPoints="1" noAdjustHandles="1" noChangeArrowheads="1" noChangeShapeType="1" noTextEdit="1"/>
              </p:cNvSpPr>
              <p:nvPr>
                <p:custDataLst>
                  <p:tags r:id="rId4"/>
                </p:custDataLst>
              </p:nvPr>
            </p:nvSpPr>
            <p:spPr>
              <a:xfrm>
                <a:off x="2927350" y="2708910"/>
                <a:ext cx="6426200" cy="3796665"/>
              </a:xfrm>
              <a:prstGeom prst="rect">
                <a:avLst/>
              </a:prstGeom>
              <a:blipFill rotWithShape="1">
                <a:blip r:embed="rId5"/>
                <a:stretch>
                  <a:fillRect t="-2877" b="-2893"/>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7"/>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双寡头卡特尔模型</a:t>
            </a:r>
            <a:endParaRPr lang="zh-CN" altLang="en-US" sz="2800" dirty="0">
              <a:solidFill>
                <a:schemeClr val="accent1"/>
              </a:solidFill>
              <a:sym typeface="+mn-ea"/>
            </a:endParaRPr>
          </a:p>
        </p:txBody>
      </p:sp>
      <p:sp>
        <p:nvSpPr>
          <p:cNvPr id="4" name="文本框 3"/>
          <p:cNvSpPr txBox="1"/>
          <p:nvPr/>
        </p:nvSpPr>
        <p:spPr>
          <a:xfrm>
            <a:off x="839470" y="980440"/>
            <a:ext cx="9947910" cy="1198880"/>
          </a:xfrm>
          <a:prstGeom prst="rect">
            <a:avLst/>
          </a:prstGeom>
          <a:noFill/>
        </p:spPr>
        <p:txBody>
          <a:bodyPr wrap="square" rtlCol="0">
            <a:spAutoFit/>
          </a:bodyPr>
          <a:lstStyle/>
          <a:p>
            <a:pPr marL="342900" indent="-342900">
              <a:lnSpc>
                <a:spcPct val="120000"/>
              </a:lnSpc>
              <a:buFont typeface="Wingdings" panose="05000000000000000000" charset="0"/>
              <a:buChar char="Ø"/>
            </a:pPr>
            <a:r>
              <a:rPr lang="zh-CN" altLang="en-US" sz="2000"/>
              <a:t>若从两个厂商</a:t>
            </a:r>
            <a:r>
              <a:rPr lang="zh-CN" altLang="en-US" sz="2000" b="1"/>
              <a:t>总体利益最大化</a:t>
            </a:r>
            <a:r>
              <a:rPr lang="zh-CN" altLang="en-US" sz="2000"/>
              <a:t>角度进行统一的产量选择，就要求实现两个厂商总和利润最大的总产量。</a:t>
            </a:r>
            <a:endParaRPr lang="zh-CN" altLang="en-US" sz="2000"/>
          </a:p>
          <a:p>
            <a:pPr marL="342900" indent="-342900">
              <a:lnSpc>
                <a:spcPct val="120000"/>
              </a:lnSpc>
              <a:buFont typeface="Wingdings" panose="05000000000000000000" charset="0"/>
              <a:buChar char="Ø"/>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假定两个厂商平分总利润</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Title 6"/>
              <p:cNvSpPr txBox="1"/>
              <p:nvPr>
                <p:custDataLst>
                  <p:tags r:id="rId2"/>
                </p:custDataLst>
              </p:nvPr>
            </p:nvSpPr>
            <p:spPr>
              <a:xfrm>
                <a:off x="767676" y="1196839"/>
                <a:ext cx="11277678" cy="456719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卡特尔解的不稳定（有得益的冲动）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违约的得益(假设厂商1违约，厂商</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1.5)</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(4.5</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1</a:t>
                </a:r>
                <a:endParaRPr lang="en-US" altLang="zh-CN" sz="2000" baseline="-25000" dirty="0">
                  <a:latin typeface="Times New Roman" panose="02020603050405020304" pitchFamily="18" charset="0"/>
                  <a:cs typeface="Times New Roman" panose="02020603050405020304" pitchFamily="18" charset="0"/>
                  <a:sym typeface="+mn-ea"/>
                </a:endParaRPr>
              </a:p>
              <a:p>
                <a:pPr marL="628650" lvl="1"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一阶条件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zh-CN" altLang="en-US" sz="2000" dirty="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 </a:t>
                </a:r>
                <a14:m>
                  <m:oMath xmlns:m="http://schemas.openxmlformats.org/officeDocument/2006/math">
                    <m:f>
                      <m:f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fPr>
                      <m:num>
                        <m:r>
                          <a:rPr lang="zh-CN" altLang="en-US"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𝑢</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Sub>
                      </m:num>
                      <m:den>
                        <m:r>
                          <a:rPr lang="zh-CN" altLang="en-US"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Sub>
                      </m:den>
                    </m:f>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4</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5</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2</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0</m:t>
                    </m:r>
                  </m:oMath>
                </a14:m>
                <a:endParaRPr lang="en-US" altLang="zh-CN" sz="2000" b="0" i="1">
                  <a:latin typeface="Cambria Math" panose="02040503050406030204" pitchFamily="18" charset="0"/>
                  <a:ea typeface="宋体" panose="02010600030101010101" pitchFamily="2" charset="-122"/>
                  <a:cs typeface="Times New Roman" panose="02020603050405020304" pitchFamily="18" charset="0"/>
                </a:endParaRPr>
              </a:p>
              <a:p>
                <a:pPr marL="628650" lvl="1" indent="-342900" algn="l" fontAlgn="ctr">
                  <a:lnSpc>
                    <a:spcPct val="130000"/>
                  </a:lnSpc>
                  <a:spcBef>
                    <a:spcPts val="1000"/>
                  </a:spcBef>
                  <a:spcAft>
                    <a:spcPts val="0"/>
                  </a:spcAft>
                  <a:buSzPct val="100000"/>
                  <a:buFont typeface="Wingdings" panose="05000000000000000000" charset="0"/>
                  <a:buChar char="l"/>
                </a:pPr>
                <a:r>
                  <a:rPr lang="zh-CN" altLang="en-US" sz="2000" b="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求得</a:t>
                </a:r>
                <a:endParaRPr lang="zh-CN" altLang="en-US" sz="2000" b="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2.25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2.25</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1.5)</a:t>
                </a:r>
                <a:r>
                  <a:rPr lang="en-US" altLang="zh-CN" sz="2000" i="1"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2.25</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2.25</a:t>
                </a:r>
                <a:r>
                  <a:rPr lang="en-US" altLang="zh-CN" sz="2000" i="1"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5.0625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3.375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628650" lvl="1" indent="-342900" algn="l" fontAlgn="ctr">
                  <a:lnSpc>
                    <a:spcPct val="130000"/>
                  </a:lnSpc>
                  <a:spcBef>
                    <a:spcPts val="600"/>
                  </a:spcBef>
                  <a:spcAft>
                    <a:spcPts val="0"/>
                  </a:spcAft>
                  <a:buSzPct val="100000"/>
                  <a:buFont typeface="Wingdings" panose="05000000000000000000" charset="0"/>
                  <a:buChar char="l"/>
                </a:pPr>
                <a:r>
                  <a:rPr lang="zh-CN" altLang="en-US" sz="2000" dirty="0">
                    <a:solidFill>
                      <a:schemeClr val="tx1"/>
                    </a:solidFill>
                    <a:sym typeface="+mn-ea"/>
                  </a:rPr>
                  <a:t>同理可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得厂商</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违</a:t>
                </a:r>
                <a:r>
                  <a:rPr lang="zh-CN" altLang="en-US" sz="2000" dirty="0">
                    <a:sym typeface="+mn-ea"/>
                  </a:rPr>
                  <a:t>约的得益情况：</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5.0625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3.375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6" name="Title 6"/>
              <p:cNvSpPr txBox="1">
                <a:spLocks noRot="1" noChangeAspect="1" noMove="1" noResize="1" noEditPoints="1" noAdjustHandles="1" noChangeArrowheads="1" noChangeShapeType="1" noTextEdit="1"/>
              </p:cNvSpPr>
              <p:nvPr>
                <p:custDataLst>
                  <p:tags r:id="rId3"/>
                </p:custDataLst>
              </p:nvPr>
            </p:nvSpPr>
            <p:spPr>
              <a:xfrm>
                <a:off x="767676" y="1196839"/>
                <a:ext cx="11277678" cy="4567193"/>
              </a:xfrm>
              <a:prstGeom prst="rect">
                <a:avLst/>
              </a:prstGeom>
              <a:blipFill rotWithShape="1">
                <a:blip r:embed="rId4"/>
                <a:stretch>
                  <a:fillRect l="-5" t="-2847" b="-2847"/>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双寡头卡特尔模型</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Freeform 28"/>
          <p:cNvSpPr/>
          <p:nvPr>
            <p:custDataLst>
              <p:tags r:id="rId2"/>
            </p:custDataLst>
          </p:nvPr>
        </p:nvSpPr>
        <p:spPr>
          <a:xfrm>
            <a:off x="1222377" y="1066804"/>
            <a:ext cx="9753599" cy="5486400"/>
          </a:xfrm>
          <a:custGeom>
            <a:avLst/>
            <a:gdLst>
              <a:gd name="connsiteX0" fmla="*/ 4366810 w 12191999"/>
              <a:gd name="connsiteY0" fmla="*/ 0 h 6858000"/>
              <a:gd name="connsiteX1" fmla="*/ 12191999 w 12191999"/>
              <a:gd name="connsiteY1" fmla="*/ 2 h 6858000"/>
              <a:gd name="connsiteX2" fmla="*/ 12191998 w 12191999"/>
              <a:gd name="connsiteY2" fmla="*/ 698097 h 6858000"/>
              <a:gd name="connsiteX3" fmla="*/ 7990526 w 12191999"/>
              <a:gd name="connsiteY3" fmla="*/ 6857999 h 6858000"/>
              <a:gd name="connsiteX4" fmla="*/ 0 w 12191999"/>
              <a:gd name="connsiteY4" fmla="*/ 6858000 h 6858000"/>
              <a:gd name="connsiteX5" fmla="*/ 2 w 12191999"/>
              <a:gd name="connsiteY5" fmla="*/ 64022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858000">
                <a:moveTo>
                  <a:pt x="4366810" y="0"/>
                </a:moveTo>
                <a:lnTo>
                  <a:pt x="12191999" y="2"/>
                </a:lnTo>
                <a:lnTo>
                  <a:pt x="12191998" y="698097"/>
                </a:lnTo>
                <a:lnTo>
                  <a:pt x="7990526" y="6857999"/>
                </a:lnTo>
                <a:lnTo>
                  <a:pt x="0" y="6858000"/>
                </a:lnTo>
                <a:lnTo>
                  <a:pt x="2" y="6402298"/>
                </a:ln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0" name="矩形 9"/>
          <p:cNvSpPr/>
          <p:nvPr>
            <p:custDataLst>
              <p:tags r:id="rId3"/>
            </p:custDataLst>
          </p:nvPr>
        </p:nvSpPr>
        <p:spPr>
          <a:xfrm>
            <a:off x="1588138" y="1432563"/>
            <a:ext cx="9022152" cy="4754880"/>
          </a:xfrm>
          <a:prstGeom prst="rect">
            <a:avLst/>
          </a:prstGeom>
          <a:solidFill>
            <a:schemeClr val="lt2">
              <a:alpha val="90000"/>
            </a:schemeClr>
          </a:solid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Title 6"/>
          <p:cNvSpPr txBox="1"/>
          <p:nvPr>
            <p:custDataLst>
              <p:tags r:id="rId4"/>
            </p:custDataLst>
          </p:nvPr>
        </p:nvSpPr>
        <p:spPr>
          <a:xfrm>
            <a:off x="1847850" y="1412905"/>
            <a:ext cx="7802941" cy="9753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得益矩阵</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5"/>
            </p:custDataLst>
          </p:nvPr>
        </p:nvGraphicFramePr>
        <p:xfrm>
          <a:off x="2783840" y="2132965"/>
          <a:ext cx="6949440" cy="3466465"/>
        </p:xfrm>
        <a:graphic>
          <a:graphicData uri="http://schemas.openxmlformats.org/drawingml/2006/table">
            <a:tbl>
              <a:tblPr firstRow="1" bandRow="1">
                <a:tableStyleId>{2D5ABB26-0587-4C30-8999-92F81FD0307C}</a:tableStyleId>
              </a:tblPr>
              <a:tblGrid>
                <a:gridCol w="1440815"/>
                <a:gridCol w="1524000"/>
                <a:gridCol w="1943100"/>
                <a:gridCol w="2041525"/>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1407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突破</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1900" b="1" spc="130">
                          <a:solidFill>
                            <a:srgbClr val="577CCE"/>
                          </a:solidFill>
                          <a:latin typeface="微软雅黑" panose="020B0503020204020204" pitchFamily="34" charset="-122"/>
                          <a:ea typeface="微软雅黑" panose="020B0503020204020204" pitchFamily="34" charset="-122"/>
                        </a:rPr>
                        <a:t>不突破</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91440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突破</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5.0625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sym typeface="+mn-ea"/>
                        </a:rPr>
                        <a:t>3.375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91440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不突破</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dirty="0">
                          <a:latin typeface="Times New Roman" panose="02020603050405020304" pitchFamily="18" charset="0"/>
                          <a:cs typeface="Times New Roman" panose="02020603050405020304" pitchFamily="18" charset="0"/>
                          <a:sym typeface="+mn-ea"/>
                        </a:rPr>
                        <a:t>3.375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5.0625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7"/>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双寡头的囚徒困境博弈</a:t>
            </a:r>
            <a:endParaRPr lang="zh-CN" altLang="en-US" sz="2800" dirty="0">
              <a:solidFill>
                <a:schemeClr val="accent1"/>
              </a:solidFill>
              <a:sym typeface="+mn-ea"/>
            </a:endParaRPr>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7"/>
            </p:custDataLst>
          </p:nvPr>
        </p:nvSpPr>
        <p:spPr>
          <a:xfrm>
            <a:off x="2034540" y="1846580"/>
            <a:ext cx="8105140" cy="43434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fontAlgn="auto">
              <a:lnSpc>
                <a:spcPct val="120000"/>
              </a:lnSpc>
              <a:spcBef>
                <a:spcPts val="0"/>
              </a:spcBef>
              <a:spcAft>
                <a:spcPts val="800"/>
              </a:spcAft>
              <a:buSzPct val="100000"/>
              <a:buFont typeface="Arial" panose="020B0604020202020204" pitchFamily="34" charset="0"/>
            </a:pPr>
            <a:r>
              <a:rPr lang="zh-CN" altLang="en-US" sz="2000" b="1">
                <a:sym typeface="+mn-ea"/>
              </a:rPr>
              <a:t>20世纪八九十年代国际经济中石油输出国组织的限额和突破问题</a:t>
            </a:r>
            <a:endParaRPr lang="zh-CN" altLang="en-US" sz="2000" b="1">
              <a:sym typeface="+mn-ea"/>
            </a:endParaRPr>
          </a:p>
          <a:p>
            <a:pPr marL="285750" lvl="0" indent="-285750" algn="just" fontAlgn="auto">
              <a:lnSpc>
                <a:spcPct val="120000"/>
              </a:lnSpc>
              <a:spcBef>
                <a:spcPts val="0"/>
              </a:spcBef>
              <a:spcAft>
                <a:spcPts val="800"/>
              </a:spcAft>
              <a:buSzPct val="100000"/>
              <a:buFont typeface="Arial" panose="020B0604020202020204" pitchFamily="34" charset="0"/>
              <a:buChar char="•"/>
            </a:pPr>
            <a:r>
              <a:rPr lang="zh-CN" altLang="en-US" sz="2000">
                <a:solidFill>
                  <a:schemeClr val="tx1"/>
                </a:solidFill>
                <a:sym typeface="+mn-ea"/>
              </a:rPr>
              <a:t>石油输出国组织成员国已知各自为政、自定产量的博弈，肯定会使油价下跌、利润受损，因此有共同磋商制定产量限额以维持油价的意愿。但一旦各成员国按照限额生产时，每个成员国都会发现，如果其他国家遵守限额而自己超产会获得更多利润，如果其他国家超产而只有自己遵守限额会受很大损失。在本位利益的驱使下，每个成员国都有偷偷超产的冲动。最终结果是各国普遍突破限额，限产计划破产，油价不断下跃。这是石油输出国组织成员国曾经遇到的实际情况。</a:t>
            </a:r>
            <a:endParaRPr lang="zh-CN" altLang="en-US" sz="1800"/>
          </a:p>
          <a:p>
            <a:pPr marL="342900" lvl="0" indent="-342900" algn="just" fontAlgn="auto">
              <a:lnSpc>
                <a:spcPct val="120000"/>
              </a:lnSpc>
              <a:spcBef>
                <a:spcPts val="0"/>
              </a:spcBef>
              <a:spcAft>
                <a:spcPts val="800"/>
              </a:spcAft>
              <a:buSzPct val="100000"/>
              <a:buFont typeface="Arial" panose="020B0604020202020204" pitchFamily="34" charset="0"/>
              <a:buChar char="•"/>
            </a:pP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9"/>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囚徒困境博弈</a:t>
            </a:r>
            <a:endParaRPr lang="zh-CN" altLang="en-US" sz="2800" dirty="0">
              <a:solidFill>
                <a:schemeClr val="accent1"/>
              </a:solidFill>
              <a:sym typeface="+mn-ea"/>
            </a:endParaRPr>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 name="直接连接符 1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2"/>
            </p:custDataLst>
          </p:nvPr>
        </p:nvSpPr>
        <p:spPr>
          <a:xfrm>
            <a:off x="734060" y="1412875"/>
            <a:ext cx="10678160" cy="477456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伯特兰德</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1883</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年提出了另一种寡头模型，各厂商选择的是</a:t>
            </a:r>
            <a:r>
              <a:rPr lang="zh-CN" altLang="en-US" sz="2000" b="1"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价格</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而不是产量。</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伯特兰德</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（亦译为</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伯川德</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）模型可分为对价格十分敏感和不十分敏感两类。</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两个厂商产品有一定的差别，即在品牌、质量和包装等方面有所不同的同类产品，有很强的替代性，但又不是完全可替代。</a:t>
            </a:r>
            <a:endParaRPr lang="zh-CN" sz="200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两个厂商</a:t>
            </a:r>
            <a:r>
              <a:rPr lang="zh-CN" altLang="en-US" sz="2000"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同时决策</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，即决策之前都不知道另一方价格。</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两个博弈方各自的</a:t>
            </a:r>
            <a:r>
              <a:rPr lang="zh-CN" altLang="en-US" sz="2000"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策略空间</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altLang="zh-CN" sz="2000"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s</a:t>
            </a:r>
            <a:r>
              <a:rPr altLang="zh-CN" sz="2000" spc="100" baseline="-250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altLang="zh-CN" sz="2000"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=[0,</a:t>
            </a:r>
            <a:r>
              <a:rPr altLang="zh-CN" sz="2000" i="1"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P</a:t>
            </a:r>
            <a:r>
              <a:rPr altLang="zh-CN" sz="2000" i="1" spc="100" baseline="-250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1max</a:t>
            </a:r>
            <a:r>
              <a:rPr altLang="zh-CN" sz="2000"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和</a:t>
            </a:r>
            <a:r>
              <a:rPr altLang="zh-CN" sz="2000" spc="1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s</a:t>
            </a:r>
            <a:r>
              <a:rPr altLang="zh-CN" sz="2000" spc="100" baseline="-250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2</a:t>
            </a:r>
            <a:r>
              <a:rPr altLang="zh-CN" sz="2000" spc="1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=[0,</a:t>
            </a:r>
            <a:r>
              <a:rPr altLang="zh-CN" sz="2000" i="1" spc="1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P</a:t>
            </a:r>
            <a:r>
              <a:rPr altLang="zh-CN" sz="2000" i="1" spc="100" baseline="-250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2max</a:t>
            </a:r>
            <a:r>
              <a:rPr altLang="zh-CN" sz="2000" spc="1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，其中，</a:t>
            </a:r>
            <a:r>
              <a:rPr altLang="zh-CN" sz="2000" i="1" spc="1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P</a:t>
            </a:r>
            <a:r>
              <a:rPr altLang="zh-CN" sz="2000" i="1" spc="100" baseline="-250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1max</a:t>
            </a:r>
            <a:r>
              <a:rPr lang="zh-CN" altLang="en-US" sz="2000" spc="1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和</a:t>
            </a:r>
            <a:r>
              <a:rPr altLang="zh-CN" sz="2000" i="1" spc="1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P</a:t>
            </a:r>
            <a:r>
              <a:rPr altLang="zh-CN" sz="2000" i="1" spc="100" baseline="-2500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2max</a:t>
            </a:r>
            <a:r>
              <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是厂商</a:t>
            </a:r>
            <a:r>
              <a:rPr altLang="zh-CN"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和厂商</a:t>
            </a:r>
            <a:r>
              <a:rPr altLang="zh-CN"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能卖出产品的最高价格</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两个博弈方的</a:t>
            </a:r>
            <a:r>
              <a:rPr lang="zh-CN" altLang="en-US" sz="2000"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得益是两个厂商各自的利润</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，即各自的销售收益减去各自的成本。假设两个厂商无固定成本，边际生产成本分别为</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c</a:t>
            </a:r>
            <a:r>
              <a:rPr altLang="zh-CN" sz="2000" i="1" baseline="-25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 </a:t>
            </a:r>
            <a:r>
              <a:rPr lang="zh-CN" altLang="en-US" sz="2000">
                <a:latin typeface="Times New Roman" panose="02020603050405020304" pitchFamily="18" charset="0"/>
                <a:cs typeface="Times New Roman" panose="02020603050405020304" pitchFamily="18" charset="0"/>
                <a:sym typeface="+mn-ea"/>
              </a:rPr>
              <a:t>。</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Font typeface="Arial" panose="020B0604020202020204" pitchFamily="34" charset="0"/>
              <a:buNone/>
            </a:pPr>
            <a:endParaRPr lang="en-US" altLang="zh-CN" sz="2000" b="0" i="1"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内容占位符 2"/>
          <p:cNvSpPr>
            <a:spLocks noGrp="1"/>
          </p:cNvSpPr>
          <p:nvPr/>
        </p:nvSpPr>
        <p:spPr>
          <a:xfrm rot="780000">
            <a:off x="9538335" y="4381500"/>
            <a:ext cx="1003935" cy="1909445"/>
          </a:xfrm>
          <a:prstGeom prst="rect">
            <a:avLst/>
          </a:prstGeom>
          <a:effectLst>
            <a:glow rad="63500">
              <a:schemeClr val="accent2">
                <a:satMod val="175000"/>
                <a:alpha val="40000"/>
              </a:schemeClr>
            </a:glow>
          </a:effectLst>
        </p:spPr>
        <p:txBody>
          <a:bodyPr vert="horz" lIns="90000" tIns="46800" rIns="90000" bIns="46800" rtlCol="0">
            <a:scene3d>
              <a:camera prst="orthographicFront"/>
              <a:lightRig rig="threePt" dir="t"/>
            </a:scene3d>
          </a:bodyPr>
          <a:lstStyle>
            <a:lvl1pPr marL="171450" indent="-171450" algn="l" defTabSz="685165"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165"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lnSpc>
                <a:spcPct val="130000"/>
              </a:lnSpc>
              <a:buFont typeface="Wingdings" panose="05000000000000000000" charset="0"/>
              <a:buNone/>
            </a:pPr>
            <a:r>
              <a:rPr lang="zh-CN" altLang="en-US" sz="1380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pitchFamily="34" charset="-122"/>
                <a:ea typeface="微软雅黑" panose="020B0503020204020204" pitchFamily="34" charset="-122"/>
                <a:sym typeface="+mn-ea"/>
              </a:rPr>
              <a:t>？</a:t>
            </a:r>
            <a:endParaRPr lang="zh-CN" altLang="en-US" sz="1380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4"/>
            </p:custDataLst>
          </p:nvPr>
        </p:nvSpPr>
        <p:spPr>
          <a:xfrm>
            <a:off x="2927350" y="5517515"/>
            <a:ext cx="4314190" cy="762000"/>
          </a:xfrm>
          <a:prstGeom prst="rect">
            <a:avLst/>
          </a:prstGeom>
          <a:noFill/>
          <a:ln w="31750">
            <a:solidFill>
              <a:schemeClr val="accent1"/>
            </a:solidFill>
            <a:prstDash val="sysDash"/>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800" dirty="0">
                <a:solidFill>
                  <a:schemeClr val="tx1"/>
                </a:solidFill>
                <a:sym typeface="+mn-ea"/>
              </a:rPr>
              <a:t>     </a:t>
            </a:r>
            <a:r>
              <a:rPr lang="zh-CN" altLang="en-US" sz="2400" dirty="0">
                <a:solidFill>
                  <a:schemeClr val="tx1"/>
                </a:solidFill>
                <a:sym typeface="+mn-ea"/>
              </a:rPr>
              <a:t>如何求该博弈的纳什均衡</a:t>
            </a:r>
            <a:endParaRPr lang="zh-CN" altLang="en-US" sz="2400" dirty="0">
              <a:solidFill>
                <a:schemeClr val="tx1"/>
              </a:solidFill>
              <a:sym typeface="+mn-ea"/>
            </a:endParaRPr>
          </a:p>
        </p:txBody>
      </p:sp>
      <p:sp>
        <p:nvSpPr>
          <p:cNvPr id="4"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双寡头伯特兰德模型</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15"/>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7" name="Title 6"/>
          <p:cNvSpPr txBox="1"/>
          <p:nvPr>
            <p:custDataLst>
              <p:tags r:id="rId3"/>
            </p:custDataLst>
          </p:nvPr>
        </p:nvSpPr>
        <p:spPr>
          <a:xfrm>
            <a:off x="944245" y="1916430"/>
            <a:ext cx="9484360" cy="412178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（本书讨论）不十分敏感需求函数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a</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b</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endParaRPr lang="en-US" altLang="zh-CN" sz="2000" baseline="-25000" dirty="0">
              <a:latin typeface="Times New Roman" panose="02020603050405020304" pitchFamily="18" charset="0"/>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a</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b</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         </a:t>
            </a:r>
            <a:endParaRPr lang="en-US" altLang="zh-CN" sz="2000" baseline="-25000" dirty="0">
              <a:latin typeface="Times New Roman" panose="02020603050405020304" pitchFamily="18" charset="0"/>
              <a:cs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dirty="0">
                <a:latin typeface="Times New Roman" panose="02020603050405020304" pitchFamily="18" charset="0"/>
                <a:cs typeface="Times New Roman" panose="02020603050405020304" pitchFamily="18" charset="0"/>
                <a:sym typeface="+mn-ea"/>
              </a:rPr>
              <a:t>其中，</a:t>
            </a:r>
            <a:r>
              <a:rPr lang="en-US" altLang="zh-CN" sz="2000" i="1"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，即两个厂商产品的替代系数。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a</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b</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endParaRPr lang="en-US" altLang="zh-CN" sz="2000" dirty="0">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a</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b</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P</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双寡头伯特兰德模型</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itle 6"/>
              <p:cNvSpPr txBox="1"/>
              <p:nvPr>
                <p:custDataLst>
                  <p:tags r:id="rId1"/>
                </p:custDataLst>
              </p:nvPr>
            </p:nvSpPr>
            <p:spPr>
              <a:xfrm>
                <a:off x="914400" y="836930"/>
                <a:ext cx="11277600" cy="5899150"/>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一阶条件</a:t>
                </a:r>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f>
                      <m:fPr>
                        <m:ctrlPr>
                          <a:rPr lang="en-US" altLang="zh-CN" sz="2000" i="1" smtClean="0">
                            <a:latin typeface="Cambria Math" panose="02040503050406030204" pitchFamily="18" charset="0"/>
                          </a:rPr>
                        </m:ctrlPr>
                      </m:fPr>
                      <m:num>
                        <m:r>
                          <a:rPr lang="zh-CN" altLang="en-US" sz="2000" i="1" smtClean="0">
                            <a:latin typeface="Cambria Math" panose="02040503050406030204" pitchFamily="18" charset="0"/>
                          </a:rPr>
                          <m:t>𝜕</m:t>
                        </m:r>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𝑢</m:t>
                            </m:r>
                          </m:e>
                          <m:sub>
                            <m:r>
                              <a:rPr lang="en-US" altLang="zh-CN" sz="2000" b="0" i="1" smtClean="0">
                                <a:latin typeface="Cambria Math" panose="02040503050406030204" pitchFamily="18" charset="0"/>
                              </a:rPr>
                              <m:t>𝑖</m:t>
                            </m:r>
                          </m:sub>
                        </m:sSub>
                      </m:num>
                      <m:den>
                        <m:r>
                          <a:rPr lang="zh-CN" altLang="en-US" sz="2000" i="1" smtClean="0">
                            <a:latin typeface="Cambria Math" panose="02040503050406030204" pitchFamily="18" charset="0"/>
                          </a:rPr>
                          <m:t>𝜕</m:t>
                        </m:r>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𝑖</m:t>
                            </m:r>
                          </m:sub>
                        </m:sSub>
                      </m:den>
                    </m:f>
                    <m:r>
                      <a:rPr lang="en-US" altLang="zh-CN" sz="2000" b="0" i="1" smtClean="0">
                        <a:latin typeface="Cambria Math" panose="02040503050406030204" pitchFamily="18" charset="0"/>
                      </a:rPr>
                      <m:t>=</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𝑗</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𝑖</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𝑖</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zh-CN" altLang="en-US" sz="2000" i="1">
                        <a:latin typeface="Cambria Math" panose="02040503050406030204" pitchFamily="18" charset="0"/>
                      </a:rPr>
                      <m:t>，</m:t>
                    </m:r>
                    <m:r>
                      <a:rPr lang="en-US" altLang="zh-CN" sz="2000" b="0" i="1" smtClean="0">
                        <a:latin typeface="Cambria Math" panose="02040503050406030204" pitchFamily="18" charset="0"/>
                      </a:rPr>
                      <m:t>𝑖</m:t>
                    </m:r>
                    <m:r>
                      <a:rPr lang="en-US" altLang="zh-CN" sz="2000" b="0" i="0" smtClean="0">
                        <a:latin typeface="Cambria Math" panose="02040503050406030204" pitchFamily="18" charset="0"/>
                      </a:rPr>
                      <m:t>=</m:t>
                    </m:r>
                    <m:r>
                      <a:rPr lang="en-US" altLang="zh-CN" sz="2000" b="0" i="0" smtClean="0">
                        <a:latin typeface="Cambria Math" panose="02040503050406030204" pitchFamily="18" charset="0"/>
                      </a:rPr>
                      <m:t>1</m:t>
                    </m:r>
                    <m:r>
                      <a:rPr lang="en-US" altLang="zh-CN" sz="2000" b="0" i="0" smtClean="0">
                        <a:latin typeface="Cambria Math" panose="02040503050406030204" pitchFamily="18" charset="0"/>
                      </a:rPr>
                      <m:t>,    </m:t>
                    </m:r>
                    <m:r>
                      <a:rPr lang="en-US" altLang="zh-CN" sz="2000" b="0" i="0" smtClean="0">
                        <a:latin typeface="Cambria Math" panose="02040503050406030204" pitchFamily="18" charset="0"/>
                      </a:rPr>
                      <m:t>2</m:t>
                    </m:r>
                  </m:oMath>
                </a14:m>
                <a:endParaRPr lang="en-US" altLang="zh-CN" sz="2000" b="0" i="0">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反应函数</a:t>
                </a:r>
                <a:endPar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smtClean="0">
                            <a:solidFill>
                              <a:schemeClr val="tx1"/>
                            </a:solidFill>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𝑅</m:t>
                    </m:r>
                    <m:r>
                      <a:rPr lang="en-US" altLang="zh-CN" sz="2000" b="0" i="1" baseline="-25000" smtClean="0">
                        <a:latin typeface="Cambria Math" panose="02040503050406030204" pitchFamily="18" charset="0"/>
                      </a:rPr>
                      <m:t>1</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𝑖</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𝑗</m:t>
                            </m:r>
                          </m:sub>
                        </m:sSub>
                      </m:num>
                      <m:den>
                        <m:r>
                          <a:rPr lang="en-US" altLang="zh-CN" sz="2000" b="0" i="1" smtClean="0">
                            <a:latin typeface="Cambria Math" panose="02040503050406030204" pitchFamily="18" charset="0"/>
                          </a:rPr>
                          <m:t>2</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𝑖</m:t>
                            </m:r>
                          </m:sub>
                        </m:sSub>
                      </m:den>
                    </m:f>
                    <m:r>
                      <a:rPr lang="zh-CN" altLang="en-US" sz="2000" i="1">
                        <a:latin typeface="Cambria Math" panose="02040503050406030204" pitchFamily="18" charset="0"/>
                      </a:rPr>
                      <m:t>，</m:t>
                    </m:r>
                    <m:r>
                      <a:rPr lang="en-US" altLang="zh-CN" sz="2000" b="0" i="1" smtClean="0">
                        <a:latin typeface="Cambria Math" panose="02040503050406030204" pitchFamily="18" charset="0"/>
                      </a:rPr>
                      <m:t>𝑖</m:t>
                    </m:r>
                    <m:r>
                      <a:rPr lang="en-US" altLang="zh-CN" sz="2000" b="0" i="0" smtClean="0">
                        <a:latin typeface="Cambria Math" panose="02040503050406030204" pitchFamily="18" charset="0"/>
                      </a:rPr>
                      <m:t>=</m:t>
                    </m:r>
                    <m:r>
                      <a:rPr lang="en-US" altLang="zh-CN" sz="2000" b="0" i="0" smtClean="0">
                        <a:latin typeface="Cambria Math" panose="02040503050406030204" pitchFamily="18" charset="0"/>
                      </a:rPr>
                      <m:t>1</m:t>
                    </m:r>
                    <m:r>
                      <a:rPr lang="zh-CN" altLang="en-US" sz="2000" i="1">
                        <a:latin typeface="Cambria Math" panose="02040503050406030204" pitchFamily="18" charset="0"/>
                      </a:rPr>
                      <m:t>，</m:t>
                    </m:r>
                    <m:r>
                      <a:rPr lang="en-US" altLang="zh-CN" sz="2000" i="1" smtClean="0">
                        <a:latin typeface="Cambria Math" panose="02040503050406030204" pitchFamily="18" charset="0"/>
                      </a:rPr>
                      <m:t>2</m:t>
                    </m:r>
                  </m:oMath>
                </a14:m>
                <a:endParaRPr lang="en-US" altLang="zh-CN" sz="2000" i="1">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a:solidFill>
                      <a:schemeClr val="tx1"/>
                    </a:solidFill>
                    <a:latin typeface="Cambria Math" panose="02040503050406030204" pitchFamily="18" charset="0"/>
                  </a:rPr>
                  <a:t>纳什均衡（</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1</m:t>
                        </m:r>
                      </m:sub>
                    </m:sSub>
                    <m:r>
                      <a:rPr lang="en-US" altLang="zh-CN" sz="2000" b="0" i="1" baseline="30000" smtClean="0">
                        <a:latin typeface="Cambria Math" panose="02040503050406030204" pitchFamily="18" charset="0"/>
                      </a:rPr>
                      <m:t>∗</m:t>
                    </m:r>
                  </m:oMath>
                </a14:m>
                <a:r>
                  <a:rPr lang="zh-CN" altLang="en-US" sz="2000">
                    <a:latin typeface="Cambria Math" panose="02040503050406030204" pitchFamily="18" charset="0"/>
                  </a:rPr>
                  <a:t>，</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2</m:t>
                        </m:r>
                      </m:sub>
                    </m:sSub>
                    <m:r>
                      <a:rPr lang="en-US" altLang="zh-CN" sz="2000" b="0" i="1" baseline="30000" smtClean="0">
                        <a:latin typeface="Cambria Math" panose="02040503050406030204" pitchFamily="18" charset="0"/>
                      </a:rPr>
                      <m:t>∗</m:t>
                    </m:r>
                  </m:oMath>
                </a14:m>
                <a:r>
                  <a:rPr lang="zh-CN" altLang="en-US" sz="2000">
                    <a:solidFill>
                      <a:schemeClr val="tx1"/>
                    </a:solidFill>
                    <a:latin typeface="Cambria Math" panose="02040503050406030204" pitchFamily="18" charset="0"/>
                  </a:rPr>
                  <a:t>）是两个反应函数的交点，因此必须满足：</a:t>
                </a:r>
                <a:endParaRPr lang="zh-CN" altLang="en-US" sz="2000">
                  <a:solidFill>
                    <a:schemeClr val="tx1"/>
                  </a:solidFill>
                  <a:latin typeface="Cambria Math" panose="020405030504060302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smtClean="0">
                            <a:solidFill>
                              <a:schemeClr val="tx1"/>
                            </a:solidFill>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1</m:t>
                        </m:r>
                      </m:sub>
                    </m:sSub>
                    <m:r>
                      <a:rPr lang="en-US" altLang="zh-CN" sz="2000" b="0" i="1" baseline="30000" smtClean="0">
                        <a:latin typeface="Cambria Math" panose="02040503050406030204" pitchFamily="18" charset="0"/>
                      </a:rPr>
                      <m:t>∗</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num>
                      <m:den>
                        <m:r>
                          <a:rPr lang="en-US" altLang="zh-CN" sz="2000" b="0" i="1" smtClean="0">
                            <a:latin typeface="Cambria Math" panose="02040503050406030204" pitchFamily="18" charset="0"/>
                          </a:rPr>
                          <m:t>2</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1</m:t>
                            </m:r>
                          </m:sub>
                        </m:sSub>
                      </m:den>
                    </m:f>
                  </m:oMath>
                </a14:m>
                <a:endParaRPr lang="en-US" altLang="zh-CN" sz="2000" b="0" i="1">
                  <a:latin typeface="Cambria Math" panose="020405030504060302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smtClean="0">
                            <a:solidFill>
                              <a:schemeClr val="tx1"/>
                            </a:solidFill>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2</m:t>
                        </m:r>
                      </m:sub>
                    </m:sSub>
                    <m:r>
                      <a:rPr lang="en-US" altLang="zh-CN" sz="2000" b="0" i="1" baseline="30000" smtClean="0">
                        <a:latin typeface="Cambria Math" panose="02040503050406030204" pitchFamily="18" charset="0"/>
                      </a:rPr>
                      <m:t>∗</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num>
                      <m:den>
                        <m:r>
                          <a:rPr lang="en-US" altLang="zh-CN" sz="2000" b="0" i="1" smtClean="0">
                            <a:latin typeface="Cambria Math" panose="02040503050406030204" pitchFamily="18" charset="0"/>
                          </a:rPr>
                          <m:t>2</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2</m:t>
                            </m:r>
                          </m:sub>
                        </m:sSub>
                      </m:den>
                    </m:f>
                  </m:oMath>
                </a14:m>
                <a:endParaRPr lang="en-US" altLang="zh-CN" sz="2000" b="0" i="1">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a:solidFill>
                      <a:schemeClr val="tx1"/>
                    </a:solidFill>
                    <a:latin typeface="Cambria Math" panose="02040503050406030204" pitchFamily="18" charset="0"/>
                  </a:rPr>
                  <a:t>解方程组得</a:t>
                </a:r>
                <a:endParaRPr lang="en-US" altLang="zh-CN" sz="2000">
                  <a:solidFill>
                    <a:schemeClr val="tx1"/>
                  </a:solidFill>
                  <a:latin typeface="Cambria Math" panose="020405030504060302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1</m:t>
                        </m:r>
                      </m:sub>
                    </m:sSub>
                    <m:r>
                      <a:rPr lang="en-US" altLang="zh-CN" sz="2000" b="0" i="1" baseline="30000" smtClean="0">
                        <a:latin typeface="Cambria Math" panose="02040503050406030204" pitchFamily="18" charset="0"/>
                      </a:rPr>
                      <m:t>∗</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1</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2</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e>
                        </m:d>
                      </m:num>
                      <m:den>
                        <m:r>
                          <a:rPr lang="en-US" altLang="zh-CN" sz="2000" b="0" i="1" smtClean="0">
                            <a:latin typeface="Cambria Math" panose="02040503050406030204" pitchFamily="18" charset="0"/>
                          </a:rPr>
                          <m:t>4</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2</m:t>
                            </m:r>
                          </m:sub>
                        </m:sSub>
                      </m:den>
                    </m:f>
                  </m:oMath>
                </a14:m>
                <a:endParaRPr lang="en-US" altLang="zh-CN" sz="2000" b="0" i="1">
                  <a:latin typeface="Cambria Math" panose="020405030504060302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2</m:t>
                        </m:r>
                      </m:sub>
                    </m:sSub>
                    <m:r>
                      <a:rPr lang="en-US" altLang="zh-CN" sz="2000" b="0" i="1" baseline="30000" smtClean="0">
                        <a:latin typeface="Cambria Math" panose="02040503050406030204" pitchFamily="18" charset="0"/>
                      </a:rPr>
                      <m:t>∗</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𝑑</m:t>
                            </m:r>
                          </m:e>
                          <m:sub>
                            <m:r>
                              <a:rPr lang="en-US" altLang="zh-CN" sz="2000" b="0" i="1" smtClean="0">
                                <a:latin typeface="Cambria Math" panose="02040503050406030204" pitchFamily="18" charset="0"/>
                              </a:rPr>
                              <m:t>2</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1</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m:t>
                                </m:r>
                              </m:sub>
                            </m:sSub>
                          </m:e>
                        </m:d>
                      </m:num>
                      <m:den>
                        <m:r>
                          <a:rPr lang="en-US" altLang="zh-CN" sz="2000" i="1">
                            <a:latin typeface="Cambria Math" panose="02040503050406030204" pitchFamily="18" charset="0"/>
                          </a:rPr>
                          <m:t>4</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𝑏</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𝑑</m:t>
                            </m:r>
                          </m:e>
                          <m:sub>
                            <m:r>
                              <a:rPr lang="en-US" altLang="zh-CN" sz="2000" i="1">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𝑑</m:t>
                            </m:r>
                          </m:e>
                          <m:sub>
                            <m:r>
                              <a:rPr lang="en-US" altLang="zh-CN" sz="2000" i="1">
                                <a:latin typeface="Cambria Math" panose="02040503050406030204" pitchFamily="18" charset="0"/>
                              </a:rPr>
                              <m:t>2</m:t>
                            </m:r>
                          </m:sub>
                        </m:sSub>
                      </m:den>
                    </m:f>
                  </m:oMath>
                </a14:m>
                <a:endPar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4" name="Title 6"/>
              <p:cNvSpPr txBox="1">
                <a:spLocks noRot="1" noChangeAspect="1" noMove="1" noResize="1" noEditPoints="1" noAdjustHandles="1" noChangeArrowheads="1" noChangeShapeType="1" noTextEdit="1"/>
              </p:cNvSpPr>
              <p:nvPr>
                <p:custDataLst>
                  <p:tags r:id="rId2"/>
                </p:custDataLst>
              </p:nvPr>
            </p:nvSpPr>
            <p:spPr>
              <a:xfrm>
                <a:off x="914400" y="836930"/>
                <a:ext cx="11277600" cy="5899150"/>
              </a:xfrm>
              <a:prstGeom prst="rect">
                <a:avLst/>
              </a:prstGeom>
              <a:blipFill rotWithShape="1">
                <a:blip r:embed="rId3"/>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cxnSp>
        <p:nvCxnSpPr>
          <p:cNvPr id="2" name="直接连接符 1"/>
          <p:cNvCxnSpPr/>
          <p:nvPr>
            <p:custDataLst>
              <p:tags r:id="rId5"/>
            </p:custDataLst>
          </p:nvPr>
        </p:nvCxnSpPr>
        <p:spPr>
          <a:xfrm>
            <a:off x="55118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6"/>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双寡头伯特兰德模型</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7"/>
            </p:custDataLst>
          </p:nvPr>
        </p:nvSpPr>
        <p:spPr>
          <a:xfrm>
            <a:off x="2034540" y="1846580"/>
            <a:ext cx="8105140" cy="43434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auto">
              <a:lnSpc>
                <a:spcPct val="120000"/>
              </a:lnSpc>
              <a:spcBef>
                <a:spcPts val="0"/>
              </a:spcBef>
              <a:spcAft>
                <a:spcPts val="80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更一般的伯特兰德模型可以有</a:t>
            </a:r>
            <a:r>
              <a:rPr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个寡头，产品也可以是无差别的。产品无差别时，可以考虑消费者对价格的敏感性问题。因为如果所有消费者对价格都非常敏感，则生产无差别产品的厂商中价格高的一方完全卖不出去，价格差别不可能存在。</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auto">
              <a:lnSpc>
                <a:spcPct val="120000"/>
              </a:lnSpc>
              <a:spcBef>
                <a:spcPts val="0"/>
              </a:spcBef>
              <a:spcAft>
                <a:spcPts val="80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多寡头伯特兰德模型的分析是双寡头模型的推广，只需求出每个厂商对其他各个厂商价格的反应函数，解出它们的交点即可。</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auto">
              <a:lnSpc>
                <a:spcPct val="120000"/>
              </a:lnSpc>
              <a:spcBef>
                <a:spcPts val="0"/>
              </a:spcBef>
              <a:spcAft>
                <a:spcPts val="80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这种价格决策的纳什均衡往往也是囚徒困境的一种。如家电零售企业之间的价格竞争等。</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9"/>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伯特兰德模型</a:t>
            </a:r>
            <a:endParaRPr lang="zh-CN" altLang="en-US" sz="2800" dirty="0">
              <a:solidFill>
                <a:schemeClr val="accent1"/>
              </a:solidFill>
              <a:sym typeface="+mn-ea"/>
            </a:endParaRPr>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4" name="直接连接符 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2"/>
            </p:custDataLst>
          </p:nvPr>
        </p:nvSpPr>
        <p:spPr>
          <a:xfrm>
            <a:off x="839470" y="908685"/>
            <a:ext cx="10467975" cy="434340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auto">
              <a:lnSpc>
                <a:spcPct val="120000"/>
              </a:lnSpc>
              <a:spcBef>
                <a:spcPts val="0"/>
              </a:spcBef>
              <a:spcAft>
                <a:spcPts val="800"/>
              </a:spcAft>
              <a:buSzPct val="100000"/>
              <a:buFont typeface="Wingdings" panose="05000000000000000000" charset="0"/>
              <a:buChar char="Ø"/>
            </a:pPr>
            <a:r>
              <a:rPr lang="zh-CN" altLang="en-US" sz="18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家电行业的价格战</a:t>
            </a:r>
            <a:endParaRPr lang="zh-CN" altLang="en-US" sz="18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auto">
              <a:lnSpc>
                <a:spcPct val="120000"/>
              </a:lnSpc>
              <a:spcBef>
                <a:spcPts val="0"/>
              </a:spcBef>
              <a:spcAft>
                <a:spcPts val="80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于家电行业是寡头控制的，9大厂商控制了70%的市场份额，这样的博弈互动特征更为突出。1994年4月，长虹为扩大市场宣布彩电产品降价，给整个行业市场造成巨大震动，随即康佳、TCL、创维达成默契，创立彩电联盟。直到4月20日上午，康佳表示不降价，但是当晚即改变主意，使得TCL和创维措手不及，价格战立即蔓延开来。大家都降价对于各自扩大市场没有多大帮助，反而使得利润被削弱了。1996～2000年，彩电行业发生大的价格战达到8次以上，整个行业的利润被极大削减，全行业进入亏损，信息产业部统计价格战使行业利润减少147亿元。价格战于人于已都不利，为什么还打价格战呢？这是一个简单的囚徒困境的博弈形势。双方最好的结果都是降价，降价都是价格策略。大家可能会想到成立价格联盟，但事实是：2000年6月9日，TCL、海信、创维、厦华、乐华、金星、熊猫、西湘9家厂商歃血为盟，召开彩电联盟峰会，实际上是一纸空文，当年8月康佳响应长虹的降价20%的口号，率先脱离9家同盟会，价格战再次开打。所以，任何同盟都敌不过先下手为强的背义利益。</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伯特兰德模型</a:t>
            </a:r>
            <a:r>
              <a:rPr lang="en-US" altLang="zh-CN" sz="2800" dirty="0">
                <a:solidFill>
                  <a:schemeClr val="accent1"/>
                </a:solidFill>
                <a:sym typeface="+mn-ea"/>
              </a:rPr>
              <a:t>-</a:t>
            </a:r>
            <a:r>
              <a:rPr lang="zh-CN" altLang="en-US" sz="2800" dirty="0">
                <a:solidFill>
                  <a:schemeClr val="accent1"/>
                </a:solidFill>
                <a:sym typeface="+mn-ea"/>
              </a:rPr>
              <a:t>案例</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5" name="Title 6"/>
          <p:cNvSpPr txBox="1"/>
          <p:nvPr>
            <p:custDataLst>
              <p:tags r:id="rId3"/>
            </p:custDataLst>
          </p:nvPr>
        </p:nvSpPr>
        <p:spPr>
          <a:xfrm>
            <a:off x="1127125" y="1936115"/>
            <a:ext cx="9779000" cy="374777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公共资源利用、公共设施提供和公共环境保护</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公共资源是指具有</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以下</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两个特征的自然资源或人类生产的供大众免费使用的设施和财物：</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没有哪个个人、企业或组织拥有所有权；</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大家都可以自由利用。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最早是从休漠（1739）开始，政治经济学者们就己经开始认识到，在人们完全从</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自利动机</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出发自由利用公共资源时，</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公共资源倾向于被过度利用、低效率使用和浪费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，并且过度利用会达到任何利用它们的人都</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无法得到实际好处</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的程度。</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公共资源问题（公地的悲剧）</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2"/>
            </p:custDataLst>
          </p:nvPr>
        </p:nvSpPr>
        <p:spPr>
          <a:xfrm>
            <a:off x="911225" y="1243965"/>
            <a:ext cx="9779000" cy="437007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公共草地放牧</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设某村庄有</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农户，该村有一片大家都可以自由放牧羊群的公共草地。由于这片草地的面积有限，因此只能让不超过某一数量的羊群吃饱，如果在这片草地上放牧羊只的实际数量超过这个限度，则每只羊都无法吃饱，从而每只羊的产出（毛、皮、肉的总价值)就会减少，甚至只能勉强存活或饿死。</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假设这些农户在夏天才到公共草地放羊，而每年春天就要决定养羊的数量，因此可看作各农户在决定自己的养羊数量时是不知道其他农户养羊数的，即</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各农户决定养羊数的决策是同时作出的</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。再假设所有农户都清楚这片公共草地最多能养多少只羊和在羊只总数的不同水平下每只羊的产出。这就构成了一个</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个农户之间关于养羊数的</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静态博弈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公共资源问题（公地的悲剧）</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2"/>
            </p:custDataLst>
          </p:nvPr>
        </p:nvSpPr>
        <p:spPr>
          <a:xfrm>
            <a:off x="911225" y="1052830"/>
            <a:ext cx="9669145" cy="437007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公共草地放牧</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个农户</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博弈方各自的策略空间</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：他们可能选择的养羊数目</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en-US" altLang="zh-CN" sz="2000" b="1"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=1,2,</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的取值范围。当各农户养羊数为</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时，在公共草地上放牧羊只的总数为</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，每只羊的产出是羊群总数Q的减函数</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V=V(Q)=</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V</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b="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b="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b="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。假设购买和照料每只羊的成本是常数</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农户</a:t>
            </a:r>
            <a:r>
              <a:rPr lang="en-US"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养</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en-US"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只羊的</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得益函数</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mn-ea"/>
              </a:rPr>
              <a:t>u</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b="1"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V(Q)</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V</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b="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b="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b="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b="1"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公共资源问题（公地的悲剧）</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 name="直接连接符 13"/>
          <p:cNvCxnSpPr/>
          <p:nvPr>
            <p:custDataLst>
              <p:tags r:id="rId1"/>
            </p:custDataLst>
          </p:nvPr>
        </p:nvCxnSpPr>
        <p:spPr>
          <a:xfrm>
            <a:off x="55118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p:custDataLst>
              <p:tags r:id="rId2"/>
            </p:custDataLst>
          </p:nvPr>
        </p:nvSpPr>
        <p:spPr>
          <a:xfrm>
            <a:off x="1487170" y="1751330"/>
            <a:ext cx="9093200" cy="457073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6" name="直接连接符 15"/>
          <p:cNvCxnSpPr/>
          <p:nvPr>
            <p:custDataLst>
              <p:tags r:id="rId3"/>
            </p:custDataLst>
          </p:nvPr>
        </p:nvCxnSpPr>
        <p:spPr>
          <a:xfrm>
            <a:off x="1775728" y="1485054"/>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4"/>
            </p:custDataLst>
          </p:nvPr>
        </p:nvCxnSpPr>
        <p:spPr>
          <a:xfrm>
            <a:off x="1559462" y="1510092"/>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5"/>
            </p:custDataLst>
          </p:nvPr>
        </p:nvCxnSpPr>
        <p:spPr>
          <a:xfrm>
            <a:off x="9912264" y="616577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itle 6"/>
          <p:cNvSpPr txBox="1"/>
          <p:nvPr>
            <p:custDataLst>
              <p:tags r:id="rId7"/>
            </p:custDataLst>
          </p:nvPr>
        </p:nvSpPr>
        <p:spPr>
          <a:xfrm>
            <a:off x="2639695" y="1920240"/>
            <a:ext cx="6722110" cy="39262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800100" lvl="1"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假设只有</a:t>
            </a:r>
            <a:r>
              <a:rPr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个农户，每只羊产出函数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2" indent="-342900" algn="l" fontAlgn="ctr">
              <a:lnSpc>
                <a:spcPct val="130000"/>
              </a:lnSpc>
              <a:spcBef>
                <a:spcPts val="1000"/>
              </a:spcBef>
              <a:spcAft>
                <a:spcPts val="0"/>
              </a:spcAft>
              <a:buSzPct val="100000"/>
              <a:buFont typeface="Wingdings" panose="05000000000000000000" charset="0"/>
              <a:buChar char="l"/>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V</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100-</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800100" lvl="1"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得益函数（竞争，个体利益最大化）</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2" indent="-342900" algn="l" fontAlgn="ctr">
              <a:lnSpc>
                <a:spcPct val="130000"/>
              </a:lnSpc>
              <a:spcBef>
                <a:spcPts val="1000"/>
              </a:spcBef>
              <a:spcAft>
                <a:spcPts val="0"/>
              </a:spcAft>
              <a:buSzPct val="100000"/>
              <a:buFont typeface="Wingdings" panose="05000000000000000000" charset="0"/>
              <a:buChar char="l"/>
            </a:pPr>
            <a:r>
              <a:rPr lang="en-US" altLang="zh-CN" sz="20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u</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100</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endPar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57300" lvl="2" indent="-34290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100</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endPar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257300" lvl="2" indent="-34290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100</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9"/>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公共资源问题（公地的悲剧）</a:t>
            </a:r>
            <a:endParaRPr lang="zh-CN" altLang="en-US" sz="2800" dirty="0">
              <a:solidFill>
                <a:schemeClr val="accent1"/>
              </a:solidFill>
              <a:sym typeface="+mn-ea"/>
            </a:endParaRPr>
          </a:p>
        </p:txBody>
      </p:sp>
      <p:sp>
        <p:nvSpPr>
          <p:cNvPr id="5" name="Title 6"/>
          <p:cNvSpPr txBox="1"/>
          <p:nvPr>
            <p:custDataLst>
              <p:tags r:id="rId10"/>
            </p:custDataLst>
          </p:nvPr>
        </p:nvSpPr>
        <p:spPr>
          <a:xfrm>
            <a:off x="911225" y="923925"/>
            <a:ext cx="9669145" cy="36385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公共草地放牧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5" name="Title 6"/>
          <p:cNvSpPr txBox="1"/>
          <p:nvPr>
            <p:custDataLst>
              <p:tags r:id="rId3"/>
            </p:custDataLst>
          </p:nvPr>
        </p:nvSpPr>
        <p:spPr>
          <a:xfrm>
            <a:off x="2997835" y="2188845"/>
            <a:ext cx="728218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48</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endPar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48</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3</a:t>
            </a:r>
            <a:endPar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48</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endPar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576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72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1728</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indent="0" algn="l" fontAlgn="ctr">
              <a:lnSpc>
                <a:spcPct val="130000"/>
              </a:lnSpc>
              <a:spcBef>
                <a:spcPts val="1000"/>
              </a:spcBef>
              <a:spcAft>
                <a:spcPts val="0"/>
              </a:spcAft>
              <a:buSzPct val="100000"/>
              <a:buFont typeface="Wingdings" panose="05000000000000000000" charset="0"/>
              <a:buNone/>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圆角矩形标注 7"/>
          <p:cNvSpPr/>
          <p:nvPr/>
        </p:nvSpPr>
        <p:spPr>
          <a:xfrm>
            <a:off x="3143250" y="5013325"/>
            <a:ext cx="2343150" cy="811530"/>
          </a:xfrm>
          <a:prstGeom prst="wedgeRoundRectCallout">
            <a:avLst>
              <a:gd name="adj1" fmla="val -32536"/>
              <a:gd name="adj2" fmla="val -7332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sym typeface="+mn-ea"/>
              </a:rPr>
              <a:t>（</a:t>
            </a:r>
            <a:r>
              <a:rPr lang="en-US" altLang="zh-CN">
                <a:solidFill>
                  <a:schemeClr val="tx1"/>
                </a:solidFill>
                <a:sym typeface="+mn-ea"/>
              </a:rPr>
              <a:t>24,24,24</a:t>
            </a:r>
            <a:r>
              <a:rPr lang="zh-CN" altLang="en-US">
                <a:solidFill>
                  <a:schemeClr val="tx1"/>
                </a:solidFill>
                <a:sym typeface="+mn-ea"/>
              </a:rPr>
              <a:t>）即三个农户博弈的纳什均衡</a:t>
            </a:r>
            <a:endParaRPr lang="zh-CN" altLang="en-US"/>
          </a:p>
        </p:txBody>
      </p:sp>
      <p:sp>
        <p:nvSpPr>
          <p:cNvPr id="4"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公共资源问题（公地的悲剧）</a:t>
            </a:r>
            <a:endParaRPr lang="zh-CN" altLang="en-US" sz="2800" dirty="0">
              <a:solidFill>
                <a:schemeClr val="accent1"/>
              </a:solidFill>
              <a:sym typeface="+mn-ea"/>
            </a:endParaRPr>
          </a:p>
        </p:txBody>
      </p:sp>
      <p:sp>
        <p:nvSpPr>
          <p:cNvPr id="5" name="Title 6"/>
          <p:cNvSpPr txBox="1"/>
          <p:nvPr>
            <p:custDataLst>
              <p:tags r:id="rId6"/>
            </p:custDataLst>
          </p:nvPr>
        </p:nvSpPr>
        <p:spPr>
          <a:xfrm>
            <a:off x="911225" y="923925"/>
            <a:ext cx="9669145" cy="36385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公共草地放牧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 name="直接连接符 1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p:custDataLst>
              <p:tags r:id="rId2"/>
            </p:custDataLst>
          </p:nvPr>
        </p:nvSpPr>
        <p:spPr>
          <a:xfrm>
            <a:off x="1984375" y="1583055"/>
            <a:ext cx="8688070" cy="468439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6" name="直接连接符 15"/>
          <p:cNvCxnSpPr/>
          <p:nvPr>
            <p:custDataLst>
              <p:tags r:id="rId3"/>
            </p:custDataLst>
          </p:nvPr>
        </p:nvCxnSpPr>
        <p:spPr>
          <a:xfrm>
            <a:off x="2207528" y="1340274"/>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4"/>
            </p:custDataLst>
          </p:nvPr>
        </p:nvCxnSpPr>
        <p:spPr>
          <a:xfrm>
            <a:off x="1991262" y="1341182"/>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itle 6"/>
          <p:cNvSpPr txBox="1"/>
          <p:nvPr>
            <p:custDataLst>
              <p:tags r:id="rId7"/>
            </p:custDataLst>
          </p:nvPr>
        </p:nvSpPr>
        <p:spPr>
          <a:xfrm>
            <a:off x="3215640" y="1700530"/>
            <a:ext cx="6644640" cy="41992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假设合作，平分利益（总体利益最大化）</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u</a:t>
            </a:r>
            <a:r>
              <a:rPr lang="zh-CN" altLang="en-US" sz="2000" i="1" baseline="30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baseline="30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100</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baseline="30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baseline="30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96Q</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baseline="30000" dirty="0">
                <a:latin typeface="Times New Roman" panose="02020603050405020304" pitchFamily="18" charset="0"/>
                <a:cs typeface="Times New Roman" panose="02020603050405020304" pitchFamily="18" charset="0"/>
                <a:sym typeface="+mn-ea"/>
              </a:rPr>
              <a:t>*</a:t>
            </a:r>
            <a:r>
              <a:rPr lang="en-US" altLang="zh-CN" sz="2000" i="1" baseline="30000" dirty="0">
                <a:latin typeface="Times New Roman" panose="02020603050405020304" pitchFamily="18" charset="0"/>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一阶条件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sym typeface="+mn-ea"/>
              </a:rPr>
              <a:t>96</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baseline="30000" dirty="0">
                <a:latin typeface="Times New Roman" panose="02020603050405020304" pitchFamily="18" charset="0"/>
                <a:cs typeface="Times New Roman" panose="02020603050405020304" pitchFamily="18" charset="0"/>
                <a:sym typeface="+mn-ea"/>
              </a:rPr>
              <a:t>* </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l" fontAlgn="ctr">
              <a:lnSpc>
                <a:spcPct val="130000"/>
              </a:lnSpc>
              <a:spcBef>
                <a:spcPts val="0"/>
              </a:spcBef>
              <a:spcAft>
                <a:spcPts val="0"/>
              </a:spcAft>
              <a:buSzPct val="100000"/>
              <a:buFont typeface="Wingdings" panose="05000000000000000000" charset="0"/>
              <a:buChar char="l"/>
            </a:pPr>
            <a:r>
              <a:rPr lang="zh-CN" altLang="en-US" sz="2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求得</a:t>
            </a:r>
            <a:endParaRPr lang="zh-CN" altLang="en-US" sz="2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baseline="30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48</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zh-CN" altLang="en-US" sz="2000" i="1" baseline="30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2304</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l" fontAlgn="ctr">
              <a:lnSpc>
                <a:spcPct val="130000"/>
              </a:lnSpc>
              <a:spcBef>
                <a:spcPts val="0"/>
              </a:spcBef>
              <a:spcAft>
                <a:spcPts val="0"/>
              </a:spcAft>
              <a:buSzPct val="100000"/>
              <a:buFont typeface="Wingdings" panose="05000000000000000000" charset="0"/>
              <a:buChar char="l"/>
            </a:pPr>
            <a:r>
              <a:rPr lang="en-US" altLang="zh-CN" sz="20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i="1" baseline="30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zh-CN" altLang="en-US" sz="2000" i="1" baseline="30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&gt;</a:t>
            </a:r>
            <a:r>
              <a:rPr lang="en-US" altLang="zh-CN" sz="2000" i="1" dirty="0">
                <a:latin typeface="Times New Roman" panose="02020603050405020304" pitchFamily="18" charset="0"/>
                <a:cs typeface="Times New Roman" panose="02020603050405020304" pitchFamily="18" charset="0"/>
                <a:sym typeface="+mn-ea"/>
              </a:rPr>
              <a:t>u</a:t>
            </a:r>
            <a:endParaRPr lang="en-US" altLang="zh-CN" sz="2000" i="1" dirty="0">
              <a:latin typeface="Times New Roman" panose="02020603050405020304" pitchFamily="18" charset="0"/>
              <a:cs typeface="Times New Roman" panose="02020603050405020304" pitchFamily="18" charset="0"/>
              <a:sym typeface="+mn-ea"/>
            </a:endParaRPr>
          </a:p>
          <a:p>
            <a:pPr marL="285750" lvl="0" indent="-285750" algn="l" fontAlgn="ctr">
              <a:lnSpc>
                <a:spcPct val="130000"/>
              </a:lnSpc>
              <a:spcBef>
                <a:spcPts val="0"/>
              </a:spcBef>
              <a:spcAft>
                <a:spcPts val="0"/>
              </a:spcAft>
              <a:buSzPct val="100000"/>
              <a:buFont typeface="Wingdings" panose="05000000000000000000" charset="0"/>
              <a:buChar char="l"/>
            </a:pPr>
            <a:r>
              <a:rPr lang="zh-CN" altLang="en-US" sz="2000" dirty="0">
                <a:latin typeface="Times New Roman" panose="02020603050405020304" pitchFamily="18" charset="0"/>
                <a:cs typeface="Times New Roman" panose="02020603050405020304" pitchFamily="18" charset="0"/>
                <a:sym typeface="+mn-ea"/>
              </a:rPr>
              <a:t>当社会成本与私人成本不一致时，公地悲剧产生。</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9"/>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公共资源问题（公地的悲剧）</a:t>
            </a:r>
            <a:endParaRPr lang="zh-CN" altLang="en-US" sz="2800" dirty="0">
              <a:solidFill>
                <a:schemeClr val="accent1"/>
              </a:solidFill>
              <a:sym typeface="+mn-ea"/>
            </a:endParaRPr>
          </a:p>
        </p:txBody>
      </p:sp>
      <p:sp>
        <p:nvSpPr>
          <p:cNvPr id="5" name="Title 6"/>
          <p:cNvSpPr txBox="1"/>
          <p:nvPr>
            <p:custDataLst>
              <p:tags r:id="rId10"/>
            </p:custDataLst>
          </p:nvPr>
        </p:nvSpPr>
        <p:spPr>
          <a:xfrm>
            <a:off x="911225" y="923925"/>
            <a:ext cx="9669145" cy="36385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公共草地放牧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custDataLst>
              <p:tags r:id="rId2"/>
            </p:custDataLst>
          </p:nvPr>
        </p:nvSpPr>
        <p:spPr>
          <a:xfrm>
            <a:off x="495300" y="1190625"/>
            <a:ext cx="11302365" cy="508317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5" name="Title 6"/>
          <p:cNvSpPr txBox="1"/>
          <p:nvPr>
            <p:custDataLst>
              <p:tags r:id="rId3"/>
            </p:custDataLst>
          </p:nvPr>
        </p:nvSpPr>
        <p:spPr>
          <a:xfrm>
            <a:off x="1416050" y="1798955"/>
            <a:ext cx="9173845" cy="486791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种公共资源悲剧的原因是这样一种囚徒困境：自己加大利用公共资源而他人不加大利用，则自己得利；自己加大利用其他人也加大利用，则自己不至于吃亏；最终所有人都会尽可能加大利用资源，直至再加大会减少自身利益的</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纳什均衡水平，而这个水平比实现资源最佳利用和个人利益最佳效率的水平要高。</a:t>
            </a:r>
            <a:endPar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latin typeface="Times New Roman" panose="02020603050405020304" pitchFamily="18" charset="0"/>
                <a:sym typeface="+mn-ea"/>
              </a:rPr>
              <a:t>公地的悲剧</a:t>
            </a:r>
            <a:r>
              <a:rPr lang="zh-CN" altLang="en-US" sz="2000">
                <a:sym typeface="+mn-ea"/>
              </a:rPr>
              <a:t>：如果一种资源没有排他性的所有权，就会导致对这种资源的过度使用。</a:t>
            </a:r>
            <a:endParaRPr lang="zh-CN" altLang="en-US" sz="2000">
              <a:sym typeface="+mn-ea"/>
            </a:endParaRPr>
          </a:p>
          <a:p>
            <a:pPr marL="800100" lvl="1" indent="-342900" algn="just" fontAlgn="ctr">
              <a:lnSpc>
                <a:spcPct val="130000"/>
              </a:lnSpc>
              <a:spcBef>
                <a:spcPts val="1000"/>
              </a:spcBef>
              <a:spcAft>
                <a:spcPts val="0"/>
              </a:spcAft>
              <a:buSzPct val="100000"/>
              <a:buFont typeface="Wingdings" panose="05000000000000000000" charset="0"/>
              <a:buChar char="ü"/>
            </a:pPr>
            <a:r>
              <a:rPr lang="zh-CN" altLang="en-US" sz="2000">
                <a:solidFill>
                  <a:schemeClr val="tx1"/>
                </a:solidFill>
                <a:sym typeface="+mn-ea"/>
              </a:rPr>
              <a:t>公海捕鱼</a:t>
            </a:r>
            <a:endParaRPr lang="zh-CN" altLang="en-US" sz="2000">
              <a:solidFill>
                <a:schemeClr val="tx1"/>
              </a:solidFill>
              <a:sym typeface="+mn-ea"/>
            </a:endParaRPr>
          </a:p>
          <a:p>
            <a:pPr marL="800100" lvl="1" indent="-342900" algn="just" fontAlgn="ctr">
              <a:lnSpc>
                <a:spcPct val="130000"/>
              </a:lnSpc>
              <a:spcBef>
                <a:spcPts val="1000"/>
              </a:spcBef>
              <a:spcAft>
                <a:spcPts val="0"/>
              </a:spcAft>
              <a:buSzPct val="100000"/>
              <a:buFont typeface="Wingdings" panose="05000000000000000000" charset="0"/>
              <a:buChar char="ü"/>
            </a:pPr>
            <a:r>
              <a:rPr lang="zh-CN" altLang="en-US" sz="2000">
                <a:sym typeface="+mn-ea"/>
              </a:rPr>
              <a:t>中国一些地区小煤窑的过度发展</a:t>
            </a:r>
            <a:endParaRPr lang="zh-CN" altLang="en-US" sz="200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solidFill>
                  <a:schemeClr val="tx1"/>
                </a:solidFill>
                <a:sym typeface="+mn-ea"/>
              </a:rPr>
              <a:t>公地的悲剧证明了纳什均衡常常是低效率的</a:t>
            </a:r>
            <a:endParaRPr lang="zh-CN" altLang="en-US" sz="2000" dirty="0"/>
          </a:p>
          <a:p>
            <a:pPr lvl="0" indent="0" algn="just" fontAlgn="ctr">
              <a:lnSpc>
                <a:spcPct val="130000"/>
              </a:lnSpc>
              <a:spcBef>
                <a:spcPts val="1000"/>
              </a:spcBef>
              <a:spcAft>
                <a:spcPts val="0"/>
              </a:spcAft>
              <a:buSzPct val="100000"/>
              <a:buFont typeface="Wingdings" panose="05000000000000000000" charset="0"/>
            </a:pP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无限策略博弈分析：</a:t>
            </a:r>
            <a:r>
              <a:rPr lang="zh-CN" altLang="en-US" sz="2800" dirty="0">
                <a:solidFill>
                  <a:schemeClr val="accent1"/>
                </a:solidFill>
                <a:sym typeface="+mn-ea"/>
              </a:rPr>
              <a:t>公共资源问题（公地的悲剧）</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2"/>
            </p:custDataLst>
          </p:nvPr>
        </p:nvSpPr>
        <p:spPr>
          <a:xfrm>
            <a:off x="982980" y="981075"/>
            <a:ext cx="9173845" cy="265747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u"/>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有些博弈方的得益函数不是可微函数，无法用先求导数找各个博弈方的反应函数，再解联立方程组的方法求纳什均衡。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u"/>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各博弈方的反应函数不存在交点。</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u"/>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博弈方的反应函数的交点不唯一。</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反应函数的局限性</a:t>
            </a:r>
            <a:endParaRPr lang="zh-CN" altLang="en-US" sz="32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a:xfrm>
            <a:off x="8616315" y="6380948"/>
            <a:ext cx="2700000" cy="316800"/>
          </a:xfrm>
        </p:spPr>
        <p:txBody>
          <a:bodyPr/>
          <a:lstStyle/>
          <a:p>
            <a:fld id="{49AE70B2-8BF9-45C0-BB95-33D1B9D3A854}" type="slidenum">
              <a:rPr lang="zh-CN" altLang="en-US" smtClean="0"/>
            </a:fld>
            <a:endParaRPr lang="zh-CN" altLang="en-US"/>
          </a:p>
        </p:txBody>
      </p:sp>
      <p:sp>
        <p:nvSpPr>
          <p:cNvPr id="60419" name="文本占位符 60418"/>
          <p:cNvSpPr>
            <a:spLocks noGrp="1"/>
          </p:cNvSpPr>
          <p:nvPr/>
        </p:nvSpPr>
        <p:spPr>
          <a:xfrm>
            <a:off x="695960" y="980440"/>
            <a:ext cx="8569325" cy="131254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gn="just">
              <a:lnSpc>
                <a:spcPct val="130000"/>
              </a:lnSpc>
              <a:spcBef>
                <a:spcPts val="0"/>
              </a:spcBef>
              <a:buFont typeface="Wingdings" panose="05000000000000000000" charset="0"/>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有些博弈没有“纯策略”纳什均衡</a:t>
            </a:r>
            <a:r>
              <a:rPr lang="zh-CN" altLang="en-US" sz="2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如猜硬币博弈</a:t>
            </a:r>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endParaRPr>
          </a:p>
          <a:p>
            <a:pPr lvl="1" algn="just">
              <a:lnSpc>
                <a:spcPct val="130000"/>
              </a:lnSpc>
              <a:spcBef>
                <a:spcPts val="0"/>
              </a:spcBef>
              <a:buFont typeface="Arial" panose="020B0604020202020204" pitchFamily="34" charset="0"/>
              <a:buChar char="•"/>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两人玩游戏，一人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盖住硬币，另一人猜哪一面朝上，输赢一块钱。</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gn="just">
              <a:lnSpc>
                <a:spcPct val="130000"/>
              </a:lnSpc>
              <a:spcBef>
                <a:spcPts val="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类似的例子还有划拳、敲棒棒、剪刀</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石头</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布、战争。</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7" name="表格 6"/>
          <p:cNvGraphicFramePr>
            <a:graphicFrameLocks noGrp="1"/>
          </p:cNvGraphicFramePr>
          <p:nvPr>
            <p:custDataLst>
              <p:tags r:id="rId4"/>
            </p:custDataLst>
          </p:nvPr>
        </p:nvGraphicFramePr>
        <p:xfrm>
          <a:off x="2639695" y="2564765"/>
          <a:ext cx="5021580" cy="3126105"/>
        </p:xfrm>
        <a:graphic>
          <a:graphicData uri="http://schemas.openxmlformats.org/drawingml/2006/table">
            <a:tbl>
              <a:tblPr firstRow="1" bandRow="1">
                <a:tableStyleId>{2D5ABB26-0587-4C30-8999-92F81FD0307C}</a:tableStyleId>
              </a:tblPr>
              <a:tblGrid>
                <a:gridCol w="991870"/>
                <a:gridCol w="1296035"/>
                <a:gridCol w="1366520"/>
                <a:gridCol w="1367155"/>
              </a:tblGrid>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a:noFill/>
                    </a:lnT>
                    <a:lnB w="3175" cap="rnd">
                      <a:solidFill>
                        <a:srgbClr val="FFFFFF"/>
                      </a:solidFill>
                      <a:prstDash val="dot"/>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a:noFill/>
                    </a:lnT>
                    <a:lnB w="3175" cap="rnd">
                      <a:solidFill>
                        <a:srgbClr val="FFFFFF"/>
                      </a:solidFill>
                      <a:prstDash val="dot"/>
                    </a:lnB>
                    <a:noFill/>
                  </a:tcPr>
                </a:tc>
                <a:tc gridSpan="2">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猜方</a:t>
                      </a:r>
                      <a:endParaRPr lang="zh-CN" altLang="en-US" sz="1800" b="1" spc="13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anchor="ctr">
                    <a:lnL w="3175">
                      <a:solidFill>
                        <a:srgbClr val="FFFFFF"/>
                      </a:solidFill>
                      <a:prstDash val="dot"/>
                    </a:lnL>
                    <a:lnR>
                      <a:noFill/>
                    </a:lnR>
                    <a:lnT>
                      <a:noFill/>
                    </a:lnT>
                    <a:lnB w="3175" cap="rnd">
                      <a:solidFill>
                        <a:srgbClr val="FFFFFF"/>
                      </a:solidFill>
                      <a:prstDash val="dot"/>
                    </a:lnB>
                    <a:noFill/>
                  </a:tcPr>
                </a:tc>
                <a:tc hMerge="1">
                  <a:tcPr>
                    <a:lnR>
                      <a:noFill/>
                    </a:lnR>
                    <a:lnT>
                      <a:noFill/>
                    </a:lnT>
                    <a:lnB w="3175" cap="rnd">
                      <a:solidFill>
                        <a:srgbClr val="FFFFFF"/>
                      </a:solidFill>
                      <a:prstDash val="dot"/>
                    </a:lnB>
                  </a:tcPr>
                </a:tc>
              </a:tr>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a:noFill/>
                    </a:lnR>
                    <a:lnT w="3175">
                      <a:solidFill>
                        <a:srgbClr val="FFFFFF"/>
                      </a:solidFill>
                      <a:prstDash val="dot"/>
                    </a:lnT>
                    <a:lnB>
                      <a:noFill/>
                    </a:lnB>
                    <a:noFill/>
                  </a:tcPr>
                </a:tc>
              </a:tr>
              <a:tr h="753745">
                <a:tc rowSpan="2">
                  <a:txBody>
                    <a:bodyPr/>
                    <a:lstStyle/>
                    <a:p>
                      <a:pPr indent="0" algn="l">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盖方</a:t>
                      </a:r>
                      <a:endParaRPr lang="zh-CN" altLang="en-US" sz="1600" b="0" spc="12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vert="eaVert"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r h="754380">
                <a:tc vMerge="1">
                  <a:tcPr>
                    <a:lnL>
                      <a:noFill/>
                    </a:lnL>
                    <a:lnR>
                      <a:noFill/>
                    </a:lnR>
                    <a:lnB>
                      <a:noFill/>
                    </a:lnB>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bl>
          </a:graphicData>
        </a:graphic>
      </p:graphicFrame>
      <p:graphicFrame>
        <p:nvGraphicFramePr>
          <p:cNvPr id="3" name="表格 2"/>
          <p:cNvGraphicFramePr>
            <a:graphicFrameLocks noGrp="1"/>
          </p:cNvGraphicFramePr>
          <p:nvPr>
            <p:custDataLst>
              <p:tags r:id="rId5"/>
            </p:custDataLst>
          </p:nvPr>
        </p:nvGraphicFramePr>
        <p:xfrm>
          <a:off x="4739005" y="4293235"/>
          <a:ext cx="2857500" cy="1191260"/>
        </p:xfrm>
        <a:graphic>
          <a:graphicData uri="http://schemas.openxmlformats.org/drawingml/2006/table">
            <a:tbl>
              <a:tblPr firstRow="1" bandRow="1">
                <a:tableStyleId>{2D5ABB26-0587-4C30-8999-92F81FD0307C}</a:tableStyleId>
              </a:tblPr>
              <a:tblGrid>
                <a:gridCol w="1463675"/>
                <a:gridCol w="1393825"/>
              </a:tblGrid>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595630">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4" name="文本占位符 60418"/>
          <p:cNvSpPr>
            <a:spLocks noGrp="1"/>
          </p:cNvSpPr>
          <p:nvPr/>
        </p:nvSpPr>
        <p:spPr>
          <a:xfrm>
            <a:off x="767715" y="5690870"/>
            <a:ext cx="9785985" cy="131254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gn="just">
              <a:lnSpc>
                <a:spcPct val="130000"/>
              </a:lnSpc>
              <a:spcBef>
                <a:spcPts val="0"/>
              </a:spcBef>
              <a:buFont typeface="Wingdings" panose="05000000000000000000" charset="0"/>
              <a:buChar char="Ø"/>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各博弈方的利益和偏好始终不一致，</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在通常策略基础上没有纳什均衡的博弈，称为严格竞争博弈。</a:t>
            </a:r>
            <a:endPar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a:xfrm>
            <a:off x="8616315" y="6380948"/>
            <a:ext cx="2700000" cy="316800"/>
          </a:xfrm>
        </p:spPr>
        <p:txBody>
          <a:bodyPr/>
          <a:lstStyle/>
          <a:p>
            <a:fld id="{49AE70B2-8BF9-45C0-BB95-33D1B9D3A854}" type="slidenum">
              <a:rPr lang="zh-CN" altLang="en-US" smtClean="0"/>
            </a:fld>
            <a:endParaRPr lang="zh-CN" altLang="en-US"/>
          </a:p>
        </p:txBody>
      </p:sp>
      <p:sp>
        <p:nvSpPr>
          <p:cNvPr id="60419" name="文本占位符 60418"/>
          <p:cNvSpPr>
            <a:spLocks noGrp="1"/>
          </p:cNvSpPr>
          <p:nvPr/>
        </p:nvSpPr>
        <p:spPr>
          <a:xfrm>
            <a:off x="695960" y="980440"/>
            <a:ext cx="8569325" cy="131254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gn="just">
              <a:lnSpc>
                <a:spcPct val="130000"/>
              </a:lnSpc>
              <a:spcBef>
                <a:spcPts val="0"/>
              </a:spcBef>
              <a:buFont typeface="Wingdings" panose="05000000000000000000" charset="0"/>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有些博弈有多个“纯策略”纳什均衡</a:t>
            </a:r>
            <a:r>
              <a:rPr lang="zh-CN" altLang="en-US" sz="2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如夫妻之争。</a:t>
            </a:r>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9" name="表格 8"/>
          <p:cNvGraphicFramePr>
            <a:graphicFrameLocks noGrp="1"/>
          </p:cNvGraphicFramePr>
          <p:nvPr>
            <p:custDataLst>
              <p:tags r:id="rId4"/>
            </p:custDataLst>
          </p:nvPr>
        </p:nvGraphicFramePr>
        <p:xfrm>
          <a:off x="2496185" y="2492375"/>
          <a:ext cx="5448935" cy="2682875"/>
        </p:xfrm>
        <a:graphic>
          <a:graphicData uri="http://schemas.openxmlformats.org/drawingml/2006/table">
            <a:tbl>
              <a:tblPr firstRow="1" bandRow="1">
                <a:tableStyleId>{2D5ABB26-0587-4C30-8999-92F81FD0307C}</a:tableStyleId>
              </a:tblPr>
              <a:tblGrid>
                <a:gridCol w="1220470"/>
                <a:gridCol w="1392555"/>
                <a:gridCol w="1452880"/>
                <a:gridCol w="1383030"/>
              </a:tblGrid>
              <a:tr h="7486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丈夫</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929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妻子</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3"/>
            </p:custDataLst>
          </p:nvPr>
        </p:nvSpPr>
        <p:spPr>
          <a:xfrm>
            <a:off x="1415415" y="1739900"/>
            <a:ext cx="9473565" cy="4140200"/>
          </a:xfrm>
          <a:prstGeom prst="rect">
            <a:avLst/>
          </a:prstGeom>
          <a:noFill/>
          <a:ln w="3175">
            <a:noFill/>
            <a:prstDash val="dash"/>
          </a:ln>
        </p:spPr>
        <p:txBody>
          <a:bodyPr wrap="square" lIns="63500" tIns="25400" rIns="63500" bIns="25400" anchor="ctr" anchorCtr="0">
            <a:normAutofit fontScale="675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3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策略：博弈方在给定信息集的情况下选择行动的规则，它规定博弈方在什么情况下选择什么行动，是博弈方的“相机行动方案”。</a:t>
            </a:r>
            <a:endParaRPr lang="zh-CN" altLang="en-US" sz="3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36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纯策略</a:t>
            </a:r>
            <a:r>
              <a:rPr lang="zh-CN" altLang="en-US" sz="3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：如果一个策略规定博弈方在每一个给定的信息情况下只选择一种特定的行动。该策略为纯策略。</a:t>
            </a:r>
            <a:endParaRPr lang="zh-CN" altLang="en-US" sz="3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36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a:t>
            </a:r>
            <a:r>
              <a:rPr lang="zh-CN" altLang="en-US" sz="36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：如果一个策略规定博弈方在给定信息情况下以</a:t>
            </a:r>
            <a:r>
              <a:rPr lang="zh-CN" altLang="en-US" sz="36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某种概率分布</a:t>
            </a:r>
            <a:r>
              <a:rPr lang="zh-CN" altLang="en-US" sz="36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随机地选择不同的行动，则该策略为混合策略。</a:t>
            </a:r>
            <a:r>
              <a:rPr lang="zh-CN" altLang="en-US" sz="3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grpSp>
        <p:nvGrpSpPr>
          <p:cNvPr id="9" name="组合 8"/>
          <p:cNvGrpSpPr/>
          <p:nvPr/>
        </p:nvGrpSpPr>
        <p:grpSpPr>
          <a:xfrm>
            <a:off x="1169035" y="1627505"/>
            <a:ext cx="9967595" cy="4288155"/>
            <a:chOff x="2229" y="2740"/>
            <a:chExt cx="15697" cy="6753"/>
          </a:xfrm>
        </p:grpSpPr>
        <p:sp>
          <p:nvSpPr>
            <p:cNvPr id="14" name="Title 6"/>
            <p:cNvSpPr txBox="1"/>
            <p:nvPr>
              <p:custDataLst>
                <p:tags r:id="rId5"/>
              </p:custDataLst>
            </p:nvPr>
          </p:nvSpPr>
          <p:spPr>
            <a:xfrm>
              <a:off x="2229" y="2740"/>
              <a:ext cx="15697" cy="675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7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混合策略的定义：</a:t>
              </a:r>
              <a:endParaRPr lang="zh-CN" altLang="en-US" sz="27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fontAlgn="auto">
                <a:lnSpc>
                  <a:spcPct val="180000"/>
                </a:lnSpc>
                <a:spcBef>
                  <a:spcPts val="0"/>
                </a:spcBef>
                <a:buClr>
                  <a:srgbClr val="FF0066"/>
                </a:buClr>
                <a:buFont typeface="Wingdings" panose="05000000000000000000" pitchFamily="2" charset="2"/>
              </a:pPr>
              <a:r>
                <a:rPr lang="zh-CN" altLang="en-US" sz="2445">
                  <a:latin typeface="Times New Roman" panose="02020603050405020304" pitchFamily="18" charset="0"/>
                  <a:sym typeface="+mn-ea"/>
                </a:rPr>
                <a:t>在</a:t>
              </a:r>
              <a:r>
                <a:rPr altLang="zh-CN" sz="2445">
                  <a:latin typeface="Times New Roman" panose="02020603050405020304" pitchFamily="18" charset="0"/>
                  <a:sym typeface="+mn-ea"/>
                </a:rPr>
                <a:t>n</a:t>
              </a:r>
              <a:r>
                <a:rPr lang="zh-CN" altLang="en-US" sz="2445">
                  <a:latin typeface="Times New Roman" panose="02020603050405020304" pitchFamily="18" charset="0"/>
                  <a:sym typeface="+mn-ea"/>
                </a:rPr>
                <a:t>人博弈                               </a:t>
              </a:r>
              <a:r>
                <a:rPr altLang="zh-CN" sz="2445">
                  <a:latin typeface="Times New Roman" panose="02020603050405020304" pitchFamily="18" charset="0"/>
                  <a:sym typeface="+mn-ea"/>
                </a:rPr>
                <a:t> </a:t>
              </a:r>
              <a:r>
                <a:rPr lang="zh-CN" altLang="en-US" sz="2445">
                  <a:latin typeface="Times New Roman" panose="02020603050405020304" pitchFamily="18" charset="0"/>
                  <a:sym typeface="+mn-ea"/>
                </a:rPr>
                <a:t>中，假定博弈方</a:t>
              </a:r>
              <a:r>
                <a:rPr altLang="zh-CN" sz="2445">
                  <a:latin typeface="Times New Roman" panose="02020603050405020304" pitchFamily="18" charset="0"/>
                  <a:cs typeface="Times New Roman" panose="02020603050405020304" pitchFamily="18" charset="0"/>
                  <a:sym typeface="+mn-ea"/>
                </a:rPr>
                <a:t>i</a:t>
              </a:r>
              <a:r>
                <a:rPr lang="zh-CN" altLang="en-US" sz="2445">
                  <a:latin typeface="Times New Roman" panose="02020603050405020304" pitchFamily="18" charset="0"/>
                  <a:sym typeface="+mn-ea"/>
                </a:rPr>
                <a:t>有</a:t>
              </a:r>
              <a:r>
                <a:rPr altLang="zh-CN" sz="2445">
                  <a:latin typeface="Times New Roman" panose="02020603050405020304" pitchFamily="18" charset="0"/>
                  <a:cs typeface="Times New Roman" panose="02020603050405020304" pitchFamily="18" charset="0"/>
                  <a:sym typeface="+mn-ea"/>
                </a:rPr>
                <a:t>k</a:t>
              </a:r>
              <a:r>
                <a:rPr lang="zh-CN" altLang="en-US" sz="2445">
                  <a:latin typeface="Times New Roman" panose="02020603050405020304" pitchFamily="18" charset="0"/>
                  <a:sym typeface="+mn-ea"/>
                </a:rPr>
                <a:t>个纯策略，其策略空间为                   </a:t>
              </a:r>
              <a:r>
                <a:rPr altLang="zh-CN" sz="2445">
                  <a:latin typeface="Times New Roman" panose="02020603050405020304" pitchFamily="18" charset="0"/>
                  <a:sym typeface="+mn-ea"/>
                </a:rPr>
                <a:t>          </a:t>
              </a:r>
              <a:r>
                <a:rPr lang="zh-CN" altLang="en-US" sz="2445">
                  <a:latin typeface="Times New Roman" panose="02020603050405020304" pitchFamily="18" charset="0"/>
                  <a:sym typeface="+mn-ea"/>
                </a:rPr>
                <a:t>，则博弈方</a:t>
              </a:r>
              <a:r>
                <a:rPr altLang="zh-CN" sz="2445">
                  <a:latin typeface="Times New Roman" panose="02020603050405020304" pitchFamily="18" charset="0"/>
                  <a:sym typeface="+mn-ea"/>
                </a:rPr>
                <a:t>i</a:t>
              </a:r>
              <a:r>
                <a:rPr lang="zh-CN" altLang="en-US" sz="2445">
                  <a:latin typeface="Times New Roman" panose="02020603050405020304" pitchFamily="18" charset="0"/>
                  <a:sym typeface="+mn-ea"/>
                </a:rPr>
                <a:t>以特定概率分布            </a:t>
              </a:r>
              <a:r>
                <a:rPr altLang="zh-CN" sz="2445">
                  <a:latin typeface="Times New Roman" panose="02020603050405020304" pitchFamily="18" charset="0"/>
                  <a:sym typeface="+mn-ea"/>
                </a:rPr>
                <a:t>                      </a:t>
              </a:r>
              <a:r>
                <a:rPr lang="zh-CN" altLang="en-US" sz="2445">
                  <a:latin typeface="Times New Roman" panose="02020603050405020304" pitchFamily="18" charset="0"/>
                  <a:sym typeface="+mn-ea"/>
                </a:rPr>
                <a:t>在其</a:t>
              </a:r>
              <a:r>
                <a:rPr altLang="zh-CN" sz="2445">
                  <a:latin typeface="Times New Roman" panose="02020603050405020304" pitchFamily="18" charset="0"/>
                  <a:sym typeface="+mn-ea"/>
                </a:rPr>
                <a:t>k</a:t>
              </a:r>
              <a:r>
                <a:rPr lang="zh-CN" altLang="en-US" sz="2445">
                  <a:latin typeface="Times New Roman" panose="02020603050405020304" pitchFamily="18" charset="0"/>
                  <a:sym typeface="+mn-ea"/>
                </a:rPr>
                <a:t>个可选策略中随机选择的</a:t>
              </a:r>
              <a:r>
                <a:rPr altLang="zh-CN" sz="2445">
                  <a:latin typeface="Times New Roman" panose="02020603050405020304" pitchFamily="18" charset="0"/>
                  <a:sym typeface="+mn-ea"/>
                </a:rPr>
                <a:t>“</a:t>
              </a:r>
              <a:r>
                <a:rPr lang="zh-CN" altLang="en-US" sz="2445">
                  <a:latin typeface="Times New Roman" panose="02020603050405020304" pitchFamily="18" charset="0"/>
                  <a:sym typeface="+mn-ea"/>
                </a:rPr>
                <a:t>策略</a:t>
              </a:r>
              <a:r>
                <a:rPr altLang="zh-CN" sz="2445">
                  <a:latin typeface="Times New Roman" panose="02020603050405020304" pitchFamily="18" charset="0"/>
                  <a:sym typeface="+mn-ea"/>
                </a:rPr>
                <a:t>”</a:t>
              </a:r>
              <a:r>
                <a:rPr lang="zh-CN" altLang="en-US" sz="2445">
                  <a:latin typeface="Times New Roman" panose="02020603050405020304" pitchFamily="18" charset="0"/>
                  <a:sym typeface="+mn-ea"/>
                </a:rPr>
                <a:t> ， 称为一个混合策略，其中</a:t>
              </a:r>
              <a:r>
                <a:rPr altLang="zh-CN" sz="2445">
                  <a:latin typeface="Times New Roman" panose="02020603050405020304" pitchFamily="18" charset="0"/>
                  <a:sym typeface="+mn-ea"/>
                </a:rPr>
                <a:t>                    </a:t>
              </a:r>
              <a:r>
                <a:rPr lang="zh-CN" altLang="en-US" sz="2445">
                  <a:latin typeface="Times New Roman" panose="02020603050405020304" pitchFamily="18" charset="0"/>
                  <a:sym typeface="+mn-ea"/>
                </a:rPr>
                <a:t>对</a:t>
              </a:r>
              <a:r>
                <a:rPr altLang="zh-CN" sz="2445">
                  <a:latin typeface="Times New Roman" panose="02020603050405020304" pitchFamily="18" charset="0"/>
                  <a:sym typeface="+mn-ea"/>
                </a:rPr>
                <a:t>                  </a:t>
              </a:r>
              <a:r>
                <a:rPr lang="zh-CN" altLang="en-US" sz="2445">
                  <a:latin typeface="Times New Roman" panose="02020603050405020304" pitchFamily="18" charset="0"/>
                  <a:sym typeface="+mn-ea"/>
                </a:rPr>
                <a:t>都成立，且                             。</a:t>
              </a:r>
              <a:endParaRPr lang="zh-CN" altLang="en-US" sz="2445">
                <a:latin typeface="Times New Roman" panose="02020603050405020304" pitchFamily="18" charset="0"/>
              </a:endParaRPr>
            </a:p>
            <a:p>
              <a:pPr lvl="0" indent="0" algn="l" fontAlgn="ctr">
                <a:lnSpc>
                  <a:spcPct val="130000"/>
                </a:lnSpc>
                <a:spcBef>
                  <a:spcPts val="1000"/>
                </a:spcBef>
                <a:spcAft>
                  <a:spcPts val="0"/>
                </a:spcAft>
                <a:buSzPct val="100000"/>
                <a:buFont typeface="Wingdings" panose="05000000000000000000" charset="0"/>
              </a:pP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6743" name="对象 116742"/>
            <p:cNvGraphicFramePr/>
            <p:nvPr/>
          </p:nvGraphicFramePr>
          <p:xfrm>
            <a:off x="4657" y="4895"/>
            <a:ext cx="4117" cy="749"/>
          </p:xfrm>
          <a:graphic>
            <a:graphicData uri="http://schemas.openxmlformats.org/presentationml/2006/ole">
              <mc:AlternateContent xmlns:mc="http://schemas.openxmlformats.org/markup-compatibility/2006">
                <mc:Choice xmlns:v="urn:schemas-microsoft-com:vml" Requires="v">
                  <p:oleObj spid="_x0000_s6151" name="" r:id="rId6" imgW="1435100" imgH="228600" progId="Equation.3">
                    <p:embed/>
                  </p:oleObj>
                </mc:Choice>
                <mc:Fallback>
                  <p:oleObj name="" r:id="rId6" imgW="1435100" imgH="228600" progId="Equation.3">
                    <p:embed/>
                    <p:pic>
                      <p:nvPicPr>
                        <p:cNvPr id="0" name="图片 3095"/>
                        <p:cNvPicPr/>
                        <p:nvPr/>
                      </p:nvPicPr>
                      <p:blipFill>
                        <a:blip r:embed="rId7"/>
                        <a:stretch>
                          <a:fillRect/>
                        </a:stretch>
                      </p:blipFill>
                      <p:spPr>
                        <a:xfrm>
                          <a:off x="4657" y="4895"/>
                          <a:ext cx="4117" cy="749"/>
                        </a:xfrm>
                        <a:prstGeom prst="rect">
                          <a:avLst/>
                        </a:prstGeom>
                        <a:noFill/>
                        <a:ln w="38100">
                          <a:noFill/>
                          <a:miter/>
                        </a:ln>
                      </p:spPr>
                    </p:pic>
                  </p:oleObj>
                </mc:Fallback>
              </mc:AlternateContent>
            </a:graphicData>
          </a:graphic>
        </p:graphicFrame>
        <p:graphicFrame>
          <p:nvGraphicFramePr>
            <p:cNvPr id="116745" name="对象 116744"/>
            <p:cNvGraphicFramePr/>
            <p:nvPr/>
          </p:nvGraphicFramePr>
          <p:xfrm>
            <a:off x="2956" y="5696"/>
            <a:ext cx="2752" cy="841"/>
          </p:xfrm>
          <a:graphic>
            <a:graphicData uri="http://schemas.openxmlformats.org/presentationml/2006/ole">
              <mc:AlternateContent xmlns:mc="http://schemas.openxmlformats.org/markup-compatibility/2006">
                <mc:Choice xmlns:v="urn:schemas-microsoft-com:vml" Requires="v">
                  <p:oleObj spid="_x0000_s6152" name="" r:id="rId8" imgW="965200" imgH="254000" progId="Equation.DSMT4">
                    <p:embed/>
                  </p:oleObj>
                </mc:Choice>
                <mc:Fallback>
                  <p:oleObj name="" r:id="rId8" imgW="965200" imgH="254000" progId="Equation.DSMT4">
                    <p:embed/>
                    <p:pic>
                      <p:nvPicPr>
                        <p:cNvPr id="0" name="图片 3098"/>
                        <p:cNvPicPr/>
                        <p:nvPr/>
                      </p:nvPicPr>
                      <p:blipFill>
                        <a:blip r:embed="rId9"/>
                        <a:stretch>
                          <a:fillRect/>
                        </a:stretch>
                      </p:blipFill>
                      <p:spPr>
                        <a:xfrm>
                          <a:off x="2956" y="5696"/>
                          <a:ext cx="2752" cy="841"/>
                        </a:xfrm>
                        <a:prstGeom prst="rect">
                          <a:avLst/>
                        </a:prstGeom>
                        <a:noFill/>
                        <a:ln w="38100">
                          <a:noFill/>
                          <a:miter/>
                        </a:ln>
                      </p:spPr>
                    </p:pic>
                  </p:oleObj>
                </mc:Fallback>
              </mc:AlternateContent>
            </a:graphicData>
          </a:graphic>
        </p:graphicFrame>
        <p:graphicFrame>
          <p:nvGraphicFramePr>
            <p:cNvPr id="116746" name="对象 116745"/>
            <p:cNvGraphicFramePr/>
            <p:nvPr/>
          </p:nvGraphicFramePr>
          <p:xfrm>
            <a:off x="11008" y="5690"/>
            <a:ext cx="3287" cy="845"/>
          </p:xfrm>
          <a:graphic>
            <a:graphicData uri="http://schemas.openxmlformats.org/presentationml/2006/ole">
              <mc:AlternateContent xmlns:mc="http://schemas.openxmlformats.org/markup-compatibility/2006">
                <mc:Choice xmlns:v="urn:schemas-microsoft-com:vml" Requires="v">
                  <p:oleObj spid="_x0000_s6153" name="" r:id="rId10" imgW="1054100" imgH="254000" progId="Equation.DSMT4">
                    <p:embed/>
                  </p:oleObj>
                </mc:Choice>
                <mc:Fallback>
                  <p:oleObj name="" r:id="rId10" imgW="1054100" imgH="254000" progId="Equation.DSMT4">
                    <p:embed/>
                    <p:pic>
                      <p:nvPicPr>
                        <p:cNvPr id="0" name="图片 3094"/>
                        <p:cNvPicPr/>
                        <p:nvPr/>
                      </p:nvPicPr>
                      <p:blipFill>
                        <a:blip r:embed="rId11"/>
                        <a:stretch>
                          <a:fillRect/>
                        </a:stretch>
                      </p:blipFill>
                      <p:spPr>
                        <a:xfrm>
                          <a:off x="11008" y="5690"/>
                          <a:ext cx="3287" cy="845"/>
                        </a:xfrm>
                        <a:prstGeom prst="rect">
                          <a:avLst/>
                        </a:prstGeom>
                        <a:noFill/>
                        <a:ln w="38100">
                          <a:noFill/>
                          <a:miter/>
                        </a:ln>
                      </p:spPr>
                    </p:pic>
                  </p:oleObj>
                </mc:Fallback>
              </mc:AlternateContent>
            </a:graphicData>
          </a:graphic>
        </p:graphicFrame>
        <p:graphicFrame>
          <p:nvGraphicFramePr>
            <p:cNvPr id="116751" name="对象 116750"/>
            <p:cNvGraphicFramePr/>
            <p:nvPr/>
          </p:nvGraphicFramePr>
          <p:xfrm>
            <a:off x="11575" y="6672"/>
            <a:ext cx="1916" cy="714"/>
          </p:xfrm>
          <a:graphic>
            <a:graphicData uri="http://schemas.openxmlformats.org/presentationml/2006/ole">
              <mc:AlternateContent xmlns:mc="http://schemas.openxmlformats.org/markup-compatibility/2006">
                <mc:Choice xmlns:v="urn:schemas-microsoft-com:vml" Requires="v">
                  <p:oleObj spid="_x0000_s6154" name="" r:id="rId12" imgW="673100" imgH="241300" progId="Equation.3">
                    <p:embed/>
                  </p:oleObj>
                </mc:Choice>
                <mc:Fallback>
                  <p:oleObj name="" r:id="rId12" imgW="673100" imgH="241300" progId="Equation.3">
                    <p:embed/>
                    <p:pic>
                      <p:nvPicPr>
                        <p:cNvPr id="0" name="图片 3101"/>
                        <p:cNvPicPr/>
                        <p:nvPr/>
                      </p:nvPicPr>
                      <p:blipFill>
                        <a:blip r:embed="rId13"/>
                        <a:stretch>
                          <a:fillRect/>
                        </a:stretch>
                      </p:blipFill>
                      <p:spPr>
                        <a:xfrm>
                          <a:off x="11575" y="6672"/>
                          <a:ext cx="1916" cy="714"/>
                        </a:xfrm>
                        <a:prstGeom prst="rect">
                          <a:avLst/>
                        </a:prstGeom>
                        <a:noFill/>
                        <a:ln w="38100">
                          <a:noFill/>
                          <a:miter/>
                        </a:ln>
                      </p:spPr>
                    </p:pic>
                  </p:oleObj>
                </mc:Fallback>
              </mc:AlternateContent>
            </a:graphicData>
          </a:graphic>
        </p:graphicFrame>
        <p:graphicFrame>
          <p:nvGraphicFramePr>
            <p:cNvPr id="4" name="对象 3"/>
            <p:cNvGraphicFramePr/>
            <p:nvPr/>
          </p:nvGraphicFramePr>
          <p:xfrm>
            <a:off x="14295" y="6710"/>
            <a:ext cx="1763" cy="637"/>
          </p:xfrm>
          <a:graphic>
            <a:graphicData uri="http://schemas.openxmlformats.org/presentationml/2006/ole">
              <mc:AlternateContent xmlns:mc="http://schemas.openxmlformats.org/markup-compatibility/2006">
                <mc:Choice xmlns:v="urn:schemas-microsoft-com:vml" Requires="v">
                  <p:oleObj spid="_x0000_s6155" name="" r:id="rId14" imgW="622300" imgH="203200" progId="Equation.3">
                    <p:embed/>
                  </p:oleObj>
                </mc:Choice>
                <mc:Fallback>
                  <p:oleObj name="" r:id="rId14" imgW="622300" imgH="203200" progId="Equation.3">
                    <p:embed/>
                    <p:pic>
                      <p:nvPicPr>
                        <p:cNvPr id="0" name="图片 3101"/>
                        <p:cNvPicPr/>
                        <p:nvPr/>
                      </p:nvPicPr>
                      <p:blipFill>
                        <a:blip r:embed="rId15"/>
                        <a:stretch>
                          <a:fillRect/>
                        </a:stretch>
                      </p:blipFill>
                      <p:spPr>
                        <a:xfrm>
                          <a:off x="14295" y="6710"/>
                          <a:ext cx="1763" cy="637"/>
                        </a:xfrm>
                        <a:prstGeom prst="rect">
                          <a:avLst/>
                        </a:prstGeom>
                        <a:noFill/>
                        <a:ln w="38100">
                          <a:noFill/>
                          <a:miter/>
                        </a:ln>
                      </p:spPr>
                    </p:pic>
                  </p:oleObj>
                </mc:Fallback>
              </mc:AlternateContent>
            </a:graphicData>
          </a:graphic>
        </p:graphicFrame>
        <p:graphicFrame>
          <p:nvGraphicFramePr>
            <p:cNvPr id="7" name="对象 6"/>
            <p:cNvGraphicFramePr/>
            <p:nvPr/>
          </p:nvGraphicFramePr>
          <p:xfrm>
            <a:off x="2844" y="7391"/>
            <a:ext cx="2683" cy="750"/>
          </p:xfrm>
          <a:graphic>
            <a:graphicData uri="http://schemas.openxmlformats.org/presentationml/2006/ole">
              <mc:AlternateContent xmlns:mc="http://schemas.openxmlformats.org/markup-compatibility/2006">
                <mc:Choice xmlns:v="urn:schemas-microsoft-com:vml" Requires="v">
                  <p:oleObj spid="_x0000_s6156" name="" r:id="rId16" imgW="927100" imgH="228600" progId="Equation.DSMT4">
                    <p:embed/>
                  </p:oleObj>
                </mc:Choice>
                <mc:Fallback>
                  <p:oleObj name="" r:id="rId16" imgW="927100" imgH="228600" progId="Equation.DSMT4">
                    <p:embed/>
                    <p:pic>
                      <p:nvPicPr>
                        <p:cNvPr id="0" name="图片 3094"/>
                        <p:cNvPicPr/>
                        <p:nvPr/>
                      </p:nvPicPr>
                      <p:blipFill>
                        <a:blip r:embed="rId17"/>
                        <a:stretch>
                          <a:fillRect/>
                        </a:stretch>
                      </p:blipFill>
                      <p:spPr>
                        <a:xfrm>
                          <a:off x="2844" y="7391"/>
                          <a:ext cx="2683" cy="750"/>
                        </a:xfrm>
                        <a:prstGeom prst="rect">
                          <a:avLst/>
                        </a:prstGeom>
                        <a:noFill/>
                        <a:ln w="38100">
                          <a:noFill/>
                          <a:miter/>
                        </a:ln>
                      </p:spPr>
                    </p:pic>
                  </p:oleObj>
                </mc:Fallback>
              </mc:AlternateContent>
            </a:graphicData>
          </a:graphic>
        </p:graphicFrame>
      </p:grpSp>
    </p:spTree>
    <p:custDataLst>
      <p:tags r:id="rId1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sp>
        <p:nvSpPr>
          <p:cNvPr id="14" name="Title 6"/>
          <p:cNvSpPr txBox="1"/>
          <p:nvPr>
            <p:custDataLst>
              <p:tags r:id="rId4"/>
            </p:custDataLst>
          </p:nvPr>
        </p:nvSpPr>
        <p:spPr>
          <a:xfrm>
            <a:off x="695325" y="152400"/>
            <a:ext cx="10368280" cy="4758055"/>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7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纯策略可视为混合策略的特例</a:t>
            </a:r>
            <a:endParaRPr lang="zh-CN" altLang="en-US" sz="27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1" indent="-342900" algn="just" fontAlgn="ctr">
              <a:lnSpc>
                <a:spcPct val="130000"/>
              </a:lnSpc>
              <a:spcBef>
                <a:spcPts val="1000"/>
              </a:spcBef>
              <a:spcAft>
                <a:spcPts val="0"/>
              </a:spcAft>
              <a:buSzPct val="100000"/>
              <a:buFont typeface="Arial" panose="020B060402020202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纯策略也可以看作混合策略，即选择相应纯策略的概率为</a:t>
            </a:r>
            <a:r>
              <a:rPr lang="en-US"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，选择其余纯策略的概率为</a:t>
            </a:r>
            <a:r>
              <a:rPr lang="en-US"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的混合策略</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1" indent="-342900" algn="just" fontAlgn="ctr">
              <a:lnSpc>
                <a:spcPct val="130000"/>
              </a:lnSpc>
              <a:spcBef>
                <a:spcPts val="1000"/>
              </a:spcBef>
              <a:spcAft>
                <a:spcPts val="0"/>
              </a:spcAft>
              <a:buSzPct val="100000"/>
              <a:buFont typeface="Arial" panose="020B0604020202020204" pitchFamily="34" charset="0"/>
              <a:buChar char="•"/>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博弈中，博弈方可以改变他的策略，而使得他的策略选取满足一定的概率。当博弈是零和博弈时，即一方所得是另外一方的所失时，此时博弈只有混合策略均衡。对于任何一方来说，此时不可能有纯策略的占优策略。</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1" indent="-342900" algn="l" fontAlgn="ctr">
              <a:lnSpc>
                <a:spcPct val="130000"/>
              </a:lnSpc>
              <a:spcBef>
                <a:spcPts val="100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6"/>
          <p:cNvSpPr txBox="1"/>
          <p:nvPr>
            <p:custDataLst>
              <p:tags r:id="rId3"/>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sp>
        <p:nvSpPr>
          <p:cNvPr id="5" name="Title 6"/>
          <p:cNvSpPr txBox="1"/>
          <p:nvPr>
            <p:custDataLst>
              <p:tags r:id="rId4"/>
            </p:custDataLst>
          </p:nvPr>
        </p:nvSpPr>
        <p:spPr>
          <a:xfrm>
            <a:off x="767715" y="836930"/>
            <a:ext cx="8105140" cy="29718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Wingdings" panose="05000000000000000000" charset="0"/>
              <a:buChar char="l"/>
            </a:pPr>
            <a:r>
              <a:rPr lang="zh-CN" altLang="en-US" sz="24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混合策略的特点</a:t>
            </a:r>
            <a:endParaRPr lang="zh-CN" altLang="en-US" sz="24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28700" lvl="1" indent="-285750" algn="just" fontAlgn="auto">
              <a:lnSpc>
                <a:spcPct val="120000"/>
              </a:lnSpc>
              <a:spcBef>
                <a:spcPts val="0"/>
              </a:spcBef>
              <a:spcAft>
                <a:spcPts val="800"/>
              </a:spcAft>
              <a:buSzPct val="100000"/>
              <a:buFont typeface="Wingdings" panose="05000000000000000000" charset="0"/>
              <a:buChar char="ü"/>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混合策略可以优于某些纯策略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0" algn="l" fontAlgn="ctr">
              <a:lnSpc>
                <a:spcPct val="130000"/>
              </a:lnSpc>
              <a:spcBef>
                <a:spcPts val="1000"/>
              </a:spcBef>
              <a:spcAft>
                <a:spcPts val="0"/>
              </a:spcAft>
              <a:buSzPct val="100000"/>
              <a:buFont typeface="Wingdings" panose="05000000000000000000" charset="0"/>
              <a:buNone/>
            </a:pP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混合策略能虚张声势</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28700" lvl="1" indent="-285750" algn="l" fontAlgn="ctr">
              <a:lnSpc>
                <a:spcPct val="130000"/>
              </a:lnSpc>
              <a:spcBef>
                <a:spcPts val="1000"/>
              </a:spcBef>
              <a:spcAft>
                <a:spcPts val="0"/>
              </a:spcAft>
              <a:buSzPct val="100000"/>
              <a:buFont typeface="Wingdings" panose="05000000000000000000" charset="0"/>
              <a:buChar char="ü"/>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没有混合策略，纳什均衡未必一定存在。</a:t>
            </a:r>
            <a:endParaRPr lang="zh-CN" altLang="en-US" sz="2000"/>
          </a:p>
          <a:p>
            <a:pPr marL="342900" lvl="0" indent="-342900" algn="just" fontAlgn="auto">
              <a:lnSpc>
                <a:spcPct val="120000"/>
              </a:lnSpc>
              <a:spcBef>
                <a:spcPts val="0"/>
              </a:spcBef>
              <a:spcAft>
                <a:spcPts val="80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1501775" y="981075"/>
            <a:ext cx="9170670" cy="362839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p:custDataLst>
              <p:tags r:id="rId4"/>
            </p:custDataLst>
          </p:nvPr>
        </p:nvCxnSpPr>
        <p:spPr>
          <a:xfrm>
            <a:off x="1632218" y="78591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847752" y="786192"/>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056409" y="4436670"/>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7"/>
            </p:custDataLst>
          </p:nvPr>
        </p:nvCxnSpPr>
        <p:spPr>
          <a:xfrm>
            <a:off x="9840778" y="443694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8"/>
            </p:custDataLst>
          </p:nvPr>
        </p:nvSpPr>
        <p:spPr>
          <a:xfrm>
            <a:off x="2085975" y="1196340"/>
            <a:ext cx="8324850" cy="32988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博弈方在混合策略空间（概率分布空间）的选择看作一个博弈，就是原博弈的</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混合策略扩展博弈</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在混合策略范围内确定的纳什均衡，即</a:t>
            </a:r>
            <a:r>
              <a:rPr lang="zh-CN" altLang="en-US" sz="2000"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包含混合策略的策略组合，</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就称</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混合策略纳什均衡</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纳什定理：</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任何有限策略博弈均有(混合策略的)纳什均衡存在。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原来那种单一策略构成的纳什均衡简称纯策略纳什均衡，其是混合策略纳什均衡的一种特例。</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4" name="组合 3"/>
          <p:cNvGrpSpPr/>
          <p:nvPr/>
        </p:nvGrpSpPr>
        <p:grpSpPr>
          <a:xfrm>
            <a:off x="3432175" y="4364990"/>
            <a:ext cx="7680325" cy="1908810"/>
            <a:chOff x="4506" y="6900"/>
            <a:chExt cx="12095" cy="3006"/>
          </a:xfrm>
        </p:grpSpPr>
        <p:sp>
          <p:nvSpPr>
            <p:cNvPr id="5" name="内容占位符 2"/>
            <p:cNvSpPr>
              <a:spLocks noGrp="1"/>
            </p:cNvSpPr>
            <p:nvPr/>
          </p:nvSpPr>
          <p:spPr>
            <a:xfrm rot="780000">
              <a:off x="15021" y="6900"/>
              <a:ext cx="1581" cy="3007"/>
            </a:xfrm>
            <a:prstGeom prst="rect">
              <a:avLst/>
            </a:prstGeom>
            <a:effectLst>
              <a:glow rad="63500">
                <a:schemeClr val="accent2">
                  <a:satMod val="175000"/>
                  <a:alpha val="40000"/>
                </a:schemeClr>
              </a:glow>
            </a:effectLst>
          </p:spPr>
          <p:txBody>
            <a:bodyPr vert="horz" lIns="90000" tIns="46800" rIns="90000" bIns="46800" rtlCol="0">
              <a:scene3d>
                <a:camera prst="orthographicFront"/>
                <a:lightRig rig="threePt" dir="t"/>
              </a:scene3d>
            </a:bodyPr>
            <a:lstStyle>
              <a:lvl1pPr marL="171450" indent="-171450" algn="l" defTabSz="685165"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165"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lnSpc>
                  <a:spcPct val="130000"/>
                </a:lnSpc>
                <a:buFont typeface="Wingdings" panose="05000000000000000000" charset="0"/>
                <a:buNone/>
              </a:pPr>
              <a:r>
                <a:rPr lang="zh-CN" altLang="en-US" sz="1380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pitchFamily="34" charset="-122"/>
                  <a:ea typeface="微软雅黑" panose="020B0503020204020204" pitchFamily="34" charset="-122"/>
                  <a:sym typeface="+mn-ea"/>
                </a:rPr>
                <a:t>？</a:t>
              </a:r>
              <a:endParaRPr lang="zh-CN" altLang="en-US" sz="1380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10"/>
              </p:custDataLst>
            </p:nvPr>
          </p:nvSpPr>
          <p:spPr>
            <a:xfrm>
              <a:off x="4506" y="7759"/>
              <a:ext cx="6794" cy="1200"/>
            </a:xfrm>
            <a:prstGeom prst="rect">
              <a:avLst/>
            </a:prstGeom>
            <a:noFill/>
            <a:ln w="31750">
              <a:solidFill>
                <a:schemeClr val="accent1"/>
              </a:solidFill>
              <a:prstDash val="sysDash"/>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800" dirty="0">
                  <a:solidFill>
                    <a:schemeClr val="tx1"/>
                  </a:solidFill>
                  <a:sym typeface="+mn-ea"/>
                </a:rPr>
                <a:t>     </a:t>
              </a:r>
              <a:r>
                <a:rPr lang="zh-CN" altLang="en-US" sz="2400" dirty="0">
                  <a:solidFill>
                    <a:schemeClr val="tx1"/>
                  </a:solidFill>
                  <a:sym typeface="+mn-ea"/>
                </a:rPr>
                <a:t>如何寻找混合策略纳什均衡</a:t>
              </a:r>
              <a:endParaRPr lang="zh-CN" altLang="en-US" sz="2400" dirty="0">
                <a:solidFill>
                  <a:schemeClr val="tx1"/>
                </a:solidFill>
                <a:sym typeface="+mn-ea"/>
              </a:endParaRPr>
            </a:p>
          </p:txBody>
        </p:sp>
      </p:gr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混合策略和混合策略纳什均衡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8"/>
            </p:custDataLst>
          </p:nvPr>
        </p:nvSpPr>
        <p:spPr>
          <a:xfrm>
            <a:off x="2135505" y="1484630"/>
            <a:ext cx="8324850" cy="39262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寻找混合策略纳什均衡概率分布的思路：</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30000"/>
              </a:lnSpc>
              <a:spcBef>
                <a:spcPts val="1000"/>
              </a:spcBef>
              <a:spcAft>
                <a:spcPts val="0"/>
              </a:spcAft>
              <a:buSzPct val="100000"/>
              <a:buFont typeface="Wingdings" panose="05000000000000000000" charset="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令各个博弈方随机选择纯策略的概率分布，满足使对方或其他博弈方采用不同策略的期望得益相同，计算出各个博弈方随机选择各纯策略概率。</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2"/>
            </p:custDataLst>
          </p:nvPr>
        </p:nvSpPr>
        <p:spPr>
          <a:xfrm>
            <a:off x="839470" y="1124585"/>
            <a:ext cx="3080385" cy="418465"/>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例子</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4"/>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得益等值法（无机可乘法）</a:t>
            </a:r>
            <a:endParaRPr lang="zh-CN" altLang="en-US" sz="2800" dirty="0">
              <a:solidFill>
                <a:schemeClr val="accent1"/>
              </a:solidFill>
              <a:sym typeface="+mn-ea"/>
            </a:endParaRPr>
          </a:p>
        </p:txBody>
      </p:sp>
      <p:sp>
        <p:nvSpPr>
          <p:cNvPr id="8" name="文本框 7"/>
          <p:cNvSpPr txBox="1"/>
          <p:nvPr/>
        </p:nvSpPr>
        <p:spPr>
          <a:xfrm>
            <a:off x="9625330" y="2211705"/>
            <a:ext cx="309880" cy="368300"/>
          </a:xfrm>
          <a:prstGeom prst="rect">
            <a:avLst/>
          </a:prstGeom>
          <a:noFill/>
        </p:spPr>
        <p:txBody>
          <a:bodyPr wrap="none" rtlCol="0">
            <a:spAutoFit/>
          </a:bodyPr>
          <a:lstStyle/>
          <a:p>
            <a:endParaRPr lang="zh-CN" altLang="en-US"/>
          </a:p>
        </p:txBody>
      </p:sp>
      <p:graphicFrame>
        <p:nvGraphicFramePr>
          <p:cNvPr id="10" name="表格 9"/>
          <p:cNvGraphicFramePr>
            <a:graphicFrameLocks noGrp="1"/>
          </p:cNvGraphicFramePr>
          <p:nvPr>
            <p:custDataLst>
              <p:tags r:id="rId5"/>
            </p:custDataLst>
          </p:nvPr>
        </p:nvGraphicFramePr>
        <p:xfrm>
          <a:off x="2489200" y="2132965"/>
          <a:ext cx="6053455" cy="2792730"/>
        </p:xfrm>
        <a:graphic>
          <a:graphicData uri="http://schemas.openxmlformats.org/drawingml/2006/table">
            <a:tbl>
              <a:tblPr firstRow="1" bandRow="1">
                <a:tableStyleId>{2D5ABB26-0587-4C30-8999-92F81FD0307C}</a:tableStyleId>
              </a:tblPr>
              <a:tblGrid>
                <a:gridCol w="1356360"/>
                <a:gridCol w="1546860"/>
                <a:gridCol w="1613535"/>
                <a:gridCol w="1536700"/>
              </a:tblGrid>
              <a:tr h="70675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7156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C</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D</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851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8516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custDataLst>
              <p:tags r:id="rId2"/>
            </p:custDataLst>
          </p:nvPr>
        </p:nvSpPr>
        <p:spPr>
          <a:xfrm>
            <a:off x="460375" y="963295"/>
            <a:ext cx="11277600" cy="503174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3"/>
            </p:custDataLst>
          </p:nvPr>
        </p:nvSpPr>
        <p:spPr>
          <a:xfrm>
            <a:off x="1415415" y="1358900"/>
            <a:ext cx="9527540" cy="485584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设博弈方1选A的概率为</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，选B的概率为</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；博弈方2选C的概率为</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，选D的概率为</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。根据混合策略纳什均衡概率分布必须让对方两个纯策略期望得益相同的原理：</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的混合策略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一定要使博弈方2选C和D的期望得益相等）：</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1=u</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5</a:t>
            </a:r>
            <a:endPar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化简后得</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A</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=4p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B</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由于</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A</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B</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所以</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A</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=0.8</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B</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custDataLst>
              <p:tags r:id="rId5"/>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得益等值法（无机可乘法）</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custDataLst>
              <p:tags r:id="rId2"/>
            </p:custDataLst>
          </p:nvPr>
        </p:nvSpPr>
        <p:spPr>
          <a:xfrm>
            <a:off x="460375" y="963295"/>
            <a:ext cx="11277600" cy="361950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3"/>
            </p:custDataLst>
          </p:nvPr>
        </p:nvSpPr>
        <p:spPr>
          <a:xfrm>
            <a:off x="1415415" y="1124585"/>
            <a:ext cx="9527540" cy="34848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的混合策略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一定要使博弈方</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的期望得益相等）：</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5=u</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化简后得</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C</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=4p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D</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由于</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C</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所以</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C</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=0.8</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D</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custDataLst>
              <p:tags r:id="rId5"/>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得益等值法（无机可乘法）</a:t>
            </a:r>
            <a:endParaRPr lang="zh-CN" altLang="en-US" sz="2800" dirty="0">
              <a:solidFill>
                <a:schemeClr val="accent1"/>
              </a:solidFill>
              <a:sym typeface="+mn-ea"/>
            </a:endParaRPr>
          </a:p>
        </p:txBody>
      </p:sp>
      <p:sp>
        <p:nvSpPr>
          <p:cNvPr id="4" name="Title 6"/>
          <p:cNvSpPr txBox="1"/>
          <p:nvPr>
            <p:custDataLst>
              <p:tags r:id="rId6"/>
            </p:custDataLst>
          </p:nvPr>
        </p:nvSpPr>
        <p:spPr>
          <a:xfrm>
            <a:off x="1415415" y="4592320"/>
            <a:ext cx="9527540" cy="217297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唯一的纳什均衡：博弈方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0.8,0.2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）的概率随机选择</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0.8,0.2</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）的概率随机选择</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itle 6"/>
          <p:cNvSpPr txBox="1"/>
          <p:nvPr>
            <p:custDataLst>
              <p:tags r:id="rId2"/>
            </p:custDataLst>
          </p:nvPr>
        </p:nvSpPr>
        <p:spPr>
          <a:xfrm>
            <a:off x="911225" y="762000"/>
            <a:ext cx="3048000" cy="8153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小偷与守卫的博弈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4"/>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几何法</a:t>
            </a:r>
            <a:endParaRPr lang="zh-CN" altLang="en-US" sz="2800" dirty="0">
              <a:solidFill>
                <a:schemeClr val="accent1"/>
              </a:solidFill>
              <a:sym typeface="+mn-ea"/>
            </a:endParaRPr>
          </a:p>
        </p:txBody>
      </p:sp>
      <p:sp>
        <p:nvSpPr>
          <p:cNvPr id="5" name="Title 6"/>
          <p:cNvSpPr txBox="1"/>
          <p:nvPr>
            <p:custDataLst>
              <p:tags r:id="rId5"/>
            </p:custDataLst>
          </p:nvPr>
        </p:nvSpPr>
        <p:spPr>
          <a:xfrm>
            <a:off x="1199515" y="1577340"/>
            <a:ext cx="10255885" cy="301434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4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1994年经济学诺贝尔奖获得者塞尔顿教授，1996年在上海的一次讲演中，举了一个小偷和守卫之间博弈的例子。小偷欲偷窃仓库，如果小偷偷窃时守卫在睡觉，小偷能偷得价值</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V</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的赃物；如果小偷偷窃时守卫没睡觉，小偷会被抓住。设小偷被抓住后坐牢为负效用</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，守卫睡觉而未遭偷窃为正效用</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，因睡觉被窃受处罚为负效用</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。小偷不偷既无得也无失，守卫不睡意味着出一份力挣一份钱也没有得失。</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4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根据假设，小偷在博弈中有“偷”和“不偷”两种策略，守卫有“睡”和“不睡”两种策略。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8" name="表格 7"/>
          <p:cNvGraphicFramePr>
            <a:graphicFrameLocks noGrp="1"/>
          </p:cNvGraphicFramePr>
          <p:nvPr>
            <p:custDataLst>
              <p:tags r:id="rId6"/>
            </p:custDataLst>
          </p:nvPr>
        </p:nvGraphicFramePr>
        <p:xfrm>
          <a:off x="3647440" y="4220845"/>
          <a:ext cx="5758815" cy="2577465"/>
        </p:xfrm>
        <a:graphic>
          <a:graphicData uri="http://schemas.openxmlformats.org/drawingml/2006/table">
            <a:tbl>
              <a:tblPr firstRow="1" bandRow="1">
                <a:tableStyleId>{2D5ABB26-0587-4C30-8999-92F81FD0307C}</a:tableStyleId>
              </a:tblPr>
              <a:tblGrid>
                <a:gridCol w="1290320"/>
                <a:gridCol w="1471295"/>
                <a:gridCol w="1535430"/>
                <a:gridCol w="1461770"/>
              </a:tblGrid>
              <a:tr h="6521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守卫</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040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睡</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不睡</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V</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-D</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S</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pSp>
        <p:nvGrpSpPr>
          <p:cNvPr id="19" name="组合 18"/>
          <p:cNvGrpSpPr/>
          <p:nvPr/>
        </p:nvGrpSpPr>
        <p:grpSpPr>
          <a:xfrm>
            <a:off x="7176135" y="5876925"/>
            <a:ext cx="1511935" cy="648335"/>
            <a:chOff x="11301" y="9255"/>
            <a:chExt cx="2381" cy="1021"/>
          </a:xfrm>
        </p:grpSpPr>
        <p:cxnSp>
          <p:nvCxnSpPr>
            <p:cNvPr id="9" name="直接箭头连接符 8"/>
            <p:cNvCxnSpPr/>
            <p:nvPr/>
          </p:nvCxnSpPr>
          <p:spPr>
            <a:xfrm>
              <a:off x="13682" y="9482"/>
              <a:ext cx="0" cy="5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1301" y="9482"/>
              <a:ext cx="0" cy="5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2094" y="9255"/>
              <a:ext cx="9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11981" y="10276"/>
              <a:ext cx="10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2"/>
            </p:custDataLst>
          </p:nvPr>
        </p:nvSpPr>
        <p:spPr>
          <a:xfrm>
            <a:off x="839470" y="836295"/>
            <a:ext cx="5466715" cy="46666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先讨论小偷选择</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偷</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不偷</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两种策略</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的确定</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守卫选择</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不睡</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策略的期望得益是</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，选择</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睡</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策略的期望得益是</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Font typeface="Arial" panose="020B0604020202020204" pitchFamily="34" charset="0"/>
              <a:buNone/>
            </a:pP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endPar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则</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)S=0</a:t>
            </a:r>
            <a:endPar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求得</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小偷偷东西概率</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b="1"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b="1" spc="100" baseline="30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S/(D＋S)</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3"/>
            </p:custDataLst>
          </p:nvPr>
        </p:nvGraphicFramePr>
        <p:xfrm>
          <a:off x="6240145" y="1268730"/>
          <a:ext cx="5758815" cy="2577465"/>
        </p:xfrm>
        <a:graphic>
          <a:graphicData uri="http://schemas.openxmlformats.org/drawingml/2006/table">
            <a:tbl>
              <a:tblPr firstRow="1" bandRow="1">
                <a:tableStyleId>{2D5ABB26-0587-4C30-8999-92F81FD0307C}</a:tableStyleId>
              </a:tblPr>
              <a:tblGrid>
                <a:gridCol w="1290320"/>
                <a:gridCol w="1471295"/>
                <a:gridCol w="1535430"/>
                <a:gridCol w="1461770"/>
              </a:tblGrid>
              <a:tr h="6521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守卫</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040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睡</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不睡</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小偷</a:t>
                      </a:r>
                      <a:endPar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偷</a:t>
                      </a:r>
                      <a:endPar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V</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-D</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不偷</a:t>
                      </a:r>
                      <a:endPar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S</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5"/>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几何法</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2"/>
            </p:custDataLst>
          </p:nvPr>
        </p:nvSpPr>
        <p:spPr>
          <a:xfrm>
            <a:off x="839522" y="1351936"/>
            <a:ext cx="4985806" cy="929254"/>
          </a:xfrm>
          <a:prstGeom prst="rect">
            <a:avLst/>
          </a:prstGeom>
          <a:noFill/>
        </p:spPr>
        <p:txBody>
          <a:bodyPr wrap="square" lIns="63500" tIns="25400" rIns="63500" bIns="25400" rtlCol="0" anchor="t" anchorCtr="0">
            <a:normAutofit/>
          </a:bodyPr>
          <a:lstStyle/>
          <a:p>
            <a:pPr marL="342900" indent="-342900" algn="l" fontAlgn="auto">
              <a:lnSpc>
                <a:spcPct val="100000"/>
              </a:lnSpc>
              <a:spcBef>
                <a:spcPts val="0"/>
              </a:spcBef>
              <a:spcAft>
                <a:spcPts val="0"/>
              </a:spcAft>
              <a:buFont typeface="Wingdings" panose="05000000000000000000" charset="0"/>
              <a:buChar char="l"/>
            </a:pPr>
            <a:r>
              <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小偷的混合策略</a:t>
            </a:r>
            <a:endPar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Title 6"/>
          <p:cNvSpPr txBox="1"/>
          <p:nvPr>
            <p:custDataLst>
              <p:tags r:id="rId3"/>
            </p:custDataLst>
          </p:nvPr>
        </p:nvSpPr>
        <p:spPr>
          <a:xfrm>
            <a:off x="762000" y="5934075"/>
            <a:ext cx="8936355" cy="6654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博弈悖论：要减少小偷偷东西的概率，却要增加对守卫失职的惩罚的力度。</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3719830" y="1268730"/>
            <a:ext cx="7092950" cy="4281170"/>
          </a:xfrm>
          <a:prstGeom prst="rect">
            <a:avLst/>
          </a:prstGeom>
        </p:spPr>
      </p:pic>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6"/>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几何法</a:t>
            </a:r>
            <a:endParaRPr lang="zh-CN" altLang="en-US" sz="2800" dirty="0">
              <a:solidFill>
                <a:schemeClr val="accent1"/>
              </a:solidFill>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2"/>
            </p:custDataLst>
          </p:nvPr>
        </p:nvSpPr>
        <p:spPr>
          <a:xfrm>
            <a:off x="839470" y="836295"/>
            <a:ext cx="5466715" cy="46666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再讨论守卫选择</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睡</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不睡</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两种策略</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的确定</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小偷选择</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不偷</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策略的期望得益是</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，选择</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偷</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策略的期望得益是</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Font typeface="Arial" panose="020B0604020202020204" pitchFamily="34" charset="0"/>
              <a:buNone/>
            </a:pP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·V+(1-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endPar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则</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·V+(1-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)(-P)=0</a:t>
            </a:r>
            <a:endParaRPr lang="en-US"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求得</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守卫睡懒觉概率</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b="1"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a:t>
            </a:r>
            <a:r>
              <a:rPr lang="en-US" altLang="zh-CN" sz="2000" b="1" spc="100" baseline="30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P/(P＋V)</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3"/>
            </p:custDataLst>
          </p:nvPr>
        </p:nvGraphicFramePr>
        <p:xfrm>
          <a:off x="6240145" y="1268730"/>
          <a:ext cx="5758815" cy="2577465"/>
        </p:xfrm>
        <a:graphic>
          <a:graphicData uri="http://schemas.openxmlformats.org/drawingml/2006/table">
            <a:tbl>
              <a:tblPr firstRow="1" bandRow="1">
                <a:tableStyleId>{2D5ABB26-0587-4C30-8999-92F81FD0307C}</a:tableStyleId>
              </a:tblPr>
              <a:tblGrid>
                <a:gridCol w="1290320"/>
                <a:gridCol w="1471295"/>
                <a:gridCol w="1535430"/>
                <a:gridCol w="1461770"/>
              </a:tblGrid>
              <a:tr h="6521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守卫</a:t>
                      </a:r>
                      <a:endPar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040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睡</a:t>
                      </a:r>
                      <a:endPar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不睡</a:t>
                      </a:r>
                      <a:endParaRPr lang="zh-CN" altLang="en-US" sz="2000" b="1" spc="130">
                        <a:solidFill>
                          <a:srgbClr val="577CCE"/>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小偷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V</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-D</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S</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5"/>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几何法</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2"/>
            </p:custDataLst>
          </p:nvPr>
        </p:nvSpPr>
        <p:spPr>
          <a:xfrm>
            <a:off x="839522" y="1351936"/>
            <a:ext cx="4985806" cy="929254"/>
          </a:xfrm>
          <a:prstGeom prst="rect">
            <a:avLst/>
          </a:prstGeom>
          <a:noFill/>
        </p:spPr>
        <p:txBody>
          <a:bodyPr wrap="square" lIns="63500" tIns="25400" rIns="63500" bIns="25400" rtlCol="0" anchor="t" anchorCtr="0">
            <a:normAutofit/>
          </a:bodyPr>
          <a:lstStyle/>
          <a:p>
            <a:pPr marL="342900" indent="-342900" algn="l" fontAlgn="auto">
              <a:lnSpc>
                <a:spcPct val="100000"/>
              </a:lnSpc>
              <a:spcBef>
                <a:spcPts val="0"/>
              </a:spcBef>
              <a:spcAft>
                <a:spcPts val="0"/>
              </a:spcAft>
              <a:buFont typeface="Wingdings" panose="05000000000000000000" charset="0"/>
              <a:buChar char="l"/>
            </a:pPr>
            <a:r>
              <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守卫的混合策略</a:t>
            </a:r>
            <a:endPar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3431540" y="1317625"/>
            <a:ext cx="7668895" cy="4847590"/>
          </a:xfrm>
          <a:prstGeom prst="rect">
            <a:avLst/>
          </a:prstGeom>
        </p:spPr>
      </p:pic>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5"/>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几何法</a:t>
            </a:r>
            <a:endParaRPr lang="zh-CN" altLang="en-US" sz="2800" dirty="0">
              <a:solidFill>
                <a:schemeClr val="accent1"/>
              </a:solidFill>
              <a:sym typeface="+mn-ea"/>
            </a:endParaRPr>
          </a:p>
        </p:txBody>
      </p:sp>
      <p:sp>
        <p:nvSpPr>
          <p:cNvPr id="12" name="Title 6"/>
          <p:cNvSpPr txBox="1"/>
          <p:nvPr>
            <p:custDataLst>
              <p:tags r:id="rId6"/>
            </p:custDataLst>
          </p:nvPr>
        </p:nvSpPr>
        <p:spPr>
          <a:xfrm>
            <a:off x="767080" y="6021705"/>
            <a:ext cx="8936355" cy="6654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博弈悖论：加重对小偷的处罚，最终加大的是守卫偷懒的概率。</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2"/>
            </p:custDataLst>
          </p:nvPr>
        </p:nvSpPr>
        <p:spPr>
          <a:xfrm>
            <a:off x="1127760" y="1700530"/>
            <a:ext cx="9702800" cy="1893570"/>
          </a:xfrm>
          <a:prstGeom prst="rect">
            <a:avLst/>
          </a:prstGeom>
          <a:noFill/>
        </p:spPr>
        <p:txBody>
          <a:bodyPr wrap="square" lIns="63500" tIns="25400" rIns="63500" bIns="25400" rtlCol="0" anchor="t" anchorCtr="0">
            <a:normAutofit/>
          </a:bodyPr>
          <a:lstStyle/>
          <a:p>
            <a:pPr marL="342900" indent="-342900" algn="just" fontAlgn="auto">
              <a:lnSpc>
                <a:spcPct val="140000"/>
              </a:lnSpc>
              <a:spcBef>
                <a:spcPts val="0"/>
              </a:spcBef>
              <a:spcAft>
                <a:spcPts val="0"/>
              </a:spcAft>
              <a:buFont typeface="Wingdings" panose="05000000000000000000" charset="0"/>
              <a:buChar char="ü"/>
            </a:pPr>
            <a:r>
              <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在小偷和守卫的博弈中，小偷分别以概率</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spc="100" baseline="30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spc="100" baseline="30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随机选择“偷”与“不偷”，守卫分别以概率P</a:t>
            </a:r>
            <a:r>
              <a:rPr lang="zh-CN" altLang="en-US" sz="2000" spc="60" baseline="-2500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*和1-P</a:t>
            </a:r>
            <a:r>
              <a:rPr lang="zh-CN" altLang="en-US" sz="2000" spc="60" baseline="-2500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*随机选择“睡”与“不睡”时，双方都不能通过改变策略或慨率改善自己的期望得益，因此构成</a:t>
            </a:r>
            <a:r>
              <a:rPr lang="zh-CN" altLang="en-US" sz="2000" b="1"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混合策略纳什均衡</a:t>
            </a:r>
            <a:r>
              <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。这也是该博弈唯一的纳什均衡。</a:t>
            </a:r>
            <a:endParaRPr lang="zh-CN" altLang="en-US" sz="20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00000"/>
              </a:lnSpc>
              <a:spcBef>
                <a:spcPts val="0"/>
              </a:spcBef>
              <a:spcAft>
                <a:spcPts val="0"/>
              </a:spcAft>
              <a:buNone/>
            </a:pPr>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400" spc="60" dirty="0">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4"/>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几何法</a:t>
            </a:r>
            <a:endParaRPr lang="zh-CN" altLang="en-US" sz="2800" dirty="0">
              <a:solidFill>
                <a:schemeClr val="accent1"/>
              </a:solidFill>
              <a:sym typeface="+mn-ea"/>
            </a:endParaRPr>
          </a:p>
        </p:txBody>
      </p:sp>
      <p:sp>
        <p:nvSpPr>
          <p:cNvPr id="17" name="Title 6"/>
          <p:cNvSpPr txBox="1"/>
          <p:nvPr>
            <p:custDataLst>
              <p:tags r:id="rId5"/>
            </p:custDataLst>
          </p:nvPr>
        </p:nvSpPr>
        <p:spPr>
          <a:xfrm>
            <a:off x="911225" y="762000"/>
            <a:ext cx="3048000" cy="8153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小偷与守卫的博弈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2"/>
            </p:custDataLst>
          </p:nvPr>
        </p:nvSpPr>
        <p:spPr>
          <a:xfrm>
            <a:off x="839470" y="836930"/>
            <a:ext cx="9833610" cy="299783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在纯策略的范畴内，反应函数是各博弈方选择的纯策略对其他博弈方纯策略的反应。</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在混合策略的范畴内，博弈方的决策内容为选择概率分布，反应函数就是一方对另一方的概率分布的反应，同样也是一定的概率分布</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SzPct val="100000"/>
              <a:buFont typeface="Wingdings" panose="05000000000000000000" charset="0"/>
              <a:buChar char="Ø"/>
            </a:pP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4"/>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2"/>
            </p:custDataLst>
          </p:nvPr>
        </p:nvSpPr>
        <p:spPr>
          <a:xfrm>
            <a:off x="839470" y="1124585"/>
            <a:ext cx="3080385" cy="7988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猜硬币博弈</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SzPct val="100000"/>
              <a:buFont typeface="Wingdings" panose="05000000000000000000" charset="0"/>
              <a:buChar char="Ø"/>
            </a:pP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a:graphicFrameLocks noGrp="1"/>
          </p:cNvGraphicFramePr>
          <p:nvPr>
            <p:custDataLst>
              <p:tags r:id="rId3"/>
            </p:custDataLst>
          </p:nvPr>
        </p:nvGraphicFramePr>
        <p:xfrm>
          <a:off x="2927350" y="1917065"/>
          <a:ext cx="5021580" cy="3126105"/>
        </p:xfrm>
        <a:graphic>
          <a:graphicData uri="http://schemas.openxmlformats.org/drawingml/2006/table">
            <a:tbl>
              <a:tblPr firstRow="1" bandRow="1">
                <a:tableStyleId>{2D5ABB26-0587-4C30-8999-92F81FD0307C}</a:tableStyleId>
              </a:tblPr>
              <a:tblGrid>
                <a:gridCol w="991870"/>
                <a:gridCol w="1296035"/>
                <a:gridCol w="1366520"/>
                <a:gridCol w="1367155"/>
              </a:tblGrid>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a:noFill/>
                    </a:lnT>
                    <a:lnB w="3175" cap="rnd">
                      <a:solidFill>
                        <a:srgbClr val="FFFFFF"/>
                      </a:solidFill>
                      <a:prstDash val="dot"/>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a:noFill/>
                    </a:lnT>
                    <a:lnB w="3175" cap="rnd">
                      <a:solidFill>
                        <a:srgbClr val="FFFFFF"/>
                      </a:solidFill>
                      <a:prstDash val="dot"/>
                    </a:lnB>
                    <a:noFill/>
                  </a:tcPr>
                </a:tc>
                <a:tc gridSpan="2">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猜方</a:t>
                      </a:r>
                      <a:endParaRPr lang="zh-CN" altLang="en-US" sz="1800" b="1" spc="13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anchor="ctr">
                    <a:lnL w="3175">
                      <a:solidFill>
                        <a:srgbClr val="FFFFFF"/>
                      </a:solidFill>
                      <a:prstDash val="dot"/>
                    </a:lnL>
                    <a:lnR>
                      <a:noFill/>
                    </a:lnR>
                    <a:lnT>
                      <a:noFill/>
                    </a:lnT>
                    <a:lnB w="3175" cap="rnd">
                      <a:solidFill>
                        <a:srgbClr val="FFFFFF"/>
                      </a:solidFill>
                      <a:prstDash val="dot"/>
                    </a:lnB>
                    <a:noFill/>
                  </a:tcPr>
                </a:tc>
                <a:tc hMerge="1">
                  <a:tcPr>
                    <a:lnR>
                      <a:noFill/>
                    </a:lnR>
                    <a:lnT>
                      <a:noFill/>
                    </a:lnT>
                    <a:lnB w="3175" cap="rnd">
                      <a:solidFill>
                        <a:srgbClr val="FFFFFF"/>
                      </a:solidFill>
                      <a:prstDash val="dot"/>
                    </a:lnB>
                  </a:tcPr>
                </a:tc>
              </a:tr>
              <a:tr h="80899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3175" cap="rnd" cmpd="sng" algn="ctr">
                      <a:solidFill>
                        <a:srgbClr val="FFFFFF"/>
                      </a:solidFill>
                      <a:prstDash val="dot"/>
                      <a:round/>
                      <a:headEnd type="none" w="med" len="med"/>
                      <a:tailEnd type="none" w="med" len="med"/>
                    </a:lnT>
                    <a:lnB>
                      <a:noFill/>
                    </a:lnB>
                    <a:no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8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a:noFill/>
                    </a:lnR>
                    <a:lnT w="3175">
                      <a:solidFill>
                        <a:srgbClr val="FFFFFF"/>
                      </a:solidFill>
                      <a:prstDash val="dot"/>
                    </a:lnT>
                    <a:lnB>
                      <a:noFill/>
                    </a:lnB>
                    <a:noFill/>
                  </a:tcPr>
                </a:tc>
              </a:tr>
              <a:tr h="753745">
                <a:tc rowSpan="2">
                  <a:txBody>
                    <a:bodyPr/>
                    <a:lstStyle/>
                    <a:p>
                      <a:pPr indent="0" algn="l">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盖方</a:t>
                      </a:r>
                      <a:endParaRPr lang="zh-CN" altLang="en-US" sz="1600" b="0" spc="12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107950" marB="107950" vert="eaVert"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正面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r h="754380">
                <a:tc vMerge="1">
                  <a:tcPr>
                    <a:lnL>
                      <a:noFill/>
                    </a:lnL>
                    <a:lnR>
                      <a:noFill/>
                    </a:lnR>
                    <a:lnB>
                      <a:noFill/>
                    </a:lnB>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反面</a:t>
                      </a:r>
                      <a:endParaRPr lang="zh-CN" altLang="en-US" sz="16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c>
                  <a:txBody>
                    <a:bodyPr/>
                    <a:lstStyle/>
                    <a:p>
                      <a:pPr indent="0" algn="ctr">
                        <a:lnSpc>
                          <a:spcPct val="120000"/>
                        </a:lnSpc>
                        <a:spcBef>
                          <a:spcPts val="0"/>
                        </a:spcBef>
                        <a:spcAft>
                          <a:spcPts val="0"/>
                        </a:spcAft>
                      </a:pP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a:noFill/>
                    </a:lnL>
                    <a:lnR>
                      <a:noFill/>
                    </a:lnR>
                    <a:lnT>
                      <a:noFill/>
                    </a:lnT>
                    <a:lnB>
                      <a:noFill/>
                    </a:lnB>
                    <a:solidFill>
                      <a:srgbClr val="FFFFFF"/>
                    </a:solidFill>
                  </a:tcPr>
                </a:tc>
              </a:tr>
            </a:tbl>
          </a:graphicData>
        </a:graphic>
      </p:graphicFrame>
      <p:graphicFrame>
        <p:nvGraphicFramePr>
          <p:cNvPr id="9" name="表格 8"/>
          <p:cNvGraphicFramePr>
            <a:graphicFrameLocks noGrp="1"/>
          </p:cNvGraphicFramePr>
          <p:nvPr>
            <p:custDataLst>
              <p:tags r:id="rId4"/>
            </p:custDataLst>
          </p:nvPr>
        </p:nvGraphicFramePr>
        <p:xfrm>
          <a:off x="5091430" y="3644900"/>
          <a:ext cx="2857500" cy="1191260"/>
        </p:xfrm>
        <a:graphic>
          <a:graphicData uri="http://schemas.openxmlformats.org/drawingml/2006/table">
            <a:tbl>
              <a:tblPr firstRow="1" bandRow="1">
                <a:tableStyleId>{2D5ABB26-0587-4C30-8999-92F81FD0307C}</a:tableStyleId>
              </a:tblPr>
              <a:tblGrid>
                <a:gridCol w="1463675"/>
                <a:gridCol w="1393825"/>
              </a:tblGrid>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595630">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6"/>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sp>
        <p:nvSpPr>
          <p:cNvPr id="8" name="文本框 7"/>
          <p:cNvSpPr txBox="1"/>
          <p:nvPr/>
        </p:nvSpPr>
        <p:spPr>
          <a:xfrm>
            <a:off x="9625330" y="2211705"/>
            <a:ext cx="309880" cy="368300"/>
          </a:xfrm>
          <a:prstGeom prst="rect">
            <a:avLst/>
          </a:prstGeom>
          <a:noFill/>
        </p:spPr>
        <p:txBody>
          <a:bodyPr wrap="none" rtlCol="0">
            <a:spAutoFit/>
          </a:bodyPr>
          <a:lstStyle/>
          <a:p>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custDataLst>
              <p:tags r:id="rId2"/>
            </p:custDataLst>
          </p:nvPr>
        </p:nvSpPr>
        <p:spPr>
          <a:xfrm>
            <a:off x="460375" y="963295"/>
            <a:ext cx="11277600" cy="503174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4" name="Title 6"/>
              <p:cNvSpPr txBox="1"/>
              <p:nvPr>
                <p:custDataLst>
                  <p:tags r:id="rId3"/>
                </p:custDataLst>
              </p:nvPr>
            </p:nvSpPr>
            <p:spPr>
              <a:xfrm>
                <a:off x="1415415" y="1358900"/>
                <a:ext cx="9527540" cy="4521200"/>
              </a:xfrm>
              <a:prstGeom prst="rect">
                <a:avLst/>
              </a:prstGeom>
              <a:noFill/>
              <a:ln w="3175">
                <a:noFill/>
                <a:prstDash val="dash"/>
              </a:ln>
            </p:spPr>
            <p:txBody>
              <a:bodyPr wrap="square" lIns="63500" tIns="25400" rIns="63500" bIns="25400" anchor="ctr" anchorCtr="0">
                <a:normAutofit fontScale="5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设盖方随机选择正、反面的混合策略概率分布为（</a:t>
                </a:r>
                <a:r>
                  <a:rPr altLang="zh-CN"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1-r</a:t>
                </a: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），猜方</a:t>
                </a:r>
                <a:r>
                  <a:rPr lang="zh-CN" altLang="en-US" sz="4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随机选择正、反面的混合策略概率分布为（</a:t>
                </a: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a:t>
                </a:r>
                <a:r>
                  <a:rPr altLang="zh-CN"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1-q</a:t>
                </a: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盖方期望得益π</a:t>
                </a:r>
                <a:r>
                  <a:rPr lang="zh-CN" altLang="en-US" sz="4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endPar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l-GR" altLang="zh-CN" sz="4000" i="1" dirty="0">
                    <a:latin typeface="Times New Roman" panose="02020603050405020304" pitchFamily="18" charset="0"/>
                    <a:cs typeface="Times New Roman" panose="02020603050405020304" pitchFamily="18" charset="0"/>
                    <a:sym typeface="+mn-ea"/>
                  </a:rPr>
                  <a:t>π</a:t>
                </a:r>
                <a:r>
                  <a:rPr lang="en-US" altLang="zh-CN" sz="4000" baseline="-25000" dirty="0">
                    <a:latin typeface="Times New Roman" panose="02020603050405020304" pitchFamily="18" charset="0"/>
                    <a:cs typeface="Times New Roman" panose="02020603050405020304" pitchFamily="18" charset="0"/>
                    <a:sym typeface="+mn-ea"/>
                  </a:rPr>
                  <a:t>1</a:t>
                </a:r>
                <a:r>
                  <a:rPr lang="zh-CN" altLang="en-US"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i="1" dirty="0">
                    <a:latin typeface="Times New Roman" panose="02020603050405020304" pitchFamily="18" charset="0"/>
                    <a:cs typeface="Times New Roman" panose="02020603050405020304" pitchFamily="18" charset="0"/>
                    <a:sym typeface="+mn-ea"/>
                  </a:rPr>
                  <a:t>r</a:t>
                </a:r>
                <a:r>
                  <a:rPr lang="en-US" altLang="zh-CN" sz="4000" dirty="0">
                    <a:latin typeface="Times New Roman" panose="02020603050405020304" pitchFamily="18" charset="0"/>
                    <a:cs typeface="Times New Roman" panose="02020603050405020304" pitchFamily="18" charset="0"/>
                    <a:sym typeface="+mn-ea"/>
                  </a:rPr>
                  <a:t>[(-1)</a:t>
                </a:r>
                <a:r>
                  <a:rPr lang="en-US" altLang="zh-CN" sz="4000" i="1" dirty="0">
                    <a:latin typeface="Times New Roman" panose="02020603050405020304" pitchFamily="18" charset="0"/>
                    <a:cs typeface="Times New Roman" panose="02020603050405020304" pitchFamily="18" charset="0"/>
                    <a:sym typeface="+mn-ea"/>
                  </a:rPr>
                  <a:t>q</a:t>
                </a:r>
                <a:r>
                  <a:rPr lang="zh-CN" altLang="en-US"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i="1" dirty="0">
                    <a:latin typeface="Times New Roman" panose="02020603050405020304" pitchFamily="18" charset="0"/>
                    <a:cs typeface="Times New Roman" panose="02020603050405020304" pitchFamily="18" charset="0"/>
                    <a:sym typeface="+mn-ea"/>
                  </a:rPr>
                  <a:t>q</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cs typeface="Times New Roman" panose="02020603050405020304" pitchFamily="18" charset="0"/>
                    <a:sym typeface="+mn-ea"/>
                  </a:rPr>
                  <a:t>]</a:t>
                </a:r>
                <a:r>
                  <a:rPr lang="zh-CN" altLang="en-US"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i="1" dirty="0">
                    <a:latin typeface="Times New Roman" panose="02020603050405020304" pitchFamily="18" charset="0"/>
                    <a:cs typeface="Times New Roman" panose="02020603050405020304" pitchFamily="18" charset="0"/>
                    <a:sym typeface="+mn-ea"/>
                  </a:rPr>
                  <a:t>r</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cs typeface="Times New Roman" panose="02020603050405020304" pitchFamily="18" charset="0"/>
                    <a:sym typeface="+mn-ea"/>
                  </a:rPr>
                  <a:t>[(1)</a:t>
                </a:r>
                <a:r>
                  <a:rPr lang="en-US" altLang="zh-CN" sz="4000" i="1" dirty="0">
                    <a:latin typeface="Times New Roman" panose="02020603050405020304" pitchFamily="18" charset="0"/>
                    <a:cs typeface="Times New Roman" panose="02020603050405020304" pitchFamily="18" charset="0"/>
                    <a:sym typeface="+mn-ea"/>
                  </a:rPr>
                  <a:t>q</a:t>
                </a:r>
                <a:r>
                  <a:rPr lang="zh-CN" altLang="en-US"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cs typeface="Times New Roman" panose="02020603050405020304" pitchFamily="18" charset="0"/>
                    <a:sym typeface="+mn-ea"/>
                  </a:rPr>
                  <a:t>-1</a:t>
                </a:r>
                <a:r>
                  <a:rPr lang="en-US" altLang="zh-CN" sz="4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i="1" dirty="0">
                    <a:latin typeface="Times New Roman" panose="02020603050405020304" pitchFamily="18" charset="0"/>
                    <a:cs typeface="Times New Roman" panose="02020603050405020304" pitchFamily="18" charset="0"/>
                    <a:sym typeface="+mn-ea"/>
                  </a:rPr>
                  <a:t>q</a:t>
                </a:r>
                <a:r>
                  <a:rPr lang="en-US" altLang="zh-CN" sz="4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4000" dirty="0">
                    <a:latin typeface="Times New Roman" panose="02020603050405020304" pitchFamily="18" charset="0"/>
                    <a:cs typeface="Times New Roman" panose="02020603050405020304" pitchFamily="18" charset="0"/>
                    <a:sym typeface="+mn-ea"/>
                  </a:rPr>
                  <a:t>]</a:t>
                </a:r>
                <a:endParaRPr lang="en-US" altLang="zh-CN" sz="4000" dirty="0">
                  <a:latin typeface="Times New Roman" panose="02020603050405020304" pitchFamily="18" charset="0"/>
                  <a:cs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f>
                      <m:fPr>
                        <m:ctrlPr>
                          <a:rPr lang="en-US" altLang="zh-CN" sz="4000" i="1" smtClean="0">
                            <a:latin typeface="Cambria Math" panose="02040503050406030204" pitchFamily="18" charset="0"/>
                            <a:cs typeface="Times New Roman" panose="02020603050405020304" pitchFamily="18" charset="0"/>
                          </a:rPr>
                        </m:ctrlPr>
                      </m:fPr>
                      <m:num>
                        <m:r>
                          <a:rPr lang="zh-CN" altLang="en-US" sz="4000" i="1" smtClean="0">
                            <a:latin typeface="Cambria Math" panose="02040503050406030204" pitchFamily="18" charset="0"/>
                            <a:cs typeface="Times New Roman" panose="02020603050405020304" pitchFamily="18" charset="0"/>
                          </a:rPr>
                          <m:t>𝜕</m:t>
                        </m:r>
                        <m:sSub>
                          <m:sSubPr>
                            <m:ctrlPr>
                              <a:rPr lang="en-US" altLang="zh-CN" sz="4000" i="1" smtClean="0">
                                <a:latin typeface="Cambria Math" panose="02040503050406030204" pitchFamily="18" charset="0"/>
                                <a:cs typeface="Times New Roman" panose="02020603050405020304" pitchFamily="18" charset="0"/>
                              </a:rPr>
                            </m:ctrlPr>
                          </m:sSubPr>
                          <m:e>
                            <m:r>
                              <a:rPr lang="zh-CN" altLang="en-US" sz="4000" i="1" smtClean="0">
                                <a:latin typeface="Cambria Math" panose="02040503050406030204" pitchFamily="18" charset="0"/>
                                <a:cs typeface="Times New Roman" panose="02020603050405020304" pitchFamily="18" charset="0"/>
                              </a:rPr>
                              <m:t>𝜋</m:t>
                            </m:r>
                          </m:e>
                          <m:sub>
                            <m:r>
                              <a:rPr lang="en-US" altLang="zh-CN" sz="4000" b="0" i="1" smtClean="0">
                                <a:latin typeface="Cambria Math" panose="02040503050406030204" pitchFamily="18" charset="0"/>
                                <a:cs typeface="Times New Roman" panose="02020603050405020304" pitchFamily="18" charset="0"/>
                              </a:rPr>
                              <m:t>1</m:t>
                            </m:r>
                          </m:sub>
                        </m:sSub>
                      </m:num>
                      <m:den>
                        <m:r>
                          <a:rPr lang="zh-CN" altLang="en-US" sz="4000" i="1" smtClean="0">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𝑟</m:t>
                        </m:r>
                      </m:den>
                    </m:f>
                    <m:r>
                      <a:rPr lang="en-US" altLang="zh-CN" sz="4000" b="0" i="1" smtClean="0">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2</m:t>
                    </m:r>
                    <m:r>
                      <a:rPr lang="en-US" altLang="zh-CN" sz="4000" b="0" i="1" smtClean="0">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4</m:t>
                    </m:r>
                    <m:r>
                      <a:rPr lang="en-US" altLang="zh-CN" sz="4000" b="0" i="1" smtClean="0">
                        <a:latin typeface="Cambria Math" panose="02040503050406030204" pitchFamily="18" charset="0"/>
                        <a:cs typeface="Times New Roman" panose="02020603050405020304" pitchFamily="18" charset="0"/>
                      </a:rPr>
                      <m:t>𝑞</m:t>
                    </m:r>
                  </m:oMath>
                </a14:m>
                <a:endParaRPr lang="en-US" altLang="zh-CN" sz="4000" b="0" i="1">
                  <a:latin typeface="Cambria Math" panose="02040503050406030204" pitchFamily="18" charset="0"/>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4000" spc="100" dirty="0">
                    <a:ln w="3175">
                      <a:noFill/>
                      <a:prstDash val="dash"/>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盖方的</a:t>
                </a:r>
                <a:r>
                  <a:rPr lang="zh-CN" altLang="en-US" sz="4000" spc="100" dirty="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反应函数</a:t>
                </a:r>
                <a:endParaRPr lang="zh-CN" altLang="en-US" sz="4000" spc="100" dirty="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r>
                      <a:rPr lang="en-US" altLang="zh-CN" sz="4000" b="0" i="1" smtClean="0">
                        <a:latin typeface="Cambria Math" panose="02040503050406030204" pitchFamily="18" charset="0"/>
                        <a:cs typeface="Times New Roman" panose="02020603050405020304" pitchFamily="18" charset="0"/>
                      </a:rPr>
                      <m:t>𝑟</m:t>
                    </m:r>
                    <m:r>
                      <a:rPr lang="en-US" altLang="zh-CN" sz="4000" b="0" i="1" smtClean="0">
                        <a:latin typeface="Cambria Math" panose="02040503050406030204" pitchFamily="18" charset="0"/>
                        <a:cs typeface="Times New Roman" panose="02020603050405020304" pitchFamily="18" charset="0"/>
                      </a:rPr>
                      <m:t>=</m:t>
                    </m:r>
                    <m:d>
                      <m:dPr>
                        <m:begChr m:val="{"/>
                        <m:endChr m:val=""/>
                        <m:ctrlPr>
                          <a:rPr lang="en-US" altLang="zh-CN" sz="4000" b="0" i="1" smtClean="0">
                            <a:latin typeface="Cambria Math" panose="02040503050406030204" pitchFamily="18" charset="0"/>
                            <a:cs typeface="Times New Roman" panose="02020603050405020304" pitchFamily="18" charset="0"/>
                          </a:rPr>
                        </m:ctrlPr>
                      </m:dPr>
                      <m:e>
                        <m:eqArr>
                          <m:eqArrPr>
                            <m:ctrlPr>
                              <a:rPr lang="en-US" altLang="zh-CN" sz="4000" b="0" i="1" smtClean="0">
                                <a:latin typeface="Cambria Math" panose="02040503050406030204" pitchFamily="18" charset="0"/>
                                <a:cs typeface="Times New Roman" panose="02020603050405020304" pitchFamily="18" charset="0"/>
                              </a:rPr>
                            </m:ctrlPr>
                          </m:eqArrPr>
                          <m:e>
                            <m:r>
                              <a:rPr lang="en-US" altLang="zh-CN" sz="4000" b="0" i="1" smtClean="0">
                                <a:latin typeface="Cambria Math" panose="02040503050406030204" pitchFamily="18" charset="0"/>
                                <a:cs typeface="Times New Roman" panose="02020603050405020304" pitchFamily="18" charset="0"/>
                              </a:rPr>
                              <m:t>0</m:t>
                            </m:r>
                            <m:r>
                              <a:rPr lang="zh-CN" altLang="en-US" sz="4000" i="1">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          </m:t>
                            </m:r>
                            <m:r>
                              <a:rPr lang="en-US" altLang="zh-CN" sz="4000" b="0" i="1" smtClean="0">
                                <a:latin typeface="Cambria Math" panose="02040503050406030204" pitchFamily="18" charset="0"/>
                                <a:cs typeface="Times New Roman" panose="02020603050405020304" pitchFamily="18" charset="0"/>
                              </a:rPr>
                              <m:t>𝑞</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&gt;</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0</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5</m:t>
                            </m:r>
                          </m:e>
                          <m:e>
                            <m:d>
                              <m:dPr>
                                <m:begChr m:val="["/>
                                <m:endChr m:val="]"/>
                                <m:ctrlPr>
                                  <a:rPr lang="en-US" altLang="zh-CN" sz="4000" b="0" i="1" smtClean="0">
                                    <a:latin typeface="Cambria Math" panose="02040503050406030204" pitchFamily="18" charset="0"/>
                                    <a:cs typeface="Times New Roman" panose="02020603050405020304" pitchFamily="18" charset="0"/>
                                  </a:rPr>
                                </m:ctrlPr>
                              </m:dPr>
                              <m:e>
                                <m:r>
                                  <a:rPr lang="en-US" altLang="zh-CN" sz="4000" b="0" i="1" smtClean="0">
                                    <a:latin typeface="Cambria Math" panose="02040503050406030204" pitchFamily="18" charset="0"/>
                                    <a:cs typeface="Times New Roman" panose="02020603050405020304" pitchFamily="18" charset="0"/>
                                  </a:rPr>
                                  <m:t>0</m:t>
                                </m:r>
                                <m:r>
                                  <a:rPr lang="zh-CN" altLang="en-US" sz="4000" i="1">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1</m:t>
                                </m:r>
                              </m:e>
                            </m:d>
                            <m:r>
                              <a:rPr lang="zh-CN" altLang="en-US" sz="4000" i="1">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𝑞</m:t>
                            </m:r>
                            <m:r>
                              <a:rPr lang="en-US" altLang="zh-CN" sz="4000" b="0" i="1" smtClean="0">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0</m:t>
                            </m:r>
                            <m:r>
                              <a:rPr lang="en-US" altLang="zh-CN" sz="4000" b="0" i="1" smtClean="0">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5</m:t>
                            </m:r>
                          </m:e>
                          <m:e>
                            <m:r>
                              <a:rPr lang="en-US" altLang="zh-CN" sz="4000" b="0" i="1" smtClean="0">
                                <a:latin typeface="Cambria Math" panose="02040503050406030204" pitchFamily="18" charset="0"/>
                                <a:cs typeface="Times New Roman" panose="02020603050405020304" pitchFamily="18" charset="0"/>
                              </a:rPr>
                              <m:t>1</m:t>
                            </m:r>
                            <m:r>
                              <a:rPr lang="zh-CN" altLang="en-US" sz="4000" i="1">
                                <a:latin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cs typeface="Times New Roman" panose="02020603050405020304" pitchFamily="18" charset="0"/>
                              </a:rPr>
                              <m:t>          </m:t>
                            </m:r>
                            <m:r>
                              <a:rPr lang="en-US" altLang="zh-CN" sz="4000" b="0" i="1" smtClean="0">
                                <a:latin typeface="Cambria Math" panose="02040503050406030204" pitchFamily="18" charset="0"/>
                                <a:cs typeface="Times New Roman" panose="02020603050405020304" pitchFamily="18" charset="0"/>
                              </a:rPr>
                              <m:t>𝑞</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&lt;</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0</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4000" b="0" i="1" smtClean="0">
                                <a:latin typeface="Cambria Math" panose="02040503050406030204" pitchFamily="18" charset="0"/>
                                <a:ea typeface="Cambria Math" panose="02040503050406030204" pitchFamily="18" charset="0"/>
                                <a:cs typeface="Times New Roman" panose="02020603050405020304" pitchFamily="18" charset="0"/>
                              </a:rPr>
                              <m:t>5</m:t>
                            </m:r>
                          </m:e>
                        </m:eqArr>
                      </m:e>
                    </m:d>
                  </m:oMath>
                </a14:m>
                <a:r>
                  <a:rPr lang="zh-CN" altLang="en-US" sz="4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4" name="Title 6"/>
              <p:cNvSpPr txBox="1">
                <a:spLocks noRot="1" noChangeAspect="1" noMove="1" noResize="1" noEditPoints="1" noAdjustHandles="1" noChangeArrowheads="1" noChangeShapeType="1" noTextEdit="1"/>
              </p:cNvSpPr>
              <p:nvPr>
                <p:custDataLst>
                  <p:tags r:id="rId4"/>
                </p:custDataLst>
              </p:nvPr>
            </p:nvSpPr>
            <p:spPr>
              <a:xfrm>
                <a:off x="1415415" y="1358900"/>
                <a:ext cx="9527540" cy="4521200"/>
              </a:xfrm>
              <a:prstGeom prst="rect">
                <a:avLst/>
              </a:prstGeom>
              <a:blipFill rotWithShape="1">
                <a:blip r:embed="rId5"/>
                <a:stretch>
                  <a:fillRect r="-1333"/>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7"/>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 name="直接连接符 13"/>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custDataLst>
              <p:tags r:id="rId2"/>
            </p:custDataLst>
          </p:nvPr>
        </p:nvSpPr>
        <p:spPr>
          <a:xfrm>
            <a:off x="1004718" y="1066831"/>
            <a:ext cx="10188914" cy="5486339"/>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6" name="Title 6"/>
              <p:cNvSpPr txBox="1"/>
              <p:nvPr>
                <p:custDataLst>
                  <p:tags r:id="rId3"/>
                </p:custDataLst>
              </p:nvPr>
            </p:nvSpPr>
            <p:spPr>
              <a:xfrm>
                <a:off x="911460" y="1197180"/>
                <a:ext cx="6957047" cy="4147411"/>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同理，猜方的反应函数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𝑞</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1</m:t>
                            </m:r>
                            <m:r>
                              <a:rPr lang="zh-CN" altLang="en-US" sz="2000" i="1">
                                <a:latin typeface="Cambria Math" panose="02040503050406030204" pitchFamily="18" charset="0"/>
                              </a:rPr>
                              <m:t>，</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ea typeface="Cambria Math" panose="02040503050406030204" pitchFamily="18" charset="0"/>
                              </a:rPr>
                              <m:t>&gt;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e>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0</m:t>
                                </m:r>
                                <m:r>
                                  <a:rPr lang="zh-CN" altLang="en-US" sz="2000" i="1">
                                    <a:latin typeface="Cambria Math" panose="02040503050406030204" pitchFamily="18" charset="0"/>
                                  </a:rPr>
                                  <m:t>，</m:t>
                                </m:r>
                                <m:r>
                                  <a:rPr lang="en-US" altLang="zh-CN" sz="2000" b="0" i="1" smtClean="0">
                                    <a:latin typeface="Cambria Math" panose="02040503050406030204" pitchFamily="18" charset="0"/>
                                  </a:rPr>
                                  <m:t>1</m:t>
                                </m:r>
                              </m:e>
                            </m:d>
                            <m:r>
                              <a:rPr lang="zh-CN" altLang="en-US" sz="2000" i="1">
                                <a:latin typeface="Cambria Math" panose="02040503050406030204" pitchFamily="18" charset="0"/>
                              </a:rPr>
                              <m:t>，</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e>
                          <m:e>
                            <m:r>
                              <a:rPr lang="en-US" altLang="zh-CN" sz="2000" b="0" i="1" smtClean="0">
                                <a:latin typeface="Cambria Math" panose="02040503050406030204" pitchFamily="18" charset="0"/>
                              </a:rPr>
                              <m:t>0</m:t>
                            </m:r>
                            <m:r>
                              <a:rPr lang="zh-CN" altLang="en-US" sz="2000" i="1">
                                <a:latin typeface="Cambria Math" panose="02040503050406030204" pitchFamily="18" charset="0"/>
                              </a:rPr>
                              <m:t>，</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ea typeface="Cambria Math" panose="02040503050406030204" pitchFamily="18" charset="0"/>
                              </a:rPr>
                              <m:t>&lt;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e>
                        </m:eqArr>
                      </m:e>
                    </m:d>
                  </m:oMath>
                </a14:m>
                <a:endParaRPr lang="en-US" altLang="zh-CN" sz="2000" b="0" i="1">
                  <a:latin typeface="Cambria Math" panose="02040503050406030204" pitchFamily="18" charset="0"/>
                  <a:ea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唯一的纳什均衡</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dirty="0">
                    <a:solidFill>
                      <a:schemeClr val="tx1"/>
                    </a:solidFill>
                    <a:latin typeface="Times New Roman" panose="02020603050405020304" pitchFamily="18" charset="0"/>
                    <a:cs typeface="Times New Roman" panose="02020603050405020304" pitchFamily="18" charset="0"/>
                    <a:sym typeface="+mn-ea"/>
                  </a:rPr>
                  <a:t>[(0.5</a:t>
                </a:r>
                <a:r>
                  <a:rPr lang="zh-CN" altLang="en-US" sz="2000" dirty="0">
                    <a:latin typeface="Times New Roman" panose="02020603050405020304" pitchFamily="18" charset="0"/>
                    <a:cs typeface="Times New Roman" panose="02020603050405020304" pitchFamily="18" charset="0"/>
                    <a:sym typeface="+mn-ea"/>
                  </a:rPr>
                  <a:t>盖正面 ，</a:t>
                </a:r>
                <a:r>
                  <a:rPr lang="en-US" altLang="zh-CN" sz="2000" dirty="0">
                    <a:latin typeface="Times New Roman" panose="02020603050405020304" pitchFamily="18" charset="0"/>
                    <a:cs typeface="Times New Roman" panose="02020603050405020304" pitchFamily="18" charset="0"/>
                    <a:sym typeface="+mn-ea"/>
                  </a:rPr>
                  <a:t>0.5</a:t>
                </a:r>
                <a:r>
                  <a:rPr lang="zh-CN" altLang="en-US" sz="2000" dirty="0">
                    <a:latin typeface="Times New Roman" panose="02020603050405020304" pitchFamily="18" charset="0"/>
                    <a:cs typeface="Times New Roman" panose="02020603050405020304" pitchFamily="18" charset="0"/>
                    <a:sym typeface="+mn-ea"/>
                  </a:rPr>
                  <a:t>盖反面</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 (0.5</a:t>
                </a:r>
                <a:r>
                  <a:rPr lang="zh-CN" altLang="en-US" sz="2000" dirty="0">
                    <a:sym typeface="+mn-ea"/>
                  </a:rPr>
                  <a:t>猜</a:t>
                </a:r>
                <a:r>
                  <a:rPr lang="zh-CN" altLang="en-US" sz="2000" dirty="0">
                    <a:latin typeface="Times New Roman" panose="02020603050405020304" pitchFamily="18" charset="0"/>
                    <a:cs typeface="Times New Roman" panose="02020603050405020304" pitchFamily="18" charset="0"/>
                    <a:sym typeface="+mn-ea"/>
                  </a:rPr>
                  <a:t>正面 ，</a:t>
                </a:r>
                <a:r>
                  <a:rPr lang="en-US" altLang="zh-CN" sz="2000" dirty="0">
                    <a:latin typeface="Times New Roman" panose="02020603050405020304" pitchFamily="18" charset="0"/>
                    <a:cs typeface="Times New Roman" panose="02020603050405020304" pitchFamily="18" charset="0"/>
                    <a:sym typeface="+mn-ea"/>
                  </a:rPr>
                  <a:t>0.5</a:t>
                </a:r>
                <a:r>
                  <a:rPr lang="zh-CN" altLang="en-US" sz="2000" dirty="0">
                    <a:sym typeface="+mn-ea"/>
                  </a:rPr>
                  <a:t>猜</a:t>
                </a:r>
                <a:r>
                  <a:rPr lang="zh-CN" altLang="en-US" sz="2000" dirty="0">
                    <a:latin typeface="Times New Roman" panose="02020603050405020304" pitchFamily="18" charset="0"/>
                    <a:cs typeface="Times New Roman" panose="02020603050405020304" pitchFamily="18" charset="0"/>
                    <a:sym typeface="+mn-ea"/>
                  </a:rPr>
                  <a:t>反面</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sym typeface="+mn-ea"/>
                </a:endParaRPr>
              </a:p>
              <a:p>
                <a:pPr lvl="1" indent="0" algn="l" fontAlgn="ctr">
                  <a:lnSpc>
                    <a:spcPct val="130000"/>
                  </a:lnSpc>
                  <a:spcBef>
                    <a:spcPts val="1000"/>
                  </a:spcBef>
                  <a:spcAft>
                    <a:spcPts val="0"/>
                  </a:spcAft>
                  <a:buSzPct val="100000"/>
                  <a:buFont typeface="Wingdings" panose="05000000000000000000" charset="0"/>
                  <a:buNone/>
                </a:pP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或</a:t>
                </a:r>
                <a:r>
                  <a:rPr lang="en-US" altLang="zh-CN" sz="2000" dirty="0">
                    <a:latin typeface="Times New Roman" panose="02020603050405020304" pitchFamily="18" charset="0"/>
                    <a:cs typeface="Times New Roman" panose="02020603050405020304" pitchFamily="18" charset="0"/>
                    <a:sym typeface="+mn-ea"/>
                  </a:rPr>
                  <a:t> (0.5</a:t>
                </a:r>
                <a:r>
                  <a:rPr lang="zh-CN" altLang="en-US" sz="2000" dirty="0">
                    <a:latin typeface="Times New Roman" panose="02020603050405020304" pitchFamily="18" charset="0"/>
                    <a:cs typeface="Times New Roman" panose="02020603050405020304" pitchFamily="18" charset="0"/>
                    <a:sym typeface="+mn-ea"/>
                  </a:rPr>
                  <a:t>盖正面 ，</a:t>
                </a:r>
                <a:r>
                  <a:rPr lang="en-US" altLang="zh-CN" sz="2000" dirty="0">
                    <a:latin typeface="Times New Roman" panose="02020603050405020304" pitchFamily="18" charset="0"/>
                    <a:cs typeface="Times New Roman" panose="02020603050405020304" pitchFamily="18" charset="0"/>
                    <a:sym typeface="+mn-ea"/>
                  </a:rPr>
                  <a:t> 0.5</a:t>
                </a:r>
                <a:r>
                  <a:rPr lang="zh-CN" altLang="en-US" sz="2000" dirty="0">
                    <a:sym typeface="+mn-ea"/>
                  </a:rPr>
                  <a:t>猜</a:t>
                </a:r>
                <a:r>
                  <a:rPr lang="zh-CN" altLang="en-US" sz="2000" dirty="0">
                    <a:latin typeface="Times New Roman" panose="02020603050405020304" pitchFamily="18" charset="0"/>
                    <a:cs typeface="Times New Roman" panose="02020603050405020304" pitchFamily="18" charset="0"/>
                    <a:sym typeface="+mn-ea"/>
                  </a:rPr>
                  <a:t>正面</a:t>
                </a:r>
                <a:r>
                  <a:rPr lang="en-US" altLang="zh-CN" sz="2000" dirty="0">
                    <a:latin typeface="Times New Roman" panose="02020603050405020304" pitchFamily="18" charset="0"/>
                    <a:cs typeface="Times New Roman" panose="02020603050405020304" pitchFamily="18" charset="0"/>
                    <a:sym typeface="+mn-ea"/>
                  </a:rPr>
                  <a:t>)</a:t>
                </a:r>
                <a:endParaRPr lang="zh-CN" altLang="en-US" sz="2000" dirty="0">
                  <a:latin typeface="Times New Roman" panose="02020603050405020304" pitchFamily="18" charset="0"/>
                  <a:cs typeface="Times New Roman" panose="02020603050405020304" pitchFamily="18" charset="0"/>
                </a:endParaRPr>
              </a:p>
              <a:p>
                <a:pPr lvl="1" indent="0" algn="l" fontAlgn="ctr">
                  <a:lnSpc>
                    <a:spcPct val="130000"/>
                  </a:lnSpc>
                  <a:spcBef>
                    <a:spcPts val="1000"/>
                  </a:spcBef>
                  <a:spcAft>
                    <a:spcPts val="0"/>
                  </a:spcAft>
                  <a:buSzPct val="100000"/>
                  <a:buFont typeface="Wingdings" panose="05000000000000000000" charset="0"/>
                  <a:buNone/>
                </a:pP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6" name="Title 6"/>
              <p:cNvSpPr txBox="1">
                <a:spLocks noRot="1" noChangeAspect="1" noMove="1" noResize="1" noEditPoints="1" noAdjustHandles="1" noChangeArrowheads="1" noChangeShapeType="1" noTextEdit="1"/>
              </p:cNvSpPr>
              <p:nvPr>
                <p:custDataLst>
                  <p:tags r:id="rId4"/>
                </p:custDataLst>
              </p:nvPr>
            </p:nvSpPr>
            <p:spPr>
              <a:xfrm>
                <a:off x="911460" y="1197180"/>
                <a:ext cx="6957047" cy="4147411"/>
              </a:xfrm>
              <a:prstGeom prst="rect">
                <a:avLst/>
              </a:prstGeom>
              <a:blipFill rotWithShape="1">
                <a:blip r:embed="rId5"/>
                <a:stretch>
                  <a:fillRect l="-3" t="-5" r="3" b="10"/>
                </a:stretch>
              </a:blipFill>
              <a:ln w="3175">
                <a:noFill/>
                <a:prstDash val="dash"/>
              </a:ln>
            </p:spPr>
            <p:txBody>
              <a:bodyPr/>
              <a:lstStyle/>
              <a:p>
                <a:r>
                  <a:rPr lang="zh-CN" altLang="en-US">
                    <a:noFill/>
                  </a:rPr>
                  <a:t> </a:t>
                </a:r>
              </a:p>
            </p:txBody>
          </p:sp>
        </mc:Fallback>
      </mc:AlternateContent>
      <p:sp>
        <p:nvSpPr>
          <p:cNvPr id="2" name="Title 6"/>
          <p:cNvSpPr txBox="1"/>
          <p:nvPr>
            <p:custDataLst>
              <p:tags r:id="rId6"/>
            </p:custDataLst>
          </p:nvPr>
        </p:nvSpPr>
        <p:spPr>
          <a:xfrm>
            <a:off x="7967980" y="1124585"/>
            <a:ext cx="3146425" cy="86995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双方反应函数图</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8112125" y="1772920"/>
            <a:ext cx="3478530" cy="3274695"/>
            <a:chOff x="983432" y="4724513"/>
            <a:chExt cx="2520280" cy="1942834"/>
          </a:xfrm>
        </p:grpSpPr>
        <p:pic>
          <p:nvPicPr>
            <p:cNvPr id="4" name="图片 3"/>
            <p:cNvPicPr>
              <a:picLocks noChangeAspect="1"/>
            </p:cNvPicPr>
            <p:nvPr/>
          </p:nvPicPr>
          <p:blipFill>
            <a:blip r:embed="rId7"/>
            <a:stretch>
              <a:fillRect/>
            </a:stretch>
          </p:blipFill>
          <p:spPr>
            <a:xfrm>
              <a:off x="983432" y="4724513"/>
              <a:ext cx="2520280" cy="1942834"/>
            </a:xfrm>
            <a:prstGeom prst="rect">
              <a:avLst/>
            </a:prstGeom>
          </p:spPr>
        </p:pic>
        <p:sp>
          <p:nvSpPr>
            <p:cNvPr id="5" name="椭圆 4"/>
            <p:cNvSpPr/>
            <p:nvPr/>
          </p:nvSpPr>
          <p:spPr>
            <a:xfrm>
              <a:off x="1919536" y="5695930"/>
              <a:ext cx="144016" cy="1440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文本框 7"/>
          <p:cNvSpPr txBox="1"/>
          <p:nvPr>
            <p:custDataLst>
              <p:tags r:id="rId9"/>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itle 6"/>
          <p:cNvSpPr txBox="1"/>
          <p:nvPr>
            <p:custDataLst>
              <p:tags r:id="rId2"/>
            </p:custDataLst>
          </p:nvPr>
        </p:nvSpPr>
        <p:spPr>
          <a:xfrm>
            <a:off x="1055458" y="837075"/>
            <a:ext cx="3350038" cy="957684"/>
          </a:xfrm>
          <a:prstGeom prst="rect">
            <a:avLst/>
          </a:prstGeom>
          <a:noFill/>
          <a:ln w="3175">
            <a:noFill/>
            <a:prstDash val="dash"/>
          </a:ln>
        </p:spPr>
        <p:txBody>
          <a:bodyPr wrap="square" lIns="63500" tIns="25400" rIns="63500" bIns="25400" anchor="b"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夫妻之争</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8" name="表格 7"/>
          <p:cNvGraphicFramePr>
            <a:graphicFrameLocks noGrp="1"/>
          </p:cNvGraphicFramePr>
          <p:nvPr>
            <p:custDataLst>
              <p:tags r:id="rId3"/>
            </p:custDataLst>
          </p:nvPr>
        </p:nvGraphicFramePr>
        <p:xfrm>
          <a:off x="2488565" y="2030730"/>
          <a:ext cx="6496685" cy="3206115"/>
        </p:xfrm>
        <a:graphic>
          <a:graphicData uri="http://schemas.openxmlformats.org/drawingml/2006/table">
            <a:tbl>
              <a:tblPr firstRow="1" bandRow="1">
                <a:tableStyleId>{2D5ABB26-0587-4C30-8999-92F81FD0307C}</a:tableStyleId>
              </a:tblPr>
              <a:tblGrid>
                <a:gridCol w="1454785"/>
                <a:gridCol w="1660525"/>
                <a:gridCol w="1732280"/>
                <a:gridCol w="1649095"/>
              </a:tblGrid>
              <a:tr h="82423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丈夫</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423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914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妻子</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时装</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851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足球</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custDataLst>
              <p:tags r:id="rId5"/>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 name="直接连接符 11"/>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12"/>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4" name="直接连接符 13"/>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itle 6"/>
              <p:cNvSpPr txBox="1"/>
              <p:nvPr>
                <p:custDataLst>
                  <p:tags r:id="rId7"/>
                </p:custDataLst>
              </p:nvPr>
            </p:nvSpPr>
            <p:spPr>
              <a:xfrm>
                <a:off x="3071495" y="1477645"/>
                <a:ext cx="8727440" cy="478980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设妻子看时装的概率为r，丈夫看时装的概率为q。</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妻子期望得益π</a:t>
                </a:r>
                <a:r>
                  <a:rPr lang="zh-CN" altLang="en-US" sz="222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l-GR" altLang="zh-CN" sz="2220" i="1" dirty="0">
                    <a:latin typeface="Times New Roman" panose="02020603050405020304" pitchFamily="18" charset="0"/>
                    <a:cs typeface="Times New Roman" panose="02020603050405020304" pitchFamily="18" charset="0"/>
                    <a:sym typeface="+mn-ea"/>
                  </a:rPr>
                  <a:t>π</a:t>
                </a:r>
                <a:r>
                  <a:rPr lang="en-US" altLang="zh-CN" sz="2220" baseline="-25000" dirty="0">
                    <a:latin typeface="Times New Roman" panose="02020603050405020304" pitchFamily="18" charset="0"/>
                    <a:cs typeface="Times New Roman" panose="02020603050405020304" pitchFamily="18" charset="0"/>
                    <a:sym typeface="+mn-ea"/>
                  </a:rPr>
                  <a:t>1</a:t>
                </a:r>
                <a:r>
                  <a:rPr lang="zh-CN" altLang="en-US"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i="1" dirty="0">
                    <a:latin typeface="Times New Roman" panose="02020603050405020304" pitchFamily="18" charset="0"/>
                    <a:cs typeface="Times New Roman" panose="02020603050405020304" pitchFamily="18" charset="0"/>
                    <a:sym typeface="+mn-ea"/>
                  </a:rPr>
                  <a:t>r</a:t>
                </a:r>
                <a:r>
                  <a:rPr lang="en-US" altLang="zh-CN" sz="2220" dirty="0">
                    <a:latin typeface="Times New Roman" panose="02020603050405020304" pitchFamily="18" charset="0"/>
                    <a:cs typeface="Times New Roman" panose="02020603050405020304" pitchFamily="18" charset="0"/>
                    <a:sym typeface="+mn-ea"/>
                  </a:rPr>
                  <a:t>[2</a:t>
                </a:r>
                <a:r>
                  <a:rPr lang="en-US" altLang="zh-CN" sz="2220" i="1" dirty="0">
                    <a:latin typeface="Times New Roman" panose="02020603050405020304" pitchFamily="18" charset="0"/>
                    <a:cs typeface="Times New Roman" panose="02020603050405020304" pitchFamily="18" charset="0"/>
                    <a:sym typeface="+mn-ea"/>
                  </a:rPr>
                  <a:t>q</a:t>
                </a:r>
                <a:r>
                  <a:rPr lang="zh-CN" altLang="en-US"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0(</a:t>
                </a:r>
                <a:r>
                  <a:rPr lang="en-US" altLang="zh-CN" sz="222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i="1" dirty="0">
                    <a:latin typeface="Times New Roman" panose="02020603050405020304" pitchFamily="18" charset="0"/>
                    <a:cs typeface="Times New Roman" panose="02020603050405020304" pitchFamily="18" charset="0"/>
                    <a:sym typeface="+mn-ea"/>
                  </a:rPr>
                  <a:t>q</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i="1" dirty="0">
                    <a:latin typeface="Times New Roman" panose="02020603050405020304" pitchFamily="18" charset="0"/>
                    <a:cs typeface="Times New Roman" panose="02020603050405020304" pitchFamily="18" charset="0"/>
                    <a:sym typeface="+mn-ea"/>
                  </a:rPr>
                  <a:t>r</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i="1" dirty="0">
                    <a:latin typeface="Times New Roman" panose="02020603050405020304" pitchFamily="18" charset="0"/>
                    <a:cs typeface="Times New Roman" panose="02020603050405020304" pitchFamily="18" charset="0"/>
                    <a:sym typeface="+mn-ea"/>
                  </a:rPr>
                  <a:t> </a:t>
                </a:r>
                <a:r>
                  <a:rPr lang="en-US" altLang="zh-CN" sz="2220" dirty="0">
                    <a:latin typeface="Times New Roman" panose="02020603050405020304" pitchFamily="18" charset="0"/>
                    <a:cs typeface="Times New Roman" panose="02020603050405020304" pitchFamily="18" charset="0"/>
                    <a:sym typeface="+mn-ea"/>
                  </a:rPr>
                  <a:t>[</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0</a:t>
                </a:r>
                <a:r>
                  <a:rPr lang="en-US" altLang="zh-CN" sz="2220" i="1" dirty="0">
                    <a:latin typeface="Times New Roman" panose="02020603050405020304" pitchFamily="18" charset="0"/>
                    <a:cs typeface="Times New Roman" panose="02020603050405020304" pitchFamily="18" charset="0"/>
                    <a:sym typeface="+mn-ea"/>
                  </a:rPr>
                  <a:t>q</a:t>
                </a:r>
                <a:r>
                  <a:rPr lang="zh-CN" altLang="en-US"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220" i="1" dirty="0">
                    <a:latin typeface="Times New Roman" panose="02020603050405020304" pitchFamily="18" charset="0"/>
                    <a:cs typeface="Times New Roman" panose="02020603050405020304" pitchFamily="18" charset="0"/>
                    <a:sym typeface="+mn-ea"/>
                  </a:rPr>
                  <a:t>q</a:t>
                </a:r>
                <a:r>
                  <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rPr>
                  <a:t>)]</a:t>
                </a:r>
                <a:endParaRPr lang="en-US" altLang="zh-CN" sz="2220" dirty="0">
                  <a:latin typeface="宋体" panose="02010600030101010101" pitchFamily="2" charset="-122"/>
                  <a:ea typeface="宋体" panose="02010600030101010101" pitchFamily="2" charset="-122"/>
                  <a:cs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f>
                      <m:fPr>
                        <m:ctrlPr>
                          <a:rPr lang="en-US" altLang="zh-CN" sz="2220" i="1" smtClean="0">
                            <a:latin typeface="Cambria Math" panose="02040503050406030204" pitchFamily="18" charset="0"/>
                          </a:rPr>
                        </m:ctrlPr>
                      </m:fPr>
                      <m:num>
                        <m:r>
                          <a:rPr lang="zh-CN" altLang="en-US" sz="2220" i="1" smtClean="0">
                            <a:latin typeface="Cambria Math" panose="02040503050406030204" pitchFamily="18" charset="0"/>
                          </a:rPr>
                          <m:t>𝜕</m:t>
                        </m:r>
                        <m:sSub>
                          <m:sSubPr>
                            <m:ctrlPr>
                              <a:rPr lang="en-US" altLang="zh-CN" sz="2220" i="1" smtClean="0">
                                <a:latin typeface="Cambria Math" panose="02040503050406030204" pitchFamily="18" charset="0"/>
                              </a:rPr>
                            </m:ctrlPr>
                          </m:sSubPr>
                          <m:e>
                            <m:r>
                              <a:rPr lang="zh-CN" altLang="en-US" sz="2220" i="1" smtClean="0">
                                <a:latin typeface="Cambria Math" panose="02040503050406030204" pitchFamily="18" charset="0"/>
                              </a:rPr>
                              <m:t>𝜋</m:t>
                            </m:r>
                          </m:e>
                          <m:sub>
                            <m:r>
                              <a:rPr lang="en-US" altLang="zh-CN" sz="2220" b="0" i="1" smtClean="0">
                                <a:latin typeface="Cambria Math" panose="02040503050406030204" pitchFamily="18" charset="0"/>
                              </a:rPr>
                              <m:t>1</m:t>
                            </m:r>
                          </m:sub>
                        </m:sSub>
                      </m:num>
                      <m:den>
                        <m:r>
                          <a:rPr lang="zh-CN" altLang="en-US" sz="2220" i="1" smtClean="0">
                            <a:latin typeface="Cambria Math" panose="02040503050406030204" pitchFamily="18" charset="0"/>
                          </a:rPr>
                          <m:t>𝜕</m:t>
                        </m:r>
                        <m:r>
                          <a:rPr lang="en-US" altLang="zh-CN" sz="2220" b="0" i="1" smtClean="0">
                            <a:latin typeface="Cambria Math" panose="02040503050406030204" pitchFamily="18" charset="0"/>
                          </a:rPr>
                          <m:t>𝑟</m:t>
                        </m:r>
                      </m:den>
                    </m:f>
                    <m:r>
                      <a:rPr lang="en-US" altLang="zh-CN" sz="2220" b="0" i="1" smtClean="0">
                        <a:latin typeface="Cambria Math" panose="02040503050406030204" pitchFamily="18" charset="0"/>
                      </a:rPr>
                      <m:t>=</m:t>
                    </m:r>
                    <m:r>
                      <a:rPr lang="en-US" altLang="zh-CN" sz="2220" b="0" i="1" smtClean="0">
                        <a:latin typeface="Cambria Math" panose="02040503050406030204" pitchFamily="18" charset="0"/>
                      </a:rPr>
                      <m:t>3</m:t>
                    </m:r>
                    <m:r>
                      <a:rPr lang="en-US" altLang="zh-CN" sz="2220" b="0" i="1" smtClean="0">
                        <a:latin typeface="Cambria Math" panose="02040503050406030204" pitchFamily="18" charset="0"/>
                      </a:rPr>
                      <m:t>𝑞</m:t>
                    </m:r>
                    <m:r>
                      <a:rPr lang="en-US" altLang="zh-CN" sz="2220" b="0" i="1" smtClean="0">
                        <a:latin typeface="Cambria Math" panose="02040503050406030204" pitchFamily="18" charset="0"/>
                      </a:rPr>
                      <m:t>−</m:t>
                    </m:r>
                    <m:r>
                      <a:rPr lang="en-US" altLang="zh-CN" sz="2220" b="0" i="1" smtClean="0">
                        <a:latin typeface="Cambria Math" panose="02040503050406030204" pitchFamily="18" charset="0"/>
                      </a:rPr>
                      <m:t>1</m:t>
                    </m:r>
                  </m:oMath>
                </a14:m>
                <a:endParaRPr lang="en-US" altLang="zh-CN" sz="2220" b="0" i="1">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2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妻子的</a:t>
                </a: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r>
                      <a:rPr lang="en-US" altLang="zh-CN" sz="2220" b="0" i="1" smtClean="0">
                        <a:latin typeface="Cambria Math" panose="02040503050406030204" pitchFamily="18" charset="0"/>
                      </a:rPr>
                      <m:t>𝑟</m:t>
                    </m:r>
                    <m:r>
                      <a:rPr lang="en-US" altLang="zh-CN" sz="2220" b="0" i="1" smtClean="0">
                        <a:latin typeface="Cambria Math" panose="02040503050406030204" pitchFamily="18" charset="0"/>
                      </a:rPr>
                      <m:t>=</m:t>
                    </m:r>
                    <m:d>
                      <m:dPr>
                        <m:begChr m:val="{"/>
                        <m:endChr m:val=""/>
                        <m:ctrlPr>
                          <a:rPr lang="en-US" altLang="zh-CN" sz="2220" b="0" i="1" smtClean="0">
                            <a:latin typeface="Cambria Math" panose="02040503050406030204" pitchFamily="18" charset="0"/>
                          </a:rPr>
                        </m:ctrlPr>
                      </m:dPr>
                      <m:e>
                        <m:eqArr>
                          <m:eqArrPr>
                            <m:ctrlPr>
                              <a:rPr lang="en-US" altLang="zh-CN" sz="2220" b="0" i="1" smtClean="0">
                                <a:latin typeface="Cambria Math" panose="02040503050406030204" pitchFamily="18" charset="0"/>
                              </a:rPr>
                            </m:ctrlPr>
                          </m:eqArrPr>
                          <m:e>
                            <m:r>
                              <a:rPr lang="en-US" altLang="zh-CN" sz="2220" b="0" i="1" smtClean="0">
                                <a:latin typeface="Cambria Math" panose="02040503050406030204" pitchFamily="18" charset="0"/>
                              </a:rPr>
                              <m:t>1</m:t>
                            </m:r>
                            <m:r>
                              <a:rPr lang="zh-CN" altLang="en-US" sz="2220" i="1">
                                <a:latin typeface="Cambria Math" panose="02040503050406030204" pitchFamily="18" charset="0"/>
                              </a:rPr>
                              <m:t>，</m:t>
                            </m:r>
                            <m:r>
                              <a:rPr lang="en-US" altLang="zh-CN" sz="2220" b="0" i="1" smtClean="0">
                                <a:latin typeface="Cambria Math" panose="02040503050406030204" pitchFamily="18" charset="0"/>
                              </a:rPr>
                              <m:t>          </m:t>
                            </m:r>
                            <m:r>
                              <a:rPr lang="en-US" altLang="zh-CN" sz="2220" b="0" i="1" smtClean="0">
                                <a:latin typeface="Cambria Math" panose="02040503050406030204" pitchFamily="18" charset="0"/>
                              </a:rPr>
                              <m:t>𝑞</m:t>
                            </m:r>
                            <m:r>
                              <a:rPr lang="en-US" altLang="zh-CN" sz="2220" b="0" i="1" smtClean="0">
                                <a:latin typeface="Cambria Math" panose="02040503050406030204" pitchFamily="18" charset="0"/>
                                <a:ea typeface="Cambria Math" panose="02040503050406030204" pitchFamily="18" charset="0"/>
                              </a:rPr>
                              <m:t>&gt;</m:t>
                            </m:r>
                            <m:f>
                              <m:fPr>
                                <m:ctrlPr>
                                  <a:rPr lang="en-US" altLang="zh-CN" sz="2220" b="0" i="1" smtClean="0">
                                    <a:latin typeface="Cambria Math" panose="02040503050406030204" pitchFamily="18" charset="0"/>
                                    <a:ea typeface="Cambria Math" panose="02040503050406030204" pitchFamily="18" charset="0"/>
                                  </a:rPr>
                                </m:ctrlPr>
                              </m:fPr>
                              <m:num>
                                <m:r>
                                  <a:rPr lang="en-US" altLang="zh-CN" sz="2220" b="0" i="1" smtClean="0">
                                    <a:latin typeface="Cambria Math" panose="02040503050406030204" pitchFamily="18" charset="0"/>
                                    <a:ea typeface="Cambria Math" panose="02040503050406030204" pitchFamily="18" charset="0"/>
                                  </a:rPr>
                                  <m:t>1</m:t>
                                </m:r>
                              </m:num>
                              <m:den>
                                <m:r>
                                  <a:rPr lang="en-US" altLang="zh-CN" sz="2220" b="0" i="1" smtClean="0">
                                    <a:latin typeface="Cambria Math" panose="02040503050406030204" pitchFamily="18" charset="0"/>
                                    <a:ea typeface="Cambria Math" panose="02040503050406030204" pitchFamily="18" charset="0"/>
                                  </a:rPr>
                                  <m:t>3</m:t>
                                </m:r>
                              </m:den>
                            </m:f>
                          </m:e>
                          <m:e>
                            <m:d>
                              <m:dPr>
                                <m:begChr m:val="["/>
                                <m:endChr m:val="]"/>
                                <m:ctrlPr>
                                  <a:rPr lang="en-US" altLang="zh-CN" sz="2220" b="0" i="1" smtClean="0">
                                    <a:latin typeface="Cambria Math" panose="02040503050406030204" pitchFamily="18" charset="0"/>
                                  </a:rPr>
                                </m:ctrlPr>
                              </m:dPr>
                              <m:e>
                                <m:r>
                                  <a:rPr lang="en-US" altLang="zh-CN" sz="2220" b="0" i="1" smtClean="0">
                                    <a:latin typeface="Cambria Math" panose="02040503050406030204" pitchFamily="18" charset="0"/>
                                  </a:rPr>
                                  <m:t>0</m:t>
                                </m:r>
                                <m:r>
                                  <a:rPr lang="zh-CN" altLang="en-US" sz="2220" i="1">
                                    <a:latin typeface="Cambria Math" panose="02040503050406030204" pitchFamily="18" charset="0"/>
                                  </a:rPr>
                                  <m:t>，</m:t>
                                </m:r>
                                <m:r>
                                  <a:rPr lang="en-US" altLang="zh-CN" sz="2220" b="0" i="1" smtClean="0">
                                    <a:latin typeface="Cambria Math" panose="02040503050406030204" pitchFamily="18" charset="0"/>
                                  </a:rPr>
                                  <m:t>1</m:t>
                                </m:r>
                              </m:e>
                            </m:d>
                            <m:r>
                              <a:rPr lang="zh-CN" altLang="en-US" sz="2220" i="1">
                                <a:latin typeface="Cambria Math" panose="02040503050406030204" pitchFamily="18" charset="0"/>
                              </a:rPr>
                              <m:t>，</m:t>
                            </m:r>
                            <m:r>
                              <a:rPr lang="en-US" altLang="zh-CN" sz="2220" b="0" i="1" smtClean="0">
                                <a:latin typeface="Cambria Math" panose="02040503050406030204" pitchFamily="18" charset="0"/>
                              </a:rPr>
                              <m:t>𝑞</m:t>
                            </m:r>
                            <m:r>
                              <a:rPr lang="en-US" altLang="zh-CN" sz="2220" b="0" i="1" smtClean="0">
                                <a:latin typeface="Cambria Math" panose="02040503050406030204" pitchFamily="18" charset="0"/>
                              </a:rPr>
                              <m:t>=</m:t>
                            </m:r>
                            <m:f>
                              <m:fPr>
                                <m:ctrlPr>
                                  <a:rPr lang="en-US" altLang="zh-CN" sz="2220" b="0" i="1" smtClean="0">
                                    <a:latin typeface="Cambria Math" panose="02040503050406030204" pitchFamily="18" charset="0"/>
                                  </a:rPr>
                                </m:ctrlPr>
                              </m:fPr>
                              <m:num>
                                <m:r>
                                  <a:rPr lang="en-US" altLang="zh-CN" sz="2220" b="0" i="1" smtClean="0">
                                    <a:latin typeface="Cambria Math" panose="02040503050406030204" pitchFamily="18" charset="0"/>
                                  </a:rPr>
                                  <m:t>1</m:t>
                                </m:r>
                              </m:num>
                              <m:den>
                                <m:r>
                                  <a:rPr lang="en-US" altLang="zh-CN" sz="2220" b="0" i="1" smtClean="0">
                                    <a:latin typeface="Cambria Math" panose="02040503050406030204" pitchFamily="18" charset="0"/>
                                  </a:rPr>
                                  <m:t>3</m:t>
                                </m:r>
                              </m:den>
                            </m:f>
                          </m:e>
                          <m:e>
                            <m:r>
                              <a:rPr lang="en-US" altLang="zh-CN" sz="2220" b="0" i="1" smtClean="0">
                                <a:latin typeface="Cambria Math" panose="02040503050406030204" pitchFamily="18" charset="0"/>
                              </a:rPr>
                              <m:t>0</m:t>
                            </m:r>
                            <m:r>
                              <a:rPr lang="zh-CN" altLang="en-US" sz="2220" i="1">
                                <a:latin typeface="Cambria Math" panose="02040503050406030204" pitchFamily="18" charset="0"/>
                              </a:rPr>
                              <m:t>，</m:t>
                            </m:r>
                            <m:r>
                              <a:rPr lang="en-US" altLang="zh-CN" sz="2220" b="0" i="1" smtClean="0">
                                <a:latin typeface="Cambria Math" panose="02040503050406030204" pitchFamily="18" charset="0"/>
                              </a:rPr>
                              <m:t>          </m:t>
                            </m:r>
                            <m:r>
                              <a:rPr lang="en-US" altLang="zh-CN" sz="2220" b="0" i="1" smtClean="0">
                                <a:latin typeface="Cambria Math" panose="02040503050406030204" pitchFamily="18" charset="0"/>
                              </a:rPr>
                              <m:t>𝑞</m:t>
                            </m:r>
                            <m:r>
                              <a:rPr lang="en-US" altLang="zh-CN" sz="2220" b="0" i="1" smtClean="0">
                                <a:latin typeface="Cambria Math" panose="02040503050406030204" pitchFamily="18" charset="0"/>
                                <a:ea typeface="Cambria Math" panose="02040503050406030204" pitchFamily="18" charset="0"/>
                              </a:rPr>
                              <m:t>&lt;</m:t>
                            </m:r>
                            <m:f>
                              <m:fPr>
                                <m:ctrlPr>
                                  <a:rPr lang="en-US" altLang="zh-CN" sz="2220" b="0" i="1" smtClean="0">
                                    <a:latin typeface="Cambria Math" panose="02040503050406030204" pitchFamily="18" charset="0"/>
                                    <a:ea typeface="Cambria Math" panose="02040503050406030204" pitchFamily="18" charset="0"/>
                                  </a:rPr>
                                </m:ctrlPr>
                              </m:fPr>
                              <m:num>
                                <m:r>
                                  <a:rPr lang="en-US" altLang="zh-CN" sz="2220" b="0" i="1" smtClean="0">
                                    <a:latin typeface="Cambria Math" panose="02040503050406030204" pitchFamily="18" charset="0"/>
                                    <a:ea typeface="Cambria Math" panose="02040503050406030204" pitchFamily="18" charset="0"/>
                                  </a:rPr>
                                  <m:t>1</m:t>
                                </m:r>
                              </m:num>
                              <m:den>
                                <m:r>
                                  <a:rPr lang="en-US" altLang="zh-CN" sz="2220" b="0" i="1" smtClean="0">
                                    <a:latin typeface="Cambria Math" panose="02040503050406030204" pitchFamily="18" charset="0"/>
                                    <a:ea typeface="Cambria Math" panose="02040503050406030204" pitchFamily="18" charset="0"/>
                                  </a:rPr>
                                  <m:t>3</m:t>
                                </m:r>
                              </m:den>
                            </m:f>
                          </m:e>
                        </m:eqArr>
                      </m:e>
                    </m:d>
                  </m:oMath>
                </a14:m>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8" name="Title 6"/>
              <p:cNvSpPr txBox="1">
                <a:spLocks noRot="1" noChangeAspect="1" noMove="1" noResize="1" noEditPoints="1" noAdjustHandles="1" noChangeArrowheads="1" noChangeShapeType="1" noTextEdit="1"/>
              </p:cNvSpPr>
              <p:nvPr>
                <p:custDataLst>
                  <p:tags r:id="rId8"/>
                </p:custDataLst>
              </p:nvPr>
            </p:nvSpPr>
            <p:spPr>
              <a:xfrm>
                <a:off x="3071495" y="1477645"/>
                <a:ext cx="8727440" cy="4789805"/>
              </a:xfrm>
              <a:prstGeom prst="rect">
                <a:avLst/>
              </a:prstGeom>
              <a:blipFill rotWithShape="1">
                <a:blip r:embed="rId9"/>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11"/>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spTree>
    <p:custDataLst>
      <p:tags r:id="rId1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15"/>
          <p:cNvSpPr/>
          <p:nvPr userDrawn="1">
            <p:custDataLst>
              <p:tags r:id="rId2"/>
            </p:custDataLst>
          </p:nvPr>
        </p:nvSpPr>
        <p:spPr>
          <a:xfrm>
            <a:off x="983615" y="1052830"/>
            <a:ext cx="10189210" cy="4936490"/>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7" name="Title 6"/>
              <p:cNvSpPr txBox="1"/>
              <p:nvPr>
                <p:custDataLst>
                  <p:tags r:id="rId3"/>
                </p:custDataLst>
              </p:nvPr>
            </p:nvSpPr>
            <p:spPr>
              <a:xfrm>
                <a:off x="983615" y="1196975"/>
                <a:ext cx="5855970" cy="414718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同理， 丈夫的反应函数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r>
                      <a:rPr lang="en-US" altLang="zh-CN" sz="2000" b="0" i="1" smtClean="0">
                        <a:latin typeface="Cambria Math" panose="02040503050406030204" pitchFamily="18" charset="0"/>
                      </a:rPr>
                      <m:t>𝑞</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1</m:t>
                            </m:r>
                            <m:r>
                              <a:rPr lang="zh-CN" altLang="en-US" sz="2000" i="1">
                                <a:latin typeface="Cambria Math" panose="02040503050406030204" pitchFamily="18" charset="0"/>
                              </a:rPr>
                              <m:t>，</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ea typeface="Cambria Math" panose="02040503050406030204" pitchFamily="18" charset="0"/>
                              </a:rPr>
                              <m:t>&gt;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75</m:t>
                            </m:r>
                          </m:e>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0</m:t>
                                </m:r>
                                <m:r>
                                  <a:rPr lang="zh-CN" altLang="en-US" sz="2000" i="1">
                                    <a:latin typeface="Cambria Math" panose="02040503050406030204" pitchFamily="18" charset="0"/>
                                  </a:rPr>
                                  <m:t>，</m:t>
                                </m:r>
                                <m:r>
                                  <a:rPr lang="en-US" altLang="zh-CN" sz="2000" b="0" i="1" smtClean="0">
                                    <a:latin typeface="Cambria Math" panose="02040503050406030204" pitchFamily="18" charset="0"/>
                                  </a:rPr>
                                  <m:t>1</m:t>
                                </m:r>
                              </m:e>
                            </m:d>
                            <m:r>
                              <a:rPr lang="zh-CN" altLang="en-US" sz="2000" i="1">
                                <a:latin typeface="Cambria Math" panose="02040503050406030204" pitchFamily="18" charset="0"/>
                              </a:rPr>
                              <m:t>，</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75</m:t>
                            </m:r>
                          </m:e>
                          <m:e>
                            <m:r>
                              <a:rPr lang="en-US" altLang="zh-CN" sz="2000" b="0" i="1" smtClean="0">
                                <a:latin typeface="Cambria Math" panose="02040503050406030204" pitchFamily="18" charset="0"/>
                              </a:rPr>
                              <m:t>0</m:t>
                            </m:r>
                            <m:r>
                              <a:rPr lang="zh-CN" altLang="en-US" sz="2000" i="1">
                                <a:latin typeface="Cambria Math" panose="02040503050406030204" pitchFamily="18" charset="0"/>
                              </a:rPr>
                              <m:t>，</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ea typeface="Cambria Math" panose="02040503050406030204" pitchFamily="18" charset="0"/>
                              </a:rPr>
                              <m:t>&lt;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75</m:t>
                            </m:r>
                          </m:e>
                        </m:eqArr>
                      </m:e>
                    </m:d>
                  </m:oMath>
                </a14:m>
                <a:endParaRPr lang="en-US" altLang="zh-CN" sz="2000" b="0" i="1">
                  <a:latin typeface="Cambria Math" panose="02040503050406030204" pitchFamily="18" charset="0"/>
                  <a:ea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dirty="0">
                    <a:solidFill>
                      <a:schemeClr val="tx1"/>
                    </a:solidFill>
                    <a:latin typeface="Times New Roman" panose="02020603050405020304" pitchFamily="18" charset="0"/>
                    <a:cs typeface="Times New Roman" panose="02020603050405020304" pitchFamily="18" charset="0"/>
                    <a:sym typeface="+mn-ea"/>
                  </a:rPr>
                  <a:t>3</a:t>
                </a:r>
                <a:r>
                  <a:rPr lang="zh-CN" altLang="en-US" sz="2000" dirty="0">
                    <a:sym typeface="+mn-ea"/>
                  </a:rPr>
                  <a:t>个纳什均衡：</a:t>
                </a:r>
                <a:endParaRPr lang="en-US" altLang="zh-CN" sz="2000" dirty="0"/>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sym typeface="+mn-ea"/>
                  </a:rPr>
                  <a:t> [(3/4</a:t>
                </a:r>
                <a:r>
                  <a:rPr lang="zh-CN" altLang="en-US" sz="2000" dirty="0">
                    <a:latin typeface="Times New Roman" panose="02020603050405020304" pitchFamily="18" charset="0"/>
                    <a:cs typeface="Times New Roman" panose="02020603050405020304" pitchFamily="18" charset="0"/>
                    <a:sym typeface="+mn-ea"/>
                  </a:rPr>
                  <a:t>时装，</a:t>
                </a:r>
                <a:r>
                  <a:rPr lang="en-US" altLang="zh-CN" sz="2000" dirty="0">
                    <a:latin typeface="Times New Roman" panose="02020603050405020304" pitchFamily="18" charset="0"/>
                    <a:cs typeface="Times New Roman" panose="02020603050405020304" pitchFamily="18" charset="0"/>
                    <a:sym typeface="+mn-ea"/>
                  </a:rPr>
                  <a:t>1/4</a:t>
                </a:r>
                <a:r>
                  <a:rPr lang="zh-CN" altLang="en-US" sz="2000" dirty="0">
                    <a:latin typeface="Times New Roman" panose="02020603050405020304" pitchFamily="18" charset="0"/>
                    <a:cs typeface="Times New Roman" panose="02020603050405020304" pitchFamily="18" charset="0"/>
                    <a:sym typeface="+mn-ea"/>
                  </a:rPr>
                  <a:t>足球</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(1/3</a:t>
                </a:r>
                <a:r>
                  <a:rPr lang="zh-CN" altLang="en-US" sz="2000" dirty="0">
                    <a:latin typeface="Times New Roman" panose="02020603050405020304" pitchFamily="18" charset="0"/>
                    <a:cs typeface="Times New Roman" panose="02020603050405020304" pitchFamily="18" charset="0"/>
                    <a:sym typeface="+mn-ea"/>
                  </a:rPr>
                  <a:t>时装，</a:t>
                </a:r>
                <a:r>
                  <a:rPr lang="en-US" altLang="zh-CN" sz="2000" dirty="0">
                    <a:latin typeface="Times New Roman" panose="02020603050405020304" pitchFamily="18" charset="0"/>
                    <a:cs typeface="Times New Roman" panose="02020603050405020304" pitchFamily="18" charset="0"/>
                    <a:sym typeface="+mn-ea"/>
                  </a:rPr>
                  <a:t>2/3</a:t>
                </a:r>
                <a:r>
                  <a:rPr lang="zh-CN" altLang="en-US" sz="2000" dirty="0">
                    <a:latin typeface="Times New Roman" panose="02020603050405020304" pitchFamily="18" charset="0"/>
                    <a:cs typeface="Times New Roman" panose="02020603050405020304" pitchFamily="18" charset="0"/>
                    <a:sym typeface="+mn-ea"/>
                  </a:rPr>
                  <a:t>足球</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sym typeface="+mn-ea"/>
                </a:endParaRP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时装，时装</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sym typeface="+mn-ea"/>
                </a:endParaRP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足球，足球</a:t>
                </a:r>
                <a:r>
                  <a:rPr lang="en-US" altLang="zh-CN" sz="2000" dirty="0">
                    <a:latin typeface="Times New Roman" panose="02020603050405020304" pitchFamily="18" charset="0"/>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7" name="Title 6"/>
              <p:cNvSpPr txBox="1">
                <a:spLocks noRot="1" noChangeAspect="1" noMove="1" noResize="1" noEditPoints="1" noAdjustHandles="1" noChangeArrowheads="1" noChangeShapeType="1" noTextEdit="1"/>
              </p:cNvSpPr>
              <p:nvPr>
                <p:custDataLst>
                  <p:tags r:id="rId4"/>
                </p:custDataLst>
              </p:nvPr>
            </p:nvSpPr>
            <p:spPr>
              <a:xfrm>
                <a:off x="983615" y="1196975"/>
                <a:ext cx="5855970" cy="4147185"/>
              </a:xfrm>
              <a:prstGeom prst="rect">
                <a:avLst/>
              </a:prstGeom>
              <a:blipFill rotWithShape="1">
                <a:blip r:embed="rId5"/>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7"/>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pic>
        <p:nvPicPr>
          <p:cNvPr id="3" name="图片 2"/>
          <p:cNvPicPr>
            <a:picLocks noChangeAspect="1"/>
          </p:cNvPicPr>
          <p:nvPr/>
        </p:nvPicPr>
        <p:blipFill>
          <a:blip r:embed="rId8"/>
          <a:stretch>
            <a:fillRect/>
          </a:stretch>
        </p:blipFill>
        <p:spPr>
          <a:xfrm>
            <a:off x="6527800" y="1557020"/>
            <a:ext cx="4872990" cy="3708400"/>
          </a:xfrm>
          <a:prstGeom prst="rect">
            <a:avLst/>
          </a:prstGeom>
        </p:spPr>
      </p:pic>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2"/>
            </p:custDataLst>
          </p:nvPr>
        </p:nvSpPr>
        <p:spPr>
          <a:xfrm>
            <a:off x="801458" y="908830"/>
            <a:ext cx="3350038" cy="1535199"/>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同学自己做下面两个博弈</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制式问题</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3"/>
            </p:custDataLst>
          </p:nvPr>
        </p:nvGraphicFramePr>
        <p:xfrm>
          <a:off x="3935730" y="1196975"/>
          <a:ext cx="5758815" cy="2577465"/>
        </p:xfrm>
        <a:graphic>
          <a:graphicData uri="http://schemas.openxmlformats.org/drawingml/2006/table">
            <a:tbl>
              <a:tblPr firstRow="1" bandRow="1">
                <a:tableStyleId>{2D5ABB26-0587-4C30-8999-92F81FD0307C}</a:tableStyleId>
              </a:tblPr>
              <a:tblGrid>
                <a:gridCol w="1290320"/>
                <a:gridCol w="1471295"/>
                <a:gridCol w="1535430"/>
                <a:gridCol w="1461770"/>
              </a:tblGrid>
              <a:tr h="6521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040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aphicFrame>
        <p:nvGraphicFramePr>
          <p:cNvPr id="2" name="表格 1"/>
          <p:cNvGraphicFramePr>
            <a:graphicFrameLocks noGrp="1"/>
          </p:cNvGraphicFramePr>
          <p:nvPr>
            <p:custDataLst>
              <p:tags r:id="rId4"/>
            </p:custDataLst>
          </p:nvPr>
        </p:nvGraphicFramePr>
        <p:xfrm>
          <a:off x="3980180" y="3937635"/>
          <a:ext cx="5725160" cy="2737485"/>
        </p:xfrm>
        <a:graphic>
          <a:graphicData uri="http://schemas.openxmlformats.org/drawingml/2006/table">
            <a:tbl>
              <a:tblPr firstRow="1" bandRow="1">
                <a:tableStyleId>{2D5ABB26-0587-4C30-8999-92F81FD0307C}</a:tableStyleId>
              </a:tblPr>
              <a:tblGrid>
                <a:gridCol w="1282700"/>
                <a:gridCol w="1462405"/>
                <a:gridCol w="1526540"/>
                <a:gridCol w="1453515"/>
              </a:tblGrid>
              <a:tr h="7029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71247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6040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6167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不进</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5" name="Title 6"/>
          <p:cNvSpPr txBox="1"/>
          <p:nvPr>
            <p:custDataLst>
              <p:tags r:id="rId5"/>
            </p:custDataLst>
          </p:nvPr>
        </p:nvSpPr>
        <p:spPr>
          <a:xfrm>
            <a:off x="839470" y="4790440"/>
            <a:ext cx="3350260" cy="461645"/>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市场机会</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custDataLst>
              <p:tags r:id="rId7"/>
            </p:custDataLst>
          </p:nvPr>
        </p:nvSpPr>
        <p:spPr>
          <a:xfrm>
            <a:off x="76708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混合策略纳什均衡的求解：</a:t>
            </a:r>
            <a:r>
              <a:rPr lang="zh-CN" altLang="en-US" sz="2800" dirty="0">
                <a:solidFill>
                  <a:schemeClr val="accent1"/>
                </a:solidFill>
                <a:sym typeface="+mn-ea"/>
              </a:rPr>
              <a:t>反应函数</a:t>
            </a:r>
            <a:endParaRPr lang="zh-CN" altLang="en-US" sz="2800" dirty="0">
              <a:solidFill>
                <a:schemeClr val="accent1"/>
              </a:solidFill>
              <a:sym typeface="+mn-ea"/>
            </a:endParaRPr>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7" name="直接连接符 16"/>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6"/>
          <p:cNvSpPr txBox="1"/>
          <p:nvPr>
            <p:custDataLst>
              <p:tags r:id="rId2"/>
            </p:custDataLst>
          </p:nvPr>
        </p:nvSpPr>
        <p:spPr>
          <a:xfrm>
            <a:off x="839470" y="908685"/>
            <a:ext cx="9630410" cy="32004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包括混合策略的情况下，严格下策反复消去法的结论仍然成立。</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任何博弈方都不会采取任何</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严格下策</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，不论是</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纯策略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或是</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严格下策反复消去法不会消去任何</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，包括纯策略纳什均衡和混合策略纳什均衡。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如果经过严格下策反复消去法后留下的策略组合是</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唯一</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的，那么一定是纳什均衡。</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文本框 6"/>
          <p:cNvSpPr txBox="1"/>
          <p:nvPr>
            <p:custDataLst>
              <p:tags r:id="rId4"/>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混合策略和严格下策反复消去法</a:t>
            </a:r>
            <a:endParaRPr lang="zh-CN" altLang="en-US" sz="3200" dirty="0">
              <a:solidFill>
                <a:schemeClr val="accent1"/>
              </a:solidFill>
              <a:sym typeface="+mn-ea"/>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7" name="直接连接符 16"/>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itle 6"/>
          <p:cNvSpPr txBox="1"/>
          <p:nvPr>
            <p:custDataLst>
              <p:tags r:id="rId2"/>
            </p:custDataLst>
          </p:nvPr>
        </p:nvSpPr>
        <p:spPr>
          <a:xfrm>
            <a:off x="533400" y="836295"/>
            <a:ext cx="6476365" cy="40913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50000"/>
              </a:lnSpc>
              <a:spcBef>
                <a:spcPts val="1000"/>
              </a:spcBef>
              <a:spcAft>
                <a:spcPts val="0"/>
              </a:spcAft>
              <a:buSzPct val="100000"/>
              <a:buFont typeface="Wingdings" panose="05000000000000000000" charset="0"/>
              <a:buChar char="l"/>
            </a:pPr>
            <a:r>
              <a:rPr lang="zh-CN" altLang="en-US" sz="2000">
                <a:sym typeface="+mn-ea"/>
              </a:rPr>
              <a:t>设博弈方1采取如下的混合策略：以概率分布(1/2，1/2，0)随机选择U、M、D，即各一半机会选U、M，不选D</a:t>
            </a:r>
            <a:endParaRPr altLang="el-GR" sz="200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just" fontAlgn="ctr">
              <a:lnSpc>
                <a:spcPct val="150000"/>
              </a:lnSpc>
              <a:spcBef>
                <a:spcPts val="1000"/>
              </a:spcBef>
              <a:spcAft>
                <a:spcPts val="0"/>
              </a:spcAft>
              <a:buSzPct val="100000"/>
              <a:buFont typeface="Wingdings" panose="05000000000000000000" charset="0"/>
              <a:buChar char="l"/>
            </a:pPr>
            <a:r>
              <a:rPr altLang="el-GR"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el-GR" altLang="zh-CN" sz="24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2400" baseline="-25000">
                <a:latin typeface="Times New Roman" panose="02020603050405020304" pitchFamily="18" charset="0"/>
                <a:ea typeface="宋体" panose="02010600030101010101" pitchFamily="2" charset="-122"/>
                <a:cs typeface="Times New Roman" panose="02020603050405020304" pitchFamily="18" charset="0"/>
                <a:sym typeface="+mn-ea"/>
              </a:rPr>
              <a:t>0.5</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U</a:t>
            </a:r>
            <a:r>
              <a:rPr lang="zh-CN" alt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baseline="-25000">
                <a:latin typeface="Times New Roman" panose="02020603050405020304" pitchFamily="18" charset="0"/>
                <a:ea typeface="宋体" panose="02010600030101010101" pitchFamily="2" charset="-122"/>
                <a:cs typeface="Times New Roman" panose="02020603050405020304" pitchFamily="18" charset="0"/>
                <a:sym typeface="+mn-ea"/>
              </a:rPr>
              <a:t>0.5</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M</a:t>
            </a:r>
            <a:r>
              <a:rPr lang="zh-CN" altLang="en-US" sz="2400" i="1" baseline="-25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L</a:t>
            </a:r>
            <a:r>
              <a:rPr lang="zh-CN" altLang="en-US" sz="2400">
                <a:latin typeface="宋体" panose="02010600030101010101" pitchFamily="2" charset="-122"/>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0.5×3</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0.5×0</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400">
                <a:latin typeface="宋体" panose="02010600030101010101" pitchFamily="2" charset="-122"/>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lang="el-GR" altLang="zh-CN" sz="24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D</a:t>
            </a:r>
            <a:r>
              <a:rPr lang="zh-CN" altLang="en-US" sz="2400" i="1" baseline="-25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L</a:t>
            </a:r>
            <a:endPar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buNone/>
            </a:pPr>
            <a:r>
              <a:rPr lang="zh-CN" altLang="en-US" sz="2400">
                <a:cs typeface="Times New Roman" panose="02020603050405020304" pitchFamily="18" charset="0"/>
                <a:sym typeface="+mn-ea"/>
              </a:rPr>
              <a:t>  </a:t>
            </a:r>
            <a:r>
              <a:rPr altLang="zh-CN" sz="2400">
                <a:cs typeface="Times New Roman" panose="02020603050405020304" pitchFamily="18" charset="0"/>
                <a:sym typeface="+mn-ea"/>
              </a:rPr>
              <a:t>      </a:t>
            </a:r>
            <a:r>
              <a:rPr lang="el-GR" altLang="zh-CN" sz="24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2400" baseline="-25000">
                <a:latin typeface="Times New Roman" panose="02020603050405020304" pitchFamily="18" charset="0"/>
                <a:ea typeface="宋体" panose="02010600030101010101" pitchFamily="2" charset="-122"/>
                <a:cs typeface="Times New Roman" panose="02020603050405020304" pitchFamily="18" charset="0"/>
                <a:sym typeface="+mn-ea"/>
              </a:rPr>
              <a:t>0.5</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U</a:t>
            </a:r>
            <a:r>
              <a:rPr lang="zh-CN" altLang="en-US" sz="2400" baseline="-25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baseline="-25000">
                <a:latin typeface="Times New Roman" panose="02020603050405020304" pitchFamily="18" charset="0"/>
                <a:ea typeface="宋体" panose="02010600030101010101" pitchFamily="2" charset="-122"/>
                <a:cs typeface="Times New Roman" panose="02020603050405020304" pitchFamily="18" charset="0"/>
                <a:sym typeface="+mn-ea"/>
              </a:rPr>
              <a:t>0.5</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M</a:t>
            </a:r>
            <a:r>
              <a:rPr lang="zh-CN" altLang="en-US" sz="2400" i="1" baseline="-25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R</a:t>
            </a:r>
            <a:r>
              <a:rPr lang="zh-CN" altLang="en-US" sz="2400">
                <a:latin typeface="宋体" panose="02010600030101010101" pitchFamily="2" charset="-122"/>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0.5×0</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0.5×3</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400">
                <a:latin typeface="宋体" panose="02010600030101010101" pitchFamily="2" charset="-122"/>
                <a:ea typeface="宋体" panose="02010600030101010101" pitchFamily="2" charset="-122"/>
                <a:cs typeface="Times New Roman" panose="02020603050405020304" pitchFamily="18" charset="0"/>
                <a:sym typeface="+mn-ea"/>
              </a:rPr>
              <a:t>＞</a:t>
            </a:r>
            <a:r>
              <a:rPr altLang="zh-CN" sz="240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a:t>
            </a:r>
            <a:r>
              <a:rPr lang="el-GR" altLang="zh-CN" sz="24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D</a:t>
            </a:r>
            <a:r>
              <a:rPr lang="zh-CN" altLang="en-US" sz="2400" i="1" baseline="-25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400" i="1" baseline="-25000">
                <a:latin typeface="Times New Roman" panose="02020603050405020304" pitchFamily="18" charset="0"/>
                <a:ea typeface="宋体" panose="02010600030101010101" pitchFamily="2" charset="-122"/>
                <a:cs typeface="Times New Roman" panose="02020603050405020304" pitchFamily="18" charset="0"/>
                <a:sym typeface="+mn-ea"/>
              </a:rPr>
              <a:t>R</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50000"/>
              </a:lnSpc>
              <a:spcBef>
                <a:spcPts val="1000"/>
              </a:spcBef>
              <a:spcAft>
                <a:spcPts val="0"/>
              </a:spcAft>
              <a:buSzPct val="100000"/>
              <a:buFont typeface="Wingdings" panose="05000000000000000000" charset="0"/>
            </a:pPr>
            <a:r>
              <a:rPr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∴D为下策，消去。 </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0" name="表格 19"/>
          <p:cNvGraphicFramePr>
            <a:graphicFrameLocks noGrp="1"/>
          </p:cNvGraphicFramePr>
          <p:nvPr>
            <p:custDataLst>
              <p:tags r:id="rId3"/>
            </p:custDataLst>
          </p:nvPr>
        </p:nvGraphicFramePr>
        <p:xfrm>
          <a:off x="6312727" y="3140846"/>
          <a:ext cx="4531360" cy="3313430"/>
        </p:xfrm>
        <a:graphic>
          <a:graphicData uri="http://schemas.openxmlformats.org/drawingml/2006/table">
            <a:tbl>
              <a:tblPr firstRow="1" bandRow="1">
                <a:tableStyleId>{2D5ABB26-0587-4C30-8999-92F81FD0307C}</a:tableStyleId>
              </a:tblPr>
              <a:tblGrid>
                <a:gridCol w="744220"/>
                <a:gridCol w="744220"/>
                <a:gridCol w="1539240"/>
                <a:gridCol w="1503680"/>
              </a:tblGrid>
              <a:tr h="787400">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noFill/>
                  </a:tcPr>
                </a:tc>
                <a:tc>
                  <a:txBody>
                    <a:bodyPr/>
                    <a:lstStyle/>
                    <a:p>
                      <a:pPr indent="0" algn="ctr">
                        <a:lnSpc>
                          <a:spcPct val="120000"/>
                        </a:lnSpc>
                        <a:spcBef>
                          <a:spcPts val="0"/>
                        </a:spcBef>
                        <a:spcAft>
                          <a:spcPts val="0"/>
                        </a:spcAft>
                      </a:pP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noFill/>
                  </a:tcPr>
                </a:tc>
                <a:tc gridSpan="2">
                  <a:txBody>
                    <a:bodyPr/>
                    <a:lstStyle/>
                    <a:p>
                      <a:pPr indent="0" algn="ctr">
                        <a:lnSpc>
                          <a:spcPct val="120000"/>
                        </a:lnSpc>
                        <a:spcBef>
                          <a:spcPts val="0"/>
                        </a:spcBef>
                        <a:spcAft>
                          <a:spcPts val="0"/>
                        </a:spcAft>
                      </a:pPr>
                      <a:r>
                        <a:rPr lang="zh-CN" altLang="en-US" sz="1800" b="1" spc="130">
                          <a:solidFill>
                            <a:srgbClr val="5BA080"/>
                          </a:solidFill>
                          <a:latin typeface="微软雅黑" panose="020B0503020204020204" pitchFamily="34" charset="-122"/>
                          <a:ea typeface="微软雅黑" panose="020B0503020204020204" pitchFamily="34" charset="-122"/>
                        </a:rPr>
                        <a:t>博弈方</a:t>
                      </a:r>
                      <a:r>
                        <a:rPr lang="en-US" altLang="zh-CN" sz="1800" b="1" spc="130">
                          <a:solidFill>
                            <a:srgbClr val="5BA080"/>
                          </a:solidFill>
                          <a:latin typeface="微软雅黑" panose="020B0503020204020204" pitchFamily="34" charset="-122"/>
                          <a:ea typeface="微软雅黑" panose="020B0503020204020204" pitchFamily="34" charset="-122"/>
                        </a:rPr>
                        <a:t>2</a:t>
                      </a:r>
                      <a:endParaRPr lang="en-US" altLang="zh-CN" sz="1800" b="1" spc="130">
                        <a:solidFill>
                          <a:srgbClr val="5BA080"/>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noFill/>
                  </a:tcPr>
                </a:tc>
                <a:tc hMerge="1">
                  <a:tcPr>
                    <a:lnR>
                      <a:noFill/>
                    </a:lnR>
                    <a:lnT>
                      <a:noFill/>
                    </a:lnT>
                    <a:lnB>
                      <a:noFill/>
                    </a:lnB>
                  </a:tcPr>
                </a:tc>
              </a:tr>
              <a:tr h="786765">
                <a:tc>
                  <a:txBody>
                    <a:bodyPr/>
                    <a:lstStyle/>
                    <a:p>
                      <a:pPr indent="0" algn="ctr">
                        <a:lnSpc>
                          <a:spcPct val="120000"/>
                        </a:lnSpc>
                        <a:spcBef>
                          <a:spcPts val="0"/>
                        </a:spcBef>
                        <a:spcAft>
                          <a:spcPts val="0"/>
                        </a:spcAft>
                      </a:pPr>
                      <a:endParaRPr lang="zh-CN" altLang="en-US" sz="1800" b="1" spc="130">
                        <a:solidFill>
                          <a:srgbClr val="577CCE"/>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noFill/>
                  </a:tcPr>
                </a:tc>
                <a:tc>
                  <a:txBody>
                    <a:bodyPr/>
                    <a:lstStyle/>
                    <a:p>
                      <a:pPr indent="0" algn="ctr">
                        <a:lnSpc>
                          <a:spcPct val="120000"/>
                        </a:lnSpc>
                        <a:spcBef>
                          <a:spcPts val="0"/>
                        </a:spcBef>
                        <a:spcAft>
                          <a:spcPts val="0"/>
                        </a:spcAft>
                      </a:pPr>
                      <a:endParaRPr lang="zh-CN" altLang="en-US" sz="1800" b="1" spc="130">
                        <a:solidFill>
                          <a:srgbClr val="5999AF"/>
                        </a:solidFill>
                        <a:latin typeface="微软雅黑" panose="020B0503020204020204" pitchFamily="34" charset="-122"/>
                        <a:ea typeface="微软雅黑" panose="020B0503020204020204" pitchFamily="34" charset="-122"/>
                      </a:endParaRPr>
                    </a:p>
                  </a:txBody>
                  <a:tcPr marL="177800" marR="177800" marT="107950" marB="107950" anchor="ctr">
                    <a:lnL>
                      <a:noFill/>
                    </a:lnL>
                    <a:lnR>
                      <a:noFill/>
                    </a:lnR>
                    <a:lnT>
                      <a:noFill/>
                    </a:lnT>
                    <a:lnB>
                      <a:noFill/>
                    </a:lnB>
                    <a:noFill/>
                  </a:tcPr>
                </a:tc>
                <a:tc>
                  <a:txBody>
                    <a:bodyPr/>
                    <a:lstStyle/>
                    <a:p>
                      <a:pPr indent="0" algn="ctr" defTabSz="914400" rtl="0" eaLnBrk="1" latinLnBrk="0" hangingPunct="1">
                        <a:lnSpc>
                          <a:spcPct val="120000"/>
                        </a:lnSpc>
                        <a:spcBef>
                          <a:spcPts val="0"/>
                        </a:spcBef>
                        <a:spcAft>
                          <a:spcPts val="0"/>
                        </a:spcAft>
                      </a:pPr>
                      <a:r>
                        <a:rPr lang="en-US" altLang="zh-CN" sz="1800" b="1" spc="130">
                          <a:solidFill>
                            <a:srgbClr val="5BA080"/>
                          </a:solidFill>
                          <a:latin typeface="微软雅黑" panose="020B0503020204020204" pitchFamily="34" charset="-122"/>
                          <a:ea typeface="微软雅黑" panose="020B0503020204020204" pitchFamily="34" charset="-122"/>
                        </a:rPr>
                        <a:t>L</a:t>
                      </a:r>
                      <a:endParaRPr lang="en-US" altLang="zh-CN" sz="1800" b="1" spc="130">
                        <a:solidFill>
                          <a:srgbClr val="5BA080"/>
                        </a:solidFill>
                        <a:latin typeface="微软雅黑" panose="020B0503020204020204" pitchFamily="34" charset="-122"/>
                        <a:ea typeface="微软雅黑" panose="020B0503020204020204" pitchFamily="34" charset="-122"/>
                      </a:endParaRPr>
                    </a:p>
                  </a:txBody>
                  <a:tcPr marL="177800" marR="177800" marT="107950" marB="107950" anchor="ctr">
                    <a:lnL>
                      <a:noFill/>
                    </a:lnL>
                    <a:lnR w="6350">
                      <a:solidFill>
                        <a:srgbClr val="FFFFFF"/>
                      </a:solidFill>
                      <a:prstDash val="solid"/>
                    </a:lnR>
                    <a:lnT>
                      <a:noFill/>
                    </a:lnT>
                    <a:lnB w="12700">
                      <a:solidFill>
                        <a:schemeClr val="tx1"/>
                      </a:solidFill>
                      <a:prstDash val="solid"/>
                    </a:lnB>
                    <a:noFill/>
                  </a:tcPr>
                </a:tc>
                <a:tc>
                  <a:txBody>
                    <a:bodyPr/>
                    <a:lstStyle/>
                    <a:p>
                      <a:pPr indent="0" algn="ctr" defTabSz="914400" rtl="0" eaLnBrk="1" latinLnBrk="0" hangingPunct="1">
                        <a:lnSpc>
                          <a:spcPct val="120000"/>
                        </a:lnSpc>
                        <a:spcBef>
                          <a:spcPts val="0"/>
                        </a:spcBef>
                        <a:spcAft>
                          <a:spcPts val="0"/>
                        </a:spcAft>
                      </a:pPr>
                      <a:r>
                        <a:rPr lang="en-US" altLang="zh-CN" sz="1800" b="1" spc="130">
                          <a:solidFill>
                            <a:srgbClr val="5BA080"/>
                          </a:solidFill>
                          <a:latin typeface="微软雅黑" panose="020B0503020204020204" pitchFamily="34" charset="-122"/>
                          <a:ea typeface="微软雅黑" panose="020B0503020204020204" pitchFamily="34" charset="-122"/>
                        </a:rPr>
                        <a:t>R</a:t>
                      </a:r>
                      <a:endParaRPr lang="en-US" altLang="zh-CN" sz="1800" b="1" spc="130">
                        <a:solidFill>
                          <a:srgbClr val="5BA080"/>
                        </a:solidFill>
                        <a:latin typeface="微软雅黑" panose="020B0503020204020204" pitchFamily="34" charset="-122"/>
                        <a:ea typeface="微软雅黑" panose="020B0503020204020204" pitchFamily="34" charset="-122"/>
                      </a:endParaRPr>
                    </a:p>
                  </a:txBody>
                  <a:tcPr marL="177800" marR="177800" marT="107950" marB="107950" anchor="ctr">
                    <a:lnL w="6350">
                      <a:solidFill>
                        <a:srgbClr val="FFFFFF"/>
                      </a:solidFill>
                      <a:prstDash val="solid"/>
                    </a:lnL>
                    <a:lnR>
                      <a:noFill/>
                    </a:lnR>
                    <a:lnT>
                      <a:noFill/>
                    </a:lnT>
                    <a:lnB w="12700">
                      <a:solidFill>
                        <a:schemeClr val="tx1"/>
                      </a:solidFill>
                      <a:prstDash val="solid"/>
                    </a:lnB>
                    <a:noFill/>
                  </a:tcPr>
                </a:tc>
              </a:tr>
              <a:tr h="649605">
                <a:tc rowSpan="3">
                  <a:txBody>
                    <a:bodyPr/>
                    <a:lstStyle/>
                    <a:p>
                      <a:pPr indent="0" algn="ctr">
                        <a:lnSpc>
                          <a:spcPct val="120000"/>
                        </a:lnSpc>
                        <a:spcBef>
                          <a:spcPts val="0"/>
                        </a:spcBef>
                        <a:spcAft>
                          <a:spcPts val="0"/>
                        </a:spcAft>
                      </a:pPr>
                      <a:r>
                        <a:rPr lang="zh-CN" altLang="en-US" sz="1800" b="1" spc="130">
                          <a:solidFill>
                            <a:srgbClr val="5BA080"/>
                          </a:solidFill>
                          <a:latin typeface="微软雅黑" panose="020B0503020204020204" pitchFamily="34" charset="-122"/>
                          <a:ea typeface="微软雅黑" panose="020B0503020204020204" pitchFamily="34" charset="-122"/>
                        </a:rPr>
                        <a:t>博弈方</a:t>
                      </a:r>
                      <a:r>
                        <a:rPr lang="en-US" altLang="zh-CN" sz="1800" b="1" spc="130">
                          <a:solidFill>
                            <a:srgbClr val="5BA080"/>
                          </a:solidFill>
                          <a:latin typeface="微软雅黑" panose="020B0503020204020204" pitchFamily="34" charset="-122"/>
                          <a:ea typeface="微软雅黑" panose="020B0503020204020204" pitchFamily="34" charset="-122"/>
                        </a:rPr>
                        <a:t>1</a:t>
                      </a:r>
                      <a:endParaRPr lang="en-US" altLang="zh-CN" sz="1800" b="1" spc="130">
                        <a:solidFill>
                          <a:srgbClr val="5BA080"/>
                        </a:solidFill>
                        <a:latin typeface="微软雅黑" panose="020B0503020204020204" pitchFamily="34" charset="-122"/>
                        <a:ea typeface="微软雅黑" panose="020B0503020204020204" pitchFamily="34" charset="-122"/>
                      </a:endParaRPr>
                    </a:p>
                  </a:txBody>
                  <a:tcPr marL="177800" marR="177800" marT="107950" marB="107950" vert="eaVert" anchor="ctr">
                    <a:lnL>
                      <a:noFill/>
                    </a:lnL>
                    <a:lnR>
                      <a:noFill/>
                    </a:lnR>
                    <a:lnT>
                      <a:noFill/>
                    </a:lnT>
                    <a:lnB>
                      <a:noFill/>
                    </a:lnB>
                    <a:solidFill>
                      <a:srgbClr val="FFFFFF"/>
                    </a:solidFill>
                  </a:tcPr>
                </a:tc>
                <a:tc>
                  <a:txBody>
                    <a:bodyPr/>
                    <a:lstStyle/>
                    <a:p>
                      <a:pPr indent="0" algn="l">
                        <a:lnSpc>
                          <a:spcPct val="120000"/>
                        </a:lnSpc>
                        <a:spcBef>
                          <a:spcPts val="0"/>
                        </a:spcBef>
                        <a:spcAft>
                          <a:spcPts val="0"/>
                        </a:spcAft>
                      </a:pPr>
                      <a:r>
                        <a:rPr lang="en-US" altLang="zh-CN" sz="1800" b="1" spc="130">
                          <a:solidFill>
                            <a:srgbClr val="5BA080"/>
                          </a:solidFill>
                          <a:latin typeface="微软雅黑" panose="020B0503020204020204" pitchFamily="34" charset="-122"/>
                          <a:ea typeface="微软雅黑" panose="020B0503020204020204" pitchFamily="34" charset="-122"/>
                        </a:rPr>
                        <a:t>U</a:t>
                      </a:r>
                      <a:endParaRPr lang="en-US" altLang="zh-CN"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2700">
                      <a:solidFill>
                        <a:schemeClr val="tx1"/>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6350">
                      <a:solidFill>
                        <a:srgbClr val="D9D9D9"/>
                      </a:solidFill>
                      <a:prstDash val="solid"/>
                    </a:lnL>
                    <a:lnR w="12700">
                      <a:solidFill>
                        <a:schemeClr val="tx1"/>
                      </a:solidFill>
                      <a:prstDash val="solid"/>
                    </a:lnR>
                    <a:lnT w="12700">
                      <a:solidFill>
                        <a:schemeClr val="tx1"/>
                      </a:solidFill>
                      <a:prstDash val="solid"/>
                    </a:lnT>
                    <a:lnB w="6350">
                      <a:solidFill>
                        <a:srgbClr val="D9D9D9"/>
                      </a:solidFill>
                      <a:prstDash val="solid"/>
                    </a:lnB>
                    <a:solidFill>
                      <a:srgbClr val="FFFFFF"/>
                    </a:solidFill>
                  </a:tcPr>
                </a:tc>
              </a:tr>
              <a:tr h="543560">
                <a:tc vMerge="1">
                  <a:tcPr>
                    <a:lnL>
                      <a:noFill/>
                    </a:lnL>
                    <a:lnR>
                      <a:noFill/>
                    </a:lnR>
                  </a:tcPr>
                </a:tc>
                <a:tc>
                  <a:txBody>
                    <a:bodyPr/>
                    <a:lstStyle/>
                    <a:p>
                      <a:pPr indent="0" algn="l" defTabSz="914400" rtl="0" eaLnBrk="1" latinLnBrk="0" hangingPunct="1">
                        <a:lnSpc>
                          <a:spcPct val="120000"/>
                        </a:lnSpc>
                        <a:spcBef>
                          <a:spcPts val="0"/>
                        </a:spcBef>
                        <a:spcAft>
                          <a:spcPts val="0"/>
                        </a:spcAft>
                      </a:pPr>
                      <a:r>
                        <a:rPr lang="en-US" altLang="zh-CN" sz="1800" b="1" spc="130">
                          <a:solidFill>
                            <a:srgbClr val="5BA080"/>
                          </a:solidFill>
                          <a:latin typeface="微软雅黑" panose="020B0503020204020204" pitchFamily="34" charset="-122"/>
                          <a:ea typeface="微软雅黑" panose="020B0503020204020204" pitchFamily="34" charset="-122"/>
                        </a:rPr>
                        <a:t>M</a:t>
                      </a:r>
                      <a:endParaRPr lang="en-US" altLang="zh-CN"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32765">
                <a:tc vMerge="1">
                  <a:tcPr>
                    <a:lnL>
                      <a:noFill/>
                    </a:lnL>
                    <a:lnR>
                      <a:noFill/>
                    </a:lnR>
                    <a:lnB>
                      <a:noFill/>
                    </a:lnB>
                  </a:tcPr>
                </a:tc>
                <a:tc>
                  <a:txBody>
                    <a:bodyPr/>
                    <a:lstStyle/>
                    <a:p>
                      <a:pPr indent="0" algn="l" defTabSz="914400" rtl="0" eaLnBrk="1" latinLnBrk="0" hangingPunct="1">
                        <a:lnSpc>
                          <a:spcPct val="120000"/>
                        </a:lnSpc>
                        <a:spcBef>
                          <a:spcPts val="0"/>
                        </a:spcBef>
                        <a:spcAft>
                          <a:spcPts val="0"/>
                        </a:spcAft>
                      </a:pPr>
                      <a:r>
                        <a:rPr lang="en-US" altLang="zh-CN" sz="1800" b="1" spc="130">
                          <a:solidFill>
                            <a:srgbClr val="5BA080"/>
                          </a:solidFill>
                          <a:latin typeface="微软雅黑" panose="020B0503020204020204" pitchFamily="34" charset="-122"/>
                          <a:ea typeface="微软雅黑" panose="020B0503020204020204" pitchFamily="34" charset="-122"/>
                        </a:rPr>
                        <a:t>D</a:t>
                      </a:r>
                      <a:endParaRPr lang="en-US" altLang="zh-CN"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2700">
                      <a:solidFill>
                        <a:schemeClr val="tx1"/>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lstStyle/>
                    <a:p>
                      <a:pPr indent="0" algn="l">
                        <a:lnSpc>
                          <a:spcPct val="120000"/>
                        </a:lnSpc>
                        <a:spcBef>
                          <a:spcPts val="0"/>
                        </a:spcBef>
                        <a:spcAft>
                          <a:spcPts val="0"/>
                        </a:spcAft>
                      </a:pP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6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6350">
                      <a:solidFill>
                        <a:srgbClr val="D9D9D9"/>
                      </a:solidFill>
                      <a:prstDash val="solid"/>
                    </a:lnL>
                    <a:lnR w="12700">
                      <a:solidFill>
                        <a:schemeClr val="tx1"/>
                      </a:solidFill>
                      <a:prstDash val="solid"/>
                    </a:lnR>
                    <a:lnT w="6350">
                      <a:solidFill>
                        <a:srgbClr val="D9D9D9"/>
                      </a:solidFill>
                      <a:prstDash val="solid"/>
                    </a:lnT>
                    <a:lnB w="19050">
                      <a:solidFill>
                        <a:srgbClr val="595959"/>
                      </a:solidFill>
                      <a:prstDash val="solid"/>
                    </a:lnB>
                    <a:solidFill>
                      <a:srgbClr val="FFFFFF"/>
                    </a:solidFill>
                  </a:tcPr>
                </a:tc>
              </a:tr>
            </a:tbl>
          </a:graphicData>
        </a:graphic>
      </p:graphicFrame>
      <p:cxnSp>
        <p:nvCxnSpPr>
          <p:cNvPr id="6" name="直接连接符 5"/>
          <p:cNvCxnSpPr/>
          <p:nvPr/>
        </p:nvCxnSpPr>
        <p:spPr>
          <a:xfrm>
            <a:off x="6744246" y="6165071"/>
            <a:ext cx="4464685" cy="0"/>
          </a:xfrm>
          <a:prstGeom prst="line">
            <a:avLst/>
          </a:prstGeom>
          <a:ln w="28575"/>
        </p:spPr>
        <p:style>
          <a:lnRef idx="1">
            <a:schemeClr val="accent5"/>
          </a:lnRef>
          <a:fillRef idx="0">
            <a:schemeClr val="accent5"/>
          </a:fillRef>
          <a:effectRef idx="0">
            <a:schemeClr val="accent5"/>
          </a:effectRef>
          <a:fontRef idx="minor">
            <a:schemeClr val="tx1"/>
          </a:fontRef>
        </p:style>
      </p:cxnSp>
      <p:pic>
        <p:nvPicPr>
          <p:cNvPr id="3"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a:xfrm>
            <a:off x="8616315" y="6309193"/>
            <a:ext cx="2700000" cy="316800"/>
          </a:xfrm>
        </p:spPr>
        <p:txBody>
          <a:bodyPr/>
          <a:lstStyle/>
          <a:p>
            <a:fld id="{49AE70B2-8BF9-45C0-BB95-33D1B9D3A854}" type="slidenum">
              <a:rPr lang="zh-CN" altLang="en-US" smtClean="0"/>
            </a:fld>
            <a:endParaRPr lang="zh-CN" altLang="en-US"/>
          </a:p>
        </p:txBody>
      </p:sp>
      <p:sp>
        <p:nvSpPr>
          <p:cNvPr id="5" name="文本框 6"/>
          <p:cNvSpPr txBox="1"/>
          <p:nvPr>
            <p:custDataLst>
              <p:tags r:id="rId5"/>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混合策略和严格下策反复消去法</a:t>
            </a:r>
            <a:endParaRPr lang="zh-CN" altLang="en-US" sz="3200" dirty="0">
              <a:solidFill>
                <a:schemeClr val="accent1"/>
              </a:solidFill>
              <a:sym typeface="+mn-ea"/>
            </a:endParaRPr>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混合策略和严格下策反复消去法</a:t>
            </a:r>
            <a:endParaRPr lang="zh-CN" altLang="en-US" sz="3200" dirty="0">
              <a:solidFill>
                <a:schemeClr val="accent1"/>
              </a:solidFill>
              <a:sym typeface="+mn-ea"/>
            </a:endParaRPr>
          </a:p>
        </p:txBody>
      </p:sp>
      <p:cxnSp>
        <p:nvCxnSpPr>
          <p:cNvPr id="7" name="直接连接符 6"/>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内容占位符 2"/>
          <p:cNvSpPr>
            <a:spLocks noGrp="1"/>
          </p:cNvSpPr>
          <p:nvPr>
            <p:custDataLst>
              <p:tags r:id="rId3"/>
            </p:custDataLst>
          </p:nvPr>
        </p:nvSpPr>
        <p:spPr>
          <a:xfrm>
            <a:off x="1006443" y="1432640"/>
            <a:ext cx="10731752" cy="4755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a:buClrTx/>
              <a:buSzTx/>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接着消去</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l">
              <a:buClrTx/>
              <a:buSzTx/>
              <a:buNone/>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最后，得到纳什均衡为： (M，R)</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5" name="表格 14"/>
          <p:cNvGraphicFramePr>
            <a:graphicFrameLocks noGrp="1"/>
          </p:cNvGraphicFramePr>
          <p:nvPr>
            <p:custDataLst>
              <p:tags r:id="rId4"/>
            </p:custDataLst>
          </p:nvPr>
        </p:nvGraphicFramePr>
        <p:xfrm>
          <a:off x="460608" y="1998204"/>
          <a:ext cx="4207510" cy="1326515"/>
        </p:xfrm>
        <a:graphic>
          <a:graphicData uri="http://schemas.openxmlformats.org/drawingml/2006/table">
            <a:tbl>
              <a:tblPr firstRow="1" bandRow="1">
                <a:tableStyleId>{2D5ABB26-0587-4C30-8999-92F81FD0307C}</a:tableStyleId>
              </a:tblPr>
              <a:tblGrid>
                <a:gridCol w="1612265"/>
                <a:gridCol w="1343025"/>
                <a:gridCol w="1252220"/>
              </a:tblGrid>
              <a:tr h="46990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tc>
                <a:tc>
                  <a:txBody>
                    <a:bodyPr/>
                    <a:lstStyle/>
                    <a:p>
                      <a:pPr marL="0" algn="ctr" defTabSz="914400" rtl="0" eaLnBrk="1" latinLnBrk="0" hangingPunct="1">
                        <a:lnSpc>
                          <a:spcPct val="120000"/>
                        </a:lnSpc>
                        <a:spcBef>
                          <a:spcPts val="0"/>
                        </a:spcBef>
                        <a:spcAft>
                          <a:spcPts val="0"/>
                        </a:spcAft>
                      </a:pPr>
                      <a:r>
                        <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R</a:t>
                      </a:r>
                      <a:endPar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28575" cap="flat" cmpd="sng" algn="ctr">
                      <a:solidFill>
                        <a:schemeClr val="tx1"/>
                      </a:solidFill>
                      <a:prstDash val="solid"/>
                      <a:round/>
                      <a:headEnd type="none" w="med" len="med"/>
                      <a:tailEnd type="none" w="med" len="med"/>
                    </a:lnB>
                  </a:tcPr>
                </a:tc>
              </a:tr>
              <a:tr h="428625">
                <a:tc>
                  <a:txBody>
                    <a:bodyPr/>
                    <a:lstStyle/>
                    <a:p>
                      <a:pPr algn="ctr">
                        <a:lnSpc>
                          <a:spcPct val="120000"/>
                        </a:lnSpc>
                        <a:spcBef>
                          <a:spcPts val="0"/>
                        </a:spcBef>
                        <a:spcAft>
                          <a:spcPts val="0"/>
                        </a:spcAft>
                      </a:pPr>
                      <a:r>
                        <a:rPr lang="en-US" altLang="zh-CN" sz="1400" i="1" spc="120" dirty="0">
                          <a:latin typeface="微软雅黑" panose="020B0503020204020204" pitchFamily="34" charset="-122"/>
                          <a:ea typeface="微软雅黑" panose="020B0503020204020204" pitchFamily="34" charset="-122"/>
                          <a:cs typeface="Times New Roman" panose="02020603050405020304" pitchFamily="18" charset="0"/>
                        </a:rPr>
                        <a:t>U</a:t>
                      </a:r>
                      <a:endParaRPr lang="en-US" altLang="zh-CN" sz="1400" i="1" spc="120" dirty="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28575"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427990">
                <a:tc>
                  <a:txBody>
                    <a:bodyPr/>
                    <a:lstStyle/>
                    <a:p>
                      <a:pPr marL="0" algn="ctr" defTabSz="914400" rtl="0" eaLnBrk="1" latinLnBrk="0" hangingPunct="1">
                        <a:lnSpc>
                          <a:spcPct val="120000"/>
                        </a:lnSpc>
                        <a:spcBef>
                          <a:spcPts val="0"/>
                        </a:spcBef>
                        <a:spcAft>
                          <a:spcPts val="0"/>
                        </a:spcAft>
                      </a:pPr>
                      <a:r>
                        <a:rPr lang="en-US" altLang="zh-CN" sz="14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4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28575"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16" name="表格 15"/>
          <p:cNvGraphicFramePr>
            <a:graphicFrameLocks noGrp="1"/>
          </p:cNvGraphicFramePr>
          <p:nvPr>
            <p:custDataLst>
              <p:tags r:id="rId5"/>
            </p:custDataLst>
          </p:nvPr>
        </p:nvGraphicFramePr>
        <p:xfrm>
          <a:off x="7453757" y="1998204"/>
          <a:ext cx="2828925" cy="1326515"/>
        </p:xfrm>
        <a:graphic>
          <a:graphicData uri="http://schemas.openxmlformats.org/drawingml/2006/table">
            <a:tbl>
              <a:tblPr firstRow="1" bandRow="1">
                <a:tableStyleId>{2D5ABB26-0587-4C30-8999-92F81FD0307C}</a:tableStyleId>
              </a:tblPr>
              <a:tblGrid>
                <a:gridCol w="1637665"/>
                <a:gridCol w="1191260"/>
              </a:tblGrid>
              <a:tr h="46990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tc>
                <a:tc>
                  <a:txBody>
                    <a:bodyPr/>
                    <a:lstStyle/>
                    <a:p>
                      <a:pPr marL="0" algn="ctr" defTabSz="914400" rtl="0" eaLnBrk="1" latinLnBrk="0" hangingPunct="1">
                        <a:lnSpc>
                          <a:spcPct val="120000"/>
                        </a:lnSpc>
                        <a:spcBef>
                          <a:spcPts val="0"/>
                        </a:spcBef>
                        <a:spcAft>
                          <a:spcPts val="0"/>
                        </a:spcAft>
                      </a:pPr>
                      <a:r>
                        <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R</a:t>
                      </a:r>
                      <a:endPar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28575" cap="flat" cmpd="sng" algn="ctr">
                      <a:solidFill>
                        <a:schemeClr val="tx1"/>
                      </a:solidFill>
                      <a:prstDash val="solid"/>
                      <a:round/>
                      <a:headEnd type="none" w="med" len="med"/>
                      <a:tailEnd type="none" w="med" len="med"/>
                    </a:lnB>
                  </a:tcPr>
                </a:tc>
              </a:tr>
              <a:tr h="428625">
                <a:tc>
                  <a:txBody>
                    <a:bodyPr/>
                    <a:lstStyle/>
                    <a:p>
                      <a:pPr algn="ctr">
                        <a:lnSpc>
                          <a:spcPct val="120000"/>
                        </a:lnSpc>
                        <a:spcBef>
                          <a:spcPts val="0"/>
                        </a:spcBef>
                        <a:spcAft>
                          <a:spcPts val="0"/>
                        </a:spcAft>
                      </a:pPr>
                      <a:r>
                        <a:rPr lang="en-US" altLang="zh-CN" sz="1400" i="1" spc="120" dirty="0">
                          <a:latin typeface="微软雅黑" panose="020B0503020204020204" pitchFamily="34" charset="-122"/>
                          <a:ea typeface="微软雅黑" panose="020B0503020204020204" pitchFamily="34" charset="-122"/>
                          <a:cs typeface="Times New Roman" panose="02020603050405020304" pitchFamily="18" charset="0"/>
                        </a:rPr>
                        <a:t>U</a:t>
                      </a:r>
                      <a:endParaRPr lang="en-US" altLang="zh-CN" sz="1400" i="1" spc="120" dirty="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28575"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427990">
                <a:tc>
                  <a:txBody>
                    <a:bodyPr/>
                    <a:lstStyle/>
                    <a:p>
                      <a:pPr marL="0" algn="ctr" defTabSz="914400" rtl="0" eaLnBrk="1" latinLnBrk="0" hangingPunct="1">
                        <a:lnSpc>
                          <a:spcPct val="120000"/>
                        </a:lnSpc>
                        <a:spcBef>
                          <a:spcPts val="0"/>
                        </a:spcBef>
                        <a:spcAft>
                          <a:spcPts val="0"/>
                        </a:spcAft>
                      </a:pPr>
                      <a:r>
                        <a:rPr lang="en-US" altLang="zh-CN" sz="14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4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28575"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17" name="表格 16"/>
          <p:cNvGraphicFramePr>
            <a:graphicFrameLocks noGrp="1"/>
          </p:cNvGraphicFramePr>
          <p:nvPr>
            <p:custDataLst>
              <p:tags r:id="rId6"/>
            </p:custDataLst>
          </p:nvPr>
        </p:nvGraphicFramePr>
        <p:xfrm>
          <a:off x="2409848" y="4009557"/>
          <a:ext cx="2713355" cy="884555"/>
        </p:xfrm>
        <a:graphic>
          <a:graphicData uri="http://schemas.openxmlformats.org/drawingml/2006/table">
            <a:tbl>
              <a:tblPr firstRow="1" bandRow="1">
                <a:tableStyleId>{2D5ABB26-0587-4C30-8999-92F81FD0307C}</a:tableStyleId>
              </a:tblPr>
              <a:tblGrid>
                <a:gridCol w="1637665"/>
                <a:gridCol w="1075690"/>
              </a:tblGrid>
              <a:tr h="462915">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tc>
                <a:tc>
                  <a:txBody>
                    <a:bodyPr/>
                    <a:lstStyle/>
                    <a:p>
                      <a:pPr marL="0" algn="ctr" defTabSz="914400" rtl="0" eaLnBrk="1" latinLnBrk="0" hangingPunct="1">
                        <a:lnSpc>
                          <a:spcPct val="120000"/>
                        </a:lnSpc>
                        <a:spcBef>
                          <a:spcPts val="0"/>
                        </a:spcBef>
                        <a:spcAft>
                          <a:spcPts val="0"/>
                        </a:spcAft>
                      </a:pPr>
                      <a:r>
                        <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R</a:t>
                      </a:r>
                      <a:endParaRPr lang="en-US" altLang="zh-CN" sz="1600" i="1" kern="1200" spc="12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28575" cap="flat" cmpd="sng" algn="ctr">
                      <a:solidFill>
                        <a:schemeClr val="tx1"/>
                      </a:solidFill>
                      <a:prstDash val="solid"/>
                      <a:round/>
                      <a:headEnd type="none" w="med" len="med"/>
                      <a:tailEnd type="none" w="med" len="med"/>
                    </a:lnB>
                  </a:tcPr>
                </a:tc>
              </a:tr>
              <a:tr h="421640">
                <a:tc>
                  <a:txBody>
                    <a:bodyPr/>
                    <a:lstStyle/>
                    <a:p>
                      <a:pPr algn="ctr">
                        <a:lnSpc>
                          <a:spcPct val="120000"/>
                        </a:lnSpc>
                        <a:spcBef>
                          <a:spcPts val="0"/>
                        </a:spcBef>
                        <a:spcAft>
                          <a:spcPts val="0"/>
                        </a:spcAft>
                      </a:pPr>
                      <a:r>
                        <a:rPr lang="en-US" altLang="zh-CN" sz="1400" i="1" spc="120" dirty="0">
                          <a:latin typeface="微软雅黑" panose="020B0503020204020204" pitchFamily="34" charset="-122"/>
                          <a:ea typeface="微软雅黑" panose="020B0503020204020204" pitchFamily="34" charset="-122"/>
                          <a:cs typeface="Times New Roman" panose="02020603050405020304" pitchFamily="18" charset="0"/>
                        </a:rPr>
                        <a:t>          M</a:t>
                      </a:r>
                      <a:endParaRPr lang="en-US" altLang="zh-CN" sz="1400" i="1" spc="120" dirty="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28575"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spc="12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18" name="直接连接符 17"/>
          <p:cNvCxnSpPr/>
          <p:nvPr>
            <p:custDataLst>
              <p:tags r:id="rId7"/>
            </p:custDataLst>
          </p:nvPr>
        </p:nvCxnSpPr>
        <p:spPr>
          <a:xfrm>
            <a:off x="2711548" y="2060996"/>
            <a:ext cx="0" cy="1584325"/>
          </a:xfrm>
          <a:prstGeom prst="line">
            <a:avLst/>
          </a:prstGeom>
          <a:ln w="28575">
            <a:solidFill>
              <a:schemeClr val="accent5"/>
            </a:solidFill>
          </a:ln>
        </p:spPr>
        <p:style>
          <a:lnRef idx="1">
            <a:schemeClr val="accent5"/>
          </a:lnRef>
          <a:fillRef idx="0">
            <a:schemeClr val="accent5"/>
          </a:fillRef>
          <a:effectRef idx="0">
            <a:schemeClr val="accent5"/>
          </a:effectRef>
          <a:fontRef idx="minor">
            <a:schemeClr val="tx1"/>
          </a:fontRef>
        </p:style>
      </p:cxnSp>
      <p:cxnSp>
        <p:nvCxnSpPr>
          <p:cNvPr id="19" name="直接连接符 18"/>
          <p:cNvCxnSpPr/>
          <p:nvPr>
            <p:custDataLst>
              <p:tags r:id="rId8"/>
            </p:custDataLst>
          </p:nvPr>
        </p:nvCxnSpPr>
        <p:spPr>
          <a:xfrm>
            <a:off x="8832300" y="2709051"/>
            <a:ext cx="1956435" cy="15875"/>
          </a:xfrm>
          <a:prstGeom prst="line">
            <a:avLst/>
          </a:prstGeom>
          <a:ln w="28575">
            <a:solidFill>
              <a:schemeClr val="accent5"/>
            </a:solidFill>
          </a:ln>
        </p:spPr>
        <p:style>
          <a:lnRef idx="1">
            <a:schemeClr val="accent5"/>
          </a:lnRef>
          <a:fillRef idx="0">
            <a:schemeClr val="accent5"/>
          </a:fillRef>
          <a:effectRef idx="0">
            <a:schemeClr val="accent5"/>
          </a:effectRef>
          <a:fontRef idx="minor">
            <a:schemeClr val="tx1"/>
          </a:fontRef>
        </p:style>
      </p:cxnSp>
      <p:sp>
        <p:nvSpPr>
          <p:cNvPr id="20" name="箭头: 虚尾 11"/>
          <p:cNvSpPr/>
          <p:nvPr>
            <p:custDataLst>
              <p:tags r:id="rId9"/>
            </p:custDataLst>
          </p:nvPr>
        </p:nvSpPr>
        <p:spPr>
          <a:xfrm>
            <a:off x="5879705" y="2597291"/>
            <a:ext cx="803810" cy="512625"/>
          </a:xfrm>
          <a:prstGeom prst="stripedRightArrow">
            <a:avLst/>
          </a:prstGeom>
          <a:noFill/>
          <a:ln>
            <a:solidFill>
              <a:schemeClr val="accent1">
                <a:shade val="50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5000" lnSpcReduction="10000"/>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21" name="箭头: 虚尾 12"/>
          <p:cNvSpPr/>
          <p:nvPr>
            <p:custDataLst>
              <p:tags r:id="rId10"/>
            </p:custDataLst>
          </p:nvPr>
        </p:nvSpPr>
        <p:spPr>
          <a:xfrm>
            <a:off x="1827086" y="4445941"/>
            <a:ext cx="803810" cy="512625"/>
          </a:xfrm>
          <a:prstGeom prst="stripedRightArrow">
            <a:avLst/>
          </a:prstGeom>
          <a:noFill/>
          <a:ln>
            <a:solidFill>
              <a:schemeClr val="accent1">
                <a:shade val="50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5000" lnSpcReduction="10000"/>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6" name="图片 1" descr="f01494d1831cca2c2d8b5f9021c13ad"/>
          <p:cNvPicPr>
            <a:picLocks noChangeAspect="1"/>
          </p:cNvPicPr>
          <p:nvPr/>
        </p:nvPicPr>
        <p:blipFill>
          <a:blip r:embed="rId1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纳什均衡的个数：</a:t>
            </a:r>
            <a:r>
              <a:rPr lang="zh-CN" altLang="en-US" sz="2800" dirty="0">
                <a:solidFill>
                  <a:schemeClr val="accent1"/>
                </a:solidFill>
                <a:sym typeface="+mn-ea"/>
              </a:rPr>
              <a:t>奇数定理</a:t>
            </a:r>
            <a:endParaRPr lang="zh-CN" altLang="en-US" sz="2800" dirty="0">
              <a:solidFill>
                <a:schemeClr val="accent1"/>
              </a:solidFill>
              <a:sym typeface="+mn-ea"/>
            </a:endParaRPr>
          </a:p>
        </p:txBody>
      </p:sp>
      <p:cxnSp>
        <p:nvCxnSpPr>
          <p:cNvPr id="10" name="直接连接符 9"/>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矩形 10"/>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8"/>
            </p:custDataLst>
          </p:nvPr>
        </p:nvSpPr>
        <p:spPr>
          <a:xfrm>
            <a:off x="2034382" y="184673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奇数定理</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：几乎所有有限静态博弈的纳什均衡的数目是有限的，而且是奇数（威尔逊， 1971 ）。</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如，猜硬币有1个，夫妻之争有3个。</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几乎所有≠所有，意味着有例外，但当你随机选择一有限静态博弈，它的纳什均衡数目不是奇数的可能性为0。</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奇数定理之例外1</a:t>
            </a:r>
            <a:endParaRPr lang="zh-CN" altLang="en-US"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Freeform 28"/>
          <p:cNvSpPr/>
          <p:nvPr>
            <p:custDataLst>
              <p:tags r:id="rId3"/>
            </p:custDataLst>
          </p:nvPr>
        </p:nvSpPr>
        <p:spPr>
          <a:xfrm>
            <a:off x="1222377" y="1066804"/>
            <a:ext cx="9753599" cy="5486400"/>
          </a:xfrm>
          <a:custGeom>
            <a:avLst/>
            <a:gdLst>
              <a:gd name="connsiteX0" fmla="*/ 4366810 w 12191999"/>
              <a:gd name="connsiteY0" fmla="*/ 0 h 6858000"/>
              <a:gd name="connsiteX1" fmla="*/ 12191999 w 12191999"/>
              <a:gd name="connsiteY1" fmla="*/ 2 h 6858000"/>
              <a:gd name="connsiteX2" fmla="*/ 12191998 w 12191999"/>
              <a:gd name="connsiteY2" fmla="*/ 698097 h 6858000"/>
              <a:gd name="connsiteX3" fmla="*/ 7990526 w 12191999"/>
              <a:gd name="connsiteY3" fmla="*/ 6857999 h 6858000"/>
              <a:gd name="connsiteX4" fmla="*/ 0 w 12191999"/>
              <a:gd name="connsiteY4" fmla="*/ 6858000 h 6858000"/>
              <a:gd name="connsiteX5" fmla="*/ 2 w 12191999"/>
              <a:gd name="connsiteY5" fmla="*/ 64022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858000">
                <a:moveTo>
                  <a:pt x="4366810" y="0"/>
                </a:moveTo>
                <a:lnTo>
                  <a:pt x="12191999" y="2"/>
                </a:lnTo>
                <a:lnTo>
                  <a:pt x="12191998" y="698097"/>
                </a:lnTo>
                <a:lnTo>
                  <a:pt x="7990526" y="6857999"/>
                </a:lnTo>
                <a:lnTo>
                  <a:pt x="0" y="6858000"/>
                </a:lnTo>
                <a:lnTo>
                  <a:pt x="2" y="6402298"/>
                </a:ln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0" name="矩形 9"/>
          <p:cNvSpPr/>
          <p:nvPr>
            <p:custDataLst>
              <p:tags r:id="rId4"/>
            </p:custDataLst>
          </p:nvPr>
        </p:nvSpPr>
        <p:spPr>
          <a:xfrm>
            <a:off x="1588138" y="1432563"/>
            <a:ext cx="9022152" cy="4754880"/>
          </a:xfrm>
          <a:prstGeom prst="rect">
            <a:avLst/>
          </a:prstGeom>
          <a:solidFill>
            <a:schemeClr val="lt2">
              <a:alpha val="90000"/>
            </a:schemeClr>
          </a:solid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Title 6"/>
          <p:cNvSpPr txBox="1"/>
          <p:nvPr>
            <p:custDataLst>
              <p:tags r:id="rId5"/>
            </p:custDataLst>
          </p:nvPr>
        </p:nvSpPr>
        <p:spPr>
          <a:xfrm>
            <a:off x="1775460" y="1341150"/>
            <a:ext cx="7802941" cy="9753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案例1</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6"/>
            </p:custDataLst>
          </p:nvPr>
        </p:nvGraphicFramePr>
        <p:xfrm>
          <a:off x="2999740" y="2520950"/>
          <a:ext cx="5758815" cy="2577465"/>
        </p:xfrm>
        <a:graphic>
          <a:graphicData uri="http://schemas.openxmlformats.org/drawingml/2006/table">
            <a:tbl>
              <a:tblPr firstRow="1" bandRow="1">
                <a:tableStyleId>{2D5ABB26-0587-4C30-8999-92F81FD0307C}</a:tableStyleId>
              </a:tblPr>
              <a:tblGrid>
                <a:gridCol w="1290320"/>
                <a:gridCol w="1471295"/>
                <a:gridCol w="1535430"/>
                <a:gridCol w="1461770"/>
              </a:tblGrid>
              <a:tr h="6521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6040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R</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U</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D</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奇数定理之例外1</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custDataLst>
              <p:tags r:id="rId3"/>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3" name="Title 6"/>
              <p:cNvSpPr txBox="1"/>
              <p:nvPr>
                <p:custDataLst>
                  <p:tags r:id="rId4"/>
                </p:custDataLst>
              </p:nvPr>
            </p:nvSpPr>
            <p:spPr>
              <a:xfrm>
                <a:off x="2997835" y="1884680"/>
                <a:ext cx="6388735" cy="403987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设甲选U的概率为p，乙选L的概率为q。</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甲、乙两人的得益函数π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分别为：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l-GR" altLang="zh-CN" sz="2000" i="1" dirty="0">
                    <a:latin typeface="Times New Roman" panose="02020603050405020304" pitchFamily="18" charset="0"/>
                    <a:cs typeface="Times New Roman" panose="02020603050405020304" pitchFamily="18" charset="0"/>
                    <a:sym typeface="+mn-ea"/>
                  </a:rPr>
                  <a:t>π</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宋体" panose="02010600030101010101" pitchFamily="2" charset="-122"/>
                    <a:ea typeface="宋体" panose="02010600030101010101" pitchFamily="2" charset="-122"/>
                    <a:cs typeface="Times New Roman" panose="02020603050405020304" pitchFamily="18" charset="0"/>
                    <a:sym typeface="+mn-ea"/>
                  </a:rPr>
                  <a:t>q</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l-GR" altLang="zh-CN" sz="2000" i="1" dirty="0">
                    <a:latin typeface="Times New Roman" panose="02020603050405020304" pitchFamily="18" charset="0"/>
                    <a:cs typeface="Times New Roman" panose="02020603050405020304" pitchFamily="18" charset="0"/>
                    <a:sym typeface="+mn-ea"/>
                  </a:rPr>
                  <a:t>π</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dirty="0">
                    <a:latin typeface="Times New Roman" panose="02020603050405020304" pitchFamily="18" charset="0"/>
                    <a:cs typeface="Times New Roman" panose="02020603050405020304" pitchFamily="18" charset="0"/>
                    <a:sym typeface="+mn-ea"/>
                  </a:rPr>
                  <a:t>[4</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f>
                      <m:fPr>
                        <m:ctrlPr>
                          <a:rPr lang="en-US" altLang="zh-CN" sz="2000" i="1" smtClean="0">
                            <a:latin typeface="Cambria Math" panose="02040503050406030204" pitchFamily="18" charset="0"/>
                            <a:cs typeface="Times New Roman" panose="020206030504050203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zh-CN" altLang="en-US" sz="2000" i="1" smtClean="0">
                                <a:latin typeface="Cambria Math" panose="02040503050406030204" pitchFamily="18" charset="0"/>
                                <a:cs typeface="Times New Roman" panose="02020603050405020304" pitchFamily="18" charset="0"/>
                              </a:rPr>
                              <m:t>𝜋</m:t>
                            </m:r>
                          </m:e>
                          <m:sub>
                            <m:r>
                              <a:rPr lang="en-US" altLang="zh-CN" sz="2000" b="0" i="1" smtClean="0">
                                <a:latin typeface="Cambria Math" panose="02040503050406030204" pitchFamily="18" charset="0"/>
                                <a:cs typeface="Times New Roman" panose="02020603050405020304" pitchFamily="18" charset="0"/>
                              </a:rPr>
                              <m:t>1</m:t>
                            </m:r>
                          </m:sub>
                        </m:sSub>
                      </m:num>
                      <m:den>
                        <m:r>
                          <a:rPr lang="zh-CN" altLang="en-US" sz="200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𝑝</m:t>
                        </m:r>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r>
                      <a:rPr lang="en-US" altLang="zh-CN" sz="2000" b="0" i="1" smtClean="0">
                        <a:latin typeface="Cambria Math" panose="02040503050406030204" pitchFamily="18" charset="0"/>
                        <a:cs typeface="Times New Roman" panose="02020603050405020304" pitchFamily="18" charset="0"/>
                      </a:rPr>
                      <m:t>𝑞</m:t>
                    </m:r>
                    <m:r>
                      <a:rPr lang="zh-CN" altLang="en-US" sz="2000" i="1">
                        <a:latin typeface="Cambria Math" panose="02040503050406030204" pitchFamily="18" charset="0"/>
                        <a:cs typeface="Times New Roman" panose="02020603050405020304" pitchFamily="18" charset="0"/>
                      </a:rPr>
                      <m:t>，</m:t>
                    </m:r>
                    <m:f>
                      <m:fPr>
                        <m:ctrlPr>
                          <a:rPr lang="en-US" altLang="zh-CN" sz="2000" i="1" smtClean="0">
                            <a:latin typeface="Cambria Math" panose="02040503050406030204" pitchFamily="18" charset="0"/>
                            <a:cs typeface="Times New Roman" panose="020206030504050203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zh-CN" altLang="en-US" sz="2000" i="1" smtClean="0">
                                <a:latin typeface="Cambria Math" panose="02040503050406030204" pitchFamily="18" charset="0"/>
                                <a:cs typeface="Times New Roman" panose="02020603050405020304" pitchFamily="18" charset="0"/>
                              </a:rPr>
                              <m:t>𝜋</m:t>
                            </m:r>
                          </m:e>
                          <m:sub>
                            <m:r>
                              <a:rPr lang="en-US" altLang="zh-CN" sz="2000" i="1">
                                <a:latin typeface="Cambria Math" panose="02040503050406030204" pitchFamily="18" charset="0"/>
                                <a:cs typeface="Times New Roman" panose="02020603050405020304" pitchFamily="18" charset="0"/>
                              </a:rPr>
                              <m:t>2</m:t>
                            </m:r>
                          </m:sub>
                        </m:sSub>
                      </m:num>
                      <m:den>
                        <m:r>
                          <a:rPr lang="zh-CN" altLang="en-US" sz="200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𝑞</m:t>
                        </m:r>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r>
                      <a:rPr lang="en-US" altLang="zh-CN" sz="2000" b="0" i="1" smtClean="0">
                        <a:latin typeface="Cambria Math" panose="02040503050406030204" pitchFamily="18" charset="0"/>
                        <a:cs typeface="Times New Roman" panose="02020603050405020304" pitchFamily="18" charset="0"/>
                      </a:rPr>
                      <m:t>𝑝</m:t>
                    </m:r>
                  </m:oMath>
                </a14:m>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3" name="Title 6"/>
              <p:cNvSpPr txBox="1">
                <a:spLocks noRot="1" noChangeAspect="1" noMove="1" noResize="1" noEditPoints="1" noAdjustHandles="1" noChangeArrowheads="1" noChangeShapeType="1" noTextEdit="1"/>
              </p:cNvSpPr>
              <p:nvPr>
                <p:custDataLst>
                  <p:tags r:id="rId5"/>
                </p:custDataLst>
              </p:nvPr>
            </p:nvSpPr>
            <p:spPr>
              <a:xfrm>
                <a:off x="2997835" y="1884680"/>
                <a:ext cx="6388735" cy="4039870"/>
              </a:xfrm>
              <a:prstGeom prst="rect">
                <a:avLst/>
              </a:prstGeom>
              <a:blipFill rotWithShape="1">
                <a:blip r:embed="rId6"/>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奇数定理之例外1</a:t>
            </a:r>
            <a:endParaRPr lang="zh-CN" altLang="en-US" sz="3200" dirty="0">
              <a:solidFill>
                <a:schemeClr val="accent1"/>
              </a:solidFill>
              <a:sym typeface="+mn-ea"/>
            </a:endParaRPr>
          </a:p>
        </p:txBody>
      </p:sp>
      <p:cxnSp>
        <p:nvCxnSpPr>
          <p:cNvPr id="3" name="直接连接符 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文本占位符 79874"/>
              <p:cNvSpPr>
                <a:spLocks noGrp="1" noChangeArrowheads="1"/>
              </p:cNvSpPr>
              <p:nvPr>
                <p:custDataLst>
                  <p:tags r:id="rId3"/>
                </p:custDataLst>
              </p:nvPr>
            </p:nvSpPr>
            <p:spPr>
              <a:xfrm>
                <a:off x="911502" y="1159945"/>
                <a:ext cx="11277554" cy="50855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a:buClrTx/>
                  <a:buSzTx/>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甲、乙两人的反应函数为：       </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85800" lvl="1" indent="-228600" algn="l">
                  <a:buClrTx/>
                  <a:buSzTx/>
                  <a:buFont typeface="Arial" panose="020B0604020202020204" pitchFamily="34" charset="0"/>
                  <a:buChar char="•"/>
                </a:pPr>
                <a14:m>
                  <m:oMath xmlns:m="http://schemas.openxmlformats.org/officeDocument/2006/math">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𝑝</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eqArr>
                          <m:eqArrPr>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eqArr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          </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𝑞</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&gt;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e>
                          <m:e>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e>
                            </m:d>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𝑞</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e>
                        </m:eqArr>
                      </m:e>
                    </m:d>
                  </m:oMath>
                </a14:m>
                <a:endPar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endParaRPr>
              </a:p>
              <a:p>
                <a:pPr marL="685800" lvl="1" indent="-228600" algn="l">
                  <a:buClrTx/>
                  <a:buSzTx/>
                  <a:buFont typeface="Arial" panose="020B0604020202020204" pitchFamily="34" charset="0"/>
                  <a:buChar char="•"/>
                </a:pPr>
                <a14:m>
                  <m:oMath xmlns:m="http://schemas.openxmlformats.org/officeDocument/2006/math">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𝑞</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eqArr>
                          <m:eqArrPr>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eqArr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          </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𝑝</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&gt;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e>
                          <m:e>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e>
                            </m:d>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𝑝</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e>
                        </m:eqArr>
                      </m:e>
                    </m:d>
                  </m:oMath>
                </a14:m>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r>
                  <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有2个纳什均衡：</a:t>
                </a:r>
                <a:endPar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85800" lvl="1" indent="-228600" algn="l">
                  <a:buClrTx/>
                  <a:buSzTx/>
                  <a:buFont typeface="Arial" panose="020B0604020202020204" pitchFamily="34" charset="0"/>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(U，L)和(D，R)</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algn="l">
                  <a:buClrTx/>
                  <a:buSzTx/>
                  <a:buFont typeface="Arial" panose="020B0604020202020204" pitchFamily="34" charset="0"/>
                  <a:buNone/>
                </a:pP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28600" lvl="0" indent="-228600" algn="l">
                  <a:buClrTx/>
                  <a:buSzTx/>
                  <a:buFont typeface="Arial" panose="020B0604020202020204" pitchFamily="34" charset="0"/>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反应函数图</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l">
                  <a:buClrTx/>
                  <a:buSzTx/>
                  <a:buFont typeface="Arial" panose="020B0604020202020204" pitchFamily="34" charset="0"/>
                  <a:buNone/>
                </a:pP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2" name="文本占位符 79874"/>
              <p:cNvSpPr>
                <a:spLocks noRot="1" noChangeAspect="1" noMove="1" noResize="1" noEditPoints="1" noAdjustHandles="1" noChangeArrowheads="1" noChangeShapeType="1" noTextEdit="1"/>
              </p:cNvSpPr>
              <p:nvPr>
                <p:custDataLst>
                  <p:tags r:id="rId4"/>
                </p:custDataLst>
              </p:nvPr>
            </p:nvSpPr>
            <p:spPr>
              <a:xfrm>
                <a:off x="911502" y="1159945"/>
                <a:ext cx="11277554" cy="5085527"/>
              </a:xfrm>
              <a:prstGeom prst="rect">
                <a:avLst/>
              </a:prstGeom>
              <a:blipFill rotWithShape="1">
                <a:blip r:embed="rId5"/>
                <a:stretch>
                  <a:fillRect l="-2" t="-34" r="2" b="5"/>
                </a:stretch>
              </a:blipFill>
            </p:spPr>
            <p:txBody>
              <a:bodyPr/>
              <a:lstStyle/>
              <a:p>
                <a:r>
                  <a:rPr lang="zh-CN" altLang="en-US">
                    <a:noFill/>
                  </a:rPr>
                  <a:t> </a:t>
                </a:r>
              </a:p>
            </p:txBody>
          </p:sp>
        </mc:Fallback>
      </mc:AlternateContent>
      <p:grpSp>
        <p:nvGrpSpPr>
          <p:cNvPr id="17" name="组合 16"/>
          <p:cNvGrpSpPr/>
          <p:nvPr/>
        </p:nvGrpSpPr>
        <p:grpSpPr>
          <a:xfrm>
            <a:off x="3431540" y="3501390"/>
            <a:ext cx="4982210" cy="3216910"/>
            <a:chOff x="10053" y="3268"/>
            <a:chExt cx="7846" cy="5066"/>
          </a:xfrm>
        </p:grpSpPr>
        <p:sp>
          <p:nvSpPr>
            <p:cNvPr id="7" name="直接连接符 79876"/>
            <p:cNvSpPr>
              <a:spLocks noChangeShapeType="1"/>
            </p:cNvSpPr>
            <p:nvPr>
              <p:custDataLst>
                <p:tags r:id="rId6"/>
              </p:custDataLst>
            </p:nvPr>
          </p:nvSpPr>
          <p:spPr bwMode="auto">
            <a:xfrm flipV="1">
              <a:off x="11006" y="3423"/>
              <a:ext cx="0" cy="4120"/>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0053" y="3268"/>
              <a:ext cx="7847" cy="5067"/>
              <a:chOff x="10053" y="3268"/>
              <a:chExt cx="7847" cy="5067"/>
            </a:xfrm>
          </p:grpSpPr>
          <p:grpSp>
            <p:nvGrpSpPr>
              <p:cNvPr id="9" name="组合 8"/>
              <p:cNvGrpSpPr/>
              <p:nvPr/>
            </p:nvGrpSpPr>
            <p:grpSpPr>
              <a:xfrm>
                <a:off x="10053" y="3268"/>
                <a:ext cx="7847" cy="5067"/>
                <a:chOff x="10053" y="3268"/>
                <a:chExt cx="7847" cy="5067"/>
              </a:xfrm>
            </p:grpSpPr>
            <p:sp>
              <p:nvSpPr>
                <p:cNvPr id="4" name="文本框 79885"/>
                <p:cNvSpPr txBox="1">
                  <a:spLocks noChangeArrowheads="1"/>
                </p:cNvSpPr>
                <p:nvPr>
                  <p:custDataLst>
                    <p:tags r:id="rId7"/>
                  </p:custDataLst>
                </p:nvPr>
              </p:nvSpPr>
              <p:spPr bwMode="auto">
                <a:xfrm>
                  <a:off x="13909" y="7668"/>
                  <a:ext cx="3991" cy="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1800" dirty="0">
                      <a:solidFill>
                        <a:schemeClr val="dk1"/>
                      </a:solidFill>
                      <a:latin typeface="微软雅黑" panose="020B0503020204020204" pitchFamily="34" charset="-122"/>
                      <a:ea typeface="微软雅黑" panose="020B0503020204020204" pitchFamily="34" charset="-122"/>
                    </a:rPr>
                    <a:t>1                   </a:t>
                  </a:r>
                  <a:r>
                    <a:rPr lang="en-US" altLang="zh-CN" sz="1800" i="1" dirty="0">
                      <a:solidFill>
                        <a:schemeClr val="dk1"/>
                      </a:solidFill>
                      <a:latin typeface="微软雅黑" panose="020B0503020204020204" pitchFamily="34" charset="-122"/>
                      <a:ea typeface="微软雅黑" panose="020B0503020204020204" pitchFamily="34" charset="-122"/>
                    </a:rPr>
                    <a:t> p</a:t>
                  </a:r>
                  <a:endParaRPr lang="en-US" altLang="zh-CN" sz="1800" i="1" dirty="0">
                    <a:solidFill>
                      <a:schemeClr val="dk1"/>
                    </a:solidFill>
                    <a:latin typeface="微软雅黑" panose="020B0503020204020204" pitchFamily="34" charset="-122"/>
                    <a:ea typeface="微软雅黑" panose="020B0503020204020204" pitchFamily="34" charset="-122"/>
                  </a:endParaRPr>
                </a:p>
              </p:txBody>
            </p:sp>
            <p:sp>
              <p:nvSpPr>
                <p:cNvPr id="5" name="文本框 79886"/>
                <p:cNvSpPr txBox="1">
                  <a:spLocks noChangeArrowheads="1"/>
                </p:cNvSpPr>
                <p:nvPr>
                  <p:custDataLst>
                    <p:tags r:id="rId8"/>
                  </p:custDataLst>
                </p:nvPr>
              </p:nvSpPr>
              <p:spPr bwMode="auto">
                <a:xfrm>
                  <a:off x="10053" y="3268"/>
                  <a:ext cx="747" cy="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1800" i="1" dirty="0">
                      <a:solidFill>
                        <a:schemeClr val="dk1"/>
                      </a:solidFill>
                      <a:latin typeface="微软雅黑" panose="020B0503020204020204" pitchFamily="34" charset="-122"/>
                      <a:ea typeface="微软雅黑" panose="020B0503020204020204" pitchFamily="34" charset="-122"/>
                    </a:rPr>
                    <a:t>q</a:t>
                  </a:r>
                  <a:endParaRPr lang="en-US" altLang="zh-CN" sz="1800" i="1" dirty="0">
                    <a:solidFill>
                      <a:schemeClr val="dk1"/>
                    </a:solidFill>
                    <a:latin typeface="微软雅黑" panose="020B0503020204020204" pitchFamily="34" charset="-122"/>
                    <a:ea typeface="微软雅黑" panose="020B0503020204020204" pitchFamily="34" charset="-122"/>
                  </a:endParaRPr>
                </a:p>
                <a:p>
                  <a:pPr eaLnBrk="1" hangingPunct="1">
                    <a:spcBef>
                      <a:spcPct val="50000"/>
                    </a:spcBef>
                    <a:buClrTx/>
                    <a:buSzTx/>
                    <a:buFont typeface="Arial" panose="020B0604020202020204" pitchFamily="34" charset="0"/>
                    <a:buNone/>
                  </a:pPr>
                  <a:endParaRPr lang="en-US" altLang="zh-CN" sz="1800" dirty="0">
                    <a:solidFill>
                      <a:schemeClr val="dk1"/>
                    </a:solidFill>
                    <a:latin typeface="微软雅黑" panose="020B0503020204020204" pitchFamily="34" charset="-122"/>
                    <a:ea typeface="微软雅黑" panose="020B0503020204020204" pitchFamily="34" charset="-122"/>
                  </a:endParaRPr>
                </a:p>
                <a:p>
                  <a:pPr eaLnBrk="1" hangingPunct="1">
                    <a:spcBef>
                      <a:spcPct val="50000"/>
                    </a:spcBef>
                    <a:buClrTx/>
                    <a:buSzTx/>
                    <a:buFont typeface="Arial" panose="020B0604020202020204" pitchFamily="34" charset="0"/>
                    <a:buNone/>
                  </a:pPr>
                  <a:r>
                    <a:rPr lang="en-US" altLang="zh-CN" sz="1800" dirty="0">
                      <a:solidFill>
                        <a:schemeClr val="dk1"/>
                      </a:solidFill>
                      <a:latin typeface="微软雅黑" panose="020B0503020204020204" pitchFamily="34" charset="-122"/>
                      <a:ea typeface="微软雅黑" panose="020B0503020204020204" pitchFamily="34" charset="-122"/>
                    </a:rPr>
                    <a:t>1</a:t>
                  </a:r>
                  <a:endParaRPr lang="en-US" altLang="zh-CN" sz="1800" dirty="0">
                    <a:solidFill>
                      <a:schemeClr val="dk1"/>
                    </a:solidFill>
                    <a:latin typeface="微软雅黑" panose="020B0503020204020204" pitchFamily="34" charset="-122"/>
                    <a:ea typeface="微软雅黑" panose="020B0503020204020204" pitchFamily="34" charset="-122"/>
                  </a:endParaRPr>
                </a:p>
              </p:txBody>
            </p:sp>
            <p:sp>
              <p:nvSpPr>
                <p:cNvPr id="6" name="直接连接符 79875"/>
                <p:cNvSpPr>
                  <a:spLocks noChangeShapeType="1"/>
                </p:cNvSpPr>
                <p:nvPr>
                  <p:custDataLst>
                    <p:tags r:id="rId9"/>
                  </p:custDataLst>
                </p:nvPr>
              </p:nvSpPr>
              <p:spPr bwMode="auto">
                <a:xfrm>
                  <a:off x="11006" y="7539"/>
                  <a:ext cx="5845" cy="51"/>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8" name="直接连接符 79878"/>
                <p:cNvSpPr>
                  <a:spLocks noChangeShapeType="1"/>
                </p:cNvSpPr>
                <p:nvPr>
                  <p:custDataLst>
                    <p:tags r:id="rId10"/>
                  </p:custDataLst>
                </p:nvPr>
              </p:nvSpPr>
              <p:spPr bwMode="auto">
                <a:xfrm flipV="1">
                  <a:off x="11006" y="4755"/>
                  <a:ext cx="0" cy="2788"/>
                </a:xfrm>
                <a:prstGeom prst="line">
                  <a:avLst/>
                </a:prstGeom>
                <a:noFill/>
                <a:ln w="28575">
                  <a:solidFill>
                    <a:srgbClr val="00B0F0"/>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1" name="直接连接符 79879"/>
                <p:cNvSpPr>
                  <a:spLocks noChangeShapeType="1"/>
                </p:cNvSpPr>
                <p:nvPr>
                  <p:custDataLst>
                    <p:tags r:id="rId11"/>
                  </p:custDataLst>
                </p:nvPr>
              </p:nvSpPr>
              <p:spPr bwMode="auto">
                <a:xfrm>
                  <a:off x="11006" y="4755"/>
                  <a:ext cx="3191" cy="0"/>
                </a:xfrm>
                <a:prstGeom prst="line">
                  <a:avLst/>
                </a:prstGeom>
                <a:noFill/>
                <a:ln w="28575">
                  <a:solidFill>
                    <a:srgbClr val="00B0F0"/>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2" name="直接连接符 79882"/>
                <p:cNvSpPr>
                  <a:spLocks noChangeShapeType="1"/>
                </p:cNvSpPr>
                <p:nvPr>
                  <p:custDataLst>
                    <p:tags r:id="rId12"/>
                  </p:custDataLst>
                </p:nvPr>
              </p:nvSpPr>
              <p:spPr bwMode="auto">
                <a:xfrm>
                  <a:off x="11032" y="7481"/>
                  <a:ext cx="3137" cy="39"/>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3" name="直接连接符 79883"/>
                <p:cNvSpPr>
                  <a:spLocks noChangeShapeType="1"/>
                </p:cNvSpPr>
                <p:nvPr>
                  <p:custDataLst>
                    <p:tags r:id="rId13"/>
                  </p:custDataLst>
                </p:nvPr>
              </p:nvSpPr>
              <p:spPr bwMode="auto">
                <a:xfrm flipV="1">
                  <a:off x="14196" y="4755"/>
                  <a:ext cx="0" cy="2788"/>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grpSp>
          <p:sp>
            <p:nvSpPr>
              <p:cNvPr id="14" name="椭圆 79887"/>
              <p:cNvSpPr>
                <a:spLocks noChangeArrowheads="1"/>
              </p:cNvSpPr>
              <p:nvPr>
                <p:custDataLst>
                  <p:tags r:id="rId14"/>
                </p:custDataLst>
              </p:nvPr>
            </p:nvSpPr>
            <p:spPr bwMode="auto">
              <a:xfrm>
                <a:off x="10871" y="7408"/>
                <a:ext cx="232" cy="271"/>
              </a:xfrm>
              <a:prstGeom prst="ellipse">
                <a:avLst/>
              </a:prstGeom>
              <a:solidFill>
                <a:schemeClr val="accent5"/>
              </a:solidFill>
              <a:ln w="9525">
                <a:solidFill>
                  <a:schemeClr val="dk1"/>
                </a:solidFill>
                <a:round/>
              </a:ln>
            </p:spPr>
            <p:txBody>
              <a:bodyPr>
                <a:normAutofit fontScale="25000" lnSpcReduction="20000"/>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dk1"/>
                  </a:solidFill>
                  <a:latin typeface="微软雅黑" panose="020B0503020204020204" pitchFamily="34" charset="-122"/>
                  <a:ea typeface="微软雅黑" panose="020B0503020204020204" pitchFamily="34" charset="-122"/>
                </a:endParaRPr>
              </a:p>
            </p:txBody>
          </p:sp>
          <p:sp>
            <p:nvSpPr>
              <p:cNvPr id="15" name="椭圆 79888"/>
              <p:cNvSpPr>
                <a:spLocks noChangeArrowheads="1"/>
              </p:cNvSpPr>
              <p:nvPr>
                <p:custDataLst>
                  <p:tags r:id="rId15"/>
                </p:custDataLst>
              </p:nvPr>
            </p:nvSpPr>
            <p:spPr bwMode="auto">
              <a:xfrm>
                <a:off x="14064" y="4623"/>
                <a:ext cx="266" cy="267"/>
              </a:xfrm>
              <a:prstGeom prst="ellipse">
                <a:avLst/>
              </a:prstGeom>
              <a:solidFill>
                <a:schemeClr val="accent5"/>
              </a:solidFill>
              <a:ln w="9525">
                <a:solidFill>
                  <a:schemeClr val="dk1"/>
                </a:solidFill>
                <a:round/>
              </a:ln>
            </p:spPr>
            <p:txBody>
              <a:bodyPr>
                <a:normAutofit fontScale="25000" lnSpcReduction="20000"/>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dk1"/>
                  </a:solidFill>
                  <a:latin typeface="微软雅黑" panose="020B0503020204020204" pitchFamily="34" charset="-122"/>
                  <a:ea typeface="微软雅黑" panose="020B0503020204020204" pitchFamily="34" charset="-122"/>
                </a:endParaRPr>
              </a:p>
            </p:txBody>
          </p:sp>
        </p:grpSp>
      </p:grpSp>
      <p:pic>
        <p:nvPicPr>
          <p:cNvPr id="16" name="图片 1" descr="f01494d1831cca2c2d8b5f9021c13ad"/>
          <p:cNvPicPr>
            <a:picLocks noChangeAspect="1"/>
          </p:cNvPicPr>
          <p:nvPr/>
        </p:nvPicPr>
        <p:blipFill>
          <a:blip r:embed="rId1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18" name="灯片编号占位符 17"/>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奇数定理之例外2</a:t>
            </a:r>
            <a:endParaRPr lang="zh-CN" altLang="en-US"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911860" y="440055"/>
            <a:ext cx="4130675" cy="16211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案例2，a&gt;0。</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4"/>
            </p:custDataLst>
          </p:nvPr>
        </p:nvGraphicFramePr>
        <p:xfrm>
          <a:off x="2927350" y="2061210"/>
          <a:ext cx="6287770" cy="3268980"/>
        </p:xfrm>
        <a:graphic>
          <a:graphicData uri="http://schemas.openxmlformats.org/drawingml/2006/table">
            <a:tbl>
              <a:tblPr firstRow="1" bandRow="1">
                <a:tableStyleId>{2D5ABB26-0587-4C30-8999-92F81FD0307C}</a:tableStyleId>
              </a:tblPr>
              <a:tblGrid>
                <a:gridCol w="1409065"/>
                <a:gridCol w="1606550"/>
                <a:gridCol w="1676400"/>
                <a:gridCol w="1595755"/>
              </a:tblGrid>
              <a:tr h="82677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375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R</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80264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U</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80200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D</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奇数定理之例外2</a:t>
            </a:r>
            <a:endParaRPr lang="zh-CN" altLang="en-US" sz="32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3"/>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5" name="直接连接符 14"/>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itle 6"/>
              <p:cNvSpPr txBox="1"/>
              <p:nvPr>
                <p:custDataLst>
                  <p:tags r:id="rId8"/>
                </p:custDataLst>
              </p:nvPr>
            </p:nvSpPr>
            <p:spPr>
              <a:xfrm>
                <a:off x="2034382" y="184673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设甲选U的概率为p，乙选L的概率为q。</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甲、乙两人的得益函数π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分别为：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l-GR" altLang="zh-CN" sz="2000" i="1" dirty="0">
                    <a:latin typeface="Times New Roman" panose="02020603050405020304" pitchFamily="18" charset="0"/>
                    <a:cs typeface="Times New Roman" panose="02020603050405020304" pitchFamily="18" charset="0"/>
                    <a:sym typeface="+mn-ea"/>
                  </a:rPr>
                  <a:t>π</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宋体" panose="02010600030101010101" pitchFamily="2" charset="-122"/>
                    <a:ea typeface="宋体" panose="02010600030101010101" pitchFamily="2" charset="-122"/>
                    <a:cs typeface="Times New Roman" panose="02020603050405020304" pitchFamily="18" charset="0"/>
                    <a:sym typeface="+mn-ea"/>
                  </a:rPr>
                  <a:t>q</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l-GR" altLang="zh-CN" sz="2000" i="1" dirty="0">
                    <a:latin typeface="Times New Roman" panose="02020603050405020304" pitchFamily="18" charset="0"/>
                    <a:cs typeface="Times New Roman" panose="02020603050405020304" pitchFamily="18" charset="0"/>
                    <a:sym typeface="+mn-ea"/>
                  </a:rPr>
                  <a:t>π</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dirty="0">
                    <a:latin typeface="Times New Roman" panose="02020603050405020304" pitchFamily="18" charset="0"/>
                    <a:cs typeface="Times New Roman" panose="02020603050405020304" pitchFamily="18" charset="0"/>
                    <a:sym typeface="+mn-ea"/>
                  </a:rPr>
                  <a:t>[4</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f>
                      <m:fPr>
                        <m:ctrlPr>
                          <a:rPr lang="en-US" altLang="zh-CN" sz="2000" i="1">
                            <a:latin typeface="Cambria Math" panose="02040503050406030204" pitchFamily="18" charset="0"/>
                            <a:cs typeface="Times New Roman" panose="02020603050405020304" pitchFamily="18" charset="0"/>
                          </a:rPr>
                        </m:ctrlPr>
                      </m:fPr>
                      <m:num>
                        <m:r>
                          <a:rPr lang="zh-CN" altLang="en-US"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zh-CN" altLang="en-US" sz="2000" i="1">
                                <a:latin typeface="Cambria Math" panose="02040503050406030204" pitchFamily="18" charset="0"/>
                                <a:cs typeface="Times New Roman" panose="02020603050405020304" pitchFamily="18" charset="0"/>
                              </a:rPr>
                              <m:t>𝜋</m:t>
                            </m:r>
                          </m:e>
                          <m:sub>
                            <m:r>
                              <a:rPr lang="en-US" altLang="zh-CN" sz="2000" i="1">
                                <a:latin typeface="Cambria Math" panose="02040503050406030204" pitchFamily="18" charset="0"/>
                                <a:cs typeface="Times New Roman" panose="02020603050405020304" pitchFamily="18" charset="0"/>
                              </a:rPr>
                              <m:t>1</m:t>
                            </m:r>
                          </m:sub>
                        </m:sSub>
                      </m:num>
                      <m:den>
                        <m:r>
                          <a:rPr lang="zh-CN" altLang="en-US"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𝑝</m:t>
                        </m:r>
                      </m:den>
                    </m:f>
                    <m:r>
                      <a:rPr lang="en-US" altLang="zh-CN" sz="2000" i="1">
                        <a:latin typeface="Cambria Math" panose="02040503050406030204" pitchFamily="18" charset="0"/>
                        <a:cs typeface="Times New Roman" panose="02020603050405020304" pitchFamily="18" charset="0"/>
                      </a:rPr>
                      <m:t>=</m:t>
                    </m:r>
                    <m:d>
                      <m:dPr>
                        <m:ctrlPr>
                          <a:rPr lang="en-US" altLang="zh-CN" sz="200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2</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𝑎</m:t>
                        </m:r>
                      </m:e>
                    </m:d>
                    <m:r>
                      <a:rPr lang="en-US" altLang="zh-CN" sz="2000" i="1">
                        <a:latin typeface="Cambria Math" panose="02040503050406030204" pitchFamily="18" charset="0"/>
                        <a:cs typeface="Times New Roman" panose="02020603050405020304" pitchFamily="18" charset="0"/>
                      </a:rPr>
                      <m:t>𝑞</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𝑎</m:t>
                    </m:r>
                    <m:r>
                      <a:rPr lang="zh-CN" altLang="en-US" sz="2000" i="1">
                        <a:latin typeface="Cambria Math" panose="02040503050406030204" pitchFamily="18" charset="0"/>
                        <a:cs typeface="Times New Roman" panose="02020603050405020304" pitchFamily="18" charset="0"/>
                      </a:rPr>
                      <m:t>，</m:t>
                    </m:r>
                    <m:f>
                      <m:fPr>
                        <m:ctrlPr>
                          <a:rPr lang="en-US" altLang="zh-CN" sz="2000" i="1">
                            <a:latin typeface="Cambria Math" panose="02040503050406030204" pitchFamily="18" charset="0"/>
                            <a:cs typeface="Times New Roman" panose="02020603050405020304" pitchFamily="18" charset="0"/>
                          </a:rPr>
                        </m:ctrlPr>
                      </m:fPr>
                      <m:num>
                        <m:r>
                          <a:rPr lang="zh-CN" altLang="en-US"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zh-CN" altLang="en-US" sz="2000" i="1">
                                <a:latin typeface="Cambria Math" panose="02040503050406030204" pitchFamily="18" charset="0"/>
                                <a:cs typeface="Times New Roman" panose="02020603050405020304" pitchFamily="18" charset="0"/>
                              </a:rPr>
                              <m:t>𝜋</m:t>
                            </m:r>
                          </m:e>
                          <m:sub>
                            <m:r>
                              <a:rPr lang="en-US" altLang="zh-CN" sz="2000" i="1">
                                <a:latin typeface="Cambria Math" panose="02040503050406030204" pitchFamily="18" charset="0"/>
                                <a:cs typeface="Times New Roman" panose="02020603050405020304" pitchFamily="18" charset="0"/>
                              </a:rPr>
                              <m:t>2</m:t>
                            </m:r>
                          </m:sub>
                        </m:sSub>
                      </m:num>
                      <m:den>
                        <m:r>
                          <a:rPr lang="zh-CN" altLang="en-US"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𝑞</m:t>
                        </m:r>
                      </m:den>
                    </m:f>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2</m:t>
                    </m:r>
                    <m:r>
                      <a:rPr lang="en-US" altLang="zh-CN" sz="2000" i="1">
                        <a:latin typeface="Cambria Math" panose="02040503050406030204" pitchFamily="18" charset="0"/>
                        <a:cs typeface="Times New Roman" panose="02020603050405020304" pitchFamily="18" charset="0"/>
                      </a:rPr>
                      <m:t>𝑝</m:t>
                    </m:r>
                  </m:oMath>
                </a14:m>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9" name="Title 6"/>
              <p:cNvSpPr txBox="1">
                <a:spLocks noRot="1" noChangeAspect="1" noMove="1" noResize="1" noEditPoints="1" noAdjustHandles="1" noChangeArrowheads="1" noChangeShapeType="1" noTextEdit="1"/>
              </p:cNvSpPr>
              <p:nvPr>
                <p:custDataLst>
                  <p:tags r:id="rId9"/>
                </p:custDataLst>
              </p:nvPr>
            </p:nvSpPr>
            <p:spPr>
              <a:xfrm>
                <a:off x="2034382" y="1846734"/>
                <a:ext cx="8105392" cy="3926039"/>
              </a:xfrm>
              <a:prstGeom prst="rect">
                <a:avLst/>
              </a:prstGeom>
              <a:blipFill rotWithShape="1">
                <a:blip r:embed="rId10"/>
                <a:stretch>
                  <a:fillRect l="-6" t="-4" r="1" b="16"/>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奇数定理之例外2</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内容占位符 2"/>
              <p:cNvSpPr>
                <a:spLocks noGrp="1"/>
              </p:cNvSpPr>
              <p:nvPr>
                <p:custDataLst>
                  <p:tags r:id="rId3"/>
                </p:custDataLst>
              </p:nvPr>
            </p:nvSpPr>
            <p:spPr>
              <a:xfrm>
                <a:off x="460652" y="1262140"/>
                <a:ext cx="11277554" cy="50970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a:buClrTx/>
                  <a:buSzTx/>
                  <a:buFont typeface="Arial" panose="020B0604020202020204" pitchFamily="34" charset="0"/>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甲、乙两人的反应函数为：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反应函数图：</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85800" lvl="1" indent="-228600" algn="l">
                  <a:buClrTx/>
                  <a:buSzTx/>
                  <a:buFont typeface="Arial" panose="020B0604020202020204" pitchFamily="34" charset="0"/>
                  <a:buChar char="•"/>
                </a:pPr>
                <a14:m>
                  <m:oMath xmlns:m="http://schemas.openxmlformats.org/officeDocument/2006/math">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𝑝</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eqArr>
                          <m:eqArrPr>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eqArr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          </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𝑞</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&gt;</m:t>
                            </m:r>
                            <m:f>
                              <m:fPr>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fPr>
                              <m:num>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𝑎</m:t>
                                </m:r>
                              </m:num>
                              <m:den>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2</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𝑎</m:t>
                                </m:r>
                              </m:den>
                            </m:f>
                          </m:e>
                          <m:e>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e>
                            </m:d>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𝑞</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f>
                              <m:fPr>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fPr>
                              <m:num>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𝑎</m:t>
                                </m:r>
                              </m:num>
                              <m:den>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2</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𝑎</m:t>
                                </m:r>
                              </m:den>
                            </m:f>
                          </m:e>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          </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𝑞</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&lt;</m:t>
                            </m:r>
                            <m:f>
                              <m:fPr>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fPr>
                              <m:num>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𝑎</m:t>
                                </m:r>
                              </m:num>
                              <m:den>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2</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𝑎</m:t>
                                </m:r>
                              </m:den>
                            </m:f>
                          </m:e>
                        </m:eqArr>
                      </m:e>
                    </m:d>
                  </m:oMath>
                </a14:m>
                <a:endPar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0" lvl="0" indent="0" algn="l">
                  <a:buClrTx/>
                  <a:buSzTx/>
                  <a:buNone/>
                </a:pPr>
                <a:endPar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685800" lvl="1" indent="-228600" algn="l">
                  <a:buClrTx/>
                  <a:buSzTx/>
                  <a:buFont typeface="Arial" panose="020B0604020202020204" pitchFamily="34" charset="0"/>
                  <a:buChar char="•"/>
                </a:pPr>
                <a14:m>
                  <m:oMath xmlns:m="http://schemas.openxmlformats.org/officeDocument/2006/math">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𝑞</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eqArr>
                          <m:eqArrPr>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eqArr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          </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𝑝</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&gt;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e>
                          <m:e>
                            <m:d>
                              <m:dPr>
                                <m:begChr m:val="["/>
                                <m:endChr m:val="]"/>
                                <m:ctrlPr>
                                  <a:rPr lang="zh-CN" altLang="en-US" sz="200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ctrlPr>
                              </m:dPr>
                              <m:e>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1</m:t>
                                </m:r>
                              </m:e>
                            </m:d>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微软雅黑" panose="020B0503020204020204" pitchFamily="34" charset="-122"/>
                                <a:cs typeface="Cambria Math" panose="02040503050406030204" pitchFamily="18" charset="0"/>
                                <a:sym typeface="+mn-ea"/>
                              </a:rPr>
                              <m:t>𝑝</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m:t>
                            </m:r>
                            <m:r>
                              <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rPr>
                              <m:t>0</m:t>
                            </m:r>
                          </m:e>
                        </m:eqArr>
                      </m:e>
                    </m:d>
                  </m:oMath>
                </a14:m>
                <a:endParaRPr lang="zh-CN" altLang="en-US" sz="2000" dirty="0">
                  <a:solidFill>
                    <a:schemeClr val="dk1"/>
                  </a:solidFill>
                  <a:latin typeface="Cambria Math" panose="02040503050406030204" pitchFamily="18" charset="0"/>
                  <a:ea typeface="MS Mincho" panose="02020609040205080304" charset="-128"/>
                  <a:cs typeface="Cambria Math" panose="02040503050406030204" pitchFamily="18" charset="0"/>
                  <a:sym typeface="+mn-ea"/>
                </a:endParaRPr>
              </a:p>
              <a:p>
                <a:pPr marL="0" lvl="0" indent="0" algn="l">
                  <a:buClrTx/>
                  <a:buSzTx/>
                  <a:buNone/>
                </a:pP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r>
                  <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有无数个纳什均衡：</a:t>
                </a:r>
                <a:endPar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85800" lvl="1" indent="-228600" algn="l">
                  <a:buClrTx/>
                  <a:buSzTx/>
                  <a:buFont typeface="Arial" panose="020B0604020202020204" pitchFamily="34" charset="0"/>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(U，L)和(D，tL)，其中，0≤t≤a/(2＋a)。</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5" name="内容占位符 2"/>
              <p:cNvSpPr>
                <a:spLocks noRot="1" noChangeAspect="1" noMove="1" noResize="1" noEditPoints="1" noAdjustHandles="1" noChangeArrowheads="1" noChangeShapeType="1" noTextEdit="1"/>
              </p:cNvSpPr>
              <p:nvPr>
                <p:custDataLst>
                  <p:tags r:id="rId4"/>
                </p:custDataLst>
              </p:nvPr>
            </p:nvSpPr>
            <p:spPr>
              <a:xfrm>
                <a:off x="460652" y="1262140"/>
                <a:ext cx="11277554" cy="5097068"/>
              </a:xfrm>
              <a:prstGeom prst="rect">
                <a:avLst/>
              </a:prstGeom>
              <a:blipFill rotWithShape="1">
                <a:blip r:embed="rId5"/>
                <a:stretch>
                  <a:fillRect l="-2" t="-33" r="2" b="6"/>
                </a:stretch>
              </a:blipFill>
            </p:spPr>
            <p:txBody>
              <a:bodyPr/>
              <a:lstStyle/>
              <a:p>
                <a:r>
                  <a:rPr lang="zh-CN" altLang="en-US">
                    <a:noFill/>
                  </a:rPr>
                  <a:t> </a:t>
                </a:r>
              </a:p>
            </p:txBody>
          </p:sp>
        </mc:Fallback>
      </mc:AlternateContent>
      <p:sp>
        <p:nvSpPr>
          <p:cNvPr id="7" name="直接连接符 80899"/>
          <p:cNvSpPr>
            <a:spLocks noChangeShapeType="1"/>
          </p:cNvSpPr>
          <p:nvPr>
            <p:custDataLst>
              <p:tags r:id="rId6"/>
            </p:custDataLst>
          </p:nvPr>
        </p:nvSpPr>
        <p:spPr bwMode="auto">
          <a:xfrm flipV="1">
            <a:off x="7114540" y="5121275"/>
            <a:ext cx="3640455" cy="0"/>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9" name="直接连接符 80900"/>
          <p:cNvSpPr>
            <a:spLocks noChangeShapeType="1"/>
          </p:cNvSpPr>
          <p:nvPr>
            <p:custDataLst>
              <p:tags r:id="rId7"/>
            </p:custDataLst>
          </p:nvPr>
        </p:nvSpPr>
        <p:spPr bwMode="auto">
          <a:xfrm flipV="1">
            <a:off x="7114457" y="1956291"/>
            <a:ext cx="0" cy="3165209"/>
          </a:xfrm>
          <a:prstGeom prst="line">
            <a:avLst/>
          </a:prstGeom>
          <a:noFill/>
          <a:ln w="9525">
            <a:solidFill>
              <a:schemeClr val="dk1"/>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9" name="直接连接符 80902"/>
          <p:cNvSpPr>
            <a:spLocks noChangeShapeType="1"/>
          </p:cNvSpPr>
          <p:nvPr>
            <p:custDataLst>
              <p:tags r:id="rId8"/>
            </p:custDataLst>
          </p:nvPr>
        </p:nvSpPr>
        <p:spPr bwMode="auto">
          <a:xfrm flipV="1">
            <a:off x="7114457" y="2971573"/>
            <a:ext cx="0" cy="1856557"/>
          </a:xfrm>
          <a:prstGeom prst="line">
            <a:avLst/>
          </a:prstGeom>
          <a:noFill/>
          <a:ln w="28575">
            <a:solidFill>
              <a:srgbClr val="64AC04"/>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0" name="直接连接符 80903"/>
          <p:cNvSpPr>
            <a:spLocks noChangeShapeType="1"/>
          </p:cNvSpPr>
          <p:nvPr>
            <p:custDataLst>
              <p:tags r:id="rId9"/>
            </p:custDataLst>
          </p:nvPr>
        </p:nvSpPr>
        <p:spPr bwMode="auto">
          <a:xfrm>
            <a:off x="7114457" y="2971573"/>
            <a:ext cx="1858495" cy="0"/>
          </a:xfrm>
          <a:prstGeom prst="line">
            <a:avLst/>
          </a:prstGeom>
          <a:noFill/>
          <a:ln w="28575">
            <a:solidFill>
              <a:srgbClr val="64AC04"/>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3" name="直接连接符 80904"/>
          <p:cNvSpPr>
            <a:spLocks noChangeShapeType="1"/>
          </p:cNvSpPr>
          <p:nvPr>
            <p:custDataLst>
              <p:tags r:id="rId10"/>
            </p:custDataLst>
          </p:nvPr>
        </p:nvSpPr>
        <p:spPr bwMode="auto">
          <a:xfrm flipV="1">
            <a:off x="7114457" y="4323544"/>
            <a:ext cx="0" cy="797956"/>
          </a:xfrm>
          <a:prstGeom prst="line">
            <a:avLst/>
          </a:prstGeom>
          <a:noFill/>
          <a:ln w="28575">
            <a:solidFill>
              <a:schemeClr val="dk1"/>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4" name="直接连接符 80905"/>
          <p:cNvSpPr>
            <a:spLocks noChangeShapeType="1"/>
          </p:cNvSpPr>
          <p:nvPr>
            <p:custDataLst>
              <p:tags r:id="rId11"/>
            </p:custDataLst>
          </p:nvPr>
        </p:nvSpPr>
        <p:spPr bwMode="auto">
          <a:xfrm>
            <a:off x="7114457" y="4323544"/>
            <a:ext cx="1858495" cy="0"/>
          </a:xfrm>
          <a:prstGeom prst="line">
            <a:avLst/>
          </a:prstGeom>
          <a:noFill/>
          <a:ln w="28575">
            <a:solidFill>
              <a:schemeClr val="dk1"/>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5" name="直接连接符 80906"/>
          <p:cNvSpPr>
            <a:spLocks noChangeShapeType="1"/>
          </p:cNvSpPr>
          <p:nvPr>
            <p:custDataLst>
              <p:tags r:id="rId12"/>
            </p:custDataLst>
          </p:nvPr>
        </p:nvSpPr>
        <p:spPr bwMode="auto">
          <a:xfrm flipV="1">
            <a:off x="8972952" y="2971573"/>
            <a:ext cx="0" cy="1351971"/>
          </a:xfrm>
          <a:prstGeom prst="line">
            <a:avLst/>
          </a:prstGeom>
          <a:noFill/>
          <a:ln w="28575">
            <a:solidFill>
              <a:schemeClr val="dk1"/>
            </a:solidFill>
            <a:round/>
          </a:ln>
          <a:extLst>
            <a:ext uri="{909E8E84-426E-40DD-AFC4-6F175D3DCCD1}">
              <a14:hiddenFill xmlns:a14="http://schemas.microsoft.com/office/drawing/2010/main">
                <a:noFill/>
              </a14:hiddenFill>
            </a:ext>
          </a:extLst>
        </p:spPr>
        <p:txBody>
          <a:bodyPr>
            <a:normAutofit fontScale="25000" lnSpcReduction="20000"/>
          </a:bodyPr>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26" name="椭圆 80907"/>
          <p:cNvSpPr>
            <a:spLocks noChangeArrowheads="1"/>
          </p:cNvSpPr>
          <p:nvPr>
            <p:custDataLst>
              <p:tags r:id="rId13"/>
            </p:custDataLst>
          </p:nvPr>
        </p:nvSpPr>
        <p:spPr bwMode="auto">
          <a:xfrm>
            <a:off x="8803117" y="2885166"/>
            <a:ext cx="253262" cy="253262"/>
          </a:xfrm>
          <a:prstGeom prst="ellipse">
            <a:avLst/>
          </a:prstGeom>
          <a:solidFill>
            <a:schemeClr val="accent5">
              <a:alpha val="47058"/>
            </a:schemeClr>
          </a:solidFill>
          <a:ln w="9525">
            <a:solidFill>
              <a:schemeClr val="dk1"/>
            </a:solidFill>
            <a:round/>
          </a:ln>
        </p:spPr>
        <p:txBody>
          <a:bodyPr>
            <a:normAutofit fontScale="40000" lnSpcReduction="20000"/>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dk1"/>
              </a:solidFill>
              <a:latin typeface="微软雅黑" panose="020B0503020204020204" pitchFamily="34" charset="-122"/>
              <a:ea typeface="微软雅黑" panose="020B0503020204020204" pitchFamily="34" charset="-122"/>
            </a:endParaRPr>
          </a:p>
        </p:txBody>
      </p:sp>
      <p:sp>
        <p:nvSpPr>
          <p:cNvPr id="27" name="椭圆 80908"/>
          <p:cNvSpPr>
            <a:spLocks noChangeArrowheads="1"/>
          </p:cNvSpPr>
          <p:nvPr>
            <p:custDataLst>
              <p:tags r:id="rId14"/>
            </p:custDataLst>
          </p:nvPr>
        </p:nvSpPr>
        <p:spPr bwMode="auto">
          <a:xfrm>
            <a:off x="6982612" y="4237882"/>
            <a:ext cx="253262" cy="967045"/>
          </a:xfrm>
          <a:prstGeom prst="ellipse">
            <a:avLst/>
          </a:prstGeom>
          <a:solidFill>
            <a:schemeClr val="accent5">
              <a:alpha val="38039"/>
            </a:schemeClr>
          </a:solidFill>
          <a:ln w="9525">
            <a:solidFill>
              <a:schemeClr val="dk1"/>
            </a:solidFill>
            <a:round/>
          </a:ln>
        </p:spPr>
        <p:txBody>
          <a:bodyPr>
            <a:norm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1800">
              <a:solidFill>
                <a:schemeClr val="dk1"/>
              </a:solidFill>
              <a:latin typeface="微软雅黑" panose="020B0503020204020204" pitchFamily="34" charset="-122"/>
              <a:ea typeface="微软雅黑" panose="020B0503020204020204" pitchFamily="34" charset="-122"/>
            </a:endParaRPr>
          </a:p>
        </p:txBody>
      </p:sp>
      <p:sp>
        <p:nvSpPr>
          <p:cNvPr id="28" name="文本框 80909"/>
          <p:cNvSpPr txBox="1">
            <a:spLocks noChangeArrowheads="1"/>
          </p:cNvSpPr>
          <p:nvPr>
            <p:custDataLst>
              <p:tags r:id="rId15"/>
            </p:custDataLst>
          </p:nvPr>
        </p:nvSpPr>
        <p:spPr bwMode="auto">
          <a:xfrm>
            <a:off x="8803117" y="5230253"/>
            <a:ext cx="2281591" cy="75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1800" dirty="0">
                <a:solidFill>
                  <a:schemeClr val="dk1"/>
                </a:solidFill>
                <a:latin typeface="微软雅黑" panose="020B0503020204020204" pitchFamily="34" charset="-122"/>
                <a:ea typeface="微软雅黑" panose="020B0503020204020204" pitchFamily="34" charset="-122"/>
              </a:rPr>
              <a:t>1                         </a:t>
            </a:r>
            <a:r>
              <a:rPr lang="en-US" altLang="zh-CN" sz="1800" i="1" dirty="0">
                <a:solidFill>
                  <a:schemeClr val="dk1"/>
                </a:solidFill>
                <a:latin typeface="微软雅黑" panose="020B0503020204020204" pitchFamily="34" charset="-122"/>
                <a:ea typeface="微软雅黑" panose="020B0503020204020204" pitchFamily="34" charset="-122"/>
              </a:rPr>
              <a:t> p</a:t>
            </a:r>
            <a:endParaRPr lang="en-US" altLang="zh-CN" sz="1800" i="1" dirty="0">
              <a:solidFill>
                <a:schemeClr val="dk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9" name="文本框 80910"/>
              <p:cNvSpPr txBox="1">
                <a:spLocks noChangeArrowheads="1"/>
              </p:cNvSpPr>
              <p:nvPr>
                <p:custDataLst>
                  <p:tags r:id="rId16"/>
                </p:custDataLst>
              </p:nvPr>
            </p:nvSpPr>
            <p:spPr bwMode="auto">
              <a:xfrm>
                <a:off x="6372860" y="1988820"/>
                <a:ext cx="741680" cy="3357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q</a:t>
                </a:r>
                <a:endPar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Tx/>
                  <a:buSzTx/>
                  <a:buFont typeface="Arial" panose="020B0604020202020204" pitchFamily="34" charset="0"/>
                  <a:buNone/>
                </a:pP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Tx/>
                  <a:buSzTx/>
                  <a:buFont typeface="Arial" panose="020B0604020202020204" pitchFamily="34" charset="0"/>
                  <a:buNone/>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1</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Tx/>
                  <a:buSzTx/>
                  <a:buFont typeface="Arial" panose="020B0604020202020204" pitchFamily="34" charset="0"/>
                  <a:buNone/>
                </a:pP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Tx/>
                  <a:buSzTx/>
                  <a:buFont typeface="Arial" panose="020B0604020202020204" pitchFamily="34" charset="0"/>
                  <a:buNone/>
                </a:pP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Tx/>
                  <a:buSzTx/>
                  <a:buFont typeface="Arial" panose="020B0604020202020204" pitchFamily="34" charset="0"/>
                  <a:buNone/>
                </a:pPr>
                <a14:m>
                  <m:oMathPara xmlns:m="http://schemas.openxmlformats.org/officeDocument/2006/math">
                    <m:oMathParaPr>
                      <m:jc m:val="centerGroup"/>
                    </m:oMathParaPr>
                    <m:oMath xmlns:m="http://schemas.openxmlformats.org/officeDocument/2006/math">
                      <m:f>
                        <m:fPr>
                          <m:ctrlPr>
                            <a:rPr lang="en-US" altLang="zh-CN" sz="1800" i="1" smtClean="0">
                              <a:solidFill>
                                <a:schemeClr val="dk1"/>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1800" b="0" i="1" smtClean="0">
                              <a:solidFill>
                                <a:schemeClr val="dk1"/>
                              </a:solidFill>
                              <a:latin typeface="Cambria Math" panose="02040503050406030204" pitchFamily="18" charset="0"/>
                              <a:ea typeface="微软雅黑" panose="020B0503020204020204" pitchFamily="34" charset="-122"/>
                              <a:cs typeface="Cambria Math" panose="02040503050406030204" pitchFamily="18" charset="0"/>
                            </a:rPr>
                            <m:t>𝑎</m:t>
                          </m:r>
                        </m:num>
                        <m:den>
                          <m:r>
                            <a:rPr lang="en-US" altLang="zh-CN" sz="1800" b="0" i="1" smtClean="0">
                              <a:solidFill>
                                <a:schemeClr val="dk1"/>
                              </a:solidFill>
                              <a:latin typeface="Cambria Math" panose="02040503050406030204" pitchFamily="18" charset="0"/>
                              <a:ea typeface="MS Mincho" panose="02020609040205080304" charset="-128"/>
                              <a:cs typeface="Cambria Math" panose="02040503050406030204" pitchFamily="18" charset="0"/>
                            </a:rPr>
                            <m:t>2</m:t>
                          </m:r>
                          <m:r>
                            <a:rPr lang="en-US" altLang="zh-CN" sz="1800" b="0" i="1" smtClean="0">
                              <a:solidFill>
                                <a:schemeClr val="dk1"/>
                              </a:solidFill>
                              <a:latin typeface="Cambria Math" panose="02040503050406030204" pitchFamily="18" charset="0"/>
                              <a:ea typeface="MS Mincho" panose="02020609040205080304" charset="-128"/>
                              <a:cs typeface="Cambria Math" panose="02040503050406030204" pitchFamily="18" charset="0"/>
                            </a:rPr>
                            <m:t>+</m:t>
                          </m:r>
                          <m:r>
                            <a:rPr lang="en-US" altLang="zh-CN" sz="1800" b="0" i="1" smtClean="0">
                              <a:solidFill>
                                <a:schemeClr val="dk1"/>
                              </a:solidFill>
                              <a:latin typeface="Cambria Math" panose="02040503050406030204" pitchFamily="18" charset="0"/>
                              <a:ea typeface="微软雅黑" panose="020B0503020204020204" pitchFamily="34" charset="-122"/>
                              <a:cs typeface="Cambria Math" panose="02040503050406030204" pitchFamily="18" charset="0"/>
                            </a:rPr>
                            <m:t>𝑎</m:t>
                          </m:r>
                        </m:den>
                      </m:f>
                    </m:oMath>
                  </m:oMathPara>
                </a14:m>
                <a:endParaRPr lang="en-US" altLang="zh-CN" sz="1800" b="0" i="1" dirty="0">
                  <a:solidFill>
                    <a:schemeClr val="dk1"/>
                  </a:solidFill>
                  <a:latin typeface="Cambria Math" panose="02040503050406030204" pitchFamily="18" charset="0"/>
                  <a:ea typeface="微软雅黑" panose="020B0503020204020204" pitchFamily="34" charset="-122"/>
                  <a:cs typeface="Cambria Math" panose="02040503050406030204" pitchFamily="18" charset="0"/>
                </a:endParaRPr>
              </a:p>
            </p:txBody>
          </p:sp>
        </mc:Choice>
        <mc:Fallback>
          <p:sp>
            <p:nvSpPr>
              <p:cNvPr id="29" name="文本框 80910"/>
              <p:cNvSpPr txBox="1">
                <a:spLocks noRot="1" noChangeAspect="1" noMove="1" noResize="1" noEditPoints="1" noAdjustHandles="1" noChangeArrowheads="1" noChangeShapeType="1" noTextEdit="1"/>
              </p:cNvSpPr>
              <p:nvPr>
                <p:custDataLst>
                  <p:tags r:id="rId17"/>
                </p:custDataLst>
              </p:nvPr>
            </p:nvSpPr>
            <p:spPr bwMode="auto">
              <a:xfrm>
                <a:off x="6372860" y="1988820"/>
                <a:ext cx="741680" cy="3357880"/>
              </a:xfrm>
              <a:prstGeom prst="rect">
                <a:avLst/>
              </a:prstGeom>
              <a:blipFill rotWithShape="1">
                <a:blip r:embed="rId1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2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奇数定理之例外3</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AutoShape 3"/>
          <p:cNvSpPr>
            <a:spLocks noChangeAspect="1" noChangeArrowheads="1" noTextEdit="1"/>
          </p:cNvSpPr>
          <p:nvPr>
            <p:custDataLst>
              <p:tags r:id="rId3"/>
            </p:custDataLst>
          </p:nvPr>
        </p:nvSpPr>
        <p:spPr bwMode="auto">
          <a:xfrm>
            <a:off x="1678209" y="1860149"/>
            <a:ext cx="592777" cy="54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4"/>
            </p:custDataLst>
          </p:nvPr>
        </p:nvSpPr>
        <p:spPr>
          <a:xfrm>
            <a:off x="983879" y="692759"/>
            <a:ext cx="3218114" cy="12067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田忌赛马</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表格 5"/>
          <p:cNvGraphicFramePr>
            <a:graphicFrameLocks noGrp="1"/>
          </p:cNvGraphicFramePr>
          <p:nvPr>
            <p:custDataLst>
              <p:tags r:id="rId5"/>
            </p:custDataLst>
          </p:nvPr>
        </p:nvGraphicFramePr>
        <p:xfrm>
          <a:off x="2352040" y="1485265"/>
          <a:ext cx="7486650" cy="4707890"/>
        </p:xfrm>
        <a:graphic>
          <a:graphicData uri="http://schemas.openxmlformats.org/drawingml/2006/table">
            <a:tbl>
              <a:tblPr firstRow="1" bandRow="1">
                <a:tableStyleId>{2D5ABB26-0587-4C30-8999-92F81FD0307C}</a:tableStyleId>
              </a:tblPr>
              <a:tblGrid>
                <a:gridCol w="365760"/>
                <a:gridCol w="883285"/>
                <a:gridCol w="1039495"/>
                <a:gridCol w="1040130"/>
                <a:gridCol w="1040130"/>
                <a:gridCol w="1038225"/>
                <a:gridCol w="1039495"/>
                <a:gridCol w="1040130"/>
              </a:tblGrid>
              <a:tr h="504825">
                <a:tc>
                  <a:txBody>
                    <a:bodyPr/>
                    <a:lstStyle/>
                    <a:p>
                      <a:pPr indent="0" algn="ctr">
                        <a:lnSpc>
                          <a:spcPct val="120000"/>
                        </a:lnSpc>
                        <a:spcBef>
                          <a:spcPts val="0"/>
                        </a:spcBef>
                        <a:spcAft>
                          <a:spcPts val="0"/>
                        </a:spcAft>
                      </a:pPr>
                      <a:endParaRPr lang="zh-CN" altLang="en-US" sz="1300" b="1" spc="120">
                        <a:solidFill>
                          <a:srgbClr val="FFFFFF"/>
                        </a:solidFill>
                        <a:latin typeface="微软雅黑" panose="020B0503020204020204" pitchFamily="34" charset="-122"/>
                        <a:ea typeface="微软雅黑" panose="020B0503020204020204" pitchFamily="34" charset="-122"/>
                      </a:endParaRPr>
                    </a:p>
                  </a:txBody>
                  <a:tcPr marL="25400" marR="25400" marT="6350" marB="6350" anchor="ctr">
                    <a:lnL>
                      <a:noFill/>
                    </a:lnL>
                    <a:lnR>
                      <a:noFill/>
                    </a:lnR>
                    <a:lnT>
                      <a:noFill/>
                    </a:lnT>
                    <a:lnB>
                      <a:noFill/>
                    </a:lnB>
                    <a:noFill/>
                  </a:tcPr>
                </a:tc>
                <a:tc>
                  <a:txBody>
                    <a:bodyPr/>
                    <a:lstStyle/>
                    <a:p>
                      <a:pPr indent="0" algn="ctr">
                        <a:lnSpc>
                          <a:spcPct val="120000"/>
                        </a:lnSpc>
                        <a:spcBef>
                          <a:spcPts val="0"/>
                        </a:spcBef>
                        <a:spcAft>
                          <a:spcPts val="0"/>
                        </a:spcAft>
                      </a:pPr>
                      <a:endParaRPr lang="zh-CN" altLang="en-US" sz="1300" b="1" spc="120">
                        <a:solidFill>
                          <a:srgbClr val="FFFFFF"/>
                        </a:solidFill>
                        <a:latin typeface="微软雅黑" panose="020B0503020204020204" pitchFamily="34" charset="-122"/>
                        <a:ea typeface="微软雅黑" panose="020B0503020204020204" pitchFamily="34" charset="-122"/>
                      </a:endParaRPr>
                    </a:p>
                  </a:txBody>
                  <a:tcPr marL="25400" marR="25400" marT="6350" marB="6350" anchor="ctr">
                    <a:lnL>
                      <a:noFill/>
                    </a:lnL>
                    <a:lnR>
                      <a:noFill/>
                    </a:lnR>
                    <a:lnT>
                      <a:noFill/>
                    </a:lnT>
                    <a:lnB>
                      <a:noFill/>
                    </a:lnB>
                    <a:noFill/>
                  </a:tcPr>
                </a:tc>
                <a:tc gridSpan="6">
                  <a:txBody>
                    <a:bodyPr/>
                    <a:lstStyle/>
                    <a:p>
                      <a:pPr indent="0" algn="ctr">
                        <a:lnSpc>
                          <a:spcPct val="120000"/>
                        </a:lnSpc>
                        <a:spcBef>
                          <a:spcPts val="0"/>
                        </a:spcBef>
                        <a:spcAft>
                          <a:spcPts val="0"/>
                        </a:spcAft>
                      </a:pPr>
                      <a:r>
                        <a:rPr lang="zh-CN" altLang="en-US" sz="2100" b="1" spc="120">
                          <a:solidFill>
                            <a:srgbClr val="5BA080"/>
                          </a:solidFill>
                          <a:latin typeface="微软雅黑" panose="020B0503020204020204" pitchFamily="34" charset="-122"/>
                          <a:ea typeface="微软雅黑" panose="020B0503020204020204" pitchFamily="34" charset="-122"/>
                        </a:rPr>
                        <a:t>田忌</a:t>
                      </a:r>
                      <a:endParaRPr lang="zh-CN" altLang="en-US" sz="2100" b="1" spc="120">
                        <a:solidFill>
                          <a:srgbClr val="5BA080"/>
                        </a:solidFill>
                        <a:latin typeface="微软雅黑" panose="020B0503020204020204" pitchFamily="34" charset="-122"/>
                        <a:ea typeface="微软雅黑" panose="020B0503020204020204" pitchFamily="34" charset="-122"/>
                      </a:endParaRPr>
                    </a:p>
                  </a:txBody>
                  <a:tcPr marL="25400" marR="25400" marT="6350" marB="6350" anchor="ctr">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875665">
                <a:tc>
                  <a:txBody>
                    <a:bodyPr/>
                    <a:lstStyle/>
                    <a:p>
                      <a:pPr indent="0" algn="ctr">
                        <a:lnSpc>
                          <a:spcPct val="120000"/>
                        </a:lnSpc>
                        <a:spcBef>
                          <a:spcPts val="0"/>
                        </a:spcBef>
                        <a:spcAft>
                          <a:spcPts val="0"/>
                        </a:spcAft>
                      </a:pPr>
                      <a:endParaRPr lang="zh-CN" altLang="en-US" sz="1300" b="1" spc="120">
                        <a:solidFill>
                          <a:srgbClr val="577CCE"/>
                        </a:solidFill>
                        <a:latin typeface="微软雅黑" panose="020B0503020204020204" pitchFamily="34" charset="-122"/>
                        <a:ea typeface="微软雅黑" panose="020B0503020204020204" pitchFamily="34" charset="-122"/>
                      </a:endParaRPr>
                    </a:p>
                  </a:txBody>
                  <a:tcPr marL="25400" marR="25400" marT="6350" marB="6350" anchor="ctr">
                    <a:lnL>
                      <a:noFill/>
                    </a:lnL>
                    <a:lnR>
                      <a:noFill/>
                    </a:lnR>
                    <a:lnT>
                      <a:noFill/>
                    </a:lnT>
                    <a:lnB>
                      <a:noFill/>
                    </a:lnB>
                    <a:noFill/>
                  </a:tcPr>
                </a:tc>
                <a:tc>
                  <a:txBody>
                    <a:bodyPr/>
                    <a:lstStyle/>
                    <a:p>
                      <a:pPr indent="0" algn="ctr">
                        <a:lnSpc>
                          <a:spcPct val="120000"/>
                        </a:lnSpc>
                        <a:spcBef>
                          <a:spcPts val="0"/>
                        </a:spcBef>
                        <a:spcAft>
                          <a:spcPts val="0"/>
                        </a:spcAft>
                      </a:pPr>
                      <a:endParaRPr lang="zh-CN" altLang="en-US" sz="1300" b="1" spc="120">
                        <a:solidFill>
                          <a:srgbClr val="5999AF"/>
                        </a:solidFill>
                        <a:latin typeface="微软雅黑" panose="020B0503020204020204" pitchFamily="34" charset="-122"/>
                        <a:ea typeface="微软雅黑" panose="020B0503020204020204" pitchFamily="34" charset="-122"/>
                      </a:endParaRPr>
                    </a:p>
                  </a:txBody>
                  <a:tcPr marL="25400" marR="25400" marT="6350" marB="6350" anchor="ctr">
                    <a:lnL>
                      <a:noFill/>
                    </a:lnL>
                    <a:lnR>
                      <a:noFill/>
                    </a:lnR>
                    <a:lnT>
                      <a:noFill/>
                    </a:lnT>
                    <a:lnB>
                      <a:noFill/>
                    </a:lnB>
                    <a:noFill/>
                  </a:tcPr>
                </a:tc>
                <a:tc>
                  <a:txBody>
                    <a:bodyPr/>
                    <a:lstStyle/>
                    <a:p>
                      <a:pPr indent="0" algn="ctr">
                        <a:lnSpc>
                          <a:spcPct val="120000"/>
                        </a:lnSpc>
                        <a:spcBef>
                          <a:spcPts val="0"/>
                        </a:spcBef>
                        <a:spcAft>
                          <a:spcPts val="0"/>
                        </a:spcAft>
                      </a:pPr>
                      <a:r>
                        <a:rPr lang="zh-CN" altLang="en-US" sz="2000" b="1" spc="120">
                          <a:solidFill>
                            <a:srgbClr val="5BA080"/>
                          </a:solidFill>
                          <a:latin typeface="微软雅黑" panose="020B0503020204020204" pitchFamily="34" charset="-122"/>
                          <a:ea typeface="微软雅黑" panose="020B0503020204020204" pitchFamily="34" charset="-122"/>
                        </a:rPr>
                        <a:t>上中下</a:t>
                      </a:r>
                      <a:endParaRPr lang="zh-CN" altLang="en-US" sz="2000" b="1" spc="120">
                        <a:solidFill>
                          <a:srgbClr val="5BA080"/>
                        </a:solidFill>
                        <a:latin typeface="微软雅黑" panose="020B0503020204020204" pitchFamily="34" charset="-122"/>
                        <a:ea typeface="微软雅黑" panose="020B0503020204020204" pitchFamily="34" charset="-122"/>
                      </a:endParaRPr>
                    </a:p>
                  </a:txBody>
                  <a:tcPr marL="25400" marR="25400" marT="6350" marB="6350" anchor="ctr">
                    <a:lnL>
                      <a:noFill/>
                    </a:lnL>
                    <a:lnR w="6350">
                      <a:solidFill>
                        <a:srgbClr val="FFFFFF"/>
                      </a:solidFill>
                      <a:prstDash val="solid"/>
                    </a:lnR>
                    <a:lnT>
                      <a:noFill/>
                    </a:lnT>
                    <a:lnB w="12700">
                      <a:solidFill>
                        <a:schemeClr val="tx1"/>
                      </a:solidFill>
                      <a:prstDash val="solid"/>
                    </a:lnB>
                    <a:noFill/>
                  </a:tcPr>
                </a:tc>
                <a:tc>
                  <a:txBody>
                    <a:bodyPr/>
                    <a:lstStyle/>
                    <a:p>
                      <a:pPr indent="0" algn="ctr">
                        <a:lnSpc>
                          <a:spcPct val="120000"/>
                        </a:lnSpc>
                        <a:spcBef>
                          <a:spcPts val="0"/>
                        </a:spcBef>
                        <a:spcAft>
                          <a:spcPts val="0"/>
                        </a:spcAft>
                      </a:pPr>
                      <a:r>
                        <a:rPr lang="zh-CN" altLang="en-US" sz="2000" b="1" spc="120">
                          <a:solidFill>
                            <a:srgbClr val="5BA080"/>
                          </a:solidFill>
                          <a:latin typeface="微软雅黑" panose="020B0503020204020204" pitchFamily="34" charset="-122"/>
                          <a:ea typeface="微软雅黑" panose="020B0503020204020204" pitchFamily="34" charset="-122"/>
                        </a:rPr>
                        <a:t>上下中</a:t>
                      </a:r>
                      <a:endParaRPr lang="zh-CN" altLang="en-US" sz="2000" b="1" spc="120">
                        <a:solidFill>
                          <a:srgbClr val="5BA080"/>
                        </a:solidFill>
                        <a:latin typeface="微软雅黑" panose="020B0503020204020204" pitchFamily="34" charset="-122"/>
                        <a:ea typeface="微软雅黑" panose="020B0503020204020204" pitchFamily="34" charset="-122"/>
                      </a:endParaRPr>
                    </a:p>
                  </a:txBody>
                  <a:tcPr marL="25400" marR="25400" marT="6350" marB="6350" anchor="ctr">
                    <a:lnL w="6350">
                      <a:solidFill>
                        <a:srgbClr val="FFFFFF"/>
                      </a:solidFill>
                      <a:prstDash val="solid"/>
                    </a:lnL>
                    <a:lnR w="6350">
                      <a:solidFill>
                        <a:srgbClr val="FFFFFF"/>
                      </a:solidFill>
                      <a:prstDash val="solid"/>
                    </a:lnR>
                    <a:lnT>
                      <a:noFill/>
                    </a:lnT>
                    <a:lnB w="12700">
                      <a:solidFill>
                        <a:schemeClr val="tx1"/>
                      </a:solidFill>
                      <a:prstDash val="solid"/>
                    </a:lnB>
                    <a:noFill/>
                  </a:tcPr>
                </a:tc>
                <a:tc>
                  <a:txBody>
                    <a:bodyPr/>
                    <a:lstStyle/>
                    <a:p>
                      <a:pPr indent="0" algn="ctr">
                        <a:lnSpc>
                          <a:spcPct val="120000"/>
                        </a:lnSpc>
                        <a:spcBef>
                          <a:spcPts val="0"/>
                        </a:spcBef>
                        <a:spcAft>
                          <a:spcPts val="0"/>
                        </a:spcAft>
                      </a:pPr>
                      <a:r>
                        <a:rPr lang="zh-CN" altLang="en-US" sz="2000" b="1" spc="120">
                          <a:solidFill>
                            <a:srgbClr val="5BA080"/>
                          </a:solidFill>
                          <a:latin typeface="微软雅黑" panose="020B0503020204020204" pitchFamily="34" charset="-122"/>
                          <a:ea typeface="微软雅黑" panose="020B0503020204020204" pitchFamily="34" charset="-122"/>
                        </a:rPr>
                        <a:t>中上下</a:t>
                      </a:r>
                      <a:endParaRPr lang="zh-CN" altLang="en-US" sz="2000" b="1" spc="120">
                        <a:solidFill>
                          <a:srgbClr val="5BA080"/>
                        </a:solidFill>
                        <a:latin typeface="微软雅黑" panose="020B0503020204020204" pitchFamily="34" charset="-122"/>
                        <a:ea typeface="微软雅黑" panose="020B0503020204020204" pitchFamily="34" charset="-122"/>
                      </a:endParaRPr>
                    </a:p>
                  </a:txBody>
                  <a:tcPr marL="25400" marR="25400" marT="6350" marB="6350" anchor="ctr">
                    <a:lnL w="6350">
                      <a:solidFill>
                        <a:srgbClr val="FFFFFF"/>
                      </a:solidFill>
                      <a:prstDash val="solid"/>
                    </a:lnL>
                    <a:lnR w="6350">
                      <a:solidFill>
                        <a:srgbClr val="FFFFFF"/>
                      </a:solidFill>
                      <a:prstDash val="solid"/>
                    </a:lnR>
                    <a:lnT>
                      <a:noFill/>
                    </a:lnT>
                    <a:lnB w="12700">
                      <a:solidFill>
                        <a:schemeClr val="tx1"/>
                      </a:solidFill>
                      <a:prstDash val="solid"/>
                    </a:lnB>
                    <a:noFill/>
                  </a:tcPr>
                </a:tc>
                <a:tc>
                  <a:txBody>
                    <a:bodyPr/>
                    <a:lstStyle/>
                    <a:p>
                      <a:pPr indent="0" algn="ctr">
                        <a:lnSpc>
                          <a:spcPct val="120000"/>
                        </a:lnSpc>
                        <a:spcBef>
                          <a:spcPts val="0"/>
                        </a:spcBef>
                        <a:spcAft>
                          <a:spcPts val="0"/>
                        </a:spcAft>
                      </a:pPr>
                      <a:r>
                        <a:rPr lang="zh-CN" altLang="en-US" sz="2000" b="1" spc="120">
                          <a:solidFill>
                            <a:srgbClr val="5BA080"/>
                          </a:solidFill>
                          <a:latin typeface="微软雅黑" panose="020B0503020204020204" pitchFamily="34" charset="-122"/>
                          <a:ea typeface="微软雅黑" panose="020B0503020204020204" pitchFamily="34" charset="-122"/>
                        </a:rPr>
                        <a:t>中下上</a:t>
                      </a:r>
                      <a:endParaRPr lang="zh-CN" altLang="en-US" sz="2000" b="1" spc="120">
                        <a:solidFill>
                          <a:srgbClr val="5BA080"/>
                        </a:solidFill>
                        <a:latin typeface="微软雅黑" panose="020B0503020204020204" pitchFamily="34" charset="-122"/>
                        <a:ea typeface="微软雅黑" panose="020B0503020204020204" pitchFamily="34" charset="-122"/>
                      </a:endParaRPr>
                    </a:p>
                  </a:txBody>
                  <a:tcPr marL="25400" marR="25400" marT="6350" marB="6350" anchor="ctr">
                    <a:lnL w="6350">
                      <a:solidFill>
                        <a:srgbClr val="FFFFFF"/>
                      </a:solidFill>
                      <a:prstDash val="solid"/>
                    </a:lnL>
                    <a:lnR w="6350">
                      <a:solidFill>
                        <a:srgbClr val="FFFFFF"/>
                      </a:solidFill>
                      <a:prstDash val="solid"/>
                    </a:lnR>
                    <a:lnT>
                      <a:noFill/>
                    </a:lnT>
                    <a:lnB w="12700">
                      <a:solidFill>
                        <a:schemeClr val="tx1"/>
                      </a:solidFill>
                      <a:prstDash val="solid"/>
                    </a:lnB>
                    <a:noFill/>
                  </a:tcPr>
                </a:tc>
                <a:tc>
                  <a:txBody>
                    <a:bodyPr/>
                    <a:lstStyle/>
                    <a:p>
                      <a:pPr indent="0" algn="ctr">
                        <a:lnSpc>
                          <a:spcPct val="120000"/>
                        </a:lnSpc>
                        <a:spcBef>
                          <a:spcPts val="0"/>
                        </a:spcBef>
                        <a:spcAft>
                          <a:spcPts val="0"/>
                        </a:spcAft>
                      </a:pPr>
                      <a:r>
                        <a:rPr lang="zh-CN" altLang="en-US" sz="2000" b="1" spc="120">
                          <a:solidFill>
                            <a:srgbClr val="5BA080"/>
                          </a:solidFill>
                          <a:latin typeface="微软雅黑" panose="020B0503020204020204" pitchFamily="34" charset="-122"/>
                          <a:ea typeface="微软雅黑" panose="020B0503020204020204" pitchFamily="34" charset="-122"/>
                        </a:rPr>
                        <a:t>下上中</a:t>
                      </a:r>
                      <a:endParaRPr lang="zh-CN" altLang="en-US" sz="2000" b="1" spc="120">
                        <a:solidFill>
                          <a:srgbClr val="5BA080"/>
                        </a:solidFill>
                        <a:latin typeface="微软雅黑" panose="020B0503020204020204" pitchFamily="34" charset="-122"/>
                        <a:ea typeface="微软雅黑" panose="020B0503020204020204" pitchFamily="34" charset="-122"/>
                      </a:endParaRPr>
                    </a:p>
                  </a:txBody>
                  <a:tcPr marL="25400" marR="25400" marT="6350" marB="6350" anchor="ctr">
                    <a:lnL w="6350">
                      <a:solidFill>
                        <a:srgbClr val="FFFFFF"/>
                      </a:solidFill>
                      <a:prstDash val="solid"/>
                    </a:lnL>
                    <a:lnR w="6350">
                      <a:solidFill>
                        <a:srgbClr val="FFFFFF"/>
                      </a:solidFill>
                      <a:prstDash val="solid"/>
                    </a:lnR>
                    <a:lnT>
                      <a:noFill/>
                    </a:lnT>
                    <a:lnB w="12700">
                      <a:solidFill>
                        <a:schemeClr val="tx1"/>
                      </a:solidFill>
                      <a:prstDash val="solid"/>
                    </a:lnB>
                    <a:noFill/>
                  </a:tcPr>
                </a:tc>
                <a:tc>
                  <a:txBody>
                    <a:bodyPr/>
                    <a:lstStyle/>
                    <a:p>
                      <a:pPr indent="0" algn="ctr">
                        <a:lnSpc>
                          <a:spcPct val="120000"/>
                        </a:lnSpc>
                        <a:spcBef>
                          <a:spcPts val="0"/>
                        </a:spcBef>
                        <a:spcAft>
                          <a:spcPts val="0"/>
                        </a:spcAft>
                      </a:pPr>
                      <a:r>
                        <a:rPr lang="zh-CN" altLang="en-US" sz="2000" b="1" spc="120">
                          <a:solidFill>
                            <a:srgbClr val="5BA080"/>
                          </a:solidFill>
                          <a:latin typeface="微软雅黑" panose="020B0503020204020204" pitchFamily="34" charset="-122"/>
                          <a:ea typeface="微软雅黑" panose="020B0503020204020204" pitchFamily="34" charset="-122"/>
                        </a:rPr>
                        <a:t>下中上</a:t>
                      </a:r>
                      <a:endParaRPr lang="zh-CN" altLang="en-US" sz="2000" b="1" spc="120">
                        <a:solidFill>
                          <a:srgbClr val="5BA080"/>
                        </a:solidFill>
                        <a:latin typeface="微软雅黑" panose="020B0503020204020204" pitchFamily="34" charset="-122"/>
                        <a:ea typeface="微软雅黑" panose="020B0503020204020204" pitchFamily="34" charset="-122"/>
                      </a:endParaRPr>
                    </a:p>
                  </a:txBody>
                  <a:tcPr marL="25400" marR="25400" marT="6350" marB="6350" anchor="ctr">
                    <a:lnL w="6350">
                      <a:solidFill>
                        <a:srgbClr val="FFFFFF"/>
                      </a:solidFill>
                      <a:prstDash val="solid"/>
                    </a:lnL>
                    <a:lnR>
                      <a:noFill/>
                    </a:lnR>
                    <a:lnT>
                      <a:noFill/>
                    </a:lnT>
                    <a:lnB w="12700">
                      <a:solidFill>
                        <a:schemeClr val="tx1"/>
                      </a:solidFill>
                      <a:prstDash val="solid"/>
                    </a:lnB>
                    <a:noFill/>
                  </a:tcPr>
                </a:tc>
              </a:tr>
              <a:tr h="558165">
                <a:tc rowSpan="6">
                  <a:txBody>
                    <a:bodyPr/>
                    <a:lstStyle/>
                    <a:p>
                      <a:pPr indent="0" algn="l">
                        <a:lnSpc>
                          <a:spcPct val="120000"/>
                        </a:lnSpc>
                        <a:spcBef>
                          <a:spcPts val="0"/>
                        </a:spcBef>
                        <a:spcAft>
                          <a:spcPts val="0"/>
                        </a:spcAft>
                      </a:pPr>
                      <a:r>
                        <a:rPr lang="zh-CN" altLang="en-US" sz="2100" b="1" spc="120">
                          <a:latin typeface="微软雅黑" panose="020B0503020204020204" pitchFamily="34" charset="-122"/>
                          <a:ea typeface="微软雅黑" panose="020B0503020204020204" pitchFamily="34" charset="-122"/>
                        </a:rPr>
                        <a:t>齐威王</a:t>
                      </a:r>
                      <a:endParaRPr lang="zh-CN" altLang="en-US" sz="2100" b="1" spc="120">
                        <a:solidFill>
                          <a:srgbClr val="404040"/>
                        </a:solidFill>
                        <a:latin typeface="微软雅黑" panose="020B0503020204020204" pitchFamily="34" charset="-122"/>
                        <a:ea typeface="微软雅黑" panose="020B0503020204020204" pitchFamily="34" charset="-122"/>
                      </a:endParaRPr>
                    </a:p>
                  </a:txBody>
                  <a:tcPr marL="25400" marR="25400" marT="6350" marB="6350" vert="eaVert" anchor="ctr">
                    <a:lnL>
                      <a:noFill/>
                    </a:lnL>
                    <a:lnR>
                      <a:noFill/>
                    </a:lnR>
                    <a:lnT>
                      <a:noFill/>
                    </a:lnT>
                    <a:lnB>
                      <a:noFill/>
                    </a:lnB>
                    <a:solidFill>
                      <a:srgbClr val="FFFFFF"/>
                    </a:solidFill>
                  </a:tcPr>
                </a:tc>
                <a:tc>
                  <a:txBody>
                    <a:bodyPr/>
                    <a:lstStyle/>
                    <a:p>
                      <a:pPr indent="0" algn="l">
                        <a:lnSpc>
                          <a:spcPct val="120000"/>
                        </a:lnSpc>
                        <a:spcBef>
                          <a:spcPts val="0"/>
                        </a:spcBef>
                        <a:spcAft>
                          <a:spcPts val="0"/>
                        </a:spcAft>
                      </a:pPr>
                      <a:r>
                        <a:rPr lang="zh-CN" altLang="en-US" sz="2000" b="0" spc="60">
                          <a:solidFill>
                            <a:srgbClr val="404040"/>
                          </a:solidFill>
                          <a:latin typeface="微软雅黑" panose="020B0503020204020204" pitchFamily="34" charset="-122"/>
                          <a:ea typeface="微软雅黑" panose="020B0503020204020204" pitchFamily="34" charset="-122"/>
                        </a:rPr>
                        <a:t>上中下</a:t>
                      </a:r>
                      <a:endParaRPr lang="zh-CN" altLang="en-US" sz="20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12700">
                      <a:solidFill>
                        <a:schemeClr val="tx1"/>
                      </a:solidFill>
                      <a:prstDash val="solid"/>
                    </a:lnR>
                    <a:lnT w="12700">
                      <a:solidFill>
                        <a:schemeClr val="tx1"/>
                      </a:solidFill>
                      <a:prstDash val="solid"/>
                    </a:lnT>
                    <a:lnB w="6350">
                      <a:solidFill>
                        <a:srgbClr val="D9D9D9"/>
                      </a:solidFill>
                      <a:prstDash val="solid"/>
                    </a:lnB>
                    <a:solidFill>
                      <a:srgbClr val="FFFFFF"/>
                    </a:solidFill>
                  </a:tcPr>
                </a:tc>
              </a:tr>
              <a:tr h="589915">
                <a:tc vMerge="1">
                  <a:tcPr>
                    <a:lnL>
                      <a:noFill/>
                    </a:lnL>
                    <a:lnR>
                      <a:noFill/>
                    </a:lnR>
                  </a:tcPr>
                </a:tc>
                <a:tc>
                  <a:txBody>
                    <a:bodyPr/>
                    <a:lstStyle/>
                    <a:p>
                      <a:pPr marR="0" lvl="0" indent="0" algn="l" defTabSz="914400" rtl="0" eaLnBrk="1" fontAlgn="auto" latinLnBrk="0" hangingPunct="1">
                        <a:lnSpc>
                          <a:spcPct val="120000"/>
                        </a:lnSpc>
                        <a:spcBef>
                          <a:spcPts val="0"/>
                        </a:spcBef>
                        <a:spcAft>
                          <a:spcPts val="0"/>
                        </a:spcAft>
                        <a:buClrTx/>
                        <a:buSzTx/>
                        <a:buFontTx/>
                        <a:buNone/>
                        <a:defRPr/>
                      </a:pPr>
                      <a:r>
                        <a:rPr lang="zh-CN" altLang="en-US" sz="2000" b="0" spc="60">
                          <a:solidFill>
                            <a:srgbClr val="404040"/>
                          </a:solidFill>
                          <a:latin typeface="微软雅黑" panose="020B0503020204020204" pitchFamily="34" charset="-122"/>
                          <a:ea typeface="微软雅黑" panose="020B0503020204020204" pitchFamily="34" charset="-122"/>
                        </a:rPr>
                        <a:t>上下中</a:t>
                      </a:r>
                      <a:endParaRPr lang="zh-CN" altLang="en-US" sz="20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16255">
                <a:tc vMerge="1">
                  <a:tcPr>
                    <a:lnL>
                      <a:noFill/>
                    </a:lnL>
                    <a:lnR>
                      <a:noFill/>
                    </a:lnR>
                  </a:tcPr>
                </a:tc>
                <a:tc>
                  <a:txBody>
                    <a:bodyPr/>
                    <a:lstStyle/>
                    <a:p>
                      <a:pPr marR="0" lvl="0" indent="0" algn="l" defTabSz="914400" rtl="0" eaLnBrk="1" fontAlgn="auto" latinLnBrk="0" hangingPunct="1">
                        <a:lnSpc>
                          <a:spcPct val="120000"/>
                        </a:lnSpc>
                        <a:spcBef>
                          <a:spcPts val="0"/>
                        </a:spcBef>
                        <a:spcAft>
                          <a:spcPts val="0"/>
                        </a:spcAft>
                        <a:buClrTx/>
                        <a:buSzTx/>
                        <a:buFontTx/>
                        <a:buNone/>
                        <a:defRPr/>
                      </a:pPr>
                      <a:r>
                        <a:rPr lang="zh-CN" altLang="en-US" sz="2000" b="0" spc="60">
                          <a:solidFill>
                            <a:srgbClr val="404040"/>
                          </a:solidFill>
                          <a:latin typeface="微软雅黑" panose="020B0503020204020204" pitchFamily="34" charset="-122"/>
                          <a:ea typeface="微软雅黑" panose="020B0503020204020204" pitchFamily="34" charset="-122"/>
                        </a:rPr>
                        <a:t>中上下</a:t>
                      </a:r>
                      <a:endParaRPr lang="zh-CN" altLang="en-US" sz="20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47370">
                <a:tc vMerge="1">
                  <a:tcPr>
                    <a:lnL>
                      <a:noFill/>
                    </a:lnL>
                    <a:lnR>
                      <a:noFill/>
                    </a:lnR>
                  </a:tcPr>
                </a:tc>
                <a:tc>
                  <a:txBody>
                    <a:bodyPr/>
                    <a:lstStyle/>
                    <a:p>
                      <a:pPr marR="0" lvl="0" indent="0" algn="l" defTabSz="914400" rtl="0" eaLnBrk="1" fontAlgn="auto" latinLnBrk="0" hangingPunct="1">
                        <a:lnSpc>
                          <a:spcPct val="120000"/>
                        </a:lnSpc>
                        <a:spcBef>
                          <a:spcPts val="0"/>
                        </a:spcBef>
                        <a:spcAft>
                          <a:spcPts val="0"/>
                        </a:spcAft>
                        <a:buClrTx/>
                        <a:buSzTx/>
                        <a:buFontTx/>
                        <a:buNone/>
                        <a:defRPr/>
                      </a:pPr>
                      <a:r>
                        <a:rPr lang="zh-CN" altLang="en-US" sz="2000" b="0" spc="60">
                          <a:solidFill>
                            <a:srgbClr val="404040"/>
                          </a:solidFill>
                          <a:latin typeface="微软雅黑" panose="020B0503020204020204" pitchFamily="34" charset="-122"/>
                          <a:ea typeface="微软雅黑" panose="020B0503020204020204" pitchFamily="34" charset="-122"/>
                        </a:rPr>
                        <a:t>中下上</a:t>
                      </a:r>
                      <a:endParaRPr lang="zh-CN" altLang="en-US" sz="20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68325">
                <a:tc vMerge="1">
                  <a:tcPr>
                    <a:lnL>
                      <a:noFill/>
                    </a:lnL>
                    <a:lnR>
                      <a:noFill/>
                    </a:lnR>
                  </a:tcPr>
                </a:tc>
                <a:tc>
                  <a:txBody>
                    <a:bodyPr/>
                    <a:lstStyle/>
                    <a:p>
                      <a:pPr marR="0" lvl="0" indent="0" algn="l" defTabSz="914400" rtl="0" eaLnBrk="1" fontAlgn="auto" latinLnBrk="0" hangingPunct="1">
                        <a:lnSpc>
                          <a:spcPct val="120000"/>
                        </a:lnSpc>
                        <a:spcBef>
                          <a:spcPts val="0"/>
                        </a:spcBef>
                        <a:spcAft>
                          <a:spcPts val="0"/>
                        </a:spcAft>
                        <a:buClrTx/>
                        <a:buSzTx/>
                        <a:buFontTx/>
                        <a:buNone/>
                        <a:defRPr/>
                      </a:pPr>
                      <a:r>
                        <a:rPr lang="zh-CN" altLang="en-US" sz="2000" b="0" spc="60">
                          <a:solidFill>
                            <a:srgbClr val="404040"/>
                          </a:solidFill>
                          <a:latin typeface="微软雅黑" panose="020B0503020204020204" pitchFamily="34" charset="-122"/>
                          <a:ea typeface="微软雅黑" panose="020B0503020204020204" pitchFamily="34" charset="-122"/>
                        </a:rPr>
                        <a:t>下上中</a:t>
                      </a:r>
                      <a:endParaRPr lang="zh-CN" altLang="en-US" sz="20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47370">
                <a:tc vMerge="1">
                  <a:tcPr>
                    <a:lnL>
                      <a:noFill/>
                    </a:lnL>
                    <a:lnR>
                      <a:noFill/>
                    </a:lnR>
                    <a:lnB>
                      <a:noFill/>
                    </a:lnB>
                  </a:tcPr>
                </a:tc>
                <a:tc>
                  <a:txBody>
                    <a:bodyPr/>
                    <a:lstStyle/>
                    <a:p>
                      <a:pPr marR="0" lvl="0" indent="0" algn="l" defTabSz="914400" rtl="0" eaLnBrk="1" fontAlgn="auto" latinLnBrk="0" hangingPunct="1">
                        <a:lnSpc>
                          <a:spcPct val="120000"/>
                        </a:lnSpc>
                        <a:spcBef>
                          <a:spcPts val="0"/>
                        </a:spcBef>
                        <a:spcAft>
                          <a:spcPts val="0"/>
                        </a:spcAft>
                        <a:buClrTx/>
                        <a:buSzTx/>
                        <a:buFontTx/>
                        <a:buNone/>
                        <a:defRPr/>
                      </a:pPr>
                      <a:r>
                        <a:rPr lang="zh-CN" altLang="en-US" sz="2000" b="0" spc="60">
                          <a:solidFill>
                            <a:srgbClr val="404040"/>
                          </a:solidFill>
                          <a:latin typeface="微软雅黑" panose="020B0503020204020204" pitchFamily="34" charset="-122"/>
                          <a:ea typeface="微软雅黑" panose="020B0503020204020204" pitchFamily="34" charset="-122"/>
                        </a:rPr>
                        <a:t>下中上</a:t>
                      </a:r>
                      <a:endParaRPr lang="zh-CN" altLang="en-US" sz="2000" b="0" spc="60">
                        <a:solidFill>
                          <a:srgbClr val="404040"/>
                        </a:solidFill>
                        <a:latin typeface="微软雅黑" panose="020B0503020204020204" pitchFamily="34" charset="-122"/>
                        <a:ea typeface="微软雅黑" panose="020B0503020204020204" pitchFamily="34" charset="-122"/>
                      </a:endParaRPr>
                    </a:p>
                  </a:txBody>
                  <a:tcPr marL="25400" marR="25400" marT="6350" marB="6350" anchor="ctr">
                    <a:lnL>
                      <a:noFill/>
                    </a:lnL>
                    <a:lnR w="12700">
                      <a:solidFill>
                        <a:schemeClr val="tx1"/>
                      </a:solidFill>
                      <a:prstDash val="solid"/>
                    </a:lnR>
                    <a:lnT>
                      <a:noFill/>
                    </a:lnT>
                    <a:lnB>
                      <a:noFill/>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12700">
                      <a:solidFill>
                        <a:schemeClr val="tx1"/>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lstStyle/>
                    <a:p>
                      <a:pPr indent="0" algn="l">
                        <a:lnSpc>
                          <a:spcPct val="120000"/>
                        </a:lnSpc>
                        <a:spcBef>
                          <a:spcPts val="0"/>
                        </a:spcBef>
                        <a:spcAft>
                          <a:spcPts val="0"/>
                        </a:spcAft>
                      </a:pP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5400" marR="25400" marT="6350" marB="6350" anchor="ctr">
                    <a:lnL w="6350">
                      <a:solidFill>
                        <a:srgbClr val="D9D9D9"/>
                      </a:solidFill>
                      <a:prstDash val="solid"/>
                    </a:lnL>
                    <a:lnR w="12700">
                      <a:solidFill>
                        <a:schemeClr val="tx1"/>
                      </a:solidFill>
                      <a:prstDash val="solid"/>
                    </a:lnR>
                    <a:lnT w="6350">
                      <a:solidFill>
                        <a:srgbClr val="D9D9D9"/>
                      </a:solidFill>
                      <a:prstDash val="solid"/>
                    </a:lnT>
                    <a:lnB w="19050">
                      <a:solidFill>
                        <a:srgbClr val="595959"/>
                      </a:solidFill>
                      <a:prstDash val="solid"/>
                    </a:lnB>
                    <a:solidFill>
                      <a:srgbClr val="FFFFFF"/>
                    </a:solidFill>
                  </a:tcPr>
                </a:tc>
              </a:tr>
            </a:tbl>
          </a:graphicData>
        </a:graphic>
      </p:graphicFrame>
      <p:pic>
        <p:nvPicPr>
          <p:cNvPr id="2"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奇数定理之例外3</a:t>
            </a:r>
            <a:endParaRPr lang="zh-CN" altLang="en-US" sz="3200" dirty="0">
              <a:solidFill>
                <a:schemeClr val="accent1"/>
              </a:solidFill>
              <a:sym typeface="+mn-ea"/>
            </a:endParaRPr>
          </a:p>
        </p:txBody>
      </p:sp>
      <p:cxnSp>
        <p:nvCxnSpPr>
          <p:cNvPr id="18" name="直接连接符 1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itle 6"/>
          <p:cNvSpPr txBox="1"/>
          <p:nvPr>
            <p:custDataLst>
              <p:tags r:id="rId3"/>
            </p:custDataLst>
          </p:nvPr>
        </p:nvSpPr>
        <p:spPr>
          <a:xfrm>
            <a:off x="623525" y="105281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设p＝(p1，p2，p3，p4，p5，p6)为齐威王策略（上中下，上下中，中上下，中下上，下上中，下中上）对应的概率；</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8290" lvl="0" indent="0" algn="l" fontAlgn="ctr">
              <a:lnSpc>
                <a:spcPct val="130000"/>
              </a:lnSpc>
              <a:spcBef>
                <a:spcPts val="1000"/>
              </a:spcBef>
              <a:spcAft>
                <a:spcPts val="0"/>
              </a:spcAft>
              <a:buSzPct val="100000"/>
              <a:buFont typeface="Wingdings" panose="05000000000000000000" charset="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 (q1， q2， q3， q4， q5， q6)为田忌策略（上中下，上下中，中上下，中下上，</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下上中，下中上）对应的概率。</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有无数个纳什均衡（解的过程略）：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p</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cs typeface="Times New Roman" panose="02020603050405020304" pitchFamily="18" charset="0"/>
                <a:sym typeface="+mn-ea"/>
              </a:rPr>
              <a:t>，其中，</a:t>
            </a:r>
            <a:r>
              <a:rPr lang="en-US" altLang="zh-CN" sz="2000" dirty="0">
                <a:latin typeface="Times New Roman" panose="02020603050405020304" pitchFamily="18" charset="0"/>
                <a:cs typeface="Times New Roman" panose="02020603050405020304" pitchFamily="18" charset="0"/>
                <a:sym typeface="+mn-ea"/>
              </a:rPr>
              <a:t>0</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q</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cs typeface="Times New Roman" panose="02020603050405020304" pitchFamily="18" charset="0"/>
                <a:sym typeface="+mn-ea"/>
              </a:rPr>
              <a:t>，其中，</a:t>
            </a:r>
            <a:r>
              <a:rPr lang="en-US" altLang="zh-CN" sz="2000" dirty="0">
                <a:latin typeface="Times New Roman" panose="02020603050405020304" pitchFamily="18" charset="0"/>
                <a:cs typeface="Times New Roman" panose="02020603050405020304" pitchFamily="18" charset="0"/>
                <a:sym typeface="+mn-ea"/>
              </a:rPr>
              <a:t>0</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dirty="0">
                <a:sym typeface="+mn-ea"/>
              </a:rPr>
              <a:t>特别是，当</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sym typeface="+mn-ea"/>
              </a:rPr>
              <a:t>时，</a:t>
            </a:r>
            <a:r>
              <a:rPr lang="en-US" altLang="zh-CN" sz="2000" i="1" dirty="0">
                <a:latin typeface="Times New Roman" panose="02020603050405020304" pitchFamily="18" charset="0"/>
                <a:cs typeface="Times New Roman" panose="02020603050405020304" pitchFamily="18" charset="0"/>
                <a:sym typeface="+mn-ea"/>
              </a:rPr>
              <a:t>p</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sym typeface="+mn-ea"/>
              </a:rPr>
              <a:t>和</a:t>
            </a:r>
            <a:r>
              <a:rPr lang="en-US" altLang="zh-CN" sz="2000" i="1" dirty="0">
                <a:latin typeface="Times New Roman" panose="02020603050405020304" pitchFamily="18" charset="0"/>
                <a:cs typeface="Times New Roman" panose="02020603050405020304" pitchFamily="18" charset="0"/>
                <a:sym typeface="+mn-ea"/>
              </a:rPr>
              <a:t>q</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纳什均衡的存在性</a:t>
            </a:r>
            <a:endParaRPr lang="zh-CN" altLang="en-US" sz="3200" dirty="0">
              <a:solidFill>
                <a:schemeClr val="accent1"/>
              </a:solidFill>
              <a:sym typeface="+mn-ea"/>
            </a:endParaRPr>
          </a:p>
        </p:txBody>
      </p:sp>
      <p:cxnSp>
        <p:nvCxnSpPr>
          <p:cNvPr id="18" name="直接连接符 1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144396" name="组合 144395"/>
          <p:cNvGrpSpPr/>
          <p:nvPr/>
        </p:nvGrpSpPr>
        <p:grpSpPr>
          <a:xfrm>
            <a:off x="2639695" y="764223"/>
            <a:ext cx="5616575" cy="4537075"/>
            <a:chOff x="1973" y="1162"/>
            <a:chExt cx="3538" cy="2858"/>
          </a:xfrm>
        </p:grpSpPr>
        <p:sp>
          <p:nvSpPr>
            <p:cNvPr id="144388" name="椭圆 144387"/>
            <p:cNvSpPr/>
            <p:nvPr/>
          </p:nvSpPr>
          <p:spPr>
            <a:xfrm>
              <a:off x="3515" y="1932"/>
              <a:ext cx="999" cy="636"/>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4389" name="椭圆 144388"/>
            <p:cNvSpPr/>
            <p:nvPr/>
          </p:nvSpPr>
          <p:spPr>
            <a:xfrm>
              <a:off x="2925" y="1750"/>
              <a:ext cx="1861" cy="1408"/>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4390" name="椭圆 144389"/>
            <p:cNvSpPr/>
            <p:nvPr/>
          </p:nvSpPr>
          <p:spPr>
            <a:xfrm>
              <a:off x="2381" y="1526"/>
              <a:ext cx="2767" cy="1995"/>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4391" name="椭圆 144390"/>
            <p:cNvSpPr/>
            <p:nvPr/>
          </p:nvSpPr>
          <p:spPr>
            <a:xfrm>
              <a:off x="1973" y="1162"/>
              <a:ext cx="3538" cy="2858"/>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44392" name="文本框 144391"/>
            <p:cNvSpPr txBox="1"/>
            <p:nvPr/>
          </p:nvSpPr>
          <p:spPr>
            <a:xfrm>
              <a:off x="3696" y="2195"/>
              <a:ext cx="681" cy="194"/>
            </a:xfrm>
            <a:prstGeom prst="rect">
              <a:avLst/>
            </a:prstGeom>
            <a:noFill/>
            <a:ln w="9525">
              <a:noFill/>
            </a:ln>
          </p:spPr>
          <p:txBody>
            <a:bodyPr lIns="0" tIns="0" rIns="0" bIns="0">
              <a:spAutoFit/>
            </a:bodyPr>
            <a:lstStyle/>
            <a:p>
              <a:pPr>
                <a:spcBef>
                  <a:spcPct val="50000"/>
                </a:spcBef>
              </a:pPr>
              <a:r>
                <a:rPr lang="zh-CN" altLang="en-US" sz="2000" dirty="0">
                  <a:latin typeface="Tahoma" panose="020B0604030504040204" pitchFamily="34" charset="0"/>
                </a:rPr>
                <a:t>上策均衡</a:t>
              </a:r>
              <a:endParaRPr lang="zh-CN" altLang="en-US" sz="2000" dirty="0">
                <a:latin typeface="Tahoma" panose="020B0604030504040204" pitchFamily="34" charset="0"/>
              </a:endParaRPr>
            </a:p>
          </p:txBody>
        </p:sp>
        <p:sp>
          <p:nvSpPr>
            <p:cNvPr id="144393" name="文本框 144392"/>
            <p:cNvSpPr txBox="1"/>
            <p:nvPr/>
          </p:nvSpPr>
          <p:spPr>
            <a:xfrm>
              <a:off x="3152" y="2648"/>
              <a:ext cx="1406" cy="194"/>
            </a:xfrm>
            <a:prstGeom prst="rect">
              <a:avLst/>
            </a:prstGeom>
            <a:noFill/>
            <a:ln w="9525">
              <a:noFill/>
            </a:ln>
          </p:spPr>
          <p:txBody>
            <a:bodyPr lIns="0" tIns="0" rIns="0" bIns="0">
              <a:spAutoFit/>
            </a:bodyPr>
            <a:lstStyle/>
            <a:p>
              <a:pPr>
                <a:spcBef>
                  <a:spcPct val="50000"/>
                </a:spcBef>
              </a:pPr>
              <a:r>
                <a:rPr lang="zh-CN" altLang="en-US" sz="2000" dirty="0">
                  <a:latin typeface="Tahoma" panose="020B0604030504040204" pitchFamily="34" charset="0"/>
                </a:rPr>
                <a:t>剔除下策均衡</a:t>
              </a:r>
              <a:endParaRPr lang="zh-CN" altLang="en-US" sz="2000" dirty="0">
                <a:latin typeface="Tahoma" panose="020B0604030504040204" pitchFamily="34" charset="0"/>
              </a:endParaRPr>
            </a:p>
          </p:txBody>
        </p:sp>
        <p:sp>
          <p:nvSpPr>
            <p:cNvPr id="144394" name="文本框 144393"/>
            <p:cNvSpPr txBox="1"/>
            <p:nvPr/>
          </p:nvSpPr>
          <p:spPr>
            <a:xfrm>
              <a:off x="3017" y="3180"/>
              <a:ext cx="1315" cy="251"/>
            </a:xfrm>
            <a:prstGeom prst="rect">
              <a:avLst/>
            </a:prstGeom>
            <a:noFill/>
            <a:ln w="9525">
              <a:noFill/>
            </a:ln>
          </p:spPr>
          <p:txBody>
            <a:bodyPr>
              <a:spAutoFit/>
            </a:bodyPr>
            <a:lstStyle/>
            <a:p>
              <a:pPr>
                <a:spcBef>
                  <a:spcPct val="50000"/>
                </a:spcBef>
              </a:pPr>
              <a:r>
                <a:rPr lang="zh-CN" altLang="en-US" sz="2000" dirty="0">
                  <a:latin typeface="Tahoma" panose="020B0604030504040204" pitchFamily="34" charset="0"/>
                </a:rPr>
                <a:t>纯策略纳什均衡</a:t>
              </a:r>
              <a:endParaRPr lang="zh-CN" altLang="en-US" sz="2000" dirty="0">
                <a:latin typeface="Tahoma" panose="020B0604030504040204" pitchFamily="34" charset="0"/>
              </a:endParaRPr>
            </a:p>
          </p:txBody>
        </p:sp>
        <p:sp>
          <p:nvSpPr>
            <p:cNvPr id="144395" name="文本框 144394"/>
            <p:cNvSpPr txBox="1"/>
            <p:nvPr/>
          </p:nvSpPr>
          <p:spPr>
            <a:xfrm>
              <a:off x="2971" y="3612"/>
              <a:ext cx="1451" cy="251"/>
            </a:xfrm>
            <a:prstGeom prst="rect">
              <a:avLst/>
            </a:prstGeom>
            <a:noFill/>
            <a:ln w="9525">
              <a:noFill/>
            </a:ln>
          </p:spPr>
          <p:txBody>
            <a:bodyPr>
              <a:spAutoFit/>
            </a:bodyPr>
            <a:lstStyle/>
            <a:p>
              <a:pPr>
                <a:spcBef>
                  <a:spcPct val="50000"/>
                </a:spcBef>
              </a:pPr>
              <a:r>
                <a:rPr lang="zh-CN" altLang="en-US" sz="2000" dirty="0">
                  <a:latin typeface="Tahoma" panose="020B0604030504040204" pitchFamily="34" charset="0"/>
                </a:rPr>
                <a:t>混合策略纳什均衡</a:t>
              </a:r>
              <a:endParaRPr lang="zh-CN" altLang="en-US" sz="2000" dirty="0">
                <a:latin typeface="Tahoma" panose="020B0604030504040204" pitchFamily="34" charset="0"/>
              </a:endParaRPr>
            </a:p>
          </p:txBody>
        </p:sp>
      </p:grpSp>
      <p:sp>
        <p:nvSpPr>
          <p:cNvPr id="144387" name="文本占位符 144386"/>
          <p:cNvSpPr>
            <a:spLocks noGrp="1"/>
          </p:cNvSpPr>
          <p:nvPr/>
        </p:nvSpPr>
        <p:spPr>
          <a:xfrm>
            <a:off x="1559560" y="5624195"/>
            <a:ext cx="9124315" cy="184340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algn="just">
              <a:lnSpc>
                <a:spcPct val="130000"/>
              </a:lnSpc>
              <a:spcBef>
                <a:spcPts val="0"/>
              </a:spcBef>
            </a:pPr>
            <a:r>
              <a:rPr lang="zh-CN" altLang="en-US" sz="2400" dirty="0">
                <a:latin typeface="Times New Roman" panose="02020603050405020304" pitchFamily="18" charset="0"/>
              </a:rPr>
              <a:t>前一个均衡是后一个均衡的特例，后一个均衡是前一个的扩展。</a:t>
            </a:r>
            <a:endParaRPr lang="zh-CN" altLang="en-US" sz="2400" dirty="0">
              <a:latin typeface="Times New Roman" panose="02020603050405020304" pitchFamily="18" charset="0"/>
            </a:endParaRPr>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文本占位符 143362"/>
          <p:cNvSpPr>
            <a:spLocks noGrp="1"/>
          </p:cNvSpPr>
          <p:nvPr>
            <p:ph type="body" idx="1"/>
          </p:nvPr>
        </p:nvSpPr>
        <p:spPr>
          <a:xfrm>
            <a:off x="767080" y="980440"/>
            <a:ext cx="11318240" cy="5284470"/>
          </a:xfrm>
        </p:spPr>
        <p:txBody>
          <a:bodyPr/>
          <a:lstStyle/>
          <a:p>
            <a:r>
              <a:rPr lang="zh-CN" altLang="en-US" sz="2400" b="1" dirty="0">
                <a:latin typeface="Times New Roman" panose="02020603050405020304" pitchFamily="18" charset="0"/>
              </a:rPr>
              <a:t>存在性定理</a:t>
            </a:r>
            <a:endParaRPr lang="zh-CN" altLang="en-US" sz="2400" b="1" dirty="0">
              <a:latin typeface="Times New Roman" panose="02020603050405020304" pitchFamily="18" charset="0"/>
            </a:endParaRPr>
          </a:p>
          <a:p>
            <a:pPr>
              <a:buFont typeface="Wingdings" panose="05000000000000000000" pitchFamily="2" charset="2"/>
              <a:buChar char="Ø"/>
            </a:pPr>
            <a:r>
              <a:rPr sz="2000" b="1" spc="100">
                <a:ln w="3175">
                  <a:noFill/>
                  <a:prstDash val="dash"/>
                </a:ln>
                <a:solidFill>
                  <a:schemeClr val="dk1">
                    <a:lumMod val="75000"/>
                    <a:lumOff val="25000"/>
                  </a:schemeClr>
                </a:solidFill>
                <a:latin typeface="微软雅黑" panose="020B0503020204020204" pitchFamily="34" charset="-122"/>
                <a:cs typeface="微软雅黑" panose="020B0503020204020204" pitchFamily="34" charset="-122"/>
                <a:sym typeface="+mn-ea"/>
              </a:rPr>
              <a:t>纳什定理：</a:t>
            </a:r>
            <a:endParaRPr sz="2000" spc="100">
              <a:ln w="3175">
                <a:noFill/>
                <a:prstDash val="dash"/>
              </a:ln>
              <a:solidFill>
                <a:schemeClr val="dk1">
                  <a:lumMod val="75000"/>
                  <a:lumOff val="25000"/>
                </a:schemeClr>
              </a:solidFill>
              <a:latin typeface="微软雅黑" panose="020B0503020204020204" pitchFamily="34" charset="-122"/>
              <a:cs typeface="微软雅黑" panose="020B0503020204020204" pitchFamily="34" charset="-122"/>
              <a:sym typeface="+mn-ea"/>
            </a:endParaRPr>
          </a:p>
          <a:p>
            <a:pPr marL="0" indent="0">
              <a:buFont typeface="Wingdings" panose="05000000000000000000" pitchFamily="2" charset="2"/>
              <a:buNone/>
            </a:pPr>
            <a:r>
              <a:rPr lang="en-US" altLang="zh-CN" sz="2000" spc="100">
                <a:ln w="3175">
                  <a:noFill/>
                  <a:prstDash val="dash"/>
                </a:ln>
                <a:solidFill>
                  <a:schemeClr val="dk1">
                    <a:lumMod val="75000"/>
                    <a:lumOff val="25000"/>
                  </a:schemeClr>
                </a:solidFill>
                <a:latin typeface="微软雅黑" panose="020B0503020204020204" pitchFamily="34" charset="-122"/>
                <a:cs typeface="微软雅黑" panose="020B0503020204020204" pitchFamily="34" charset="-122"/>
                <a:sym typeface="+mn-ea"/>
              </a:rPr>
              <a:t>   </a:t>
            </a:r>
            <a:r>
              <a:rPr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在一个有</a:t>
            </a:r>
            <a:r>
              <a:rPr lang="en-US" altLang="zh-CN"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n</a:t>
            </a:r>
            <a:r>
              <a:rPr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个博弈方的博弈</a:t>
            </a:r>
            <a:r>
              <a:rPr lang="en-US" altLang="zh-CN"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                                     </a:t>
            </a:r>
            <a:r>
              <a:rPr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中，如果</a:t>
            </a:r>
            <a:r>
              <a:rPr lang="en-US" altLang="zh-CN"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n</a:t>
            </a:r>
            <a:r>
              <a:rPr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是有限的，且</a:t>
            </a:r>
            <a:r>
              <a:rPr lang="en-US" altLang="zh-CN"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S</a:t>
            </a:r>
            <a:r>
              <a:rPr lang="en-US" altLang="zh-CN" sz="2000" spc="100" baseline="-250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i</a:t>
            </a:r>
            <a:r>
              <a:rPr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都是有限集（对</a:t>
            </a:r>
            <a:r>
              <a:rPr lang="en-US" altLang="zh-CN"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               </a:t>
            </a:r>
            <a:r>
              <a:rPr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rPr>
              <a:t>），则该博弈至少存在一个纳什均衡，但可能包含混合策略。</a:t>
            </a:r>
            <a:endParaRPr sz="2000" spc="100">
              <a:ln w="3175">
                <a:noFill/>
                <a:prstDash val="dash"/>
              </a:ln>
              <a:solidFill>
                <a:schemeClr val="dk1">
                  <a:lumMod val="75000"/>
                  <a:lumOff val="25000"/>
                </a:schemeClr>
              </a:solidFill>
              <a:latin typeface="Times New Roman" panose="02020603050405020304" pitchFamily="18" charset="0"/>
              <a:cs typeface="Times New Roman" panose="02020603050405020304" pitchFamily="18" charset="0"/>
              <a:sym typeface="+mn-ea"/>
            </a:endParaRPr>
          </a:p>
          <a:p>
            <a:pPr marL="0" indent="0">
              <a:buFont typeface="Wingdings" panose="05000000000000000000" pitchFamily="2" charset="2"/>
              <a:buNone/>
            </a:pPr>
            <a:r>
              <a:rPr lang="en-US" altLang="zh-CN" sz="2000" spc="100">
                <a:ln w="3175">
                  <a:noFill/>
                  <a:prstDash val="dash"/>
                </a:ln>
                <a:solidFill>
                  <a:schemeClr val="dk1">
                    <a:lumMod val="75000"/>
                    <a:lumOff val="25000"/>
                  </a:schemeClr>
                </a:solidFill>
                <a:latin typeface="微软雅黑" panose="020B0503020204020204" pitchFamily="34" charset="-122"/>
                <a:cs typeface="微软雅黑" panose="020B0503020204020204" pitchFamily="34" charset="-122"/>
                <a:sym typeface="+mn-ea"/>
              </a:rPr>
              <a:t>  </a:t>
            </a:r>
            <a:r>
              <a:rPr sz="2000" spc="100">
                <a:ln w="3175">
                  <a:noFill/>
                  <a:prstDash val="dash"/>
                </a:ln>
                <a:solidFill>
                  <a:schemeClr val="dk1">
                    <a:lumMod val="75000"/>
                    <a:lumOff val="25000"/>
                  </a:schemeClr>
                </a:solidFill>
                <a:latin typeface="微软雅黑" panose="020B0503020204020204" pitchFamily="34" charset="-122"/>
                <a:cs typeface="微软雅黑" panose="020B0503020204020204" pitchFamily="34" charset="-122"/>
                <a:sym typeface="+mn-ea"/>
              </a:rPr>
              <a:t>任何有限策略博弈均有(混合策略的)纳什均衡存在。</a:t>
            </a:r>
            <a:endParaRPr lang="zh-CN" altLang="en-US" sz="2000" spc="100" dirty="0">
              <a:ln w="3175">
                <a:noFill/>
                <a:prstDash val="dash"/>
              </a:ln>
              <a:solidFill>
                <a:schemeClr val="dk1">
                  <a:lumMod val="75000"/>
                  <a:lumOff val="25000"/>
                </a:schemeClr>
              </a:solidFill>
              <a:latin typeface="微软雅黑" panose="020B0503020204020204" pitchFamily="34" charset="-122"/>
              <a:cs typeface="微软雅黑" panose="020B0503020204020204" pitchFamily="34" charset="-122"/>
              <a:sym typeface="+mn-ea"/>
            </a:endParaRPr>
          </a:p>
          <a:p>
            <a:pPr marL="0" indent="0">
              <a:buFont typeface="Wingdings" panose="05000000000000000000" pitchFamily="2" charset="2"/>
              <a:buNone/>
            </a:pPr>
            <a:r>
              <a:rPr sz="2000" spc="100">
                <a:ln w="3175">
                  <a:noFill/>
                  <a:prstDash val="dash"/>
                </a:ln>
                <a:solidFill>
                  <a:schemeClr val="dk1">
                    <a:lumMod val="75000"/>
                    <a:lumOff val="25000"/>
                  </a:schemeClr>
                </a:solidFill>
                <a:latin typeface="微软雅黑" panose="020B0503020204020204" pitchFamily="34" charset="-122"/>
                <a:cs typeface="微软雅黑" panose="020B0503020204020204" pitchFamily="34" charset="-122"/>
                <a:sym typeface="+mn-ea"/>
              </a:rPr>
              <a:t>（纳什均衡的普遍存在性正是纳什均衡成为非合作博弈分析核心概念的根本原因之一）</a:t>
            </a:r>
            <a:endParaRPr lang="zh-CN" altLang="en-US" sz="2000" dirty="0">
              <a:latin typeface="Times New Roman" panose="02020603050405020304" pitchFamily="18" charset="0"/>
            </a:endParaRPr>
          </a:p>
          <a:p>
            <a:pPr algn="l">
              <a:buClrTx/>
              <a:buSzTx/>
            </a:pPr>
            <a:r>
              <a:rPr lang="zh-CN" altLang="en-US" sz="2400" b="1" dirty="0">
                <a:latin typeface="Times New Roman" panose="02020603050405020304" pitchFamily="18" charset="0"/>
              </a:rPr>
              <a:t>求解步骤总结</a:t>
            </a:r>
            <a:endParaRPr lang="zh-CN" altLang="en-US" sz="2400" b="1" dirty="0">
              <a:latin typeface="Times New Roman" panose="02020603050405020304" pitchFamily="18" charset="0"/>
            </a:endParaRPr>
          </a:p>
          <a:p>
            <a:pPr>
              <a:buFont typeface="Wingdings" panose="05000000000000000000" pitchFamily="2" charset="2"/>
              <a:buChar char="Ø"/>
            </a:pPr>
            <a:r>
              <a:rPr lang="zh-CN" altLang="en-US" sz="2000" dirty="0">
                <a:latin typeface="Times New Roman" panose="02020603050405020304" pitchFamily="18" charset="0"/>
              </a:rPr>
              <a:t>剔除下策均衡</a:t>
            </a:r>
            <a:endParaRPr lang="zh-CN" altLang="en-US" sz="2000" dirty="0">
              <a:latin typeface="Times New Roman" panose="02020603050405020304" pitchFamily="18" charset="0"/>
            </a:endParaRPr>
          </a:p>
          <a:p>
            <a:pPr algn="l">
              <a:buClrTx/>
              <a:buSzTx/>
              <a:buFont typeface="Wingdings" panose="05000000000000000000" pitchFamily="2" charset="2"/>
              <a:buChar char="Ø"/>
            </a:pPr>
            <a:r>
              <a:rPr lang="zh-CN" altLang="en-US" sz="2000" dirty="0">
                <a:latin typeface="Times New Roman" panose="02020603050405020304" pitchFamily="18" charset="0"/>
              </a:rPr>
              <a:t>求纯策略纳什均衡</a:t>
            </a:r>
            <a:endParaRPr lang="zh-CN" altLang="en-US" sz="2000" dirty="0">
              <a:latin typeface="Times New Roman" panose="02020603050405020304" pitchFamily="18" charset="0"/>
            </a:endParaRPr>
          </a:p>
          <a:p>
            <a:pPr algn="l">
              <a:buClrTx/>
              <a:buSzTx/>
              <a:buFont typeface="Wingdings" panose="05000000000000000000" pitchFamily="2" charset="2"/>
              <a:buChar char="Ø"/>
            </a:pPr>
            <a:r>
              <a:rPr lang="zh-CN" altLang="en-US" sz="2000" dirty="0">
                <a:latin typeface="Times New Roman" panose="02020603050405020304" pitchFamily="18" charset="0"/>
              </a:rPr>
              <a:t>求混合策略纳什均衡</a:t>
            </a:r>
            <a:endParaRPr lang="zh-CN" altLang="en-US" sz="2000" dirty="0">
              <a:latin typeface="Times New Roman" panose="02020603050405020304" pitchFamily="18" charset="0"/>
            </a:endParaRPr>
          </a:p>
        </p:txBody>
      </p:sp>
      <p:sp>
        <p:nvSpPr>
          <p:cNvPr id="3"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纳什均衡的存在性</a:t>
            </a:r>
            <a:endParaRPr lang="zh-CN" altLang="en-US" sz="3200" dirty="0">
              <a:solidFill>
                <a:schemeClr val="accent1"/>
              </a:solidFill>
              <a:sym typeface="+mn-ea"/>
            </a:endParaRPr>
          </a:p>
        </p:txBody>
      </p:sp>
      <p:cxnSp>
        <p:nvCxnSpPr>
          <p:cNvPr id="18" name="直接连接符 17"/>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16743" name="对象 116742"/>
          <p:cNvGraphicFramePr/>
          <p:nvPr/>
        </p:nvGraphicFramePr>
        <p:xfrm>
          <a:off x="4295775" y="2132965"/>
          <a:ext cx="2614295" cy="475615"/>
        </p:xfrm>
        <a:graphic>
          <a:graphicData uri="http://schemas.openxmlformats.org/presentationml/2006/ole">
            <mc:AlternateContent xmlns:mc="http://schemas.openxmlformats.org/markup-compatibility/2006">
              <mc:Choice xmlns:v="urn:schemas-microsoft-com:vml" Requires="v">
                <p:oleObj spid="_x0000_s7171" name="" r:id="rId3" imgW="1435100" imgH="228600" progId="Equation.3">
                  <p:embed/>
                </p:oleObj>
              </mc:Choice>
              <mc:Fallback>
                <p:oleObj name="" r:id="rId3" imgW="1435100" imgH="228600" progId="Equation.3">
                  <p:embed/>
                  <p:pic>
                    <p:nvPicPr>
                      <p:cNvPr id="0" name="图片 3095"/>
                      <p:cNvPicPr/>
                      <p:nvPr/>
                    </p:nvPicPr>
                    <p:blipFill>
                      <a:blip r:embed="rId4"/>
                      <a:stretch>
                        <a:fillRect/>
                      </a:stretch>
                    </p:blipFill>
                    <p:spPr>
                      <a:xfrm>
                        <a:off x="4295775" y="2132965"/>
                        <a:ext cx="2614295" cy="475615"/>
                      </a:xfrm>
                      <a:prstGeom prst="rect">
                        <a:avLst/>
                      </a:prstGeom>
                      <a:noFill/>
                      <a:ln w="38100">
                        <a:noFill/>
                        <a:miter/>
                      </a:ln>
                    </p:spPr>
                  </p:pic>
                </p:oleObj>
              </mc:Fallback>
            </mc:AlternateContent>
          </a:graphicData>
        </a:graphic>
      </p:graphicFrame>
      <p:graphicFrame>
        <p:nvGraphicFramePr>
          <p:cNvPr id="4" name="对象 3"/>
          <p:cNvGraphicFramePr/>
          <p:nvPr/>
        </p:nvGraphicFramePr>
        <p:xfrm>
          <a:off x="1487488" y="2564765"/>
          <a:ext cx="1051560" cy="404495"/>
        </p:xfrm>
        <a:graphic>
          <a:graphicData uri="http://schemas.openxmlformats.org/presentationml/2006/ole">
            <mc:AlternateContent xmlns:mc="http://schemas.openxmlformats.org/markup-compatibility/2006">
              <mc:Choice xmlns:v="urn:schemas-microsoft-com:vml" Requires="v">
                <p:oleObj spid="_x0000_s7172" name="" r:id="rId5" imgW="584200" imgH="203200" progId="Equation.3">
                  <p:embed/>
                </p:oleObj>
              </mc:Choice>
              <mc:Fallback>
                <p:oleObj name="" r:id="rId5" imgW="584200" imgH="203200" progId="Equation.3">
                  <p:embed/>
                  <p:pic>
                    <p:nvPicPr>
                      <p:cNvPr id="0" name="图片 3101"/>
                      <p:cNvPicPr/>
                      <p:nvPr/>
                    </p:nvPicPr>
                    <p:blipFill>
                      <a:blip r:embed="rId6"/>
                      <a:stretch>
                        <a:fillRect/>
                      </a:stretch>
                    </p:blipFill>
                    <p:spPr>
                      <a:xfrm>
                        <a:off x="1487488" y="2564765"/>
                        <a:ext cx="1051560" cy="404495"/>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纳什均衡的多重性</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custDataLst>
              <p:tags r:id="rId3"/>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3" name="Title 6"/>
          <p:cNvSpPr txBox="1"/>
          <p:nvPr>
            <p:custDataLst>
              <p:tags r:id="rId4"/>
            </p:custDataLst>
          </p:nvPr>
        </p:nvSpPr>
        <p:spPr>
          <a:xfrm>
            <a:off x="1055370" y="1845310"/>
            <a:ext cx="9565640" cy="433260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纳什均衡分析并不一定能彻底解决一个博弈问题。因为纳什均衡的存在性不等于唯一性，在许多博弈中纳什均衡是</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不唯一</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的，而且不同的纳什均衡相互之间也</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没有明显的优劣关系</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，从而使博弈方在作策略选择时会遇到困难。</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事实上，即使几个纳什均衡之间存在明显的优劣关系（帕累托效率意义上），也不能保证博弈方一定选择较优的纳什均衡，因为博弈方可能还会考虑风险因素。在存在“破坏者”或部分博弈方之间“串通”可能性的多人博弈中，博弈结果往往也无法用纳什均衡加以解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组合 2"/>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2" name="矩形 11"/>
          <p:cNvSpPr/>
          <p:nvPr userDrawn="1">
            <p:custDataLst>
              <p:tags r:id="rId3"/>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3" name="Title 6"/>
          <p:cNvSpPr txBox="1"/>
          <p:nvPr>
            <p:custDataLst>
              <p:tags r:id="rId4"/>
            </p:custDataLst>
          </p:nvPr>
        </p:nvSpPr>
        <p:spPr>
          <a:xfrm>
            <a:off x="1055346" y="18078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帕累托上策均衡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风险上策均衡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聚点均衡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相关均衡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防共谋均衡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9" name="矩形 8"/>
          <p:cNvSpPr/>
          <p:nvPr>
            <p:custDataLst>
              <p:tags r:id="rId1"/>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p:cNvCxnSpPr/>
          <p:nvPr>
            <p:custDataLst>
              <p:tags r:id="rId2"/>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3"/>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4"/>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6"/>
            </p:custDataLst>
          </p:nvPr>
        </p:nvSpPr>
        <p:spPr>
          <a:xfrm>
            <a:off x="1934081" y="1846717"/>
            <a:ext cx="8305914"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帕累托（Pareto）效率准则</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经济的效率体现于配置社会资源以改善人们的境况，主要看资源是否已经被充分利用。如果资源已经被充分利用，要想改善任何人都必须损害别的人，那么这个经济已经实现了帕累托效率。相反，如果还可以在不损害别人的情况下改善一些人的境况，就说明经济资源尚未被充分利用，就不能说这个经济已达到</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帕累托</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效率。</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帕累托上策均衡</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多个纳什均衡的某一个给所有博弈方带来的得益都大于其他所有纳什均衡带来的得益，则各个博弈方都会倾向于此纳什均衡的策略，博弈能够实现</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帕累托</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效率，称此纳什均衡为帕累托上策均衡。</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8"/>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帕累托上策均衡</a:t>
              </a:r>
              <a:endParaRPr lang="zh-CN" altLang="en-US" sz="2800" dirty="0">
                <a:solidFill>
                  <a:schemeClr val="accent1"/>
                </a:solidFill>
                <a:sym typeface="+mn-ea"/>
              </a:endParaRPr>
            </a:p>
          </p:txBody>
        </p:sp>
        <p:cxnSp>
          <p:nvCxnSpPr>
            <p:cNvPr id="8" name="直接连接符 7"/>
            <p:cNvCxnSpPr/>
            <p:nvPr>
              <p:custDataLst>
                <p:tags r:id="rId9"/>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itle 6"/>
          <p:cNvSpPr txBox="1"/>
          <p:nvPr>
            <p:custDataLst>
              <p:tags r:id="rId2"/>
            </p:custDataLst>
          </p:nvPr>
        </p:nvSpPr>
        <p:spPr>
          <a:xfrm>
            <a:off x="908685" y="981075"/>
            <a:ext cx="10227945" cy="18065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19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“战争与和平”博弈（鹰鸽博弈）</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中有两个纯策略纳什均衡，（战争，战争）和（和平，和平），显然后者帕累托优于前者，所以，（和平，和平）是本博弈的一个帕累托上策均衡。</a:t>
            </a:r>
            <a:endPar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即，</a:t>
            </a:r>
            <a:r>
              <a:rPr lang="el-GR" altLang="zh-CN" sz="19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1900" baseline="-25000">
                <a:latin typeface="Times New Roman" panose="02020603050405020304" pitchFamily="18" charset="0"/>
                <a:ea typeface="宋体" panose="02010600030101010101" pitchFamily="2" charset="-122"/>
                <a:cs typeface="Times New Roman" panose="02020603050405020304" pitchFamily="18" charset="0"/>
                <a:sym typeface="+mn-ea"/>
              </a:rPr>
              <a:t>1</a:t>
            </a:r>
            <a:r>
              <a:rPr altLang="zh-CN" sz="1900" i="1" baseline="-2500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1900">
                <a:latin typeface="宋体" panose="02010600030101010101" pitchFamily="2" charset="-122"/>
                <a:ea typeface="宋体" panose="02010600030101010101" pitchFamily="2" charset="-122"/>
                <a:cs typeface="Times New Roman" panose="02020603050405020304" pitchFamily="18" charset="0"/>
                <a:sym typeface="+mn-ea"/>
              </a:rPr>
              <a:t>＝</a:t>
            </a:r>
            <a:r>
              <a:rPr altLang="zh-CN" sz="1900">
                <a:latin typeface="宋体" panose="02010600030101010101" pitchFamily="2" charset="-122"/>
                <a:ea typeface="宋体" panose="02010600030101010101" pitchFamily="2" charset="-122"/>
                <a:cs typeface="Times New Roman" panose="02020603050405020304" pitchFamily="18" charset="0"/>
                <a:sym typeface="+mn-ea"/>
              </a:rPr>
              <a:t>10</a:t>
            </a:r>
            <a:r>
              <a:rPr lang="zh-CN" altLang="en-US" sz="1900">
                <a:latin typeface="宋体" panose="02010600030101010101" pitchFamily="2" charset="-122"/>
                <a:ea typeface="宋体" panose="02010600030101010101" pitchFamily="2" charset="-122"/>
                <a:cs typeface="Times New Roman" panose="02020603050405020304" pitchFamily="18" charset="0"/>
                <a:sym typeface="+mn-ea"/>
              </a:rPr>
              <a:t>＞</a:t>
            </a:r>
            <a:r>
              <a:rPr altLang="zh-CN" sz="1900">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19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19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1900" baseline="-25000">
                <a:latin typeface="Times New Roman" panose="02020603050405020304" pitchFamily="18" charset="0"/>
                <a:ea typeface="宋体" panose="02010600030101010101" pitchFamily="2" charset="-122"/>
                <a:cs typeface="Times New Roman" panose="02020603050405020304" pitchFamily="18" charset="0"/>
                <a:sym typeface="+mn-ea"/>
              </a:rPr>
              <a:t>1</a:t>
            </a:r>
            <a:r>
              <a:rPr altLang="zh-CN" sz="1900" i="1" baseline="-25000">
                <a:latin typeface="Times New Roman" panose="02020603050405020304" pitchFamily="18" charset="0"/>
                <a:ea typeface="宋体" panose="02010600030101010101" pitchFamily="2" charset="-122"/>
                <a:cs typeface="Times New Roman" panose="02020603050405020304" pitchFamily="18" charset="0"/>
                <a:sym typeface="+mn-ea"/>
              </a:rPr>
              <a:t>w</a:t>
            </a:r>
            <a:r>
              <a:rPr lang="zh-CN" altLang="en-US" sz="1900">
                <a:cs typeface="Times New Roman" panose="02020603050405020304" pitchFamily="18" charset="0"/>
                <a:sym typeface="+mn-ea"/>
              </a:rPr>
              <a:t>，</a:t>
            </a:r>
            <a:r>
              <a:rPr lang="el-GR" altLang="zh-CN" sz="19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1900" baseline="-25000">
                <a:latin typeface="Times New Roman" panose="02020603050405020304" pitchFamily="18" charset="0"/>
                <a:ea typeface="宋体" panose="02010600030101010101" pitchFamily="2" charset="-122"/>
                <a:cs typeface="Times New Roman" panose="02020603050405020304" pitchFamily="18" charset="0"/>
                <a:sym typeface="+mn-ea"/>
              </a:rPr>
              <a:t>2</a:t>
            </a:r>
            <a:r>
              <a:rPr altLang="zh-CN" sz="1900" i="1" baseline="-2500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1900">
                <a:latin typeface="宋体" panose="02010600030101010101" pitchFamily="2" charset="-122"/>
                <a:ea typeface="宋体" panose="02010600030101010101" pitchFamily="2" charset="-122"/>
                <a:cs typeface="Times New Roman" panose="02020603050405020304" pitchFamily="18" charset="0"/>
                <a:sym typeface="+mn-ea"/>
              </a:rPr>
              <a:t>＝</a:t>
            </a:r>
            <a:r>
              <a:rPr altLang="zh-CN" sz="1900">
                <a:latin typeface="宋体" panose="02010600030101010101" pitchFamily="2" charset="-122"/>
                <a:ea typeface="宋体" panose="02010600030101010101" pitchFamily="2" charset="-122"/>
                <a:cs typeface="Times New Roman" panose="02020603050405020304" pitchFamily="18" charset="0"/>
                <a:sym typeface="+mn-ea"/>
              </a:rPr>
              <a:t>10</a:t>
            </a:r>
            <a:r>
              <a:rPr lang="zh-CN" altLang="en-US" sz="1900">
                <a:latin typeface="宋体" panose="02010600030101010101" pitchFamily="2" charset="-122"/>
                <a:ea typeface="宋体" panose="02010600030101010101" pitchFamily="2" charset="-122"/>
                <a:cs typeface="Times New Roman" panose="02020603050405020304" pitchFamily="18" charset="0"/>
                <a:sym typeface="+mn-ea"/>
              </a:rPr>
              <a:t>＞</a:t>
            </a:r>
            <a:r>
              <a:rPr altLang="zh-CN" sz="1900">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19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1900" i="1">
                <a:latin typeface="Times New Roman" panose="02020603050405020304" pitchFamily="18" charset="0"/>
                <a:ea typeface="宋体" panose="02010600030101010101" pitchFamily="2" charset="-122"/>
                <a:cs typeface="Times New Roman" panose="02020603050405020304" pitchFamily="18" charset="0"/>
                <a:sym typeface="+mn-ea"/>
              </a:rPr>
              <a:t>π</a:t>
            </a:r>
            <a:r>
              <a:rPr altLang="zh-CN" sz="1900" baseline="-25000">
                <a:latin typeface="Times New Roman" panose="02020603050405020304" pitchFamily="18" charset="0"/>
                <a:ea typeface="宋体" panose="02010600030101010101" pitchFamily="2" charset="-122"/>
                <a:cs typeface="Times New Roman" panose="02020603050405020304" pitchFamily="18" charset="0"/>
                <a:sym typeface="+mn-ea"/>
              </a:rPr>
              <a:t>2</a:t>
            </a:r>
            <a:r>
              <a:rPr altLang="zh-CN" sz="1900" i="1" baseline="-25000">
                <a:latin typeface="Times New Roman" panose="02020603050405020304" pitchFamily="18" charset="0"/>
                <a:ea typeface="宋体" panose="02010600030101010101" pitchFamily="2" charset="-122"/>
                <a:cs typeface="Times New Roman" panose="02020603050405020304" pitchFamily="18" charset="0"/>
                <a:sym typeface="+mn-ea"/>
              </a:rPr>
              <a:t>w</a:t>
            </a:r>
            <a:endParaRPr lang="en-US" altLang="zh-CN" sz="1900" i="1" baseline="-25000" dirty="0">
              <a:latin typeface="Times New Roman" panose="02020603050405020304" pitchFamily="18" charset="0"/>
              <a:ea typeface="宋体" panose="02010600030101010101" pitchFamily="2" charset="-122"/>
              <a:cs typeface="Times New Roman" panose="02020603050405020304" pitchFamily="18" charset="0"/>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en-US" altLang="zh-CN" sz="1700" i="1" spc="100" baseline="-25000" dirty="0">
              <a:ln w="3175">
                <a:noFill/>
                <a:prstDash val="dash"/>
              </a:ln>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aphicFrame>
        <p:nvGraphicFramePr>
          <p:cNvPr id="4" name="表格 3"/>
          <p:cNvGraphicFramePr>
            <a:graphicFrameLocks noGrp="1"/>
          </p:cNvGraphicFramePr>
          <p:nvPr>
            <p:custDataLst>
              <p:tags r:id="rId3"/>
            </p:custDataLst>
          </p:nvPr>
        </p:nvGraphicFramePr>
        <p:xfrm>
          <a:off x="2567940" y="3140075"/>
          <a:ext cx="6287770" cy="3268980"/>
        </p:xfrm>
        <a:graphic>
          <a:graphicData uri="http://schemas.openxmlformats.org/drawingml/2006/table">
            <a:tbl>
              <a:tblPr firstRow="1" bandRow="1">
                <a:tableStyleId>{2D5ABB26-0587-4C30-8999-92F81FD0307C}</a:tableStyleId>
              </a:tblPr>
              <a:tblGrid>
                <a:gridCol w="1409065"/>
                <a:gridCol w="1606550"/>
                <a:gridCol w="1676400"/>
                <a:gridCol w="1595755"/>
              </a:tblGrid>
              <a:tr h="82677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国家</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375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战争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和平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80264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国家</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战争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80200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和平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algn="ctr">
                        <a:lnSpc>
                          <a:spcPct val="120000"/>
                        </a:lnSpc>
                        <a:spcBef>
                          <a:spcPts val="0"/>
                        </a:spcBef>
                        <a:spcAft>
                          <a:spcPts val="0"/>
                        </a:spcAft>
                        <a:buClrTx/>
                        <a:buSzTx/>
                        <a:buFontTx/>
                      </a:pP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10，10</a:t>
                      </a:r>
                      <a:endPar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5"/>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帕累托上策均衡</a:t>
              </a:r>
              <a:endParaRPr lang="zh-CN" altLang="en-US" sz="2800" dirty="0">
                <a:solidFill>
                  <a:schemeClr val="accent1"/>
                </a:solidFill>
                <a:sym typeface="+mn-ea"/>
              </a:endParaRPr>
            </a:p>
          </p:txBody>
        </p:sp>
        <p:cxnSp>
          <p:nvCxnSpPr>
            <p:cNvPr id="8" name="直接连接符 7"/>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1055370" y="1484630"/>
            <a:ext cx="10407015" cy="452183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2"/>
            </p:custDataLst>
          </p:nvPr>
        </p:nvSpPr>
        <p:spPr>
          <a:xfrm>
            <a:off x="2172335" y="1997075"/>
            <a:ext cx="8100695" cy="352234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考虑、顾忌博弈方、其他博弈方可能发生错误等时，帕累托上策均衡并不一定是最优选择，需要考虑：风险上策均衡。</a:t>
            </a:r>
            <a:endPar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风险上策均衡的判别标准：</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如果所有博弈方在预计其他博弈方采用各种策略的概率相同时，某一策略给他带来的期望得益最大，各博弈方都偏爱这样的策略的策略组合，就称之为风险上策均衡。 </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fontAlgn="auto">
              <a:lnSpc>
                <a:spcPct val="120000"/>
              </a:lnSpc>
              <a:spcBef>
                <a:spcPts val="0"/>
              </a:spcBef>
              <a:spcAft>
                <a:spcPts val="800"/>
              </a:spcAft>
              <a:buSzPct val="100000"/>
              <a:buNone/>
            </a:pP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风险上策均衡</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6383655" y="3500755"/>
          <a:ext cx="5229225" cy="2567940"/>
        </p:xfrm>
        <a:graphic>
          <a:graphicData uri="http://schemas.openxmlformats.org/drawingml/2006/table">
            <a:tbl>
              <a:tblPr firstRow="1" bandRow="1">
                <a:tableStyleId>{2D5ABB26-0587-4C30-8999-92F81FD0307C}</a:tableStyleId>
              </a:tblPr>
              <a:tblGrid>
                <a:gridCol w="1171575"/>
                <a:gridCol w="1336675"/>
                <a:gridCol w="1393825"/>
                <a:gridCol w="1327150"/>
              </a:tblGrid>
              <a:tr h="6470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猎人</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5595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鹿</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兔子</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猎人</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鹿</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兔子</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14" name="Title 6"/>
          <p:cNvSpPr txBox="1"/>
          <p:nvPr>
            <p:custDataLst>
              <p:tags r:id="rId2"/>
            </p:custDataLst>
          </p:nvPr>
        </p:nvSpPr>
        <p:spPr>
          <a:xfrm>
            <a:off x="688975" y="1186180"/>
            <a:ext cx="11118850" cy="463931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猎鹿(stag-hunting)博弈</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是体现</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风险思想</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的生动例子：两个人同时发现1头鹿和2只兔子，如果两个人合力抓鹿，可以抓住这头价值10单位的鹿平分，兔子就抓不到了；如果两个人都抓兔子，各可以抓到1只价值3单位的兔子，鹿会跑掉；如果一个人选择抓兔子，而另一个人选择抓鹿，抓免子的能抓到1只兔子，抓鹿的人什么也抓不到。再假设两个人来不及商量，必须在瞬间作出决策，这就是一个典型的静态博弈问题。</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（鹿，鹿）和（兔子，兔子）是纳什均衡</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（鹿，鹿）</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是帕累托上策均衡。</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2000" dirty="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indent="0" algn="l" fontAlgn="ctr">
              <a:lnSpc>
                <a:spcPct val="130000"/>
              </a:lnSpc>
              <a:spcBef>
                <a:spcPts val="1000"/>
              </a:spcBef>
              <a:spcAft>
                <a:spcPts val="0"/>
              </a:spcAft>
              <a:buSzPct val="100000"/>
              <a:buFont typeface="Wingdings" panose="05000000000000000000" charset="0"/>
              <a:buNone/>
            </a:pPr>
            <a:r>
              <a:rPr lang="en-US" altLang="zh-CN" sz="2000" dirty="0">
                <a:cs typeface="Times New Roman" panose="02020603050405020304" pitchFamily="18" charset="0"/>
                <a:sym typeface="+mn-ea"/>
              </a:rPr>
              <a:t>     </a:t>
            </a:r>
            <a:r>
              <a:rPr lang="zh-CN" altLang="en-US" sz="2000" dirty="0">
                <a:cs typeface="Times New Roman" panose="02020603050405020304" pitchFamily="18" charset="0"/>
                <a:sym typeface="+mn-ea"/>
              </a:rPr>
              <a:t>即</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d</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sym typeface="+mn-ea"/>
              </a:rPr>
              <a:t>同理</a:t>
            </a:r>
            <a:r>
              <a:rPr lang="zh-CN" altLang="en-US" sz="2000" dirty="0">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d</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r</a:t>
            </a:r>
            <a:endPar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lvl="1" indent="0" algn="l" fontAlgn="ctr">
              <a:lnSpc>
                <a:spcPct val="130000"/>
              </a:lnSpc>
              <a:spcBef>
                <a:spcPts val="1000"/>
              </a:spcBef>
              <a:spcAft>
                <a:spcPts val="0"/>
              </a:spcAft>
              <a:buSzPct val="100000"/>
              <a:buFont typeface="Wingdings" panose="05000000000000000000" charset="0"/>
              <a:buNone/>
            </a:pP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兔子，兔子</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sym typeface="+mn-ea"/>
              </a:rPr>
              <a:t>是风险上策均衡</a:t>
            </a:r>
            <a:endParaRPr lang="zh-CN" altLang="en-US" sz="2000" dirty="0">
              <a:latin typeface="Times New Roman" panose="02020603050405020304" pitchFamily="18" charset="0"/>
              <a:cs typeface="Times New Roman" panose="02020603050405020304" pitchFamily="18" charset="0"/>
            </a:endParaRPr>
          </a:p>
          <a:p>
            <a:pPr lvl="1" indent="0" algn="l" fontAlgn="ctr">
              <a:lnSpc>
                <a:spcPct val="130000"/>
              </a:lnSpc>
              <a:spcBef>
                <a:spcPts val="1000"/>
              </a:spcBef>
              <a:spcAft>
                <a:spcPts val="0"/>
              </a:spcAft>
              <a:buSzPct val="100000"/>
              <a:buFont typeface="Wingdings" panose="05000000000000000000" charset="0"/>
              <a:buNone/>
            </a:pP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风险上策均衡</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2"/>
            </p:custDataLst>
          </p:nvPr>
        </p:nvSpPr>
        <p:spPr>
          <a:xfrm>
            <a:off x="1704975" y="1868805"/>
            <a:ext cx="8474075" cy="38830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对风险上策均衡的选择倾向，还有自我强化的机制。当部分或所有博弈方选择风险上策均衡的可能性增强的时候，博弈方选择帕累托上策均衡的期望得益会变小，从而使各博弈方更倾向于选择风险上策均衡，而这又进一步使选择帕累托上策均衡的得益更小，形成选择风险上策均衡概率的</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正反馈机制</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种正反馈往往使得开始时不大的各个博弈方采用风险上策均衡的概率，甚至只是对其他博弈方可能采用风险上策均衡策略的担心，演变为趋向相对低效率的风险上策均衡的强烈趋势。而且，上述反馈机制会随着相互信任的难度提高而加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风险上策均衡</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nvPr>
        </p:nvGraphicFramePr>
        <p:xfrm>
          <a:off x="4584065" y="2997200"/>
          <a:ext cx="6287770" cy="3268980"/>
        </p:xfrm>
        <a:graphic>
          <a:graphicData uri="http://schemas.openxmlformats.org/drawingml/2006/table">
            <a:tbl>
              <a:tblPr firstRow="1" bandRow="1">
                <a:tableStyleId>{2D5ABB26-0587-4C30-8999-92F81FD0307C}</a:tableStyleId>
              </a:tblPr>
              <a:tblGrid>
                <a:gridCol w="1409065"/>
                <a:gridCol w="1606550"/>
                <a:gridCol w="1676400"/>
                <a:gridCol w="1595755"/>
              </a:tblGrid>
              <a:tr h="82677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国家</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375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战争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和平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80264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国家</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战争</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80200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和平</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algn="ctr">
                        <a:lnSpc>
                          <a:spcPct val="120000"/>
                        </a:lnSpc>
                        <a:spcBef>
                          <a:spcPts val="0"/>
                        </a:spcBef>
                        <a:spcAft>
                          <a:spcPts val="0"/>
                        </a:spcAft>
                        <a:buClrTx/>
                        <a:buSzTx/>
                        <a:buFontTx/>
                      </a:pP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10，10</a:t>
                      </a:r>
                      <a:endPar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14" name="Title 6"/>
          <p:cNvSpPr txBox="1"/>
          <p:nvPr>
            <p:custDataLst>
              <p:tags r:id="rId2"/>
            </p:custDataLst>
          </p:nvPr>
        </p:nvSpPr>
        <p:spPr>
          <a:xfrm>
            <a:off x="479425" y="907415"/>
            <a:ext cx="11118850" cy="309626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742950" lvl="1"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如果一国假设对手选择战争或和平的概率都是50%。</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0.5×8</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dirty="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indent="0" algn="l" fontAlgn="ctr">
              <a:lnSpc>
                <a:spcPct val="130000"/>
              </a:lnSpc>
              <a:spcBef>
                <a:spcPts val="1000"/>
              </a:spcBef>
              <a:spcAft>
                <a:spcPts val="0"/>
              </a:spcAft>
              <a:buSzPct val="100000"/>
              <a:buFont typeface="Wingdings" panose="05000000000000000000" charset="0"/>
              <a:buNone/>
            </a:pPr>
            <a:r>
              <a:rPr lang="en-US" altLang="zh-CN" sz="2000" dirty="0">
                <a:cs typeface="Times New Roman" panose="02020603050405020304" pitchFamily="18" charset="0"/>
                <a:sym typeface="+mn-ea"/>
              </a:rPr>
              <a:t>     </a:t>
            </a:r>
            <a:r>
              <a:rPr lang="zh-CN" altLang="en-US" sz="2000" dirty="0">
                <a:cs typeface="Times New Roman" panose="02020603050405020304" pitchFamily="18" charset="0"/>
                <a:sym typeface="+mn-ea"/>
              </a:rPr>
              <a:t>即</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w</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sym typeface="+mn-ea"/>
              </a:rPr>
              <a:t>同理</a:t>
            </a:r>
            <a:r>
              <a:rPr lang="zh-CN" altLang="en-US" sz="2000" dirty="0">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w</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l-GR"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baseline="-25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p</a:t>
            </a:r>
            <a:endPar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lvl="1" indent="0" algn="l" fontAlgn="ctr">
              <a:lnSpc>
                <a:spcPct val="130000"/>
              </a:lnSpc>
              <a:spcBef>
                <a:spcPts val="1000"/>
              </a:spcBef>
              <a:spcAft>
                <a:spcPts val="0"/>
              </a:spcAft>
              <a:buSzPct val="100000"/>
              <a:buFont typeface="Wingdings" panose="05000000000000000000" charset="0"/>
              <a:buNone/>
            </a:pP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战争，战争</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sym typeface="+mn-ea"/>
              </a:rPr>
              <a:t>是风险上策均衡</a:t>
            </a:r>
            <a:endParaRPr lang="zh-CN" altLang="en-US" sz="2000" dirty="0">
              <a:latin typeface="Times New Roman" panose="02020603050405020304" pitchFamily="18" charset="0"/>
              <a:cs typeface="Times New Roman" panose="02020603050405020304" pitchFamily="18" charset="0"/>
            </a:endParaRPr>
          </a:p>
          <a:p>
            <a:pPr lvl="1" indent="0" algn="l" fontAlgn="ctr">
              <a:lnSpc>
                <a:spcPct val="130000"/>
              </a:lnSpc>
              <a:spcBef>
                <a:spcPts val="1000"/>
              </a:spcBef>
              <a:spcAft>
                <a:spcPts val="0"/>
              </a:spcAft>
              <a:buSzPct val="100000"/>
              <a:buFont typeface="Wingdings" panose="05000000000000000000" charset="0"/>
              <a:buNone/>
            </a:pP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风险上策均衡</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2"/>
            </p:custDataLst>
          </p:nvPr>
        </p:nvSpPr>
        <p:spPr>
          <a:xfrm>
            <a:off x="2234565" y="1917065"/>
            <a:ext cx="746125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利用博弈设定以外的信息和依据选择的均衡</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文化、习惯或者其他各种特征都可能是聚点均衡的依据</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时间博弈（报出相同的时间）、</a:t>
            </a:r>
            <a:r>
              <a:rPr lang="zh-CN" altLang="en-US" sz="22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城市博弈（城市分组相同）</a:t>
            </a: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是聚点均衡的典型例子</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聚点均衡</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Title 6"/>
          <p:cNvSpPr txBox="1"/>
          <p:nvPr>
            <p:custDataLst>
              <p:tags r:id="rId1"/>
            </p:custDataLst>
          </p:nvPr>
        </p:nvSpPr>
        <p:spPr>
          <a:xfrm>
            <a:off x="833120" y="923925"/>
            <a:ext cx="10525760" cy="48971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时间博弈：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ym typeface="+mn-ea"/>
              </a:rPr>
              <a:t>两个博弈方同时报出一个时间，所报时间相同各奖励100元，所报时间不同没有奖励。</a:t>
            </a:r>
            <a:endParaRPr lang="zh-CN" altLang="en-US" sz="2000">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ym typeface="+mn-ea"/>
              </a:rPr>
              <a:t>该时间博弈有</a:t>
            </a:r>
            <a:r>
              <a:rPr lang="zh-CN" altLang="en-US" sz="2000" b="1">
                <a:sym typeface="+mn-ea"/>
              </a:rPr>
              <a:t>无穷多个纳什均衡</a:t>
            </a:r>
            <a:r>
              <a:rPr lang="zh-CN" altLang="en-US" sz="2000">
                <a:sym typeface="+mn-ea"/>
              </a:rPr>
              <a:t>，双方选择任何相同的时间都是纳什均衡，而且</a:t>
            </a:r>
            <a:r>
              <a:rPr lang="zh-CN" altLang="en-US" sz="2000" b="1">
                <a:sym typeface="+mn-ea"/>
              </a:rPr>
              <a:t>不存在帕累托优劣关系</a:t>
            </a:r>
            <a:r>
              <a:rPr lang="zh-CN" altLang="en-US" sz="2000">
                <a:sym typeface="+mn-ea"/>
              </a:rPr>
              <a:t>，因此理论上两个博弈方的行为无法预测，赢得奖励的概率极其微小。</a:t>
            </a:r>
            <a:endParaRPr lang="zh-CN" altLang="en-US" sz="2000">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ym typeface="+mn-ea"/>
              </a:rPr>
              <a:t>事实上，人们在这个博弈中获得奖励的概率并不低。因为两个博弈方往往都会选择类似“1点钟”、“12点”这种既是整点，又有特殊意义（一天第一个小时和上下午分界时点)，容易同时想到的时间，不太可能选择类似“9点01分”、“3点46分”等难以同时想到的时间，因此赢得奖励的机会还是较大的。</a:t>
            </a:r>
            <a:endParaRPr lang="zh-CN" altLang="en-US" sz="2000">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ym typeface="+mn-ea"/>
              </a:rPr>
              <a:t>“</a:t>
            </a:r>
            <a:r>
              <a:rPr lang="zh-CN" altLang="en-US" sz="2000" b="1">
                <a:sym typeface="+mn-ea"/>
              </a:rPr>
              <a:t>1点”、“12点”为该博弈的“聚点”。</a:t>
            </a:r>
            <a:r>
              <a:rPr lang="zh-CN" altLang="en-US" sz="2000">
                <a:sym typeface="+mn-ea"/>
              </a:rPr>
              <a:t>双方同时选择一个聚点构成的纳什均衡，称为“聚点均衡”。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聚点均衡</a:t>
              </a:r>
              <a:endParaRPr lang="zh-CN" altLang="en-US" sz="2800" dirty="0">
                <a:solidFill>
                  <a:schemeClr val="accent1"/>
                </a:solidFill>
                <a:sym typeface="+mn-ea"/>
              </a:endParaRPr>
            </a:p>
          </p:txBody>
        </p:sp>
        <p:cxnSp>
          <p:nvCxnSpPr>
            <p:cNvPr id="8" name="直接连接符 7"/>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Title 6"/>
          <p:cNvSpPr txBox="1"/>
          <p:nvPr>
            <p:custDataLst>
              <p:tags r:id="rId1"/>
            </p:custDataLst>
          </p:nvPr>
        </p:nvSpPr>
        <p:spPr>
          <a:xfrm>
            <a:off x="833120" y="889635"/>
            <a:ext cx="10525760" cy="44100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just"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ClrTx/>
              <a:buSzTx/>
              <a:buFont typeface="Wingdings" panose="05000000000000000000" charset="0"/>
              <a:buChar char="l"/>
            </a:pPr>
            <a:r>
              <a:rPr lang="zh-CN" altLang="en-US" sz="2000" b="1"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城市博弈：</a:t>
            </a:r>
            <a:endParaRPr lang="zh-CN" altLang="en-US" sz="2000" b="1"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ym typeface="+mn-ea"/>
              </a:rPr>
              <a:t>两个博弈方各自独立将上海、南京、长春、哈尔滨4个城市分为每组2个城市的2组，若两个人分法相同则各得100元，否则没有奖金。</a:t>
            </a:r>
            <a:endParaRPr lang="zh-CN" altLang="en-US" sz="2000">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ym typeface="+mn-ea"/>
              </a:rPr>
              <a:t>该博弈有</a:t>
            </a:r>
            <a:r>
              <a:rPr lang="zh-CN" altLang="en-US" sz="2000" b="1">
                <a:sym typeface="+mn-ea"/>
              </a:rPr>
              <a:t>多个纳什均衡</a:t>
            </a:r>
            <a:r>
              <a:rPr lang="zh-CN" altLang="en-US" sz="2000">
                <a:sym typeface="+mn-ea"/>
              </a:rPr>
              <a:t>，包括同将上海和南京分为一组、将上海和长春分为一组、将上海和哈尔滨分为一组，然后将余下两个城市分为一组的三种分法。</a:t>
            </a:r>
            <a:endParaRPr lang="zh-CN" altLang="en-US" sz="2000">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ym typeface="+mn-ea"/>
              </a:rPr>
              <a:t>如果是两个中国人参加这个博弈，通常都会将上海和南京分为一组，长春和哈尔滨分为一组。</a:t>
            </a:r>
            <a:r>
              <a:rPr lang="zh-CN" altLang="en-US" sz="2000" b="1">
                <a:sym typeface="+mn-ea"/>
              </a:rPr>
              <a:t>根据地理位置给城市分类，是一个聚点。</a:t>
            </a:r>
            <a:endParaRPr lang="zh-CN" altLang="en-US" sz="2000"/>
          </a:p>
          <a:p>
            <a:pPr marL="342900" lvl="0" indent="-342900" algn="just" fontAlgn="ctr">
              <a:lnSpc>
                <a:spcPct val="130000"/>
              </a:lnSpc>
              <a:spcBef>
                <a:spcPts val="1000"/>
              </a:spcBef>
              <a:spcAft>
                <a:spcPts val="0"/>
              </a:spcAft>
              <a:buSzPct val="100000"/>
              <a:buFont typeface="Arial" panose="020B0604020202020204" pitchFamily="34" charset="0"/>
              <a:buChar char="•"/>
            </a:pP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1" indent="-342900" algn="just" fontAlgn="ctr">
              <a:lnSpc>
                <a:spcPct val="130000"/>
              </a:lnSpc>
              <a:spcBef>
                <a:spcPts val="100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聚点均衡</a:t>
              </a:r>
              <a:endParaRPr lang="zh-CN" altLang="en-US" sz="2800" dirty="0">
                <a:solidFill>
                  <a:schemeClr val="accent1"/>
                </a:solidFill>
                <a:sym typeface="+mn-ea"/>
              </a:endParaRPr>
            </a:p>
          </p:txBody>
        </p:sp>
        <p:cxnSp>
          <p:nvCxnSpPr>
            <p:cNvPr id="8" name="直接连接符 7"/>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1"/>
            </p:custDataLst>
          </p:nvPr>
        </p:nvSpPr>
        <p:spPr>
          <a:xfrm>
            <a:off x="839470" y="2348865"/>
            <a:ext cx="4155440" cy="8699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相关均衡例子</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表格 3"/>
          <p:cNvGraphicFramePr>
            <a:graphicFrameLocks noGrp="1"/>
          </p:cNvGraphicFramePr>
          <p:nvPr>
            <p:custDataLst>
              <p:tags r:id="rId2"/>
            </p:custDataLst>
          </p:nvPr>
        </p:nvGraphicFramePr>
        <p:xfrm>
          <a:off x="3575685" y="2996565"/>
          <a:ext cx="6287770" cy="3268980"/>
        </p:xfrm>
        <a:graphic>
          <a:graphicData uri="http://schemas.openxmlformats.org/drawingml/2006/table">
            <a:tbl>
              <a:tblPr firstRow="1" bandRow="1">
                <a:tableStyleId>{2D5ABB26-0587-4C30-8999-92F81FD0307C}</a:tableStyleId>
              </a:tblPr>
              <a:tblGrid>
                <a:gridCol w="1409065"/>
                <a:gridCol w="1606550"/>
                <a:gridCol w="1676400"/>
                <a:gridCol w="1595755"/>
              </a:tblGrid>
              <a:tr h="82677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3756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R</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802640">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U</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802005">
                <a:tc vMerge="1">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D</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相关均衡</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 name="Title 6"/>
          <p:cNvSpPr txBox="1"/>
          <p:nvPr>
            <p:custDataLst>
              <p:tags r:id="rId6"/>
            </p:custDataLst>
          </p:nvPr>
        </p:nvSpPr>
        <p:spPr>
          <a:xfrm>
            <a:off x="695325" y="836295"/>
            <a:ext cx="10081895" cy="164465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对于博弈中多重纳什均衡选择的难题，我们也应该考虑博弈方主动寻求方法，设计某种形式的</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均衡选择机制</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，以解决多重纳什均衡选择。</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相关均衡”就是这样一种均衡选择机制。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6" name="Title 6"/>
              <p:cNvSpPr txBox="1"/>
              <p:nvPr>
                <p:custDataLst>
                  <p:tags r:id="rId1"/>
                </p:custDataLst>
              </p:nvPr>
            </p:nvSpPr>
            <p:spPr>
              <a:xfrm>
                <a:off x="839470" y="765175"/>
                <a:ext cx="11277600" cy="539877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三个纳什均衡：</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[(1/2U，1/2L )，(1/2D ，1/2R)]、(U，L)和(D，R)</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结果都不理想，不如(D，L)。</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285750" lvl="1" indent="0" algn="just" fontAlgn="ctr">
                  <a:lnSpc>
                    <a:spcPct val="130000"/>
                  </a:lnSpc>
                  <a:spcBef>
                    <a:spcPts val="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285750" lvl="0" indent="-285750" algn="just" fontAlgn="ctr">
                  <a:lnSpc>
                    <a:spcPct val="130000"/>
                  </a:lnSpc>
                  <a:spcBef>
                    <a:spcPts val="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方案</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1</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抛硬币选择（轮流）</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285750" lvl="1" indent="0" algn="just" fontAlgn="ctr">
                  <a:lnSpc>
                    <a:spcPct val="130000"/>
                  </a:lnSpc>
                  <a:spcBef>
                    <a:spcPts val="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285750" lvl="1" indent="0" algn="just" fontAlgn="ctr">
                  <a:lnSpc>
                    <a:spcPct val="130000"/>
                  </a:lnSpc>
                  <a:spcBef>
                    <a:spcPts val="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方案</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：相关装置</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（能发出</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相关信号</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9300" lvl="1" indent="-304800" algn="just" fontAlgn="ctr">
                  <a:lnSpc>
                    <a:spcPct val="130000"/>
                  </a:lnSpc>
                  <a:spcBef>
                    <a:spcPts val="0"/>
                  </a:spcBef>
                  <a:spcAft>
                    <a:spcPts val="0"/>
                  </a:spcAft>
                  <a:buSzPct val="100000"/>
                  <a:buFont typeface="Calibri Light" panose="020F0302020204030204" charset="0"/>
                  <a:buAutoNum type="arabicPeriod"/>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装置以相同概率（</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各1/3</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）随机发</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A、B、C</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三种信号；</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9300" lvl="1" indent="-304800" algn="just" fontAlgn="ctr">
                  <a:lnSpc>
                    <a:spcPct val="130000"/>
                  </a:lnSpc>
                  <a:spcBef>
                    <a:spcPts val="0"/>
                  </a:spcBef>
                  <a:spcAft>
                    <a:spcPts val="0"/>
                  </a:spcAft>
                  <a:buSzPct val="100000"/>
                  <a:buFont typeface="Calibri Light" panose="020F0302020204030204" charset="0"/>
                  <a:buAutoNum type="arabicPeriod"/>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甲只能看到信号是否为</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A，博弈方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乙只能</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看到</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信号</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是否</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9300" lvl="1" indent="-304800" algn="just" fontAlgn="ctr">
                  <a:lnSpc>
                    <a:spcPct val="130000"/>
                  </a:lnSpc>
                  <a:spcBef>
                    <a:spcPts val="0"/>
                  </a:spcBef>
                  <a:spcAft>
                    <a:spcPts val="0"/>
                  </a:spcAft>
                  <a:buSzPct val="100000"/>
                  <a:buFont typeface="Calibri Light" panose="020F0302020204030204" charset="0"/>
                  <a:buAutoNum type="arabicPeriod"/>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甲看到</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A采用U，否则</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采用</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乙看到</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C采用R，否则</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采用</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可能性：（</a:t>
                </a:r>
                <a:r>
                  <a:rPr lang="en-US" alt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A</a:t>
                </a:r>
                <a:r>
                  <a:rPr lang="zh-CN" altLang="en-US"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14:m>
                  <m:oMath xmlns:m="http://schemas.openxmlformats.org/officeDocument/2006/math">
                    <m:acc>
                      <m:accPr>
                        <m:chr m:val="̅"/>
                        <m:ctrlPr>
                          <a:rPr lang="en-US" altLang="zh-CN" sz="2000" i="1" smtClean="0">
                            <a:latin typeface="Cambria Math" panose="02040503050406030204" pitchFamily="18" charset="0"/>
                            <a:cs typeface="Times New Roman" panose="02020603050405020304" pitchFamily="18" charset="0"/>
                          </a:rPr>
                        </m:ctrlPr>
                      </m:accPr>
                      <m:e>
                        <m:r>
                          <m:rPr>
                            <m:sty m:val="p"/>
                          </m:rPr>
                          <a:rPr lang="en-US" altLang="zh-CN" sz="2000" b="0" smtClean="0">
                            <a:latin typeface="Cambria Math" panose="02040503050406030204" pitchFamily="18" charset="0"/>
                            <a:cs typeface="Times New Roman" panose="02020603050405020304" pitchFamily="18" charset="0"/>
                          </a:rPr>
                          <m:t>C</m:t>
                        </m:r>
                      </m:e>
                    </m:acc>
                  </m:oMath>
                </a14:m>
                <a:r>
                  <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14:m>
                  <m:oMath xmlns:m="http://schemas.openxmlformats.org/officeDocument/2006/math">
                    <m:acc>
                      <m:accPr>
                        <m:chr m:val="̅"/>
                        <m:ctrlPr>
                          <a:rPr lang="en-US" altLang="zh-CN" sz="2000" i="1" smtClean="0">
                            <a:latin typeface="Cambria Math" panose="02040503050406030204" pitchFamily="18" charset="0"/>
                            <a:cs typeface="Times New Roman" panose="02020603050405020304" pitchFamily="18" charset="0"/>
                          </a:rPr>
                        </m:ctrlPr>
                      </m:accPr>
                      <m:e>
                        <m:r>
                          <a:rPr lang="en-US" altLang="zh-CN" sz="2000" b="0" i="1" smtClean="0">
                            <a:latin typeface="Cambria Math" panose="02040503050406030204" pitchFamily="18" charset="0"/>
                            <a:cs typeface="Times New Roman" panose="02020603050405020304" pitchFamily="18" charset="0"/>
                          </a:rPr>
                          <m:t>𝐴</m:t>
                        </m:r>
                      </m:e>
                    </m:acc>
                  </m:oMath>
                </a14:m>
                <a:r>
                  <a:rPr lang="zh-CN" altLang="en-US"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r>
                  <a:rPr lang="en-US" sz="2000">
                    <a:latin typeface="Times New Roman" panose="02020603050405020304" pitchFamily="18" charset="0"/>
                    <a:cs typeface="Times New Roman" panose="02020603050405020304" pitchFamily="18" charset="0"/>
                    <a:sym typeface="+mn-ea"/>
                  </a:rPr>
                  <a:t>C</a:t>
                </a:r>
                <a:r>
                  <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14:m>
                  <m:oMath xmlns:m="http://schemas.openxmlformats.org/officeDocument/2006/math">
                    <m:acc>
                      <m:accPr>
                        <m:chr m:val="̅"/>
                        <m:ctrlPr>
                          <a:rPr lang="en-US" altLang="zh-CN" sz="2000" i="1" smtClean="0">
                            <a:latin typeface="Cambria Math" panose="02040503050406030204" pitchFamily="18" charset="0"/>
                            <a:cs typeface="Times New Roman" panose="02020603050405020304" pitchFamily="18" charset="0"/>
                          </a:rPr>
                        </m:ctrlPr>
                      </m:accPr>
                      <m:e>
                        <m:r>
                          <m:rPr>
                            <m:sty m:val="p"/>
                          </m:rPr>
                          <a:rPr lang="en-US" altLang="zh-CN" sz="2000" b="0" smtClean="0">
                            <a:latin typeface="Cambria Math" panose="02040503050406030204" pitchFamily="18" charset="0"/>
                            <a:cs typeface="Times New Roman" panose="02020603050405020304" pitchFamily="18" charset="0"/>
                          </a:rPr>
                          <m:t>A</m:t>
                        </m:r>
                      </m:e>
                    </m:acc>
                  </m:oMath>
                </a14:m>
                <a:r>
                  <a:rPr lang="zh-CN" altLang="en-US"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14:m>
                  <m:oMath xmlns:m="http://schemas.openxmlformats.org/officeDocument/2006/math">
                    <m:acc>
                      <m:accPr>
                        <m:chr m:val="̅"/>
                        <m:ctrlPr>
                          <a:rPr lang="en-US" altLang="zh-CN" sz="2000" i="1" smtClean="0">
                            <a:latin typeface="Cambria Math" panose="02040503050406030204" pitchFamily="18" charset="0"/>
                            <a:cs typeface="Times New Roman" panose="02020603050405020304" pitchFamily="18" charset="0"/>
                          </a:rPr>
                        </m:ctrlPr>
                      </m:accPr>
                      <m:e>
                        <m:r>
                          <m:rPr>
                            <m:sty m:val="p"/>
                          </m:rPr>
                          <a:rPr lang="en-US" altLang="zh-CN" sz="2000" b="0" smtClean="0">
                            <a:latin typeface="Cambria Math" panose="02040503050406030204" pitchFamily="18" charset="0"/>
                            <a:cs typeface="Times New Roman" panose="02020603050405020304" pitchFamily="18" charset="0"/>
                          </a:rPr>
                          <m:t>C</m:t>
                        </m:r>
                      </m:e>
                    </m:acc>
                  </m:oMath>
                </a14:m>
                <a:r>
                  <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endPar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对应的策略组合（</a:t>
                </a:r>
                <a:r>
                  <a:rPr alt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U</a:t>
                </a:r>
                <a:r>
                  <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alt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L</a:t>
                </a:r>
                <a:r>
                  <a:rPr lang="zh-CN" sz="200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r>
                  <a:rPr 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D</a:t>
                </a:r>
                <a:r>
                  <a:rPr 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R</a:t>
                </a:r>
                <a:r>
                  <a:rPr 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D</a:t>
                </a:r>
                <a:r>
                  <a:rPr 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L</a:t>
                </a:r>
                <a:r>
                  <a:rPr lang="zh-CN" sz="2000">
                    <a:latin typeface="Times New Roman" panose="02020603050405020304" pitchFamily="18" charset="0"/>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6" name="Title 6"/>
              <p:cNvSpPr txBox="1">
                <a:spLocks noRot="1" noChangeAspect="1" noMove="1" noResize="1" noEditPoints="1" noAdjustHandles="1" noChangeArrowheads="1" noChangeShapeType="1" noTextEdit="1"/>
              </p:cNvSpPr>
              <p:nvPr>
                <p:custDataLst>
                  <p:tags r:id="rId2"/>
                </p:custDataLst>
              </p:nvPr>
            </p:nvSpPr>
            <p:spPr>
              <a:xfrm>
                <a:off x="839470" y="765175"/>
                <a:ext cx="11277600" cy="5398770"/>
              </a:xfrm>
              <a:prstGeom prst="rect">
                <a:avLst/>
              </a:prstGeom>
              <a:blipFill rotWithShape="1">
                <a:blip r:embed="rId3"/>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5"/>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相关均衡</a:t>
              </a:r>
              <a:endParaRPr lang="zh-CN" altLang="en-US" sz="2800" dirty="0">
                <a:solidFill>
                  <a:schemeClr val="accent1"/>
                </a:solidFill>
                <a:sym typeface="+mn-ea"/>
              </a:endParaRPr>
            </a:p>
          </p:txBody>
        </p:sp>
        <p:cxnSp>
          <p:nvCxnSpPr>
            <p:cNvPr id="8" name="直接连接符 7"/>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792220" y="2421255"/>
            <a:ext cx="5048885" cy="1016000"/>
            <a:chOff x="5972" y="3813"/>
            <a:chExt cx="7951" cy="1600"/>
          </a:xfrm>
        </p:grpSpPr>
        <p:sp>
          <p:nvSpPr>
            <p:cNvPr id="4" name="左大括号 3"/>
            <p:cNvSpPr/>
            <p:nvPr/>
          </p:nvSpPr>
          <p:spPr>
            <a:xfrm>
              <a:off x="5972" y="4040"/>
              <a:ext cx="243" cy="10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6539" y="3813"/>
              <a:ext cx="7384" cy="580"/>
            </a:xfrm>
            <a:prstGeom prst="rect">
              <a:avLst/>
            </a:prstGeom>
            <a:noFill/>
          </p:spPr>
          <p:txBody>
            <a:bodyPr wrap="square" rtlCol="0">
              <a:spAutoFit/>
            </a:bodyPr>
            <a:lstStyle/>
            <a:p>
              <a:r>
                <a:rPr lang="zh-CN" altLang="en-US"/>
                <a:t>正面，甲选</a:t>
              </a:r>
              <a:r>
                <a:rPr lang="en-US" altLang="zh-CN"/>
                <a:t>U</a:t>
              </a:r>
              <a:r>
                <a:rPr lang="zh-CN" altLang="en-US"/>
                <a:t>，乙选</a:t>
              </a:r>
              <a:r>
                <a:rPr lang="en-US" altLang="zh-CN"/>
                <a:t>L</a:t>
              </a:r>
              <a:r>
                <a:rPr lang="zh-CN" altLang="en-US"/>
                <a:t>，结果为（</a:t>
              </a:r>
              <a:r>
                <a:rPr lang="en-US" altLang="zh-CN"/>
                <a:t>U,L</a:t>
              </a:r>
              <a:r>
                <a:rPr lang="zh-CN" altLang="en-US"/>
                <a:t>）</a:t>
              </a:r>
              <a:endParaRPr lang="zh-CN" altLang="en-US"/>
            </a:p>
          </p:txBody>
        </p:sp>
        <p:sp>
          <p:nvSpPr>
            <p:cNvPr id="9" name="文本框 8"/>
            <p:cNvSpPr txBox="1"/>
            <p:nvPr/>
          </p:nvSpPr>
          <p:spPr>
            <a:xfrm>
              <a:off x="6539" y="4833"/>
              <a:ext cx="7384" cy="580"/>
            </a:xfrm>
            <a:prstGeom prst="rect">
              <a:avLst/>
            </a:prstGeom>
            <a:noFill/>
          </p:spPr>
          <p:txBody>
            <a:bodyPr wrap="square" rtlCol="0">
              <a:spAutoFit/>
            </a:bodyPr>
            <a:lstStyle/>
            <a:p>
              <a:r>
                <a:rPr lang="zh-CN" altLang="en-US"/>
                <a:t>反面，甲选</a:t>
              </a:r>
              <a:r>
                <a:rPr lang="en-US" altLang="zh-CN"/>
                <a:t>D</a:t>
              </a:r>
              <a:r>
                <a:rPr lang="zh-CN" altLang="en-US"/>
                <a:t>，乙选</a:t>
              </a:r>
              <a:r>
                <a:rPr lang="en-US" altLang="zh-CN"/>
                <a:t>R</a:t>
              </a:r>
              <a:r>
                <a:rPr lang="zh-CN" altLang="en-US"/>
                <a:t>，结果为（</a:t>
              </a:r>
              <a:r>
                <a:rPr lang="en-US" altLang="zh-CN"/>
                <a:t>D,R</a:t>
              </a:r>
              <a:r>
                <a:rPr lang="zh-CN" altLang="en-US"/>
                <a:t>）</a:t>
              </a:r>
              <a:endParaRPr lang="zh-CN" altLang="en-US"/>
            </a:p>
          </p:txBody>
        </p:sp>
      </p:gr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5" name="Title 6"/>
              <p:cNvSpPr txBox="1"/>
              <p:nvPr>
                <p:custDataLst>
                  <p:tags r:id="rId2"/>
                </p:custDataLst>
              </p:nvPr>
            </p:nvSpPr>
            <p:spPr>
              <a:xfrm>
                <a:off x="1343660" y="2036445"/>
                <a:ext cx="8945245" cy="35464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[(1/2U，1/2L )，(1/2D ，1/2R)]均衡的期望得益是</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lvl="0" indent="0" algn="l" fontAlgn="ctr">
                  <a:lnSpc>
                    <a:spcPct val="130000"/>
                  </a:lnSpc>
                  <a:spcBef>
                    <a:spcPts val="1000"/>
                  </a:spcBef>
                  <a:spcAft>
                    <a:spcPts val="0"/>
                  </a:spcAft>
                  <a:buSzPct val="100000"/>
                  <a:buFont typeface="Wingdings" panose="05000000000000000000" charset="0"/>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dk1">
                                  <a:lumMod val="75000"/>
                                  <a:lumOff val="25000"/>
                                </a:schemeClr>
                              </a:solidFill>
                              <a:latin typeface="Cambria Math" panose="02040503050406030204" pitchFamily="18" charset="0"/>
                              <a:cs typeface="Cambria Math" panose="02040503050406030204" pitchFamily="18" charset="0"/>
                            </a:rPr>
                          </m:ctrlPr>
                        </m:sSubPr>
                        <m:e>
                          <m:r>
                            <a:rPr lang="zh-CN" altLang="en-US" sz="2000" i="1" smtClean="0">
                              <a:latin typeface="Cambria Math" panose="02040503050406030204" pitchFamily="18" charset="0"/>
                            </a:rPr>
                            <m:t>𝜋</m:t>
                          </m:r>
                        </m:e>
                        <m:sub>
                          <m:r>
                            <a:rPr lang="en-US" altLang="zh-CN" sz="2000" i="1">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r>
                            <a:rPr lang="en-US" altLang="zh-CN" sz="2000" b="0" i="1" smtClean="0">
                              <a:latin typeface="Cambria Math" panose="02040503050406030204" pitchFamily="18" charset="0"/>
                            </a:rPr>
                            <m:t>𝐷</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5</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4</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r>
                            <a:rPr lang="en-US" altLang="zh-CN" sz="2000" i="1">
                              <a:latin typeface="Cambria Math" panose="02040503050406030204" pitchFamily="18" charset="0"/>
                              <a:ea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1</m:t>
                          </m:r>
                          <m:r>
                            <a:rPr lang="en-US" altLang="zh-CN" sz="2000" i="1" smtClean="0">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oMath>
                  </m:oMathPara>
                </a14:m>
                <a:endParaRPr lang="en-US" altLang="zh-CN" sz="2000" b="0" i="1">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smtClean="0">
                            <a:solidFill>
                              <a:schemeClr val="tx1"/>
                            </a:solidFill>
                            <a:latin typeface="Cambria Math" panose="02040503050406030204" pitchFamily="18" charset="0"/>
                            <a:cs typeface="Cambria Math" panose="02040503050406030204" pitchFamily="18" charset="0"/>
                          </a:rPr>
                        </m:ctrlPr>
                      </m:sSubPr>
                      <m:e>
                        <m:r>
                          <a:rPr lang="zh-CN" altLang="en-US" sz="2000" i="1" smtClean="0">
                            <a:latin typeface="Cambria Math" panose="02040503050406030204" pitchFamily="18" charset="0"/>
                          </a:rPr>
                          <m:t>𝜋</m:t>
                        </m:r>
                      </m:e>
                      <m:sub>
                        <m:r>
                          <a:rPr lang="zh-CN" altLang="en-US" sz="2000" i="1">
                            <a:latin typeface="Cambria Math" panose="02040503050406030204" pitchFamily="18" charset="0"/>
                          </a:rPr>
                          <m:t>轮流</m:t>
                        </m:r>
                      </m:sub>
                    </m:sSub>
                    <m:r>
                      <a:rPr lang="en-US" altLang="zh-CN" sz="2000" i="1">
                        <a:latin typeface="Cambria Math" panose="02040503050406030204" pitchFamily="18" charset="0"/>
                      </a:rPr>
                      <m:t>=</m:t>
                    </m:r>
                    <m:r>
                      <a:rPr lang="en-US" altLang="zh-CN" sz="2000" b="0" i="0" smtClean="0">
                        <a:latin typeface="Cambria Math" panose="02040503050406030204" pitchFamily="18" charset="0"/>
                      </a:rPr>
                      <m:t>0</m:t>
                    </m:r>
                    <m:r>
                      <a:rPr lang="en-US" altLang="zh-CN" sz="2000" b="0" i="0" smtClean="0">
                        <a:latin typeface="Cambria Math" panose="02040503050406030204" pitchFamily="18" charset="0"/>
                      </a:rPr>
                      <m:t>.</m:t>
                    </m:r>
                    <m:r>
                      <a:rPr lang="en-US" altLang="zh-CN" sz="2000" b="0" i="0" smtClean="0">
                        <a:latin typeface="Cambria Math" panose="02040503050406030204" pitchFamily="18" charset="0"/>
                      </a:rPr>
                      <m:t>5</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5</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3</m:t>
                    </m:r>
                  </m:oMath>
                </a14:m>
                <a:endParaRPr lang="en-US" altLang="zh-CN" sz="2000" b="0" i="1">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𝜋</m:t>
                        </m:r>
                      </m:e>
                      <m:sub>
                        <m:r>
                          <a:rPr lang="zh-CN" altLang="en-US" sz="2000" i="1">
                            <a:latin typeface="Cambria Math" panose="02040503050406030204" pitchFamily="18" charset="0"/>
                          </a:rPr>
                          <m:t>相关</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5</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10</m:t>
                        </m:r>
                      </m:num>
                      <m:den>
                        <m:r>
                          <a:rPr lang="en-US" altLang="zh-CN" sz="2000" b="0" i="1" smtClean="0">
                            <a:latin typeface="Cambria Math" panose="02040503050406030204" pitchFamily="18" charset="0"/>
                          </a:rPr>
                          <m:t>3</m:t>
                        </m:r>
                      </m:den>
                    </m:f>
                  </m:oMath>
                </a14:m>
                <a:endParaRPr lang="en-US" altLang="zh-CN" sz="2000" b="0" i="1">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zh-CN" altLang="en-US" sz="2000" i="1">
                            <a:latin typeface="Cambria Math" panose="02040503050406030204" pitchFamily="18" charset="0"/>
                          </a:rPr>
                          <m:t>相关</m:t>
                        </m:r>
                      </m:sub>
                    </m:sSub>
                    <m:r>
                      <a:rPr lang="en-US" altLang="zh-CN" sz="2000" i="1" smtClean="0">
                        <a:latin typeface="Cambria Math" panose="02040503050406030204" pitchFamily="18" charset="0"/>
                        <a:ea typeface="Cambria Math" panose="02040503050406030204" pitchFamily="18" charset="0"/>
                      </a:rPr>
                      <m:t>&gt;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zh-CN" altLang="en-US" sz="2000" i="1">
                            <a:latin typeface="Cambria Math" panose="02040503050406030204" pitchFamily="18" charset="0"/>
                          </a:rPr>
                          <m:t>轮流</m:t>
                        </m:r>
                      </m:sub>
                    </m:sSub>
                    <m:r>
                      <a:rPr lang="en-US" altLang="zh-CN" sz="2000" i="1">
                        <a:latin typeface="Cambria Math" panose="02040503050406030204" pitchFamily="18" charset="0"/>
                        <a:ea typeface="Cambria Math" panose="02040503050406030204" pitchFamily="18" charset="0"/>
                      </a:rPr>
                      <m:t>&gt;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5</m:t>
                        </m:r>
                        <m:r>
                          <a:rPr lang="en-US" altLang="zh-CN" sz="2000" i="1">
                            <a:latin typeface="Cambria Math" panose="02040503050406030204" pitchFamily="18" charset="0"/>
                          </a:rPr>
                          <m:t>𝑈</m:t>
                        </m:r>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5</m:t>
                        </m:r>
                        <m:r>
                          <a:rPr lang="en-US" altLang="zh-CN" sz="2000" i="1">
                            <a:latin typeface="Cambria Math" panose="02040503050406030204" pitchFamily="18" charset="0"/>
                          </a:rPr>
                          <m:t>𝐷</m:t>
                        </m:r>
                      </m:sub>
                    </m:sSub>
                  </m:oMath>
                </a14:m>
                <a:endParaRPr lang="en-US" altLang="zh-CN" sz="2000" i="1">
                  <a:latin typeface="Cambria Math" panose="020405030504060302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dirty="0">
                    <a:solidFill>
                      <a:schemeClr val="tx1"/>
                    </a:solidFill>
                    <a:sym typeface="+mn-ea"/>
                  </a:rPr>
                  <a:t>这种均衡已利用某种信号约定了，不同于一般纳什均衡。</a:t>
                </a:r>
                <a:endParaRPr lang="en-US" altLang="zh-CN" sz="2000" dirty="0"/>
              </a:p>
              <a:p>
                <a:pPr marL="742950" lvl="1" indent="-285750" algn="l" fontAlgn="ctr">
                  <a:lnSpc>
                    <a:spcPct val="130000"/>
                  </a:lnSpc>
                  <a:spcBef>
                    <a:spcPts val="1000"/>
                  </a:spcBef>
                  <a:spcAft>
                    <a:spcPts val="0"/>
                  </a:spcAft>
                  <a:buSzPct val="100000"/>
                  <a:buFont typeface="Wingdings" panose="05000000000000000000" charset="0"/>
                  <a:buChar char="l"/>
                </a:pPr>
                <a:endParaRPr lang="en-US" altLang="zh-CN"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5" name="Title 6"/>
              <p:cNvSpPr txBox="1">
                <a:spLocks noRot="1" noChangeAspect="1" noMove="1" noResize="1" noEditPoints="1" noAdjustHandles="1" noChangeArrowheads="1" noChangeShapeType="1" noTextEdit="1"/>
              </p:cNvSpPr>
              <p:nvPr>
                <p:custDataLst>
                  <p:tags r:id="rId3"/>
                </p:custDataLst>
              </p:nvPr>
            </p:nvSpPr>
            <p:spPr>
              <a:xfrm>
                <a:off x="1343660" y="2036445"/>
                <a:ext cx="8945245" cy="3546475"/>
              </a:xfrm>
              <a:prstGeom prst="rect">
                <a:avLst/>
              </a:prstGeom>
              <a:blipFill rotWithShape="1">
                <a:blip r:embed="rId4"/>
                <a:stretch>
                  <a:fillRect t="-662" b="-680"/>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6"/>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相关均衡</a:t>
              </a:r>
              <a:endParaRPr lang="zh-CN" altLang="en-US" sz="2800" dirty="0">
                <a:solidFill>
                  <a:schemeClr val="accent1"/>
                </a:solidFill>
                <a:sym typeface="+mn-ea"/>
              </a:endParaRPr>
            </a:p>
          </p:txBody>
        </p:sp>
        <p:cxnSp>
          <p:nvCxnSpPr>
            <p:cNvPr id="8" name="直接连接符 7"/>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6" name="Title 6"/>
          <p:cNvSpPr txBox="1"/>
          <p:nvPr>
            <p:custDataLst>
              <p:tags r:id="rId1"/>
            </p:custDataLst>
          </p:nvPr>
        </p:nvSpPr>
        <p:spPr>
          <a:xfrm>
            <a:off x="695325" y="1268730"/>
            <a:ext cx="10624185" cy="40989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方案</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策略机制的重要性质：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保证</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和R不会同时出现，即排除了(U,R)；</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保证(U,L)、(D,L)和(D,R)各以1/3的概率出现，从而使两博弈方的期望得益达到3</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1/3；</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上述策略组合是一个纳什均衡</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上述相关装置并不影响双方在各种策略组合下的得益，因此并不影响原来的均衡</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。即如果一个博弈方忽视信号，另一个博弈方也可以忽视信号，并不影响各博弈方原来可能实现的利益。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lvl="1" indent="-342900" algn="just" fontAlgn="ctr">
              <a:lnSpc>
                <a:spcPct val="130000"/>
              </a:lnSpc>
              <a:spcBef>
                <a:spcPts val="100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1" indent="0" algn="just" fontAlgn="ctr">
              <a:lnSpc>
                <a:spcPct val="130000"/>
              </a:lnSpc>
              <a:spcBef>
                <a:spcPts val="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相关均衡</a:t>
              </a:r>
              <a:endParaRPr lang="zh-CN" altLang="en-US" sz="2800" dirty="0">
                <a:solidFill>
                  <a:schemeClr val="accent1"/>
                </a:solidFill>
                <a:sym typeface="+mn-ea"/>
              </a:endParaRPr>
            </a:p>
          </p:txBody>
        </p:sp>
        <p:cxnSp>
          <p:nvCxnSpPr>
            <p:cNvPr id="8" name="直接连接符 7"/>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4" name="直接连接符 13"/>
          <p:cNvCxnSpPr/>
          <p:nvPr>
            <p:custDataLst>
              <p:tags r:id="rId2"/>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3"/>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4"/>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5"/>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6"/>
            </p:custDataLst>
          </p:nvPr>
        </p:nvSpPr>
        <p:spPr>
          <a:xfrm>
            <a:off x="2029937" y="184673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如果一个博弈的某个策略组合满足下列要求：</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9300" lvl="1" indent="-304800" algn="just" fontAlgn="ctr">
              <a:lnSpc>
                <a:spcPct val="130000"/>
              </a:lnSpc>
              <a:spcBef>
                <a:spcPts val="0"/>
              </a:spcBef>
              <a:spcAft>
                <a:spcPts val="0"/>
              </a:spcAft>
              <a:buSzPct val="100000"/>
              <a:buFont typeface="Calibri Light" panose="020F0302020204030204" charset="0"/>
              <a:buAutoNum type="arabicPeriod"/>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没有任何单个博弈方的“串通”会改变博弈的结果，即单独改变策略无利可图；</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9300" lvl="1" indent="-304800" algn="just" fontAlgn="ctr">
              <a:lnSpc>
                <a:spcPct val="130000"/>
              </a:lnSpc>
              <a:spcBef>
                <a:spcPts val="0"/>
              </a:spcBef>
              <a:spcAft>
                <a:spcPts val="0"/>
              </a:spcAft>
              <a:buSzPct val="100000"/>
              <a:buFont typeface="Calibri Light" panose="020F0302020204030204" charset="0"/>
              <a:buAutoNum type="arabicPeriod"/>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给定选择偏离的博弈方有再次偏离的自由时，没有任何两个博弈方的串通会改变博弈的结果；</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9300" lvl="1" indent="-304800" algn="just" fontAlgn="ctr">
              <a:lnSpc>
                <a:spcPct val="130000"/>
              </a:lnSpc>
              <a:spcBef>
                <a:spcPts val="0"/>
              </a:spcBef>
              <a:spcAft>
                <a:spcPts val="0"/>
              </a:spcAft>
              <a:buSzPct val="100000"/>
              <a:buFont typeface="Calibri Light" panose="020F0302020204030204" charset="0"/>
              <a:buAutoNum type="arabicPeriod"/>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依此类推，直到所有博弈方都参加的串通也不会改变博弈的结果。</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称为“防共谋均衡”。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3" name="组合 2"/>
          <p:cNvGrpSpPr/>
          <p:nvPr/>
        </p:nvGrpSpPr>
        <p:grpSpPr>
          <a:xfrm>
            <a:off x="533400" y="152400"/>
            <a:ext cx="11201400" cy="762000"/>
            <a:chOff x="840" y="240"/>
            <a:chExt cx="17640" cy="1200"/>
          </a:xfrm>
        </p:grpSpPr>
        <p:sp>
          <p:nvSpPr>
            <p:cNvPr id="7" name="文本框 6"/>
            <p:cNvSpPr txBox="1"/>
            <p:nvPr>
              <p:custDataLst>
                <p:tags r:id="rId8"/>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防共谋均衡</a:t>
              </a:r>
              <a:endParaRPr lang="zh-CN" altLang="en-US" sz="2800" dirty="0">
                <a:solidFill>
                  <a:schemeClr val="accent1"/>
                </a:solidFill>
                <a:sym typeface="+mn-ea"/>
              </a:endParaRPr>
            </a:p>
          </p:txBody>
        </p:sp>
        <p:cxnSp>
          <p:nvCxnSpPr>
            <p:cNvPr id="8" name="直接连接符 7"/>
            <p:cNvCxnSpPr/>
            <p:nvPr>
              <p:custDataLst>
                <p:tags r:id="rId9"/>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1" name="Title 6"/>
          <p:cNvSpPr txBox="1"/>
          <p:nvPr>
            <p:custDataLst>
              <p:tags r:id="rId1"/>
            </p:custDataLst>
          </p:nvPr>
        </p:nvSpPr>
        <p:spPr>
          <a:xfrm>
            <a:off x="983615" y="914400"/>
            <a:ext cx="8371840" cy="149733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多人博弈中的共谋问题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本博弈的纯策略纳什均衡：（U，L，A）、（D，R，B）     </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前者帕累托优于后者。博弈的结果会是什么呢？</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Title 6"/>
          <p:cNvSpPr txBox="1"/>
          <p:nvPr>
            <p:custDataLst>
              <p:tags r:id="rId2"/>
            </p:custDataLst>
          </p:nvPr>
        </p:nvSpPr>
        <p:spPr>
          <a:xfrm>
            <a:off x="1004570" y="4941570"/>
            <a:ext cx="8923655" cy="1116965"/>
          </a:xfrm>
          <a:prstGeom prst="rect">
            <a:avLst/>
          </a:prstGeom>
          <a:noFill/>
          <a:ln w="3175">
            <a:noFill/>
            <a:prstDash val="dash"/>
          </a:ln>
        </p:spPr>
        <p:txBody>
          <a:bodyPr wrap="square" lIns="63500" tIns="25400" rIns="63500" bIns="254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（U，L，A）有共谋问题：博弈方1和2同时偏离</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（D，R，B）是防共谋均衡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grpSp>
        <p:nvGrpSpPr>
          <p:cNvPr id="5" name="组合 4"/>
          <p:cNvGrpSpPr/>
          <p:nvPr/>
        </p:nvGrpSpPr>
        <p:grpSpPr>
          <a:xfrm>
            <a:off x="533400" y="152400"/>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多重纳什均衡博弈的分析：</a:t>
              </a:r>
              <a:r>
                <a:rPr lang="zh-CN" altLang="en-US" sz="2800" dirty="0">
                  <a:solidFill>
                    <a:schemeClr val="accent1"/>
                  </a:solidFill>
                  <a:sym typeface="+mn-ea"/>
                </a:rPr>
                <a:t>防共谋均衡</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1703070" y="2493010"/>
            <a:ext cx="9324975" cy="2384425"/>
            <a:chOff x="2682" y="3926"/>
            <a:chExt cx="14685" cy="3755"/>
          </a:xfrm>
        </p:grpSpPr>
        <p:pic>
          <p:nvPicPr>
            <p:cNvPr id="9" name="图片 8"/>
            <p:cNvPicPr>
              <a:picLocks noChangeAspect="1"/>
            </p:cNvPicPr>
            <p:nvPr/>
          </p:nvPicPr>
          <p:blipFill>
            <a:blip r:embed="rId6"/>
            <a:stretch>
              <a:fillRect/>
            </a:stretch>
          </p:blipFill>
          <p:spPr>
            <a:xfrm>
              <a:off x="2682" y="4039"/>
              <a:ext cx="7132" cy="3251"/>
            </a:xfrm>
            <a:prstGeom prst="rect">
              <a:avLst/>
            </a:prstGeom>
          </p:spPr>
        </p:pic>
        <p:pic>
          <p:nvPicPr>
            <p:cNvPr id="10" name="图片 9"/>
            <p:cNvPicPr>
              <a:picLocks noChangeAspect="1"/>
            </p:cNvPicPr>
            <p:nvPr/>
          </p:nvPicPr>
          <p:blipFill>
            <a:blip r:embed="rId7"/>
            <a:srcRect b="8970"/>
            <a:stretch>
              <a:fillRect/>
            </a:stretch>
          </p:blipFill>
          <p:spPr>
            <a:xfrm>
              <a:off x="10393" y="3926"/>
              <a:ext cx="6974" cy="3410"/>
            </a:xfrm>
            <a:prstGeom prst="rect">
              <a:avLst/>
            </a:prstGeom>
          </p:spPr>
        </p:pic>
        <p:sp>
          <p:nvSpPr>
            <p:cNvPr id="11" name="文本框 10"/>
            <p:cNvSpPr txBox="1"/>
            <p:nvPr/>
          </p:nvSpPr>
          <p:spPr>
            <a:xfrm>
              <a:off x="5064" y="7101"/>
              <a:ext cx="3194" cy="580"/>
            </a:xfrm>
            <a:prstGeom prst="rect">
              <a:avLst/>
            </a:prstGeom>
            <a:noFill/>
          </p:spPr>
          <p:txBody>
            <a:bodyPr wrap="square" rtlCol="0">
              <a:spAutoFit/>
            </a:bodyPr>
            <a:lstStyle/>
            <a:p>
              <a:r>
                <a:rPr lang="zh-CN" altLang="en-US"/>
                <a:t>博弈方</a:t>
              </a:r>
              <a:r>
                <a:rPr lang="en-US" altLang="zh-CN"/>
                <a:t>3——A</a:t>
              </a:r>
              <a:endParaRPr lang="en-US" altLang="zh-CN"/>
            </a:p>
          </p:txBody>
        </p:sp>
        <p:sp>
          <p:nvSpPr>
            <p:cNvPr id="12" name="文本框 11"/>
            <p:cNvSpPr txBox="1"/>
            <p:nvPr/>
          </p:nvSpPr>
          <p:spPr>
            <a:xfrm>
              <a:off x="13228" y="6987"/>
              <a:ext cx="3054" cy="580"/>
            </a:xfrm>
            <a:prstGeom prst="rect">
              <a:avLst/>
            </a:prstGeom>
            <a:noFill/>
          </p:spPr>
          <p:txBody>
            <a:bodyPr wrap="square" rtlCol="0">
              <a:spAutoFit/>
            </a:bodyPr>
            <a:lstStyle/>
            <a:p>
              <a:r>
                <a:rPr lang="zh-CN" altLang="en-US"/>
                <a:t>博弈方</a:t>
              </a:r>
              <a:r>
                <a:rPr lang="en-US" altLang="zh-CN"/>
                <a:t>3——B</a:t>
              </a:r>
              <a:endParaRPr lang="en-US" altLang="zh-CN"/>
            </a:p>
          </p:txBody>
        </p: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631039" y="1988957"/>
            <a:ext cx="9144000" cy="1896745"/>
          </a:xfrm>
        </p:spPr>
        <p:txBody>
          <a:bodyPr/>
          <a:lstStyle/>
          <a:p>
            <a:pPr algn="ctr"/>
            <a:r>
              <a:rPr lang="en-US" altLang="zh-CN" sz="9600"/>
              <a:t>THANKS</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8ba6aa45-4994-4e51-877d-be84c4d90ae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208d7b-3e11-426c-b819-7b3ee82e3be8}"/>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diagram20221168_1*b*1"/>
  <p:tag name="KSO_WM_TEMPLATE_CATEGORY" val="diagram"/>
  <p:tag name="KSO_WM_TEMPLATE_INDEX" val="20221168"/>
  <p:tag name="KSO_WM_UNIT_LAYERLEVEL" val="1"/>
  <p:tag name="KSO_WM_TAG_VERSION" val="1.0"/>
  <p:tag name="KSO_WM_BEAUTIFY_FLAG" val="#wm#"/>
  <p:tag name="KSO_WM_UNIT_DEFAULT_FONT" val="20;24;2"/>
  <p:tag name="KSO_WM_UNIT_BLOCK" val="0"/>
  <p:tag name="KSO_WM_UNIT_SM_LIMIT_TYPE" val="2"/>
  <p:tag name="KSO_WM_UNIT_DEC_AREA_ID" val="204cf403550748f2b1b12b510f35b0c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21168_1*a*1"/>
  <p:tag name="KSO_WM_TEMPLATE_CATEGORY" val="diagram"/>
  <p:tag name="KSO_WM_TEMPLATE_INDEX" val="20221168"/>
  <p:tag name="KSO_WM_UNIT_LAYERLEVEL" val="1"/>
  <p:tag name="KSO_WM_TAG_VERSION" val="1.0"/>
  <p:tag name="KSO_WM_BEAUTIFY_FLAG" val="#wm#"/>
  <p:tag name="KSO_WM_UNIT_DEFAULT_FONT" val="66;96;2"/>
  <p:tag name="KSO_WM_UNIT_BLOCK" val="0"/>
  <p:tag name="KSO_WM_UNIT_SM_LIMIT_TYPE" val="2"/>
  <p:tag name="KSO_WM_UNIT_DEC_AREA_ID" val="f075e2182f8048389128d0f4615d35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46_1*f*1"/>
  <p:tag name="KSO_WM_TEMPLATE_CATEGORY" val="diagram"/>
  <p:tag name="KSO_WM_TEMPLATE_INDEX" val="20211946"/>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2013d2758ce14cec8848a540ee91166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54dc18d14a5d4b459f8ee8a655497d4c"/>
  <p:tag name="KSO_WM_UNIT_TEXT_FILL_FORE_SCHEMECOLOR_INDEX_BRIGHTNESS" val="0.25"/>
  <p:tag name="KSO_WM_UNIT_TEXT_FILL_FORE_SCHEMECOLOR_INDEX" val="13"/>
  <p:tag name="KSO_WM_UNIT_TEXT_FILL_TYPE" val="1"/>
  <p:tag name="KSO_WM_TEMPLATE_ASSEMBLE_XID" val="60656f154054ed1e2fb8032c"/>
  <p:tag name="KSO_WM_TEMPLATE_ASSEMBLE_GROUPID" val="60656f154054ed1e2fb8032c"/>
</p:tagLst>
</file>

<file path=ppt/tags/tag14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216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216"/>
  <p:tag name="KSO_WM_UNIT_VALUE" val="1150"/>
  <p:tag name="KSO_WM_TEMPLATE_ASSEMBLE_XID" val="60656f2e4054ed1e2fb80507"/>
  <p:tag name="KSO_WM_TEMPLATE_ASSEMBLE_GROUPID" val="60656f2e4054ed1e2fb80507"/>
</p:tagLst>
</file>

<file path=ppt/tags/tag147.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6_1*f*1"/>
  <p:tag name="KSO_WM_TEMPLATE_CATEGORY" val="diagram"/>
  <p:tag name="KSO_WM_TEMPLATE_INDEX" val="20212216"/>
  <p:tag name="KSO_WM_UNIT_LAYERLEVEL" val="1"/>
  <p:tag name="KSO_WM_TAG_VERSION" val="1.0"/>
  <p:tag name="KSO_WM_BEAUTIFY_FLAG" val="#wm#"/>
  <p:tag name="KSO_WM_UNIT_DEFAULT_FONT" val="14;20;2"/>
  <p:tag name="KSO_WM_UNIT_BLOCK" val="0"/>
  <p:tag name="KSO_WM_UNIT_VALUE" val="48"/>
  <p:tag name="KSO_WM_UNIT_SHOW_EDIT_AREA_INDICATION" val="1"/>
  <p:tag name="KSO_WM_CHIP_GROUPID" val="5e6b05596848fb12bee65ac8"/>
  <p:tag name="KSO_WM_CHIP_XID" val="5e6b05596848fb12bee65aca"/>
  <p:tag name="KSO_WM_UNIT_DEC_AREA_ID" val="376e916b5b3d4fbc9ce9859661497294"/>
  <p:tag name="KSO_WM_CHIP_FILLAREA_FILL_RULE" val="{&quot;fill_align&quot;:&quot;rt&quot;,&quot;fill_mode&quot;:&quot;full&quot;,&quot;sacle_strategy&quot;:&quot;smart&quot;}"/>
  <p:tag name="KSO_WM_ASSEMBLE_CHIP_INDEX" val="47b56d52fc444a088d45ede9823ea8ff"/>
  <p:tag name="KSO_WM_UNIT_SUPPORT_UNIT_TYPE" val="[&quot;d&quot;]"/>
  <p:tag name="KSO_WM_UNIT_TEXT_FILL_FORE_SCHEMECOLOR_INDEX_BRIGHTNESS" val="0.25"/>
  <p:tag name="KSO_WM_UNIT_TEXT_FILL_FORE_SCHEMECOLOR_INDEX" val="13"/>
  <p:tag name="KSO_WM_UNIT_TEXT_FILL_TYPE" val="1"/>
  <p:tag name="KSO_WM_TEMPLATE_ASSEMBLE_XID" val="60656f2e4054ed1e2fb80507"/>
  <p:tag name="KSO_WM_TEMPLATE_ASSEMBLE_GROUPID" val="60656f2e4054ed1e2fb80507"/>
</p:tagLst>
</file>

<file path=ppt/tags/tag148.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0&quot;,&quot;maxSize&quot;:{&quot;size1&quot;:22.2},&quot;minSize&quot;:{&quot;size1&quot;:13.5},&quot;normalSize&quot;:{&quot;size1&quot;:13.5},&quot;subLayout&quot;:[{&quot;id&quot;:&quot;2022-08-19T16:40:50&quot;,&quot;margin&quot;:{&quot;bottom&quot;:0.026000002399086952,&quot;left&quot;:2.117000102996826,&quot;right&quot;:1.2699999809265137,&quot;top&quot;:0.4230000078678131},&quot;type&quot;:0},{&quot;id&quot;:&quot;2022-08-19T16:40:5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2:09&quot;,&quot;maxSize&quot;:{&quot;size1&quot;:22.2},&quot;minSize&quot;:{&quot;size1&quot;:13.5},&quot;normalSize&quot;:{&quot;size1&quot;:19.333333333333332},&quot;subLayout&quot;:[{&quot;id&quot;:&quot;2022-08-16T16:32:09&quot;,&quot;margin&quot;:{&quot;bottom&quot;:0.026000002399086952,&quot;left&quot;:2.117000102996826,&quot;right&quot;:1.2699999809265137,&quot;top&quot;:0.4230000078678131},&quot;type&quot;:0},{&quot;id&quot;:&quot;2022-08-16T16:32:0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1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5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7&quot;,&quot;maxSize&quot;:{&quot;size1&quot;:22.2},&quot;minSize&quot;:{&quot;size1&quot;:13.5},&quot;normalSize&quot;:{&quot;size1&quot;:13.5},&quot;subLayout&quot;:[{&quot;id&quot;:&quot;2022-08-19T16:40:47&quot;,&quot;margin&quot;:{&quot;bottom&quot;:0.026000002399086952,&quot;left&quot;:2.117000102996826,&quot;right&quot;:1.2699999809265137,&quot;top&quot;:0.4230000078678131},&quot;type&quot;:0},{&quot;id&quot;:&quot;2022-08-19T16:40:4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6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7&quot;,&quot;maxSize&quot;:{&quot;size1&quot;:22.2},&quot;minSize&quot;:{&quot;size1&quot;:13.5},&quot;normalSize&quot;:{&quot;size1&quot;:13.5},&quot;subLayout&quot;:[{&quot;id&quot;:&quot;2022-08-19T16:40:47&quot;,&quot;margin&quot;:{&quot;bottom&quot;:0.026000002399086952,&quot;left&quot;:2.117000102996826,&quot;right&quot;:1.2699999809265137,&quot;top&quot;:0.4230000078678131},&quot;type&quot;:0},{&quot;id&quot;:&quot;2022-08-19T16:40:4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216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216"/>
  <p:tag name="KSO_WM_UNIT_VALUE" val="1150"/>
  <p:tag name="KSO_WM_TEMPLATE_ASSEMBLE_XID" val="60656f2e4054ed1e2fb80507"/>
  <p:tag name="KSO_WM_TEMPLATE_ASSEMBLE_GROUPID" val="60656f2e4054ed1e2fb80507"/>
</p:tagLst>
</file>

<file path=ppt/tags/tag165.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6_1*f*1"/>
  <p:tag name="KSO_WM_TEMPLATE_CATEGORY" val="diagram"/>
  <p:tag name="KSO_WM_TEMPLATE_INDEX" val="20212216"/>
  <p:tag name="KSO_WM_UNIT_LAYERLEVEL" val="1"/>
  <p:tag name="KSO_WM_TAG_VERSION" val="1.0"/>
  <p:tag name="KSO_WM_BEAUTIFY_FLAG" val="#wm#"/>
  <p:tag name="KSO_WM_UNIT_DEFAULT_FONT" val="14;20;2"/>
  <p:tag name="KSO_WM_UNIT_BLOCK" val="0"/>
  <p:tag name="KSO_WM_UNIT_VALUE" val="48"/>
  <p:tag name="KSO_WM_UNIT_SHOW_EDIT_AREA_INDICATION" val="1"/>
  <p:tag name="KSO_WM_CHIP_GROUPID" val="5e6b05596848fb12bee65ac8"/>
  <p:tag name="KSO_WM_CHIP_XID" val="5e6b05596848fb12bee65aca"/>
  <p:tag name="KSO_WM_UNIT_DEC_AREA_ID" val="376e916b5b3d4fbc9ce9859661497294"/>
  <p:tag name="KSO_WM_CHIP_FILLAREA_FILL_RULE" val="{&quot;fill_align&quot;:&quot;rt&quot;,&quot;fill_mode&quot;:&quot;full&quot;,&quot;sacle_strategy&quot;:&quot;smart&quot;}"/>
  <p:tag name="KSO_WM_ASSEMBLE_CHIP_INDEX" val="47b56d52fc444a088d45ede9823ea8ff"/>
  <p:tag name="KSO_WM_UNIT_SUPPORT_UNIT_TYPE" val="[&quot;d&quot;]"/>
  <p:tag name="KSO_WM_UNIT_TEXT_FILL_FORE_SCHEMECOLOR_INDEX_BRIGHTNESS" val="0.25"/>
  <p:tag name="KSO_WM_UNIT_TEXT_FILL_FORE_SCHEMECOLOR_INDEX" val="13"/>
  <p:tag name="KSO_WM_UNIT_TEXT_FILL_TYPE" val="1"/>
  <p:tag name="KSO_WM_TEMPLATE_ASSEMBLE_XID" val="60656f2e4054ed1e2fb80507"/>
  <p:tag name="KSO_WM_TEMPLATE_ASSEMBLE_GROUPID" val="60656f2e4054ed1e2fb80507"/>
</p:tagLst>
</file>

<file path=ppt/tags/tag166.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0&quot;,&quot;maxSize&quot;:{&quot;size1&quot;:22.2},&quot;minSize&quot;:{&quot;size1&quot;:13.5},&quot;normalSize&quot;:{&quot;size1&quot;:13.5},&quot;subLayout&quot;:[{&quot;id&quot;:&quot;2022-08-19T16:40:50&quot;,&quot;margin&quot;:{&quot;bottom&quot;:0.026000002399086952,&quot;left&quot;:2.117000102996826,&quot;right&quot;:1.2699999809265137,&quot;top&quot;:0.4230000078678131},&quot;type&quot;:0},{&quot;id&quot;:&quot;2022-08-19T16:40:5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7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4&quot;,&quot;maxSize&quot;:{&quot;size1&quot;:22.2},&quot;minSize&quot;:{&quot;size1&quot;:13.5},&quot;normalSize&quot;:{&quot;size1&quot;:13.5},&quot;subLayout&quot;:[{&quot;id&quot;:&quot;2022-08-16T16:31:54&quot;,&quot;margin&quot;:{&quot;bottom&quot;:0.026000002399086952,&quot;left&quot;:2.117000102996826,&quot;right&quot;:1.2699999809265137,&quot;top&quot;:0.4230000078678131},&quot;type&quot;:0},{&quot;id&quot;:&quot;2022-08-16T16:31: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7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17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7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7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7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8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6&quot;,&quot;maxSize&quot;:{&quot;size1&quot;:22.2},&quot;minSize&quot;:{&quot;size1&quot;:13.5},&quot;normalSize&quot;:{&quot;size1&quot;:13.5},&quot;subLayout&quot;:[{&quot;id&quot;:&quot;2022-08-19T16:40:46&quot;,&quot;margin&quot;:{&quot;bottom&quot;:0.026000002399086952,&quot;left&quot;:2.117000102996826,&quot;right&quot;:1.2699999809265137,&quot;top&quot;:0.4230000078678131},&quot;type&quot;:0},{&quot;id&quot;:&quot;2022-08-19T16:40: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8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4&quot;,&quot;maxSize&quot;:{&quot;size1&quot;:22.2},&quot;minSize&quot;:{&quot;size1&quot;:13.5},&quot;normalSize&quot;:{&quot;size1&quot;:13.5},&quot;subLayout&quot;:[{&quot;id&quot;:&quot;2022-08-16T16:31:54&quot;,&quot;margin&quot;:{&quot;bottom&quot;:0.026000002399086952,&quot;left&quot;:2.117000102996826,&quot;right&quot;:1.2699999809265137,&quot;top&quot;:0.4230000078678131},&quot;type&quot;:0},{&quot;id&quot;:&quot;2022-08-16T16:31: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8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6T16:31:54&quot;,&quot;maxSize&quot;:{&quot;size1&quot;:22.2},&quot;minSize&quot;:{&quot;size1&quot;:13.5},&quot;normalSize&quot;:{&quot;size1&quot;:13.5},&quot;subLayout&quot;:[{&quot;id&quot;:&quot;2022-08-16T16:31:54&quot;,&quot;margin&quot;:{&quot;bottom&quot;:0.026000002399086952,&quot;left&quot;:2.117000102996826,&quot;right&quot;:1.2699999809265137,&quot;top&quot;:0.4230000078678131},&quot;type&quot;:0},{&quot;id&quot;:&quot;2022-08-16T16:31: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19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9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9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9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6&quot;,&quot;maxSize&quot;:{&quot;size1&quot;:22.2},&quot;minSize&quot;:{&quot;size1&quot;:13.5},&quot;normalSize&quot;:{&quot;size1&quot;:13.5},&quot;subLayout&quot;:[{&quot;id&quot;:&quot;2022-08-19T16:40:46&quot;,&quot;margin&quot;:{&quot;bottom&quot;:0.026000002399086952,&quot;left&quot;:2.117000102996826,&quot;right&quot;:1.2699999809265137,&quot;top&quot;:0.4230000078678131},&quot;type&quot;:0},{&quot;id&quot;:&quot;2022-08-19T16:40: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200.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0*219"/>
  <p:tag name="TABLE_ENDDRAG_RECT" val="26*145*450*219"/>
</p:tagLst>
</file>

<file path=ppt/tags/tag20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9&quot;,&quot;maxSize&quot;:{&quot;size1&quot;:22.2},&quot;minSize&quot;:{&quot;size1&quot;:13.5},&quot;normalSize&quot;:{&quot;size1&quot;:13.5},&quot;subLayout&quot;:[{&quot;id&quot;:&quot;2022-08-19T16:40:49&quot;,&quot;margin&quot;:{&quot;bottom&quot;:0.026000002399086952,&quot;left&quot;:2.117000102996826,&quot;right&quot;:1.2699999809265137,&quot;top&quot;:0.4230000078678131},&quot;type&quot;:0},{&quot;id&quot;:&quot;2022-08-19T16:40:4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1_1*f*1"/>
  <p:tag name="KSO_WM_TEMPLATE_CATEGORY" val="diagram"/>
  <p:tag name="KSO_WM_TEMPLATE_INDEX" val="20217161"/>
  <p:tag name="KSO_WM_UNIT_LAYERLEVEL" val="1"/>
  <p:tag name="KSO_WM_TAG_VERSION" val="1.0"/>
  <p:tag name="KSO_WM_BEAUTIFY_FLAG" val="#wm#"/>
  <p:tag name="KSO_WM_UNIT_DEFAULT_FONT" val="14;20;2"/>
  <p:tag name="KSO_WM_UNIT_BLOCK" val="0"/>
  <p:tag name="KSO_WM_UNIT_VALUE" val="270"/>
  <p:tag name="KSO_WM_UNIT_SHOW_EDIT_AREA_INDICATION" val="1"/>
  <p:tag name="KSO_WM_CHIP_GROUPID" val="5e6b05596848fb12bee65ac8"/>
  <p:tag name="KSO_WM_CHIP_XID" val="5e6b05596848fb12bee65aca"/>
  <p:tag name="KSO_WM_UNIT_DEC_AREA_ID" val="abb229211d1146b7be65059294c4e9d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75097f59cb04debb6c4c67dfc08e3af"/>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706c4054ed1e2fb81509"/>
  <p:tag name="KSO_WM_TEMPLATE_ASSEMBLE_GROUPID" val="6065706c4054ed1e2fb81509"/>
</p:tagLst>
</file>

<file path=ppt/tags/tag204.xml><?xml version="1.0" encoding="utf-8"?>
<p:tagLst xmlns:p="http://schemas.openxmlformats.org/presentationml/2006/main">
  <p:tag name="KSO_WM_BEAUTIFY_FLAG" val="#wm#"/>
  <p:tag name="KSO_WM_UNIT_TYPE" val="β"/>
  <p:tag name="TABLE_SKINIDX" val="0"/>
  <p:tag name="TABLE_COLORIDX" val="a"/>
  <p:tag name="KSO_WM_UNIT_TABLE_BEAUTIFY" val="smartTable{e8b27fe2-f1fa-4711-ac22-060f42c35040}"/>
  <p:tag name="TABLE_ENDDRAG_ORIGIN_RECT" val="395*246"/>
  <p:tag name="TABLE_ENDDRAG_RECT" val="190*184*395*246"/>
</p:tagLst>
</file>

<file path=ppt/tags/tag205.xml><?xml version="1.0" encoding="utf-8"?>
<p:tagLst xmlns:p="http://schemas.openxmlformats.org/presentationml/2006/main">
  <p:tag name="KSO_WM_UNIT_TABLE_BEAUTIFY" val="smartTable{6f582620-5834-4ca4-8c05-0ea82a1f8754}"/>
  <p:tag name="TABLE_ENDDRAG_ORIGIN_RECT" val="224*91"/>
  <p:tag name="TABLE_ENDDRAG_RECT" val="343*309*225*9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0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1&quot;,&quot;maxSize&quot;:{&quot;size1&quot;:22.2},&quot;minSize&quot;:{&quot;size1&quot;:13.5},&quot;normalSize&quot;:{&quot;size1&quot;:13.5},&quot;subLayout&quot;:[{&quot;id&quot;:&quot;2022-08-19T16:40:51&quot;,&quot;margin&quot;:{&quot;bottom&quot;:0.026000002399086952,&quot;left&quot;:2.117000102996826,&quot;right&quot;:1.2699999809265137,&quot;top&quot;:0.4230000078678131},&quot;type&quot;:0},{&quot;id&quot;:&quot;2022-08-19T16:40: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0.xml><?xml version="1.0" encoding="utf-8"?>
<p:tagLst xmlns:p="http://schemas.openxmlformats.org/presentationml/2006/main">
  <p:tag name="KSO_WM_UNIT_TABLE_BEAUTIFY" val="smartTable{81e98ac6-92c1-490f-a4fe-14abc0428b5b}"/>
</p:tagLst>
</file>

<file path=ppt/tags/tag211.xml><?xml version="1.0" encoding="utf-8"?>
<p:tagLst xmlns:p="http://schemas.openxmlformats.org/presentationml/2006/main">
  <p:tag name="KSO_WM_UNIT_TABLE_BEAUTIFY" val="smartTable{30950723-b2b3-42dc-894c-d38eaa8001fa}"/>
</p:tagLst>
</file>

<file path=ppt/tags/tag212.xml><?xml version="1.0" encoding="utf-8"?>
<p:tagLst xmlns:p="http://schemas.openxmlformats.org/presentationml/2006/main">
  <p:tag name="KSO_WM_UNIT_TABLE_BEAUTIFY" val="smartTable{6a519ea2-0f30-4011-bf48-71714b23a1d9}"/>
</p:tagLst>
</file>

<file path=ppt/tags/tag213.xml><?xml version="1.0" encoding="utf-8"?>
<p:tagLst xmlns:p="http://schemas.openxmlformats.org/presentationml/2006/main">
  <p:tag name="KSO_WM_UNIT_TABLE_BEAUTIFY" val="smartTable{9e934b4d-b7a9-413f-955d-8632efeafca4}"/>
</p:tagLst>
</file>

<file path=ppt/tags/tag214.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15.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SMARTLAYOUT_COMPRESS_INFO" val="{&#10;    &quot;id&quot;: &quot;2022-08-19T16:40:48&quot;,&#10;    &quot;max&quot;: 1.551574803149606,&#10;    &quot;topChanged&quot;: 0.4558726004745789&#10;}&#10;"/>
</p:tagLst>
</file>

<file path=ppt/tags/tag21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SMARTLAYOUT_COMPRESS_INFO" val="{&#10;    &quot;id&quot;: &quot;2022-08-19T16:40:48&quot;,&#10;    &quot;max&quot;: 1.551574803149606,&#10;    &quot;topChanged&quot;: 0.6797172436102603&#10;}&#10;"/>
</p:tagLst>
</file>

<file path=ppt/tags/tag217.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18.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19.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2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22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229.xml><?xml version="1.0" encoding="utf-8"?>
<p:tagLst xmlns:p="http://schemas.openxmlformats.org/presentationml/2006/main">
  <p:tag name="KSO_WM_BEAUTIFY_FLAG" val="#wm#"/>
  <p:tag name="KSO_WM_UNIT_TYPE" val="β"/>
  <p:tag name="TABLE_SKINIDX" val="1"/>
  <p:tag name="TABLE_COLORIDX" val="i"/>
  <p:tag name="KSO_WM_UNIT_TABLE_BEAUTIFY" val="smartTable{cecf22b8-04c3-42df-b01c-112bf8271452}"/>
  <p:tag name="TABLE_ENDDRAG_ORIGIN_RECT" val="398*260"/>
  <p:tag name="TABLE_ENDDRAG_RECT" val="445*155*398*260"/>
</p:tagLst>
</file>

<file path=ppt/tags/tag230.xml><?xml version="1.0" encoding="utf-8"?>
<p:tagLst xmlns:p="http://schemas.openxmlformats.org/presentationml/2006/main">
  <p:tag name="KSO_WM_UNIT_TABLE_BEAUTIFY" val="smartTable{6f582620-5834-4ca4-8c05-0ea82a1f8754}"/>
  <p:tag name="TABLE_ENDDRAG_ORIGIN_RECT" val="224*91"/>
  <p:tag name="TABLE_ENDDRAG_RECT" val="343*309*225*9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23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23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4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48&quot;,&quot;maxSize&quot;:{&quot;size1&quot;:22.2},&quot;minSize&quot;:{&quot;size1&quot;:13.5},&quot;normalSize&quot;:{&quot;size1&quot;:13.5},&quot;subLayout&quot;:[{&quot;id&quot;:&quot;2022-08-19T16:40:48&quot;,&quot;margin&quot;:{&quot;bottom&quot;:0.026000002399086952,&quot;left&quot;:2.117000102996826,&quot;right&quot;:1.2699999809265137,&quot;top&quot;:0.4230000078678131},&quot;type&quot;:0},{&quot;id&quot;:&quot;2022-08-19T16:40: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216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216"/>
  <p:tag name="KSO_WM_UNIT_VALUE" val="1150"/>
  <p:tag name="KSO_WM_TEMPLATE_ASSEMBLE_XID" val="60656f2e4054ed1e2fb80507"/>
  <p:tag name="KSO_WM_TEMPLATE_ASSEMBLE_GROUPID" val="60656f2e4054ed1e2fb80507"/>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0&quot;,&quot;maxSize&quot;:{&quot;size1&quot;:22.2},&quot;minSize&quot;:{&quot;size1&quot;:13.5},&quot;normalSize&quot;:{&quot;size1&quot;:13.5},&quot;subLayout&quot;:[{&quot;id&quot;:&quot;2022-08-19T16:40:50&quot;,&quot;margin&quot;:{&quot;bottom&quot;:0.026000002399086952,&quot;left&quot;:2.117000102996826,&quot;right&quot;:1.2699999809265137,&quot;top&quot;:0.4230000078678131},&quot;type&quot;:0},{&quot;id&quot;:&quot;2022-08-19T16:40:5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216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216"/>
  <p:tag name="KSO_WM_UNIT_VALUE" val="1150"/>
  <p:tag name="KSO_WM_TEMPLATE_ASSEMBLE_XID" val="60656f2e4054ed1e2fb80507"/>
  <p:tag name="KSO_WM_TEMPLATE_ASSEMBLE_GROUPID" val="60656f2e4054ed1e2fb80507"/>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0&quot;,&quot;maxSize&quot;:{&quot;size1&quot;:22.2},&quot;minSize&quot;:{&quot;size1&quot;:13.5},&quot;normalSize&quot;:{&quot;size1&quot;:13.5},&quot;subLayout&quot;:[{&quot;id&quot;:&quot;2022-08-19T16:40:50&quot;,&quot;margin&quot;:{&quot;bottom&quot;:0.026000002399086952,&quot;left&quot;:2.117000102996826,&quot;right&quot;:1.2699999809265137,&quot;top&quot;:0.4230000078678131},&quot;type&quot;:0},{&quot;id&quot;:&quot;2022-08-19T16:40:5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3&quot;,&quot;maxSize&quot;:{&quot;size1&quot;:22.2},&quot;minSize&quot;:{&quot;size1&quot;:13.5},&quot;normalSize&quot;:{&quot;size1&quot;:13.5},&quot;subLayout&quot;:[{&quot;id&quot;:&quot;2022-08-19T16:40:53&quot;,&quot;margin&quot;:{&quot;bottom&quot;:0.026000002399086952,&quot;left&quot;:2.117000102996826,&quot;right&quot;:1.2699999809265137,&quot;top&quot;:0.4230000078678131},&quot;type&quot;:0},{&quot;id&quot;:&quot;2022-08-19T16:40: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81.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82.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29*204"/>
  <p:tag name="TABLE_ENDDRAG_RECT" val="343*48*429*204"/>
</p:tagLst>
</file>

<file path=ppt/tags/tag283.xml><?xml version="1.0" encoding="utf-8"?>
<p:tagLst xmlns:p="http://schemas.openxmlformats.org/presentationml/2006/main">
  <p:tag name="KSO_WM_BEAUTIFY_FLAG" val="#wm#"/>
  <p:tag name="KSO_WM_UNIT_TYPE" val="β"/>
  <p:tag name="TABLE_SKINIDX" val="2"/>
  <p:tag name="TABLE_COLORIDX" val="c"/>
  <p:tag name="KSO_WM_UNIT_TABLE_BEAUTIFY" val="smartTable{7a66a82e-86cc-45f5-8d87-d590346372d5}"/>
  <p:tag name="TABLE_ENDDRAG_ORIGIN_RECT" val="430*221"/>
  <p:tag name="TABLE_ENDDRAG_RECT" val="348*293*430*221"/>
</p:tagLst>
</file>

<file path=ppt/tags/tag284.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8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3&quot;,&quot;maxSize&quot;:{&quot;size1&quot;:22.2},&quot;minSize&quot;:{&quot;size1&quot;:13.5},&quot;normalSize&quot;:{&quot;size1&quot;:13.5},&quot;subLayout&quot;:[{&quot;id&quot;:&quot;2022-08-19T16:40:53&quot;,&quot;margin&quot;:{&quot;bottom&quot;:0.026000002399086952,&quot;left&quot;:2.117000102996826,&quot;right&quot;:1.2699999809265137,&quot;top&quot;:0.4230000078678131},&quot;type&quot;:0},{&quot;id&quot;:&quot;2022-08-19T16:40: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88.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89.xml><?xml version="1.0" encoding="utf-8"?>
<p:tagLst xmlns:p="http://schemas.openxmlformats.org/presentationml/2006/main">
  <p:tag name="KSO_WM_BEAUTIFY_FLAG" val="#wm#"/>
  <p:tag name="KSO_WM_UNIT_TYPE" val="β"/>
  <p:tag name="TABLE_SKINIDX" val="0"/>
  <p:tag name="TABLE_COLORIDX" val="a"/>
  <p:tag name="KSO_WM_UNIT_TABLE_BEAUTIFY" val="smartTable{e8b27fe2-f1fa-4711-ac22-060f42c35040}"/>
  <p:tag name="TABLE_ENDDRAG_ORIGIN_RECT" val="395*246"/>
  <p:tag name="TABLE_ENDDRAG_RECT" val="190*184*395*246"/>
</p:tagLst>
</file>

<file path=ppt/tags/tag290.xml><?xml version="1.0" encoding="utf-8"?>
<p:tagLst xmlns:p="http://schemas.openxmlformats.org/presentationml/2006/main">
  <p:tag name="KSO_WM_UNIT_TABLE_BEAUTIFY" val="smartTable{6f582620-5834-4ca4-8c05-0ea82a1f8754}"/>
  <p:tag name="TABLE_ENDDRAG_ORIGIN_RECT" val="224*91"/>
  <p:tag name="TABLE_ENDDRAG_RECT" val="343*309*225*91"/>
</p:tagLst>
</file>

<file path=ppt/tags/tag29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3&quot;,&quot;maxSize&quot;:{&quot;size1&quot;:22.2},&quot;minSize&quot;:{&quot;size1&quot;:13.5},&quot;normalSize&quot;:{&quot;size1&quot;:13.5},&quot;subLayout&quot;:[{&quot;id&quot;:&quot;2022-08-19T16:40:53&quot;,&quot;margin&quot;:{&quot;bottom&quot;:0.026000002399086952,&quot;left&quot;:2.117000102996826,&quot;right&quot;:1.2699999809265137,&quot;top&quot;:0.4230000078678131},&quot;type&quot;:0},{&quot;id&quot;:&quot;2022-08-19T16:40: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3&quot;,&quot;maxSize&quot;:{&quot;size1&quot;:22.2},&quot;minSize&quot;:{&quot;size1&quot;:13.5},&quot;normalSize&quot;:{&quot;size1&quot;:13.5},&quot;subLayout&quot;:[{&quot;id&quot;:&quot;2022-08-19T16:40:53&quot;,&quot;margin&quot;:{&quot;bottom&quot;:0.026000002399086952,&quot;left&quot;:2.117000102996826,&quot;right&quot;:1.2699999809265137,&quot;top&quot;:0.4230000078678131},&quot;type&quot;:0},{&quot;id&quot;:&quot;2022-08-19T16:40: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7.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98.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29*204"/>
  <p:tag name="TABLE_ENDDRAG_RECT" val="343*48*429*204"/>
</p:tagLst>
</file>

<file path=ppt/tags/tag299.xml><?xml version="1.0" encoding="utf-8"?>
<p:tagLst xmlns:p="http://schemas.openxmlformats.org/presentationml/2006/main">
  <p:tag name="KSO_WM_BEAUTIFY_FLAG" val="#wm#"/>
  <p:tag name="KSO_WM_UNIT_TYPE" val="β"/>
  <p:tag name="TABLE_SKINIDX" val="2"/>
  <p:tag name="TABLE_COLORIDX" val="c"/>
  <p:tag name="KSO_WM_UNIT_TABLE_BEAUTIFY" val="smartTable{7a66a82e-86cc-45f5-8d87-d590346372d5}"/>
  <p:tag name="TABLE_ENDDRAG_ORIGIN_RECT" val="434*226"/>
  <p:tag name="TABLE_ENDDRAG_RECT" val="343*285*435*226"/>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30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3&quot;,&quot;maxSize&quot;:{&quot;size1&quot;:22.2},&quot;minSize&quot;:{&quot;size1&quot;:13.5},&quot;normalSize&quot;:{&quot;size1&quot;:13.5},&quot;subLayout&quot;:[{&quot;id&quot;:&quot;2022-08-19T16:40:53&quot;,&quot;margin&quot;:{&quot;bottom&quot;:0.026000002399086952,&quot;left&quot;:2.117000102996826,&quot;right&quot;:1.2699999809265137,&quot;top&quot;:0.4230000078678131},&quot;type&quot;:0},{&quot;id&quot;:&quot;2022-08-19T16:40: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04.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305.xml><?xml version="1.0" encoding="utf-8"?>
<p:tagLst xmlns:p="http://schemas.openxmlformats.org/presentationml/2006/main">
  <p:tag name="KSO_WM_BEAUTIFY_FLAG" val="#wm#"/>
  <p:tag name="KSO_WM_UNIT_TYPE" val="β"/>
  <p:tag name="TABLE_SKINIDX" val="0"/>
  <p:tag name="TABLE_COLORIDX" val="a"/>
  <p:tag name="KSO_WM_UNIT_TABLE_BEAUTIFY" val="smartTable{e8b27fe2-f1fa-4711-ac22-060f42c35040}"/>
  <p:tag name="TABLE_ENDDRAG_ORIGIN_RECT" val="395*246"/>
  <p:tag name="TABLE_ENDDRAG_RECT" val="190*184*395*246"/>
</p:tagLst>
</file>

<file path=ppt/tags/tag306.xml><?xml version="1.0" encoding="utf-8"?>
<p:tagLst xmlns:p="http://schemas.openxmlformats.org/presentationml/2006/main">
  <p:tag name="KSO_WM_UNIT_TABLE_BEAUTIFY" val="smartTable{6f582620-5834-4ca4-8c05-0ea82a1f8754}"/>
  <p:tag name="TABLE_ENDDRAG_ORIGIN_RECT" val="224*91"/>
  <p:tag name="TABLE_ENDDRAG_RECT" val="343*309*225*91"/>
</p:tagLst>
</file>

<file path=ppt/tags/tag30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3&quot;,&quot;maxSize&quot;:{&quot;size1&quot;:22.2},&quot;minSize&quot;:{&quot;size1&quot;:13.5},&quot;normalSize&quot;:{&quot;size1&quot;:13.5},&quot;subLayout&quot;:[{&quot;id&quot;:&quot;2022-08-19T16:40:53&quot;,&quot;margin&quot;:{&quot;bottom&quot;:0.026000002399086952,&quot;left&quot;:2.117000102996826,&quot;right&quot;:1.2699999809265137,&quot;top&quot;:0.4230000078678131},&quot;type&quot;:0},{&quot;id&quot;:&quot;2022-08-19T16:40: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076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076"/>
  <p:tag name="KSO_WM_UNIT_VALUE" val="1150"/>
  <p:tag name="KSO_WM_TEMPLATE_ASSEMBLE_XID" val="60656f144054ed1e2fb80312"/>
  <p:tag name="KSO_WM_TEMPLATE_ASSEMBLE_GROUPID" val="60656f144054ed1e2fb80312"/>
</p:tagLst>
</file>

<file path=ppt/tags/tag3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13.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80*302"/>
  <p:tag name="TABLE_ENDDRAG_RECT" val="145*134*580*302"/>
</p:tagLst>
</file>

<file path=ppt/tags/tag31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01&quot;,&quot;maxSize&quot;:{&quot;size1&quot;:22.2},&quot;minSize&quot;:{&quot;size1&quot;:13.5},&quot;normalSize&quot;:{&quot;size1&quot;:13.5},&quot;subLayout&quot;:[{&quot;id&quot;:&quot;2022-08-19T16:41:01&quot;,&quot;margin&quot;:{&quot;bottom&quot;:0.026000002399086952,&quot;left&quot;:2.117000102996826,&quot;right&quot;:1.2699999809265137,&quot;top&quot;:0.4230000078678131},&quot;type&quot;:0},{&quot;id&quot;:&quot;2022-08-19T16:41: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18.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80*302"/>
  <p:tag name="TABLE_ENDDRAG_RECT" val="145*134*580*302"/>
</p:tagLst>
</file>

<file path=ppt/tags/tag3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2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01&quot;,&quot;maxSize&quot;:{&quot;size1&quot;:22.2},&quot;minSize&quot;:{&quot;size1&quot;:13.5},&quot;normalSize&quot;:{&quot;size1&quot;:13.5},&quot;subLayout&quot;:[{&quot;id&quot;:&quot;2022-08-19T16:41:01&quot;,&quot;margin&quot;:{&quot;bottom&quot;:0.026000002399086952,&quot;left&quot;:2.117000102996826,&quot;right&quot;:1.2699999809265137,&quot;top&quot;:0.4230000078678131},&quot;type&quot;:0},{&quot;id&quot;:&quot;2022-08-19T16:41: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25.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32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9&quot;,&quot;maxSize&quot;:{&quot;size1&quot;:22.2},&quot;minSize&quot;:{&quot;size1&quot;:13.5},&quot;normalSize&quot;:{&quot;size1&quot;:13.5},&quot;subLayout&quot;:[{&quot;id&quot;:&quot;2022-08-19T16:40:59&quot;,&quot;margin&quot;:{&quot;bottom&quot;:0.026000002399086952,&quot;left&quot;:2.117000102996826,&quot;right&quot;:1.2699999809265137,&quot;top&quot;:0.4230000078678131},&quot;type&quot;:0},{&quot;id&quot;:&quot;2022-08-19T16:40: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30.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33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9&quot;,&quot;maxSize&quot;:{&quot;size1&quot;:22.2},&quot;minSize&quot;:{&quot;size1&quot;:13.5},&quot;normalSize&quot;:{&quot;size1&quot;:13.5},&quot;subLayout&quot;:[{&quot;id&quot;:&quot;2022-08-19T16:40:59&quot;,&quot;margin&quot;:{&quot;bottom&quot;:0.026000002399086952,&quot;left&quot;:2.117000102996826,&quot;right&quot;:1.2699999809265137,&quot;top&quot;:0.4230000078678131},&quot;type&quot;:0},{&quot;id&quot;:&quot;2022-08-19T16:40: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3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9&quot;,&quot;maxSize&quot;:{&quot;size1&quot;:22.2},&quot;minSize&quot;:{&quot;size1&quot;:13.5},&quot;normalSize&quot;:{&quot;size1&quot;:13.5},&quot;subLayout&quot;:[{&quot;id&quot;:&quot;2022-08-19T16:40:59&quot;,&quot;margin&quot;:{&quot;bottom&quot;:0.026000002399086952,&quot;left&quot;:2.117000102996826,&quot;right&quot;:1.2699999809265137,&quot;top&quot;:0.4230000078678131},&quot;type&quot;:0},{&quot;id&quot;:&quot;2022-08-19T16:40: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7166_1*f*2"/>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270"/>
  <p:tag name="KSO_WM_UNIT_SHOW_EDIT_AREA_INDICATION" val="1"/>
  <p:tag name="KSO_WM_CHIP_GROUPID" val="5e6b05596848fb12bee65ac8"/>
  <p:tag name="KSO_WM_CHIP_XID" val="5e6b05596848fb12bee65aca"/>
  <p:tag name="KSO_WM_UNIT_DEC_AREA_ID" val="def0dcdfd05741bb82babbb48fc0a6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b61c0b8caf6c4b838f59b607861b970e"/>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4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4&quot;,&quot;maxSize&quot;:{&quot;size1&quot;:22.2},&quot;minSize&quot;:{&quot;size1&quot;:13.5},&quot;normalSize&quot;:{&quot;size1&quot;:13.5},&quot;subLayout&quot;:[{&quot;id&quot;:&quot;2022-08-19T16:40:54&quot;,&quot;margin&quot;:{&quot;bottom&quot;:0.026000002399086952,&quot;left&quot;:2.117000102996826,&quot;right&quot;:1.2699999809265137,&quot;top&quot;:0.4230000078678131},&quot;type&quot;:0},{&quot;id&quot;:&quot;2022-08-19T16:40: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44.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34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5&quot;,&quot;maxSize&quot;:{&quot;size1&quot;:22.2},&quot;minSize&quot;:{&quot;size1&quot;:13.5},&quot;normalSize&quot;:{&quot;size1&quot;:13.5},&quot;subLayout&quot;:[{&quot;id&quot;:&quot;2022-08-19T16:40:55&quot;,&quot;margin&quot;:{&quot;bottom&quot;:0.026000002399086952,&quot;left&quot;:2.117000102996826,&quot;right&quot;:1.2699999809265137,&quot;top&quot;:0.4230000078678131},&quot;type&quot;:0},{&quot;id&quot;:&quot;2022-08-19T16:40: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8.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335*153"/>
  <p:tag name="TABLE_ENDDRAG_RECT" val="43*169*335*153"/>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51.xml><?xml version="1.0" encoding="utf-8"?>
<p:tagLst xmlns:p="http://schemas.openxmlformats.org/presentationml/2006/main">
  <p:tag name="KSO_WM_BEAUTIFY_FLAG" val="#wm#"/>
  <p:tag name="KSO_WM_UNIT_TYPE" val="β"/>
  <p:tag name="TABLE_SKINIDX" val="2"/>
  <p:tag name="TABLE_COLORIDX" val="c"/>
  <p:tag name="KSO_WM_UNIT_TABLE_BEAUTIFY" val="smartTable{1bda1b9e-9a1d-4a11-b855-73e7a1ce426b}"/>
  <p:tag name="TABLE_ENDDRAG_ORIGIN_RECT" val="237*172"/>
  <p:tag name="TABLE_ENDDRAG_RECT" val="156*375*237*172"/>
</p:tagLst>
</file>

<file path=ppt/tags/tag3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5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5&quot;,&quot;maxSize&quot;:{&quot;size1&quot;:22.2},&quot;minSize&quot;:{&quot;size1&quot;:13.5},&quot;normalSize&quot;:{&quot;size1&quot;:13.5},&quot;subLayout&quot;:[{&quot;id&quot;:&quot;2022-08-19T16:40:55&quot;,&quot;margin&quot;:{&quot;bottom&quot;:0.026000002399086952,&quot;left&quot;:2.117000102996826,&quot;right&quot;:1.2699999809265137,&quot;top&quot;:0.4230000078678131},&quot;type&quot;:0},{&quot;id&quot;:&quot;2022-08-19T16:40: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59.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3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6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5&quot;,&quot;maxSize&quot;:{&quot;size1&quot;:22.2},&quot;minSize&quot;:{&quot;size1&quot;:13.5},&quot;normalSize&quot;:{&quot;size1&quot;:13.5},&quot;subLayout&quot;:[{&quot;id&quot;:&quot;2022-08-19T16:40:55&quot;,&quot;margin&quot;:{&quot;bottom&quot;:0.026000002399086952,&quot;left&quot;:2.117000102996826,&quot;right&quot;:1.2699999809265137,&quot;top&quot;:0.4230000078678131},&quot;type&quot;:0},{&quot;id&quot;:&quot;2022-08-19T16:40: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6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6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5&quot;,&quot;maxSize&quot;:{&quot;size1&quot;:22.2},&quot;minSize&quot;:{&quot;size1&quot;:13.5},&quot;normalSize&quot;:{&quot;size1&quot;:13.5},&quot;subLayout&quot;:[{&quot;id&quot;:&quot;2022-08-19T16:40:55&quot;,&quot;margin&quot;:{&quot;bottom&quot;:0.026000002399086952,&quot;left&quot;:2.117000102996826,&quot;right&quot;:1.2699999809265137,&quot;top&quot;:0.4230000078678131},&quot;type&quot;:0},{&quot;id&quot;:&quot;2022-08-19T16:40: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6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5&quot;,&quot;maxSize&quot;:{&quot;size1&quot;:22.2},&quot;minSize&quot;:{&quot;size1&quot;:13.5},&quot;normalSize&quot;:{&quot;size1&quot;:13.5},&quot;subLayout&quot;:[{&quot;id&quot;:&quot;2022-08-19T16:40:55&quot;,&quot;margin&quot;:{&quot;bottom&quot;:0.026000002399086952,&quot;left&quot;:2.117000102996826,&quot;right&quot;:1.2699999809265137,&quot;top&quot;:0.4230000078678131},&quot;type&quot;:0},{&quot;id&quot;:&quot;2022-08-19T16:40: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7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5&quot;,&quot;maxSize&quot;:{&quot;size1&quot;:22.2},&quot;minSize&quot;:{&quot;size1&quot;:13.5},&quot;normalSize&quot;:{&quot;size1&quot;:13.5},&quot;subLayout&quot;:[{&quot;id&quot;:&quot;2022-08-19T16:40:55&quot;,&quot;margin&quot;:{&quot;bottom&quot;:0.026000002399086952,&quot;left&quot;:2.117000102996826,&quot;right&quot;:1.2699999809265137,&quot;top&quot;:0.4230000078678131},&quot;type&quot;:0},{&quot;id&quot;:&quot;2022-08-19T16:40: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7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01&quot;,&quot;maxSize&quot;:{&quot;size1&quot;:22.2},&quot;minSize&quot;:{&quot;size1&quot;:13.5},&quot;normalSize&quot;:{&quot;size1&quot;:13.5},&quot;subLayout&quot;:[{&quot;id&quot;:&quot;2022-08-19T16:41:01&quot;,&quot;margin&quot;:{&quot;bottom&quot;:0.026000002399086952,&quot;left&quot;:2.117000102996826,&quot;right&quot;:1.2699999809265137,&quot;top&quot;:0.4230000078678131},&quot;type&quot;:0},{&quot;id&quot;:&quot;2022-08-19T16:41: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381.xml><?xml version="1.0" encoding="utf-8"?>
<p:tagLst xmlns:p="http://schemas.openxmlformats.org/presentationml/2006/main">
  <p:tag name="KSO_WM_BEAUTIFY_FLAG" val="#wm#"/>
  <p:tag name="KSO_WM_UNIT_TYPE" val="β"/>
  <p:tag name="TABLE_SKINIDX" val="2"/>
  <p:tag name="TABLE_COLORIDX" val="c"/>
  <p:tag name="KSO_WM_UNIT_TABLE_BEAUTIFY" val="smartTable{0eb3378f-8dbe-49f9-b66d-80244b4e4dce}"/>
  <p:tag name="TABLE_ENDDRAG_ORIGIN_RECT" val="506*251"/>
  <p:tag name="TABLE_ENDDRAG_RECT" val="139*196*506*251"/>
</p:tagLst>
</file>

<file path=ppt/tags/tag38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01&quot;,&quot;maxSize&quot;:{&quot;size1&quot;:22.2},&quot;minSize&quot;:{&quot;size1&quot;:13.5},&quot;normalSize&quot;:{&quot;size1&quot;:13.5},&quot;subLayout&quot;:[{&quot;id&quot;:&quot;2022-08-19T16:41:01&quot;,&quot;margin&quot;:{&quot;bottom&quot;:0.026000002399086952,&quot;left&quot;:2.117000102996826,&quot;right&quot;:1.2699999809265137,&quot;top&quot;:0.4230000078678131},&quot;type&quot;:0},{&quot;id&quot;:&quot;2022-08-19T16:41: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385.xml><?xml version="1.0" encoding="utf-8"?>
<p:tagLst xmlns:p="http://schemas.openxmlformats.org/presentationml/2006/main">
  <p:tag name="KSO_WM_BEAUTIFY_FLAG" val="#wm#"/>
  <p:tag name="KSO_WM_UNIT_TYPE" val="β"/>
  <p:tag name="TABLE_SKINIDX" val="1"/>
  <p:tag name="TABLE_COLORIDX" val="i"/>
  <p:tag name="KSO_WM_UNIT_TABLE_BEAUTIFY" val="smartTable{cecf22b8-04c3-42df-b01c-112bf8271452}"/>
  <p:tag name="TABLE_ENDDRAG_ORIGIN_RECT" val="398*260"/>
  <p:tag name="TABLE_ENDDRAG_RECT" val="445*155*398*260"/>
</p:tagLst>
</file>

<file path=ppt/tags/tag386.xml><?xml version="1.0" encoding="utf-8"?>
<p:tagLst xmlns:p="http://schemas.openxmlformats.org/presentationml/2006/main">
  <p:tag name="KSO_WM_UNIT_TABLE_BEAUTIFY" val="smartTable{6f582620-5834-4ca4-8c05-0ea82a1f8754}"/>
  <p:tag name="TABLE_ENDDRAG_ORIGIN_RECT" val="224*91"/>
  <p:tag name="TABLE_ENDDRAG_RECT" val="343*309*225*91"/>
</p:tagLst>
</file>

<file path=ppt/tags/tag3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8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9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9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400.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0*219"/>
  <p:tag name="TABLE_ENDDRAG_RECT" val="26*145*450*219"/>
</p:tagLst>
</file>

<file path=ppt/tags/tag4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0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406.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0*219"/>
  <p:tag name="TABLE_ENDDRAG_RECT" val="26*145*450*219"/>
</p:tagLst>
</file>

<file path=ppt/tags/tag4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ID" val="diagram20211394_1*f*1"/>
  <p:tag name="KSO_WM_TEMPLATE_CATEGORY" val="diagram"/>
  <p:tag name="KSO_WM_TEMPLATE_INDEX" val="20211394"/>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2&quot;,&quot;maxSize&quot;:{&quot;size1&quot;:22.2},&quot;minSize&quot;:{&quot;size1&quot;:13.5},&quot;normalSize&quot;:{&quot;size1&quot;:13.5},&quot;subLayout&quot;:[{&quot;id&quot;:&quot;2022-08-19T16:40:52&quot;,&quot;margin&quot;:{&quot;bottom&quot;:0.026000002399086952,&quot;left&quot;:2.117000102996826,&quot;right&quot;:1.2699999809265137,&quot;top&quot;:0.4230000078678131},&quot;type&quot;:0},{&quot;id&quot;:&quot;2022-08-19T16:40:5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414.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41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01&quot;,&quot;maxSize&quot;:{&quot;size1&quot;:22.2},&quot;minSize&quot;:{&quot;size1&quot;:13.5},&quot;normalSize&quot;:{&quot;size1&quot;:13.5},&quot;subLayout&quot;:[{&quot;id&quot;:&quot;2022-08-19T16:41:01&quot;,&quot;margin&quot;:{&quot;bottom&quot;:0.026000002399086952,&quot;left&quot;:2.117000102996826,&quot;right&quot;:1.2699999809265137,&quot;top&quot;:0.4230000078678131},&quot;type&quot;:0},{&quot;id&quot;:&quot;2022-08-19T16:41: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419.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42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01&quot;,&quot;maxSize&quot;:{&quot;size1&quot;:22.2},&quot;minSize&quot;:{&quot;size1&quot;:13.5},&quot;normalSize&quot;:{&quot;size1&quot;:13.5},&quot;subLayout&quot;:[{&quot;id&quot;:&quot;2022-08-19T16:41:01&quot;,&quot;margin&quot;:{&quot;bottom&quot;:0.026000002399086952,&quot;left&quot;:2.117000102996826,&quot;right&quot;:1.2699999809265137,&quot;top&quot;:0.4230000078678131},&quot;type&quot;:0},{&quot;id&quot;:&quot;2022-08-19T16:41: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063_1*f*2"/>
  <p:tag name="KSO_WM_TEMPLATE_CATEGORY" val="diagram"/>
  <p:tag name="KSO_WM_TEMPLATE_INDEX" val="20212063"/>
  <p:tag name="KSO_WM_UNIT_LAYERLEVEL" val="1"/>
  <p:tag name="KSO_WM_TAG_VERSION" val="1.0"/>
  <p:tag name="KSO_WM_BEAUTIFY_FLAG" val="#wm#"/>
  <p:tag name="KSO_WM_UNIT_DEFAULT_FONT" val="14;20;2"/>
  <p:tag name="KSO_WM_UNIT_BLOCK" val="0"/>
  <p:tag name="KSO_WM_UNIT_VALUE" val="136"/>
  <p:tag name="KSO_WM_UNIT_SHOW_EDIT_AREA_INDICATION" val="1"/>
  <p:tag name="KSO_WM_CHIP_GROUPID" val="5e6b05596848fb12bee65ac8"/>
  <p:tag name="KSO_WM_CHIP_XID" val="5e6b05596848fb12bee65aca"/>
  <p:tag name="KSO_WM_UNIT_DEC_AREA_ID" val="eb8ba09594c04894921e8b22e75ef99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SM_LIMIT_TYPE" val="2"/>
  <p:tag name="KSO_WM_CHIP_FILLAREA_FILL_RULE" val="{&quot;fill_align&quot;:&quot;lb&quot;,&quot;fill_mode&quot;:&quot;full&quot;,&quot;sacle_strategy&quot;:&quot;smart&quot;}"/>
  <p:tag name="KSO_WM_ASSEMBLE_CHIP_INDEX" val="e7dac7120bfd4342bc5c35637f643488"/>
  <p:tag name="KSO_WM_UNIT_TEXT_FILL_FORE_SCHEMECOLOR_INDEX_BRIGHTNESS" val="0.25"/>
  <p:tag name="KSO_WM_UNIT_TEXT_FILL_FORE_SCHEMECOLOR_INDEX" val="13"/>
  <p:tag name="KSO_WM_UNIT_TEXT_FILL_TYPE" val="1"/>
  <p:tag name="KSO_WM_TEMPLATE_ASSEMBLE_XID" val="60656f104054ed1e2fb802cb"/>
  <p:tag name="KSO_WM_TEMPLATE_ASSEMBLE_GROUPID" val="60656f104054ed1e2fb802cb"/>
</p:tagLst>
</file>

<file path=ppt/tags/tag4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63_1*f*1"/>
  <p:tag name="KSO_WM_TEMPLATE_CATEGORY" val="diagram"/>
  <p:tag name="KSO_WM_TEMPLATE_INDEX" val="20212063"/>
  <p:tag name="KSO_WM_UNIT_LAYERLEVEL" val="1"/>
  <p:tag name="KSO_WM_TAG_VERSION" val="1.0"/>
  <p:tag name="KSO_WM_BEAUTIFY_FLAG" val="#wm#"/>
  <p:tag name="KSO_WM_UNIT_DEFAULT_FONT" val="14;20;2"/>
  <p:tag name="KSO_WM_UNIT_BLOCK" val="0"/>
  <p:tag name="KSO_WM_UNIT_VALUE" val="136"/>
  <p:tag name="KSO_WM_UNIT_SHOW_EDIT_AREA_INDICATION" val="1"/>
  <p:tag name="KSO_WM_CHIP_GROUPID" val="5e6b05596848fb12bee65ac8"/>
  <p:tag name="KSO_WM_CHIP_XID" val="5e6b05596848fb12bee65aca"/>
  <p:tag name="KSO_WM_UNIT_DEC_AREA_ID" val="c0876381e1814ce3b681e1a629131d6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2ad0c2474e36498a89d92a458e352f7f"/>
  <p:tag name="KSO_WM_UNIT_TEXT_FILL_FORE_SCHEMECOLOR_INDEX_BRIGHTNESS" val="0.25"/>
  <p:tag name="KSO_WM_UNIT_TEXT_FILL_FORE_SCHEMECOLOR_INDEX" val="13"/>
  <p:tag name="KSO_WM_UNIT_TEXT_FILL_TYPE" val="1"/>
  <p:tag name="KSO_WM_TEMPLATE_ASSEMBLE_XID" val="60656f104054ed1e2fb802cb"/>
  <p:tag name="KSO_WM_TEMPLATE_ASSEMBLE_GROUPID" val="60656f104054ed1e2fb802cb"/>
</p:tagLst>
</file>

<file path=ppt/tags/tag425.xml><?xml version="1.0" encoding="utf-8"?>
<p:tagLst xmlns:p="http://schemas.openxmlformats.org/presentationml/2006/main">
  <p:tag name="KSO_WM_UNIT_BLOCK" val="0"/>
  <p:tag name="KSO_WM_UNIT_SM_LIMIT_TYPE" val="0"/>
  <p:tag name="KSO_WM_UNIT_DEC_AREA_ID" val="9fe8f9b8744a4846ad6cbb4a6464646a"/>
  <p:tag name="KSO_WM_UNIT_HIGHLIGHT" val="0"/>
  <p:tag name="KSO_WM_UNIT_COMPATIBLE" val="0"/>
  <p:tag name="KSO_WM_UNIT_DIAGRAM_ISNUMVISUAL" val="0"/>
  <p:tag name="KSO_WM_UNIT_DIAGRAM_ISREFERUNIT" val="0"/>
  <p:tag name="KSO_WM_UNIT_ID" val="diagram20212063_1*i*1"/>
  <p:tag name="KSO_WM_TEMPLATE_CATEGORY" val="diagram"/>
  <p:tag name="KSO_WM_TEMPLATE_INDEX" val="20212063"/>
  <p:tag name="KSO_WM_UNIT_LAYERLEVEL" val="1"/>
  <p:tag name="KSO_WM_TAG_VERSION" val="1.0"/>
  <p:tag name="KSO_WM_BEAUTIFY_FLAG" val="#wm#"/>
  <p:tag name="KSO_WM_UNIT_TYPE" val="i"/>
  <p:tag name="KSO_WM_UNIT_INDEX" val="1"/>
  <p:tag name="KSO_WM_UNIT_DECORATE_INFO" val="{&quot;ReferentInfo&quot;:{&quot;Id&quot;:&quot;slide&quot;,&quot;X&quot;:{&quot;Pos&quot;:0},&quot;Y&quot;:{&quot;Pos&quot;:0}},&quot;DecorateInfoX&quot;:{&quot;Pos&quot;:0,&quot;IsAbs&quot;:true},&quot;DecorateInfoY&quot;:{&quot;Pos&quot;:0,&quot;IsAbs&quot;:true},&quot;DecorateInfoW&quot;:{&quot;IsAbs&quot;:true},&quot;DecorateInfoH&quot;:{&quot;IsAbs&quot;:true},&quot;whChangeMode&quot;:0}"/>
  <p:tag name="KSO_WM_CHIP_GROUPID" val="5e6f1c5e605d5daf04fe6053"/>
  <p:tag name="KSO_WM_CHIP_XID" val="5e6f1c5e605d5daf04fe6054"/>
  <p:tag name="KSO_WM_TEMPLATE_ASSEMBLE_XID" val="60656f104054ed1e2fb802cb"/>
  <p:tag name="KSO_WM_TEMPLATE_ASSEMBLE_GROUPID" val="60656f104054ed1e2fb802cb"/>
</p:tagLst>
</file>

<file path=ppt/tags/tag426.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2"/>
  <p:tag name="KSO_WM_TEMPLATE_CATEGORY" val="diagram"/>
  <p:tag name="KSO_WM_TEMPLATE_INDEX" val="20212063"/>
  <p:tag name="KSO_WM_UNIT_LAYERLEVEL" val="1"/>
  <p:tag name="KSO_WM_TAG_VERSION" val="1.0"/>
  <p:tag name="KSO_WM_BEAUTIFY_FLAG" val="#wm#"/>
  <p:tag name="KSO_WM_UNIT_TYPE" val="i"/>
  <p:tag name="KSO_WM_UNIT_INDEX" val="2"/>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427.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3"/>
  <p:tag name="KSO_WM_TEMPLATE_CATEGORY" val="diagram"/>
  <p:tag name="KSO_WM_TEMPLATE_INDEX" val="20212063"/>
  <p:tag name="KSO_WM_UNIT_LAYERLEVEL" val="1"/>
  <p:tag name="KSO_WM_TAG_VERSION" val="1.0"/>
  <p:tag name="KSO_WM_BEAUTIFY_FLAG" val="#wm#"/>
  <p:tag name="KSO_WM_UNIT_TYPE" val="i"/>
  <p:tag name="KSO_WM_UNIT_INDEX" val="3"/>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428.xml><?xml version="1.0" encoding="utf-8"?>
<p:tagLst xmlns:p="http://schemas.openxmlformats.org/presentationml/2006/main">
  <p:tag name="KSO_WM_UNIT_BLOCK" val="0"/>
  <p:tag name="KSO_WM_UNIT_SM_LIMIT_TYPE" val="0"/>
  <p:tag name="KSO_WM_UNIT_DEC_AREA_ID" val="a82f62af78b3430f8bc17026659794cb"/>
  <p:tag name="KSO_WM_UNIT_HIGHLIGHT" val="0"/>
  <p:tag name="KSO_WM_UNIT_COMPATIBLE" val="0"/>
  <p:tag name="KSO_WM_UNIT_DIAGRAM_ISNUMVISUAL" val="0"/>
  <p:tag name="KSO_WM_UNIT_DIAGRAM_ISREFERUNIT" val="0"/>
  <p:tag name="KSO_WM_UNIT_ID" val="diagram20212063_1*i*4"/>
  <p:tag name="KSO_WM_TEMPLATE_CATEGORY" val="diagram"/>
  <p:tag name="KSO_WM_TEMPLATE_INDEX" val="20212063"/>
  <p:tag name="KSO_WM_UNIT_LAYERLEVEL" val="1"/>
  <p:tag name="KSO_WM_TAG_VERSION" val="1.0"/>
  <p:tag name="KSO_WM_BEAUTIFY_FLAG" val="#wm#"/>
  <p:tag name="KSO_WM_UNIT_TYPE" val="i"/>
  <p:tag name="KSO_WM_UNIT_INDEX" val="4"/>
  <p:tag name="KSO_WM_UNIT_DECORATE_INFO" val="{&quot;ReferentInfo&quot;:{&quot;Id&quot;:&quot;slide&quot;,&quot;X&quot;:{&quot;Pos&quot;:2},&quot;Y&quot;:{&quot;Pos&quot;:2}},&quot;DecorateInfoX&quot;:{&quot;Pos&quot;:2,&quot;IsAbs&quot;:true},&quot;DecorateInfoY&quot;:{&quot;Pos&quot;:2,&quot;IsAbs&quot;:true},&quot;DecorateInfoW&quot;:{&quot;IsAbs&quot;:true},&quot;DecorateInfoH&quot;:{&quot;IsAbs&quot;:true},&quot;whChangeMode&quot;:0}"/>
  <p:tag name="KSO_WM_CHIP_GROUPID" val="5e6f1c5e605d5daf04fe6053"/>
  <p:tag name="KSO_WM_CHIP_XID" val="5e6f1c5e605d5daf04fe6054"/>
  <p:tag name="KSO_WM_TEMPLATE_ASSEMBLE_XID" val="60656f104054ed1e2fb802cb"/>
  <p:tag name="KSO_WM_TEMPLATE_ASSEMBLE_GROUPID" val="60656f104054ed1e2fb802cb"/>
</p:tagLst>
</file>

<file path=ppt/tags/tag429.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5"/>
  <p:tag name="KSO_WM_TEMPLATE_CATEGORY" val="diagram"/>
  <p:tag name="KSO_WM_TEMPLATE_INDEX" val="20212063"/>
  <p:tag name="KSO_WM_UNIT_LAYERLEVEL" val="1"/>
  <p:tag name="KSO_WM_TAG_VERSION" val="1.0"/>
  <p:tag name="KSO_WM_BEAUTIFY_FLAG" val="#wm#"/>
  <p:tag name="KSO_WM_UNIT_TYPE" val="i"/>
  <p:tag name="KSO_WM_UNIT_INDEX" val="5"/>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430.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6"/>
  <p:tag name="KSO_WM_TEMPLATE_CATEGORY" val="diagram"/>
  <p:tag name="KSO_WM_TEMPLATE_INDEX" val="20212063"/>
  <p:tag name="KSO_WM_UNIT_LAYERLEVEL" val="1"/>
  <p:tag name="KSO_WM_TAG_VERSION" val="1.0"/>
  <p:tag name="KSO_WM_BEAUTIFY_FLAG" val="#wm#"/>
  <p:tag name="KSO_WM_UNIT_TYPE" val="i"/>
  <p:tag name="KSO_WM_UNIT_INDEX" val="6"/>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4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63_1*f*1"/>
  <p:tag name="KSO_WM_TEMPLATE_CATEGORY" val="diagram"/>
  <p:tag name="KSO_WM_TEMPLATE_INDEX" val="20212063"/>
  <p:tag name="KSO_WM_UNIT_LAYERLEVEL" val="1"/>
  <p:tag name="KSO_WM_TAG_VERSION" val="1.0"/>
  <p:tag name="KSO_WM_BEAUTIFY_FLAG" val="#wm#"/>
  <p:tag name="KSO_WM_UNIT_DEFAULT_FONT" val="14;20;2"/>
  <p:tag name="KSO_WM_UNIT_BLOCK" val="0"/>
  <p:tag name="KSO_WM_UNIT_VALUE" val="136"/>
  <p:tag name="KSO_WM_UNIT_SHOW_EDIT_AREA_INDICATION" val="1"/>
  <p:tag name="KSO_WM_CHIP_GROUPID" val="5e6b05596848fb12bee65ac8"/>
  <p:tag name="KSO_WM_CHIP_XID" val="5e6b05596848fb12bee65aca"/>
  <p:tag name="KSO_WM_UNIT_DEC_AREA_ID" val="c0876381e1814ce3b681e1a629131d6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2ad0c2474e36498a89d92a458e352f7f"/>
  <p:tag name="KSO_WM_UNIT_TEXT_FILL_FORE_SCHEMECOLOR_INDEX_BRIGHTNESS" val="0.25"/>
  <p:tag name="KSO_WM_UNIT_TEXT_FILL_FORE_SCHEMECOLOR_INDEX" val="13"/>
  <p:tag name="KSO_WM_UNIT_TEXT_FILL_TYPE" val="1"/>
  <p:tag name="KSO_WM_TEMPLATE_ASSEMBLE_XID" val="60656f104054ed1e2fb802cb"/>
  <p:tag name="KSO_WM_TEMPLATE_ASSEMBLE_GROUPID" val="60656f104054ed1e2fb802cb"/>
</p:tagLst>
</file>

<file path=ppt/tags/tag4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63_1*f*1"/>
  <p:tag name="KSO_WM_TEMPLATE_CATEGORY" val="diagram"/>
  <p:tag name="KSO_WM_TEMPLATE_INDEX" val="20212063"/>
  <p:tag name="KSO_WM_UNIT_LAYERLEVEL" val="1"/>
  <p:tag name="KSO_WM_TAG_VERSION" val="1.0"/>
  <p:tag name="KSO_WM_BEAUTIFY_FLAG" val="#wm#"/>
  <p:tag name="KSO_WM_UNIT_DEFAULT_FONT" val="14;20;2"/>
  <p:tag name="KSO_WM_UNIT_BLOCK" val="0"/>
  <p:tag name="KSO_WM_UNIT_VALUE" val="136"/>
  <p:tag name="KSO_WM_UNIT_SHOW_EDIT_AREA_INDICATION" val="1"/>
  <p:tag name="KSO_WM_CHIP_GROUPID" val="5e6b05596848fb12bee65ac8"/>
  <p:tag name="KSO_WM_CHIP_XID" val="5e6b05596848fb12bee65aca"/>
  <p:tag name="KSO_WM_UNIT_DEC_AREA_ID" val="c0876381e1814ce3b681e1a629131d6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2ad0c2474e36498a89d92a458e352f7f"/>
  <p:tag name="KSO_WM_UNIT_TEXT_FILL_FORE_SCHEMECOLOR_INDEX_BRIGHTNESS" val="0.25"/>
  <p:tag name="KSO_WM_UNIT_TEXT_FILL_FORE_SCHEMECOLOR_INDEX" val="13"/>
  <p:tag name="KSO_WM_UNIT_TEXT_FILL_TYPE" val="1"/>
  <p:tag name="KSO_WM_TEMPLATE_ASSEMBLE_XID" val="60656f104054ed1e2fb802cb"/>
  <p:tag name="KSO_WM_TEMPLATE_ASSEMBLE_GROUPID" val="60656f104054ed1e2fb802cb"/>
</p:tagLst>
</file>

<file path=ppt/tags/tag4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063_1*f*2"/>
  <p:tag name="KSO_WM_TEMPLATE_CATEGORY" val="diagram"/>
  <p:tag name="KSO_WM_TEMPLATE_INDEX" val="20212063"/>
  <p:tag name="KSO_WM_UNIT_LAYERLEVEL" val="1"/>
  <p:tag name="KSO_WM_TAG_VERSION" val="1.0"/>
  <p:tag name="KSO_WM_BEAUTIFY_FLAG" val="#wm#"/>
  <p:tag name="KSO_WM_UNIT_DEFAULT_FONT" val="14;20;2"/>
  <p:tag name="KSO_WM_UNIT_BLOCK" val="0"/>
  <p:tag name="KSO_WM_UNIT_VALUE" val="136"/>
  <p:tag name="KSO_WM_UNIT_SHOW_EDIT_AREA_INDICATION" val="1"/>
  <p:tag name="KSO_WM_CHIP_GROUPID" val="5e6b05596848fb12bee65ac8"/>
  <p:tag name="KSO_WM_CHIP_XID" val="5e6b05596848fb12bee65aca"/>
  <p:tag name="KSO_WM_UNIT_DEC_AREA_ID" val="eb8ba09594c04894921e8b22e75ef99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SM_LIMIT_TYPE" val="2"/>
  <p:tag name="KSO_WM_CHIP_FILLAREA_FILL_RULE" val="{&quot;fill_align&quot;:&quot;lb&quot;,&quot;fill_mode&quot;:&quot;full&quot;,&quot;sacle_strategy&quot;:&quot;smart&quot;}"/>
  <p:tag name="KSO_WM_ASSEMBLE_CHIP_INDEX" val="e7dac7120bfd4342bc5c35637f643488"/>
  <p:tag name="KSO_WM_UNIT_TEXT_FILL_FORE_SCHEMECOLOR_INDEX_BRIGHTNESS" val="0.25"/>
  <p:tag name="KSO_WM_UNIT_TEXT_FILL_FORE_SCHEMECOLOR_INDEX" val="13"/>
  <p:tag name="KSO_WM_UNIT_TEXT_FILL_TYPE" val="1"/>
  <p:tag name="KSO_WM_TEMPLATE_ASSEMBLE_XID" val="60656f104054ed1e2fb802cb"/>
  <p:tag name="KSO_WM_TEMPLATE_ASSEMBLE_GROUPID" val="60656f104054ed1e2fb802cb"/>
</p:tagLst>
</file>

<file path=ppt/tags/tag43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8&quot;,&quot;maxSize&quot;:{&quot;size1&quot;:22.2},&quot;minSize&quot;:{&quot;size1&quot;:13.5},&quot;normalSize&quot;:{&quot;size1&quot;:13.5},&quot;subLayout&quot;:[{&quot;id&quot;:&quot;2022-08-19T16:40:58&quot;,&quot;margin&quot;:{&quot;bottom&quot;:0.026000002399086952,&quot;left&quot;:2.117000102996826,&quot;right&quot;:1.2699999809265137,&quot;top&quot;:0.4230000078678131},&quot;type&quot;:0},{&quot;id&quot;:&quot;2022-08-19T16:40: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5&quot;,&quot;maxSize&quot;:{&quot;size1&quot;:22.2},&quot;minSize&quot;:{&quot;size1&quot;:13.5},&quot;normalSize&quot;:{&quot;size1&quot;:13.5},&quot;subLayout&quot;:[{&quot;id&quot;:&quot;2022-08-19T16:40:55&quot;,&quot;margin&quot;:{&quot;bottom&quot;:0.026000002399086952,&quot;left&quot;:2.117000102996826,&quot;right&quot;:1.2699999809265137,&quot;top&quot;:0.4230000078678131},&quot;type&quot;:0},{&quot;id&quot;:&quot;2022-08-19T16:40: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UNIT_ISCONTENTSTITLE" val="0"/>
  <p:tag name="KSO_WM_UNIT_ISNUMDGMTITLE" val="0"/>
  <p:tag name="KSO_WM_UNIT_PRESET_TEXT" val="简约上下导航版"/>
  <p:tag name="KSO_WM_UNIT_NOCLEAR" val="0"/>
  <p:tag name="KSO_WM_UNIT_VALUE" val="27"/>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7&quot;,&quot;maxSize&quot;:{&quot;size1&quot;:22.2},&quot;minSize&quot;:{&quot;size1&quot;:13.5},&quot;normalSize&quot;:{&quot;size1&quot;:13.5},&quot;subLayout&quot;:[{&quot;id&quot;:&quot;2022-08-19T16:40:57&quot;,&quot;margin&quot;:{&quot;bottom&quot;:0.026000002399086952,&quot;left&quot;:2.117000102996826,&quot;right&quot;:1.2699999809265137,&quot;top&quot;:0.4230000078678131},&quot;type&quot;:0},{&quot;id&quot;:&quot;2022-08-19T16:40:5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7&quot;,&quot;maxSize&quot;:{&quot;size1&quot;:22.2},&quot;minSize&quot;:{&quot;size1&quot;:13.5},&quot;normalSize&quot;:{&quot;size1&quot;:13.5},&quot;subLayout&quot;:[{&quot;id&quot;:&quot;2022-08-19T16:40:57&quot;,&quot;margin&quot;:{&quot;bottom&quot;:0.026000002399086952,&quot;left&quot;:2.117000102996826,&quot;right&quot;:1.2699999809265137,&quot;top&quot;:0.4230000078678131},&quot;type&quot;:0},{&quot;id&quot;:&quot;2022-08-19T16:40:5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1_1*f*1"/>
  <p:tag name="KSO_WM_TEMPLATE_CATEGORY" val="diagram"/>
  <p:tag name="KSO_WM_TEMPLATE_INDEX" val="20217161"/>
  <p:tag name="KSO_WM_UNIT_LAYERLEVEL" val="1"/>
  <p:tag name="KSO_WM_TAG_VERSION" val="1.0"/>
  <p:tag name="KSO_WM_BEAUTIFY_FLAG" val="#wm#"/>
  <p:tag name="KSO_WM_UNIT_DEFAULT_FONT" val="14;20;2"/>
  <p:tag name="KSO_WM_UNIT_BLOCK" val="0"/>
  <p:tag name="KSO_WM_UNIT_VALUE" val="270"/>
  <p:tag name="KSO_WM_UNIT_SHOW_EDIT_AREA_INDICATION" val="1"/>
  <p:tag name="KSO_WM_CHIP_GROUPID" val="5e6b05596848fb12bee65ac8"/>
  <p:tag name="KSO_WM_CHIP_XID" val="5e6b05596848fb12bee65aca"/>
  <p:tag name="KSO_WM_UNIT_DEC_AREA_ID" val="abb229211d1146b7be65059294c4e9d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75097f59cb04debb6c4c67dfc08e3af"/>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706c4054ed1e2fb81509"/>
  <p:tag name="KSO_WM_TEMPLATE_ASSEMBLE_GROUPID" val="6065706c4054ed1e2fb81509"/>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1_1*f*1"/>
  <p:tag name="KSO_WM_TEMPLATE_CATEGORY" val="diagram"/>
  <p:tag name="KSO_WM_TEMPLATE_INDEX" val="20217161"/>
  <p:tag name="KSO_WM_UNIT_LAYERLEVEL" val="1"/>
  <p:tag name="KSO_WM_TAG_VERSION" val="1.0"/>
  <p:tag name="KSO_WM_BEAUTIFY_FLAG" val="#wm#"/>
  <p:tag name="KSO_WM_UNIT_DEFAULT_FONT" val="14;20;2"/>
  <p:tag name="KSO_WM_UNIT_BLOCK" val="0"/>
  <p:tag name="KSO_WM_UNIT_VALUE" val="270"/>
  <p:tag name="KSO_WM_UNIT_SHOW_EDIT_AREA_INDICATION" val="1"/>
  <p:tag name="KSO_WM_CHIP_GROUPID" val="5e6b05596848fb12bee65ac8"/>
  <p:tag name="KSO_WM_CHIP_XID" val="5e6b05596848fb12bee65aca"/>
  <p:tag name="KSO_WM_UNIT_DEC_AREA_ID" val="abb229211d1146b7be65059294c4e9d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75097f59cb04debb6c4c67dfc08e3af"/>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706c4054ed1e2fb81509"/>
  <p:tag name="KSO_WM_TEMPLATE_ASSEMBLE_GROUPID" val="6065706c4054ed1e2fb81509"/>
</p:tagLst>
</file>

<file path=ppt/tags/tag45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7&quot;,&quot;maxSize&quot;:{&quot;size1&quot;:22.2},&quot;minSize&quot;:{&quot;size1&quot;:13.5},&quot;normalSize&quot;:{&quot;size1&quot;:13.5},&quot;subLayout&quot;:[{&quot;id&quot;:&quot;2022-08-19T16:40:57&quot;,&quot;margin&quot;:{&quot;bottom&quot;:0.026000002399086952,&quot;left&quot;:2.117000102996826,&quot;right&quot;:1.2699999809265137,&quot;top&quot;:0.4230000078678131},&quot;type&quot;:0},{&quot;id&quot;:&quot;2022-08-19T16:40:5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5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45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5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5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6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6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8&quot;,&quot;maxSize&quot;:{&quot;size1&quot;:22.2},&quot;minSize&quot;:{&quot;size1&quot;:13.5},&quot;normalSize&quot;:{&quot;size1&quot;:13.5},&quot;subLayout&quot;:[{&quot;id&quot;:&quot;2022-08-19T16:40:58&quot;,&quot;margin&quot;:{&quot;bottom&quot;:0.026000002399086952,&quot;left&quot;:2.117000102996826,&quot;right&quot;:1.2699999809265137,&quot;top&quot;:0.4230000078678131},&quot;type&quot;:0},{&quot;id&quot;:&quot;2022-08-19T16:40: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6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6&quot;,&quot;maxSize&quot;:{&quot;size1&quot;:22.2},&quot;minSize&quot;:{&quot;size1&quot;:13.5},&quot;normalSize&quot;:{&quot;size1&quot;:13.5},&quot;subLayout&quot;:[{&quot;id&quot;:&quot;2022-08-19T16:40:56&quot;,&quot;margin&quot;:{&quot;bottom&quot;:0.026000002399086952,&quot;left&quot;:2.117000102996826,&quot;right&quot;:1.2699999809265137,&quot;top&quot;:0.4230000078678131},&quot;type&quot;:0},{&quot;id&quot;:&quot;2022-08-19T16:40:5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7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3&quot;,&quot;maxSize&quot;:{&quot;size1&quot;:22.2},&quot;minSize&quot;:{&quot;size1&quot;:13.5},&quot;normalSize&quot;:{&quot;size1&quot;:13.5},&quot;subLayout&quot;:[{&quot;id&quot;:&quot;2022-08-19T16:41:23&quot;,&quot;margin&quot;:{&quot;bottom&quot;:0.026000002399086952,&quot;left&quot;:2.117000102996826,&quot;right&quot;:1.2699999809265137,&quot;top&quot;:0.4230000078678131},&quot;type&quot;:0},{&quot;id&quot;:&quot;2022-08-19T16:41:2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76.xml><?xml version="1.0" encoding="utf-8"?>
<p:tagLst xmlns:p="http://schemas.openxmlformats.org/presentationml/2006/main">
  <p:tag name="KSO_WM_CHIP_GROUPID" val="5ef1bfdba491bb00866386cf"/>
  <p:tag name="KSO_WM_CHIP_XID" val="5ef2149ea491bb0086638bff"/>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099"/>
  <p:tag name="KSO_WM_UNIT_ID" val="diagram20211099_1**"/>
  <p:tag name="KSO_WM_UNIT_VALUE" val="1113"/>
  <p:tag name="KSO_WM_TEMPLATE_ASSEMBLE_XID" val="60656ea54054ed1e2fb7fced"/>
  <p:tag name="KSO_WM_TEMPLATE_ASSEMBLE_GROUPID" val="60656ea54054ed1e2fb7fced"/>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1099_1*i*1"/>
  <p:tag name="KSO_WM_TEMPLATE_CATEGORY" val="diagram"/>
  <p:tag name="KSO_WM_TEMPLATE_INDEX" val="20211099"/>
  <p:tag name="KSO_WM_UNIT_LAYERLEVEL" val="1"/>
  <p:tag name="KSO_WM_TAG_VERSION" val="1.0"/>
  <p:tag name="KSO_WM_BEAUTIFY_FLAG" val="#wm#"/>
  <p:tag name="KSO_WM_UNIT_BLOCK" val="0"/>
  <p:tag name="KSO_WM_UNIT_SM_LIMIT_TYPE" val="2"/>
  <p:tag name="KSO_WM_UNIT_DEC_AREA_ID" val="ee5548d8dca441c3902906f7024b961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1bfdba491bb00866386cf"/>
  <p:tag name="KSO_WM_CHIP_XID" val="5ef2149ea491bb0086638bff"/>
  <p:tag name="KSO_WM_UNIT_FILL_FORE_SCHEMECOLOR_INDEX_BRIGHTNESS" val="0"/>
  <p:tag name="KSO_WM_UNIT_FILL_FORE_SCHEMECOLOR_INDEX" val="16"/>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882"/>
  <p:tag name="KSO_WM_TEMPLATE_ASSEMBLE_XID" val="60656ea54054ed1e2fb7fced"/>
  <p:tag name="KSO_WM_TEMPLATE_ASSEMBLE_GROUPID" val="60656ea54054ed1e2fb7fced"/>
</p:tagLst>
</file>

<file path=ppt/tags/tag4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99_1*f*1"/>
  <p:tag name="KSO_WM_TEMPLATE_CATEGORY" val="diagram"/>
  <p:tag name="KSO_WM_TEMPLATE_INDEX" val="20211099"/>
  <p:tag name="KSO_WM_UNIT_LAYERLEVEL" val="1"/>
  <p:tag name="KSO_WM_TAG_VERSION" val="1.0"/>
  <p:tag name="KSO_WM_BEAUTIFY_FLAG" val="#wm#"/>
  <p:tag name="KSO_WM_UNIT_DEFAULT_FONT" val="14;20;2"/>
  <p:tag name="KSO_WM_UNIT_BLOCK" val="0"/>
  <p:tag name="KSO_WM_UNIT_VALUE" val="168"/>
  <p:tag name="KSO_WM_UNIT_SHOW_EDIT_AREA_INDICATION" val="1"/>
  <p:tag name="KSO_WM_CHIP_GROUPID" val="5e6b05596848fb12bee65ac8"/>
  <p:tag name="KSO_WM_CHIP_XID" val="5e6b05596848fb12bee65aca"/>
  <p:tag name="KSO_WM_UNIT_DEC_AREA_ID" val="235cd89652a6449cb1c3dd73c801d80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18340b91c5546258fd7c1b6c1046b32"/>
  <p:tag name="KSO_WM_UNIT_TEXT_FILL_FORE_SCHEMECOLOR_INDEX_BRIGHTNESS" val="0.25"/>
  <p:tag name="KSO_WM_UNIT_TEXT_FILL_FORE_SCHEMECOLOR_INDEX" val="13"/>
  <p:tag name="KSO_WM_UNIT_TEXT_FILL_TYPE" val="1"/>
  <p:tag name="KSO_WM_TEMPLATE_ASSEMBLE_XID" val="60656ea54054ed1e2fb7fced"/>
  <p:tag name="KSO_WM_TEMPLATE_ASSEMBLE_GROUPID" val="60656ea54054ed1e2fb7fced"/>
</p:tagLst>
</file>

<file path=ppt/tags/tag479.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8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6&quot;,&quot;maxSize&quot;:{&quot;size1&quot;:22.2},&quot;minSize&quot;:{&quot;size1&quot;:13.5},&quot;normalSize&quot;:{&quot;size1&quot;:13.5},&quot;subLayout&quot;:[{&quot;id&quot;:&quot;2022-08-19T16:41:26&quot;,&quot;margin&quot;:{&quot;bottom&quot;:0.026000002399086952,&quot;left&quot;:2.117000102996826,&quot;right&quot;:1.2699999809265137,&quot;top&quot;:0.4230000078678131},&quot;type&quot;:0},{&quot;id&quot;:&quot;2022-08-19T16:41:2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8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48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8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8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8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9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8&quot;,&quot;maxSize&quot;:{&quot;size1&quot;:22.2},&quot;minSize&quot;:{&quot;size1&quot;:13.5},&quot;normalSize&quot;:{&quot;size1&quot;:13.5},&quot;subLayout&quot;:[{&quot;id&quot;:&quot;2022-08-19T16:40:58&quot;,&quot;margin&quot;:{&quot;bottom&quot;:0.026000002399086952,&quot;left&quot;:2.117000102996826,&quot;right&quot;:1.2699999809265137,&quot;top&quot;:0.4230000078678131},&quot;type&quot;:0},{&quot;id&quot;:&quot;2022-08-19T16:40: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UNIT_ISCONTENTSTITLE" val="0"/>
  <p:tag name="KSO_WM_UNIT_ISNUMDGMTITLE" val="0"/>
  <p:tag name="KSO_WM_UNIT_PRESET_TEXT" val="简约上下导航版"/>
  <p:tag name="KSO_WM_UNIT_NOCLEAR" val="0"/>
  <p:tag name="KSO_WM_UNIT_VALUE" val="27"/>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9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7&quot;,&quot;maxSize&quot;:{&quot;size1&quot;:22.2},&quot;minSize&quot;:{&quot;size1&quot;:13.5},&quot;normalSize&quot;:{&quot;size1&quot;:13.5},&quot;subLayout&quot;:[{&quot;id&quot;:&quot;2022-08-19T16:40:57&quot;,&quot;margin&quot;:{&quot;bottom&quot;:0.026000002399086952,&quot;left&quot;:2.117000102996826,&quot;right&quot;:1.2699999809265137,&quot;top&quot;:0.4230000078678131},&quot;type&quot;:0},{&quot;id&quot;:&quot;2022-08-19T16:40:5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0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5&quot;,&quot;maxSize&quot;:{&quot;size1&quot;:22.2},&quot;minSize&quot;:{&quot;size1&quot;:13.5},&quot;normalSize&quot;:{&quot;size1&quot;:13.5},&quot;subLayout&quot;:[{&quot;id&quot;:&quot;2022-08-19T16:41:25&quot;,&quot;margin&quot;:{&quot;bottom&quot;:0.026000002399086952,&quot;left&quot;:2.117000102996826,&quot;right&quot;:1.2699999809265137,&quot;top&quot;:0.4230000078678131},&quot;type&quot;:0},{&quot;id&quot;:&quot;2022-08-19T16:41:2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KSO_WM_UNIT_SMARTLAYOUT_COMPRESS_INFO" val="{&#10;    &quot;id&quot;: &quot;2022-08-19T16:41:25&quot;,&#10;    &quot;max&quot;: 63.73495989701877,&#10;    &quot;topChanged&quot;: 32.24519630372055&#10;}&#10;"/>
  <p:tag name="KSO_WM_UNIT_LAST_MAX_FONTSIZE" val="360"/>
</p:tagLst>
</file>

<file path=ppt/tags/tag5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KSO_WM_UNIT_SMARTLAYOUT_COMPRESS_INFO" val="{&#10;    &quot;id&quot;: &quot;2022-08-19T16:41:25&quot;,&#10;    &quot;max&quot;: 63.73495989701877,&#10;    &quot;topChanged&quot;: 32.24519630372055&#10;}&#10;"/>
  <p:tag name="KSO_WM_UNIT_LAST_MAX_FONTSIZE" val="360"/>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05.xml><?xml version="1.0" encoding="utf-8"?>
<p:tagLst xmlns:p="http://schemas.openxmlformats.org/presentationml/2006/main">
  <p:tag name="KSO_WM_SLIDE_ID" val="diagram20220059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492"/>
  <p:tag name="KSO_WM_SLIDE_POSITION" val="36*24"/>
  <p:tag name="KSO_WM_SLIDE_LAYOUT" val="a_b_d"/>
  <p:tag name="KSO_WM_SLIDE_LAYOUT_CNT" val="1_1_1"/>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8-19T16:41:25&quot;,&quot;maxSize&quot;:{&quot;size1&quot;:31.1},&quot;minSize&quot;:{&quot;size1&quot;:20},&quot;normalSize&quot;:{&quot;size1&quot;:20},&quot;subLayout&quot;:[{&quot;id&quot;:&quot;2022-08-19T16:41:25&quot;,&quot;maxSize&quot;:{&quot;size1&quot;:100},&quot;minSize&quot;:{&quot;size1&quot;:66.7},&quot;normalSize&quot;:{&quot;size1&quot;:66.7},&quot;subLayout&quot;:[{&quot;id&quot;:&quot;2022-08-19T16:41:25&quot;,&quot;margin&quot;:{&quot;bottom&quot;:0.026000002399086952,&quot;left&quot;:2.117000102996826,&quot;right&quot;:1.2699999809265137,&quot;top&quot;:0.847000002861023},&quot;type&quot;:0},{&quot;id&quot;:&quot;2022-08-19T16:41:25&quot;,&quot;margin&quot;:{&quot;bottom&quot;:0,&quot;left&quot;:2.117000102996826,&quot;right&quot;:1.2699999809265137,&quot;top&quot;:0},&quot;type&quot;:0}],&quot;type&quot;:0},{&quot;id&quot;:&quot;2022-08-19T16:41:25&quot;,&quot;margin&quot;:{&quot;bottom&quot;:0.847000002861023,&quot;left&quot;:1.2699999809265137,&quot;right&quot;:1.2699999809265137,&quot;top&quot;:0.3970000147819519},&quot;type&quot;:0}],&quot;type&quot;:0}"/>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0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50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0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1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1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1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8&quot;,&quot;maxSize&quot;:{&quot;size1&quot;:22.2},&quot;minSize&quot;:{&quot;size1&quot;:13.5},&quot;normalSize&quot;:{&quot;size1&quot;:13.5},&quot;subLayout&quot;:[{&quot;id&quot;:&quot;2022-08-19T16:40:58&quot;,&quot;margin&quot;:{&quot;bottom&quot;:0.026000002399086952,&quot;left&quot;:2.117000102996826,&quot;right&quot;:1.2699999809265137,&quot;top&quot;:0.4230000078678131},&quot;type&quot;:0},{&quot;id&quot;:&quot;2022-08-19T16:40: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1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0:58&quot;,&quot;maxSize&quot;:{&quot;size1&quot;:22.2},&quot;minSize&quot;:{&quot;size1&quot;:13.5},&quot;normalSize&quot;:{&quot;size1&quot;:13.5},&quot;subLayout&quot;:[{&quot;id&quot;:&quot;2022-08-19T16:40:58&quot;,&quot;margin&quot;:{&quot;bottom&quot;:0.026000002399086952,&quot;left&quot;:2.117000102996826,&quot;right&quot;:1.2699999809265137,&quot;top&quot;:0.4230000078678131},&quot;type&quot;:0},{&quot;id&quot;:&quot;2022-08-19T16:40: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5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2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7&quot;,&quot;maxSize&quot;:{&quot;size1&quot;:22.2},&quot;minSize&quot;:{&quot;size1&quot;:13.5},&quot;normalSize&quot;:{&quot;size1&quot;:13.5},&quot;subLayout&quot;:[{&quot;id&quot;:&quot;2022-08-19T16:41:27&quot;,&quot;margin&quot;:{&quot;bottom&quot;:0.026000002399086952,&quot;left&quot;:2.117000102996826,&quot;right&quot;:1.2699999809265137,&quot;top&quot;:0.4230000078678131},&quot;type&quot;:0},{&quot;id&quot;:&quot;2022-08-19T16:41:2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2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7&quot;,&quot;maxSize&quot;:{&quot;size1&quot;:22.2},&quot;minSize&quot;:{&quot;size1&quot;:13.5},&quot;normalSize&quot;:{&quot;size1&quot;:13.5},&quot;subLayout&quot;:[{&quot;id&quot;:&quot;2022-08-19T16:41:27&quot;,&quot;margin&quot;:{&quot;bottom&quot;:0.026000002399086952,&quot;left&quot;:2.117000102996826,&quot;right&quot;:1.2699999809265137,&quot;top&quot;:0.4230000078678131},&quot;type&quot;:0},{&quot;id&quot;:&quot;2022-08-19T16:41:2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3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7&quot;,&quot;maxSize&quot;:{&quot;size1&quot;:22.2},&quot;minSize&quot;:{&quot;size1&quot;:13.5},&quot;normalSize&quot;:{&quot;size1&quot;:13.5},&quot;subLayout&quot;:[{&quot;id&quot;:&quot;2022-08-19T16:41:27&quot;,&quot;margin&quot;:{&quot;bottom&quot;:0.026000002399086952,&quot;left&quot;:2.117000102996826,&quot;right&quot;:1.2699999809265137,&quot;top&quot;:0.4230000078678131},&quot;type&quot;:0},{&quot;id&quot;:&quot;2022-08-19T16:41:2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5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4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7&quot;,&quot;maxSize&quot;:{&quot;size1&quot;:22.2},&quot;minSize&quot;:{&quot;size1&quot;:13.5},&quot;normalSize&quot;:{&quot;size1&quot;:13.5},&quot;subLayout&quot;:[{&quot;id&quot;:&quot;2022-08-19T16:41:27&quot;,&quot;margin&quot;:{&quot;bottom&quot;:0.026000002399086952,&quot;left&quot;:2.117000102996826,&quot;right&quot;:1.2699999809265137,&quot;top&quot;:0.4230000078678131},&quot;type&quot;:0},{&quot;id&quot;:&quot;2022-08-19T16:41:2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5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4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7&quot;,&quot;maxSize&quot;:{&quot;size1&quot;:22.2},&quot;minSize&quot;:{&quot;size1&quot;:13.5},&quot;normalSize&quot;:{&quot;size1&quot;:13.5},&quot;subLayout&quot;:[{&quot;id&quot;:&quot;2022-08-19T16:41:27&quot;,&quot;margin&quot;:{&quot;bottom&quot;:0.026000002399086952,&quot;left&quot;:2.117000102996826,&quot;right&quot;:1.2699999809265137,&quot;top&quot;:0.4230000078678131},&quot;type&quot;:0},{&quot;id&quot;:&quot;2022-08-19T16:41:2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4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55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5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5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5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5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2&quot;,&quot;maxSize&quot;:{&quot;size1&quot;:22.2},&quot;minSize&quot;:{&quot;size1&quot;:13.5},&quot;normalSize&quot;:{&quot;size1&quot;:13.5},&quot;subLayout&quot;:[{&quot;id&quot;:&quot;2022-08-19T16:41:22&quot;,&quot;margin&quot;:{&quot;bottom&quot;:0.026000002399086952,&quot;left&quot;:2.117000102996826,&quot;right&quot;:1.2699999809265137,&quot;top&quot;:0.4230000078678131},&quot;type&quot;:0},{&quot;id&quot;:&quot;2022-08-19T16:41:2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5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6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7&quot;,&quot;maxSize&quot;:{&quot;size1&quot;:22.2},&quot;minSize&quot;:{&quot;size1&quot;:13.5},&quot;normalSize&quot;:{&quot;size1&quot;:13.5},&quot;subLayout&quot;:[{&quot;id&quot;:&quot;2022-08-19T16:41:27&quot;,&quot;margin&quot;:{&quot;bottom&quot;:0.026000002399086952,&quot;left&quot;:2.117000102996826,&quot;right&quot;:1.2699999809265137,&quot;top&quot;:0.4230000078678131},&quot;type&quot;:0},{&quot;id&quot;:&quot;2022-08-19T16:41:2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6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6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7&quot;,&quot;maxSize&quot;:{&quot;size1&quot;:22.2},&quot;minSize&quot;:{&quot;size1&quot;:13.5},&quot;normalSize&quot;:{&quot;size1&quot;:13.5},&quot;subLayout&quot;:[{&quot;id&quot;:&quot;2022-08-19T16:41:27&quot;,&quot;margin&quot;:{&quot;bottom&quot;:0.026000002399086952,&quot;left&quot;:2.117000102996826,&quot;right&quot;:1.2699999809265137,&quot;top&quot;:0.4230000078678131},&quot;type&quot;:0},{&quot;id&quot;:&quot;2022-08-19T16:41:2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69.xml><?xml version="1.0" encoding="utf-8"?>
<p:tagLst xmlns:p="http://schemas.openxmlformats.org/presentationml/2006/main">
  <p:tag name="KSO_WM_BEAUTIFY_FLAG" val="#wm#"/>
  <p:tag name="KSO_WM_UNIT_TYPE" val="β"/>
  <p:tag name="TABLE_SKINIDX" val="0"/>
  <p:tag name="TABLE_COLORIDX" val="a"/>
  <p:tag name="KSO_WM_UNIT_TABLE_BEAUTIFY" val="smartTable{e8b27fe2-f1fa-4711-ac22-060f42c35040}"/>
  <p:tag name="TABLE_ENDDRAG_ORIGIN_RECT" val="395*246"/>
  <p:tag name="TABLE_ENDDRAG_RECT" val="190*184*395*246"/>
</p:tagLst>
</file>

<file path=ppt/tags/tag570.xml><?xml version="1.0" encoding="utf-8"?>
<p:tagLst xmlns:p="http://schemas.openxmlformats.org/presentationml/2006/main">
  <p:tag name="KSO_WM_UNIT_TABLE_BEAUTIFY" val="smartTable{6f582620-5834-4ca4-8c05-0ea82a1f8754}"/>
  <p:tag name="TABLE_ENDDRAG_ORIGIN_RECT" val="224*91"/>
  <p:tag name="TABLE_ENDDRAG_RECT" val="343*309*225*91"/>
</p:tagLst>
</file>

<file path=ppt/tags/tag57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3&quot;,&quot;maxSize&quot;:{&quot;size1&quot;:22.2},&quot;minSize&quot;:{&quot;size1&quot;:13.5},&quot;normalSize&quot;:{&quot;size1&quot;:13.5},&quot;subLayout&quot;:[{&quot;id&quot;:&quot;2022-08-19T16:41:23&quot;,&quot;margin&quot;:{&quot;bottom&quot;:0.026000002399086952,&quot;left&quot;:2.117000102996826,&quot;right&quot;:1.2699999809265137,&quot;top&quot;:0.4230000078678131},&quot;type&quot;:0},{&quot;id&quot;:&quot;2022-08-19T16:41:2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74.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29*204"/>
  <p:tag name="TABLE_ENDDRAG_RECT" val="343*48*429*204"/>
</p:tagLst>
</file>

<file path=ppt/tags/tag57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3&quot;,&quot;maxSize&quot;:{&quot;size1&quot;:22.2},&quot;minSize&quot;:{&quot;size1&quot;:13.5},&quot;normalSize&quot;:{&quot;size1&quot;:13.5},&quot;subLayout&quot;:[{&quot;id&quot;:&quot;2022-08-19T16:41:23&quot;,&quot;margin&quot;:{&quot;bottom&quot;:0.026000002399086952,&quot;left&quot;:2.117000102996826,&quot;right&quot;:1.2699999809265137,&quot;top&quot;:0.4230000078678131},&quot;type&quot;:0},{&quot;id&quot;:&quot;2022-08-19T16:41:2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5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8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8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58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59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59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59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9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59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0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UNIT_ISCONTENTSTITLE" val="0"/>
  <p:tag name="KSO_WM_UNIT_ISNUMDGMTITLE" val="0"/>
  <p:tag name="KSO_WM_UNIT_PRESET_TEXT" val="简约上下导航版"/>
  <p:tag name="KSO_WM_UNIT_NOCLEAR" val="0"/>
  <p:tag name="KSO_WM_UNIT_VALUE" val="27"/>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0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3&quot;,&quot;maxSize&quot;:{&quot;size1&quot;:22.2},&quot;minSize&quot;:{&quot;size1&quot;:13.5},&quot;normalSize&quot;:{&quot;size1&quot;:13.5},&quot;subLayout&quot;:[{&quot;id&quot;:&quot;2022-08-19T16:41:23&quot;,&quot;margin&quot;:{&quot;bottom&quot;:0.026000002399086952,&quot;left&quot;:2.117000102996826,&quot;right&quot;:1.2699999809265137,&quot;top&quot;:0.4230000078678131},&quot;type&quot;:0},{&quot;id&quot;:&quot;2022-08-19T16:41:2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6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61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3&quot;,&quot;maxSize&quot;:{&quot;size1&quot;:22.2},&quot;minSize&quot;:{&quot;size1&quot;:13.5},&quot;normalSize&quot;:{&quot;size1&quot;:13.5},&quot;subLayout&quot;:[{&quot;id&quot;:&quot;2022-08-19T16:41:23&quot;,&quot;margin&quot;:{&quot;bottom&quot;:0.026000002399086952,&quot;left&quot;:2.117000102996826,&quot;right&quot;:1.2699999809265137,&quot;top&quot;:0.4230000078678131},&quot;type&quot;:0},{&quot;id&quot;:&quot;2022-08-19T16:41:2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16.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76*219"/>
  <p:tag name="TABLE_ENDDRAG_RECT" val="196*167*476*219"/>
</p:tagLst>
</file>

<file path=ppt/tags/tag61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4&quot;,&quot;maxSize&quot;:{&quot;size1&quot;:22.2},&quot;minSize&quot;:{&quot;size1&quot;:13.5},&quot;normalSize&quot;:{&quot;size1&quot;:13.5},&quot;subLayout&quot;:[{&quot;id&quot;:&quot;2022-08-19T16:41:24&quot;,&quot;margin&quot;:{&quot;bottom&quot;:0.026000002399086952,&quot;left&quot;:2.117000102996826,&quot;right&quot;:1.2699999809265137,&quot;top&quot;:0.4230000078678131},&quot;type&quot;:0},{&quot;id&quot;:&quot;2022-08-19T16:41:2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6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2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6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62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26_1*f*1"/>
  <p:tag name="KSO_WM_TEMPLATE_CATEGORY" val="diagram"/>
  <p:tag name="KSO_WM_TEMPLATE_INDEX" val="20217126"/>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efd0da7db95e46efa1f3840623698849"/>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UNIT_SM_LIMIT_TYPE" val="0"/>
  <p:tag name="KSO_WM_CHIP_FILLAREA_FILL_RULE" val="{&quot;fill_align&quot;:&quot;cm&quot;,&quot;fill_mode&quot;:&quot;full&quot;,&quot;sacle_strategy&quot;:&quot;smart&quot;}"/>
  <p:tag name="KSO_WM_ASSEMBLE_CHIP_INDEX" val="8d982d27b7394f5b98422c656d3ff2c3"/>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21"/>
  <p:tag name="KSO_WM_TEMPLATE_ASSEMBLE_GROUPID" val="6130c4e1c26b0a66a1c57d21"/>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26_1*f*1"/>
  <p:tag name="KSO_WM_TEMPLATE_CATEGORY" val="diagram"/>
  <p:tag name="KSO_WM_TEMPLATE_INDEX" val="20217126"/>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efd0da7db95e46efa1f3840623698849"/>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UNIT_SM_LIMIT_TYPE" val="0"/>
  <p:tag name="KSO_WM_CHIP_FILLAREA_FILL_RULE" val="{&quot;fill_align&quot;:&quot;cm&quot;,&quot;fill_mode&quot;:&quot;full&quot;,&quot;sacle_strategy&quot;:&quot;smart&quot;}"/>
  <p:tag name="KSO_WM_ASSEMBLE_CHIP_INDEX" val="8d982d27b7394f5b98422c656d3ff2c3"/>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21"/>
  <p:tag name="KSO_WM_TEMPLATE_ASSEMBLE_GROUPID" val="6130c4e1c26b0a66a1c57d21"/>
</p:tagLst>
</file>

<file path=ppt/tags/tag633.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3*199"/>
  <p:tag name="TABLE_ENDDRAG_RECT" val="326*124*453*199"/>
</p:tagLst>
</file>

<file path=ppt/tags/tag63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2&quot;,&quot;maxSize&quot;:{&quot;size1&quot;:22.2},&quot;minSize&quot;:{&quot;size1&quot;:13.5},&quot;normalSize&quot;:{&quot;size1&quot;:13.5},&quot;subLayout&quot;:[{&quot;id&quot;:&quot;2022-08-19T16:41:32&quot;,&quot;margin&quot;:{&quot;bottom&quot;:0.026000002399086952,&quot;left&quot;:2.117000102996826,&quot;right&quot;:1.2699999809265137,&quot;top&quot;:0.4230000078678131},&quot;type&quot;:0},{&quot;id&quot;:&quot;2022-08-19T16:41:3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26_1*f*1"/>
  <p:tag name="KSO_WM_TEMPLATE_CATEGORY" val="diagram"/>
  <p:tag name="KSO_WM_TEMPLATE_INDEX" val="20217126"/>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efd0da7db95e46efa1f3840623698849"/>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UNIT_SM_LIMIT_TYPE" val="0"/>
  <p:tag name="KSO_WM_CHIP_FILLAREA_FILL_RULE" val="{&quot;fill_align&quot;:&quot;cm&quot;,&quot;fill_mode&quot;:&quot;full&quot;,&quot;sacle_strategy&quot;:&quot;smart&quot;}"/>
  <p:tag name="KSO_WM_ASSEMBLE_CHIP_INDEX" val="8d982d27b7394f5b98422c656d3ff2c3"/>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21"/>
  <p:tag name="KSO_WM_TEMPLATE_ASSEMBLE_GROUPID" val="6130c4e1c26b0a66a1c57d21"/>
</p:tagLst>
</file>

<file path=ppt/tags/tag637.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3*199"/>
  <p:tag name="TABLE_ENDDRAG_RECT" val="326*124*453*199"/>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2&quot;,&quot;maxSize&quot;:{&quot;size1&quot;:22.2},&quot;minSize&quot;:{&quot;size1&quot;:13.5},&quot;normalSize&quot;:{&quot;size1&quot;:13.5},&quot;subLayout&quot;:[{&quot;id&quot;:&quot;2022-08-19T16:41:32&quot;,&quot;margin&quot;:{&quot;bottom&quot;:0.026000002399086952,&quot;left&quot;:2.117000102996826,&quot;right&quot;:1.2699999809265137,&quot;top&quot;:0.4230000078678131},&quot;type&quot;:0},{&quot;id&quot;:&quot;2022-08-19T16:41:3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41.xml><?xml version="1.0" encoding="utf-8"?>
<p:tagLst xmlns:p="http://schemas.openxmlformats.org/presentationml/2006/main">
  <p:tag name="KSO_WM_UNIT_RELATE_UNITID" val="diagram20212960_1*h_d*1_1"/>
  <p:tag name="KSO_WM_UNIT_NOCLEAR" val="0"/>
  <p:tag name="KSO_WM_UNIT_VALUE" val="26"/>
  <p:tag name="KSO_WM_UNIT_HIGHLIGHT" val="0"/>
  <p:tag name="KSO_WM_UNIT_COMPATIBLE" val="0"/>
  <p:tag name="KSO_WM_UNIT_DIAGRAM_ISNUMVISUAL" val="0"/>
  <p:tag name="KSO_WM_UNIT_DIAGRAM_ISREFERUNIT" val="0"/>
  <p:tag name="KSO_WM_UNIT_TYPE" val="h_g"/>
  <p:tag name="KSO_WM_UNIT_INDEX" val="1_1"/>
  <p:tag name="KSO_WM_UNIT_ID" val="diagram20212960_1*h_g*1_1"/>
  <p:tag name="KSO_WM_TEMPLATE_CATEGORY" val="diagram"/>
  <p:tag name="KSO_WM_TEMPLATE_INDEX" val="20212960"/>
  <p:tag name="KSO_WM_UNIT_LAYERLEVEL" val="1_1"/>
  <p:tag name="KSO_WM_TAG_VERSION" val="1.0"/>
  <p:tag name="KSO_WM_BEAUTIFY_FLAG" val="#wm#"/>
  <p:tag name="KSO_WM_UNIT_PRESET_TEXT" val="单击此处添加描述。"/>
  <p:tag name="KSO_WM_UNIT_SHOW_EDIT_AREA_INDICATION" val="1"/>
  <p:tag name="KSO_WM_UNIT_BLOCK" val="0"/>
  <p:tag name="KSO_WM_CHIP_GROUPID" val="5ebe39c50ac41c4a0a5255d9"/>
  <p:tag name="KSO_WM_CHIP_XID" val="5ebe39c50ac41c4a0a5255da"/>
  <p:tag name="KSO_WM_UNIT_DEC_AREA_ID" val="44fd1b7044b94cc48a2f2964a16d970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adaptive&quot;,&quot;sacle_strategy&quot;:&quot;smart&quot;}"/>
  <p:tag name="KSO_WM_ASSEMBLE_CHIP_INDEX" val="8570116efdf9454dbfaa6d71c9a2533b"/>
  <p:tag name="KSO_WM_UNIT_TEXT_FILL_FORE_SCHEMECOLOR_INDEX_BRIGHTNESS" val="0.25"/>
  <p:tag name="KSO_WM_UNIT_TEXT_FILL_FORE_SCHEMECOLOR_INDEX" val="13"/>
  <p:tag name="KSO_WM_UNIT_TEXT_FILL_TYPE" val="1"/>
  <p:tag name="KSO_WM_TEMPLATE_ASSEMBLE_XID" val="60656f134054ed1e2fb80301"/>
  <p:tag name="KSO_WM_TEMPLATE_ASSEMBLE_GROUPID" val="60656f134054ed1e2fb80301"/>
</p:tagLst>
</file>

<file path=ppt/tags/tag6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0_1*f*1"/>
  <p:tag name="KSO_WM_TEMPLATE_CATEGORY" val="diagram"/>
  <p:tag name="KSO_WM_TEMPLATE_INDEX" val="20212960"/>
  <p:tag name="KSO_WM_UNIT_LAYERLEVEL" val="1"/>
  <p:tag name="KSO_WM_TAG_VERSION" val="1.0"/>
  <p:tag name="KSO_WM_BEAUTIFY_FLAG" val="#wm#"/>
  <p:tag name="KSO_WM_UNIT_DEFAULT_FONT" val="14;20;2"/>
  <p:tag name="KSO_WM_UNIT_BLOCK" val="0"/>
  <p:tag name="KSO_WM_UNIT_VALUE" val="425"/>
  <p:tag name="KSO_WM_UNIT_SHOW_EDIT_AREA_INDICATION" val="1"/>
  <p:tag name="KSO_WM_CHIP_GROUPID" val="5e6b05596848fb12bee65ac8"/>
  <p:tag name="KSO_WM_CHIP_XID" val="5e6b05596848fb12bee65aca"/>
  <p:tag name="KSO_WM_UNIT_DEC_AREA_ID" val="9aa1dacc9274479dbdb3ca4b6c89bd0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aa2aa030178b4583b36cc86a9c8b88bf"/>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34054ed1e2fb80301"/>
  <p:tag name="KSO_WM_TEMPLATE_ASSEMBLE_GROUPID" val="60656f134054ed1e2fb80301"/>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4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3&quot;,&quot;maxSize&quot;:{&quot;size1&quot;:22.2},&quot;minSize&quot;:{&quot;size1&quot;:13.5},&quot;normalSize&quot;:{&quot;size1&quot;:13.5},&quot;subLayout&quot;:[{&quot;id&quot;:&quot;2022-08-19T16:41:33&quot;,&quot;margin&quot;:{&quot;bottom&quot;:0.026000002399086952,&quot;left&quot;:2.117000102996826,&quot;right&quot;:1.2699999809265137,&quot;top&quot;:0.4230000078678131},&quot;type&quot;:0},{&quot;id&quot;:&quot;2022-08-19T16:41:3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26_1*f*1"/>
  <p:tag name="KSO_WM_TEMPLATE_CATEGORY" val="diagram"/>
  <p:tag name="KSO_WM_TEMPLATE_INDEX" val="20217126"/>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efd0da7db95e46efa1f3840623698849"/>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UNIT_SM_LIMIT_TYPE" val="0"/>
  <p:tag name="KSO_WM_CHIP_FILLAREA_FILL_RULE" val="{&quot;fill_align&quot;:&quot;cm&quot;,&quot;fill_mode&quot;:&quot;full&quot;,&quot;sacle_strategy&quot;:&quot;smart&quot;}"/>
  <p:tag name="KSO_WM_ASSEMBLE_CHIP_INDEX" val="8d982d27b7394f5b98422c656d3ff2c3"/>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21"/>
  <p:tag name="KSO_WM_TEMPLATE_ASSEMBLE_GROUPID" val="6130c4e1c26b0a66a1c57d21"/>
</p:tagLst>
</file>

<file path=ppt/tags/tag647.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3*199"/>
  <p:tag name="TABLE_ENDDRAG_RECT" val="326*124*453*199"/>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4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2&quot;,&quot;maxSize&quot;:{&quot;size1&quot;:22.2},&quot;minSize&quot;:{&quot;size1&quot;:13.5},&quot;normalSize&quot;:{&quot;size1&quot;:13.5},&quot;subLayout&quot;:[{&quot;id&quot;:&quot;2022-08-19T16:41:32&quot;,&quot;margin&quot;:{&quot;bottom&quot;:0.026000002399086952,&quot;left&quot;:2.117000102996826,&quot;right&quot;:1.2699999809265137,&quot;top&quot;:0.4230000078678131},&quot;type&quot;:0},{&quot;id&quot;:&quot;2022-08-19T16:41:3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51.xml><?xml version="1.0" encoding="utf-8"?>
<p:tagLst xmlns:p="http://schemas.openxmlformats.org/presentationml/2006/main">
  <p:tag name="KSO_WM_UNIT_RELATE_UNITID" val="diagram20212960_1*h_d*1_1"/>
  <p:tag name="KSO_WM_UNIT_NOCLEAR" val="0"/>
  <p:tag name="KSO_WM_UNIT_VALUE" val="26"/>
  <p:tag name="KSO_WM_UNIT_HIGHLIGHT" val="0"/>
  <p:tag name="KSO_WM_UNIT_COMPATIBLE" val="0"/>
  <p:tag name="KSO_WM_UNIT_DIAGRAM_ISNUMVISUAL" val="0"/>
  <p:tag name="KSO_WM_UNIT_DIAGRAM_ISREFERUNIT" val="0"/>
  <p:tag name="KSO_WM_UNIT_TYPE" val="h_g"/>
  <p:tag name="KSO_WM_UNIT_INDEX" val="1_1"/>
  <p:tag name="KSO_WM_UNIT_ID" val="diagram20212960_1*h_g*1_1"/>
  <p:tag name="KSO_WM_TEMPLATE_CATEGORY" val="diagram"/>
  <p:tag name="KSO_WM_TEMPLATE_INDEX" val="20212960"/>
  <p:tag name="KSO_WM_UNIT_LAYERLEVEL" val="1_1"/>
  <p:tag name="KSO_WM_TAG_VERSION" val="1.0"/>
  <p:tag name="KSO_WM_BEAUTIFY_FLAG" val="#wm#"/>
  <p:tag name="KSO_WM_UNIT_PRESET_TEXT" val="单击此处添加描述。"/>
  <p:tag name="KSO_WM_UNIT_SHOW_EDIT_AREA_INDICATION" val="1"/>
  <p:tag name="KSO_WM_UNIT_BLOCK" val="0"/>
  <p:tag name="KSO_WM_CHIP_GROUPID" val="5ebe39c50ac41c4a0a5255d9"/>
  <p:tag name="KSO_WM_CHIP_XID" val="5ebe39c50ac41c4a0a5255da"/>
  <p:tag name="KSO_WM_UNIT_DEC_AREA_ID" val="44fd1b7044b94cc48a2f2964a16d970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adaptive&quot;,&quot;sacle_strategy&quot;:&quot;smart&quot;}"/>
  <p:tag name="KSO_WM_ASSEMBLE_CHIP_INDEX" val="8570116efdf9454dbfaa6d71c9a2533b"/>
  <p:tag name="KSO_WM_UNIT_TEXT_FILL_FORE_SCHEMECOLOR_INDEX_BRIGHTNESS" val="0.25"/>
  <p:tag name="KSO_WM_UNIT_TEXT_FILL_FORE_SCHEMECOLOR_INDEX" val="13"/>
  <p:tag name="KSO_WM_UNIT_TEXT_FILL_TYPE" val="1"/>
  <p:tag name="KSO_WM_TEMPLATE_ASSEMBLE_XID" val="60656f134054ed1e2fb80301"/>
  <p:tag name="KSO_WM_TEMPLATE_ASSEMBLE_GROUPID" val="60656f134054ed1e2fb80301"/>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0_1*f*1"/>
  <p:tag name="KSO_WM_TEMPLATE_CATEGORY" val="diagram"/>
  <p:tag name="KSO_WM_TEMPLATE_INDEX" val="20212960"/>
  <p:tag name="KSO_WM_UNIT_LAYERLEVEL" val="1"/>
  <p:tag name="KSO_WM_TAG_VERSION" val="1.0"/>
  <p:tag name="KSO_WM_BEAUTIFY_FLAG" val="#wm#"/>
  <p:tag name="KSO_WM_UNIT_DEFAULT_FONT" val="14;20;2"/>
  <p:tag name="KSO_WM_UNIT_BLOCK" val="0"/>
  <p:tag name="KSO_WM_UNIT_VALUE" val="425"/>
  <p:tag name="KSO_WM_UNIT_SHOW_EDIT_AREA_INDICATION" val="1"/>
  <p:tag name="KSO_WM_CHIP_GROUPID" val="5e6b05596848fb12bee65ac8"/>
  <p:tag name="KSO_WM_CHIP_XID" val="5e6b05596848fb12bee65aca"/>
  <p:tag name="KSO_WM_UNIT_DEC_AREA_ID" val="9aa1dacc9274479dbdb3ca4b6c89bd0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aa2aa030178b4583b36cc86a9c8b88bf"/>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34054ed1e2fb80301"/>
  <p:tag name="KSO_WM_TEMPLATE_ASSEMBLE_GROUPID" val="60656f134054ed1e2fb80301"/>
</p:tagLst>
</file>

<file path=ppt/tags/tag65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3&quot;,&quot;maxSize&quot;:{&quot;size1&quot;:22.2},&quot;minSize&quot;:{&quot;size1&quot;:13.5},&quot;normalSize&quot;:{&quot;size1&quot;:13.5},&quot;subLayout&quot;:[{&quot;id&quot;:&quot;2022-08-19T16:41:33&quot;,&quot;margin&quot;:{&quot;bottom&quot;:0.026000002399086952,&quot;left&quot;:2.117000102996826,&quot;right&quot;:1.2699999809265137,&quot;top&quot;:0.4230000078678131},&quot;type&quot;:0},{&quot;id&quot;:&quot;2022-08-19T16:41:3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56.xml><?xml version="1.0" encoding="utf-8"?>
<p:tagLst xmlns:p="http://schemas.openxmlformats.org/presentationml/2006/main">
  <p:tag name="KSO_WM_UNIT_RELATE_UNITID" val="diagram20212960_1*h_d*1_1"/>
  <p:tag name="KSO_WM_UNIT_NOCLEAR" val="0"/>
  <p:tag name="KSO_WM_UNIT_VALUE" val="26"/>
  <p:tag name="KSO_WM_UNIT_HIGHLIGHT" val="0"/>
  <p:tag name="KSO_WM_UNIT_COMPATIBLE" val="0"/>
  <p:tag name="KSO_WM_UNIT_DIAGRAM_ISNUMVISUAL" val="0"/>
  <p:tag name="KSO_WM_UNIT_DIAGRAM_ISREFERUNIT" val="0"/>
  <p:tag name="KSO_WM_UNIT_TYPE" val="h_g"/>
  <p:tag name="KSO_WM_UNIT_INDEX" val="1_1"/>
  <p:tag name="KSO_WM_UNIT_ID" val="diagram20212960_1*h_g*1_1"/>
  <p:tag name="KSO_WM_TEMPLATE_CATEGORY" val="diagram"/>
  <p:tag name="KSO_WM_TEMPLATE_INDEX" val="20212960"/>
  <p:tag name="KSO_WM_UNIT_LAYERLEVEL" val="1_1"/>
  <p:tag name="KSO_WM_TAG_VERSION" val="1.0"/>
  <p:tag name="KSO_WM_BEAUTIFY_FLAG" val="#wm#"/>
  <p:tag name="KSO_WM_UNIT_PRESET_TEXT" val="单击此处添加描述。"/>
  <p:tag name="KSO_WM_UNIT_SHOW_EDIT_AREA_INDICATION" val="1"/>
  <p:tag name="KSO_WM_UNIT_BLOCK" val="0"/>
  <p:tag name="KSO_WM_CHIP_GROUPID" val="5ebe39c50ac41c4a0a5255d9"/>
  <p:tag name="KSO_WM_CHIP_XID" val="5ebe39c50ac41c4a0a5255da"/>
  <p:tag name="KSO_WM_UNIT_DEC_AREA_ID" val="44fd1b7044b94cc48a2f2964a16d970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adaptive&quot;,&quot;sacle_strategy&quot;:&quot;smart&quot;}"/>
  <p:tag name="KSO_WM_ASSEMBLE_CHIP_INDEX" val="8570116efdf9454dbfaa6d71c9a2533b"/>
  <p:tag name="KSO_WM_UNIT_TEXT_FILL_FORE_SCHEMECOLOR_INDEX_BRIGHTNESS" val="0.25"/>
  <p:tag name="KSO_WM_UNIT_TEXT_FILL_FORE_SCHEMECOLOR_INDEX" val="13"/>
  <p:tag name="KSO_WM_UNIT_TEXT_FILL_TYPE" val="1"/>
  <p:tag name="KSO_WM_TEMPLATE_ASSEMBLE_XID" val="60656f134054ed1e2fb80301"/>
  <p:tag name="KSO_WM_TEMPLATE_ASSEMBLE_GROUPID" val="60656f134054ed1e2fb80301"/>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26_1*f*1"/>
  <p:tag name="KSO_WM_TEMPLATE_CATEGORY" val="diagram"/>
  <p:tag name="KSO_WM_TEMPLATE_INDEX" val="20217126"/>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efd0da7db95e46efa1f3840623698849"/>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UNIT_SM_LIMIT_TYPE" val="0"/>
  <p:tag name="KSO_WM_CHIP_FILLAREA_FILL_RULE" val="{&quot;fill_align&quot;:&quot;cm&quot;,&quot;fill_mode&quot;:&quot;full&quot;,&quot;sacle_strategy&quot;:&quot;smart&quot;}"/>
  <p:tag name="KSO_WM_ASSEMBLE_CHIP_INDEX" val="8d982d27b7394f5b98422c656d3ff2c3"/>
  <p:tag name="KSO_WM_UNIT_SUPPORT_BIG_FONT" val="1"/>
  <p:tag name="KSO_WM_UNIT_TEXT_FILL_FORE_SCHEMECOLOR_INDEX_BRIGHTNESS" val="0.25"/>
  <p:tag name="KSO_WM_UNIT_TEXT_FILL_FORE_SCHEMECOLOR_INDEX" val="13"/>
  <p:tag name="KSO_WM_UNIT_TEXT_FILL_TYPE" val="1"/>
  <p:tag name="KSO_WM_TEMPLATE_ASSEMBLE_XID" val="6130c4e1c26b0a66a1c57d21"/>
  <p:tag name="KSO_WM_TEMPLATE_ASSEMBLE_GROUPID" val="6130c4e1c26b0a66a1c57d21"/>
</p:tagLst>
</file>

<file path=ppt/tags/tag65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3&quot;,&quot;maxSize&quot;:{&quot;size1&quot;:22.2},&quot;minSize&quot;:{&quot;size1&quot;:13.5},&quot;normalSize&quot;:{&quot;size1&quot;:13.5},&quot;subLayout&quot;:[{&quot;id&quot;:&quot;2022-08-19T16:41:33&quot;,&quot;margin&quot;:{&quot;bottom&quot;:0.026000002399086952,&quot;left&quot;:2.117000102996826,&quot;right&quot;:1.2699999809265137,&quot;top&quot;:0.4230000078678131},&quot;type&quot;:0},{&quot;id&quot;:&quot;2022-08-19T16:41:3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6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4&quot;,&quot;maxSize&quot;:{&quot;size1&quot;:22.2},&quot;minSize&quot;:{&quot;size1&quot;:13.5},&quot;normalSize&quot;:{&quot;size1&quot;:13.5},&quot;subLayout&quot;:[{&quot;id&quot;:&quot;2022-08-19T16:41:24&quot;,&quot;margin&quot;:{&quot;bottom&quot;:0.026000002399086952,&quot;left&quot;:2.117000102996826,&quot;right&quot;:1.2699999809265137,&quot;top&quot;:0.4230000078678131},&quot;type&quot;:0},{&quot;id&quot;:&quot;2022-08-19T16:41:2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666.xml><?xml version="1.0" encoding="utf-8"?>
<p:tagLst xmlns:p="http://schemas.openxmlformats.org/presentationml/2006/main">
  <p:tag name="KSO_WM_BEAUTIFY_FLAG" val="#wm#"/>
  <p:tag name="KSO_WM_UNIT_TYPE" val="β"/>
  <p:tag name="TABLE_SKINIDX" val="0"/>
  <p:tag name="TABLE_COLORIDX" val="a"/>
  <p:tag name="KSO_WM_UNIT_TABLE_BEAUTIFY" val="smartTable{e8b27fe2-f1fa-4711-ac22-060f42c35040}"/>
  <p:tag name="TABLE_ENDDRAG_ORIGIN_RECT" val="395*246"/>
  <p:tag name="TABLE_ENDDRAG_RECT" val="190*184*395*246"/>
</p:tagLst>
</file>

<file path=ppt/tags/tag667.xml><?xml version="1.0" encoding="utf-8"?>
<p:tagLst xmlns:p="http://schemas.openxmlformats.org/presentationml/2006/main">
  <p:tag name="KSO_WM_UNIT_TABLE_BEAUTIFY" val="smartTable{6f582620-5834-4ca4-8c05-0ea82a1f8754}"/>
  <p:tag name="TABLE_ENDDRAG_ORIGIN_RECT" val="224*91"/>
  <p:tag name="TABLE_ENDDRAG_RECT" val="343*309*225*91"/>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6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4&quot;,&quot;maxSize&quot;:{&quot;size1&quot;:22.2},&quot;minSize&quot;:{&quot;size1&quot;:13.5},&quot;normalSize&quot;:{&quot;size1&quot;:13.5},&quot;subLayout&quot;:[{&quot;id&quot;:&quot;2022-08-19T16:41:24&quot;,&quot;margin&quot;:{&quot;bottom&quot;:0.026000002399086952,&quot;left&quot;:2.117000102996826,&quot;right&quot;:1.2699999809265137,&quot;top&quot;:0.4230000078678131},&quot;type&quot;:0},{&quot;id&quot;:&quot;2022-08-19T16:41:2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6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6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7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218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218"/>
  <p:tag name="KSO_WM_UNIT_VALUE" val="1150"/>
  <p:tag name="KSO_WM_TEMPLATE_ASSEMBLE_XID" val="60656f2e4054ed1e2fb80509"/>
  <p:tag name="KSO_WM_TEMPLATE_ASSEMBLE_GROUPID" val="60656f2e4054ed1e2fb80509"/>
</p:tagLst>
</file>

<file path=ppt/tags/tag6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Lst>
</file>

<file path=ppt/tags/tag6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Lst>
</file>

<file path=ppt/tags/tag6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8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28&quot;,&quot;maxSize&quot;:{&quot;size1&quot;:22.2},&quot;minSize&quot;:{&quot;size1&quot;:13.5},&quot;normalSize&quot;:{&quot;size1&quot;:13.5},&quot;subLayout&quot;:[{&quot;id&quot;:&quot;2022-08-19T16:41:28&quot;,&quot;margin&quot;:{&quot;bottom&quot;:0.026000002399086952,&quot;left&quot;:2.117000102996826,&quot;right&quot;:1.2699999809265137,&quot;top&quot;:0.4230000078678131},&quot;type&quot;:0},{&quot;id&quot;:&quot;2022-08-19T16:41:2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84.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685.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11*252"/>
  <p:tag name="TABLE_ENDDRAG_RECT" val="195*159*511*252"/>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8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0&quot;,&quot;maxSize&quot;:{&quot;size1&quot;:22.2},&quot;minSize&quot;:{&quot;size1&quot;:13.5},&quot;normalSize&quot;:{&quot;size1&quot;:13.5},&quot;subLayout&quot;:[{&quot;id&quot;:&quot;2022-08-19T16:41:30&quot;,&quot;margin&quot;:{&quot;bottom&quot;:0.026000002399086952,&quot;left&quot;:2.117000102996826,&quot;right&quot;:1.2699999809265137,&quot;top&quot;:0.4230000078678131},&quot;type&quot;:0},{&quot;id&quot;:&quot;2022-08-19T16:41:3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8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69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9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9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9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6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6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69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0&quot;,&quot;maxSize&quot;:{&quot;size1&quot;:22.2},&quot;minSize&quot;:{&quot;size1&quot;:13.5},&quot;normalSize&quot;:{&quot;size1&quot;:13.5},&quot;subLayout&quot;:[{&quot;id&quot;:&quot;2022-08-19T16:41:30&quot;,&quot;margin&quot;:{&quot;bottom&quot;:0.026000002399086952,&quot;left&quot;:2.117000102996826,&quot;right&quot;:1.2699999809265137,&quot;top&quot;:0.4230000078678131},&quot;type&quot;:0},{&quot;id&quot;:&quot;2022-08-19T16:41:3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218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218"/>
  <p:tag name="KSO_WM_UNIT_VALUE" val="1150"/>
  <p:tag name="KSO_WM_TEMPLATE_ASSEMBLE_XID" val="60656f2e4054ed1e2fb80509"/>
  <p:tag name="KSO_WM_TEMPLATE_ASSEMBLE_GROUPID" val="60656f2e4054ed1e2fb80509"/>
</p:tagLst>
</file>

<file path=ppt/tags/tag7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Lst>
</file>

<file path=ppt/tags/tag7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0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1&quot;,&quot;maxSize&quot;:{&quot;size1&quot;:22.2},&quot;minSize&quot;:{&quot;size1&quot;:13.5},&quot;normalSize&quot;:{&quot;size1&quot;:13.5},&quot;subLayout&quot;:[{&quot;id&quot;:&quot;2022-08-19T16:41:31&quot;,&quot;margin&quot;:{&quot;bottom&quot;:0.026000002399086952,&quot;left&quot;:2.117000102996826,&quot;right&quot;:1.2699999809265137,&quot;top&quot;:0.4230000078678131},&quot;type&quot;:0},{&quot;id&quot;:&quot;2022-08-19T16:41:3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05.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706.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3*199"/>
  <p:tag name="TABLE_ENDDRAG_RECT" val="326*124*453*199"/>
</p:tagLst>
</file>

<file path=ppt/tags/tag707.xml><?xml version="1.0" encoding="utf-8"?>
<p:tagLst xmlns:p="http://schemas.openxmlformats.org/presentationml/2006/main">
  <p:tag name="KSO_WM_BEAUTIFY_FLAG" val="#wm#"/>
  <p:tag name="KSO_WM_UNIT_TYPE" val="β"/>
  <p:tag name="TABLE_SKINIDX" val="2"/>
  <p:tag name="TABLE_COLORIDX" val="c"/>
  <p:tag name="KSO_WM_UNIT_TABLE_BEAUTIFY" val="smartTable{c6baca16-6346-460a-9b93-f4ad41915f8f}"/>
  <p:tag name="TABLE_ENDDRAG_ORIGIN_RECT" val="450*215"/>
  <p:tag name="TABLE_ENDDRAG_RECT" val="313*310*450*215"/>
</p:tagLst>
</file>

<file path=ppt/tags/tag708.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1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2&quot;,&quot;maxSize&quot;:{&quot;size1&quot;:22.2},&quot;minSize&quot;:{&quot;size1&quot;:13.5},&quot;normalSize&quot;:{&quot;size1&quot;:13.5},&quot;subLayout&quot;:[{&quot;id&quot;:&quot;2022-08-19T16:41:32&quot;,&quot;margin&quot;:{&quot;bottom&quot;:0.026000002399086952,&quot;left&quot;:2.117000102996826,&quot;right&quot;:1.2699999809265137,&quot;top&quot;:0.4230000078678131},&quot;type&quot;:0},{&quot;id&quot;:&quot;2022-08-19T16:41:3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305_1*f*1"/>
  <p:tag name="KSO_WM_TEMPLATE_CATEGORY" val="diagram"/>
  <p:tag name="KSO_WM_TEMPLATE_INDEX" val="20212305"/>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d50776ce682f4910bea584ecbd4a249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9db0915b2cb49b2a5af387815922154"/>
  <p:tag name="KSO_WM_UNIT_TEXT_FILL_FORE_SCHEMECOLOR_INDEX_BRIGHTNESS" val="0.25"/>
  <p:tag name="KSO_WM_UNIT_TEXT_FILL_FORE_SCHEMECOLOR_INDEX" val="13"/>
  <p:tag name="KSO_WM_UNIT_TEXT_FILL_TYPE" val="1"/>
  <p:tag name="KSO_WM_TEMPLATE_ASSEMBLE_XID" val="60656f434054ed1e2fb8067f"/>
  <p:tag name="KSO_WM_TEMPLATE_ASSEMBLE_GROUPID" val="60656f434054ed1e2fb8067f"/>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1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5&quot;,&quot;maxSize&quot;:{&quot;size1&quot;:22.2},&quot;minSize&quot;:{&quot;size1&quot;:13.5},&quot;normalSize&quot;:{&quot;size1&quot;:13.5},&quot;subLayout&quot;:[{&quot;id&quot;:&quot;2022-08-19T16:41:35&quot;,&quot;margin&quot;:{&quot;bottom&quot;:0.026000002399086952,&quot;left&quot;:2.117000102996826,&quot;right&quot;:1.2699999809265137,&quot;top&quot;:0.4230000078678131},&quot;type&quot;:0},{&quot;id&quot;:&quot;2022-08-19T16:41:3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305_1*f*1"/>
  <p:tag name="KSO_WM_TEMPLATE_CATEGORY" val="diagram"/>
  <p:tag name="KSO_WM_TEMPLATE_INDEX" val="20212305"/>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d50776ce682f4910bea584ecbd4a249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9db0915b2cb49b2a5af387815922154"/>
  <p:tag name="KSO_WM_UNIT_TEXT_FILL_FORE_SCHEMECOLOR_INDEX_BRIGHTNESS" val="0.25"/>
  <p:tag name="KSO_WM_UNIT_TEXT_FILL_FORE_SCHEMECOLOR_INDEX" val="13"/>
  <p:tag name="KSO_WM_UNIT_TEXT_FILL_TYPE" val="1"/>
  <p:tag name="KSO_WM_TEMPLATE_ASSEMBLE_XID" val="60656f434054ed1e2fb8067f"/>
  <p:tag name="KSO_WM_TEMPLATE_ASSEMBLE_GROUPID" val="60656f434054ed1e2fb8067f"/>
</p:tagLst>
</file>

<file path=ppt/tags/tag717.xml><?xml version="1.0" encoding="utf-8"?>
<p:tagLst xmlns:p="http://schemas.openxmlformats.org/presentationml/2006/main">
  <p:tag name="KSO_WM_BEAUTIFY_FLAG" val="#wm#"/>
  <p:tag name="KSO_WM_UNIT_TYPE" val="β"/>
  <p:tag name="TABLE_SKINIDX" val="3"/>
  <p:tag name="TABLE_COLORIDX" val="h"/>
  <p:tag name="KSO_WM_UNIT_TABLE_BEAUTIFY" val="smartTable{28b37db3-da64-47b0-8ad4-0790cdc30605}"/>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1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5&quot;,&quot;maxSize&quot;:{&quot;size1&quot;:22.2},&quot;minSize&quot;:{&quot;size1&quot;:13.5},&quot;normalSize&quot;:{&quot;size1&quot;:13.5},&quot;subLayout&quot;:[{&quot;id&quot;:&quot;2022-08-19T16:41:35&quot;,&quot;margin&quot;:{&quot;bottom&quot;:0.026000002399086952,&quot;left&quot;:2.117000102996826,&quot;right&quot;:1.2699999809265137,&quot;top&quot;:0.4230000078678131},&quot;type&quot;:0},{&quot;id&quot;:&quot;2022-08-19T16:41:3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3.xml><?xml version="1.0" encoding="utf-8"?>
<p:tagLst xmlns:p="http://schemas.openxmlformats.org/presentationml/2006/main">
  <p:tag name="KSO_WM_UNIT_TABLE_BEAUTIFY" val="smartTable{44e92f9b-148d-4ab3-bb60-278e6603394d}"/>
</p:tagLst>
</file>

<file path=ppt/tags/tag724.xml><?xml version="1.0" encoding="utf-8"?>
<p:tagLst xmlns:p="http://schemas.openxmlformats.org/presentationml/2006/main">
  <p:tag name="KSO_WM_UNIT_TABLE_BEAUTIFY" val="smartTable{97f95339-2da0-42c9-827b-b466e16c5463}"/>
</p:tagLst>
</file>

<file path=ppt/tags/tag725.xml><?xml version="1.0" encoding="utf-8"?>
<p:tagLst xmlns:p="http://schemas.openxmlformats.org/presentationml/2006/main">
  <p:tag name="KSO_WM_UNIT_TABLE_BEAUTIFY" val="smartTable{045e5389-e833-4336-bcdb-df1ed14d77ff}"/>
</p:tagLst>
</file>

<file path=ppt/tags/tag726.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727.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728.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729.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73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4&quot;,&quot;maxSize&quot;:{&quot;size1&quot;:22.2},&quot;minSize&quot;:{&quot;size1&quot;:13.5},&quot;normalSize&quot;:{&quot;size1&quot;:13.5},&quot;subLayout&quot;:[{&quot;id&quot;:&quot;2022-08-19T16:41:34&quot;,&quot;margin&quot;:{&quot;bottom&quot;:0.026000002399086952,&quot;left&quot;:2.117000102996826,&quot;right&quot;:1.2699999809265137,&quot;top&quot;:0.4230000078678131},&quot;type&quot;:0},{&quot;id&quot;:&quot;2022-08-19T16:41:3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7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7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4&quot;,&quot;maxSize&quot;:{&quot;size1&quot;:22.2},&quot;minSize&quot;:{&quot;size1&quot;:13.5},&quot;normalSize&quot;:{&quot;size1&quot;:13.5},&quot;subLayout&quot;:[{&quot;id&quot;:&quot;2022-08-19T16:41:34&quot;,&quot;margin&quot;:{&quot;bottom&quot;:0.026000002399086952,&quot;left&quot;:2.117000102996826,&quot;right&quot;:1.2699999809265137,&quot;top&quot;:0.4230000078678131},&quot;type&quot;:0},{&quot;id&quot;:&quot;2022-08-19T16:41:3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42.xml><?xml version="1.0" encoding="utf-8"?>
<p:tagLst xmlns:p="http://schemas.openxmlformats.org/presentationml/2006/main">
  <p:tag name="KSO_WM_CHIP_GROUPID" val="5ef1bfdba491bb00866386cf"/>
  <p:tag name="KSO_WM_CHIP_XID" val="5ef2149ea491bb0086638bff"/>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1099"/>
  <p:tag name="KSO_WM_UNIT_ID" val="diagram20211099_1**"/>
  <p:tag name="KSO_WM_UNIT_VALUE" val="1113"/>
  <p:tag name="KSO_WM_TEMPLATE_ASSEMBLE_XID" val="60656ea54054ed1e2fb7fced"/>
  <p:tag name="KSO_WM_TEMPLATE_ASSEMBLE_GROUPID" val="60656ea54054ed1e2fb7fced"/>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1099_1*i*1"/>
  <p:tag name="KSO_WM_TEMPLATE_CATEGORY" val="diagram"/>
  <p:tag name="KSO_WM_TEMPLATE_INDEX" val="20211099"/>
  <p:tag name="KSO_WM_UNIT_LAYERLEVEL" val="1"/>
  <p:tag name="KSO_WM_TAG_VERSION" val="1.0"/>
  <p:tag name="KSO_WM_BEAUTIFY_FLAG" val="#wm#"/>
  <p:tag name="KSO_WM_UNIT_BLOCK" val="0"/>
  <p:tag name="KSO_WM_UNIT_SM_LIMIT_TYPE" val="2"/>
  <p:tag name="KSO_WM_UNIT_DEC_AREA_ID" val="ee5548d8dca441c3902906f7024b961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1bfdba491bb00866386cf"/>
  <p:tag name="KSO_WM_CHIP_XID" val="5ef2149ea491bb0086638bff"/>
  <p:tag name="KSO_WM_UNIT_FILL_FORE_SCHEMECOLOR_INDEX_BRIGHTNESS" val="0"/>
  <p:tag name="KSO_WM_UNIT_FILL_FORE_SCHEMECOLOR_INDEX" val="16"/>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882"/>
  <p:tag name="KSO_WM_TEMPLATE_ASSEMBLE_XID" val="60656ea54054ed1e2fb7fced"/>
  <p:tag name="KSO_WM_TEMPLATE_ASSEMBLE_GROUPID" val="60656ea54054ed1e2fb7fced"/>
</p:tagLst>
</file>

<file path=ppt/tags/tag7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99_1*f*1"/>
  <p:tag name="KSO_WM_TEMPLATE_CATEGORY" val="diagram"/>
  <p:tag name="KSO_WM_TEMPLATE_INDEX" val="20211099"/>
  <p:tag name="KSO_WM_UNIT_LAYERLEVEL" val="1"/>
  <p:tag name="KSO_WM_TAG_VERSION" val="1.0"/>
  <p:tag name="KSO_WM_BEAUTIFY_FLAG" val="#wm#"/>
  <p:tag name="KSO_WM_UNIT_DEFAULT_FONT" val="14;20;2"/>
  <p:tag name="KSO_WM_UNIT_BLOCK" val="0"/>
  <p:tag name="KSO_WM_UNIT_VALUE" val="168"/>
  <p:tag name="KSO_WM_UNIT_SHOW_EDIT_AREA_INDICATION" val="1"/>
  <p:tag name="KSO_WM_CHIP_GROUPID" val="5e6b05596848fb12bee65ac8"/>
  <p:tag name="KSO_WM_CHIP_XID" val="5e6b05596848fb12bee65aca"/>
  <p:tag name="KSO_WM_UNIT_DEC_AREA_ID" val="235cd89652a6449cb1c3dd73c801d80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18340b91c5546258fd7c1b6c1046b32"/>
  <p:tag name="KSO_WM_UNIT_TEXT_FILL_FORE_SCHEMECOLOR_INDEX_BRIGHTNESS" val="0.25"/>
  <p:tag name="KSO_WM_UNIT_TEXT_FILL_FORE_SCHEMECOLOR_INDEX" val="13"/>
  <p:tag name="KSO_WM_UNIT_TEXT_FILL_TYPE" val="1"/>
  <p:tag name="KSO_WM_TEMPLATE_ASSEMBLE_XID" val="60656ea54054ed1e2fb7fced"/>
  <p:tag name="KSO_WM_TEMPLATE_ASSEMBLE_GROUPID" val="60656ea54054ed1e2fb7fced"/>
</p:tagLst>
</file>

<file path=ppt/tags/tag745.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3*199"/>
  <p:tag name="TABLE_ENDDRAG_RECT" val="326*124*453*199"/>
</p:tagLst>
</file>

<file path=ppt/tags/tag74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7&quot;,&quot;maxSize&quot;:{&quot;size1&quot;:22.2},&quot;minSize&quot;:{&quot;size1&quot;:13.5},&quot;normalSize&quot;:{&quot;size1&quot;:13.5},&quot;subLayout&quot;:[{&quot;id&quot;:&quot;2022-08-19T16:41:37&quot;,&quot;margin&quot;:{&quot;bottom&quot;:0.026000002399086952,&quot;left&quot;:2.117000102996826,&quot;right&quot;:1.2699999809265137,&quot;top&quot;:0.4230000078678131},&quot;type&quot;:0},{&quot;id&quot;:&quot;2022-08-19T16:41:3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7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7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75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7&quot;,&quot;maxSize&quot;:{&quot;size1&quot;:22.2},&quot;minSize&quot;:{&quot;size1&quot;:13.5},&quot;normalSize&quot;:{&quot;size1&quot;:13.5},&quot;subLayout&quot;:[{&quot;id&quot;:&quot;2022-08-19T16:41:37&quot;,&quot;margin&quot;:{&quot;bottom&quot;:0.026000002399086952,&quot;left&quot;:2.117000102996826,&quot;right&quot;:1.2699999809265137,&quot;top&quot;:0.4230000078678131},&quot;type&quot;:0},{&quot;id&quot;:&quot;2022-08-19T16:41:3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SMARTLAYOUT_COMPRESS_INFO" val="{&#10;    &quot;id&quot;: &quot;2022-08-19T16:41:38&quot;,&#10;    &quot;max&quot;: 23.1,&#10;    &quot;topChanged&quot;: 3.292160832618521&#10;}&#10;"/>
</p:tagLst>
</file>

<file path=ppt/tags/tag7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2.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UNIT_SMARTLAYOUT_COMPRESS_INFO" val="{&#10;    &quot;id&quot;: &quot;2022-08-19T16:41:38&quot;&#10;}&#10;"/>
</p:tagLst>
</file>

<file path=ppt/tags/tag763.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UNIT_SMARTLAYOUT_COMPRESS_INFO" val="{&#10;    &quot;id&quot;: &quot;2022-08-19T16:41:38&quot;,&#10;    &quot;max&quot;: 23.1,&#10;    &quot;topChanged&quot;: 4.020397777186654&#10;}&#10;"/>
</p:tagLst>
</file>

<file path=ppt/tags/tag7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5.xml><?xml version="1.0" encoding="utf-8"?>
<p:tagLst xmlns:p="http://schemas.openxmlformats.org/presentationml/2006/main">
  <p:tag name="KSO_WM_UNIT_FILL_FORE_SCHEMECOLOR_INDEX_BRIGHTNESS" val="0"/>
  <p:tag name="KSO_WM_UNIT_FILL_FORE_SCHEMECOLOR_INDEX" val="9"/>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SMARTLAYOUT_COMPRESS_INFO" val="{&#10;    &quot;id&quot;: &quot;2022-08-19T16:41:38&quot;,&#10;    &quot;max&quot;: 17.898188976377956,&#10;    &quot;topChanged&quot;: 2.639109936668705&#10;}&#10;"/>
</p:tagLst>
</file>

<file path=ppt/tags/tag766.xml><?xml version="1.0" encoding="utf-8"?>
<p:tagLst xmlns:p="http://schemas.openxmlformats.org/presentationml/2006/main">
  <p:tag name="KSO_WM_UNIT_FILL_FORE_SCHEMECOLOR_INDEX_BRIGHTNESS" val="0"/>
  <p:tag name="KSO_WM_UNIT_FILL_FORE_SCHEMECOLOR_INDEX" val="9"/>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SMARTLAYOUT_COMPRESS_INFO" val="{&#10;    &quot;id&quot;: &quot;2022-08-19T16:41:38&quot;&#10;}&#10;"/>
</p:tagLst>
</file>

<file path=ppt/tags/tag76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8&quot;,&quot;maxSize&quot;:{&quot;size1&quot;:22.2},&quot;minSize&quot;:{&quot;size1&quot;:13.5},&quot;normalSize&quot;:{&quot;size1&quot;:13.5},&quot;subLayout&quot;:[{&quot;id&quot;:&quot;2022-08-19T16:41:38&quot;,&quot;margin&quot;:{&quot;bottom&quot;:0.026000002399086952,&quot;left&quot;:2.117000102996826,&quot;right&quot;:1.2699999809265137,&quot;top&quot;:0.4230000078678131},&quot;type&quot;:0},{&quot;id&quot;:&quot;2022-08-19T16:41:3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771.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95*257"/>
  <p:tag name="TABLE_ENDDRAG_RECT" val="230*162*495*257"/>
</p:tagLst>
</file>

<file path=ppt/tags/tag77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9&quot;,&quot;maxSize&quot;:{&quot;size1&quot;:22.2},&quot;minSize&quot;:{&quot;size1&quot;:13.5},&quot;normalSize&quot;:{&quot;size1&quot;:13.5},&quot;subLayout&quot;:[{&quot;id&quot;:&quot;2022-08-19T16:41:39&quot;,&quot;margin&quot;:{&quot;bottom&quot;:0.026000002399086952,&quot;left&quot;:2.117000102996826,&quot;right&quot;:1.2699999809265137,&quot;top&quot;:0.4230000078678131},&quot;type&quot;:0},{&quot;id&quot;:&quot;2022-08-19T16:41:3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7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77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7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7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7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7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7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78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8&quot;,&quot;maxSize&quot;:{&quot;size1&quot;:22.2},&quot;minSize&quot;:{&quot;size1&quot;:13.5},&quot;normalSize&quot;:{&quot;size1&quot;:13.5},&quot;subLayout&quot;:[{&quot;id&quot;:&quot;2022-08-19T16:41:38&quot;,&quot;margin&quot;:{&quot;bottom&quot;:0.026000002399086952,&quot;left&quot;:2.117000102996826,&quot;right&quot;:1.2699999809265137,&quot;top&quot;:0.4230000078678131},&quot;type&quot;:0},{&quot;id&quot;:&quot;2022-08-19T16:41:3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7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7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SMARTLAYOUT_COMPRESS_INFO" val="{&#10;    &quot;id&quot;: &quot;2022-08-19T16:41:39&quot;,&#10;    &quot;max&quot;: 23.1,&#10;    &quot;topChanged&quot;: 3.9048325506556467&#10;}&#10;"/>
</p:tagLst>
</file>

<file path=ppt/tags/tag7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0.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UNIT_SMARTLAYOUT_COMPRESS_INFO" val="{&#10;    &quot;id&quot;: &quot;2022-08-19T16:41:39&quot;&#10;}&#10;"/>
</p:tagLst>
</file>

<file path=ppt/tags/tag79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9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SMARTLAYOUT_COMPRESS_INFO" val="{&#10;    &quot;id&quot;: &quot;2022-08-19T16:41:39&quot;&#10;}&#10;"/>
</p:tagLst>
</file>

<file path=ppt/tags/tag79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94.xml><?xml version="1.0" encoding="utf-8"?>
<p:tagLst xmlns:p="http://schemas.openxmlformats.org/presentationml/2006/main">
  <p:tag name="KSO_WM_UNIT_FILL_FORE_SCHEMECOLOR_INDEX_BRIGHTNESS" val="0"/>
  <p:tag name="KSO_WM_UNIT_FILL_FORE_SCHEMECOLOR_INDEX" val="9"/>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SMARTLAYOUT_COMPRESS_INFO" val="{&#10;    &quot;id&quot;: &quot;2022-08-19T16:41:39&quot;&#10;}&#10;"/>
</p:tagLst>
</file>

<file path=ppt/tags/tag795.xml><?xml version="1.0" encoding="utf-8"?>
<p:tagLst xmlns:p="http://schemas.openxmlformats.org/presentationml/2006/main">
  <p:tag name="KSO_WM_UNIT_FILL_FORE_SCHEMECOLOR_INDEX_BRIGHTNESS" val="0"/>
  <p:tag name="KSO_WM_UNIT_FILL_FORE_SCHEMECOLOR_INDEX" val="9"/>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39&quot;,&quot;maxSize&quot;:{&quot;size1&quot;:22.2},&quot;minSize&quot;:{&quot;size1&quot;:13.5},&quot;normalSize&quot;:{&quot;size1&quot;:13.5},&quot;subLayout&quot;:[{&quot;id&quot;:&quot;2022-08-19T16:41:39&quot;,&quot;margin&quot;:{&quot;bottom&quot;:0.026000002399086952,&quot;left&quot;:2.117000102996826,&quot;right&quot;:1.2699999809265137,&quot;top&quot;:0.4230000078678131},&quot;type&quot;:0},{&quot;id&quot;:&quot;2022-08-19T16:41:3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Lst>
</file>

<file path=ppt/tags/tag8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804.xml><?xml version="1.0" encoding="utf-8"?>
<p:tagLst xmlns:p="http://schemas.openxmlformats.org/presentationml/2006/main">
  <p:tag name="KSO_WM_BEAUTIFY_FLAG" val="#wm#"/>
  <p:tag name="KSO_WM_UNIT_TYPE" val="β"/>
  <p:tag name="TABLE_SKINIDX" val="3"/>
  <p:tag name="TABLE_COLORIDX" val="i"/>
  <p:tag name="KSO_WM_UNIT_TABLE_BEAUTIFY" val="smartTable{b6b387b6-a27a-475b-9997-5298371e7839}"/>
  <p:tag name="TABLE_ENDDRAG_ORIGIN_RECT" val="589*522"/>
  <p:tag name="TABLE_ENDDRAG_RECT" val="179*110*589*522"/>
</p:tagLst>
</file>

<file path=ppt/tags/tag80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2&quot;,&quot;maxSize&quot;:{&quot;size1&quot;:22.2},&quot;minSize&quot;:{&quot;size1&quot;:13.5},&quot;normalSize&quot;:{&quot;size1&quot;:13.5},&quot;subLayout&quot;:[{&quot;id&quot;:&quot;2022-08-19T16:41:42&quot;,&quot;margin&quot;:{&quot;bottom&quot;:0.026000002399086952,&quot;left&quot;:2.117000102996826,&quot;right&quot;:1.2699999809265137,&quot;top&quot;:0.4230000078678131},&quot;type&quot;:0},{&quot;id&quot;:&quot;2022-08-19T16:41:4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0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0&quot;,&quot;maxSize&quot;:{&quot;size1&quot;:22.2},&quot;minSize&quot;:{&quot;size1&quot;:13.5},&quot;normalSize&quot;:{&quot;size1&quot;:13.5},&quot;subLayout&quot;:[{&quot;id&quot;:&quot;2022-08-19T16:41:40&quot;,&quot;margin&quot;:{&quot;bottom&quot;:0.026000002399086952,&quot;left&quot;:2.117000102996826,&quot;right&quot;:1.2699999809265137,&quot;top&quot;:0.4230000078678131},&quot;type&quot;:0},{&quot;id&quot;:&quot;2022-08-19T16:41:4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1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0&quot;,&quot;maxSize&quot;:{&quot;size1&quot;:22.2},&quot;minSize&quot;:{&quot;size1&quot;:13.5},&quot;normalSize&quot;:{&quot;size1&quot;:13.5},&quot;subLayout&quot;:[{&quot;id&quot;:&quot;2022-08-19T16:41:40&quot;,&quot;margin&quot;:{&quot;bottom&quot;:0.026000002399086952,&quot;left&quot;:2.117000102996826,&quot;right&quot;:1.2699999809265137,&quot;top&quot;:0.4230000078678131},&quot;type&quot;:0},{&quot;id&quot;:&quot;2022-08-19T16:41:4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8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1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3&quot;,&quot;maxSize&quot;:{&quot;size1&quot;:22.2},&quot;minSize&quot;:{&quot;size1&quot;:13.5},&quot;normalSize&quot;:{&quot;size1&quot;:13.5},&quot;subLayout&quot;:[{&quot;id&quot;:&quot;2022-08-19T16:41:43&quot;,&quot;margin&quot;:{&quot;bottom&quot;:0.026000002399086952,&quot;left&quot;:2.117000102996826,&quot;right&quot;:1.2699999809265137,&quot;top&quot;:0.4230000078678131},&quot;type&quot;:0},{&quot;id&quot;:&quot;2022-08-19T16:41:4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8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2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3&quot;,&quot;maxSize&quot;:{&quot;size1&quot;:22.2},&quot;minSize&quot;:{&quot;size1&quot;:13.5},&quot;normalSize&quot;:{&quot;size1&quot;:13.5},&quot;subLayout&quot;:[{&quot;id&quot;:&quot;2022-08-19T16:41:43&quot;,&quot;margin&quot;:{&quot;bottom&quot;:0.026000002399086952,&quot;left&quot;:2.117000102996826,&quot;right&quot;:1.2699999809265137,&quot;top&quot;:0.4230000078678131},&quot;type&quot;:0},{&quot;id&quot;:&quot;2022-08-19T16:41:4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2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82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2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2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2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3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3&quot;,&quot;maxSize&quot;:{&quot;size1&quot;:22.2},&quot;minSize&quot;:{&quot;size1&quot;:13.5},&quot;normalSize&quot;:{&quot;size1&quot;:13.5},&quot;subLayout&quot;:[{&quot;id&quot;:&quot;2022-08-19T16:41:43&quot;,&quot;margin&quot;:{&quot;bottom&quot;:0.026000002399086952,&quot;left&quot;:2.117000102996826,&quot;right&quot;:1.2699999809265137,&quot;top&quot;:0.4230000078678131},&quot;type&quot;:0},{&quot;id&quot;:&quot;2022-08-19T16:41:4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305_1*f*1"/>
  <p:tag name="KSO_WM_TEMPLATE_CATEGORY" val="diagram"/>
  <p:tag name="KSO_WM_TEMPLATE_INDEX" val="20212305"/>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d50776ce682f4910bea584ecbd4a249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9db0915b2cb49b2a5af387815922154"/>
  <p:tag name="KSO_WM_UNIT_TEXT_FILL_FORE_SCHEMECOLOR_INDEX_BRIGHTNESS" val="0.25"/>
  <p:tag name="KSO_WM_UNIT_TEXT_FILL_FORE_SCHEMECOLOR_INDEX" val="13"/>
  <p:tag name="KSO_WM_UNIT_TEXT_FILL_TYPE" val="1"/>
  <p:tag name="KSO_WM_TEMPLATE_ASSEMBLE_XID" val="60656f434054ed1e2fb8067f"/>
  <p:tag name="KSO_WM_TEMPLATE_ASSEMBLE_GROUPID" val="60656f434054ed1e2fb8067f"/>
</p:tagLst>
</file>

<file path=ppt/tags/tag836.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95*257"/>
  <p:tag name="TABLE_ENDDRAG_RECT" val="230*162*495*257"/>
</p:tagLst>
</file>

<file path=ppt/tags/tag8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4&quot;,&quot;maxSize&quot;:{&quot;size1&quot;:22.2},&quot;minSize&quot;:{&quot;size1&quot;:13.5},&quot;normalSize&quot;:{&quot;size1&quot;:13.5},&quot;subLayout&quot;:[{&quot;id&quot;:&quot;2022-08-19T16:41:44&quot;,&quot;margin&quot;:{&quot;bottom&quot;:0.026000002399086952,&quot;left&quot;:2.117000102996826,&quot;right&quot;:1.2699999809265137,&quot;top&quot;:0.4230000078678131},&quot;type&quot;:0},{&quot;id&quot;:&quot;2022-08-19T16:41:4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8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4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4&quot;,&quot;maxSize&quot;:{&quot;size1&quot;:22.2},&quot;minSize&quot;:{&quot;size1&quot;:13.5},&quot;normalSize&quot;:{&quot;size1&quot;:13.5},&quot;subLayout&quot;:[{&quot;id&quot;:&quot;2022-08-19T16:41:44&quot;,&quot;margin&quot;:{&quot;bottom&quot;:0.026000002399086952,&quot;left&quot;:2.117000102996826,&quot;right&quot;:1.2699999809265137,&quot;top&quot;:0.4230000078678131},&quot;type&quot;:0},{&quot;id&quot;:&quot;2022-08-19T16:41:4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45.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11*201"/>
  <p:tag name="TABLE_ENDDRAG_RECT" val="179*314*411*201"/>
</p:tagLst>
</file>

<file path=ppt/tags/tag8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8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4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5&quot;,&quot;maxSize&quot;:{&quot;size1&quot;:22.2},&quot;minSize&quot;:{&quot;size1&quot;:13.5},&quot;normalSize&quot;:{&quot;size1&quot;:13.5},&quot;subLayout&quot;:[{&quot;id&quot;:&quot;2022-08-19T16:41:45&quot;,&quot;margin&quot;:{&quot;bottom&quot;:0.026000002399086952,&quot;left&quot;:2.117000102996826,&quot;right&quot;:1.2699999809265137,&quot;top&quot;:0.4230000078678131},&quot;type&quot;:0},{&quot;id&quot;:&quot;2022-08-19T16:41:4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8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5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4&quot;,&quot;maxSize&quot;:{&quot;size1&quot;:22.2},&quot;minSize&quot;:{&quot;size1&quot;:13.5},&quot;normalSize&quot;:{&quot;size1&quot;:13.5},&quot;subLayout&quot;:[{&quot;id&quot;:&quot;2022-08-19T16:41:44&quot;,&quot;margin&quot;:{&quot;bottom&quot;:0.026000002399086952,&quot;left&quot;:2.117000102996826,&quot;right&quot;:1.2699999809265137,&quot;top&quot;:0.4230000078678131},&quot;type&quot;:0},{&quot;id&quot;:&quot;2022-08-19T16:41:4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55.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95*257"/>
  <p:tag name="TABLE_ENDDRAG_RECT" val="230*162*495*257"/>
</p:tagLst>
</file>

<file path=ppt/tags/tag8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8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5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5&quot;,&quot;maxSize&quot;:{&quot;size1&quot;:22.2},&quot;minSize&quot;:{&quot;size1&quot;:13.5},&quot;normalSize&quot;:{&quot;size1&quot;:13.5},&quot;subLayout&quot;:[{&quot;id&quot;:&quot;2022-08-19T16:41:45&quot;,&quot;margin&quot;:{&quot;bottom&quot;:0.026000002399086952,&quot;left&quot;:2.117000102996826,&quot;right&quot;:1.2699999809265137,&quot;top&quot;:0.4230000078678131},&quot;type&quot;:0},{&quot;id&quot;:&quot;2022-08-19T16:41:4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8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6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4&quot;,&quot;maxSize&quot;:{&quot;size1&quot;:22.2},&quot;minSize&quot;:{&quot;size1&quot;:13.5},&quot;normalSize&quot;:{&quot;size1&quot;:13.5},&quot;subLayout&quot;:[{&quot;id&quot;:&quot;2022-08-19T16:41:44&quot;,&quot;margin&quot;:{&quot;bottom&quot;:0.026000002399086952,&quot;left&quot;:2.117000102996826,&quot;right&quot;:1.2699999809265137,&quot;top&quot;:0.4230000078678131},&quot;type&quot;:0},{&quot;id&quot;:&quot;2022-08-19T16:41:4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6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4&quot;,&quot;maxSize&quot;:{&quot;size1&quot;:22.2},&quot;minSize&quot;:{&quot;size1&quot;:13.5},&quot;normalSize&quot;:{&quot;size1&quot;:13.5},&quot;subLayout&quot;:[{&quot;id&quot;:&quot;2022-08-19T16:41:44&quot;,&quot;margin&quot;:{&quot;bottom&quot;:0.026000002399086952,&quot;left&quot;:2.117000102996826,&quot;right&quot;:1.2699999809265137,&quot;top&quot;:0.4230000078678131},&quot;type&quot;:0},{&quot;id&quot;:&quot;2022-08-19T16:41:4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7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4&quot;,&quot;maxSize&quot;:{&quot;size1&quot;:22.2},&quot;minSize&quot;:{&quot;size1&quot;:13.5},&quot;normalSize&quot;:{&quot;size1&quot;:13.5},&quot;subLayout&quot;:[{&quot;id&quot;:&quot;2022-08-19T16:41:44&quot;,&quot;margin&quot;:{&quot;bottom&quot;:0.026000002399086952,&quot;left&quot;:2.117000102996826,&quot;right&quot;:1.2699999809265137,&quot;top&quot;:0.4230000078678131},&quot;type&quot;:0},{&quot;id&quot;:&quot;2022-08-19T16:41:4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874.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95*257"/>
  <p:tag name="TABLE_ENDDRAG_RECT" val="230*162*495*257"/>
</p:tagLst>
</file>

<file path=ppt/tags/tag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87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5&quot;,&quot;maxSize&quot;:{&quot;size1&quot;:22.2},&quot;minSize&quot;:{&quot;size1&quot;:13.5},&quot;normalSize&quot;:{&quot;size1&quot;:13.5},&quot;subLayout&quot;:[{&quot;id&quot;:&quot;2022-08-19T16:41:45&quot;,&quot;margin&quot;:{&quot;bottom&quot;:0.026000002399086952,&quot;left&quot;:2.117000102996826,&quot;right&quot;:1.2699999809265137,&quot;top&quot;:0.4230000078678131},&quot;type&quot;:0},{&quot;id&quot;:&quot;2022-08-19T16:41:4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8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6&quot;,&quot;maxSize&quot;:{&quot;size1&quot;:22.2},&quot;minSize&quot;:{&quot;size1&quot;:13.5},&quot;normalSize&quot;:{&quot;size1&quot;:13.5},&quot;subLayout&quot;:[{&quot;id&quot;:&quot;2022-08-19T16:41:46&quot;,&quot;margin&quot;:{&quot;bottom&quot;:0.026000002399086952,&quot;left&quot;:2.117000102996826,&quot;right&quot;:1.2699999809265137,&quot;top&quot;:0.4230000078678131},&quot;type&quot;:0},{&quot;id&quot;:&quot;2022-08-19T16:41: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8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8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6&quot;,&quot;maxSize&quot;:{&quot;size1&quot;:22.2},&quot;minSize&quot;:{&quot;size1&quot;:13.5},&quot;normalSize&quot;:{&quot;size1&quot;:13.5},&quot;subLayout&quot;:[{&quot;id&quot;:&quot;2022-08-19T16:41:46&quot;,&quot;margin&quot;:{&quot;bottom&quot;:0.026000002399086952,&quot;left&quot;:2.117000102996826,&quot;right&quot;:1.2699999809265137,&quot;top&quot;:0.4230000078678131},&quot;type&quot;:0},{&quot;id&quot;:&quot;2022-08-19T16:41: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89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6&quot;,&quot;maxSize&quot;:{&quot;size1&quot;:22.2},&quot;minSize&quot;:{&quot;size1&quot;:13.5},&quot;normalSize&quot;:{&quot;size1&quot;:13.5},&quot;subLayout&quot;:[{&quot;id&quot;:&quot;2022-08-19T16:41:46&quot;,&quot;margin&quot;:{&quot;bottom&quot;:0.026000002399086952,&quot;left&quot;:2.117000102996826,&quot;right&quot;:1.2699999809265137,&quot;top&quot;:0.4230000078678131},&quot;type&quot;:0},{&quot;id&quot;:&quot;2022-08-19T16:41: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89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89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9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9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9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8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9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9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90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6&quot;,&quot;maxSize&quot;:{&quot;size1&quot;:22.2},&quot;minSize&quot;:{&quot;size1&quot;:13.5},&quot;normalSize&quot;:{&quot;size1&quot;:13.5},&quot;subLayout&quot;:[{&quot;id&quot;:&quot;2022-08-19T16:41:46&quot;,&quot;margin&quot;:{&quot;bottom&quot;:0.026000002399086952,&quot;left&quot;:2.117000102996826,&quot;right&quot;:1.2699999809265137,&quot;top&quot;:0.4230000078678131},&quot;type&quot;:0},{&quot;id&quot;:&quot;2022-08-19T16:41: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903.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6_1*f*1"/>
  <p:tag name="KSO_WM_TEMPLATE_CATEGORY" val="diagram"/>
  <p:tag name="KSO_WM_TEMPLATE_INDEX" val="20212216"/>
  <p:tag name="KSO_WM_UNIT_LAYERLEVEL" val="1"/>
  <p:tag name="KSO_WM_TAG_VERSION" val="1.0"/>
  <p:tag name="KSO_WM_BEAUTIFY_FLAG" val="#wm#"/>
  <p:tag name="KSO_WM_UNIT_DEFAULT_FONT" val="14;20;2"/>
  <p:tag name="KSO_WM_UNIT_BLOCK" val="0"/>
  <p:tag name="KSO_WM_UNIT_VALUE" val="48"/>
  <p:tag name="KSO_WM_UNIT_SHOW_EDIT_AREA_INDICATION" val="1"/>
  <p:tag name="KSO_WM_CHIP_GROUPID" val="5e6b05596848fb12bee65ac8"/>
  <p:tag name="KSO_WM_CHIP_XID" val="5e6b05596848fb12bee65aca"/>
  <p:tag name="KSO_WM_UNIT_DEC_AREA_ID" val="376e916b5b3d4fbc9ce9859661497294"/>
  <p:tag name="KSO_WM_CHIP_FILLAREA_FILL_RULE" val="{&quot;fill_align&quot;:&quot;rt&quot;,&quot;fill_mode&quot;:&quot;full&quot;,&quot;sacle_strategy&quot;:&quot;smart&quot;}"/>
  <p:tag name="KSO_WM_ASSEMBLE_CHIP_INDEX" val="47b56d52fc444a088d45ede9823ea8ff"/>
  <p:tag name="KSO_WM_UNIT_SUPPORT_UNIT_TYPE" val="[&quot;d&quot;]"/>
  <p:tag name="KSO_WM_UNIT_TEXT_FILL_FORE_SCHEMECOLOR_INDEX_BRIGHTNESS" val="0.25"/>
  <p:tag name="KSO_WM_UNIT_TEXT_FILL_FORE_SCHEMECOLOR_INDEX" val="13"/>
  <p:tag name="KSO_WM_UNIT_TEXT_FILL_TYPE" val="1"/>
  <p:tag name="KSO_WM_TEMPLATE_ASSEMBLE_XID" val="60656f2e4054ed1e2fb80507"/>
  <p:tag name="KSO_WM_TEMPLATE_ASSEMBLE_GROUPID" val="60656f2e4054ed1e2fb80507"/>
</p:tagLst>
</file>

<file path=ppt/tags/tag904.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6_1*f*1"/>
  <p:tag name="KSO_WM_TEMPLATE_CATEGORY" val="diagram"/>
  <p:tag name="KSO_WM_TEMPLATE_INDEX" val="20212216"/>
  <p:tag name="KSO_WM_UNIT_LAYERLEVEL" val="1"/>
  <p:tag name="KSO_WM_TAG_VERSION" val="1.0"/>
  <p:tag name="KSO_WM_BEAUTIFY_FLAG" val="#wm#"/>
  <p:tag name="KSO_WM_UNIT_DEFAULT_FONT" val="14;20;2"/>
  <p:tag name="KSO_WM_UNIT_BLOCK" val="0"/>
  <p:tag name="KSO_WM_UNIT_VALUE" val="48"/>
  <p:tag name="KSO_WM_UNIT_SHOW_EDIT_AREA_INDICATION" val="1"/>
  <p:tag name="KSO_WM_CHIP_GROUPID" val="5e6b05596848fb12bee65ac8"/>
  <p:tag name="KSO_WM_CHIP_XID" val="5e6b05596848fb12bee65aca"/>
  <p:tag name="KSO_WM_UNIT_DEC_AREA_ID" val="376e916b5b3d4fbc9ce9859661497294"/>
  <p:tag name="KSO_WM_CHIP_FILLAREA_FILL_RULE" val="{&quot;fill_align&quot;:&quot;rt&quot;,&quot;fill_mode&quot;:&quot;full&quot;,&quot;sacle_strategy&quot;:&quot;smart&quot;}"/>
  <p:tag name="KSO_WM_ASSEMBLE_CHIP_INDEX" val="47b56d52fc444a088d45ede9823ea8ff"/>
  <p:tag name="KSO_WM_UNIT_SUPPORT_UNIT_TYPE" val="[&quot;d&quot;]"/>
  <p:tag name="KSO_WM_UNIT_TEXT_FILL_FORE_SCHEMECOLOR_INDEX_BRIGHTNESS" val="0.25"/>
  <p:tag name="KSO_WM_UNIT_TEXT_FILL_FORE_SCHEMECOLOR_INDEX" val="13"/>
  <p:tag name="KSO_WM_UNIT_TEXT_FILL_TYPE" val="1"/>
  <p:tag name="KSO_WM_TEMPLATE_ASSEMBLE_XID" val="60656f2e4054ed1e2fb80507"/>
  <p:tag name="KSO_WM_TEMPLATE_ASSEMBLE_GROUPID" val="60656f2e4054ed1e2fb80507"/>
</p:tagLst>
</file>

<file path=ppt/tags/tag9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9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90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6:41:47&quot;,&quot;maxSize&quot;:{&quot;size1&quot;:22.2},&quot;minSize&quot;:{&quot;size1&quot;:13.5},&quot;normalSize&quot;:{&quot;size1&quot;:13.5},&quot;subLayout&quot;:[{&quot;id&quot;:&quot;2022-08-19T16:41:47&quot;,&quot;margin&quot;:{&quot;bottom&quot;:0.026000002399086952,&quot;left&quot;:2.117000102996826,&quot;right&quot;:1.2699999809265137,&quot;top&quot;:0.4230000078678131},&quot;type&quot;:0},{&quot;id&quot;:&quot;2022-08-19T16:41:4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908.xml><?xml version="1.0" encoding="utf-8"?>
<p:tagLst xmlns:p="http://schemas.openxmlformats.org/presentationml/2006/main">
  <p:tag name="KSO_WM_BEAUTIFY_FLAG" val="#wm#"/>
  <p:tag name="KSO_WM_TEMPLATE_CATEGORY" val="diagram"/>
  <p:tag name="KSO_WM_TEMPLATE_INDEX" val="20220059"/>
</p:tagLst>
</file>

<file path=ppt/tags/tag909.xml><?xml version="1.0" encoding="utf-8"?>
<p:tagLst xmlns:p="http://schemas.openxmlformats.org/presentationml/2006/main">
  <p:tag name="COMMONDATA" val="eyJoZGlkIjoiYzgwYTliZDBhMzdlY2M5ZjlmY2FkNGNmZmJjMzljZWMifQ=="/>
  <p:tag name="KSO_WPP_MARK_KEY" val="6961211e-9eca-480d-bcef-9c391a93fffe"/>
  <p:tag name="commondata" val="eyJoZGlkIjoiZTJkYzVmOWY0NzgwODMzY2FkNTVkNTU3YmRlMTI0NzUifQ=="/>
</p:tagLst>
</file>

<file path=ppt/theme/theme1.xml><?xml version="1.0" encoding="utf-8"?>
<a:theme xmlns:a="http://schemas.openxmlformats.org/drawingml/2006/main" name="柏林">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博弈论</Template>
  <TotalTime>0</TotalTime>
  <Words>24684</Words>
  <Application>WPS 演示</Application>
  <PresentationFormat>宽屏</PresentationFormat>
  <Paragraphs>2700</Paragraphs>
  <Slides>140</Slides>
  <Notes>64</Notes>
  <HiddenSlides>0</HiddenSlides>
  <MMClips>0</MMClips>
  <ScaleCrop>false</ScaleCrop>
  <HeadingPairs>
    <vt:vector size="8" baseType="variant">
      <vt:variant>
        <vt:lpstr>已用的字体</vt:lpstr>
      </vt:variant>
      <vt:variant>
        <vt:i4>26</vt:i4>
      </vt:variant>
      <vt:variant>
        <vt:lpstr>主题</vt:lpstr>
      </vt:variant>
      <vt:variant>
        <vt:i4>2</vt:i4>
      </vt:variant>
      <vt:variant>
        <vt:lpstr>嵌入 OLE 服务器</vt:lpstr>
      </vt:variant>
      <vt:variant>
        <vt:i4>21</vt:i4>
      </vt:variant>
      <vt:variant>
        <vt:lpstr>幻灯片标题</vt:lpstr>
      </vt:variant>
      <vt:variant>
        <vt:i4>140</vt:i4>
      </vt:variant>
    </vt:vector>
  </HeadingPairs>
  <TitlesOfParts>
    <vt:vector size="189" baseType="lpstr">
      <vt:lpstr>Arial</vt:lpstr>
      <vt:lpstr>宋体</vt:lpstr>
      <vt:lpstr>Wingdings</vt:lpstr>
      <vt:lpstr>隶书</vt:lpstr>
      <vt:lpstr>华文彩云</vt:lpstr>
      <vt:lpstr>Wide Latin</vt:lpstr>
      <vt:lpstr>微软雅黑</vt:lpstr>
      <vt:lpstr>华文新魏</vt:lpstr>
      <vt:lpstr>华文行楷</vt:lpstr>
      <vt:lpstr>YouSheBiaoTiHei</vt:lpstr>
      <vt:lpstr>Segoe Print</vt:lpstr>
      <vt:lpstr>华文中宋</vt:lpstr>
      <vt:lpstr>Wingdings</vt:lpstr>
      <vt:lpstr>Verdana</vt:lpstr>
      <vt:lpstr>Times New Roman</vt:lpstr>
      <vt:lpstr>Segoe UI</vt:lpstr>
      <vt:lpstr>Arial Unicode MS</vt:lpstr>
      <vt:lpstr>Calibri</vt:lpstr>
      <vt:lpstr>华文楷体</vt:lpstr>
      <vt:lpstr>楷体_GB2312</vt:lpstr>
      <vt:lpstr>新宋体</vt:lpstr>
      <vt:lpstr>黑体</vt:lpstr>
      <vt:lpstr>Cambria Math</vt:lpstr>
      <vt:lpstr>MS Mincho</vt:lpstr>
      <vt:lpstr>Tahoma</vt:lpstr>
      <vt:lpstr>Calibri Light</vt:lpstr>
      <vt:lpstr>柏林</vt:lpstr>
      <vt:lpstr>1_Office 主题​​</vt:lpstr>
      <vt:lpstr>Equation.KSEE3</vt:lpstr>
      <vt:lpstr>Equation.KSEE3</vt:lpstr>
      <vt:lpstr>Equation.KSEE3</vt:lpstr>
      <vt:lpstr>Equation.KSEE3</vt:lpstr>
      <vt:lpstr>Equation.KSEE3</vt:lpstr>
      <vt:lpstr>Equation.3</vt:lpstr>
      <vt:lpstr>Equation.DSMT4</vt:lpstr>
      <vt:lpstr>Equation.DSMT4</vt:lpstr>
      <vt:lpstr>Equation.3</vt:lpstr>
      <vt:lpstr>Equation.3</vt:lpstr>
      <vt:lpstr>Equation.DSMT4</vt:lpstr>
      <vt:lpstr>Equation.KSEE3</vt:lpstr>
      <vt:lpstr>Equation.3</vt:lpstr>
      <vt:lpstr>Equation.3</vt:lpstr>
      <vt:lpstr>Equation.KSEE3</vt:lpstr>
      <vt:lpstr>Equation.KSEE3</vt:lpstr>
      <vt:lpstr>Equation.KSEE3</vt:lpstr>
      <vt:lpstr>Equation.KSEE3</vt:lpstr>
      <vt:lpstr>Equation.KSEE3</vt:lpstr>
      <vt:lpstr>Equation.KSEE3</vt:lpstr>
      <vt:lpstr>Equation.KSEE3</vt:lpstr>
      <vt:lpstr>PowerPoint 演示文稿</vt:lpstr>
      <vt:lpstr>第三讲：完全信息静态博弈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博弈论</dc:title>
  <dc:creator>anning</dc:creator>
  <cp:lastModifiedBy>夢晨</cp:lastModifiedBy>
  <cp:revision>861</cp:revision>
  <dcterms:created xsi:type="dcterms:W3CDTF">2017-06-10T23:29:00Z</dcterms:created>
  <dcterms:modified xsi:type="dcterms:W3CDTF">2026-03-11T11:41:49Z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ADEDB376821C4EDFA9C7C6A4C34D9F16</vt:lpwstr>
  </property>
  <property fmtid="{D5CDD505-2E9C-101B-9397-08002B2CF9AE}" pid="3" name="KSOProductBuildVer">
    <vt:lpwstr>2052-12.1.0.25225</vt:lpwstr>
  </property>
</Properties>
</file>