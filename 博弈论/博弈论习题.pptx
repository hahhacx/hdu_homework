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8" r:id="rId3"/>
    <p:sldId id="270" r:id="rId4"/>
    <p:sldId id="269" r:id="rId5"/>
    <p:sldId id="271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-26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4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7B8E60A-B46B-4F90-B2BE-60A8C5A25F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28A70ED0-B1BC-4A38-A4AB-3404C61C25D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习题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1"/>
          </p:nvPr>
        </p:nvSpPr>
        <p:spPr>
          <a:xfrm>
            <a:off x="899160" y="1412240"/>
            <a:ext cx="7772400" cy="4572000"/>
          </a:xfrm>
        </p:spPr>
        <p:txBody>
          <a:bodyPr>
            <a:normAutofit/>
          </a:bodyPr>
          <a:lstStyle/>
          <a:p>
            <a:pPr algn="just"/>
            <a:r>
              <a:rPr 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采用得益等值法求下列博弈的混合策略纳什均衡</a:t>
            </a:r>
            <a:r>
              <a:rPr lang="zh-CN" altLang="zh-CN" sz="240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。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endParaRPr lang="zh-CN" altLang="en-US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40535" y="2852420"/>
          <a:ext cx="5728970" cy="252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8755"/>
                <a:gridCol w="1402715"/>
                <a:gridCol w="1463675"/>
                <a:gridCol w="1393825"/>
              </a:tblGrid>
              <a:tr h="6324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9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9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p>
                      <a:pPr marR="0" lvl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博弈方</a:t>
                      </a:r>
                      <a:r>
                        <a:rPr lang="en-US" altLang="zh-CN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endParaRPr lang="en-US" altLang="zh-CN" sz="20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32460"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9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19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L</a:t>
                      </a:r>
                      <a:endParaRPr lang="en-US" altLang="zh-CN" sz="20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577CCE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endParaRPr lang="en-US" altLang="zh-CN" sz="20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577CCE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32460">
                <a:tc rowSpan="2"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博弈方</a:t>
                      </a:r>
                      <a:r>
                        <a:rPr lang="en-US" altLang="zh-CN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endParaRPr lang="en-US" altLang="zh-CN" sz="20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</a:t>
                      </a:r>
                      <a:endParaRPr lang="en-US" altLang="zh-CN" sz="20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 w="9525">
                      <a:solidFill>
                        <a:srgbClr val="577CCE"/>
                      </a:solidFill>
                      <a:prstDash val="sysDash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577CCE"/>
                      </a:solidFill>
                      <a:prstDash val="sysDash"/>
                    </a:lnL>
                    <a:lnR w="9525">
                      <a:solidFill>
                        <a:srgbClr val="577CCE"/>
                      </a:solidFill>
                      <a:prstDash val="sysDash"/>
                    </a:lnR>
                    <a:lnT w="9525">
                      <a:solidFill>
                        <a:srgbClr val="577CCE"/>
                      </a:solidFill>
                      <a:prstDash val="sysDash"/>
                    </a:lnT>
                    <a:lnB w="9525">
                      <a:solidFill>
                        <a:srgbClr val="577CCE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altLang="en-US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577CCE"/>
                      </a:solidFill>
                      <a:prstDash val="sysDash"/>
                    </a:lnL>
                    <a:lnR w="9525">
                      <a:solidFill>
                        <a:srgbClr val="577CCE"/>
                      </a:solidFill>
                      <a:prstDash val="sysDash"/>
                    </a:lnR>
                    <a:lnT w="9525">
                      <a:solidFill>
                        <a:srgbClr val="577CCE"/>
                      </a:solidFill>
                      <a:prstDash val="sysDash"/>
                    </a:lnT>
                    <a:lnB w="9525">
                      <a:solidFill>
                        <a:srgbClr val="577CCE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  <a:tr h="632460">
                <a:tc vMerge="1">
                  <a:tcPr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marR="0" lvl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000" b="1" spc="130">
                          <a:solidFill>
                            <a:srgbClr val="577C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endParaRPr lang="en-US" altLang="zh-CN" sz="2000" b="1" spc="130">
                        <a:solidFill>
                          <a:srgbClr val="577CC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>
                    <a:lnL>
                      <a:noFill/>
                    </a:lnL>
                    <a:lnR w="9525">
                      <a:solidFill>
                        <a:srgbClr val="577CCE"/>
                      </a:solidFill>
                      <a:prstDash val="sysDash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altLang="en-US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577CCE"/>
                      </a:solidFill>
                      <a:prstDash val="sysDash"/>
                    </a:lnL>
                    <a:lnR w="9525">
                      <a:solidFill>
                        <a:srgbClr val="577CCE"/>
                      </a:solidFill>
                      <a:prstDash val="sysDash"/>
                    </a:lnR>
                    <a:lnT w="9525">
                      <a:solidFill>
                        <a:srgbClr val="577CCE"/>
                      </a:solidFill>
                      <a:prstDash val="sysDash"/>
                    </a:lnT>
                    <a:lnB w="9525">
                      <a:solidFill>
                        <a:srgbClr val="577CCE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altLang="en-US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800" b="0" spc="13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 b="0" spc="13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215900" marR="215900" marT="133350" marB="133350" anchor="ctr">
                    <a:lnL w="9525">
                      <a:solidFill>
                        <a:srgbClr val="577CCE"/>
                      </a:solidFill>
                      <a:prstDash val="sysDash"/>
                    </a:lnL>
                    <a:lnR w="9525">
                      <a:solidFill>
                        <a:srgbClr val="577CCE"/>
                      </a:solidFill>
                      <a:prstDash val="sysDash"/>
                    </a:lnR>
                    <a:lnT w="9525">
                      <a:solidFill>
                        <a:srgbClr val="577CCE"/>
                      </a:solidFill>
                      <a:prstDash val="sysDash"/>
                    </a:lnT>
                    <a:lnB w="9525">
                      <a:solidFill>
                        <a:srgbClr val="577CCE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p>
            <a:pPr algn="just"/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假设一四阶段两博弈方之间的动态博弈如下图所示：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/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（1）找出全部子博弈（画图表示）。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just"/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（2）求子博弈完美纳什均衡策略组合和博弈的结果。</a:t>
            </a:r>
            <a:endParaRPr 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习题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34" descr="计算题2图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627630" y="2996565"/>
            <a:ext cx="3844925" cy="36950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习题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2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两个寡头厂商进行价格竞争博弈，厂商1的利润函数是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π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-(p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-ap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+c)</a:t>
            </a:r>
            <a:r>
              <a:rPr lang="en-US" altLang="zh-CN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厂商2的利润函数是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π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= -(p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en-US" altLang="zh-CN" baseline="30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+2p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其中，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是厂商1的价格，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en-US" altLang="zh-CN" baseline="-25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是厂商2的价格，求：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）</a:t>
            </a: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厂商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1</a:t>
            </a: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先决策的子博弈完美纳什均衡</a:t>
            </a:r>
            <a:r>
              <a:rPr lang="zh-CN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；</a:t>
            </a:r>
            <a:endParaRPr lang="zh-CN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）厂商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2</a:t>
            </a: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先决策的子博弈完美纳什均衡</a:t>
            </a:r>
            <a:r>
              <a:rPr lang="zh-CN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。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/>
            <a:endParaRPr lang="zh-CN" altLang="en-US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ClrTx/>
              <a:buSzTx/>
              <a:buFontTx/>
            </a:pPr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习题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endParaRPr lang="en-US" altLang="zh-CN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2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根据下列囚徒困境的得益矩阵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zh-CN" altLang="en-US" dirty="0" smtClea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fontAlgn="auto">
              <a:lnSpc>
                <a:spcPct val="150000"/>
              </a:lnSpc>
              <a:spcBef>
                <a:spcPts val="580"/>
              </a:spcBef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进行无穷次重复博弈，当贴现因子δ至少为何值时，冷酷策略（①开始选择抵赖；②选择抵赖直到一方选择了坦白，然后永远选择坦白）使（抵赖，抵赖）成为子博弈完美纳什均衡？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buNone/>
            </a:pP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2771775" y="2204720"/>
          <a:ext cx="3738880" cy="1226820"/>
        </p:xfrm>
        <a:graphic>
          <a:graphicData uri="http://schemas.openxmlformats.org/drawingml/2006/table">
            <a:tbl>
              <a:tblPr/>
              <a:tblGrid>
                <a:gridCol w="934720"/>
                <a:gridCol w="934720"/>
                <a:gridCol w="934720"/>
                <a:gridCol w="934720"/>
              </a:tblGrid>
              <a:tr h="306705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 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8CAC1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 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8CAC1"/>
                    </a:solidFill>
                  </a:tcPr>
                </a:tc>
                <a:tc gridSpan="2"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囚徒乙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8CAC1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06705"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 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8CAC1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 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坦白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抵赖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</a:tr>
              <a:tr h="306705">
                <a:tc rowSpan="2"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囚徒甲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8CAC1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坦白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6F4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7</a:t>
                      </a: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7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6F4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11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7F6F4"/>
                    </a:solidFill>
                  </a:tcPr>
                </a:tc>
              </a:tr>
              <a:tr h="306705">
                <a:tc vMerge="1">
                  <a:tcPr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抵赖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-1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0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9525" marB="0" anchor="t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CECE9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032000" y="3507422"/>
            <a:ext cx="5080000" cy="645160"/>
          </a:xfrm>
          <a:prstGeom prst="rect">
            <a:avLst/>
          </a:prstGeom>
        </p:spPr>
        <p:txBody>
          <a:bodyPr>
            <a:spAutoFit/>
          </a:bodyPr>
          <a:p>
            <a:endParaRPr lang="en-US" altLang="zh-CN"/>
          </a:p>
          <a:p>
            <a:pPr marL="0" indent="267970" algn="just" defTabSz="266700">
              <a:spcBef>
                <a:spcPct val="0"/>
              </a:spcBef>
              <a:spcAft>
                <a:spcPct val="0"/>
              </a:spcAft>
            </a:pP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TYPE" val="β"/>
  <p:tag name="TABLE_SKINIDX" val="2"/>
  <p:tag name="TABLE_COLORIDX" val="c"/>
  <p:tag name="KSO_WM_UNIT_TABLE_BEAUTIFY" val="smartTable{691393da-e646-4aa0-924f-2f488dc33554}"/>
  <p:tag name="TABLE_ENDDRAG_ORIGIN_RECT" val="432*166"/>
  <p:tag name="TABLE_ENDDRAG_RECT" val="201*122*432*166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1b338ece-b24b-4aab-bd51-bd98f9be01a4"/>
  <p:tag name="COMMONDATA" val="eyJoZGlkIjoiYzgwYTliZDBhMzdlY2M5ZjlmY2FkNGNmZmJjMzljZWMifQ=="/>
  <p:tag name="commondata" val="eyJoZGlkIjoiZTJkYzVmOWY0NzgwODMzY2FkNTVkNTU3YmRlMTI0NzU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404</Words>
  <Application>WPS 演示</Application>
  <PresentationFormat>全屏显示(4:3)</PresentationFormat>
  <Paragraphs>87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Wingdings 2</vt:lpstr>
      <vt:lpstr>微软雅黑</vt:lpstr>
      <vt:lpstr>Times New Roman</vt:lpstr>
      <vt:lpstr>Times New Roman</vt:lpstr>
      <vt:lpstr>Perpetua</vt:lpstr>
      <vt:lpstr>Arial Unicode MS</vt:lpstr>
      <vt:lpstr>幼圆</vt:lpstr>
      <vt:lpstr>Franklin Gothic Book</vt:lpstr>
      <vt:lpstr>Calibri</vt:lpstr>
      <vt:lpstr>平衡</vt:lpstr>
      <vt:lpstr>习题3</vt:lpstr>
      <vt:lpstr>习题4</vt:lpstr>
      <vt:lpstr>习题5</vt:lpstr>
      <vt:lpstr>习题6</vt:lpstr>
    </vt:vector>
  </TitlesOfParts>
  <Company>MSPRC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博弈论复习</dc:title>
  <dc:creator>Administrator</dc:creator>
  <cp:lastModifiedBy>夢晨</cp:lastModifiedBy>
  <cp:revision>67</cp:revision>
  <dcterms:created xsi:type="dcterms:W3CDTF">2017-12-26T02:49:00Z</dcterms:created>
  <dcterms:modified xsi:type="dcterms:W3CDTF">2026-06-03T12:17:30Z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0508227E80014F9A94846654CE4A8DC1</vt:lpwstr>
  </property>
  <property fmtid="{D5CDD505-2E9C-101B-9397-08002B2CF9AE}" pid="3" name="KSOProductBuildVer">
    <vt:lpwstr>2052-12.1.0.26375</vt:lpwstr>
  </property>
</Properties>
</file>