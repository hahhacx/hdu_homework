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wmv" ContentType="video/x-ms-wmv"/>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6" r:id="rId3"/>
  </p:sldMasterIdLst>
  <p:notesMasterIdLst>
    <p:notesMasterId r:id="rId5"/>
  </p:notesMasterIdLst>
  <p:sldIdLst>
    <p:sldId id="353" r:id="rId4"/>
    <p:sldId id="354" r:id="rId6"/>
    <p:sldId id="384" r:id="rId7"/>
    <p:sldId id="325" r:id="rId8"/>
    <p:sldId id="385" r:id="rId9"/>
    <p:sldId id="415" r:id="rId10"/>
    <p:sldId id="416" r:id="rId11"/>
    <p:sldId id="326" r:id="rId12"/>
    <p:sldId id="446" r:id="rId13"/>
    <p:sldId id="417" r:id="rId14"/>
    <p:sldId id="447" r:id="rId15"/>
    <p:sldId id="327" r:id="rId16"/>
    <p:sldId id="476" r:id="rId17"/>
    <p:sldId id="328" r:id="rId18"/>
    <p:sldId id="329" r:id="rId19"/>
    <p:sldId id="477" r:id="rId20"/>
    <p:sldId id="478" r:id="rId21"/>
    <p:sldId id="479" r:id="rId22"/>
    <p:sldId id="330" r:id="rId23"/>
    <p:sldId id="480" r:id="rId24"/>
    <p:sldId id="331" r:id="rId25"/>
    <p:sldId id="332" r:id="rId26"/>
    <p:sldId id="333" r:id="rId27"/>
    <p:sldId id="334" r:id="rId28"/>
    <p:sldId id="335" r:id="rId29"/>
    <p:sldId id="336" r:id="rId30"/>
    <p:sldId id="337" r:id="rId31"/>
    <p:sldId id="338" r:id="rId32"/>
    <p:sldId id="507" r:id="rId33"/>
    <p:sldId id="339" r:id="rId34"/>
    <p:sldId id="508" r:id="rId35"/>
    <p:sldId id="509" r:id="rId36"/>
    <p:sldId id="340" r:id="rId37"/>
    <p:sldId id="342" r:id="rId38"/>
    <p:sldId id="524" r:id="rId39"/>
    <p:sldId id="343" r:id="rId40"/>
    <p:sldId id="344" r:id="rId41"/>
    <p:sldId id="345" r:id="rId42"/>
    <p:sldId id="346" r:id="rId43"/>
    <p:sldId id="525" r:id="rId44"/>
    <p:sldId id="347" r:id="rId45"/>
    <p:sldId id="348" r:id="rId46"/>
    <p:sldId id="349" r:id="rId47"/>
    <p:sldId id="350" r:id="rId48"/>
    <p:sldId id="526" r:id="rId49"/>
    <p:sldId id="351" r:id="rId50"/>
    <p:sldId id="538" r:id="rId51"/>
    <p:sldId id="539" r:id="rId52"/>
    <p:sldId id="352" r:id="rId53"/>
    <p:sldId id="540" r:id="rId54"/>
    <p:sldId id="355" r:id="rId55"/>
  </p:sldIdLst>
  <p:sldSz cx="12192000" cy="6858000"/>
  <p:notesSz cx="6858000" cy="9144000"/>
  <p:custDataLst>
    <p:tags r:id="rId6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683" userDrawn="1">
          <p15:clr>
            <a:srgbClr val="A4A3A4"/>
          </p15:clr>
        </p15:guide>
        <p15:guide id="2" pos="393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 id="3" name="Administrator" initials="A"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3214"/>
    <a:srgbClr val="D778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howGuides="1">
      <p:cViewPr varScale="1">
        <p:scale>
          <a:sx n="67" d="100"/>
          <a:sy n="67" d="100"/>
        </p:scale>
        <p:origin x="644" y="44"/>
      </p:cViewPr>
      <p:guideLst>
        <p:guide orient="horz" pos="2683"/>
        <p:guide pos="39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0" Type="http://schemas.openxmlformats.org/officeDocument/2006/relationships/tags" Target="tags/tag493.xml"/><Relationship Id="rId6" Type="http://schemas.openxmlformats.org/officeDocument/2006/relationships/slide" Target="slides/slide2.xml"/><Relationship Id="rId59" Type="http://schemas.openxmlformats.org/officeDocument/2006/relationships/commentAuthors" Target="commentAuthors.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gn="just">
              <a:buNone/>
            </a:pP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nSpc>
                <a:spcPct val="120000"/>
              </a:lnSpc>
              <a:buNone/>
            </a:pP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nSpc>
                <a:spcPct val="110000"/>
              </a:lnSpc>
              <a:buNone/>
            </a:pP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nSpc>
                <a:spcPct val="110000"/>
              </a:lnSpc>
              <a:buNone/>
            </a:pP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nSpc>
                <a:spcPct val="120000"/>
              </a:lnSpc>
              <a:buNone/>
            </a:pP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nSpc>
                <a:spcPct val="110000"/>
              </a:lnSpc>
              <a:buNone/>
            </a:pP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lvl="1" indent="0" algn="l" fontAlgn="auto">
              <a:lnSpc>
                <a:spcPct val="120000"/>
              </a:lnSpc>
              <a:spcBef>
                <a:spcPts val="0"/>
              </a:spcBef>
              <a:spcAft>
                <a:spcPts val="800"/>
              </a:spcAft>
              <a:buSzPct val="100000"/>
              <a:buFont typeface="Arial" panose="020B0604020202020204" pitchFamily="34" charset="0"/>
              <a:buNone/>
            </a:pPr>
            <a:endParaRPr lang="zh-CN" altLang="en-US" spc="100" dirty="0">
              <a:ln w="3175">
                <a:noFill/>
                <a:prstDash val="dash"/>
              </a:ln>
              <a:solidFill>
                <a:srgbClr val="FF99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20000"/>
              </a:lnSpc>
              <a:buNone/>
            </a:pP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nSpc>
                <a:spcPct val="120000"/>
              </a:lnSpc>
              <a:buNone/>
            </a:pP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nSpc>
                <a:spcPct val="120000"/>
              </a:lnSpc>
              <a:buNone/>
            </a:pP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pPr>
              <a:lnSpc>
                <a:spcPct val="120000"/>
              </a:lnSpc>
              <a:buNone/>
            </a:pP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image" Target="../media/image4.GIF"/><Relationship Id="rId6" Type="http://schemas.openxmlformats.org/officeDocument/2006/relationships/image" Target="../media/image3.png"/><Relationship Id="rId5" Type="http://schemas.microsoft.com/office/2007/relationships/media" Target="../media/media1.wmv"/><Relationship Id="rId4" Type="http://schemas.openxmlformats.org/officeDocument/2006/relationships/video" Target="../media/media1.wmv"/><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5.GIF"/><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Picture 7"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userDrawn="1"/>
        </p:nvSpPr>
        <p:spPr>
          <a:xfrm>
            <a:off x="4151784" y="2590078"/>
            <a:ext cx="4816301" cy="1660332"/>
          </a:xfrm>
          <a:prstGeom prst="rect">
            <a:avLst/>
          </a:prstGeom>
          <a:solidFill>
            <a:schemeClr val="bg1">
              <a:lumMod val="85000"/>
              <a:lumOff val="15000"/>
            </a:schemeClr>
          </a:solidFill>
          <a:ln>
            <a:no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295800" y="2733709"/>
            <a:ext cx="4528656" cy="1373070"/>
          </a:xfrm>
        </p:spPr>
        <p:txBody>
          <a:bodyPr anchor="b">
            <a:noAutofit/>
          </a:bodyPr>
          <a:lstStyle>
            <a:lvl1pPr algn="r">
              <a:defRPr sz="4000">
                <a:latin typeface="隶书" panose="02010509060101010101" pitchFamily="49" charset="-122"/>
                <a:ea typeface="隶书" panose="02010509060101010101" pitchFamily="49" charset="-122"/>
              </a:defRPr>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4295800" y="4394039"/>
            <a:ext cx="4528656" cy="1117687"/>
          </a:xfrm>
        </p:spPr>
        <p:txBody>
          <a:bodyPr>
            <a:normAutofit/>
          </a:bodyPr>
          <a:lstStyle>
            <a:lvl1pPr marL="0" indent="0" algn="r">
              <a:buNone/>
              <a:defRPr sz="2800">
                <a:latin typeface="华文彩云" panose="02010800040101010101" pitchFamily="2" charset="-122"/>
                <a:ea typeface="华文彩云" panose="0201080004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a:xfrm>
            <a:off x="2708691" y="6196856"/>
            <a:ext cx="2743200" cy="365125"/>
          </a:xfrm>
        </p:spPr>
        <p:txBody>
          <a:bodyPr/>
          <a:lstStyle>
            <a:lvl1pPr>
              <a:defRPr sz="1400">
                <a:latin typeface="Wide Latin" panose="020A0A07050505020404" pitchFamily="18" charset="0"/>
              </a:defRPr>
            </a:lvl1pPr>
          </a:lstStyle>
          <a:p>
            <a:fld id="{78ABE3C1-DBE1-495D-B57B-2849774B866A}" type="datetimeFigureOut">
              <a:rPr lang="en-US" smtClean="0"/>
            </a:fld>
            <a:endParaRPr lang="en-US" dirty="0"/>
          </a:p>
        </p:txBody>
      </p:sp>
      <p:sp>
        <p:nvSpPr>
          <p:cNvPr id="17" name="Arc 7"/>
          <p:cNvSpPr/>
          <p:nvPr userDrawn="1"/>
        </p:nvSpPr>
        <p:spPr>
          <a:xfrm>
            <a:off x="-5064224" y="548680"/>
            <a:ext cx="9144000" cy="6172200"/>
          </a:xfrm>
          <a:prstGeom prst="arc">
            <a:avLst>
              <a:gd name="adj1" fmla="val 16769945"/>
              <a:gd name="adj2" fmla="val 4842458"/>
            </a:avLst>
          </a:prstGeom>
          <a:noFill/>
          <a:ln w="25400">
            <a:solidFill>
              <a:schemeClr val="tx1">
                <a:alpha val="50196"/>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8" name="Gears_720x720 (seamless loop)_v3.wmv">
            <a:hlinkClick r:id="" action="ppaction://media"/>
          </p:cNvPr>
          <p:cNvPicPr>
            <a:picLocks noChangeAspect="1"/>
          </p:cNvPicPr>
          <p:nvPr userDrawn="1">
            <a:videoFile r:link="rId4"/>
            <p:extLst>
              <p:ext uri="{DAA4B4D4-6D71-4841-9C94-3DE7FCFB9230}">
                <p14:media xmlns:p14="http://schemas.microsoft.com/office/powerpoint/2010/main" r:embed="rId5"/>
              </p:ext>
            </p:extLst>
          </p:nvPr>
        </p:nvPicPr>
        <p:blipFill>
          <a:blip r:embed="rId6" cstate="print"/>
          <a:stretch>
            <a:fillRect/>
          </a:stretch>
        </p:blipFill>
        <p:spPr>
          <a:xfrm>
            <a:off x="-3139440" y="0"/>
            <a:ext cx="6858000" cy="6858000"/>
          </a:xfrm>
          <a:prstGeom prst="chord">
            <a:avLst>
              <a:gd name="adj1" fmla="val 15899861"/>
              <a:gd name="adj2" fmla="val 5700170"/>
            </a:avLst>
          </a:prstGeom>
          <a:effectLst>
            <a:outerShdw blurRad="254000" dist="38100" algn="l" rotWithShape="0">
              <a:schemeClr val="tx1">
                <a:alpha val="86000"/>
              </a:schemeClr>
            </a:outerShdw>
          </a:effectLst>
          <a:scene3d>
            <a:camera prst="orthographicFront"/>
            <a:lightRig rig="threePt" dir="t"/>
          </a:scene3d>
          <a:sp3d>
            <a:bevelT/>
          </a:sp3d>
        </p:spPr>
      </p:pic>
      <p:sp>
        <p:nvSpPr>
          <p:cNvPr id="19" name="Arc 8"/>
          <p:cNvSpPr/>
          <p:nvPr userDrawn="1"/>
        </p:nvSpPr>
        <p:spPr>
          <a:xfrm>
            <a:off x="-5801139" y="45720"/>
            <a:ext cx="8686800" cy="6400800"/>
          </a:xfrm>
          <a:prstGeom prst="arc">
            <a:avLst>
              <a:gd name="adj1" fmla="val 16200000"/>
              <a:gd name="adj2" fmla="val 5392005"/>
            </a:avLst>
          </a:prstGeom>
          <a:noFill/>
          <a:ln w="57150">
            <a:gradFill flip="none" rotWithShape="1">
              <a:gsLst>
                <a:gs pos="0">
                  <a:schemeClr val="tx2">
                    <a:lumMod val="20000"/>
                    <a:lumOff val="80000"/>
                    <a:alpha val="30000"/>
                  </a:schemeClr>
                </a:gs>
                <a:gs pos="100000">
                  <a:schemeClr val="accent5">
                    <a:lumMod val="20000"/>
                    <a:lumOff val="80000"/>
                    <a:alpha val="10000"/>
                  </a:schemeClr>
                </a:gs>
              </a:gsLst>
              <a:lin ang="54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20" name="图片 19"/>
          <p:cNvPicPr>
            <a:picLocks noChangeAspect="1"/>
          </p:cNvPicPr>
          <p:nvPr userDrawn="1"/>
        </p:nvPicPr>
        <p:blipFill>
          <a:blip r:embed="rId7"/>
          <a:stretch>
            <a:fillRect/>
          </a:stretch>
        </p:blipFill>
        <p:spPr>
          <a:xfrm>
            <a:off x="10920536" y="5577880"/>
            <a:ext cx="1143000" cy="1143000"/>
          </a:xfrm>
          <a:prstGeom prst="rect">
            <a:avLst/>
          </a:prstGeom>
          <a:scene3d>
            <a:camera prst="orthographicFront"/>
            <a:lightRig rig="threePt" dir="t"/>
          </a:scene3d>
          <a:sp3d>
            <a:bevelT/>
          </a:sp3d>
        </p:spPr>
      </p:pic>
      <p:grpSp>
        <p:nvGrpSpPr>
          <p:cNvPr id="21" name="Group 174"/>
          <p:cNvGrpSpPr/>
          <p:nvPr userDrawn="1"/>
        </p:nvGrpSpPr>
        <p:grpSpPr>
          <a:xfrm>
            <a:off x="9255345" y="2689662"/>
            <a:ext cx="1521175" cy="1461163"/>
            <a:chOff x="3689350" y="2546350"/>
            <a:chExt cx="1765300" cy="1765300"/>
          </a:xfrm>
          <a:scene3d>
            <a:camera prst="orthographicFront">
              <a:rot lat="0" lon="0" rev="0"/>
            </a:camera>
            <a:lightRig rig="chilly" dir="t">
              <a:rot lat="0" lon="0" rev="18480000"/>
            </a:lightRig>
          </a:scene3d>
        </p:grpSpPr>
        <p:sp>
          <p:nvSpPr>
            <p:cNvPr id="22" name="Freeform 119"/>
            <p:cNvSpPr/>
            <p:nvPr/>
          </p:nvSpPr>
          <p:spPr bwMode="auto">
            <a:xfrm>
              <a:off x="3689350" y="2546350"/>
              <a:ext cx="1765300" cy="1765300"/>
            </a:xfrm>
            <a:custGeom>
              <a:avLst/>
              <a:gdLst/>
              <a:ahLst/>
              <a:cxnLst>
                <a:cxn ang="0">
                  <a:pos x="1112" y="584"/>
                </a:cxn>
                <a:cxn ang="0">
                  <a:pos x="1102" y="668"/>
                </a:cxn>
                <a:cxn ang="0">
                  <a:pos x="1078" y="748"/>
                </a:cxn>
                <a:cxn ang="0">
                  <a:pos x="1046" y="822"/>
                </a:cxn>
                <a:cxn ang="0">
                  <a:pos x="1002" y="890"/>
                </a:cxn>
                <a:cxn ang="0">
                  <a:pos x="950" y="950"/>
                </a:cxn>
                <a:cxn ang="0">
                  <a:pos x="890" y="1002"/>
                </a:cxn>
                <a:cxn ang="0">
                  <a:pos x="822" y="1046"/>
                </a:cxn>
                <a:cxn ang="0">
                  <a:pos x="748" y="1078"/>
                </a:cxn>
                <a:cxn ang="0">
                  <a:pos x="668" y="1102"/>
                </a:cxn>
                <a:cxn ang="0">
                  <a:pos x="584" y="1112"/>
                </a:cxn>
                <a:cxn ang="0">
                  <a:pos x="528" y="1112"/>
                </a:cxn>
                <a:cxn ang="0">
                  <a:pos x="444" y="1102"/>
                </a:cxn>
                <a:cxn ang="0">
                  <a:pos x="364" y="1078"/>
                </a:cxn>
                <a:cxn ang="0">
                  <a:pos x="290" y="1046"/>
                </a:cxn>
                <a:cxn ang="0">
                  <a:pos x="222" y="1002"/>
                </a:cxn>
                <a:cxn ang="0">
                  <a:pos x="162" y="950"/>
                </a:cxn>
                <a:cxn ang="0">
                  <a:pos x="110" y="890"/>
                </a:cxn>
                <a:cxn ang="0">
                  <a:pos x="66" y="822"/>
                </a:cxn>
                <a:cxn ang="0">
                  <a:pos x="34" y="748"/>
                </a:cxn>
                <a:cxn ang="0">
                  <a:pos x="10" y="668"/>
                </a:cxn>
                <a:cxn ang="0">
                  <a:pos x="0" y="584"/>
                </a:cxn>
                <a:cxn ang="0">
                  <a:pos x="0" y="528"/>
                </a:cxn>
                <a:cxn ang="0">
                  <a:pos x="10" y="444"/>
                </a:cxn>
                <a:cxn ang="0">
                  <a:pos x="34" y="364"/>
                </a:cxn>
                <a:cxn ang="0">
                  <a:pos x="66" y="290"/>
                </a:cxn>
                <a:cxn ang="0">
                  <a:pos x="110" y="222"/>
                </a:cxn>
                <a:cxn ang="0">
                  <a:pos x="162" y="162"/>
                </a:cxn>
                <a:cxn ang="0">
                  <a:pos x="222" y="110"/>
                </a:cxn>
                <a:cxn ang="0">
                  <a:pos x="290" y="66"/>
                </a:cxn>
                <a:cxn ang="0">
                  <a:pos x="364" y="34"/>
                </a:cxn>
                <a:cxn ang="0">
                  <a:pos x="444" y="10"/>
                </a:cxn>
                <a:cxn ang="0">
                  <a:pos x="528" y="0"/>
                </a:cxn>
                <a:cxn ang="0">
                  <a:pos x="584" y="0"/>
                </a:cxn>
                <a:cxn ang="0">
                  <a:pos x="668" y="10"/>
                </a:cxn>
                <a:cxn ang="0">
                  <a:pos x="748" y="34"/>
                </a:cxn>
                <a:cxn ang="0">
                  <a:pos x="822" y="66"/>
                </a:cxn>
                <a:cxn ang="0">
                  <a:pos x="890" y="110"/>
                </a:cxn>
                <a:cxn ang="0">
                  <a:pos x="950" y="162"/>
                </a:cxn>
                <a:cxn ang="0">
                  <a:pos x="1002" y="222"/>
                </a:cxn>
                <a:cxn ang="0">
                  <a:pos x="1046" y="290"/>
                </a:cxn>
                <a:cxn ang="0">
                  <a:pos x="1078" y="364"/>
                </a:cxn>
                <a:cxn ang="0">
                  <a:pos x="1102" y="444"/>
                </a:cxn>
                <a:cxn ang="0">
                  <a:pos x="1112" y="528"/>
                </a:cxn>
              </a:cxnLst>
              <a:rect l="0" t="0" r="r" b="b"/>
              <a:pathLst>
                <a:path w="1112" h="1112">
                  <a:moveTo>
                    <a:pt x="1112" y="556"/>
                  </a:moveTo>
                  <a:lnTo>
                    <a:pt x="1112" y="556"/>
                  </a:lnTo>
                  <a:lnTo>
                    <a:pt x="1112" y="584"/>
                  </a:lnTo>
                  <a:lnTo>
                    <a:pt x="1110" y="612"/>
                  </a:lnTo>
                  <a:lnTo>
                    <a:pt x="1106" y="640"/>
                  </a:lnTo>
                  <a:lnTo>
                    <a:pt x="1102" y="668"/>
                  </a:lnTo>
                  <a:lnTo>
                    <a:pt x="1096" y="696"/>
                  </a:lnTo>
                  <a:lnTo>
                    <a:pt x="1088" y="722"/>
                  </a:lnTo>
                  <a:lnTo>
                    <a:pt x="1078" y="748"/>
                  </a:lnTo>
                  <a:lnTo>
                    <a:pt x="1068" y="772"/>
                  </a:lnTo>
                  <a:lnTo>
                    <a:pt x="1058" y="798"/>
                  </a:lnTo>
                  <a:lnTo>
                    <a:pt x="1046" y="822"/>
                  </a:lnTo>
                  <a:lnTo>
                    <a:pt x="1032" y="844"/>
                  </a:lnTo>
                  <a:lnTo>
                    <a:pt x="1018" y="868"/>
                  </a:lnTo>
                  <a:lnTo>
                    <a:pt x="1002" y="890"/>
                  </a:lnTo>
                  <a:lnTo>
                    <a:pt x="986" y="910"/>
                  </a:lnTo>
                  <a:lnTo>
                    <a:pt x="968" y="930"/>
                  </a:lnTo>
                  <a:lnTo>
                    <a:pt x="950" y="950"/>
                  </a:lnTo>
                  <a:lnTo>
                    <a:pt x="930" y="968"/>
                  </a:lnTo>
                  <a:lnTo>
                    <a:pt x="910" y="986"/>
                  </a:lnTo>
                  <a:lnTo>
                    <a:pt x="890" y="1002"/>
                  </a:lnTo>
                  <a:lnTo>
                    <a:pt x="868" y="1018"/>
                  </a:lnTo>
                  <a:lnTo>
                    <a:pt x="844" y="1032"/>
                  </a:lnTo>
                  <a:lnTo>
                    <a:pt x="822" y="1046"/>
                  </a:lnTo>
                  <a:lnTo>
                    <a:pt x="798" y="1058"/>
                  </a:lnTo>
                  <a:lnTo>
                    <a:pt x="772" y="1068"/>
                  </a:lnTo>
                  <a:lnTo>
                    <a:pt x="748" y="1078"/>
                  </a:lnTo>
                  <a:lnTo>
                    <a:pt x="722" y="1088"/>
                  </a:lnTo>
                  <a:lnTo>
                    <a:pt x="696" y="1096"/>
                  </a:lnTo>
                  <a:lnTo>
                    <a:pt x="668" y="1102"/>
                  </a:lnTo>
                  <a:lnTo>
                    <a:pt x="640" y="1106"/>
                  </a:lnTo>
                  <a:lnTo>
                    <a:pt x="612" y="1110"/>
                  </a:lnTo>
                  <a:lnTo>
                    <a:pt x="584" y="1112"/>
                  </a:lnTo>
                  <a:lnTo>
                    <a:pt x="556" y="1112"/>
                  </a:lnTo>
                  <a:lnTo>
                    <a:pt x="556" y="1112"/>
                  </a:lnTo>
                  <a:lnTo>
                    <a:pt x="528" y="1112"/>
                  </a:lnTo>
                  <a:lnTo>
                    <a:pt x="500" y="1110"/>
                  </a:lnTo>
                  <a:lnTo>
                    <a:pt x="472" y="1106"/>
                  </a:lnTo>
                  <a:lnTo>
                    <a:pt x="444" y="1102"/>
                  </a:lnTo>
                  <a:lnTo>
                    <a:pt x="416" y="1096"/>
                  </a:lnTo>
                  <a:lnTo>
                    <a:pt x="390" y="1088"/>
                  </a:lnTo>
                  <a:lnTo>
                    <a:pt x="364" y="1078"/>
                  </a:lnTo>
                  <a:lnTo>
                    <a:pt x="340" y="1068"/>
                  </a:lnTo>
                  <a:lnTo>
                    <a:pt x="314" y="1058"/>
                  </a:lnTo>
                  <a:lnTo>
                    <a:pt x="290" y="1046"/>
                  </a:lnTo>
                  <a:lnTo>
                    <a:pt x="268" y="1032"/>
                  </a:lnTo>
                  <a:lnTo>
                    <a:pt x="244" y="1018"/>
                  </a:lnTo>
                  <a:lnTo>
                    <a:pt x="222" y="1002"/>
                  </a:lnTo>
                  <a:lnTo>
                    <a:pt x="202" y="986"/>
                  </a:lnTo>
                  <a:lnTo>
                    <a:pt x="182" y="968"/>
                  </a:lnTo>
                  <a:lnTo>
                    <a:pt x="162" y="950"/>
                  </a:lnTo>
                  <a:lnTo>
                    <a:pt x="144" y="930"/>
                  </a:lnTo>
                  <a:lnTo>
                    <a:pt x="126" y="910"/>
                  </a:lnTo>
                  <a:lnTo>
                    <a:pt x="110" y="890"/>
                  </a:lnTo>
                  <a:lnTo>
                    <a:pt x="94" y="868"/>
                  </a:lnTo>
                  <a:lnTo>
                    <a:pt x="80" y="844"/>
                  </a:lnTo>
                  <a:lnTo>
                    <a:pt x="66" y="822"/>
                  </a:lnTo>
                  <a:lnTo>
                    <a:pt x="54" y="798"/>
                  </a:lnTo>
                  <a:lnTo>
                    <a:pt x="44" y="772"/>
                  </a:lnTo>
                  <a:lnTo>
                    <a:pt x="34" y="748"/>
                  </a:lnTo>
                  <a:lnTo>
                    <a:pt x="24" y="722"/>
                  </a:lnTo>
                  <a:lnTo>
                    <a:pt x="16" y="696"/>
                  </a:lnTo>
                  <a:lnTo>
                    <a:pt x="10" y="668"/>
                  </a:lnTo>
                  <a:lnTo>
                    <a:pt x="6" y="640"/>
                  </a:lnTo>
                  <a:lnTo>
                    <a:pt x="2" y="612"/>
                  </a:lnTo>
                  <a:lnTo>
                    <a:pt x="0" y="584"/>
                  </a:lnTo>
                  <a:lnTo>
                    <a:pt x="0" y="556"/>
                  </a:lnTo>
                  <a:lnTo>
                    <a:pt x="0" y="556"/>
                  </a:lnTo>
                  <a:lnTo>
                    <a:pt x="0" y="528"/>
                  </a:lnTo>
                  <a:lnTo>
                    <a:pt x="2" y="500"/>
                  </a:lnTo>
                  <a:lnTo>
                    <a:pt x="6" y="472"/>
                  </a:lnTo>
                  <a:lnTo>
                    <a:pt x="10" y="444"/>
                  </a:lnTo>
                  <a:lnTo>
                    <a:pt x="16" y="416"/>
                  </a:lnTo>
                  <a:lnTo>
                    <a:pt x="24" y="390"/>
                  </a:lnTo>
                  <a:lnTo>
                    <a:pt x="34" y="364"/>
                  </a:lnTo>
                  <a:lnTo>
                    <a:pt x="44" y="340"/>
                  </a:lnTo>
                  <a:lnTo>
                    <a:pt x="54" y="314"/>
                  </a:lnTo>
                  <a:lnTo>
                    <a:pt x="66" y="290"/>
                  </a:lnTo>
                  <a:lnTo>
                    <a:pt x="80" y="268"/>
                  </a:lnTo>
                  <a:lnTo>
                    <a:pt x="94" y="244"/>
                  </a:lnTo>
                  <a:lnTo>
                    <a:pt x="110" y="222"/>
                  </a:lnTo>
                  <a:lnTo>
                    <a:pt x="126" y="202"/>
                  </a:lnTo>
                  <a:lnTo>
                    <a:pt x="144" y="182"/>
                  </a:lnTo>
                  <a:lnTo>
                    <a:pt x="162" y="162"/>
                  </a:lnTo>
                  <a:lnTo>
                    <a:pt x="182" y="144"/>
                  </a:lnTo>
                  <a:lnTo>
                    <a:pt x="202" y="126"/>
                  </a:lnTo>
                  <a:lnTo>
                    <a:pt x="222" y="110"/>
                  </a:lnTo>
                  <a:lnTo>
                    <a:pt x="244" y="94"/>
                  </a:lnTo>
                  <a:lnTo>
                    <a:pt x="268" y="80"/>
                  </a:lnTo>
                  <a:lnTo>
                    <a:pt x="290" y="66"/>
                  </a:lnTo>
                  <a:lnTo>
                    <a:pt x="314" y="54"/>
                  </a:lnTo>
                  <a:lnTo>
                    <a:pt x="340" y="44"/>
                  </a:lnTo>
                  <a:lnTo>
                    <a:pt x="364" y="34"/>
                  </a:lnTo>
                  <a:lnTo>
                    <a:pt x="390" y="24"/>
                  </a:lnTo>
                  <a:lnTo>
                    <a:pt x="416" y="16"/>
                  </a:lnTo>
                  <a:lnTo>
                    <a:pt x="444" y="10"/>
                  </a:lnTo>
                  <a:lnTo>
                    <a:pt x="472" y="6"/>
                  </a:lnTo>
                  <a:lnTo>
                    <a:pt x="500" y="2"/>
                  </a:lnTo>
                  <a:lnTo>
                    <a:pt x="528" y="0"/>
                  </a:lnTo>
                  <a:lnTo>
                    <a:pt x="556" y="0"/>
                  </a:lnTo>
                  <a:lnTo>
                    <a:pt x="556" y="0"/>
                  </a:lnTo>
                  <a:lnTo>
                    <a:pt x="584" y="0"/>
                  </a:lnTo>
                  <a:lnTo>
                    <a:pt x="612" y="2"/>
                  </a:lnTo>
                  <a:lnTo>
                    <a:pt x="640" y="6"/>
                  </a:lnTo>
                  <a:lnTo>
                    <a:pt x="668" y="10"/>
                  </a:lnTo>
                  <a:lnTo>
                    <a:pt x="696" y="16"/>
                  </a:lnTo>
                  <a:lnTo>
                    <a:pt x="722" y="24"/>
                  </a:lnTo>
                  <a:lnTo>
                    <a:pt x="748" y="34"/>
                  </a:lnTo>
                  <a:lnTo>
                    <a:pt x="772" y="44"/>
                  </a:lnTo>
                  <a:lnTo>
                    <a:pt x="798" y="54"/>
                  </a:lnTo>
                  <a:lnTo>
                    <a:pt x="822" y="66"/>
                  </a:lnTo>
                  <a:lnTo>
                    <a:pt x="844" y="80"/>
                  </a:lnTo>
                  <a:lnTo>
                    <a:pt x="868" y="94"/>
                  </a:lnTo>
                  <a:lnTo>
                    <a:pt x="890" y="110"/>
                  </a:lnTo>
                  <a:lnTo>
                    <a:pt x="910" y="126"/>
                  </a:lnTo>
                  <a:lnTo>
                    <a:pt x="930" y="144"/>
                  </a:lnTo>
                  <a:lnTo>
                    <a:pt x="950" y="162"/>
                  </a:lnTo>
                  <a:lnTo>
                    <a:pt x="968" y="182"/>
                  </a:lnTo>
                  <a:lnTo>
                    <a:pt x="986" y="202"/>
                  </a:lnTo>
                  <a:lnTo>
                    <a:pt x="1002" y="222"/>
                  </a:lnTo>
                  <a:lnTo>
                    <a:pt x="1018" y="244"/>
                  </a:lnTo>
                  <a:lnTo>
                    <a:pt x="1032" y="268"/>
                  </a:lnTo>
                  <a:lnTo>
                    <a:pt x="1046" y="290"/>
                  </a:lnTo>
                  <a:lnTo>
                    <a:pt x="1058" y="314"/>
                  </a:lnTo>
                  <a:lnTo>
                    <a:pt x="1068" y="340"/>
                  </a:lnTo>
                  <a:lnTo>
                    <a:pt x="1078" y="364"/>
                  </a:lnTo>
                  <a:lnTo>
                    <a:pt x="1088" y="390"/>
                  </a:lnTo>
                  <a:lnTo>
                    <a:pt x="1096" y="416"/>
                  </a:lnTo>
                  <a:lnTo>
                    <a:pt x="1102" y="444"/>
                  </a:lnTo>
                  <a:lnTo>
                    <a:pt x="1106" y="472"/>
                  </a:lnTo>
                  <a:lnTo>
                    <a:pt x="1110" y="500"/>
                  </a:lnTo>
                  <a:lnTo>
                    <a:pt x="1112" y="528"/>
                  </a:lnTo>
                  <a:lnTo>
                    <a:pt x="1112" y="556"/>
                  </a:lnTo>
                  <a:lnTo>
                    <a:pt x="1112" y="556"/>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3" name="Freeform 120"/>
            <p:cNvSpPr/>
            <p:nvPr/>
          </p:nvSpPr>
          <p:spPr bwMode="auto">
            <a:xfrm>
              <a:off x="3759200" y="2616200"/>
              <a:ext cx="1625600" cy="1625600"/>
            </a:xfrm>
            <a:custGeom>
              <a:avLst/>
              <a:gdLst/>
              <a:ahLst/>
              <a:cxnLst>
                <a:cxn ang="0">
                  <a:pos x="1024" y="512"/>
                </a:cxn>
                <a:cxn ang="0">
                  <a:pos x="1020" y="564"/>
                </a:cxn>
                <a:cxn ang="0">
                  <a:pos x="1014" y="616"/>
                </a:cxn>
                <a:cxn ang="0">
                  <a:pos x="1000" y="664"/>
                </a:cxn>
                <a:cxn ang="0">
                  <a:pos x="984" y="712"/>
                </a:cxn>
                <a:cxn ang="0">
                  <a:pos x="962" y="756"/>
                </a:cxn>
                <a:cxn ang="0">
                  <a:pos x="906" y="838"/>
                </a:cxn>
                <a:cxn ang="0">
                  <a:pos x="838" y="906"/>
                </a:cxn>
                <a:cxn ang="0">
                  <a:pos x="756" y="962"/>
                </a:cxn>
                <a:cxn ang="0">
                  <a:pos x="712" y="984"/>
                </a:cxn>
                <a:cxn ang="0">
                  <a:pos x="664" y="1000"/>
                </a:cxn>
                <a:cxn ang="0">
                  <a:pos x="616" y="1014"/>
                </a:cxn>
                <a:cxn ang="0">
                  <a:pos x="564" y="1020"/>
                </a:cxn>
                <a:cxn ang="0">
                  <a:pos x="512" y="1024"/>
                </a:cxn>
                <a:cxn ang="0">
                  <a:pos x="486" y="1022"/>
                </a:cxn>
                <a:cxn ang="0">
                  <a:pos x="434" y="1018"/>
                </a:cxn>
                <a:cxn ang="0">
                  <a:pos x="384" y="1008"/>
                </a:cxn>
                <a:cxn ang="0">
                  <a:pos x="336" y="992"/>
                </a:cxn>
                <a:cxn ang="0">
                  <a:pos x="290" y="974"/>
                </a:cxn>
                <a:cxn ang="0">
                  <a:pos x="226" y="936"/>
                </a:cxn>
                <a:cxn ang="0">
                  <a:pos x="150" y="874"/>
                </a:cxn>
                <a:cxn ang="0">
                  <a:pos x="88" y="798"/>
                </a:cxn>
                <a:cxn ang="0">
                  <a:pos x="50" y="734"/>
                </a:cxn>
                <a:cxn ang="0">
                  <a:pos x="32" y="688"/>
                </a:cxn>
                <a:cxn ang="0">
                  <a:pos x="16" y="640"/>
                </a:cxn>
                <a:cxn ang="0">
                  <a:pos x="6" y="590"/>
                </a:cxn>
                <a:cxn ang="0">
                  <a:pos x="2" y="538"/>
                </a:cxn>
                <a:cxn ang="0">
                  <a:pos x="0" y="512"/>
                </a:cxn>
                <a:cxn ang="0">
                  <a:pos x="4" y="460"/>
                </a:cxn>
                <a:cxn ang="0">
                  <a:pos x="10" y="408"/>
                </a:cxn>
                <a:cxn ang="0">
                  <a:pos x="24" y="360"/>
                </a:cxn>
                <a:cxn ang="0">
                  <a:pos x="40" y="312"/>
                </a:cxn>
                <a:cxn ang="0">
                  <a:pos x="62" y="268"/>
                </a:cxn>
                <a:cxn ang="0">
                  <a:pos x="118" y="186"/>
                </a:cxn>
                <a:cxn ang="0">
                  <a:pos x="186" y="118"/>
                </a:cxn>
                <a:cxn ang="0">
                  <a:pos x="268" y="62"/>
                </a:cxn>
                <a:cxn ang="0">
                  <a:pos x="312" y="40"/>
                </a:cxn>
                <a:cxn ang="0">
                  <a:pos x="360" y="24"/>
                </a:cxn>
                <a:cxn ang="0">
                  <a:pos x="408" y="10"/>
                </a:cxn>
                <a:cxn ang="0">
                  <a:pos x="460" y="4"/>
                </a:cxn>
                <a:cxn ang="0">
                  <a:pos x="512" y="0"/>
                </a:cxn>
                <a:cxn ang="0">
                  <a:pos x="538" y="2"/>
                </a:cxn>
                <a:cxn ang="0">
                  <a:pos x="590" y="6"/>
                </a:cxn>
                <a:cxn ang="0">
                  <a:pos x="640" y="16"/>
                </a:cxn>
                <a:cxn ang="0">
                  <a:pos x="688" y="32"/>
                </a:cxn>
                <a:cxn ang="0">
                  <a:pos x="734" y="50"/>
                </a:cxn>
                <a:cxn ang="0">
                  <a:pos x="798" y="88"/>
                </a:cxn>
                <a:cxn ang="0">
                  <a:pos x="874" y="150"/>
                </a:cxn>
                <a:cxn ang="0">
                  <a:pos x="936" y="226"/>
                </a:cxn>
                <a:cxn ang="0">
                  <a:pos x="974" y="290"/>
                </a:cxn>
                <a:cxn ang="0">
                  <a:pos x="992" y="336"/>
                </a:cxn>
                <a:cxn ang="0">
                  <a:pos x="1008" y="384"/>
                </a:cxn>
                <a:cxn ang="0">
                  <a:pos x="1018" y="434"/>
                </a:cxn>
                <a:cxn ang="0">
                  <a:pos x="1022" y="486"/>
                </a:cxn>
                <a:cxn ang="0">
                  <a:pos x="1024" y="512"/>
                </a:cxn>
              </a:cxnLst>
              <a:rect l="0" t="0" r="r" b="b"/>
              <a:pathLst>
                <a:path w="1024" h="1024">
                  <a:moveTo>
                    <a:pt x="1024" y="512"/>
                  </a:moveTo>
                  <a:lnTo>
                    <a:pt x="1024" y="512"/>
                  </a:lnTo>
                  <a:lnTo>
                    <a:pt x="1022" y="538"/>
                  </a:lnTo>
                  <a:lnTo>
                    <a:pt x="1020" y="564"/>
                  </a:lnTo>
                  <a:lnTo>
                    <a:pt x="1018" y="590"/>
                  </a:lnTo>
                  <a:lnTo>
                    <a:pt x="1014" y="616"/>
                  </a:lnTo>
                  <a:lnTo>
                    <a:pt x="1008" y="640"/>
                  </a:lnTo>
                  <a:lnTo>
                    <a:pt x="1000" y="664"/>
                  </a:lnTo>
                  <a:lnTo>
                    <a:pt x="992" y="688"/>
                  </a:lnTo>
                  <a:lnTo>
                    <a:pt x="984" y="712"/>
                  </a:lnTo>
                  <a:lnTo>
                    <a:pt x="974" y="734"/>
                  </a:lnTo>
                  <a:lnTo>
                    <a:pt x="962" y="756"/>
                  </a:lnTo>
                  <a:lnTo>
                    <a:pt x="936" y="798"/>
                  </a:lnTo>
                  <a:lnTo>
                    <a:pt x="906" y="838"/>
                  </a:lnTo>
                  <a:lnTo>
                    <a:pt x="874" y="874"/>
                  </a:lnTo>
                  <a:lnTo>
                    <a:pt x="838" y="906"/>
                  </a:lnTo>
                  <a:lnTo>
                    <a:pt x="798" y="936"/>
                  </a:lnTo>
                  <a:lnTo>
                    <a:pt x="756" y="962"/>
                  </a:lnTo>
                  <a:lnTo>
                    <a:pt x="734" y="974"/>
                  </a:lnTo>
                  <a:lnTo>
                    <a:pt x="712" y="984"/>
                  </a:lnTo>
                  <a:lnTo>
                    <a:pt x="688" y="992"/>
                  </a:lnTo>
                  <a:lnTo>
                    <a:pt x="664" y="1000"/>
                  </a:lnTo>
                  <a:lnTo>
                    <a:pt x="640" y="1008"/>
                  </a:lnTo>
                  <a:lnTo>
                    <a:pt x="616" y="1014"/>
                  </a:lnTo>
                  <a:lnTo>
                    <a:pt x="590" y="1018"/>
                  </a:lnTo>
                  <a:lnTo>
                    <a:pt x="564" y="1020"/>
                  </a:lnTo>
                  <a:lnTo>
                    <a:pt x="538" y="1022"/>
                  </a:lnTo>
                  <a:lnTo>
                    <a:pt x="512" y="1024"/>
                  </a:lnTo>
                  <a:lnTo>
                    <a:pt x="512" y="1024"/>
                  </a:lnTo>
                  <a:lnTo>
                    <a:pt x="486" y="1022"/>
                  </a:lnTo>
                  <a:lnTo>
                    <a:pt x="460" y="1020"/>
                  </a:lnTo>
                  <a:lnTo>
                    <a:pt x="434" y="1018"/>
                  </a:lnTo>
                  <a:lnTo>
                    <a:pt x="408" y="1014"/>
                  </a:lnTo>
                  <a:lnTo>
                    <a:pt x="384" y="1008"/>
                  </a:lnTo>
                  <a:lnTo>
                    <a:pt x="360" y="1000"/>
                  </a:lnTo>
                  <a:lnTo>
                    <a:pt x="336" y="992"/>
                  </a:lnTo>
                  <a:lnTo>
                    <a:pt x="312" y="984"/>
                  </a:lnTo>
                  <a:lnTo>
                    <a:pt x="290" y="974"/>
                  </a:lnTo>
                  <a:lnTo>
                    <a:pt x="268" y="962"/>
                  </a:lnTo>
                  <a:lnTo>
                    <a:pt x="226" y="936"/>
                  </a:lnTo>
                  <a:lnTo>
                    <a:pt x="186" y="906"/>
                  </a:lnTo>
                  <a:lnTo>
                    <a:pt x="150" y="874"/>
                  </a:lnTo>
                  <a:lnTo>
                    <a:pt x="118" y="838"/>
                  </a:lnTo>
                  <a:lnTo>
                    <a:pt x="88" y="798"/>
                  </a:lnTo>
                  <a:lnTo>
                    <a:pt x="62" y="756"/>
                  </a:lnTo>
                  <a:lnTo>
                    <a:pt x="50" y="734"/>
                  </a:lnTo>
                  <a:lnTo>
                    <a:pt x="40" y="712"/>
                  </a:lnTo>
                  <a:lnTo>
                    <a:pt x="32" y="688"/>
                  </a:lnTo>
                  <a:lnTo>
                    <a:pt x="24" y="664"/>
                  </a:lnTo>
                  <a:lnTo>
                    <a:pt x="16" y="640"/>
                  </a:lnTo>
                  <a:lnTo>
                    <a:pt x="10" y="616"/>
                  </a:lnTo>
                  <a:lnTo>
                    <a:pt x="6" y="590"/>
                  </a:lnTo>
                  <a:lnTo>
                    <a:pt x="4" y="564"/>
                  </a:lnTo>
                  <a:lnTo>
                    <a:pt x="2" y="538"/>
                  </a:lnTo>
                  <a:lnTo>
                    <a:pt x="0" y="512"/>
                  </a:lnTo>
                  <a:lnTo>
                    <a:pt x="0" y="512"/>
                  </a:lnTo>
                  <a:lnTo>
                    <a:pt x="2" y="486"/>
                  </a:lnTo>
                  <a:lnTo>
                    <a:pt x="4" y="460"/>
                  </a:lnTo>
                  <a:lnTo>
                    <a:pt x="6" y="434"/>
                  </a:lnTo>
                  <a:lnTo>
                    <a:pt x="10" y="408"/>
                  </a:lnTo>
                  <a:lnTo>
                    <a:pt x="16" y="384"/>
                  </a:lnTo>
                  <a:lnTo>
                    <a:pt x="24" y="360"/>
                  </a:lnTo>
                  <a:lnTo>
                    <a:pt x="32" y="336"/>
                  </a:lnTo>
                  <a:lnTo>
                    <a:pt x="40" y="312"/>
                  </a:lnTo>
                  <a:lnTo>
                    <a:pt x="50" y="290"/>
                  </a:lnTo>
                  <a:lnTo>
                    <a:pt x="62" y="268"/>
                  </a:lnTo>
                  <a:lnTo>
                    <a:pt x="88" y="226"/>
                  </a:lnTo>
                  <a:lnTo>
                    <a:pt x="118" y="186"/>
                  </a:lnTo>
                  <a:lnTo>
                    <a:pt x="150" y="150"/>
                  </a:lnTo>
                  <a:lnTo>
                    <a:pt x="186" y="118"/>
                  </a:lnTo>
                  <a:lnTo>
                    <a:pt x="226" y="88"/>
                  </a:lnTo>
                  <a:lnTo>
                    <a:pt x="268" y="62"/>
                  </a:lnTo>
                  <a:lnTo>
                    <a:pt x="290" y="50"/>
                  </a:lnTo>
                  <a:lnTo>
                    <a:pt x="312" y="40"/>
                  </a:lnTo>
                  <a:lnTo>
                    <a:pt x="336" y="32"/>
                  </a:lnTo>
                  <a:lnTo>
                    <a:pt x="360" y="24"/>
                  </a:lnTo>
                  <a:lnTo>
                    <a:pt x="384" y="16"/>
                  </a:lnTo>
                  <a:lnTo>
                    <a:pt x="408" y="10"/>
                  </a:lnTo>
                  <a:lnTo>
                    <a:pt x="434" y="6"/>
                  </a:lnTo>
                  <a:lnTo>
                    <a:pt x="460" y="4"/>
                  </a:lnTo>
                  <a:lnTo>
                    <a:pt x="486" y="2"/>
                  </a:lnTo>
                  <a:lnTo>
                    <a:pt x="512" y="0"/>
                  </a:lnTo>
                  <a:lnTo>
                    <a:pt x="512" y="0"/>
                  </a:lnTo>
                  <a:lnTo>
                    <a:pt x="538" y="2"/>
                  </a:lnTo>
                  <a:lnTo>
                    <a:pt x="564" y="4"/>
                  </a:lnTo>
                  <a:lnTo>
                    <a:pt x="590" y="6"/>
                  </a:lnTo>
                  <a:lnTo>
                    <a:pt x="616" y="10"/>
                  </a:lnTo>
                  <a:lnTo>
                    <a:pt x="640" y="16"/>
                  </a:lnTo>
                  <a:lnTo>
                    <a:pt x="664" y="24"/>
                  </a:lnTo>
                  <a:lnTo>
                    <a:pt x="688" y="32"/>
                  </a:lnTo>
                  <a:lnTo>
                    <a:pt x="712" y="40"/>
                  </a:lnTo>
                  <a:lnTo>
                    <a:pt x="734" y="50"/>
                  </a:lnTo>
                  <a:lnTo>
                    <a:pt x="756" y="62"/>
                  </a:lnTo>
                  <a:lnTo>
                    <a:pt x="798" y="88"/>
                  </a:lnTo>
                  <a:lnTo>
                    <a:pt x="838" y="118"/>
                  </a:lnTo>
                  <a:lnTo>
                    <a:pt x="874" y="150"/>
                  </a:lnTo>
                  <a:lnTo>
                    <a:pt x="906" y="186"/>
                  </a:lnTo>
                  <a:lnTo>
                    <a:pt x="936" y="226"/>
                  </a:lnTo>
                  <a:lnTo>
                    <a:pt x="962" y="268"/>
                  </a:lnTo>
                  <a:lnTo>
                    <a:pt x="974" y="290"/>
                  </a:lnTo>
                  <a:lnTo>
                    <a:pt x="984" y="312"/>
                  </a:lnTo>
                  <a:lnTo>
                    <a:pt x="992" y="336"/>
                  </a:lnTo>
                  <a:lnTo>
                    <a:pt x="1000" y="360"/>
                  </a:lnTo>
                  <a:lnTo>
                    <a:pt x="1008" y="384"/>
                  </a:lnTo>
                  <a:lnTo>
                    <a:pt x="1014" y="408"/>
                  </a:lnTo>
                  <a:lnTo>
                    <a:pt x="1018" y="434"/>
                  </a:lnTo>
                  <a:lnTo>
                    <a:pt x="1020" y="460"/>
                  </a:lnTo>
                  <a:lnTo>
                    <a:pt x="1022" y="486"/>
                  </a:lnTo>
                  <a:lnTo>
                    <a:pt x="1024" y="512"/>
                  </a:lnTo>
                  <a:lnTo>
                    <a:pt x="1024" y="512"/>
                  </a:lnTo>
                  <a:close/>
                </a:path>
              </a:pathLst>
            </a:custGeom>
            <a:solidFill>
              <a:srgbClr val="FFDF4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4" name="Freeform 121"/>
            <p:cNvSpPr/>
            <p:nvPr/>
          </p:nvSpPr>
          <p:spPr bwMode="auto">
            <a:xfrm>
              <a:off x="3978275" y="2835275"/>
              <a:ext cx="1187450" cy="1187450"/>
            </a:xfrm>
            <a:custGeom>
              <a:avLst/>
              <a:gdLst/>
              <a:ahLst/>
              <a:cxnLst>
                <a:cxn ang="0">
                  <a:pos x="748" y="374"/>
                </a:cxn>
                <a:cxn ang="0">
                  <a:pos x="742" y="450"/>
                </a:cxn>
                <a:cxn ang="0">
                  <a:pos x="720" y="520"/>
                </a:cxn>
                <a:cxn ang="0">
                  <a:pos x="684" y="584"/>
                </a:cxn>
                <a:cxn ang="0">
                  <a:pos x="640" y="640"/>
                </a:cxn>
                <a:cxn ang="0">
                  <a:pos x="584" y="684"/>
                </a:cxn>
                <a:cxn ang="0">
                  <a:pos x="520" y="720"/>
                </a:cxn>
                <a:cxn ang="0">
                  <a:pos x="450" y="742"/>
                </a:cxn>
                <a:cxn ang="0">
                  <a:pos x="374" y="748"/>
                </a:cxn>
                <a:cxn ang="0">
                  <a:pos x="336" y="746"/>
                </a:cxn>
                <a:cxn ang="0">
                  <a:pos x="262" y="732"/>
                </a:cxn>
                <a:cxn ang="0">
                  <a:pos x="196" y="704"/>
                </a:cxn>
                <a:cxn ang="0">
                  <a:pos x="136" y="664"/>
                </a:cxn>
                <a:cxn ang="0">
                  <a:pos x="84" y="612"/>
                </a:cxn>
                <a:cxn ang="0">
                  <a:pos x="44" y="552"/>
                </a:cxn>
                <a:cxn ang="0">
                  <a:pos x="16" y="486"/>
                </a:cxn>
                <a:cxn ang="0">
                  <a:pos x="2" y="412"/>
                </a:cxn>
                <a:cxn ang="0">
                  <a:pos x="0" y="374"/>
                </a:cxn>
                <a:cxn ang="0">
                  <a:pos x="6" y="298"/>
                </a:cxn>
                <a:cxn ang="0">
                  <a:pos x="28" y="228"/>
                </a:cxn>
                <a:cxn ang="0">
                  <a:pos x="64" y="164"/>
                </a:cxn>
                <a:cxn ang="0">
                  <a:pos x="108" y="108"/>
                </a:cxn>
                <a:cxn ang="0">
                  <a:pos x="164" y="64"/>
                </a:cxn>
                <a:cxn ang="0">
                  <a:pos x="228" y="28"/>
                </a:cxn>
                <a:cxn ang="0">
                  <a:pos x="298" y="6"/>
                </a:cxn>
                <a:cxn ang="0">
                  <a:pos x="374" y="0"/>
                </a:cxn>
                <a:cxn ang="0">
                  <a:pos x="412" y="2"/>
                </a:cxn>
                <a:cxn ang="0">
                  <a:pos x="486" y="16"/>
                </a:cxn>
                <a:cxn ang="0">
                  <a:pos x="552" y="44"/>
                </a:cxn>
                <a:cxn ang="0">
                  <a:pos x="612" y="84"/>
                </a:cxn>
                <a:cxn ang="0">
                  <a:pos x="664" y="136"/>
                </a:cxn>
                <a:cxn ang="0">
                  <a:pos x="704" y="196"/>
                </a:cxn>
                <a:cxn ang="0">
                  <a:pos x="732" y="262"/>
                </a:cxn>
                <a:cxn ang="0">
                  <a:pos x="746" y="336"/>
                </a:cxn>
                <a:cxn ang="0">
                  <a:pos x="748" y="374"/>
                </a:cxn>
              </a:cxnLst>
              <a:rect l="0" t="0" r="r" b="b"/>
              <a:pathLst>
                <a:path w="748" h="748">
                  <a:moveTo>
                    <a:pt x="748" y="374"/>
                  </a:moveTo>
                  <a:lnTo>
                    <a:pt x="748" y="374"/>
                  </a:lnTo>
                  <a:lnTo>
                    <a:pt x="746" y="412"/>
                  </a:lnTo>
                  <a:lnTo>
                    <a:pt x="742" y="450"/>
                  </a:lnTo>
                  <a:lnTo>
                    <a:pt x="732" y="486"/>
                  </a:lnTo>
                  <a:lnTo>
                    <a:pt x="720" y="520"/>
                  </a:lnTo>
                  <a:lnTo>
                    <a:pt x="704" y="552"/>
                  </a:lnTo>
                  <a:lnTo>
                    <a:pt x="684" y="584"/>
                  </a:lnTo>
                  <a:lnTo>
                    <a:pt x="664" y="612"/>
                  </a:lnTo>
                  <a:lnTo>
                    <a:pt x="640" y="640"/>
                  </a:lnTo>
                  <a:lnTo>
                    <a:pt x="612" y="664"/>
                  </a:lnTo>
                  <a:lnTo>
                    <a:pt x="584" y="684"/>
                  </a:lnTo>
                  <a:lnTo>
                    <a:pt x="552" y="704"/>
                  </a:lnTo>
                  <a:lnTo>
                    <a:pt x="520" y="720"/>
                  </a:lnTo>
                  <a:lnTo>
                    <a:pt x="486" y="732"/>
                  </a:lnTo>
                  <a:lnTo>
                    <a:pt x="450" y="742"/>
                  </a:lnTo>
                  <a:lnTo>
                    <a:pt x="412" y="746"/>
                  </a:lnTo>
                  <a:lnTo>
                    <a:pt x="374" y="748"/>
                  </a:lnTo>
                  <a:lnTo>
                    <a:pt x="374" y="748"/>
                  </a:lnTo>
                  <a:lnTo>
                    <a:pt x="336" y="746"/>
                  </a:lnTo>
                  <a:lnTo>
                    <a:pt x="298" y="742"/>
                  </a:lnTo>
                  <a:lnTo>
                    <a:pt x="262" y="732"/>
                  </a:lnTo>
                  <a:lnTo>
                    <a:pt x="228" y="720"/>
                  </a:lnTo>
                  <a:lnTo>
                    <a:pt x="196" y="704"/>
                  </a:lnTo>
                  <a:lnTo>
                    <a:pt x="164" y="684"/>
                  </a:lnTo>
                  <a:lnTo>
                    <a:pt x="136" y="664"/>
                  </a:lnTo>
                  <a:lnTo>
                    <a:pt x="108" y="640"/>
                  </a:lnTo>
                  <a:lnTo>
                    <a:pt x="84" y="612"/>
                  </a:lnTo>
                  <a:lnTo>
                    <a:pt x="64" y="584"/>
                  </a:lnTo>
                  <a:lnTo>
                    <a:pt x="44" y="552"/>
                  </a:lnTo>
                  <a:lnTo>
                    <a:pt x="28" y="520"/>
                  </a:lnTo>
                  <a:lnTo>
                    <a:pt x="16" y="486"/>
                  </a:lnTo>
                  <a:lnTo>
                    <a:pt x="6" y="450"/>
                  </a:lnTo>
                  <a:lnTo>
                    <a:pt x="2" y="412"/>
                  </a:lnTo>
                  <a:lnTo>
                    <a:pt x="0" y="374"/>
                  </a:lnTo>
                  <a:lnTo>
                    <a:pt x="0" y="374"/>
                  </a:lnTo>
                  <a:lnTo>
                    <a:pt x="2" y="336"/>
                  </a:lnTo>
                  <a:lnTo>
                    <a:pt x="6" y="298"/>
                  </a:lnTo>
                  <a:lnTo>
                    <a:pt x="16" y="262"/>
                  </a:lnTo>
                  <a:lnTo>
                    <a:pt x="28" y="228"/>
                  </a:lnTo>
                  <a:lnTo>
                    <a:pt x="44" y="196"/>
                  </a:lnTo>
                  <a:lnTo>
                    <a:pt x="64" y="164"/>
                  </a:lnTo>
                  <a:lnTo>
                    <a:pt x="84" y="136"/>
                  </a:lnTo>
                  <a:lnTo>
                    <a:pt x="108" y="108"/>
                  </a:lnTo>
                  <a:lnTo>
                    <a:pt x="136" y="84"/>
                  </a:lnTo>
                  <a:lnTo>
                    <a:pt x="164" y="64"/>
                  </a:lnTo>
                  <a:lnTo>
                    <a:pt x="196" y="44"/>
                  </a:lnTo>
                  <a:lnTo>
                    <a:pt x="228" y="28"/>
                  </a:lnTo>
                  <a:lnTo>
                    <a:pt x="262" y="16"/>
                  </a:lnTo>
                  <a:lnTo>
                    <a:pt x="298" y="6"/>
                  </a:lnTo>
                  <a:lnTo>
                    <a:pt x="336" y="2"/>
                  </a:lnTo>
                  <a:lnTo>
                    <a:pt x="374" y="0"/>
                  </a:lnTo>
                  <a:lnTo>
                    <a:pt x="374" y="0"/>
                  </a:lnTo>
                  <a:lnTo>
                    <a:pt x="412" y="2"/>
                  </a:lnTo>
                  <a:lnTo>
                    <a:pt x="450" y="6"/>
                  </a:lnTo>
                  <a:lnTo>
                    <a:pt x="486" y="16"/>
                  </a:lnTo>
                  <a:lnTo>
                    <a:pt x="520" y="28"/>
                  </a:lnTo>
                  <a:lnTo>
                    <a:pt x="552" y="44"/>
                  </a:lnTo>
                  <a:lnTo>
                    <a:pt x="584" y="64"/>
                  </a:lnTo>
                  <a:lnTo>
                    <a:pt x="612" y="84"/>
                  </a:lnTo>
                  <a:lnTo>
                    <a:pt x="640" y="108"/>
                  </a:lnTo>
                  <a:lnTo>
                    <a:pt x="664" y="136"/>
                  </a:lnTo>
                  <a:lnTo>
                    <a:pt x="684" y="164"/>
                  </a:lnTo>
                  <a:lnTo>
                    <a:pt x="704" y="196"/>
                  </a:lnTo>
                  <a:lnTo>
                    <a:pt x="720" y="228"/>
                  </a:lnTo>
                  <a:lnTo>
                    <a:pt x="732" y="262"/>
                  </a:lnTo>
                  <a:lnTo>
                    <a:pt x="742" y="298"/>
                  </a:lnTo>
                  <a:lnTo>
                    <a:pt x="746" y="336"/>
                  </a:lnTo>
                  <a:lnTo>
                    <a:pt x="748" y="374"/>
                  </a:lnTo>
                  <a:lnTo>
                    <a:pt x="748" y="374"/>
                  </a:lnTo>
                  <a:close/>
                </a:path>
              </a:pathLst>
            </a:custGeom>
            <a:solidFill>
              <a:srgbClr val="F7AA0F"/>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5" name="Freeform 122"/>
            <p:cNvSpPr/>
            <p:nvPr/>
          </p:nvSpPr>
          <p:spPr bwMode="auto">
            <a:xfrm>
              <a:off x="4191000" y="3048000"/>
              <a:ext cx="762000" cy="762000"/>
            </a:xfrm>
            <a:custGeom>
              <a:avLst/>
              <a:gdLst/>
              <a:ahLst/>
              <a:cxnLst>
                <a:cxn ang="0">
                  <a:pos x="480" y="240"/>
                </a:cxn>
                <a:cxn ang="0">
                  <a:pos x="476" y="288"/>
                </a:cxn>
                <a:cxn ang="0">
                  <a:pos x="462" y="334"/>
                </a:cxn>
                <a:cxn ang="0">
                  <a:pos x="440" y="374"/>
                </a:cxn>
                <a:cxn ang="0">
                  <a:pos x="410" y="410"/>
                </a:cxn>
                <a:cxn ang="0">
                  <a:pos x="374" y="440"/>
                </a:cxn>
                <a:cxn ang="0">
                  <a:pos x="334" y="462"/>
                </a:cxn>
                <a:cxn ang="0">
                  <a:pos x="288" y="476"/>
                </a:cxn>
                <a:cxn ang="0">
                  <a:pos x="240" y="480"/>
                </a:cxn>
                <a:cxn ang="0">
                  <a:pos x="216" y="480"/>
                </a:cxn>
                <a:cxn ang="0">
                  <a:pos x="168" y="470"/>
                </a:cxn>
                <a:cxn ang="0">
                  <a:pos x="126" y="452"/>
                </a:cxn>
                <a:cxn ang="0">
                  <a:pos x="86" y="426"/>
                </a:cxn>
                <a:cxn ang="0">
                  <a:pos x="54" y="394"/>
                </a:cxn>
                <a:cxn ang="0">
                  <a:pos x="28" y="354"/>
                </a:cxn>
                <a:cxn ang="0">
                  <a:pos x="10" y="312"/>
                </a:cxn>
                <a:cxn ang="0">
                  <a:pos x="0" y="264"/>
                </a:cxn>
                <a:cxn ang="0">
                  <a:pos x="0" y="240"/>
                </a:cxn>
                <a:cxn ang="0">
                  <a:pos x="4" y="192"/>
                </a:cxn>
                <a:cxn ang="0">
                  <a:pos x="18" y="146"/>
                </a:cxn>
                <a:cxn ang="0">
                  <a:pos x="40" y="106"/>
                </a:cxn>
                <a:cxn ang="0">
                  <a:pos x="70" y="70"/>
                </a:cxn>
                <a:cxn ang="0">
                  <a:pos x="106" y="40"/>
                </a:cxn>
                <a:cxn ang="0">
                  <a:pos x="146" y="18"/>
                </a:cxn>
                <a:cxn ang="0">
                  <a:pos x="192" y="4"/>
                </a:cxn>
                <a:cxn ang="0">
                  <a:pos x="240" y="0"/>
                </a:cxn>
                <a:cxn ang="0">
                  <a:pos x="264" y="0"/>
                </a:cxn>
                <a:cxn ang="0">
                  <a:pos x="312" y="10"/>
                </a:cxn>
                <a:cxn ang="0">
                  <a:pos x="354" y="28"/>
                </a:cxn>
                <a:cxn ang="0">
                  <a:pos x="394" y="54"/>
                </a:cxn>
                <a:cxn ang="0">
                  <a:pos x="426" y="86"/>
                </a:cxn>
                <a:cxn ang="0">
                  <a:pos x="452" y="126"/>
                </a:cxn>
                <a:cxn ang="0">
                  <a:pos x="470" y="168"/>
                </a:cxn>
                <a:cxn ang="0">
                  <a:pos x="480" y="216"/>
                </a:cxn>
                <a:cxn ang="0">
                  <a:pos x="480" y="240"/>
                </a:cxn>
              </a:cxnLst>
              <a:rect l="0" t="0" r="r" b="b"/>
              <a:pathLst>
                <a:path w="480" h="480">
                  <a:moveTo>
                    <a:pt x="480" y="240"/>
                  </a:moveTo>
                  <a:lnTo>
                    <a:pt x="480" y="240"/>
                  </a:lnTo>
                  <a:lnTo>
                    <a:pt x="480" y="264"/>
                  </a:lnTo>
                  <a:lnTo>
                    <a:pt x="476" y="288"/>
                  </a:lnTo>
                  <a:lnTo>
                    <a:pt x="470" y="312"/>
                  </a:lnTo>
                  <a:lnTo>
                    <a:pt x="462" y="334"/>
                  </a:lnTo>
                  <a:lnTo>
                    <a:pt x="452" y="354"/>
                  </a:lnTo>
                  <a:lnTo>
                    <a:pt x="440" y="374"/>
                  </a:lnTo>
                  <a:lnTo>
                    <a:pt x="426" y="394"/>
                  </a:lnTo>
                  <a:lnTo>
                    <a:pt x="410" y="410"/>
                  </a:lnTo>
                  <a:lnTo>
                    <a:pt x="394" y="426"/>
                  </a:lnTo>
                  <a:lnTo>
                    <a:pt x="374" y="440"/>
                  </a:lnTo>
                  <a:lnTo>
                    <a:pt x="354" y="452"/>
                  </a:lnTo>
                  <a:lnTo>
                    <a:pt x="334" y="462"/>
                  </a:lnTo>
                  <a:lnTo>
                    <a:pt x="312" y="470"/>
                  </a:lnTo>
                  <a:lnTo>
                    <a:pt x="288" y="476"/>
                  </a:lnTo>
                  <a:lnTo>
                    <a:pt x="264" y="480"/>
                  </a:lnTo>
                  <a:lnTo>
                    <a:pt x="240" y="480"/>
                  </a:lnTo>
                  <a:lnTo>
                    <a:pt x="240" y="480"/>
                  </a:lnTo>
                  <a:lnTo>
                    <a:pt x="216" y="480"/>
                  </a:lnTo>
                  <a:lnTo>
                    <a:pt x="192" y="476"/>
                  </a:lnTo>
                  <a:lnTo>
                    <a:pt x="168" y="470"/>
                  </a:lnTo>
                  <a:lnTo>
                    <a:pt x="146" y="462"/>
                  </a:lnTo>
                  <a:lnTo>
                    <a:pt x="126" y="452"/>
                  </a:lnTo>
                  <a:lnTo>
                    <a:pt x="106" y="440"/>
                  </a:lnTo>
                  <a:lnTo>
                    <a:pt x="86" y="426"/>
                  </a:lnTo>
                  <a:lnTo>
                    <a:pt x="70" y="410"/>
                  </a:lnTo>
                  <a:lnTo>
                    <a:pt x="54" y="394"/>
                  </a:lnTo>
                  <a:lnTo>
                    <a:pt x="40" y="374"/>
                  </a:lnTo>
                  <a:lnTo>
                    <a:pt x="28" y="354"/>
                  </a:lnTo>
                  <a:lnTo>
                    <a:pt x="18" y="334"/>
                  </a:lnTo>
                  <a:lnTo>
                    <a:pt x="10" y="312"/>
                  </a:lnTo>
                  <a:lnTo>
                    <a:pt x="4" y="288"/>
                  </a:lnTo>
                  <a:lnTo>
                    <a:pt x="0" y="264"/>
                  </a:lnTo>
                  <a:lnTo>
                    <a:pt x="0" y="240"/>
                  </a:lnTo>
                  <a:lnTo>
                    <a:pt x="0" y="240"/>
                  </a:lnTo>
                  <a:lnTo>
                    <a:pt x="0" y="216"/>
                  </a:lnTo>
                  <a:lnTo>
                    <a:pt x="4" y="192"/>
                  </a:lnTo>
                  <a:lnTo>
                    <a:pt x="10" y="168"/>
                  </a:lnTo>
                  <a:lnTo>
                    <a:pt x="18" y="146"/>
                  </a:lnTo>
                  <a:lnTo>
                    <a:pt x="28" y="126"/>
                  </a:lnTo>
                  <a:lnTo>
                    <a:pt x="40" y="106"/>
                  </a:lnTo>
                  <a:lnTo>
                    <a:pt x="54" y="86"/>
                  </a:lnTo>
                  <a:lnTo>
                    <a:pt x="70" y="70"/>
                  </a:lnTo>
                  <a:lnTo>
                    <a:pt x="86" y="54"/>
                  </a:lnTo>
                  <a:lnTo>
                    <a:pt x="106" y="40"/>
                  </a:lnTo>
                  <a:lnTo>
                    <a:pt x="126" y="28"/>
                  </a:lnTo>
                  <a:lnTo>
                    <a:pt x="146" y="18"/>
                  </a:lnTo>
                  <a:lnTo>
                    <a:pt x="168" y="10"/>
                  </a:lnTo>
                  <a:lnTo>
                    <a:pt x="192" y="4"/>
                  </a:lnTo>
                  <a:lnTo>
                    <a:pt x="216" y="0"/>
                  </a:lnTo>
                  <a:lnTo>
                    <a:pt x="240" y="0"/>
                  </a:lnTo>
                  <a:lnTo>
                    <a:pt x="240" y="0"/>
                  </a:lnTo>
                  <a:lnTo>
                    <a:pt x="264" y="0"/>
                  </a:lnTo>
                  <a:lnTo>
                    <a:pt x="288" y="4"/>
                  </a:lnTo>
                  <a:lnTo>
                    <a:pt x="312" y="10"/>
                  </a:lnTo>
                  <a:lnTo>
                    <a:pt x="334" y="18"/>
                  </a:lnTo>
                  <a:lnTo>
                    <a:pt x="354" y="28"/>
                  </a:lnTo>
                  <a:lnTo>
                    <a:pt x="374" y="40"/>
                  </a:lnTo>
                  <a:lnTo>
                    <a:pt x="394" y="54"/>
                  </a:lnTo>
                  <a:lnTo>
                    <a:pt x="410" y="70"/>
                  </a:lnTo>
                  <a:lnTo>
                    <a:pt x="426" y="86"/>
                  </a:lnTo>
                  <a:lnTo>
                    <a:pt x="440" y="106"/>
                  </a:lnTo>
                  <a:lnTo>
                    <a:pt x="452" y="126"/>
                  </a:lnTo>
                  <a:lnTo>
                    <a:pt x="462" y="146"/>
                  </a:lnTo>
                  <a:lnTo>
                    <a:pt x="470" y="168"/>
                  </a:lnTo>
                  <a:lnTo>
                    <a:pt x="476" y="192"/>
                  </a:lnTo>
                  <a:lnTo>
                    <a:pt x="480" y="216"/>
                  </a:lnTo>
                  <a:lnTo>
                    <a:pt x="480" y="240"/>
                  </a:lnTo>
                  <a:lnTo>
                    <a:pt x="480" y="240"/>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6" name="Freeform 123"/>
            <p:cNvSpPr/>
            <p:nvPr/>
          </p:nvSpPr>
          <p:spPr bwMode="auto">
            <a:xfrm>
              <a:off x="4511675" y="2549525"/>
              <a:ext cx="120650" cy="815975"/>
            </a:xfrm>
            <a:custGeom>
              <a:avLst/>
              <a:gdLst/>
              <a:ahLst/>
              <a:cxnLst>
                <a:cxn ang="0">
                  <a:pos x="28" y="26"/>
                </a:cxn>
                <a:cxn ang="0">
                  <a:pos x="24" y="48"/>
                </a:cxn>
                <a:cxn ang="0">
                  <a:pos x="20" y="102"/>
                </a:cxn>
                <a:cxn ang="0">
                  <a:pos x="20" y="102"/>
                </a:cxn>
                <a:cxn ang="0">
                  <a:pos x="20" y="138"/>
                </a:cxn>
                <a:cxn ang="0">
                  <a:pos x="4" y="204"/>
                </a:cxn>
                <a:cxn ang="0">
                  <a:pos x="2" y="218"/>
                </a:cxn>
                <a:cxn ang="0">
                  <a:pos x="2" y="258"/>
                </a:cxn>
                <a:cxn ang="0">
                  <a:pos x="12" y="304"/>
                </a:cxn>
                <a:cxn ang="0">
                  <a:pos x="18" y="328"/>
                </a:cxn>
                <a:cxn ang="0">
                  <a:pos x="20" y="368"/>
                </a:cxn>
                <a:cxn ang="0">
                  <a:pos x="10" y="416"/>
                </a:cxn>
                <a:cxn ang="0">
                  <a:pos x="8" y="432"/>
                </a:cxn>
                <a:cxn ang="0">
                  <a:pos x="8" y="472"/>
                </a:cxn>
                <a:cxn ang="0">
                  <a:pos x="12" y="504"/>
                </a:cxn>
                <a:cxn ang="0">
                  <a:pos x="22" y="514"/>
                </a:cxn>
                <a:cxn ang="0">
                  <a:pos x="64" y="504"/>
                </a:cxn>
                <a:cxn ang="0">
                  <a:pos x="64" y="496"/>
                </a:cxn>
                <a:cxn ang="0">
                  <a:pos x="68" y="446"/>
                </a:cxn>
                <a:cxn ang="0">
                  <a:pos x="66" y="416"/>
                </a:cxn>
                <a:cxn ang="0">
                  <a:pos x="60" y="392"/>
                </a:cxn>
                <a:cxn ang="0">
                  <a:pos x="56" y="348"/>
                </a:cxn>
                <a:cxn ang="0">
                  <a:pos x="64" y="304"/>
                </a:cxn>
                <a:cxn ang="0">
                  <a:pos x="70" y="282"/>
                </a:cxn>
                <a:cxn ang="0">
                  <a:pos x="76" y="232"/>
                </a:cxn>
                <a:cxn ang="0">
                  <a:pos x="72" y="204"/>
                </a:cxn>
                <a:cxn ang="0">
                  <a:pos x="64" y="172"/>
                </a:cxn>
                <a:cxn ang="0">
                  <a:pos x="56" y="138"/>
                </a:cxn>
                <a:cxn ang="0">
                  <a:pos x="56" y="102"/>
                </a:cxn>
                <a:cxn ang="0">
                  <a:pos x="56" y="72"/>
                </a:cxn>
                <a:cxn ang="0">
                  <a:pos x="50" y="34"/>
                </a:cxn>
                <a:cxn ang="0">
                  <a:pos x="38" y="0"/>
                </a:cxn>
              </a:cxnLst>
              <a:rect l="0" t="0" r="r" b="b"/>
              <a:pathLst>
                <a:path w="76" h="514">
                  <a:moveTo>
                    <a:pt x="28" y="26"/>
                  </a:moveTo>
                  <a:lnTo>
                    <a:pt x="28" y="26"/>
                  </a:lnTo>
                  <a:lnTo>
                    <a:pt x="26" y="34"/>
                  </a:lnTo>
                  <a:lnTo>
                    <a:pt x="24" y="48"/>
                  </a:lnTo>
                  <a:lnTo>
                    <a:pt x="20" y="72"/>
                  </a:lnTo>
                  <a:lnTo>
                    <a:pt x="20" y="102"/>
                  </a:lnTo>
                  <a:lnTo>
                    <a:pt x="20" y="102"/>
                  </a:lnTo>
                  <a:lnTo>
                    <a:pt x="20" y="102"/>
                  </a:lnTo>
                  <a:lnTo>
                    <a:pt x="22" y="120"/>
                  </a:lnTo>
                  <a:lnTo>
                    <a:pt x="20" y="138"/>
                  </a:lnTo>
                  <a:lnTo>
                    <a:pt x="12" y="172"/>
                  </a:lnTo>
                  <a:lnTo>
                    <a:pt x="4" y="204"/>
                  </a:lnTo>
                  <a:lnTo>
                    <a:pt x="4" y="204"/>
                  </a:lnTo>
                  <a:lnTo>
                    <a:pt x="2" y="218"/>
                  </a:lnTo>
                  <a:lnTo>
                    <a:pt x="0" y="232"/>
                  </a:lnTo>
                  <a:lnTo>
                    <a:pt x="2" y="258"/>
                  </a:lnTo>
                  <a:lnTo>
                    <a:pt x="6" y="282"/>
                  </a:lnTo>
                  <a:lnTo>
                    <a:pt x="12" y="304"/>
                  </a:lnTo>
                  <a:lnTo>
                    <a:pt x="18" y="328"/>
                  </a:lnTo>
                  <a:lnTo>
                    <a:pt x="18" y="328"/>
                  </a:lnTo>
                  <a:lnTo>
                    <a:pt x="20" y="348"/>
                  </a:lnTo>
                  <a:lnTo>
                    <a:pt x="20" y="368"/>
                  </a:lnTo>
                  <a:lnTo>
                    <a:pt x="16" y="392"/>
                  </a:lnTo>
                  <a:lnTo>
                    <a:pt x="10" y="416"/>
                  </a:lnTo>
                  <a:lnTo>
                    <a:pt x="10" y="416"/>
                  </a:lnTo>
                  <a:lnTo>
                    <a:pt x="8" y="432"/>
                  </a:lnTo>
                  <a:lnTo>
                    <a:pt x="8" y="446"/>
                  </a:lnTo>
                  <a:lnTo>
                    <a:pt x="8" y="472"/>
                  </a:lnTo>
                  <a:lnTo>
                    <a:pt x="10" y="494"/>
                  </a:lnTo>
                  <a:lnTo>
                    <a:pt x="12" y="504"/>
                  </a:lnTo>
                  <a:lnTo>
                    <a:pt x="14" y="514"/>
                  </a:lnTo>
                  <a:lnTo>
                    <a:pt x="22" y="514"/>
                  </a:lnTo>
                  <a:lnTo>
                    <a:pt x="62" y="514"/>
                  </a:lnTo>
                  <a:lnTo>
                    <a:pt x="64" y="504"/>
                  </a:lnTo>
                  <a:lnTo>
                    <a:pt x="64" y="504"/>
                  </a:lnTo>
                  <a:lnTo>
                    <a:pt x="64" y="496"/>
                  </a:lnTo>
                  <a:lnTo>
                    <a:pt x="68" y="474"/>
                  </a:lnTo>
                  <a:lnTo>
                    <a:pt x="68" y="446"/>
                  </a:lnTo>
                  <a:lnTo>
                    <a:pt x="68" y="432"/>
                  </a:lnTo>
                  <a:lnTo>
                    <a:pt x="66" y="416"/>
                  </a:lnTo>
                  <a:lnTo>
                    <a:pt x="66" y="416"/>
                  </a:lnTo>
                  <a:lnTo>
                    <a:pt x="60" y="392"/>
                  </a:lnTo>
                  <a:lnTo>
                    <a:pt x="56" y="368"/>
                  </a:lnTo>
                  <a:lnTo>
                    <a:pt x="56" y="348"/>
                  </a:lnTo>
                  <a:lnTo>
                    <a:pt x="58" y="328"/>
                  </a:lnTo>
                  <a:lnTo>
                    <a:pt x="64" y="304"/>
                  </a:lnTo>
                  <a:lnTo>
                    <a:pt x="64" y="304"/>
                  </a:lnTo>
                  <a:lnTo>
                    <a:pt x="70" y="282"/>
                  </a:lnTo>
                  <a:lnTo>
                    <a:pt x="74" y="258"/>
                  </a:lnTo>
                  <a:lnTo>
                    <a:pt x="76" y="232"/>
                  </a:lnTo>
                  <a:lnTo>
                    <a:pt x="74" y="218"/>
                  </a:lnTo>
                  <a:lnTo>
                    <a:pt x="72" y="204"/>
                  </a:lnTo>
                  <a:lnTo>
                    <a:pt x="72" y="204"/>
                  </a:lnTo>
                  <a:lnTo>
                    <a:pt x="64" y="172"/>
                  </a:lnTo>
                  <a:lnTo>
                    <a:pt x="64" y="172"/>
                  </a:lnTo>
                  <a:lnTo>
                    <a:pt x="56" y="138"/>
                  </a:lnTo>
                  <a:lnTo>
                    <a:pt x="54" y="120"/>
                  </a:lnTo>
                  <a:lnTo>
                    <a:pt x="56" y="102"/>
                  </a:lnTo>
                  <a:lnTo>
                    <a:pt x="56" y="102"/>
                  </a:lnTo>
                  <a:lnTo>
                    <a:pt x="56" y="72"/>
                  </a:lnTo>
                  <a:lnTo>
                    <a:pt x="52" y="48"/>
                  </a:lnTo>
                  <a:lnTo>
                    <a:pt x="50" y="34"/>
                  </a:lnTo>
                  <a:lnTo>
                    <a:pt x="48" y="26"/>
                  </a:lnTo>
                  <a:lnTo>
                    <a:pt x="38" y="0"/>
                  </a:lnTo>
                  <a:lnTo>
                    <a:pt x="28"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7" name="Freeform 124"/>
            <p:cNvSpPr/>
            <p:nvPr/>
          </p:nvSpPr>
          <p:spPr bwMode="auto">
            <a:xfrm>
              <a:off x="4527550" y="2600325"/>
              <a:ext cx="88900" cy="746125"/>
            </a:xfrm>
            <a:custGeom>
              <a:avLst/>
              <a:gdLst/>
              <a:ahLst/>
              <a:cxnLst>
                <a:cxn ang="0">
                  <a:pos x="44" y="470"/>
                </a:cxn>
                <a:cxn ang="0">
                  <a:pos x="44" y="470"/>
                </a:cxn>
                <a:cxn ang="0">
                  <a:pos x="44" y="462"/>
                </a:cxn>
                <a:cxn ang="0">
                  <a:pos x="48" y="442"/>
                </a:cxn>
                <a:cxn ang="0">
                  <a:pos x="48" y="416"/>
                </a:cxn>
                <a:cxn ang="0">
                  <a:pos x="48" y="402"/>
                </a:cxn>
                <a:cxn ang="0">
                  <a:pos x="46" y="388"/>
                </a:cxn>
                <a:cxn ang="0">
                  <a:pos x="46" y="388"/>
                </a:cxn>
                <a:cxn ang="0">
                  <a:pos x="40" y="362"/>
                </a:cxn>
                <a:cxn ang="0">
                  <a:pos x="36" y="338"/>
                </a:cxn>
                <a:cxn ang="0">
                  <a:pos x="36" y="316"/>
                </a:cxn>
                <a:cxn ang="0">
                  <a:pos x="38" y="292"/>
                </a:cxn>
                <a:cxn ang="0">
                  <a:pos x="38" y="292"/>
                </a:cxn>
                <a:cxn ang="0">
                  <a:pos x="46" y="268"/>
                </a:cxn>
                <a:cxn ang="0">
                  <a:pos x="52" y="238"/>
                </a:cxn>
                <a:cxn ang="0">
                  <a:pos x="54" y="224"/>
                </a:cxn>
                <a:cxn ang="0">
                  <a:pos x="56" y="208"/>
                </a:cxn>
                <a:cxn ang="0">
                  <a:pos x="56" y="192"/>
                </a:cxn>
                <a:cxn ang="0">
                  <a:pos x="52" y="174"/>
                </a:cxn>
                <a:cxn ang="0">
                  <a:pos x="52" y="174"/>
                </a:cxn>
                <a:cxn ang="0">
                  <a:pos x="38" y="120"/>
                </a:cxn>
                <a:cxn ang="0">
                  <a:pos x="36" y="96"/>
                </a:cxn>
                <a:cxn ang="0">
                  <a:pos x="36" y="68"/>
                </a:cxn>
                <a:cxn ang="0">
                  <a:pos x="36" y="68"/>
                </a:cxn>
                <a:cxn ang="0">
                  <a:pos x="36" y="40"/>
                </a:cxn>
                <a:cxn ang="0">
                  <a:pos x="32" y="18"/>
                </a:cxn>
                <a:cxn ang="0">
                  <a:pos x="28" y="0"/>
                </a:cxn>
                <a:cxn ang="0">
                  <a:pos x="28" y="0"/>
                </a:cxn>
                <a:cxn ang="0">
                  <a:pos x="28" y="0"/>
                </a:cxn>
                <a:cxn ang="0">
                  <a:pos x="24" y="18"/>
                </a:cxn>
                <a:cxn ang="0">
                  <a:pos x="20" y="40"/>
                </a:cxn>
                <a:cxn ang="0">
                  <a:pos x="20" y="68"/>
                </a:cxn>
                <a:cxn ang="0">
                  <a:pos x="20" y="68"/>
                </a:cxn>
                <a:cxn ang="0">
                  <a:pos x="20" y="96"/>
                </a:cxn>
                <a:cxn ang="0">
                  <a:pos x="18" y="120"/>
                </a:cxn>
                <a:cxn ang="0">
                  <a:pos x="4" y="174"/>
                </a:cxn>
                <a:cxn ang="0">
                  <a:pos x="4" y="174"/>
                </a:cxn>
                <a:cxn ang="0">
                  <a:pos x="0" y="192"/>
                </a:cxn>
                <a:cxn ang="0">
                  <a:pos x="0" y="208"/>
                </a:cxn>
                <a:cxn ang="0">
                  <a:pos x="2" y="224"/>
                </a:cxn>
                <a:cxn ang="0">
                  <a:pos x="4" y="238"/>
                </a:cxn>
                <a:cxn ang="0">
                  <a:pos x="10" y="268"/>
                </a:cxn>
                <a:cxn ang="0">
                  <a:pos x="18" y="292"/>
                </a:cxn>
                <a:cxn ang="0">
                  <a:pos x="18" y="292"/>
                </a:cxn>
                <a:cxn ang="0">
                  <a:pos x="20" y="316"/>
                </a:cxn>
                <a:cxn ang="0">
                  <a:pos x="20" y="338"/>
                </a:cxn>
                <a:cxn ang="0">
                  <a:pos x="16" y="362"/>
                </a:cxn>
                <a:cxn ang="0">
                  <a:pos x="10" y="388"/>
                </a:cxn>
                <a:cxn ang="0">
                  <a:pos x="10" y="388"/>
                </a:cxn>
                <a:cxn ang="0">
                  <a:pos x="8" y="402"/>
                </a:cxn>
                <a:cxn ang="0">
                  <a:pos x="8" y="416"/>
                </a:cxn>
                <a:cxn ang="0">
                  <a:pos x="8" y="442"/>
                </a:cxn>
                <a:cxn ang="0">
                  <a:pos x="12" y="462"/>
                </a:cxn>
                <a:cxn ang="0">
                  <a:pos x="12" y="470"/>
                </a:cxn>
                <a:cxn ang="0">
                  <a:pos x="44" y="470"/>
                </a:cxn>
              </a:cxnLst>
              <a:rect l="0" t="0" r="r" b="b"/>
              <a:pathLst>
                <a:path w="56" h="470">
                  <a:moveTo>
                    <a:pt x="44" y="470"/>
                  </a:moveTo>
                  <a:lnTo>
                    <a:pt x="44" y="470"/>
                  </a:lnTo>
                  <a:lnTo>
                    <a:pt x="44" y="462"/>
                  </a:lnTo>
                  <a:lnTo>
                    <a:pt x="48" y="442"/>
                  </a:lnTo>
                  <a:lnTo>
                    <a:pt x="48" y="416"/>
                  </a:lnTo>
                  <a:lnTo>
                    <a:pt x="48" y="402"/>
                  </a:lnTo>
                  <a:lnTo>
                    <a:pt x="46" y="388"/>
                  </a:lnTo>
                  <a:lnTo>
                    <a:pt x="46" y="388"/>
                  </a:lnTo>
                  <a:lnTo>
                    <a:pt x="40" y="362"/>
                  </a:lnTo>
                  <a:lnTo>
                    <a:pt x="36" y="338"/>
                  </a:lnTo>
                  <a:lnTo>
                    <a:pt x="36" y="316"/>
                  </a:lnTo>
                  <a:lnTo>
                    <a:pt x="38" y="292"/>
                  </a:lnTo>
                  <a:lnTo>
                    <a:pt x="38" y="292"/>
                  </a:lnTo>
                  <a:lnTo>
                    <a:pt x="46" y="268"/>
                  </a:lnTo>
                  <a:lnTo>
                    <a:pt x="52" y="238"/>
                  </a:lnTo>
                  <a:lnTo>
                    <a:pt x="54" y="224"/>
                  </a:lnTo>
                  <a:lnTo>
                    <a:pt x="56" y="208"/>
                  </a:lnTo>
                  <a:lnTo>
                    <a:pt x="56" y="192"/>
                  </a:lnTo>
                  <a:lnTo>
                    <a:pt x="52" y="174"/>
                  </a:lnTo>
                  <a:lnTo>
                    <a:pt x="52" y="174"/>
                  </a:lnTo>
                  <a:lnTo>
                    <a:pt x="38" y="120"/>
                  </a:lnTo>
                  <a:lnTo>
                    <a:pt x="36" y="96"/>
                  </a:lnTo>
                  <a:lnTo>
                    <a:pt x="36" y="68"/>
                  </a:lnTo>
                  <a:lnTo>
                    <a:pt x="36" y="68"/>
                  </a:lnTo>
                  <a:lnTo>
                    <a:pt x="36" y="40"/>
                  </a:lnTo>
                  <a:lnTo>
                    <a:pt x="32" y="18"/>
                  </a:lnTo>
                  <a:lnTo>
                    <a:pt x="28" y="0"/>
                  </a:lnTo>
                  <a:lnTo>
                    <a:pt x="28" y="0"/>
                  </a:lnTo>
                  <a:lnTo>
                    <a:pt x="28" y="0"/>
                  </a:lnTo>
                  <a:lnTo>
                    <a:pt x="24" y="18"/>
                  </a:lnTo>
                  <a:lnTo>
                    <a:pt x="20" y="40"/>
                  </a:lnTo>
                  <a:lnTo>
                    <a:pt x="20" y="68"/>
                  </a:lnTo>
                  <a:lnTo>
                    <a:pt x="20" y="68"/>
                  </a:lnTo>
                  <a:lnTo>
                    <a:pt x="20" y="96"/>
                  </a:lnTo>
                  <a:lnTo>
                    <a:pt x="18" y="120"/>
                  </a:lnTo>
                  <a:lnTo>
                    <a:pt x="4" y="174"/>
                  </a:lnTo>
                  <a:lnTo>
                    <a:pt x="4" y="174"/>
                  </a:lnTo>
                  <a:lnTo>
                    <a:pt x="0" y="192"/>
                  </a:lnTo>
                  <a:lnTo>
                    <a:pt x="0" y="208"/>
                  </a:lnTo>
                  <a:lnTo>
                    <a:pt x="2" y="224"/>
                  </a:lnTo>
                  <a:lnTo>
                    <a:pt x="4" y="238"/>
                  </a:lnTo>
                  <a:lnTo>
                    <a:pt x="10" y="268"/>
                  </a:lnTo>
                  <a:lnTo>
                    <a:pt x="18" y="292"/>
                  </a:lnTo>
                  <a:lnTo>
                    <a:pt x="18" y="292"/>
                  </a:lnTo>
                  <a:lnTo>
                    <a:pt x="20" y="316"/>
                  </a:lnTo>
                  <a:lnTo>
                    <a:pt x="20" y="338"/>
                  </a:lnTo>
                  <a:lnTo>
                    <a:pt x="16" y="362"/>
                  </a:lnTo>
                  <a:lnTo>
                    <a:pt x="10" y="388"/>
                  </a:lnTo>
                  <a:lnTo>
                    <a:pt x="10" y="388"/>
                  </a:lnTo>
                  <a:lnTo>
                    <a:pt x="8" y="402"/>
                  </a:lnTo>
                  <a:lnTo>
                    <a:pt x="8" y="416"/>
                  </a:lnTo>
                  <a:lnTo>
                    <a:pt x="8" y="442"/>
                  </a:lnTo>
                  <a:lnTo>
                    <a:pt x="12" y="462"/>
                  </a:lnTo>
                  <a:lnTo>
                    <a:pt x="12" y="470"/>
                  </a:lnTo>
                  <a:lnTo>
                    <a:pt x="44" y="47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8" name="Freeform 125"/>
            <p:cNvSpPr/>
            <p:nvPr/>
          </p:nvSpPr>
          <p:spPr bwMode="auto">
            <a:xfrm>
              <a:off x="4556125" y="2841625"/>
              <a:ext cx="31750" cy="168275"/>
            </a:xfrm>
            <a:custGeom>
              <a:avLst/>
              <a:gdLst/>
              <a:ahLst/>
              <a:cxnLst>
                <a:cxn ang="0">
                  <a:pos x="0" y="52"/>
                </a:cxn>
                <a:cxn ang="0">
                  <a:pos x="0" y="52"/>
                </a:cxn>
                <a:cxn ang="0">
                  <a:pos x="0" y="70"/>
                </a:cxn>
                <a:cxn ang="0">
                  <a:pos x="2" y="84"/>
                </a:cxn>
                <a:cxn ang="0">
                  <a:pos x="6" y="96"/>
                </a:cxn>
                <a:cxn ang="0">
                  <a:pos x="10" y="106"/>
                </a:cxn>
                <a:cxn ang="0">
                  <a:pos x="10" y="106"/>
                </a:cxn>
                <a:cxn ang="0">
                  <a:pos x="14" y="96"/>
                </a:cxn>
                <a:cxn ang="0">
                  <a:pos x="18" y="84"/>
                </a:cxn>
                <a:cxn ang="0">
                  <a:pos x="20" y="70"/>
                </a:cxn>
                <a:cxn ang="0">
                  <a:pos x="20" y="52"/>
                </a:cxn>
                <a:cxn ang="0">
                  <a:pos x="20" y="52"/>
                </a:cxn>
                <a:cxn ang="0">
                  <a:pos x="20" y="36"/>
                </a:cxn>
                <a:cxn ang="0">
                  <a:pos x="18" y="22"/>
                </a:cxn>
                <a:cxn ang="0">
                  <a:pos x="14" y="8"/>
                </a:cxn>
                <a:cxn ang="0">
                  <a:pos x="10" y="0"/>
                </a:cxn>
                <a:cxn ang="0">
                  <a:pos x="10" y="0"/>
                </a:cxn>
                <a:cxn ang="0">
                  <a:pos x="6" y="8"/>
                </a:cxn>
                <a:cxn ang="0">
                  <a:pos x="2" y="22"/>
                </a:cxn>
                <a:cxn ang="0">
                  <a:pos x="0" y="36"/>
                </a:cxn>
                <a:cxn ang="0">
                  <a:pos x="0" y="52"/>
                </a:cxn>
                <a:cxn ang="0">
                  <a:pos x="0" y="52"/>
                </a:cxn>
              </a:cxnLst>
              <a:rect l="0" t="0" r="r" b="b"/>
              <a:pathLst>
                <a:path w="20" h="106">
                  <a:moveTo>
                    <a:pt x="0" y="52"/>
                  </a:moveTo>
                  <a:lnTo>
                    <a:pt x="0" y="52"/>
                  </a:lnTo>
                  <a:lnTo>
                    <a:pt x="0" y="70"/>
                  </a:lnTo>
                  <a:lnTo>
                    <a:pt x="2" y="84"/>
                  </a:lnTo>
                  <a:lnTo>
                    <a:pt x="6" y="96"/>
                  </a:lnTo>
                  <a:lnTo>
                    <a:pt x="10" y="106"/>
                  </a:lnTo>
                  <a:lnTo>
                    <a:pt x="10" y="106"/>
                  </a:lnTo>
                  <a:lnTo>
                    <a:pt x="14" y="96"/>
                  </a:lnTo>
                  <a:lnTo>
                    <a:pt x="18" y="84"/>
                  </a:lnTo>
                  <a:lnTo>
                    <a:pt x="20" y="70"/>
                  </a:lnTo>
                  <a:lnTo>
                    <a:pt x="20" y="52"/>
                  </a:lnTo>
                  <a:lnTo>
                    <a:pt x="20" y="52"/>
                  </a:lnTo>
                  <a:lnTo>
                    <a:pt x="20" y="36"/>
                  </a:lnTo>
                  <a:lnTo>
                    <a:pt x="18" y="22"/>
                  </a:lnTo>
                  <a:lnTo>
                    <a:pt x="14" y="8"/>
                  </a:lnTo>
                  <a:lnTo>
                    <a:pt x="10" y="0"/>
                  </a:lnTo>
                  <a:lnTo>
                    <a:pt x="10" y="0"/>
                  </a:lnTo>
                  <a:lnTo>
                    <a:pt x="6" y="8"/>
                  </a:lnTo>
                  <a:lnTo>
                    <a:pt x="2" y="22"/>
                  </a:lnTo>
                  <a:lnTo>
                    <a:pt x="0" y="36"/>
                  </a:lnTo>
                  <a:lnTo>
                    <a:pt x="0" y="52"/>
                  </a:lnTo>
                  <a:lnTo>
                    <a:pt x="0" y="5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9" name="Freeform 126"/>
            <p:cNvSpPr/>
            <p:nvPr/>
          </p:nvSpPr>
          <p:spPr bwMode="auto">
            <a:xfrm>
              <a:off x="4591050" y="2806700"/>
              <a:ext cx="603250" cy="603250"/>
            </a:xfrm>
            <a:custGeom>
              <a:avLst/>
              <a:gdLst/>
              <a:ahLst/>
              <a:cxnLst>
                <a:cxn ang="0">
                  <a:pos x="354" y="12"/>
                </a:cxn>
                <a:cxn ang="0">
                  <a:pos x="334" y="24"/>
                </a:cxn>
                <a:cxn ang="0">
                  <a:pos x="296" y="60"/>
                </a:cxn>
                <a:cxn ang="0">
                  <a:pos x="296" y="60"/>
                </a:cxn>
                <a:cxn ang="0">
                  <a:pos x="270" y="84"/>
                </a:cxn>
                <a:cxn ang="0">
                  <a:pos x="212" y="120"/>
                </a:cxn>
                <a:cxn ang="0">
                  <a:pos x="200" y="128"/>
                </a:cxn>
                <a:cxn ang="0">
                  <a:pos x="172" y="156"/>
                </a:cxn>
                <a:cxn ang="0">
                  <a:pos x="146" y="196"/>
                </a:cxn>
                <a:cxn ang="0">
                  <a:pos x="134" y="216"/>
                </a:cxn>
                <a:cxn ang="0">
                  <a:pos x="106" y="248"/>
                </a:cxn>
                <a:cxn ang="0">
                  <a:pos x="66" y="276"/>
                </a:cxn>
                <a:cxn ang="0">
                  <a:pos x="54" y="284"/>
                </a:cxn>
                <a:cxn ang="0">
                  <a:pos x="24" y="314"/>
                </a:cxn>
                <a:cxn ang="0">
                  <a:pos x="6" y="338"/>
                </a:cxn>
                <a:cxn ang="0">
                  <a:pos x="6" y="352"/>
                </a:cxn>
                <a:cxn ang="0">
                  <a:pos x="40" y="374"/>
                </a:cxn>
                <a:cxn ang="0">
                  <a:pos x="48" y="370"/>
                </a:cxn>
                <a:cxn ang="0">
                  <a:pos x="86" y="338"/>
                </a:cxn>
                <a:cxn ang="0">
                  <a:pos x="104" y="314"/>
                </a:cxn>
                <a:cxn ang="0">
                  <a:pos x="118" y="292"/>
                </a:cxn>
                <a:cxn ang="0">
                  <a:pos x="146" y="260"/>
                </a:cxn>
                <a:cxn ang="0">
                  <a:pos x="184" y="234"/>
                </a:cxn>
                <a:cxn ang="0">
                  <a:pos x="204" y="222"/>
                </a:cxn>
                <a:cxn ang="0">
                  <a:pos x="244" y="190"/>
                </a:cxn>
                <a:cxn ang="0">
                  <a:pos x="260" y="168"/>
                </a:cxn>
                <a:cxn ang="0">
                  <a:pos x="276" y="140"/>
                </a:cxn>
                <a:cxn ang="0">
                  <a:pos x="306" y="98"/>
                </a:cxn>
                <a:cxn ang="0">
                  <a:pos x="320" y="84"/>
                </a:cxn>
                <a:cxn ang="0">
                  <a:pos x="356" y="46"/>
                </a:cxn>
                <a:cxn ang="0">
                  <a:pos x="368" y="26"/>
                </a:cxn>
                <a:cxn ang="0">
                  <a:pos x="354" y="12"/>
                </a:cxn>
              </a:cxnLst>
              <a:rect l="0" t="0" r="r" b="b"/>
              <a:pathLst>
                <a:path w="380" h="380">
                  <a:moveTo>
                    <a:pt x="354" y="12"/>
                  </a:moveTo>
                  <a:lnTo>
                    <a:pt x="354" y="12"/>
                  </a:lnTo>
                  <a:lnTo>
                    <a:pt x="348" y="16"/>
                  </a:lnTo>
                  <a:lnTo>
                    <a:pt x="334" y="24"/>
                  </a:lnTo>
                  <a:lnTo>
                    <a:pt x="316" y="38"/>
                  </a:lnTo>
                  <a:lnTo>
                    <a:pt x="296" y="60"/>
                  </a:lnTo>
                  <a:lnTo>
                    <a:pt x="296" y="60"/>
                  </a:lnTo>
                  <a:lnTo>
                    <a:pt x="296" y="60"/>
                  </a:lnTo>
                  <a:lnTo>
                    <a:pt x="282" y="74"/>
                  </a:lnTo>
                  <a:lnTo>
                    <a:pt x="270" y="84"/>
                  </a:lnTo>
                  <a:lnTo>
                    <a:pt x="240" y="104"/>
                  </a:lnTo>
                  <a:lnTo>
                    <a:pt x="212" y="120"/>
                  </a:lnTo>
                  <a:lnTo>
                    <a:pt x="212" y="120"/>
                  </a:lnTo>
                  <a:lnTo>
                    <a:pt x="200" y="128"/>
                  </a:lnTo>
                  <a:lnTo>
                    <a:pt x="190" y="138"/>
                  </a:lnTo>
                  <a:lnTo>
                    <a:pt x="172" y="156"/>
                  </a:lnTo>
                  <a:lnTo>
                    <a:pt x="158" y="176"/>
                  </a:lnTo>
                  <a:lnTo>
                    <a:pt x="146" y="196"/>
                  </a:lnTo>
                  <a:lnTo>
                    <a:pt x="134" y="216"/>
                  </a:lnTo>
                  <a:lnTo>
                    <a:pt x="134" y="216"/>
                  </a:lnTo>
                  <a:lnTo>
                    <a:pt x="120" y="234"/>
                  </a:lnTo>
                  <a:lnTo>
                    <a:pt x="106" y="248"/>
                  </a:lnTo>
                  <a:lnTo>
                    <a:pt x="88" y="262"/>
                  </a:lnTo>
                  <a:lnTo>
                    <a:pt x="66" y="276"/>
                  </a:lnTo>
                  <a:lnTo>
                    <a:pt x="66" y="276"/>
                  </a:lnTo>
                  <a:lnTo>
                    <a:pt x="54" y="284"/>
                  </a:lnTo>
                  <a:lnTo>
                    <a:pt x="44" y="294"/>
                  </a:lnTo>
                  <a:lnTo>
                    <a:pt x="24" y="314"/>
                  </a:lnTo>
                  <a:lnTo>
                    <a:pt x="12" y="330"/>
                  </a:lnTo>
                  <a:lnTo>
                    <a:pt x="6" y="338"/>
                  </a:lnTo>
                  <a:lnTo>
                    <a:pt x="0" y="346"/>
                  </a:lnTo>
                  <a:lnTo>
                    <a:pt x="6" y="352"/>
                  </a:lnTo>
                  <a:lnTo>
                    <a:pt x="34" y="380"/>
                  </a:lnTo>
                  <a:lnTo>
                    <a:pt x="40" y="374"/>
                  </a:lnTo>
                  <a:lnTo>
                    <a:pt x="40" y="374"/>
                  </a:lnTo>
                  <a:lnTo>
                    <a:pt x="48" y="370"/>
                  </a:lnTo>
                  <a:lnTo>
                    <a:pt x="66" y="356"/>
                  </a:lnTo>
                  <a:lnTo>
                    <a:pt x="86" y="338"/>
                  </a:lnTo>
                  <a:lnTo>
                    <a:pt x="96" y="326"/>
                  </a:lnTo>
                  <a:lnTo>
                    <a:pt x="104" y="314"/>
                  </a:lnTo>
                  <a:lnTo>
                    <a:pt x="104" y="314"/>
                  </a:lnTo>
                  <a:lnTo>
                    <a:pt x="118" y="292"/>
                  </a:lnTo>
                  <a:lnTo>
                    <a:pt x="132" y="274"/>
                  </a:lnTo>
                  <a:lnTo>
                    <a:pt x="146" y="260"/>
                  </a:lnTo>
                  <a:lnTo>
                    <a:pt x="164" y="246"/>
                  </a:lnTo>
                  <a:lnTo>
                    <a:pt x="184" y="234"/>
                  </a:lnTo>
                  <a:lnTo>
                    <a:pt x="184" y="234"/>
                  </a:lnTo>
                  <a:lnTo>
                    <a:pt x="204" y="222"/>
                  </a:lnTo>
                  <a:lnTo>
                    <a:pt x="224" y="208"/>
                  </a:lnTo>
                  <a:lnTo>
                    <a:pt x="244" y="190"/>
                  </a:lnTo>
                  <a:lnTo>
                    <a:pt x="252" y="180"/>
                  </a:lnTo>
                  <a:lnTo>
                    <a:pt x="260" y="168"/>
                  </a:lnTo>
                  <a:lnTo>
                    <a:pt x="276" y="140"/>
                  </a:lnTo>
                  <a:lnTo>
                    <a:pt x="276" y="140"/>
                  </a:lnTo>
                  <a:lnTo>
                    <a:pt x="296" y="110"/>
                  </a:lnTo>
                  <a:lnTo>
                    <a:pt x="306" y="98"/>
                  </a:lnTo>
                  <a:lnTo>
                    <a:pt x="320" y="84"/>
                  </a:lnTo>
                  <a:lnTo>
                    <a:pt x="320" y="84"/>
                  </a:lnTo>
                  <a:lnTo>
                    <a:pt x="342" y="64"/>
                  </a:lnTo>
                  <a:lnTo>
                    <a:pt x="356" y="46"/>
                  </a:lnTo>
                  <a:lnTo>
                    <a:pt x="364" y="32"/>
                  </a:lnTo>
                  <a:lnTo>
                    <a:pt x="368" y="26"/>
                  </a:lnTo>
                  <a:lnTo>
                    <a:pt x="380" y="0"/>
                  </a:lnTo>
                  <a:lnTo>
                    <a:pt x="3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0" name="Freeform 127"/>
            <p:cNvSpPr/>
            <p:nvPr/>
          </p:nvSpPr>
          <p:spPr bwMode="auto">
            <a:xfrm>
              <a:off x="4613275" y="2841625"/>
              <a:ext cx="546100" cy="546100"/>
            </a:xfrm>
            <a:custGeom>
              <a:avLst/>
              <a:gdLst/>
              <a:ahLst/>
              <a:cxnLst>
                <a:cxn ang="0">
                  <a:pos x="22" y="344"/>
                </a:cxn>
                <a:cxn ang="0">
                  <a:pos x="22" y="344"/>
                </a:cxn>
                <a:cxn ang="0">
                  <a:pos x="28" y="340"/>
                </a:cxn>
                <a:cxn ang="0">
                  <a:pos x="44" y="328"/>
                </a:cxn>
                <a:cxn ang="0">
                  <a:pos x="64" y="310"/>
                </a:cxn>
                <a:cxn ang="0">
                  <a:pos x="72" y="298"/>
                </a:cxn>
                <a:cxn ang="0">
                  <a:pos x="82" y="288"/>
                </a:cxn>
                <a:cxn ang="0">
                  <a:pos x="82" y="288"/>
                </a:cxn>
                <a:cxn ang="0">
                  <a:pos x="96" y="266"/>
                </a:cxn>
                <a:cxn ang="0">
                  <a:pos x="110" y="246"/>
                </a:cxn>
                <a:cxn ang="0">
                  <a:pos x="126" y="230"/>
                </a:cxn>
                <a:cxn ang="0">
                  <a:pos x="144" y="216"/>
                </a:cxn>
                <a:cxn ang="0">
                  <a:pos x="144" y="216"/>
                </a:cxn>
                <a:cxn ang="0">
                  <a:pos x="166" y="202"/>
                </a:cxn>
                <a:cxn ang="0">
                  <a:pos x="192" y="186"/>
                </a:cxn>
                <a:cxn ang="0">
                  <a:pos x="204" y="178"/>
                </a:cxn>
                <a:cxn ang="0">
                  <a:pos x="216" y="168"/>
                </a:cxn>
                <a:cxn ang="0">
                  <a:pos x="228" y="156"/>
                </a:cxn>
                <a:cxn ang="0">
                  <a:pos x="238" y="142"/>
                </a:cxn>
                <a:cxn ang="0">
                  <a:pos x="238" y="142"/>
                </a:cxn>
                <a:cxn ang="0">
                  <a:pos x="266" y="94"/>
                </a:cxn>
                <a:cxn ang="0">
                  <a:pos x="280" y="74"/>
                </a:cxn>
                <a:cxn ang="0">
                  <a:pos x="300" y="54"/>
                </a:cxn>
                <a:cxn ang="0">
                  <a:pos x="300" y="54"/>
                </a:cxn>
                <a:cxn ang="0">
                  <a:pos x="320" y="34"/>
                </a:cxn>
                <a:cxn ang="0">
                  <a:pos x="334" y="18"/>
                </a:cxn>
                <a:cxn ang="0">
                  <a:pos x="344" y="0"/>
                </a:cxn>
                <a:cxn ang="0">
                  <a:pos x="344" y="0"/>
                </a:cxn>
                <a:cxn ang="0">
                  <a:pos x="344" y="0"/>
                </a:cxn>
                <a:cxn ang="0">
                  <a:pos x="326" y="10"/>
                </a:cxn>
                <a:cxn ang="0">
                  <a:pos x="310" y="24"/>
                </a:cxn>
                <a:cxn ang="0">
                  <a:pos x="290" y="44"/>
                </a:cxn>
                <a:cxn ang="0">
                  <a:pos x="290" y="44"/>
                </a:cxn>
                <a:cxn ang="0">
                  <a:pos x="270" y="64"/>
                </a:cxn>
                <a:cxn ang="0">
                  <a:pos x="250" y="78"/>
                </a:cxn>
                <a:cxn ang="0">
                  <a:pos x="202" y="108"/>
                </a:cxn>
                <a:cxn ang="0">
                  <a:pos x="202" y="108"/>
                </a:cxn>
                <a:cxn ang="0">
                  <a:pos x="188" y="116"/>
                </a:cxn>
                <a:cxn ang="0">
                  <a:pos x="176" y="128"/>
                </a:cxn>
                <a:cxn ang="0">
                  <a:pos x="166" y="140"/>
                </a:cxn>
                <a:cxn ang="0">
                  <a:pos x="158" y="152"/>
                </a:cxn>
                <a:cxn ang="0">
                  <a:pos x="142" y="178"/>
                </a:cxn>
                <a:cxn ang="0">
                  <a:pos x="128" y="200"/>
                </a:cxn>
                <a:cxn ang="0">
                  <a:pos x="128" y="200"/>
                </a:cxn>
                <a:cxn ang="0">
                  <a:pos x="114" y="218"/>
                </a:cxn>
                <a:cxn ang="0">
                  <a:pos x="98" y="234"/>
                </a:cxn>
                <a:cxn ang="0">
                  <a:pos x="78" y="248"/>
                </a:cxn>
                <a:cxn ang="0">
                  <a:pos x="56" y="262"/>
                </a:cxn>
                <a:cxn ang="0">
                  <a:pos x="56" y="262"/>
                </a:cxn>
                <a:cxn ang="0">
                  <a:pos x="46" y="272"/>
                </a:cxn>
                <a:cxn ang="0">
                  <a:pos x="34" y="280"/>
                </a:cxn>
                <a:cxn ang="0">
                  <a:pos x="16" y="300"/>
                </a:cxn>
                <a:cxn ang="0">
                  <a:pos x="4" y="316"/>
                </a:cxn>
                <a:cxn ang="0">
                  <a:pos x="0" y="322"/>
                </a:cxn>
                <a:cxn ang="0">
                  <a:pos x="22" y="344"/>
                </a:cxn>
              </a:cxnLst>
              <a:rect l="0" t="0" r="r" b="b"/>
              <a:pathLst>
                <a:path w="344" h="344">
                  <a:moveTo>
                    <a:pt x="22" y="344"/>
                  </a:moveTo>
                  <a:lnTo>
                    <a:pt x="22" y="344"/>
                  </a:lnTo>
                  <a:lnTo>
                    <a:pt x="28" y="340"/>
                  </a:lnTo>
                  <a:lnTo>
                    <a:pt x="44" y="328"/>
                  </a:lnTo>
                  <a:lnTo>
                    <a:pt x="64" y="310"/>
                  </a:lnTo>
                  <a:lnTo>
                    <a:pt x="72" y="298"/>
                  </a:lnTo>
                  <a:lnTo>
                    <a:pt x="82" y="288"/>
                  </a:lnTo>
                  <a:lnTo>
                    <a:pt x="82" y="288"/>
                  </a:lnTo>
                  <a:lnTo>
                    <a:pt x="96" y="266"/>
                  </a:lnTo>
                  <a:lnTo>
                    <a:pt x="110" y="246"/>
                  </a:lnTo>
                  <a:lnTo>
                    <a:pt x="126" y="230"/>
                  </a:lnTo>
                  <a:lnTo>
                    <a:pt x="144" y="216"/>
                  </a:lnTo>
                  <a:lnTo>
                    <a:pt x="144" y="216"/>
                  </a:lnTo>
                  <a:lnTo>
                    <a:pt x="166" y="202"/>
                  </a:lnTo>
                  <a:lnTo>
                    <a:pt x="192" y="186"/>
                  </a:lnTo>
                  <a:lnTo>
                    <a:pt x="204" y="178"/>
                  </a:lnTo>
                  <a:lnTo>
                    <a:pt x="216" y="168"/>
                  </a:lnTo>
                  <a:lnTo>
                    <a:pt x="228" y="156"/>
                  </a:lnTo>
                  <a:lnTo>
                    <a:pt x="238" y="142"/>
                  </a:lnTo>
                  <a:lnTo>
                    <a:pt x="238" y="142"/>
                  </a:lnTo>
                  <a:lnTo>
                    <a:pt x="266" y="94"/>
                  </a:lnTo>
                  <a:lnTo>
                    <a:pt x="280" y="74"/>
                  </a:lnTo>
                  <a:lnTo>
                    <a:pt x="300" y="54"/>
                  </a:lnTo>
                  <a:lnTo>
                    <a:pt x="300" y="54"/>
                  </a:lnTo>
                  <a:lnTo>
                    <a:pt x="320" y="34"/>
                  </a:lnTo>
                  <a:lnTo>
                    <a:pt x="334" y="18"/>
                  </a:lnTo>
                  <a:lnTo>
                    <a:pt x="344" y="0"/>
                  </a:lnTo>
                  <a:lnTo>
                    <a:pt x="344" y="0"/>
                  </a:lnTo>
                  <a:lnTo>
                    <a:pt x="344" y="0"/>
                  </a:lnTo>
                  <a:lnTo>
                    <a:pt x="326" y="10"/>
                  </a:lnTo>
                  <a:lnTo>
                    <a:pt x="310" y="24"/>
                  </a:lnTo>
                  <a:lnTo>
                    <a:pt x="290" y="44"/>
                  </a:lnTo>
                  <a:lnTo>
                    <a:pt x="290" y="44"/>
                  </a:lnTo>
                  <a:lnTo>
                    <a:pt x="270" y="64"/>
                  </a:lnTo>
                  <a:lnTo>
                    <a:pt x="250" y="78"/>
                  </a:lnTo>
                  <a:lnTo>
                    <a:pt x="202" y="108"/>
                  </a:lnTo>
                  <a:lnTo>
                    <a:pt x="202" y="108"/>
                  </a:lnTo>
                  <a:lnTo>
                    <a:pt x="188" y="116"/>
                  </a:lnTo>
                  <a:lnTo>
                    <a:pt x="176" y="128"/>
                  </a:lnTo>
                  <a:lnTo>
                    <a:pt x="166" y="140"/>
                  </a:lnTo>
                  <a:lnTo>
                    <a:pt x="158" y="152"/>
                  </a:lnTo>
                  <a:lnTo>
                    <a:pt x="142" y="178"/>
                  </a:lnTo>
                  <a:lnTo>
                    <a:pt x="128" y="200"/>
                  </a:lnTo>
                  <a:lnTo>
                    <a:pt x="128" y="200"/>
                  </a:lnTo>
                  <a:lnTo>
                    <a:pt x="114" y="218"/>
                  </a:lnTo>
                  <a:lnTo>
                    <a:pt x="98" y="234"/>
                  </a:lnTo>
                  <a:lnTo>
                    <a:pt x="78" y="248"/>
                  </a:lnTo>
                  <a:lnTo>
                    <a:pt x="56" y="262"/>
                  </a:lnTo>
                  <a:lnTo>
                    <a:pt x="56" y="262"/>
                  </a:lnTo>
                  <a:lnTo>
                    <a:pt x="46" y="272"/>
                  </a:lnTo>
                  <a:lnTo>
                    <a:pt x="34" y="280"/>
                  </a:lnTo>
                  <a:lnTo>
                    <a:pt x="16" y="300"/>
                  </a:lnTo>
                  <a:lnTo>
                    <a:pt x="4" y="316"/>
                  </a:lnTo>
                  <a:lnTo>
                    <a:pt x="0" y="322"/>
                  </a:lnTo>
                  <a:lnTo>
                    <a:pt x="22" y="3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1" name="Freeform 128"/>
            <p:cNvSpPr/>
            <p:nvPr/>
          </p:nvSpPr>
          <p:spPr bwMode="auto">
            <a:xfrm>
              <a:off x="4867275" y="3013075"/>
              <a:ext cx="120650" cy="120650"/>
            </a:xfrm>
            <a:custGeom>
              <a:avLst/>
              <a:gdLst/>
              <a:ahLst/>
              <a:cxnLst>
                <a:cxn ang="0">
                  <a:pos x="30" y="30"/>
                </a:cxn>
                <a:cxn ang="0">
                  <a:pos x="30" y="30"/>
                </a:cxn>
                <a:cxn ang="0">
                  <a:pos x="20" y="42"/>
                </a:cxn>
                <a:cxn ang="0">
                  <a:pos x="10" y="54"/>
                </a:cxn>
                <a:cxn ang="0">
                  <a:pos x="4" y="66"/>
                </a:cxn>
                <a:cxn ang="0">
                  <a:pos x="0" y="76"/>
                </a:cxn>
                <a:cxn ang="0">
                  <a:pos x="0" y="76"/>
                </a:cxn>
                <a:cxn ang="0">
                  <a:pos x="10" y="72"/>
                </a:cxn>
                <a:cxn ang="0">
                  <a:pos x="22" y="66"/>
                </a:cxn>
                <a:cxn ang="0">
                  <a:pos x="34" y="56"/>
                </a:cxn>
                <a:cxn ang="0">
                  <a:pos x="46" y="46"/>
                </a:cxn>
                <a:cxn ang="0">
                  <a:pos x="46" y="46"/>
                </a:cxn>
                <a:cxn ang="0">
                  <a:pos x="58" y="34"/>
                </a:cxn>
                <a:cxn ang="0">
                  <a:pos x="66" y="22"/>
                </a:cxn>
                <a:cxn ang="0">
                  <a:pos x="72" y="10"/>
                </a:cxn>
                <a:cxn ang="0">
                  <a:pos x="76" y="0"/>
                </a:cxn>
                <a:cxn ang="0">
                  <a:pos x="76" y="0"/>
                </a:cxn>
                <a:cxn ang="0">
                  <a:pos x="66" y="4"/>
                </a:cxn>
                <a:cxn ang="0">
                  <a:pos x="54" y="10"/>
                </a:cxn>
                <a:cxn ang="0">
                  <a:pos x="42" y="18"/>
                </a:cxn>
                <a:cxn ang="0">
                  <a:pos x="30" y="30"/>
                </a:cxn>
                <a:cxn ang="0">
                  <a:pos x="30" y="30"/>
                </a:cxn>
              </a:cxnLst>
              <a:rect l="0" t="0" r="r" b="b"/>
              <a:pathLst>
                <a:path w="76" h="76">
                  <a:moveTo>
                    <a:pt x="30" y="30"/>
                  </a:moveTo>
                  <a:lnTo>
                    <a:pt x="30" y="30"/>
                  </a:lnTo>
                  <a:lnTo>
                    <a:pt x="20" y="42"/>
                  </a:lnTo>
                  <a:lnTo>
                    <a:pt x="10" y="54"/>
                  </a:lnTo>
                  <a:lnTo>
                    <a:pt x="4" y="66"/>
                  </a:lnTo>
                  <a:lnTo>
                    <a:pt x="0" y="76"/>
                  </a:lnTo>
                  <a:lnTo>
                    <a:pt x="0" y="76"/>
                  </a:lnTo>
                  <a:lnTo>
                    <a:pt x="10" y="72"/>
                  </a:lnTo>
                  <a:lnTo>
                    <a:pt x="22" y="66"/>
                  </a:lnTo>
                  <a:lnTo>
                    <a:pt x="34" y="56"/>
                  </a:lnTo>
                  <a:lnTo>
                    <a:pt x="46" y="46"/>
                  </a:lnTo>
                  <a:lnTo>
                    <a:pt x="46" y="46"/>
                  </a:lnTo>
                  <a:lnTo>
                    <a:pt x="58" y="34"/>
                  </a:lnTo>
                  <a:lnTo>
                    <a:pt x="66" y="22"/>
                  </a:lnTo>
                  <a:lnTo>
                    <a:pt x="72" y="10"/>
                  </a:lnTo>
                  <a:lnTo>
                    <a:pt x="76" y="0"/>
                  </a:lnTo>
                  <a:lnTo>
                    <a:pt x="76" y="0"/>
                  </a:lnTo>
                  <a:lnTo>
                    <a:pt x="66" y="4"/>
                  </a:lnTo>
                  <a:lnTo>
                    <a:pt x="54" y="10"/>
                  </a:lnTo>
                  <a:lnTo>
                    <a:pt x="42" y="18"/>
                  </a:lnTo>
                  <a:lnTo>
                    <a:pt x="30" y="30"/>
                  </a:lnTo>
                  <a:lnTo>
                    <a:pt x="30"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2" name="Freeform 129"/>
            <p:cNvSpPr/>
            <p:nvPr/>
          </p:nvSpPr>
          <p:spPr bwMode="auto">
            <a:xfrm>
              <a:off x="4635500" y="3368675"/>
              <a:ext cx="815975" cy="120650"/>
            </a:xfrm>
            <a:custGeom>
              <a:avLst/>
              <a:gdLst/>
              <a:ahLst/>
              <a:cxnLst>
                <a:cxn ang="0">
                  <a:pos x="488" y="28"/>
                </a:cxn>
                <a:cxn ang="0">
                  <a:pos x="466" y="24"/>
                </a:cxn>
                <a:cxn ang="0">
                  <a:pos x="412" y="20"/>
                </a:cxn>
                <a:cxn ang="0">
                  <a:pos x="412" y="20"/>
                </a:cxn>
                <a:cxn ang="0">
                  <a:pos x="376" y="20"/>
                </a:cxn>
                <a:cxn ang="0">
                  <a:pos x="310" y="4"/>
                </a:cxn>
                <a:cxn ang="0">
                  <a:pos x="296" y="2"/>
                </a:cxn>
                <a:cxn ang="0">
                  <a:pos x="256" y="2"/>
                </a:cxn>
                <a:cxn ang="0">
                  <a:pos x="210" y="12"/>
                </a:cxn>
                <a:cxn ang="0">
                  <a:pos x="186" y="18"/>
                </a:cxn>
                <a:cxn ang="0">
                  <a:pos x="146" y="20"/>
                </a:cxn>
                <a:cxn ang="0">
                  <a:pos x="98" y="10"/>
                </a:cxn>
                <a:cxn ang="0">
                  <a:pos x="82" y="8"/>
                </a:cxn>
                <a:cxn ang="0">
                  <a:pos x="42" y="8"/>
                </a:cxn>
                <a:cxn ang="0">
                  <a:pos x="10" y="12"/>
                </a:cxn>
                <a:cxn ang="0">
                  <a:pos x="0" y="22"/>
                </a:cxn>
                <a:cxn ang="0">
                  <a:pos x="10" y="64"/>
                </a:cxn>
                <a:cxn ang="0">
                  <a:pos x="18" y="64"/>
                </a:cxn>
                <a:cxn ang="0">
                  <a:pos x="68" y="68"/>
                </a:cxn>
                <a:cxn ang="0">
                  <a:pos x="98" y="66"/>
                </a:cxn>
                <a:cxn ang="0">
                  <a:pos x="122" y="60"/>
                </a:cxn>
                <a:cxn ang="0">
                  <a:pos x="166" y="56"/>
                </a:cxn>
                <a:cxn ang="0">
                  <a:pos x="210" y="64"/>
                </a:cxn>
                <a:cxn ang="0">
                  <a:pos x="232" y="70"/>
                </a:cxn>
                <a:cxn ang="0">
                  <a:pos x="282" y="76"/>
                </a:cxn>
                <a:cxn ang="0">
                  <a:pos x="310" y="72"/>
                </a:cxn>
                <a:cxn ang="0">
                  <a:pos x="342" y="64"/>
                </a:cxn>
                <a:cxn ang="0">
                  <a:pos x="394" y="54"/>
                </a:cxn>
                <a:cxn ang="0">
                  <a:pos x="412" y="56"/>
                </a:cxn>
                <a:cxn ang="0">
                  <a:pos x="466" y="52"/>
                </a:cxn>
                <a:cxn ang="0">
                  <a:pos x="488" y="48"/>
                </a:cxn>
                <a:cxn ang="0">
                  <a:pos x="488" y="28"/>
                </a:cxn>
              </a:cxnLst>
              <a:rect l="0" t="0" r="r" b="b"/>
              <a:pathLst>
                <a:path w="514" h="76">
                  <a:moveTo>
                    <a:pt x="488" y="28"/>
                  </a:moveTo>
                  <a:lnTo>
                    <a:pt x="488" y="28"/>
                  </a:lnTo>
                  <a:lnTo>
                    <a:pt x="480" y="26"/>
                  </a:lnTo>
                  <a:lnTo>
                    <a:pt x="466" y="24"/>
                  </a:lnTo>
                  <a:lnTo>
                    <a:pt x="442" y="20"/>
                  </a:lnTo>
                  <a:lnTo>
                    <a:pt x="412" y="20"/>
                  </a:lnTo>
                  <a:lnTo>
                    <a:pt x="412" y="20"/>
                  </a:lnTo>
                  <a:lnTo>
                    <a:pt x="412" y="20"/>
                  </a:lnTo>
                  <a:lnTo>
                    <a:pt x="394" y="22"/>
                  </a:lnTo>
                  <a:lnTo>
                    <a:pt x="376" y="20"/>
                  </a:lnTo>
                  <a:lnTo>
                    <a:pt x="342" y="12"/>
                  </a:lnTo>
                  <a:lnTo>
                    <a:pt x="310" y="4"/>
                  </a:lnTo>
                  <a:lnTo>
                    <a:pt x="310" y="4"/>
                  </a:lnTo>
                  <a:lnTo>
                    <a:pt x="296" y="2"/>
                  </a:lnTo>
                  <a:lnTo>
                    <a:pt x="282" y="0"/>
                  </a:lnTo>
                  <a:lnTo>
                    <a:pt x="256" y="2"/>
                  </a:lnTo>
                  <a:lnTo>
                    <a:pt x="232" y="6"/>
                  </a:lnTo>
                  <a:lnTo>
                    <a:pt x="210" y="12"/>
                  </a:lnTo>
                  <a:lnTo>
                    <a:pt x="186" y="18"/>
                  </a:lnTo>
                  <a:lnTo>
                    <a:pt x="186" y="18"/>
                  </a:lnTo>
                  <a:lnTo>
                    <a:pt x="166" y="20"/>
                  </a:lnTo>
                  <a:lnTo>
                    <a:pt x="146" y="20"/>
                  </a:lnTo>
                  <a:lnTo>
                    <a:pt x="122" y="16"/>
                  </a:lnTo>
                  <a:lnTo>
                    <a:pt x="98" y="10"/>
                  </a:lnTo>
                  <a:lnTo>
                    <a:pt x="98" y="10"/>
                  </a:lnTo>
                  <a:lnTo>
                    <a:pt x="82" y="8"/>
                  </a:lnTo>
                  <a:lnTo>
                    <a:pt x="68" y="8"/>
                  </a:lnTo>
                  <a:lnTo>
                    <a:pt x="42" y="8"/>
                  </a:lnTo>
                  <a:lnTo>
                    <a:pt x="20" y="10"/>
                  </a:lnTo>
                  <a:lnTo>
                    <a:pt x="10" y="12"/>
                  </a:lnTo>
                  <a:lnTo>
                    <a:pt x="0" y="14"/>
                  </a:lnTo>
                  <a:lnTo>
                    <a:pt x="0" y="22"/>
                  </a:lnTo>
                  <a:lnTo>
                    <a:pt x="0" y="62"/>
                  </a:lnTo>
                  <a:lnTo>
                    <a:pt x="10" y="64"/>
                  </a:lnTo>
                  <a:lnTo>
                    <a:pt x="10" y="64"/>
                  </a:lnTo>
                  <a:lnTo>
                    <a:pt x="18" y="64"/>
                  </a:lnTo>
                  <a:lnTo>
                    <a:pt x="40" y="68"/>
                  </a:lnTo>
                  <a:lnTo>
                    <a:pt x="68" y="68"/>
                  </a:lnTo>
                  <a:lnTo>
                    <a:pt x="82" y="68"/>
                  </a:lnTo>
                  <a:lnTo>
                    <a:pt x="98" y="66"/>
                  </a:lnTo>
                  <a:lnTo>
                    <a:pt x="98" y="66"/>
                  </a:lnTo>
                  <a:lnTo>
                    <a:pt x="122" y="60"/>
                  </a:lnTo>
                  <a:lnTo>
                    <a:pt x="146" y="56"/>
                  </a:lnTo>
                  <a:lnTo>
                    <a:pt x="166" y="56"/>
                  </a:lnTo>
                  <a:lnTo>
                    <a:pt x="186" y="58"/>
                  </a:lnTo>
                  <a:lnTo>
                    <a:pt x="210" y="64"/>
                  </a:lnTo>
                  <a:lnTo>
                    <a:pt x="210" y="64"/>
                  </a:lnTo>
                  <a:lnTo>
                    <a:pt x="232" y="70"/>
                  </a:lnTo>
                  <a:lnTo>
                    <a:pt x="256" y="74"/>
                  </a:lnTo>
                  <a:lnTo>
                    <a:pt x="282" y="76"/>
                  </a:lnTo>
                  <a:lnTo>
                    <a:pt x="296" y="74"/>
                  </a:lnTo>
                  <a:lnTo>
                    <a:pt x="310" y="72"/>
                  </a:lnTo>
                  <a:lnTo>
                    <a:pt x="342" y="64"/>
                  </a:lnTo>
                  <a:lnTo>
                    <a:pt x="342" y="64"/>
                  </a:lnTo>
                  <a:lnTo>
                    <a:pt x="376" y="56"/>
                  </a:lnTo>
                  <a:lnTo>
                    <a:pt x="394" y="54"/>
                  </a:lnTo>
                  <a:lnTo>
                    <a:pt x="412" y="56"/>
                  </a:lnTo>
                  <a:lnTo>
                    <a:pt x="412" y="56"/>
                  </a:lnTo>
                  <a:lnTo>
                    <a:pt x="442" y="56"/>
                  </a:lnTo>
                  <a:lnTo>
                    <a:pt x="466" y="52"/>
                  </a:lnTo>
                  <a:lnTo>
                    <a:pt x="480" y="50"/>
                  </a:lnTo>
                  <a:lnTo>
                    <a:pt x="488" y="48"/>
                  </a:lnTo>
                  <a:lnTo>
                    <a:pt x="514" y="38"/>
                  </a:lnTo>
                  <a:lnTo>
                    <a:pt x="488"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3" name="Freeform 130"/>
            <p:cNvSpPr/>
            <p:nvPr/>
          </p:nvSpPr>
          <p:spPr bwMode="auto">
            <a:xfrm>
              <a:off x="4654550" y="3384550"/>
              <a:ext cx="746125" cy="88900"/>
            </a:xfrm>
            <a:custGeom>
              <a:avLst/>
              <a:gdLst/>
              <a:ahLst/>
              <a:cxnLst>
                <a:cxn ang="0">
                  <a:pos x="0" y="44"/>
                </a:cxn>
                <a:cxn ang="0">
                  <a:pos x="0" y="44"/>
                </a:cxn>
                <a:cxn ang="0">
                  <a:pos x="8" y="44"/>
                </a:cxn>
                <a:cxn ang="0">
                  <a:pos x="28" y="48"/>
                </a:cxn>
                <a:cxn ang="0">
                  <a:pos x="54" y="48"/>
                </a:cxn>
                <a:cxn ang="0">
                  <a:pos x="68" y="48"/>
                </a:cxn>
                <a:cxn ang="0">
                  <a:pos x="82" y="46"/>
                </a:cxn>
                <a:cxn ang="0">
                  <a:pos x="82" y="46"/>
                </a:cxn>
                <a:cxn ang="0">
                  <a:pos x="108" y="40"/>
                </a:cxn>
                <a:cxn ang="0">
                  <a:pos x="132" y="36"/>
                </a:cxn>
                <a:cxn ang="0">
                  <a:pos x="154" y="36"/>
                </a:cxn>
                <a:cxn ang="0">
                  <a:pos x="178" y="38"/>
                </a:cxn>
                <a:cxn ang="0">
                  <a:pos x="178" y="38"/>
                </a:cxn>
                <a:cxn ang="0">
                  <a:pos x="202" y="46"/>
                </a:cxn>
                <a:cxn ang="0">
                  <a:pos x="232" y="52"/>
                </a:cxn>
                <a:cxn ang="0">
                  <a:pos x="246" y="54"/>
                </a:cxn>
                <a:cxn ang="0">
                  <a:pos x="262" y="56"/>
                </a:cxn>
                <a:cxn ang="0">
                  <a:pos x="278" y="56"/>
                </a:cxn>
                <a:cxn ang="0">
                  <a:pos x="296" y="52"/>
                </a:cxn>
                <a:cxn ang="0">
                  <a:pos x="296" y="52"/>
                </a:cxn>
                <a:cxn ang="0">
                  <a:pos x="350" y="38"/>
                </a:cxn>
                <a:cxn ang="0">
                  <a:pos x="374" y="36"/>
                </a:cxn>
                <a:cxn ang="0">
                  <a:pos x="402" y="36"/>
                </a:cxn>
                <a:cxn ang="0">
                  <a:pos x="402" y="36"/>
                </a:cxn>
                <a:cxn ang="0">
                  <a:pos x="430" y="36"/>
                </a:cxn>
                <a:cxn ang="0">
                  <a:pos x="452" y="32"/>
                </a:cxn>
                <a:cxn ang="0">
                  <a:pos x="470" y="28"/>
                </a:cxn>
                <a:cxn ang="0">
                  <a:pos x="470" y="28"/>
                </a:cxn>
                <a:cxn ang="0">
                  <a:pos x="470" y="28"/>
                </a:cxn>
                <a:cxn ang="0">
                  <a:pos x="452" y="24"/>
                </a:cxn>
                <a:cxn ang="0">
                  <a:pos x="430" y="20"/>
                </a:cxn>
                <a:cxn ang="0">
                  <a:pos x="402" y="20"/>
                </a:cxn>
                <a:cxn ang="0">
                  <a:pos x="402" y="20"/>
                </a:cxn>
                <a:cxn ang="0">
                  <a:pos x="374" y="20"/>
                </a:cxn>
                <a:cxn ang="0">
                  <a:pos x="350" y="18"/>
                </a:cxn>
                <a:cxn ang="0">
                  <a:pos x="296" y="4"/>
                </a:cxn>
                <a:cxn ang="0">
                  <a:pos x="296" y="4"/>
                </a:cxn>
                <a:cxn ang="0">
                  <a:pos x="278" y="0"/>
                </a:cxn>
                <a:cxn ang="0">
                  <a:pos x="262" y="0"/>
                </a:cxn>
                <a:cxn ang="0">
                  <a:pos x="246" y="2"/>
                </a:cxn>
                <a:cxn ang="0">
                  <a:pos x="232" y="4"/>
                </a:cxn>
                <a:cxn ang="0">
                  <a:pos x="202" y="10"/>
                </a:cxn>
                <a:cxn ang="0">
                  <a:pos x="178" y="18"/>
                </a:cxn>
                <a:cxn ang="0">
                  <a:pos x="178" y="18"/>
                </a:cxn>
                <a:cxn ang="0">
                  <a:pos x="154" y="20"/>
                </a:cxn>
                <a:cxn ang="0">
                  <a:pos x="132" y="20"/>
                </a:cxn>
                <a:cxn ang="0">
                  <a:pos x="108" y="16"/>
                </a:cxn>
                <a:cxn ang="0">
                  <a:pos x="82" y="10"/>
                </a:cxn>
                <a:cxn ang="0">
                  <a:pos x="82" y="10"/>
                </a:cxn>
                <a:cxn ang="0">
                  <a:pos x="68" y="8"/>
                </a:cxn>
                <a:cxn ang="0">
                  <a:pos x="54" y="8"/>
                </a:cxn>
                <a:cxn ang="0">
                  <a:pos x="28" y="8"/>
                </a:cxn>
                <a:cxn ang="0">
                  <a:pos x="8" y="12"/>
                </a:cxn>
                <a:cxn ang="0">
                  <a:pos x="0" y="12"/>
                </a:cxn>
                <a:cxn ang="0">
                  <a:pos x="0" y="44"/>
                </a:cxn>
              </a:cxnLst>
              <a:rect l="0" t="0" r="r" b="b"/>
              <a:pathLst>
                <a:path w="470" h="56">
                  <a:moveTo>
                    <a:pt x="0" y="44"/>
                  </a:moveTo>
                  <a:lnTo>
                    <a:pt x="0" y="44"/>
                  </a:lnTo>
                  <a:lnTo>
                    <a:pt x="8" y="44"/>
                  </a:lnTo>
                  <a:lnTo>
                    <a:pt x="28" y="48"/>
                  </a:lnTo>
                  <a:lnTo>
                    <a:pt x="54" y="48"/>
                  </a:lnTo>
                  <a:lnTo>
                    <a:pt x="68" y="48"/>
                  </a:lnTo>
                  <a:lnTo>
                    <a:pt x="82" y="46"/>
                  </a:lnTo>
                  <a:lnTo>
                    <a:pt x="82" y="46"/>
                  </a:lnTo>
                  <a:lnTo>
                    <a:pt x="108" y="40"/>
                  </a:lnTo>
                  <a:lnTo>
                    <a:pt x="132" y="36"/>
                  </a:lnTo>
                  <a:lnTo>
                    <a:pt x="154" y="36"/>
                  </a:lnTo>
                  <a:lnTo>
                    <a:pt x="178" y="38"/>
                  </a:lnTo>
                  <a:lnTo>
                    <a:pt x="178" y="38"/>
                  </a:lnTo>
                  <a:lnTo>
                    <a:pt x="202" y="46"/>
                  </a:lnTo>
                  <a:lnTo>
                    <a:pt x="232" y="52"/>
                  </a:lnTo>
                  <a:lnTo>
                    <a:pt x="246" y="54"/>
                  </a:lnTo>
                  <a:lnTo>
                    <a:pt x="262" y="56"/>
                  </a:lnTo>
                  <a:lnTo>
                    <a:pt x="278" y="56"/>
                  </a:lnTo>
                  <a:lnTo>
                    <a:pt x="296" y="52"/>
                  </a:lnTo>
                  <a:lnTo>
                    <a:pt x="296" y="52"/>
                  </a:lnTo>
                  <a:lnTo>
                    <a:pt x="350" y="38"/>
                  </a:lnTo>
                  <a:lnTo>
                    <a:pt x="374" y="36"/>
                  </a:lnTo>
                  <a:lnTo>
                    <a:pt x="402" y="36"/>
                  </a:lnTo>
                  <a:lnTo>
                    <a:pt x="402" y="36"/>
                  </a:lnTo>
                  <a:lnTo>
                    <a:pt x="430" y="36"/>
                  </a:lnTo>
                  <a:lnTo>
                    <a:pt x="452" y="32"/>
                  </a:lnTo>
                  <a:lnTo>
                    <a:pt x="470" y="28"/>
                  </a:lnTo>
                  <a:lnTo>
                    <a:pt x="470" y="28"/>
                  </a:lnTo>
                  <a:lnTo>
                    <a:pt x="470" y="28"/>
                  </a:lnTo>
                  <a:lnTo>
                    <a:pt x="452" y="24"/>
                  </a:lnTo>
                  <a:lnTo>
                    <a:pt x="430" y="20"/>
                  </a:lnTo>
                  <a:lnTo>
                    <a:pt x="402" y="20"/>
                  </a:lnTo>
                  <a:lnTo>
                    <a:pt x="402" y="20"/>
                  </a:lnTo>
                  <a:lnTo>
                    <a:pt x="374" y="20"/>
                  </a:lnTo>
                  <a:lnTo>
                    <a:pt x="350" y="18"/>
                  </a:lnTo>
                  <a:lnTo>
                    <a:pt x="296" y="4"/>
                  </a:lnTo>
                  <a:lnTo>
                    <a:pt x="296" y="4"/>
                  </a:lnTo>
                  <a:lnTo>
                    <a:pt x="278" y="0"/>
                  </a:lnTo>
                  <a:lnTo>
                    <a:pt x="262" y="0"/>
                  </a:lnTo>
                  <a:lnTo>
                    <a:pt x="246" y="2"/>
                  </a:lnTo>
                  <a:lnTo>
                    <a:pt x="232" y="4"/>
                  </a:lnTo>
                  <a:lnTo>
                    <a:pt x="202" y="10"/>
                  </a:lnTo>
                  <a:lnTo>
                    <a:pt x="178" y="18"/>
                  </a:lnTo>
                  <a:lnTo>
                    <a:pt x="178" y="18"/>
                  </a:lnTo>
                  <a:lnTo>
                    <a:pt x="154" y="20"/>
                  </a:lnTo>
                  <a:lnTo>
                    <a:pt x="132" y="20"/>
                  </a:lnTo>
                  <a:lnTo>
                    <a:pt x="108" y="16"/>
                  </a:lnTo>
                  <a:lnTo>
                    <a:pt x="82" y="10"/>
                  </a:lnTo>
                  <a:lnTo>
                    <a:pt x="82" y="10"/>
                  </a:lnTo>
                  <a:lnTo>
                    <a:pt x="68" y="8"/>
                  </a:lnTo>
                  <a:lnTo>
                    <a:pt x="54" y="8"/>
                  </a:lnTo>
                  <a:lnTo>
                    <a:pt x="28" y="8"/>
                  </a:lnTo>
                  <a:lnTo>
                    <a:pt x="8" y="12"/>
                  </a:lnTo>
                  <a:lnTo>
                    <a:pt x="0" y="12"/>
                  </a:lnTo>
                  <a:lnTo>
                    <a:pt x="0" y="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4" name="Freeform 131"/>
            <p:cNvSpPr/>
            <p:nvPr/>
          </p:nvSpPr>
          <p:spPr bwMode="auto">
            <a:xfrm>
              <a:off x="4991100" y="3413125"/>
              <a:ext cx="168275" cy="31750"/>
            </a:xfrm>
            <a:custGeom>
              <a:avLst/>
              <a:gdLst/>
              <a:ahLst/>
              <a:cxnLst>
                <a:cxn ang="0">
                  <a:pos x="54" y="0"/>
                </a:cxn>
                <a:cxn ang="0">
                  <a:pos x="54" y="0"/>
                </a:cxn>
                <a:cxn ang="0">
                  <a:pos x="36" y="0"/>
                </a:cxn>
                <a:cxn ang="0">
                  <a:pos x="22" y="2"/>
                </a:cxn>
                <a:cxn ang="0">
                  <a:pos x="10" y="6"/>
                </a:cxn>
                <a:cxn ang="0">
                  <a:pos x="0" y="10"/>
                </a:cxn>
                <a:cxn ang="0">
                  <a:pos x="0" y="10"/>
                </a:cxn>
                <a:cxn ang="0">
                  <a:pos x="10" y="14"/>
                </a:cxn>
                <a:cxn ang="0">
                  <a:pos x="22" y="18"/>
                </a:cxn>
                <a:cxn ang="0">
                  <a:pos x="36" y="20"/>
                </a:cxn>
                <a:cxn ang="0">
                  <a:pos x="54" y="20"/>
                </a:cxn>
                <a:cxn ang="0">
                  <a:pos x="54" y="20"/>
                </a:cxn>
                <a:cxn ang="0">
                  <a:pos x="70" y="20"/>
                </a:cxn>
                <a:cxn ang="0">
                  <a:pos x="84" y="18"/>
                </a:cxn>
                <a:cxn ang="0">
                  <a:pos x="98" y="14"/>
                </a:cxn>
                <a:cxn ang="0">
                  <a:pos x="106" y="10"/>
                </a:cxn>
                <a:cxn ang="0">
                  <a:pos x="106" y="10"/>
                </a:cxn>
                <a:cxn ang="0">
                  <a:pos x="98" y="6"/>
                </a:cxn>
                <a:cxn ang="0">
                  <a:pos x="84" y="2"/>
                </a:cxn>
                <a:cxn ang="0">
                  <a:pos x="70" y="0"/>
                </a:cxn>
                <a:cxn ang="0">
                  <a:pos x="54" y="0"/>
                </a:cxn>
                <a:cxn ang="0">
                  <a:pos x="54" y="0"/>
                </a:cxn>
              </a:cxnLst>
              <a:rect l="0" t="0" r="r" b="b"/>
              <a:pathLst>
                <a:path w="106" h="20">
                  <a:moveTo>
                    <a:pt x="54" y="0"/>
                  </a:moveTo>
                  <a:lnTo>
                    <a:pt x="54" y="0"/>
                  </a:lnTo>
                  <a:lnTo>
                    <a:pt x="36" y="0"/>
                  </a:lnTo>
                  <a:lnTo>
                    <a:pt x="22" y="2"/>
                  </a:lnTo>
                  <a:lnTo>
                    <a:pt x="10" y="6"/>
                  </a:lnTo>
                  <a:lnTo>
                    <a:pt x="0" y="10"/>
                  </a:lnTo>
                  <a:lnTo>
                    <a:pt x="0" y="10"/>
                  </a:lnTo>
                  <a:lnTo>
                    <a:pt x="10" y="14"/>
                  </a:lnTo>
                  <a:lnTo>
                    <a:pt x="22" y="18"/>
                  </a:lnTo>
                  <a:lnTo>
                    <a:pt x="36" y="20"/>
                  </a:lnTo>
                  <a:lnTo>
                    <a:pt x="54" y="20"/>
                  </a:lnTo>
                  <a:lnTo>
                    <a:pt x="54" y="20"/>
                  </a:lnTo>
                  <a:lnTo>
                    <a:pt x="70" y="20"/>
                  </a:lnTo>
                  <a:lnTo>
                    <a:pt x="84" y="18"/>
                  </a:lnTo>
                  <a:lnTo>
                    <a:pt x="98" y="14"/>
                  </a:lnTo>
                  <a:lnTo>
                    <a:pt x="106" y="10"/>
                  </a:lnTo>
                  <a:lnTo>
                    <a:pt x="106" y="10"/>
                  </a:lnTo>
                  <a:lnTo>
                    <a:pt x="98" y="6"/>
                  </a:lnTo>
                  <a:lnTo>
                    <a:pt x="84" y="2"/>
                  </a:lnTo>
                  <a:lnTo>
                    <a:pt x="70" y="0"/>
                  </a:lnTo>
                  <a:lnTo>
                    <a:pt x="54" y="0"/>
                  </a:lnTo>
                  <a:lnTo>
                    <a:pt x="54" y="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5" name="Freeform 132"/>
            <p:cNvSpPr/>
            <p:nvPr/>
          </p:nvSpPr>
          <p:spPr bwMode="auto">
            <a:xfrm>
              <a:off x="4591050" y="3448050"/>
              <a:ext cx="603250" cy="603250"/>
            </a:xfrm>
            <a:custGeom>
              <a:avLst/>
              <a:gdLst/>
              <a:ahLst/>
              <a:cxnLst>
                <a:cxn ang="0">
                  <a:pos x="368" y="354"/>
                </a:cxn>
                <a:cxn ang="0">
                  <a:pos x="356" y="334"/>
                </a:cxn>
                <a:cxn ang="0">
                  <a:pos x="320" y="296"/>
                </a:cxn>
                <a:cxn ang="0">
                  <a:pos x="320" y="296"/>
                </a:cxn>
                <a:cxn ang="0">
                  <a:pos x="296" y="270"/>
                </a:cxn>
                <a:cxn ang="0">
                  <a:pos x="260" y="212"/>
                </a:cxn>
                <a:cxn ang="0">
                  <a:pos x="252" y="200"/>
                </a:cxn>
                <a:cxn ang="0">
                  <a:pos x="224" y="172"/>
                </a:cxn>
                <a:cxn ang="0">
                  <a:pos x="184" y="146"/>
                </a:cxn>
                <a:cxn ang="0">
                  <a:pos x="164" y="134"/>
                </a:cxn>
                <a:cxn ang="0">
                  <a:pos x="132" y="106"/>
                </a:cxn>
                <a:cxn ang="0">
                  <a:pos x="104" y="66"/>
                </a:cxn>
                <a:cxn ang="0">
                  <a:pos x="96" y="54"/>
                </a:cxn>
                <a:cxn ang="0">
                  <a:pos x="66" y="24"/>
                </a:cxn>
                <a:cxn ang="0">
                  <a:pos x="42" y="6"/>
                </a:cxn>
                <a:cxn ang="0">
                  <a:pos x="28" y="6"/>
                </a:cxn>
                <a:cxn ang="0">
                  <a:pos x="6" y="40"/>
                </a:cxn>
                <a:cxn ang="0">
                  <a:pos x="10" y="48"/>
                </a:cxn>
                <a:cxn ang="0">
                  <a:pos x="42" y="86"/>
                </a:cxn>
                <a:cxn ang="0">
                  <a:pos x="66" y="104"/>
                </a:cxn>
                <a:cxn ang="0">
                  <a:pos x="88" y="118"/>
                </a:cxn>
                <a:cxn ang="0">
                  <a:pos x="120" y="146"/>
                </a:cxn>
                <a:cxn ang="0">
                  <a:pos x="146" y="184"/>
                </a:cxn>
                <a:cxn ang="0">
                  <a:pos x="158" y="204"/>
                </a:cxn>
                <a:cxn ang="0">
                  <a:pos x="190" y="244"/>
                </a:cxn>
                <a:cxn ang="0">
                  <a:pos x="212" y="260"/>
                </a:cxn>
                <a:cxn ang="0">
                  <a:pos x="240" y="276"/>
                </a:cxn>
                <a:cxn ang="0">
                  <a:pos x="282" y="306"/>
                </a:cxn>
                <a:cxn ang="0">
                  <a:pos x="296" y="320"/>
                </a:cxn>
                <a:cxn ang="0">
                  <a:pos x="334" y="356"/>
                </a:cxn>
                <a:cxn ang="0">
                  <a:pos x="354" y="368"/>
                </a:cxn>
                <a:cxn ang="0">
                  <a:pos x="368" y="354"/>
                </a:cxn>
              </a:cxnLst>
              <a:rect l="0" t="0" r="r" b="b"/>
              <a:pathLst>
                <a:path w="380" h="380">
                  <a:moveTo>
                    <a:pt x="368" y="354"/>
                  </a:moveTo>
                  <a:lnTo>
                    <a:pt x="368" y="354"/>
                  </a:lnTo>
                  <a:lnTo>
                    <a:pt x="364" y="348"/>
                  </a:lnTo>
                  <a:lnTo>
                    <a:pt x="356" y="334"/>
                  </a:lnTo>
                  <a:lnTo>
                    <a:pt x="342" y="316"/>
                  </a:lnTo>
                  <a:lnTo>
                    <a:pt x="320" y="296"/>
                  </a:lnTo>
                  <a:lnTo>
                    <a:pt x="320" y="296"/>
                  </a:lnTo>
                  <a:lnTo>
                    <a:pt x="320" y="296"/>
                  </a:lnTo>
                  <a:lnTo>
                    <a:pt x="306" y="282"/>
                  </a:lnTo>
                  <a:lnTo>
                    <a:pt x="296" y="270"/>
                  </a:lnTo>
                  <a:lnTo>
                    <a:pt x="276" y="240"/>
                  </a:lnTo>
                  <a:lnTo>
                    <a:pt x="260" y="212"/>
                  </a:lnTo>
                  <a:lnTo>
                    <a:pt x="260" y="212"/>
                  </a:lnTo>
                  <a:lnTo>
                    <a:pt x="252" y="200"/>
                  </a:lnTo>
                  <a:lnTo>
                    <a:pt x="244" y="190"/>
                  </a:lnTo>
                  <a:lnTo>
                    <a:pt x="224" y="172"/>
                  </a:lnTo>
                  <a:lnTo>
                    <a:pt x="204" y="158"/>
                  </a:lnTo>
                  <a:lnTo>
                    <a:pt x="184" y="146"/>
                  </a:lnTo>
                  <a:lnTo>
                    <a:pt x="164" y="134"/>
                  </a:lnTo>
                  <a:lnTo>
                    <a:pt x="164" y="134"/>
                  </a:lnTo>
                  <a:lnTo>
                    <a:pt x="146" y="120"/>
                  </a:lnTo>
                  <a:lnTo>
                    <a:pt x="132" y="106"/>
                  </a:lnTo>
                  <a:lnTo>
                    <a:pt x="118" y="88"/>
                  </a:lnTo>
                  <a:lnTo>
                    <a:pt x="104" y="66"/>
                  </a:lnTo>
                  <a:lnTo>
                    <a:pt x="104" y="66"/>
                  </a:lnTo>
                  <a:lnTo>
                    <a:pt x="96" y="54"/>
                  </a:lnTo>
                  <a:lnTo>
                    <a:pt x="86" y="44"/>
                  </a:lnTo>
                  <a:lnTo>
                    <a:pt x="66" y="24"/>
                  </a:lnTo>
                  <a:lnTo>
                    <a:pt x="50" y="12"/>
                  </a:lnTo>
                  <a:lnTo>
                    <a:pt x="42" y="6"/>
                  </a:lnTo>
                  <a:lnTo>
                    <a:pt x="34" y="0"/>
                  </a:lnTo>
                  <a:lnTo>
                    <a:pt x="28" y="6"/>
                  </a:lnTo>
                  <a:lnTo>
                    <a:pt x="0" y="34"/>
                  </a:lnTo>
                  <a:lnTo>
                    <a:pt x="6" y="40"/>
                  </a:lnTo>
                  <a:lnTo>
                    <a:pt x="6" y="40"/>
                  </a:lnTo>
                  <a:lnTo>
                    <a:pt x="10" y="48"/>
                  </a:lnTo>
                  <a:lnTo>
                    <a:pt x="24" y="66"/>
                  </a:lnTo>
                  <a:lnTo>
                    <a:pt x="42" y="86"/>
                  </a:lnTo>
                  <a:lnTo>
                    <a:pt x="54" y="96"/>
                  </a:lnTo>
                  <a:lnTo>
                    <a:pt x="66" y="104"/>
                  </a:lnTo>
                  <a:lnTo>
                    <a:pt x="66" y="104"/>
                  </a:lnTo>
                  <a:lnTo>
                    <a:pt x="88" y="118"/>
                  </a:lnTo>
                  <a:lnTo>
                    <a:pt x="106" y="132"/>
                  </a:lnTo>
                  <a:lnTo>
                    <a:pt x="120" y="146"/>
                  </a:lnTo>
                  <a:lnTo>
                    <a:pt x="134" y="164"/>
                  </a:lnTo>
                  <a:lnTo>
                    <a:pt x="146" y="184"/>
                  </a:lnTo>
                  <a:lnTo>
                    <a:pt x="146" y="184"/>
                  </a:lnTo>
                  <a:lnTo>
                    <a:pt x="158" y="204"/>
                  </a:lnTo>
                  <a:lnTo>
                    <a:pt x="172" y="224"/>
                  </a:lnTo>
                  <a:lnTo>
                    <a:pt x="190" y="244"/>
                  </a:lnTo>
                  <a:lnTo>
                    <a:pt x="200" y="252"/>
                  </a:lnTo>
                  <a:lnTo>
                    <a:pt x="212" y="260"/>
                  </a:lnTo>
                  <a:lnTo>
                    <a:pt x="240" y="276"/>
                  </a:lnTo>
                  <a:lnTo>
                    <a:pt x="240" y="276"/>
                  </a:lnTo>
                  <a:lnTo>
                    <a:pt x="270" y="296"/>
                  </a:lnTo>
                  <a:lnTo>
                    <a:pt x="282" y="306"/>
                  </a:lnTo>
                  <a:lnTo>
                    <a:pt x="296" y="320"/>
                  </a:lnTo>
                  <a:lnTo>
                    <a:pt x="296" y="320"/>
                  </a:lnTo>
                  <a:lnTo>
                    <a:pt x="316" y="342"/>
                  </a:lnTo>
                  <a:lnTo>
                    <a:pt x="334" y="356"/>
                  </a:lnTo>
                  <a:lnTo>
                    <a:pt x="348" y="364"/>
                  </a:lnTo>
                  <a:lnTo>
                    <a:pt x="354" y="368"/>
                  </a:lnTo>
                  <a:lnTo>
                    <a:pt x="380" y="380"/>
                  </a:lnTo>
                  <a:lnTo>
                    <a:pt x="368" y="3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6" name="Freeform 133"/>
            <p:cNvSpPr/>
            <p:nvPr/>
          </p:nvSpPr>
          <p:spPr bwMode="auto">
            <a:xfrm>
              <a:off x="4613275" y="3470275"/>
              <a:ext cx="546100" cy="546100"/>
            </a:xfrm>
            <a:custGeom>
              <a:avLst/>
              <a:gdLst/>
              <a:ahLst/>
              <a:cxnLst>
                <a:cxn ang="0">
                  <a:pos x="0" y="22"/>
                </a:cxn>
                <a:cxn ang="0">
                  <a:pos x="0" y="22"/>
                </a:cxn>
                <a:cxn ang="0">
                  <a:pos x="4" y="28"/>
                </a:cxn>
                <a:cxn ang="0">
                  <a:pos x="16" y="44"/>
                </a:cxn>
                <a:cxn ang="0">
                  <a:pos x="34" y="64"/>
                </a:cxn>
                <a:cxn ang="0">
                  <a:pos x="46" y="72"/>
                </a:cxn>
                <a:cxn ang="0">
                  <a:pos x="56" y="82"/>
                </a:cxn>
                <a:cxn ang="0">
                  <a:pos x="56" y="82"/>
                </a:cxn>
                <a:cxn ang="0">
                  <a:pos x="78" y="96"/>
                </a:cxn>
                <a:cxn ang="0">
                  <a:pos x="98" y="110"/>
                </a:cxn>
                <a:cxn ang="0">
                  <a:pos x="114" y="126"/>
                </a:cxn>
                <a:cxn ang="0">
                  <a:pos x="128" y="144"/>
                </a:cxn>
                <a:cxn ang="0">
                  <a:pos x="128" y="144"/>
                </a:cxn>
                <a:cxn ang="0">
                  <a:pos x="142" y="166"/>
                </a:cxn>
                <a:cxn ang="0">
                  <a:pos x="158" y="192"/>
                </a:cxn>
                <a:cxn ang="0">
                  <a:pos x="166" y="204"/>
                </a:cxn>
                <a:cxn ang="0">
                  <a:pos x="176" y="216"/>
                </a:cxn>
                <a:cxn ang="0">
                  <a:pos x="188" y="228"/>
                </a:cxn>
                <a:cxn ang="0">
                  <a:pos x="202" y="236"/>
                </a:cxn>
                <a:cxn ang="0">
                  <a:pos x="202" y="236"/>
                </a:cxn>
                <a:cxn ang="0">
                  <a:pos x="250" y="266"/>
                </a:cxn>
                <a:cxn ang="0">
                  <a:pos x="270" y="280"/>
                </a:cxn>
                <a:cxn ang="0">
                  <a:pos x="290" y="300"/>
                </a:cxn>
                <a:cxn ang="0">
                  <a:pos x="290" y="300"/>
                </a:cxn>
                <a:cxn ang="0">
                  <a:pos x="310" y="320"/>
                </a:cxn>
                <a:cxn ang="0">
                  <a:pos x="326" y="334"/>
                </a:cxn>
                <a:cxn ang="0">
                  <a:pos x="344" y="344"/>
                </a:cxn>
                <a:cxn ang="0">
                  <a:pos x="344" y="344"/>
                </a:cxn>
                <a:cxn ang="0">
                  <a:pos x="344" y="344"/>
                </a:cxn>
                <a:cxn ang="0">
                  <a:pos x="334" y="326"/>
                </a:cxn>
                <a:cxn ang="0">
                  <a:pos x="320" y="310"/>
                </a:cxn>
                <a:cxn ang="0">
                  <a:pos x="300" y="290"/>
                </a:cxn>
                <a:cxn ang="0">
                  <a:pos x="300" y="290"/>
                </a:cxn>
                <a:cxn ang="0">
                  <a:pos x="280" y="270"/>
                </a:cxn>
                <a:cxn ang="0">
                  <a:pos x="266" y="250"/>
                </a:cxn>
                <a:cxn ang="0">
                  <a:pos x="238" y="202"/>
                </a:cxn>
                <a:cxn ang="0">
                  <a:pos x="238" y="202"/>
                </a:cxn>
                <a:cxn ang="0">
                  <a:pos x="228" y="188"/>
                </a:cxn>
                <a:cxn ang="0">
                  <a:pos x="216" y="176"/>
                </a:cxn>
                <a:cxn ang="0">
                  <a:pos x="204" y="166"/>
                </a:cxn>
                <a:cxn ang="0">
                  <a:pos x="192" y="158"/>
                </a:cxn>
                <a:cxn ang="0">
                  <a:pos x="166" y="142"/>
                </a:cxn>
                <a:cxn ang="0">
                  <a:pos x="144" y="128"/>
                </a:cxn>
                <a:cxn ang="0">
                  <a:pos x="144" y="128"/>
                </a:cxn>
                <a:cxn ang="0">
                  <a:pos x="126" y="114"/>
                </a:cxn>
                <a:cxn ang="0">
                  <a:pos x="110" y="98"/>
                </a:cxn>
                <a:cxn ang="0">
                  <a:pos x="96" y="78"/>
                </a:cxn>
                <a:cxn ang="0">
                  <a:pos x="82" y="56"/>
                </a:cxn>
                <a:cxn ang="0">
                  <a:pos x="82" y="56"/>
                </a:cxn>
                <a:cxn ang="0">
                  <a:pos x="72" y="46"/>
                </a:cxn>
                <a:cxn ang="0">
                  <a:pos x="64" y="34"/>
                </a:cxn>
                <a:cxn ang="0">
                  <a:pos x="44" y="16"/>
                </a:cxn>
                <a:cxn ang="0">
                  <a:pos x="28" y="4"/>
                </a:cxn>
                <a:cxn ang="0">
                  <a:pos x="22" y="0"/>
                </a:cxn>
                <a:cxn ang="0">
                  <a:pos x="0" y="22"/>
                </a:cxn>
              </a:cxnLst>
              <a:rect l="0" t="0" r="r" b="b"/>
              <a:pathLst>
                <a:path w="344" h="344">
                  <a:moveTo>
                    <a:pt x="0" y="22"/>
                  </a:moveTo>
                  <a:lnTo>
                    <a:pt x="0" y="22"/>
                  </a:lnTo>
                  <a:lnTo>
                    <a:pt x="4" y="28"/>
                  </a:lnTo>
                  <a:lnTo>
                    <a:pt x="16" y="44"/>
                  </a:lnTo>
                  <a:lnTo>
                    <a:pt x="34" y="64"/>
                  </a:lnTo>
                  <a:lnTo>
                    <a:pt x="46" y="72"/>
                  </a:lnTo>
                  <a:lnTo>
                    <a:pt x="56" y="82"/>
                  </a:lnTo>
                  <a:lnTo>
                    <a:pt x="56" y="82"/>
                  </a:lnTo>
                  <a:lnTo>
                    <a:pt x="78" y="96"/>
                  </a:lnTo>
                  <a:lnTo>
                    <a:pt x="98" y="110"/>
                  </a:lnTo>
                  <a:lnTo>
                    <a:pt x="114" y="126"/>
                  </a:lnTo>
                  <a:lnTo>
                    <a:pt x="128" y="144"/>
                  </a:lnTo>
                  <a:lnTo>
                    <a:pt x="128" y="144"/>
                  </a:lnTo>
                  <a:lnTo>
                    <a:pt x="142" y="166"/>
                  </a:lnTo>
                  <a:lnTo>
                    <a:pt x="158" y="192"/>
                  </a:lnTo>
                  <a:lnTo>
                    <a:pt x="166" y="204"/>
                  </a:lnTo>
                  <a:lnTo>
                    <a:pt x="176" y="216"/>
                  </a:lnTo>
                  <a:lnTo>
                    <a:pt x="188" y="228"/>
                  </a:lnTo>
                  <a:lnTo>
                    <a:pt x="202" y="236"/>
                  </a:lnTo>
                  <a:lnTo>
                    <a:pt x="202" y="236"/>
                  </a:lnTo>
                  <a:lnTo>
                    <a:pt x="250" y="266"/>
                  </a:lnTo>
                  <a:lnTo>
                    <a:pt x="270" y="280"/>
                  </a:lnTo>
                  <a:lnTo>
                    <a:pt x="290" y="300"/>
                  </a:lnTo>
                  <a:lnTo>
                    <a:pt x="290" y="300"/>
                  </a:lnTo>
                  <a:lnTo>
                    <a:pt x="310" y="320"/>
                  </a:lnTo>
                  <a:lnTo>
                    <a:pt x="326" y="334"/>
                  </a:lnTo>
                  <a:lnTo>
                    <a:pt x="344" y="344"/>
                  </a:lnTo>
                  <a:lnTo>
                    <a:pt x="344" y="344"/>
                  </a:lnTo>
                  <a:lnTo>
                    <a:pt x="344" y="344"/>
                  </a:lnTo>
                  <a:lnTo>
                    <a:pt x="334" y="326"/>
                  </a:lnTo>
                  <a:lnTo>
                    <a:pt x="320" y="310"/>
                  </a:lnTo>
                  <a:lnTo>
                    <a:pt x="300" y="290"/>
                  </a:lnTo>
                  <a:lnTo>
                    <a:pt x="300" y="290"/>
                  </a:lnTo>
                  <a:lnTo>
                    <a:pt x="280" y="270"/>
                  </a:lnTo>
                  <a:lnTo>
                    <a:pt x="266" y="250"/>
                  </a:lnTo>
                  <a:lnTo>
                    <a:pt x="238" y="202"/>
                  </a:lnTo>
                  <a:lnTo>
                    <a:pt x="238" y="202"/>
                  </a:lnTo>
                  <a:lnTo>
                    <a:pt x="228" y="188"/>
                  </a:lnTo>
                  <a:lnTo>
                    <a:pt x="216" y="176"/>
                  </a:lnTo>
                  <a:lnTo>
                    <a:pt x="204" y="166"/>
                  </a:lnTo>
                  <a:lnTo>
                    <a:pt x="192" y="158"/>
                  </a:lnTo>
                  <a:lnTo>
                    <a:pt x="166" y="142"/>
                  </a:lnTo>
                  <a:lnTo>
                    <a:pt x="144" y="128"/>
                  </a:lnTo>
                  <a:lnTo>
                    <a:pt x="144" y="128"/>
                  </a:lnTo>
                  <a:lnTo>
                    <a:pt x="126" y="114"/>
                  </a:lnTo>
                  <a:lnTo>
                    <a:pt x="110" y="98"/>
                  </a:lnTo>
                  <a:lnTo>
                    <a:pt x="96" y="78"/>
                  </a:lnTo>
                  <a:lnTo>
                    <a:pt x="82" y="56"/>
                  </a:lnTo>
                  <a:lnTo>
                    <a:pt x="82" y="56"/>
                  </a:lnTo>
                  <a:lnTo>
                    <a:pt x="72" y="46"/>
                  </a:lnTo>
                  <a:lnTo>
                    <a:pt x="64" y="34"/>
                  </a:lnTo>
                  <a:lnTo>
                    <a:pt x="44" y="16"/>
                  </a:lnTo>
                  <a:lnTo>
                    <a:pt x="28" y="4"/>
                  </a:lnTo>
                  <a:lnTo>
                    <a:pt x="22" y="0"/>
                  </a:lnTo>
                  <a:lnTo>
                    <a:pt x="0" y="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7" name="Freeform 134"/>
            <p:cNvSpPr/>
            <p:nvPr/>
          </p:nvSpPr>
          <p:spPr bwMode="auto">
            <a:xfrm>
              <a:off x="4867275" y="3724275"/>
              <a:ext cx="120650" cy="120650"/>
            </a:xfrm>
            <a:custGeom>
              <a:avLst/>
              <a:gdLst/>
              <a:ahLst/>
              <a:cxnLst>
                <a:cxn ang="0">
                  <a:pos x="46" y="30"/>
                </a:cxn>
                <a:cxn ang="0">
                  <a:pos x="46" y="30"/>
                </a:cxn>
                <a:cxn ang="0">
                  <a:pos x="34" y="20"/>
                </a:cxn>
                <a:cxn ang="0">
                  <a:pos x="22" y="10"/>
                </a:cxn>
                <a:cxn ang="0">
                  <a:pos x="10" y="4"/>
                </a:cxn>
                <a:cxn ang="0">
                  <a:pos x="0" y="0"/>
                </a:cxn>
                <a:cxn ang="0">
                  <a:pos x="0" y="0"/>
                </a:cxn>
                <a:cxn ang="0">
                  <a:pos x="4" y="10"/>
                </a:cxn>
                <a:cxn ang="0">
                  <a:pos x="10" y="22"/>
                </a:cxn>
                <a:cxn ang="0">
                  <a:pos x="20" y="34"/>
                </a:cxn>
                <a:cxn ang="0">
                  <a:pos x="30" y="46"/>
                </a:cxn>
                <a:cxn ang="0">
                  <a:pos x="30" y="46"/>
                </a:cxn>
                <a:cxn ang="0">
                  <a:pos x="42" y="58"/>
                </a:cxn>
                <a:cxn ang="0">
                  <a:pos x="54" y="66"/>
                </a:cxn>
                <a:cxn ang="0">
                  <a:pos x="66" y="72"/>
                </a:cxn>
                <a:cxn ang="0">
                  <a:pos x="76" y="76"/>
                </a:cxn>
                <a:cxn ang="0">
                  <a:pos x="76" y="76"/>
                </a:cxn>
                <a:cxn ang="0">
                  <a:pos x="72" y="66"/>
                </a:cxn>
                <a:cxn ang="0">
                  <a:pos x="66" y="54"/>
                </a:cxn>
                <a:cxn ang="0">
                  <a:pos x="58" y="42"/>
                </a:cxn>
                <a:cxn ang="0">
                  <a:pos x="46" y="30"/>
                </a:cxn>
                <a:cxn ang="0">
                  <a:pos x="46" y="30"/>
                </a:cxn>
              </a:cxnLst>
              <a:rect l="0" t="0" r="r" b="b"/>
              <a:pathLst>
                <a:path w="76" h="76">
                  <a:moveTo>
                    <a:pt x="46" y="30"/>
                  </a:moveTo>
                  <a:lnTo>
                    <a:pt x="46" y="30"/>
                  </a:lnTo>
                  <a:lnTo>
                    <a:pt x="34" y="20"/>
                  </a:lnTo>
                  <a:lnTo>
                    <a:pt x="22" y="10"/>
                  </a:lnTo>
                  <a:lnTo>
                    <a:pt x="10" y="4"/>
                  </a:lnTo>
                  <a:lnTo>
                    <a:pt x="0" y="0"/>
                  </a:lnTo>
                  <a:lnTo>
                    <a:pt x="0" y="0"/>
                  </a:lnTo>
                  <a:lnTo>
                    <a:pt x="4" y="10"/>
                  </a:lnTo>
                  <a:lnTo>
                    <a:pt x="10" y="22"/>
                  </a:lnTo>
                  <a:lnTo>
                    <a:pt x="20" y="34"/>
                  </a:lnTo>
                  <a:lnTo>
                    <a:pt x="30" y="46"/>
                  </a:lnTo>
                  <a:lnTo>
                    <a:pt x="30" y="46"/>
                  </a:lnTo>
                  <a:lnTo>
                    <a:pt x="42" y="58"/>
                  </a:lnTo>
                  <a:lnTo>
                    <a:pt x="54" y="66"/>
                  </a:lnTo>
                  <a:lnTo>
                    <a:pt x="66" y="72"/>
                  </a:lnTo>
                  <a:lnTo>
                    <a:pt x="76" y="76"/>
                  </a:lnTo>
                  <a:lnTo>
                    <a:pt x="76" y="76"/>
                  </a:lnTo>
                  <a:lnTo>
                    <a:pt x="72" y="66"/>
                  </a:lnTo>
                  <a:lnTo>
                    <a:pt x="66" y="54"/>
                  </a:lnTo>
                  <a:lnTo>
                    <a:pt x="58" y="42"/>
                  </a:lnTo>
                  <a:lnTo>
                    <a:pt x="46" y="30"/>
                  </a:lnTo>
                  <a:lnTo>
                    <a:pt x="46"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8" name="Freeform 135"/>
            <p:cNvSpPr/>
            <p:nvPr/>
          </p:nvSpPr>
          <p:spPr bwMode="auto">
            <a:xfrm>
              <a:off x="4511675" y="3492500"/>
              <a:ext cx="120650" cy="815975"/>
            </a:xfrm>
            <a:custGeom>
              <a:avLst/>
              <a:gdLst/>
              <a:ahLst/>
              <a:cxnLst>
                <a:cxn ang="0">
                  <a:pos x="48" y="488"/>
                </a:cxn>
                <a:cxn ang="0">
                  <a:pos x="52" y="466"/>
                </a:cxn>
                <a:cxn ang="0">
                  <a:pos x="56" y="412"/>
                </a:cxn>
                <a:cxn ang="0">
                  <a:pos x="56" y="412"/>
                </a:cxn>
                <a:cxn ang="0">
                  <a:pos x="56" y="376"/>
                </a:cxn>
                <a:cxn ang="0">
                  <a:pos x="72" y="310"/>
                </a:cxn>
                <a:cxn ang="0">
                  <a:pos x="74" y="296"/>
                </a:cxn>
                <a:cxn ang="0">
                  <a:pos x="74" y="256"/>
                </a:cxn>
                <a:cxn ang="0">
                  <a:pos x="64" y="210"/>
                </a:cxn>
                <a:cxn ang="0">
                  <a:pos x="58" y="186"/>
                </a:cxn>
                <a:cxn ang="0">
                  <a:pos x="56" y="146"/>
                </a:cxn>
                <a:cxn ang="0">
                  <a:pos x="66" y="98"/>
                </a:cxn>
                <a:cxn ang="0">
                  <a:pos x="68" y="82"/>
                </a:cxn>
                <a:cxn ang="0">
                  <a:pos x="68" y="42"/>
                </a:cxn>
                <a:cxn ang="0">
                  <a:pos x="64" y="10"/>
                </a:cxn>
                <a:cxn ang="0">
                  <a:pos x="54" y="0"/>
                </a:cxn>
                <a:cxn ang="0">
                  <a:pos x="12" y="10"/>
                </a:cxn>
                <a:cxn ang="0">
                  <a:pos x="12" y="18"/>
                </a:cxn>
                <a:cxn ang="0">
                  <a:pos x="8" y="68"/>
                </a:cxn>
                <a:cxn ang="0">
                  <a:pos x="10" y="98"/>
                </a:cxn>
                <a:cxn ang="0">
                  <a:pos x="16" y="122"/>
                </a:cxn>
                <a:cxn ang="0">
                  <a:pos x="20" y="166"/>
                </a:cxn>
                <a:cxn ang="0">
                  <a:pos x="12" y="210"/>
                </a:cxn>
                <a:cxn ang="0">
                  <a:pos x="6" y="232"/>
                </a:cxn>
                <a:cxn ang="0">
                  <a:pos x="0" y="282"/>
                </a:cxn>
                <a:cxn ang="0">
                  <a:pos x="4" y="310"/>
                </a:cxn>
                <a:cxn ang="0">
                  <a:pos x="12" y="342"/>
                </a:cxn>
                <a:cxn ang="0">
                  <a:pos x="22" y="394"/>
                </a:cxn>
                <a:cxn ang="0">
                  <a:pos x="20" y="412"/>
                </a:cxn>
                <a:cxn ang="0">
                  <a:pos x="24" y="466"/>
                </a:cxn>
                <a:cxn ang="0">
                  <a:pos x="28" y="488"/>
                </a:cxn>
                <a:cxn ang="0">
                  <a:pos x="48" y="488"/>
                </a:cxn>
              </a:cxnLst>
              <a:rect l="0" t="0" r="r" b="b"/>
              <a:pathLst>
                <a:path w="76" h="514">
                  <a:moveTo>
                    <a:pt x="48" y="488"/>
                  </a:moveTo>
                  <a:lnTo>
                    <a:pt x="48" y="488"/>
                  </a:lnTo>
                  <a:lnTo>
                    <a:pt x="50" y="480"/>
                  </a:lnTo>
                  <a:lnTo>
                    <a:pt x="52" y="466"/>
                  </a:lnTo>
                  <a:lnTo>
                    <a:pt x="56" y="442"/>
                  </a:lnTo>
                  <a:lnTo>
                    <a:pt x="56" y="412"/>
                  </a:lnTo>
                  <a:lnTo>
                    <a:pt x="56" y="412"/>
                  </a:lnTo>
                  <a:lnTo>
                    <a:pt x="56" y="412"/>
                  </a:lnTo>
                  <a:lnTo>
                    <a:pt x="54" y="394"/>
                  </a:lnTo>
                  <a:lnTo>
                    <a:pt x="56" y="376"/>
                  </a:lnTo>
                  <a:lnTo>
                    <a:pt x="64" y="342"/>
                  </a:lnTo>
                  <a:lnTo>
                    <a:pt x="72" y="310"/>
                  </a:lnTo>
                  <a:lnTo>
                    <a:pt x="72" y="310"/>
                  </a:lnTo>
                  <a:lnTo>
                    <a:pt x="74" y="296"/>
                  </a:lnTo>
                  <a:lnTo>
                    <a:pt x="76" y="282"/>
                  </a:lnTo>
                  <a:lnTo>
                    <a:pt x="74" y="256"/>
                  </a:lnTo>
                  <a:lnTo>
                    <a:pt x="70" y="232"/>
                  </a:lnTo>
                  <a:lnTo>
                    <a:pt x="64" y="210"/>
                  </a:lnTo>
                  <a:lnTo>
                    <a:pt x="58" y="186"/>
                  </a:lnTo>
                  <a:lnTo>
                    <a:pt x="58" y="186"/>
                  </a:lnTo>
                  <a:lnTo>
                    <a:pt x="56" y="166"/>
                  </a:lnTo>
                  <a:lnTo>
                    <a:pt x="56" y="146"/>
                  </a:lnTo>
                  <a:lnTo>
                    <a:pt x="60" y="122"/>
                  </a:lnTo>
                  <a:lnTo>
                    <a:pt x="66" y="98"/>
                  </a:lnTo>
                  <a:lnTo>
                    <a:pt x="66" y="98"/>
                  </a:lnTo>
                  <a:lnTo>
                    <a:pt x="68" y="82"/>
                  </a:lnTo>
                  <a:lnTo>
                    <a:pt x="68" y="68"/>
                  </a:lnTo>
                  <a:lnTo>
                    <a:pt x="68" y="42"/>
                  </a:lnTo>
                  <a:lnTo>
                    <a:pt x="66" y="20"/>
                  </a:lnTo>
                  <a:lnTo>
                    <a:pt x="64" y="10"/>
                  </a:lnTo>
                  <a:lnTo>
                    <a:pt x="62" y="0"/>
                  </a:lnTo>
                  <a:lnTo>
                    <a:pt x="54" y="0"/>
                  </a:lnTo>
                  <a:lnTo>
                    <a:pt x="14" y="0"/>
                  </a:lnTo>
                  <a:lnTo>
                    <a:pt x="12" y="10"/>
                  </a:lnTo>
                  <a:lnTo>
                    <a:pt x="12" y="10"/>
                  </a:lnTo>
                  <a:lnTo>
                    <a:pt x="12" y="18"/>
                  </a:lnTo>
                  <a:lnTo>
                    <a:pt x="8" y="40"/>
                  </a:lnTo>
                  <a:lnTo>
                    <a:pt x="8" y="68"/>
                  </a:lnTo>
                  <a:lnTo>
                    <a:pt x="8" y="82"/>
                  </a:lnTo>
                  <a:lnTo>
                    <a:pt x="10" y="98"/>
                  </a:lnTo>
                  <a:lnTo>
                    <a:pt x="10" y="98"/>
                  </a:lnTo>
                  <a:lnTo>
                    <a:pt x="16" y="122"/>
                  </a:lnTo>
                  <a:lnTo>
                    <a:pt x="20" y="146"/>
                  </a:lnTo>
                  <a:lnTo>
                    <a:pt x="20" y="166"/>
                  </a:lnTo>
                  <a:lnTo>
                    <a:pt x="18" y="186"/>
                  </a:lnTo>
                  <a:lnTo>
                    <a:pt x="12" y="210"/>
                  </a:lnTo>
                  <a:lnTo>
                    <a:pt x="12" y="210"/>
                  </a:lnTo>
                  <a:lnTo>
                    <a:pt x="6" y="232"/>
                  </a:lnTo>
                  <a:lnTo>
                    <a:pt x="2" y="256"/>
                  </a:lnTo>
                  <a:lnTo>
                    <a:pt x="0" y="282"/>
                  </a:lnTo>
                  <a:lnTo>
                    <a:pt x="2" y="296"/>
                  </a:lnTo>
                  <a:lnTo>
                    <a:pt x="4" y="310"/>
                  </a:lnTo>
                  <a:lnTo>
                    <a:pt x="12" y="342"/>
                  </a:lnTo>
                  <a:lnTo>
                    <a:pt x="12" y="342"/>
                  </a:lnTo>
                  <a:lnTo>
                    <a:pt x="20" y="376"/>
                  </a:lnTo>
                  <a:lnTo>
                    <a:pt x="22" y="394"/>
                  </a:lnTo>
                  <a:lnTo>
                    <a:pt x="20" y="412"/>
                  </a:lnTo>
                  <a:lnTo>
                    <a:pt x="20" y="412"/>
                  </a:lnTo>
                  <a:lnTo>
                    <a:pt x="20" y="442"/>
                  </a:lnTo>
                  <a:lnTo>
                    <a:pt x="24" y="466"/>
                  </a:lnTo>
                  <a:lnTo>
                    <a:pt x="26" y="480"/>
                  </a:lnTo>
                  <a:lnTo>
                    <a:pt x="28" y="488"/>
                  </a:lnTo>
                  <a:lnTo>
                    <a:pt x="38" y="514"/>
                  </a:lnTo>
                  <a:lnTo>
                    <a:pt x="48" y="48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9" name="Freeform 136"/>
            <p:cNvSpPr/>
            <p:nvPr/>
          </p:nvSpPr>
          <p:spPr bwMode="auto">
            <a:xfrm>
              <a:off x="4527550" y="3511550"/>
              <a:ext cx="88900" cy="746125"/>
            </a:xfrm>
            <a:custGeom>
              <a:avLst/>
              <a:gdLst/>
              <a:ahLst/>
              <a:cxnLst>
                <a:cxn ang="0">
                  <a:pos x="12" y="0"/>
                </a:cxn>
                <a:cxn ang="0">
                  <a:pos x="12" y="0"/>
                </a:cxn>
                <a:cxn ang="0">
                  <a:pos x="12" y="8"/>
                </a:cxn>
                <a:cxn ang="0">
                  <a:pos x="8" y="28"/>
                </a:cxn>
                <a:cxn ang="0">
                  <a:pos x="8" y="54"/>
                </a:cxn>
                <a:cxn ang="0">
                  <a:pos x="8" y="68"/>
                </a:cxn>
                <a:cxn ang="0">
                  <a:pos x="10" y="82"/>
                </a:cxn>
                <a:cxn ang="0">
                  <a:pos x="10" y="82"/>
                </a:cxn>
                <a:cxn ang="0">
                  <a:pos x="16" y="108"/>
                </a:cxn>
                <a:cxn ang="0">
                  <a:pos x="20" y="132"/>
                </a:cxn>
                <a:cxn ang="0">
                  <a:pos x="20" y="154"/>
                </a:cxn>
                <a:cxn ang="0">
                  <a:pos x="18" y="178"/>
                </a:cxn>
                <a:cxn ang="0">
                  <a:pos x="18" y="178"/>
                </a:cxn>
                <a:cxn ang="0">
                  <a:pos x="10" y="202"/>
                </a:cxn>
                <a:cxn ang="0">
                  <a:pos x="4" y="232"/>
                </a:cxn>
                <a:cxn ang="0">
                  <a:pos x="2" y="246"/>
                </a:cxn>
                <a:cxn ang="0">
                  <a:pos x="0" y="262"/>
                </a:cxn>
                <a:cxn ang="0">
                  <a:pos x="0" y="278"/>
                </a:cxn>
                <a:cxn ang="0">
                  <a:pos x="4" y="296"/>
                </a:cxn>
                <a:cxn ang="0">
                  <a:pos x="4" y="296"/>
                </a:cxn>
                <a:cxn ang="0">
                  <a:pos x="18" y="350"/>
                </a:cxn>
                <a:cxn ang="0">
                  <a:pos x="20" y="374"/>
                </a:cxn>
                <a:cxn ang="0">
                  <a:pos x="20" y="402"/>
                </a:cxn>
                <a:cxn ang="0">
                  <a:pos x="20" y="402"/>
                </a:cxn>
                <a:cxn ang="0">
                  <a:pos x="20" y="430"/>
                </a:cxn>
                <a:cxn ang="0">
                  <a:pos x="24" y="452"/>
                </a:cxn>
                <a:cxn ang="0">
                  <a:pos x="28" y="470"/>
                </a:cxn>
                <a:cxn ang="0">
                  <a:pos x="28" y="470"/>
                </a:cxn>
                <a:cxn ang="0">
                  <a:pos x="28" y="470"/>
                </a:cxn>
                <a:cxn ang="0">
                  <a:pos x="32" y="452"/>
                </a:cxn>
                <a:cxn ang="0">
                  <a:pos x="36" y="430"/>
                </a:cxn>
                <a:cxn ang="0">
                  <a:pos x="36" y="402"/>
                </a:cxn>
                <a:cxn ang="0">
                  <a:pos x="36" y="402"/>
                </a:cxn>
                <a:cxn ang="0">
                  <a:pos x="36" y="374"/>
                </a:cxn>
                <a:cxn ang="0">
                  <a:pos x="38" y="350"/>
                </a:cxn>
                <a:cxn ang="0">
                  <a:pos x="52" y="296"/>
                </a:cxn>
                <a:cxn ang="0">
                  <a:pos x="52" y="296"/>
                </a:cxn>
                <a:cxn ang="0">
                  <a:pos x="56" y="278"/>
                </a:cxn>
                <a:cxn ang="0">
                  <a:pos x="56" y="262"/>
                </a:cxn>
                <a:cxn ang="0">
                  <a:pos x="54" y="246"/>
                </a:cxn>
                <a:cxn ang="0">
                  <a:pos x="52" y="232"/>
                </a:cxn>
                <a:cxn ang="0">
                  <a:pos x="46" y="202"/>
                </a:cxn>
                <a:cxn ang="0">
                  <a:pos x="38" y="178"/>
                </a:cxn>
                <a:cxn ang="0">
                  <a:pos x="38" y="178"/>
                </a:cxn>
                <a:cxn ang="0">
                  <a:pos x="36" y="154"/>
                </a:cxn>
                <a:cxn ang="0">
                  <a:pos x="36" y="132"/>
                </a:cxn>
                <a:cxn ang="0">
                  <a:pos x="40" y="108"/>
                </a:cxn>
                <a:cxn ang="0">
                  <a:pos x="46" y="82"/>
                </a:cxn>
                <a:cxn ang="0">
                  <a:pos x="46" y="82"/>
                </a:cxn>
                <a:cxn ang="0">
                  <a:pos x="48" y="68"/>
                </a:cxn>
                <a:cxn ang="0">
                  <a:pos x="48" y="54"/>
                </a:cxn>
                <a:cxn ang="0">
                  <a:pos x="48" y="28"/>
                </a:cxn>
                <a:cxn ang="0">
                  <a:pos x="44" y="8"/>
                </a:cxn>
                <a:cxn ang="0">
                  <a:pos x="44" y="0"/>
                </a:cxn>
                <a:cxn ang="0">
                  <a:pos x="12" y="0"/>
                </a:cxn>
              </a:cxnLst>
              <a:rect l="0" t="0" r="r" b="b"/>
              <a:pathLst>
                <a:path w="56" h="470">
                  <a:moveTo>
                    <a:pt x="12" y="0"/>
                  </a:moveTo>
                  <a:lnTo>
                    <a:pt x="12" y="0"/>
                  </a:lnTo>
                  <a:lnTo>
                    <a:pt x="12" y="8"/>
                  </a:lnTo>
                  <a:lnTo>
                    <a:pt x="8" y="28"/>
                  </a:lnTo>
                  <a:lnTo>
                    <a:pt x="8" y="54"/>
                  </a:lnTo>
                  <a:lnTo>
                    <a:pt x="8" y="68"/>
                  </a:lnTo>
                  <a:lnTo>
                    <a:pt x="10" y="82"/>
                  </a:lnTo>
                  <a:lnTo>
                    <a:pt x="10" y="82"/>
                  </a:lnTo>
                  <a:lnTo>
                    <a:pt x="16" y="108"/>
                  </a:lnTo>
                  <a:lnTo>
                    <a:pt x="20" y="132"/>
                  </a:lnTo>
                  <a:lnTo>
                    <a:pt x="20" y="154"/>
                  </a:lnTo>
                  <a:lnTo>
                    <a:pt x="18" y="178"/>
                  </a:lnTo>
                  <a:lnTo>
                    <a:pt x="18" y="178"/>
                  </a:lnTo>
                  <a:lnTo>
                    <a:pt x="10" y="202"/>
                  </a:lnTo>
                  <a:lnTo>
                    <a:pt x="4" y="232"/>
                  </a:lnTo>
                  <a:lnTo>
                    <a:pt x="2" y="246"/>
                  </a:lnTo>
                  <a:lnTo>
                    <a:pt x="0" y="262"/>
                  </a:lnTo>
                  <a:lnTo>
                    <a:pt x="0" y="278"/>
                  </a:lnTo>
                  <a:lnTo>
                    <a:pt x="4" y="296"/>
                  </a:lnTo>
                  <a:lnTo>
                    <a:pt x="4" y="296"/>
                  </a:lnTo>
                  <a:lnTo>
                    <a:pt x="18" y="350"/>
                  </a:lnTo>
                  <a:lnTo>
                    <a:pt x="20" y="374"/>
                  </a:lnTo>
                  <a:lnTo>
                    <a:pt x="20" y="402"/>
                  </a:lnTo>
                  <a:lnTo>
                    <a:pt x="20" y="402"/>
                  </a:lnTo>
                  <a:lnTo>
                    <a:pt x="20" y="430"/>
                  </a:lnTo>
                  <a:lnTo>
                    <a:pt x="24" y="452"/>
                  </a:lnTo>
                  <a:lnTo>
                    <a:pt x="28" y="470"/>
                  </a:lnTo>
                  <a:lnTo>
                    <a:pt x="28" y="470"/>
                  </a:lnTo>
                  <a:lnTo>
                    <a:pt x="28" y="470"/>
                  </a:lnTo>
                  <a:lnTo>
                    <a:pt x="32" y="452"/>
                  </a:lnTo>
                  <a:lnTo>
                    <a:pt x="36" y="430"/>
                  </a:lnTo>
                  <a:lnTo>
                    <a:pt x="36" y="402"/>
                  </a:lnTo>
                  <a:lnTo>
                    <a:pt x="36" y="402"/>
                  </a:lnTo>
                  <a:lnTo>
                    <a:pt x="36" y="374"/>
                  </a:lnTo>
                  <a:lnTo>
                    <a:pt x="38" y="350"/>
                  </a:lnTo>
                  <a:lnTo>
                    <a:pt x="52" y="296"/>
                  </a:lnTo>
                  <a:lnTo>
                    <a:pt x="52" y="296"/>
                  </a:lnTo>
                  <a:lnTo>
                    <a:pt x="56" y="278"/>
                  </a:lnTo>
                  <a:lnTo>
                    <a:pt x="56" y="262"/>
                  </a:lnTo>
                  <a:lnTo>
                    <a:pt x="54" y="246"/>
                  </a:lnTo>
                  <a:lnTo>
                    <a:pt x="52" y="232"/>
                  </a:lnTo>
                  <a:lnTo>
                    <a:pt x="46" y="202"/>
                  </a:lnTo>
                  <a:lnTo>
                    <a:pt x="38" y="178"/>
                  </a:lnTo>
                  <a:lnTo>
                    <a:pt x="38" y="178"/>
                  </a:lnTo>
                  <a:lnTo>
                    <a:pt x="36" y="154"/>
                  </a:lnTo>
                  <a:lnTo>
                    <a:pt x="36" y="132"/>
                  </a:lnTo>
                  <a:lnTo>
                    <a:pt x="40" y="108"/>
                  </a:lnTo>
                  <a:lnTo>
                    <a:pt x="46" y="82"/>
                  </a:lnTo>
                  <a:lnTo>
                    <a:pt x="46" y="82"/>
                  </a:lnTo>
                  <a:lnTo>
                    <a:pt x="48" y="68"/>
                  </a:lnTo>
                  <a:lnTo>
                    <a:pt x="48" y="54"/>
                  </a:lnTo>
                  <a:lnTo>
                    <a:pt x="48" y="28"/>
                  </a:lnTo>
                  <a:lnTo>
                    <a:pt x="44" y="8"/>
                  </a:lnTo>
                  <a:lnTo>
                    <a:pt x="44" y="0"/>
                  </a:lnTo>
                  <a:lnTo>
                    <a:pt x="1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0" name="Freeform 137"/>
            <p:cNvSpPr/>
            <p:nvPr/>
          </p:nvSpPr>
          <p:spPr bwMode="auto">
            <a:xfrm>
              <a:off x="4556125" y="3848100"/>
              <a:ext cx="31750" cy="168275"/>
            </a:xfrm>
            <a:custGeom>
              <a:avLst/>
              <a:gdLst/>
              <a:ahLst/>
              <a:cxnLst>
                <a:cxn ang="0">
                  <a:pos x="20" y="54"/>
                </a:cxn>
                <a:cxn ang="0">
                  <a:pos x="20" y="54"/>
                </a:cxn>
                <a:cxn ang="0">
                  <a:pos x="20" y="36"/>
                </a:cxn>
                <a:cxn ang="0">
                  <a:pos x="18" y="22"/>
                </a:cxn>
                <a:cxn ang="0">
                  <a:pos x="14" y="10"/>
                </a:cxn>
                <a:cxn ang="0">
                  <a:pos x="10" y="0"/>
                </a:cxn>
                <a:cxn ang="0">
                  <a:pos x="10" y="0"/>
                </a:cxn>
                <a:cxn ang="0">
                  <a:pos x="6" y="10"/>
                </a:cxn>
                <a:cxn ang="0">
                  <a:pos x="2" y="22"/>
                </a:cxn>
                <a:cxn ang="0">
                  <a:pos x="0" y="36"/>
                </a:cxn>
                <a:cxn ang="0">
                  <a:pos x="0" y="54"/>
                </a:cxn>
                <a:cxn ang="0">
                  <a:pos x="0" y="54"/>
                </a:cxn>
                <a:cxn ang="0">
                  <a:pos x="0" y="70"/>
                </a:cxn>
                <a:cxn ang="0">
                  <a:pos x="2" y="84"/>
                </a:cxn>
                <a:cxn ang="0">
                  <a:pos x="6" y="98"/>
                </a:cxn>
                <a:cxn ang="0">
                  <a:pos x="10" y="106"/>
                </a:cxn>
                <a:cxn ang="0">
                  <a:pos x="10" y="106"/>
                </a:cxn>
                <a:cxn ang="0">
                  <a:pos x="14" y="98"/>
                </a:cxn>
                <a:cxn ang="0">
                  <a:pos x="18" y="84"/>
                </a:cxn>
                <a:cxn ang="0">
                  <a:pos x="20" y="70"/>
                </a:cxn>
                <a:cxn ang="0">
                  <a:pos x="20" y="54"/>
                </a:cxn>
                <a:cxn ang="0">
                  <a:pos x="20" y="54"/>
                </a:cxn>
              </a:cxnLst>
              <a:rect l="0" t="0" r="r" b="b"/>
              <a:pathLst>
                <a:path w="20" h="106">
                  <a:moveTo>
                    <a:pt x="20" y="54"/>
                  </a:moveTo>
                  <a:lnTo>
                    <a:pt x="20" y="54"/>
                  </a:lnTo>
                  <a:lnTo>
                    <a:pt x="20" y="36"/>
                  </a:lnTo>
                  <a:lnTo>
                    <a:pt x="18" y="22"/>
                  </a:lnTo>
                  <a:lnTo>
                    <a:pt x="14" y="10"/>
                  </a:lnTo>
                  <a:lnTo>
                    <a:pt x="10" y="0"/>
                  </a:lnTo>
                  <a:lnTo>
                    <a:pt x="10" y="0"/>
                  </a:lnTo>
                  <a:lnTo>
                    <a:pt x="6" y="10"/>
                  </a:lnTo>
                  <a:lnTo>
                    <a:pt x="2" y="22"/>
                  </a:lnTo>
                  <a:lnTo>
                    <a:pt x="0" y="36"/>
                  </a:lnTo>
                  <a:lnTo>
                    <a:pt x="0" y="54"/>
                  </a:lnTo>
                  <a:lnTo>
                    <a:pt x="0" y="54"/>
                  </a:lnTo>
                  <a:lnTo>
                    <a:pt x="0" y="70"/>
                  </a:lnTo>
                  <a:lnTo>
                    <a:pt x="2" y="84"/>
                  </a:lnTo>
                  <a:lnTo>
                    <a:pt x="6" y="98"/>
                  </a:lnTo>
                  <a:lnTo>
                    <a:pt x="10" y="106"/>
                  </a:lnTo>
                  <a:lnTo>
                    <a:pt x="10" y="106"/>
                  </a:lnTo>
                  <a:lnTo>
                    <a:pt x="14" y="98"/>
                  </a:lnTo>
                  <a:lnTo>
                    <a:pt x="18" y="84"/>
                  </a:lnTo>
                  <a:lnTo>
                    <a:pt x="20" y="70"/>
                  </a:lnTo>
                  <a:lnTo>
                    <a:pt x="20" y="54"/>
                  </a:lnTo>
                  <a:lnTo>
                    <a:pt x="2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1" name="Freeform 138"/>
            <p:cNvSpPr/>
            <p:nvPr/>
          </p:nvSpPr>
          <p:spPr bwMode="auto">
            <a:xfrm>
              <a:off x="3949700" y="3448050"/>
              <a:ext cx="603250" cy="603250"/>
            </a:xfrm>
            <a:custGeom>
              <a:avLst/>
              <a:gdLst/>
              <a:ahLst/>
              <a:cxnLst>
                <a:cxn ang="0">
                  <a:pos x="26" y="368"/>
                </a:cxn>
                <a:cxn ang="0">
                  <a:pos x="46" y="356"/>
                </a:cxn>
                <a:cxn ang="0">
                  <a:pos x="84" y="320"/>
                </a:cxn>
                <a:cxn ang="0">
                  <a:pos x="84" y="320"/>
                </a:cxn>
                <a:cxn ang="0">
                  <a:pos x="110" y="296"/>
                </a:cxn>
                <a:cxn ang="0">
                  <a:pos x="168" y="260"/>
                </a:cxn>
                <a:cxn ang="0">
                  <a:pos x="180" y="252"/>
                </a:cxn>
                <a:cxn ang="0">
                  <a:pos x="208" y="224"/>
                </a:cxn>
                <a:cxn ang="0">
                  <a:pos x="234" y="184"/>
                </a:cxn>
                <a:cxn ang="0">
                  <a:pos x="246" y="164"/>
                </a:cxn>
                <a:cxn ang="0">
                  <a:pos x="274" y="132"/>
                </a:cxn>
                <a:cxn ang="0">
                  <a:pos x="314" y="104"/>
                </a:cxn>
                <a:cxn ang="0">
                  <a:pos x="326" y="96"/>
                </a:cxn>
                <a:cxn ang="0">
                  <a:pos x="356" y="66"/>
                </a:cxn>
                <a:cxn ang="0">
                  <a:pos x="374" y="42"/>
                </a:cxn>
                <a:cxn ang="0">
                  <a:pos x="374" y="28"/>
                </a:cxn>
                <a:cxn ang="0">
                  <a:pos x="340" y="6"/>
                </a:cxn>
                <a:cxn ang="0">
                  <a:pos x="332" y="10"/>
                </a:cxn>
                <a:cxn ang="0">
                  <a:pos x="294" y="42"/>
                </a:cxn>
                <a:cxn ang="0">
                  <a:pos x="276" y="66"/>
                </a:cxn>
                <a:cxn ang="0">
                  <a:pos x="262" y="88"/>
                </a:cxn>
                <a:cxn ang="0">
                  <a:pos x="234" y="120"/>
                </a:cxn>
                <a:cxn ang="0">
                  <a:pos x="196" y="146"/>
                </a:cxn>
                <a:cxn ang="0">
                  <a:pos x="176" y="158"/>
                </a:cxn>
                <a:cxn ang="0">
                  <a:pos x="136" y="190"/>
                </a:cxn>
                <a:cxn ang="0">
                  <a:pos x="120" y="212"/>
                </a:cxn>
                <a:cxn ang="0">
                  <a:pos x="104" y="240"/>
                </a:cxn>
                <a:cxn ang="0">
                  <a:pos x="74" y="282"/>
                </a:cxn>
                <a:cxn ang="0">
                  <a:pos x="60" y="296"/>
                </a:cxn>
                <a:cxn ang="0">
                  <a:pos x="24" y="334"/>
                </a:cxn>
                <a:cxn ang="0">
                  <a:pos x="12" y="354"/>
                </a:cxn>
                <a:cxn ang="0">
                  <a:pos x="26" y="368"/>
                </a:cxn>
              </a:cxnLst>
              <a:rect l="0" t="0" r="r" b="b"/>
              <a:pathLst>
                <a:path w="380" h="380">
                  <a:moveTo>
                    <a:pt x="26" y="368"/>
                  </a:moveTo>
                  <a:lnTo>
                    <a:pt x="26" y="368"/>
                  </a:lnTo>
                  <a:lnTo>
                    <a:pt x="32" y="364"/>
                  </a:lnTo>
                  <a:lnTo>
                    <a:pt x="46" y="356"/>
                  </a:lnTo>
                  <a:lnTo>
                    <a:pt x="64" y="342"/>
                  </a:lnTo>
                  <a:lnTo>
                    <a:pt x="84" y="320"/>
                  </a:lnTo>
                  <a:lnTo>
                    <a:pt x="84" y="320"/>
                  </a:lnTo>
                  <a:lnTo>
                    <a:pt x="84" y="320"/>
                  </a:lnTo>
                  <a:lnTo>
                    <a:pt x="98" y="306"/>
                  </a:lnTo>
                  <a:lnTo>
                    <a:pt x="110" y="296"/>
                  </a:lnTo>
                  <a:lnTo>
                    <a:pt x="140" y="276"/>
                  </a:lnTo>
                  <a:lnTo>
                    <a:pt x="168" y="260"/>
                  </a:lnTo>
                  <a:lnTo>
                    <a:pt x="168" y="260"/>
                  </a:lnTo>
                  <a:lnTo>
                    <a:pt x="180" y="252"/>
                  </a:lnTo>
                  <a:lnTo>
                    <a:pt x="190" y="244"/>
                  </a:lnTo>
                  <a:lnTo>
                    <a:pt x="208" y="224"/>
                  </a:lnTo>
                  <a:lnTo>
                    <a:pt x="222" y="204"/>
                  </a:lnTo>
                  <a:lnTo>
                    <a:pt x="234" y="184"/>
                  </a:lnTo>
                  <a:lnTo>
                    <a:pt x="246" y="164"/>
                  </a:lnTo>
                  <a:lnTo>
                    <a:pt x="246" y="164"/>
                  </a:lnTo>
                  <a:lnTo>
                    <a:pt x="260" y="146"/>
                  </a:lnTo>
                  <a:lnTo>
                    <a:pt x="274" y="132"/>
                  </a:lnTo>
                  <a:lnTo>
                    <a:pt x="292" y="118"/>
                  </a:lnTo>
                  <a:lnTo>
                    <a:pt x="314" y="104"/>
                  </a:lnTo>
                  <a:lnTo>
                    <a:pt x="314" y="104"/>
                  </a:lnTo>
                  <a:lnTo>
                    <a:pt x="326" y="96"/>
                  </a:lnTo>
                  <a:lnTo>
                    <a:pt x="336" y="86"/>
                  </a:lnTo>
                  <a:lnTo>
                    <a:pt x="356" y="66"/>
                  </a:lnTo>
                  <a:lnTo>
                    <a:pt x="368" y="50"/>
                  </a:lnTo>
                  <a:lnTo>
                    <a:pt x="374" y="42"/>
                  </a:lnTo>
                  <a:lnTo>
                    <a:pt x="380" y="34"/>
                  </a:lnTo>
                  <a:lnTo>
                    <a:pt x="374" y="28"/>
                  </a:lnTo>
                  <a:lnTo>
                    <a:pt x="346" y="0"/>
                  </a:lnTo>
                  <a:lnTo>
                    <a:pt x="340" y="6"/>
                  </a:lnTo>
                  <a:lnTo>
                    <a:pt x="340" y="6"/>
                  </a:lnTo>
                  <a:lnTo>
                    <a:pt x="332" y="10"/>
                  </a:lnTo>
                  <a:lnTo>
                    <a:pt x="314" y="24"/>
                  </a:lnTo>
                  <a:lnTo>
                    <a:pt x="294" y="42"/>
                  </a:lnTo>
                  <a:lnTo>
                    <a:pt x="284" y="54"/>
                  </a:lnTo>
                  <a:lnTo>
                    <a:pt x="276" y="66"/>
                  </a:lnTo>
                  <a:lnTo>
                    <a:pt x="276" y="66"/>
                  </a:lnTo>
                  <a:lnTo>
                    <a:pt x="262" y="88"/>
                  </a:lnTo>
                  <a:lnTo>
                    <a:pt x="248" y="106"/>
                  </a:lnTo>
                  <a:lnTo>
                    <a:pt x="234" y="120"/>
                  </a:lnTo>
                  <a:lnTo>
                    <a:pt x="216" y="134"/>
                  </a:lnTo>
                  <a:lnTo>
                    <a:pt x="196" y="146"/>
                  </a:lnTo>
                  <a:lnTo>
                    <a:pt x="196" y="146"/>
                  </a:lnTo>
                  <a:lnTo>
                    <a:pt x="176" y="158"/>
                  </a:lnTo>
                  <a:lnTo>
                    <a:pt x="156" y="172"/>
                  </a:lnTo>
                  <a:lnTo>
                    <a:pt x="136" y="190"/>
                  </a:lnTo>
                  <a:lnTo>
                    <a:pt x="128" y="200"/>
                  </a:lnTo>
                  <a:lnTo>
                    <a:pt x="120" y="212"/>
                  </a:lnTo>
                  <a:lnTo>
                    <a:pt x="104" y="240"/>
                  </a:lnTo>
                  <a:lnTo>
                    <a:pt x="104" y="240"/>
                  </a:lnTo>
                  <a:lnTo>
                    <a:pt x="84" y="270"/>
                  </a:lnTo>
                  <a:lnTo>
                    <a:pt x="74" y="282"/>
                  </a:lnTo>
                  <a:lnTo>
                    <a:pt x="60" y="296"/>
                  </a:lnTo>
                  <a:lnTo>
                    <a:pt x="60" y="296"/>
                  </a:lnTo>
                  <a:lnTo>
                    <a:pt x="38" y="316"/>
                  </a:lnTo>
                  <a:lnTo>
                    <a:pt x="24" y="334"/>
                  </a:lnTo>
                  <a:lnTo>
                    <a:pt x="16" y="348"/>
                  </a:lnTo>
                  <a:lnTo>
                    <a:pt x="12" y="354"/>
                  </a:lnTo>
                  <a:lnTo>
                    <a:pt x="0" y="380"/>
                  </a:lnTo>
                  <a:lnTo>
                    <a:pt x="26" y="36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2" name="Freeform 139"/>
            <p:cNvSpPr/>
            <p:nvPr/>
          </p:nvSpPr>
          <p:spPr bwMode="auto">
            <a:xfrm>
              <a:off x="3984625" y="3470275"/>
              <a:ext cx="546100" cy="546100"/>
            </a:xfrm>
            <a:custGeom>
              <a:avLst/>
              <a:gdLst/>
              <a:ahLst/>
              <a:cxnLst>
                <a:cxn ang="0">
                  <a:pos x="322" y="0"/>
                </a:cxn>
                <a:cxn ang="0">
                  <a:pos x="322" y="0"/>
                </a:cxn>
                <a:cxn ang="0">
                  <a:pos x="316" y="4"/>
                </a:cxn>
                <a:cxn ang="0">
                  <a:pos x="300" y="16"/>
                </a:cxn>
                <a:cxn ang="0">
                  <a:pos x="280" y="34"/>
                </a:cxn>
                <a:cxn ang="0">
                  <a:pos x="272" y="46"/>
                </a:cxn>
                <a:cxn ang="0">
                  <a:pos x="262" y="56"/>
                </a:cxn>
                <a:cxn ang="0">
                  <a:pos x="262" y="56"/>
                </a:cxn>
                <a:cxn ang="0">
                  <a:pos x="248" y="78"/>
                </a:cxn>
                <a:cxn ang="0">
                  <a:pos x="234" y="98"/>
                </a:cxn>
                <a:cxn ang="0">
                  <a:pos x="218" y="114"/>
                </a:cxn>
                <a:cxn ang="0">
                  <a:pos x="200" y="128"/>
                </a:cxn>
                <a:cxn ang="0">
                  <a:pos x="200" y="128"/>
                </a:cxn>
                <a:cxn ang="0">
                  <a:pos x="178" y="142"/>
                </a:cxn>
                <a:cxn ang="0">
                  <a:pos x="152" y="158"/>
                </a:cxn>
                <a:cxn ang="0">
                  <a:pos x="140" y="166"/>
                </a:cxn>
                <a:cxn ang="0">
                  <a:pos x="128" y="176"/>
                </a:cxn>
                <a:cxn ang="0">
                  <a:pos x="116" y="188"/>
                </a:cxn>
                <a:cxn ang="0">
                  <a:pos x="108" y="202"/>
                </a:cxn>
                <a:cxn ang="0">
                  <a:pos x="108" y="202"/>
                </a:cxn>
                <a:cxn ang="0">
                  <a:pos x="78" y="250"/>
                </a:cxn>
                <a:cxn ang="0">
                  <a:pos x="64" y="270"/>
                </a:cxn>
                <a:cxn ang="0">
                  <a:pos x="44" y="290"/>
                </a:cxn>
                <a:cxn ang="0">
                  <a:pos x="44" y="290"/>
                </a:cxn>
                <a:cxn ang="0">
                  <a:pos x="24" y="310"/>
                </a:cxn>
                <a:cxn ang="0">
                  <a:pos x="10" y="326"/>
                </a:cxn>
                <a:cxn ang="0">
                  <a:pos x="0" y="344"/>
                </a:cxn>
                <a:cxn ang="0">
                  <a:pos x="0" y="344"/>
                </a:cxn>
                <a:cxn ang="0">
                  <a:pos x="0" y="344"/>
                </a:cxn>
                <a:cxn ang="0">
                  <a:pos x="18" y="334"/>
                </a:cxn>
                <a:cxn ang="0">
                  <a:pos x="34" y="320"/>
                </a:cxn>
                <a:cxn ang="0">
                  <a:pos x="54" y="300"/>
                </a:cxn>
                <a:cxn ang="0">
                  <a:pos x="54" y="300"/>
                </a:cxn>
                <a:cxn ang="0">
                  <a:pos x="74" y="280"/>
                </a:cxn>
                <a:cxn ang="0">
                  <a:pos x="94" y="266"/>
                </a:cxn>
                <a:cxn ang="0">
                  <a:pos x="142" y="236"/>
                </a:cxn>
                <a:cxn ang="0">
                  <a:pos x="142" y="236"/>
                </a:cxn>
                <a:cxn ang="0">
                  <a:pos x="156" y="228"/>
                </a:cxn>
                <a:cxn ang="0">
                  <a:pos x="168" y="216"/>
                </a:cxn>
                <a:cxn ang="0">
                  <a:pos x="178" y="204"/>
                </a:cxn>
                <a:cxn ang="0">
                  <a:pos x="186" y="192"/>
                </a:cxn>
                <a:cxn ang="0">
                  <a:pos x="202" y="166"/>
                </a:cxn>
                <a:cxn ang="0">
                  <a:pos x="216" y="144"/>
                </a:cxn>
                <a:cxn ang="0">
                  <a:pos x="216" y="144"/>
                </a:cxn>
                <a:cxn ang="0">
                  <a:pos x="230" y="126"/>
                </a:cxn>
                <a:cxn ang="0">
                  <a:pos x="246" y="110"/>
                </a:cxn>
                <a:cxn ang="0">
                  <a:pos x="266" y="96"/>
                </a:cxn>
                <a:cxn ang="0">
                  <a:pos x="288" y="82"/>
                </a:cxn>
                <a:cxn ang="0">
                  <a:pos x="288" y="82"/>
                </a:cxn>
                <a:cxn ang="0">
                  <a:pos x="298" y="72"/>
                </a:cxn>
                <a:cxn ang="0">
                  <a:pos x="310" y="64"/>
                </a:cxn>
                <a:cxn ang="0">
                  <a:pos x="328" y="44"/>
                </a:cxn>
                <a:cxn ang="0">
                  <a:pos x="340" y="28"/>
                </a:cxn>
                <a:cxn ang="0">
                  <a:pos x="344" y="22"/>
                </a:cxn>
                <a:cxn ang="0">
                  <a:pos x="322" y="0"/>
                </a:cxn>
              </a:cxnLst>
              <a:rect l="0" t="0" r="r" b="b"/>
              <a:pathLst>
                <a:path w="344" h="344">
                  <a:moveTo>
                    <a:pt x="322" y="0"/>
                  </a:moveTo>
                  <a:lnTo>
                    <a:pt x="322" y="0"/>
                  </a:lnTo>
                  <a:lnTo>
                    <a:pt x="316" y="4"/>
                  </a:lnTo>
                  <a:lnTo>
                    <a:pt x="300" y="16"/>
                  </a:lnTo>
                  <a:lnTo>
                    <a:pt x="280" y="34"/>
                  </a:lnTo>
                  <a:lnTo>
                    <a:pt x="272" y="46"/>
                  </a:lnTo>
                  <a:lnTo>
                    <a:pt x="262" y="56"/>
                  </a:lnTo>
                  <a:lnTo>
                    <a:pt x="262" y="56"/>
                  </a:lnTo>
                  <a:lnTo>
                    <a:pt x="248" y="78"/>
                  </a:lnTo>
                  <a:lnTo>
                    <a:pt x="234" y="98"/>
                  </a:lnTo>
                  <a:lnTo>
                    <a:pt x="218" y="114"/>
                  </a:lnTo>
                  <a:lnTo>
                    <a:pt x="200" y="128"/>
                  </a:lnTo>
                  <a:lnTo>
                    <a:pt x="200" y="128"/>
                  </a:lnTo>
                  <a:lnTo>
                    <a:pt x="178" y="142"/>
                  </a:lnTo>
                  <a:lnTo>
                    <a:pt x="152" y="158"/>
                  </a:lnTo>
                  <a:lnTo>
                    <a:pt x="140" y="166"/>
                  </a:lnTo>
                  <a:lnTo>
                    <a:pt x="128" y="176"/>
                  </a:lnTo>
                  <a:lnTo>
                    <a:pt x="116" y="188"/>
                  </a:lnTo>
                  <a:lnTo>
                    <a:pt x="108" y="202"/>
                  </a:lnTo>
                  <a:lnTo>
                    <a:pt x="108" y="202"/>
                  </a:lnTo>
                  <a:lnTo>
                    <a:pt x="78" y="250"/>
                  </a:lnTo>
                  <a:lnTo>
                    <a:pt x="64" y="270"/>
                  </a:lnTo>
                  <a:lnTo>
                    <a:pt x="44" y="290"/>
                  </a:lnTo>
                  <a:lnTo>
                    <a:pt x="44" y="290"/>
                  </a:lnTo>
                  <a:lnTo>
                    <a:pt x="24" y="310"/>
                  </a:lnTo>
                  <a:lnTo>
                    <a:pt x="10" y="326"/>
                  </a:lnTo>
                  <a:lnTo>
                    <a:pt x="0" y="344"/>
                  </a:lnTo>
                  <a:lnTo>
                    <a:pt x="0" y="344"/>
                  </a:lnTo>
                  <a:lnTo>
                    <a:pt x="0" y="344"/>
                  </a:lnTo>
                  <a:lnTo>
                    <a:pt x="18" y="334"/>
                  </a:lnTo>
                  <a:lnTo>
                    <a:pt x="34" y="320"/>
                  </a:lnTo>
                  <a:lnTo>
                    <a:pt x="54" y="300"/>
                  </a:lnTo>
                  <a:lnTo>
                    <a:pt x="54" y="300"/>
                  </a:lnTo>
                  <a:lnTo>
                    <a:pt x="74" y="280"/>
                  </a:lnTo>
                  <a:lnTo>
                    <a:pt x="94" y="266"/>
                  </a:lnTo>
                  <a:lnTo>
                    <a:pt x="142" y="236"/>
                  </a:lnTo>
                  <a:lnTo>
                    <a:pt x="142" y="236"/>
                  </a:lnTo>
                  <a:lnTo>
                    <a:pt x="156" y="228"/>
                  </a:lnTo>
                  <a:lnTo>
                    <a:pt x="168" y="216"/>
                  </a:lnTo>
                  <a:lnTo>
                    <a:pt x="178" y="204"/>
                  </a:lnTo>
                  <a:lnTo>
                    <a:pt x="186" y="192"/>
                  </a:lnTo>
                  <a:lnTo>
                    <a:pt x="202" y="166"/>
                  </a:lnTo>
                  <a:lnTo>
                    <a:pt x="216" y="144"/>
                  </a:lnTo>
                  <a:lnTo>
                    <a:pt x="216" y="144"/>
                  </a:lnTo>
                  <a:lnTo>
                    <a:pt x="230" y="126"/>
                  </a:lnTo>
                  <a:lnTo>
                    <a:pt x="246" y="110"/>
                  </a:lnTo>
                  <a:lnTo>
                    <a:pt x="266" y="96"/>
                  </a:lnTo>
                  <a:lnTo>
                    <a:pt x="288" y="82"/>
                  </a:lnTo>
                  <a:lnTo>
                    <a:pt x="288" y="82"/>
                  </a:lnTo>
                  <a:lnTo>
                    <a:pt x="298" y="72"/>
                  </a:lnTo>
                  <a:lnTo>
                    <a:pt x="310" y="64"/>
                  </a:lnTo>
                  <a:lnTo>
                    <a:pt x="328" y="44"/>
                  </a:lnTo>
                  <a:lnTo>
                    <a:pt x="340" y="28"/>
                  </a:lnTo>
                  <a:lnTo>
                    <a:pt x="344" y="22"/>
                  </a:lnTo>
                  <a:lnTo>
                    <a:pt x="32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3" name="Freeform 140"/>
            <p:cNvSpPr/>
            <p:nvPr/>
          </p:nvSpPr>
          <p:spPr bwMode="auto">
            <a:xfrm>
              <a:off x="4156075" y="3724275"/>
              <a:ext cx="120650" cy="120650"/>
            </a:xfrm>
            <a:custGeom>
              <a:avLst/>
              <a:gdLst/>
              <a:ahLst/>
              <a:cxnLst>
                <a:cxn ang="0">
                  <a:pos x="46" y="46"/>
                </a:cxn>
                <a:cxn ang="0">
                  <a:pos x="46" y="46"/>
                </a:cxn>
                <a:cxn ang="0">
                  <a:pos x="56" y="34"/>
                </a:cxn>
                <a:cxn ang="0">
                  <a:pos x="66" y="22"/>
                </a:cxn>
                <a:cxn ang="0">
                  <a:pos x="72" y="10"/>
                </a:cxn>
                <a:cxn ang="0">
                  <a:pos x="76" y="0"/>
                </a:cxn>
                <a:cxn ang="0">
                  <a:pos x="76" y="0"/>
                </a:cxn>
                <a:cxn ang="0">
                  <a:pos x="66" y="4"/>
                </a:cxn>
                <a:cxn ang="0">
                  <a:pos x="54" y="10"/>
                </a:cxn>
                <a:cxn ang="0">
                  <a:pos x="42" y="20"/>
                </a:cxn>
                <a:cxn ang="0">
                  <a:pos x="30" y="30"/>
                </a:cxn>
                <a:cxn ang="0">
                  <a:pos x="30" y="30"/>
                </a:cxn>
                <a:cxn ang="0">
                  <a:pos x="18" y="42"/>
                </a:cxn>
                <a:cxn ang="0">
                  <a:pos x="10" y="54"/>
                </a:cxn>
                <a:cxn ang="0">
                  <a:pos x="4" y="66"/>
                </a:cxn>
                <a:cxn ang="0">
                  <a:pos x="0" y="76"/>
                </a:cxn>
                <a:cxn ang="0">
                  <a:pos x="0" y="76"/>
                </a:cxn>
                <a:cxn ang="0">
                  <a:pos x="10" y="72"/>
                </a:cxn>
                <a:cxn ang="0">
                  <a:pos x="22" y="66"/>
                </a:cxn>
                <a:cxn ang="0">
                  <a:pos x="34" y="58"/>
                </a:cxn>
                <a:cxn ang="0">
                  <a:pos x="46" y="46"/>
                </a:cxn>
                <a:cxn ang="0">
                  <a:pos x="46" y="46"/>
                </a:cxn>
              </a:cxnLst>
              <a:rect l="0" t="0" r="r" b="b"/>
              <a:pathLst>
                <a:path w="76" h="76">
                  <a:moveTo>
                    <a:pt x="46" y="46"/>
                  </a:moveTo>
                  <a:lnTo>
                    <a:pt x="46" y="46"/>
                  </a:lnTo>
                  <a:lnTo>
                    <a:pt x="56" y="34"/>
                  </a:lnTo>
                  <a:lnTo>
                    <a:pt x="66" y="22"/>
                  </a:lnTo>
                  <a:lnTo>
                    <a:pt x="72" y="10"/>
                  </a:lnTo>
                  <a:lnTo>
                    <a:pt x="76" y="0"/>
                  </a:lnTo>
                  <a:lnTo>
                    <a:pt x="76" y="0"/>
                  </a:lnTo>
                  <a:lnTo>
                    <a:pt x="66" y="4"/>
                  </a:lnTo>
                  <a:lnTo>
                    <a:pt x="54" y="10"/>
                  </a:lnTo>
                  <a:lnTo>
                    <a:pt x="42" y="20"/>
                  </a:lnTo>
                  <a:lnTo>
                    <a:pt x="30" y="30"/>
                  </a:lnTo>
                  <a:lnTo>
                    <a:pt x="30" y="30"/>
                  </a:lnTo>
                  <a:lnTo>
                    <a:pt x="18" y="42"/>
                  </a:lnTo>
                  <a:lnTo>
                    <a:pt x="10" y="54"/>
                  </a:lnTo>
                  <a:lnTo>
                    <a:pt x="4" y="66"/>
                  </a:lnTo>
                  <a:lnTo>
                    <a:pt x="0" y="76"/>
                  </a:lnTo>
                  <a:lnTo>
                    <a:pt x="0" y="76"/>
                  </a:lnTo>
                  <a:lnTo>
                    <a:pt x="10" y="72"/>
                  </a:lnTo>
                  <a:lnTo>
                    <a:pt x="22" y="66"/>
                  </a:lnTo>
                  <a:lnTo>
                    <a:pt x="34" y="58"/>
                  </a:lnTo>
                  <a:lnTo>
                    <a:pt x="46" y="46"/>
                  </a:lnTo>
                  <a:lnTo>
                    <a:pt x="46"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4" name="Freeform 141"/>
            <p:cNvSpPr/>
            <p:nvPr/>
          </p:nvSpPr>
          <p:spPr bwMode="auto">
            <a:xfrm>
              <a:off x="3692525" y="3368675"/>
              <a:ext cx="815975" cy="120650"/>
            </a:xfrm>
            <a:custGeom>
              <a:avLst/>
              <a:gdLst/>
              <a:ahLst/>
              <a:cxnLst>
                <a:cxn ang="0">
                  <a:pos x="26" y="48"/>
                </a:cxn>
                <a:cxn ang="0">
                  <a:pos x="48" y="52"/>
                </a:cxn>
                <a:cxn ang="0">
                  <a:pos x="102" y="56"/>
                </a:cxn>
                <a:cxn ang="0">
                  <a:pos x="102" y="56"/>
                </a:cxn>
                <a:cxn ang="0">
                  <a:pos x="138" y="56"/>
                </a:cxn>
                <a:cxn ang="0">
                  <a:pos x="204" y="72"/>
                </a:cxn>
                <a:cxn ang="0">
                  <a:pos x="218" y="74"/>
                </a:cxn>
                <a:cxn ang="0">
                  <a:pos x="258" y="74"/>
                </a:cxn>
                <a:cxn ang="0">
                  <a:pos x="304" y="64"/>
                </a:cxn>
                <a:cxn ang="0">
                  <a:pos x="328" y="58"/>
                </a:cxn>
                <a:cxn ang="0">
                  <a:pos x="368" y="56"/>
                </a:cxn>
                <a:cxn ang="0">
                  <a:pos x="416" y="66"/>
                </a:cxn>
                <a:cxn ang="0">
                  <a:pos x="432" y="68"/>
                </a:cxn>
                <a:cxn ang="0">
                  <a:pos x="472" y="68"/>
                </a:cxn>
                <a:cxn ang="0">
                  <a:pos x="504" y="64"/>
                </a:cxn>
                <a:cxn ang="0">
                  <a:pos x="514" y="54"/>
                </a:cxn>
                <a:cxn ang="0">
                  <a:pos x="504" y="12"/>
                </a:cxn>
                <a:cxn ang="0">
                  <a:pos x="496" y="12"/>
                </a:cxn>
                <a:cxn ang="0">
                  <a:pos x="446" y="8"/>
                </a:cxn>
                <a:cxn ang="0">
                  <a:pos x="416" y="10"/>
                </a:cxn>
                <a:cxn ang="0">
                  <a:pos x="392" y="16"/>
                </a:cxn>
                <a:cxn ang="0">
                  <a:pos x="348" y="20"/>
                </a:cxn>
                <a:cxn ang="0">
                  <a:pos x="304" y="12"/>
                </a:cxn>
                <a:cxn ang="0">
                  <a:pos x="282" y="6"/>
                </a:cxn>
                <a:cxn ang="0">
                  <a:pos x="232" y="0"/>
                </a:cxn>
                <a:cxn ang="0">
                  <a:pos x="204" y="4"/>
                </a:cxn>
                <a:cxn ang="0">
                  <a:pos x="172" y="12"/>
                </a:cxn>
                <a:cxn ang="0">
                  <a:pos x="120" y="22"/>
                </a:cxn>
                <a:cxn ang="0">
                  <a:pos x="102" y="20"/>
                </a:cxn>
                <a:cxn ang="0">
                  <a:pos x="48" y="24"/>
                </a:cxn>
                <a:cxn ang="0">
                  <a:pos x="26" y="28"/>
                </a:cxn>
                <a:cxn ang="0">
                  <a:pos x="26" y="48"/>
                </a:cxn>
              </a:cxnLst>
              <a:rect l="0" t="0" r="r" b="b"/>
              <a:pathLst>
                <a:path w="514" h="76">
                  <a:moveTo>
                    <a:pt x="26" y="48"/>
                  </a:moveTo>
                  <a:lnTo>
                    <a:pt x="26" y="48"/>
                  </a:lnTo>
                  <a:lnTo>
                    <a:pt x="34" y="50"/>
                  </a:lnTo>
                  <a:lnTo>
                    <a:pt x="48" y="52"/>
                  </a:lnTo>
                  <a:lnTo>
                    <a:pt x="72" y="56"/>
                  </a:lnTo>
                  <a:lnTo>
                    <a:pt x="102" y="56"/>
                  </a:lnTo>
                  <a:lnTo>
                    <a:pt x="102" y="56"/>
                  </a:lnTo>
                  <a:lnTo>
                    <a:pt x="102" y="56"/>
                  </a:lnTo>
                  <a:lnTo>
                    <a:pt x="120" y="54"/>
                  </a:lnTo>
                  <a:lnTo>
                    <a:pt x="138" y="56"/>
                  </a:lnTo>
                  <a:lnTo>
                    <a:pt x="172" y="64"/>
                  </a:lnTo>
                  <a:lnTo>
                    <a:pt x="204" y="72"/>
                  </a:lnTo>
                  <a:lnTo>
                    <a:pt x="204" y="72"/>
                  </a:lnTo>
                  <a:lnTo>
                    <a:pt x="218" y="74"/>
                  </a:lnTo>
                  <a:lnTo>
                    <a:pt x="232" y="76"/>
                  </a:lnTo>
                  <a:lnTo>
                    <a:pt x="258" y="74"/>
                  </a:lnTo>
                  <a:lnTo>
                    <a:pt x="282" y="70"/>
                  </a:lnTo>
                  <a:lnTo>
                    <a:pt x="304" y="64"/>
                  </a:lnTo>
                  <a:lnTo>
                    <a:pt x="328" y="58"/>
                  </a:lnTo>
                  <a:lnTo>
                    <a:pt x="328" y="58"/>
                  </a:lnTo>
                  <a:lnTo>
                    <a:pt x="348" y="56"/>
                  </a:lnTo>
                  <a:lnTo>
                    <a:pt x="368" y="56"/>
                  </a:lnTo>
                  <a:lnTo>
                    <a:pt x="392" y="60"/>
                  </a:lnTo>
                  <a:lnTo>
                    <a:pt x="416" y="66"/>
                  </a:lnTo>
                  <a:lnTo>
                    <a:pt x="416" y="66"/>
                  </a:lnTo>
                  <a:lnTo>
                    <a:pt x="432" y="68"/>
                  </a:lnTo>
                  <a:lnTo>
                    <a:pt x="446" y="68"/>
                  </a:lnTo>
                  <a:lnTo>
                    <a:pt x="472" y="68"/>
                  </a:lnTo>
                  <a:lnTo>
                    <a:pt x="494" y="66"/>
                  </a:lnTo>
                  <a:lnTo>
                    <a:pt x="504" y="64"/>
                  </a:lnTo>
                  <a:lnTo>
                    <a:pt x="514" y="62"/>
                  </a:lnTo>
                  <a:lnTo>
                    <a:pt x="514" y="54"/>
                  </a:lnTo>
                  <a:lnTo>
                    <a:pt x="514" y="14"/>
                  </a:lnTo>
                  <a:lnTo>
                    <a:pt x="504" y="12"/>
                  </a:lnTo>
                  <a:lnTo>
                    <a:pt x="504" y="12"/>
                  </a:lnTo>
                  <a:lnTo>
                    <a:pt x="496" y="12"/>
                  </a:lnTo>
                  <a:lnTo>
                    <a:pt x="474" y="8"/>
                  </a:lnTo>
                  <a:lnTo>
                    <a:pt x="446" y="8"/>
                  </a:lnTo>
                  <a:lnTo>
                    <a:pt x="432" y="8"/>
                  </a:lnTo>
                  <a:lnTo>
                    <a:pt x="416" y="10"/>
                  </a:lnTo>
                  <a:lnTo>
                    <a:pt x="416" y="10"/>
                  </a:lnTo>
                  <a:lnTo>
                    <a:pt x="392" y="16"/>
                  </a:lnTo>
                  <a:lnTo>
                    <a:pt x="368" y="20"/>
                  </a:lnTo>
                  <a:lnTo>
                    <a:pt x="348" y="20"/>
                  </a:lnTo>
                  <a:lnTo>
                    <a:pt x="328" y="18"/>
                  </a:lnTo>
                  <a:lnTo>
                    <a:pt x="304" y="12"/>
                  </a:lnTo>
                  <a:lnTo>
                    <a:pt x="304" y="12"/>
                  </a:lnTo>
                  <a:lnTo>
                    <a:pt x="282" y="6"/>
                  </a:lnTo>
                  <a:lnTo>
                    <a:pt x="258" y="2"/>
                  </a:lnTo>
                  <a:lnTo>
                    <a:pt x="232" y="0"/>
                  </a:lnTo>
                  <a:lnTo>
                    <a:pt x="218" y="2"/>
                  </a:lnTo>
                  <a:lnTo>
                    <a:pt x="204" y="4"/>
                  </a:lnTo>
                  <a:lnTo>
                    <a:pt x="172" y="12"/>
                  </a:lnTo>
                  <a:lnTo>
                    <a:pt x="172" y="12"/>
                  </a:lnTo>
                  <a:lnTo>
                    <a:pt x="138" y="20"/>
                  </a:lnTo>
                  <a:lnTo>
                    <a:pt x="120" y="22"/>
                  </a:lnTo>
                  <a:lnTo>
                    <a:pt x="102" y="20"/>
                  </a:lnTo>
                  <a:lnTo>
                    <a:pt x="102" y="20"/>
                  </a:lnTo>
                  <a:lnTo>
                    <a:pt x="72" y="20"/>
                  </a:lnTo>
                  <a:lnTo>
                    <a:pt x="48" y="24"/>
                  </a:lnTo>
                  <a:lnTo>
                    <a:pt x="34" y="26"/>
                  </a:lnTo>
                  <a:lnTo>
                    <a:pt x="26" y="28"/>
                  </a:lnTo>
                  <a:lnTo>
                    <a:pt x="0" y="38"/>
                  </a:lnTo>
                  <a:lnTo>
                    <a:pt x="26" y="4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5" name="Freeform 142"/>
            <p:cNvSpPr/>
            <p:nvPr/>
          </p:nvSpPr>
          <p:spPr bwMode="auto">
            <a:xfrm>
              <a:off x="3743325" y="3384550"/>
              <a:ext cx="746125" cy="88900"/>
            </a:xfrm>
            <a:custGeom>
              <a:avLst/>
              <a:gdLst/>
              <a:ahLst/>
              <a:cxnLst>
                <a:cxn ang="0">
                  <a:pos x="470" y="12"/>
                </a:cxn>
                <a:cxn ang="0">
                  <a:pos x="470" y="12"/>
                </a:cxn>
                <a:cxn ang="0">
                  <a:pos x="462" y="12"/>
                </a:cxn>
                <a:cxn ang="0">
                  <a:pos x="442" y="8"/>
                </a:cxn>
                <a:cxn ang="0">
                  <a:pos x="416" y="8"/>
                </a:cxn>
                <a:cxn ang="0">
                  <a:pos x="402" y="8"/>
                </a:cxn>
                <a:cxn ang="0">
                  <a:pos x="388" y="10"/>
                </a:cxn>
                <a:cxn ang="0">
                  <a:pos x="388" y="10"/>
                </a:cxn>
                <a:cxn ang="0">
                  <a:pos x="362" y="16"/>
                </a:cxn>
                <a:cxn ang="0">
                  <a:pos x="338" y="20"/>
                </a:cxn>
                <a:cxn ang="0">
                  <a:pos x="316" y="20"/>
                </a:cxn>
                <a:cxn ang="0">
                  <a:pos x="292" y="18"/>
                </a:cxn>
                <a:cxn ang="0">
                  <a:pos x="292" y="18"/>
                </a:cxn>
                <a:cxn ang="0">
                  <a:pos x="268" y="10"/>
                </a:cxn>
                <a:cxn ang="0">
                  <a:pos x="238" y="4"/>
                </a:cxn>
                <a:cxn ang="0">
                  <a:pos x="224" y="2"/>
                </a:cxn>
                <a:cxn ang="0">
                  <a:pos x="208" y="0"/>
                </a:cxn>
                <a:cxn ang="0">
                  <a:pos x="192" y="0"/>
                </a:cxn>
                <a:cxn ang="0">
                  <a:pos x="174" y="4"/>
                </a:cxn>
                <a:cxn ang="0">
                  <a:pos x="174" y="4"/>
                </a:cxn>
                <a:cxn ang="0">
                  <a:pos x="120" y="18"/>
                </a:cxn>
                <a:cxn ang="0">
                  <a:pos x="96" y="20"/>
                </a:cxn>
                <a:cxn ang="0">
                  <a:pos x="68" y="20"/>
                </a:cxn>
                <a:cxn ang="0">
                  <a:pos x="68" y="20"/>
                </a:cxn>
                <a:cxn ang="0">
                  <a:pos x="40" y="20"/>
                </a:cxn>
                <a:cxn ang="0">
                  <a:pos x="18" y="24"/>
                </a:cxn>
                <a:cxn ang="0">
                  <a:pos x="0" y="28"/>
                </a:cxn>
                <a:cxn ang="0">
                  <a:pos x="0" y="28"/>
                </a:cxn>
                <a:cxn ang="0">
                  <a:pos x="0" y="28"/>
                </a:cxn>
                <a:cxn ang="0">
                  <a:pos x="18" y="32"/>
                </a:cxn>
                <a:cxn ang="0">
                  <a:pos x="40" y="36"/>
                </a:cxn>
                <a:cxn ang="0">
                  <a:pos x="68" y="36"/>
                </a:cxn>
                <a:cxn ang="0">
                  <a:pos x="68" y="36"/>
                </a:cxn>
                <a:cxn ang="0">
                  <a:pos x="96" y="36"/>
                </a:cxn>
                <a:cxn ang="0">
                  <a:pos x="120" y="38"/>
                </a:cxn>
                <a:cxn ang="0">
                  <a:pos x="174" y="52"/>
                </a:cxn>
                <a:cxn ang="0">
                  <a:pos x="174" y="52"/>
                </a:cxn>
                <a:cxn ang="0">
                  <a:pos x="192" y="56"/>
                </a:cxn>
                <a:cxn ang="0">
                  <a:pos x="208" y="56"/>
                </a:cxn>
                <a:cxn ang="0">
                  <a:pos x="224" y="54"/>
                </a:cxn>
                <a:cxn ang="0">
                  <a:pos x="238" y="52"/>
                </a:cxn>
                <a:cxn ang="0">
                  <a:pos x="268" y="46"/>
                </a:cxn>
                <a:cxn ang="0">
                  <a:pos x="292" y="38"/>
                </a:cxn>
                <a:cxn ang="0">
                  <a:pos x="292" y="38"/>
                </a:cxn>
                <a:cxn ang="0">
                  <a:pos x="316" y="36"/>
                </a:cxn>
                <a:cxn ang="0">
                  <a:pos x="338" y="36"/>
                </a:cxn>
                <a:cxn ang="0">
                  <a:pos x="362" y="40"/>
                </a:cxn>
                <a:cxn ang="0">
                  <a:pos x="388" y="46"/>
                </a:cxn>
                <a:cxn ang="0">
                  <a:pos x="388" y="46"/>
                </a:cxn>
                <a:cxn ang="0">
                  <a:pos x="402" y="48"/>
                </a:cxn>
                <a:cxn ang="0">
                  <a:pos x="416" y="48"/>
                </a:cxn>
                <a:cxn ang="0">
                  <a:pos x="442" y="48"/>
                </a:cxn>
                <a:cxn ang="0">
                  <a:pos x="462" y="44"/>
                </a:cxn>
                <a:cxn ang="0">
                  <a:pos x="470" y="44"/>
                </a:cxn>
                <a:cxn ang="0">
                  <a:pos x="470" y="12"/>
                </a:cxn>
              </a:cxnLst>
              <a:rect l="0" t="0" r="r" b="b"/>
              <a:pathLst>
                <a:path w="470" h="56">
                  <a:moveTo>
                    <a:pt x="470" y="12"/>
                  </a:moveTo>
                  <a:lnTo>
                    <a:pt x="470" y="12"/>
                  </a:lnTo>
                  <a:lnTo>
                    <a:pt x="462" y="12"/>
                  </a:lnTo>
                  <a:lnTo>
                    <a:pt x="442" y="8"/>
                  </a:lnTo>
                  <a:lnTo>
                    <a:pt x="416" y="8"/>
                  </a:lnTo>
                  <a:lnTo>
                    <a:pt x="402" y="8"/>
                  </a:lnTo>
                  <a:lnTo>
                    <a:pt x="388" y="10"/>
                  </a:lnTo>
                  <a:lnTo>
                    <a:pt x="388" y="10"/>
                  </a:lnTo>
                  <a:lnTo>
                    <a:pt x="362" y="16"/>
                  </a:lnTo>
                  <a:lnTo>
                    <a:pt x="338" y="20"/>
                  </a:lnTo>
                  <a:lnTo>
                    <a:pt x="316" y="20"/>
                  </a:lnTo>
                  <a:lnTo>
                    <a:pt x="292" y="18"/>
                  </a:lnTo>
                  <a:lnTo>
                    <a:pt x="292" y="18"/>
                  </a:lnTo>
                  <a:lnTo>
                    <a:pt x="268" y="10"/>
                  </a:lnTo>
                  <a:lnTo>
                    <a:pt x="238" y="4"/>
                  </a:lnTo>
                  <a:lnTo>
                    <a:pt x="224" y="2"/>
                  </a:lnTo>
                  <a:lnTo>
                    <a:pt x="208" y="0"/>
                  </a:lnTo>
                  <a:lnTo>
                    <a:pt x="192" y="0"/>
                  </a:lnTo>
                  <a:lnTo>
                    <a:pt x="174" y="4"/>
                  </a:lnTo>
                  <a:lnTo>
                    <a:pt x="174" y="4"/>
                  </a:lnTo>
                  <a:lnTo>
                    <a:pt x="120" y="18"/>
                  </a:lnTo>
                  <a:lnTo>
                    <a:pt x="96" y="20"/>
                  </a:lnTo>
                  <a:lnTo>
                    <a:pt x="68" y="20"/>
                  </a:lnTo>
                  <a:lnTo>
                    <a:pt x="68" y="20"/>
                  </a:lnTo>
                  <a:lnTo>
                    <a:pt x="40" y="20"/>
                  </a:lnTo>
                  <a:lnTo>
                    <a:pt x="18" y="24"/>
                  </a:lnTo>
                  <a:lnTo>
                    <a:pt x="0" y="28"/>
                  </a:lnTo>
                  <a:lnTo>
                    <a:pt x="0" y="28"/>
                  </a:lnTo>
                  <a:lnTo>
                    <a:pt x="0" y="28"/>
                  </a:lnTo>
                  <a:lnTo>
                    <a:pt x="18" y="32"/>
                  </a:lnTo>
                  <a:lnTo>
                    <a:pt x="40" y="36"/>
                  </a:lnTo>
                  <a:lnTo>
                    <a:pt x="68" y="36"/>
                  </a:lnTo>
                  <a:lnTo>
                    <a:pt x="68" y="36"/>
                  </a:lnTo>
                  <a:lnTo>
                    <a:pt x="96" y="36"/>
                  </a:lnTo>
                  <a:lnTo>
                    <a:pt x="120" y="38"/>
                  </a:lnTo>
                  <a:lnTo>
                    <a:pt x="174" y="52"/>
                  </a:lnTo>
                  <a:lnTo>
                    <a:pt x="174" y="52"/>
                  </a:lnTo>
                  <a:lnTo>
                    <a:pt x="192" y="56"/>
                  </a:lnTo>
                  <a:lnTo>
                    <a:pt x="208" y="56"/>
                  </a:lnTo>
                  <a:lnTo>
                    <a:pt x="224" y="54"/>
                  </a:lnTo>
                  <a:lnTo>
                    <a:pt x="238" y="52"/>
                  </a:lnTo>
                  <a:lnTo>
                    <a:pt x="268" y="46"/>
                  </a:lnTo>
                  <a:lnTo>
                    <a:pt x="292" y="38"/>
                  </a:lnTo>
                  <a:lnTo>
                    <a:pt x="292" y="38"/>
                  </a:lnTo>
                  <a:lnTo>
                    <a:pt x="316" y="36"/>
                  </a:lnTo>
                  <a:lnTo>
                    <a:pt x="338" y="36"/>
                  </a:lnTo>
                  <a:lnTo>
                    <a:pt x="362" y="40"/>
                  </a:lnTo>
                  <a:lnTo>
                    <a:pt x="388" y="46"/>
                  </a:lnTo>
                  <a:lnTo>
                    <a:pt x="388" y="46"/>
                  </a:lnTo>
                  <a:lnTo>
                    <a:pt x="402" y="48"/>
                  </a:lnTo>
                  <a:lnTo>
                    <a:pt x="416" y="48"/>
                  </a:lnTo>
                  <a:lnTo>
                    <a:pt x="442" y="48"/>
                  </a:lnTo>
                  <a:lnTo>
                    <a:pt x="462" y="44"/>
                  </a:lnTo>
                  <a:lnTo>
                    <a:pt x="470" y="44"/>
                  </a:lnTo>
                  <a:lnTo>
                    <a:pt x="47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6" name="Freeform 143"/>
            <p:cNvSpPr/>
            <p:nvPr/>
          </p:nvSpPr>
          <p:spPr bwMode="auto">
            <a:xfrm>
              <a:off x="3984625" y="3413125"/>
              <a:ext cx="168275" cy="31750"/>
            </a:xfrm>
            <a:custGeom>
              <a:avLst/>
              <a:gdLst/>
              <a:ahLst/>
              <a:cxnLst>
                <a:cxn ang="0">
                  <a:pos x="52" y="20"/>
                </a:cxn>
                <a:cxn ang="0">
                  <a:pos x="52" y="20"/>
                </a:cxn>
                <a:cxn ang="0">
                  <a:pos x="70" y="20"/>
                </a:cxn>
                <a:cxn ang="0">
                  <a:pos x="84" y="18"/>
                </a:cxn>
                <a:cxn ang="0">
                  <a:pos x="96" y="14"/>
                </a:cxn>
                <a:cxn ang="0">
                  <a:pos x="106" y="10"/>
                </a:cxn>
                <a:cxn ang="0">
                  <a:pos x="106" y="10"/>
                </a:cxn>
                <a:cxn ang="0">
                  <a:pos x="96" y="6"/>
                </a:cxn>
                <a:cxn ang="0">
                  <a:pos x="84" y="2"/>
                </a:cxn>
                <a:cxn ang="0">
                  <a:pos x="70" y="0"/>
                </a:cxn>
                <a:cxn ang="0">
                  <a:pos x="52" y="0"/>
                </a:cxn>
                <a:cxn ang="0">
                  <a:pos x="52" y="0"/>
                </a:cxn>
                <a:cxn ang="0">
                  <a:pos x="36" y="0"/>
                </a:cxn>
                <a:cxn ang="0">
                  <a:pos x="22" y="2"/>
                </a:cxn>
                <a:cxn ang="0">
                  <a:pos x="8" y="6"/>
                </a:cxn>
                <a:cxn ang="0">
                  <a:pos x="0" y="10"/>
                </a:cxn>
                <a:cxn ang="0">
                  <a:pos x="0" y="10"/>
                </a:cxn>
                <a:cxn ang="0">
                  <a:pos x="8" y="14"/>
                </a:cxn>
                <a:cxn ang="0">
                  <a:pos x="22" y="18"/>
                </a:cxn>
                <a:cxn ang="0">
                  <a:pos x="36" y="20"/>
                </a:cxn>
                <a:cxn ang="0">
                  <a:pos x="52" y="20"/>
                </a:cxn>
                <a:cxn ang="0">
                  <a:pos x="52" y="20"/>
                </a:cxn>
              </a:cxnLst>
              <a:rect l="0" t="0" r="r" b="b"/>
              <a:pathLst>
                <a:path w="106" h="20">
                  <a:moveTo>
                    <a:pt x="52" y="20"/>
                  </a:moveTo>
                  <a:lnTo>
                    <a:pt x="52" y="20"/>
                  </a:lnTo>
                  <a:lnTo>
                    <a:pt x="70" y="20"/>
                  </a:lnTo>
                  <a:lnTo>
                    <a:pt x="84" y="18"/>
                  </a:lnTo>
                  <a:lnTo>
                    <a:pt x="96" y="14"/>
                  </a:lnTo>
                  <a:lnTo>
                    <a:pt x="106" y="10"/>
                  </a:lnTo>
                  <a:lnTo>
                    <a:pt x="106" y="10"/>
                  </a:lnTo>
                  <a:lnTo>
                    <a:pt x="96" y="6"/>
                  </a:lnTo>
                  <a:lnTo>
                    <a:pt x="84" y="2"/>
                  </a:lnTo>
                  <a:lnTo>
                    <a:pt x="70" y="0"/>
                  </a:lnTo>
                  <a:lnTo>
                    <a:pt x="52" y="0"/>
                  </a:lnTo>
                  <a:lnTo>
                    <a:pt x="52" y="0"/>
                  </a:lnTo>
                  <a:lnTo>
                    <a:pt x="36" y="0"/>
                  </a:lnTo>
                  <a:lnTo>
                    <a:pt x="22" y="2"/>
                  </a:lnTo>
                  <a:lnTo>
                    <a:pt x="8" y="6"/>
                  </a:lnTo>
                  <a:lnTo>
                    <a:pt x="0" y="10"/>
                  </a:lnTo>
                  <a:lnTo>
                    <a:pt x="0" y="10"/>
                  </a:lnTo>
                  <a:lnTo>
                    <a:pt x="8" y="14"/>
                  </a:lnTo>
                  <a:lnTo>
                    <a:pt x="22" y="18"/>
                  </a:lnTo>
                  <a:lnTo>
                    <a:pt x="36" y="20"/>
                  </a:lnTo>
                  <a:lnTo>
                    <a:pt x="52" y="20"/>
                  </a:lnTo>
                  <a:lnTo>
                    <a:pt x="5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7" name="Freeform 144"/>
            <p:cNvSpPr/>
            <p:nvPr/>
          </p:nvSpPr>
          <p:spPr bwMode="auto">
            <a:xfrm>
              <a:off x="3949700" y="2806700"/>
              <a:ext cx="603250" cy="603250"/>
            </a:xfrm>
            <a:custGeom>
              <a:avLst/>
              <a:gdLst/>
              <a:ahLst/>
              <a:cxnLst>
                <a:cxn ang="0">
                  <a:pos x="12" y="26"/>
                </a:cxn>
                <a:cxn ang="0">
                  <a:pos x="24" y="46"/>
                </a:cxn>
                <a:cxn ang="0">
                  <a:pos x="60" y="84"/>
                </a:cxn>
                <a:cxn ang="0">
                  <a:pos x="60" y="84"/>
                </a:cxn>
                <a:cxn ang="0">
                  <a:pos x="84" y="110"/>
                </a:cxn>
                <a:cxn ang="0">
                  <a:pos x="120" y="168"/>
                </a:cxn>
                <a:cxn ang="0">
                  <a:pos x="128" y="180"/>
                </a:cxn>
                <a:cxn ang="0">
                  <a:pos x="156" y="208"/>
                </a:cxn>
                <a:cxn ang="0">
                  <a:pos x="196" y="234"/>
                </a:cxn>
                <a:cxn ang="0">
                  <a:pos x="216" y="246"/>
                </a:cxn>
                <a:cxn ang="0">
                  <a:pos x="248" y="274"/>
                </a:cxn>
                <a:cxn ang="0">
                  <a:pos x="276" y="314"/>
                </a:cxn>
                <a:cxn ang="0">
                  <a:pos x="284" y="326"/>
                </a:cxn>
                <a:cxn ang="0">
                  <a:pos x="314" y="356"/>
                </a:cxn>
                <a:cxn ang="0">
                  <a:pos x="338" y="374"/>
                </a:cxn>
                <a:cxn ang="0">
                  <a:pos x="352" y="374"/>
                </a:cxn>
                <a:cxn ang="0">
                  <a:pos x="374" y="340"/>
                </a:cxn>
                <a:cxn ang="0">
                  <a:pos x="370" y="332"/>
                </a:cxn>
                <a:cxn ang="0">
                  <a:pos x="338" y="294"/>
                </a:cxn>
                <a:cxn ang="0">
                  <a:pos x="314" y="276"/>
                </a:cxn>
                <a:cxn ang="0">
                  <a:pos x="292" y="262"/>
                </a:cxn>
                <a:cxn ang="0">
                  <a:pos x="260" y="234"/>
                </a:cxn>
                <a:cxn ang="0">
                  <a:pos x="234" y="196"/>
                </a:cxn>
                <a:cxn ang="0">
                  <a:pos x="222" y="176"/>
                </a:cxn>
                <a:cxn ang="0">
                  <a:pos x="190" y="136"/>
                </a:cxn>
                <a:cxn ang="0">
                  <a:pos x="168" y="120"/>
                </a:cxn>
                <a:cxn ang="0">
                  <a:pos x="140" y="104"/>
                </a:cxn>
                <a:cxn ang="0">
                  <a:pos x="98" y="74"/>
                </a:cxn>
                <a:cxn ang="0">
                  <a:pos x="84" y="60"/>
                </a:cxn>
                <a:cxn ang="0">
                  <a:pos x="46" y="24"/>
                </a:cxn>
                <a:cxn ang="0">
                  <a:pos x="26" y="12"/>
                </a:cxn>
                <a:cxn ang="0">
                  <a:pos x="12" y="26"/>
                </a:cxn>
              </a:cxnLst>
              <a:rect l="0" t="0" r="r" b="b"/>
              <a:pathLst>
                <a:path w="380" h="380">
                  <a:moveTo>
                    <a:pt x="12" y="26"/>
                  </a:moveTo>
                  <a:lnTo>
                    <a:pt x="12" y="26"/>
                  </a:lnTo>
                  <a:lnTo>
                    <a:pt x="16" y="32"/>
                  </a:lnTo>
                  <a:lnTo>
                    <a:pt x="24" y="46"/>
                  </a:lnTo>
                  <a:lnTo>
                    <a:pt x="38" y="64"/>
                  </a:lnTo>
                  <a:lnTo>
                    <a:pt x="60" y="84"/>
                  </a:lnTo>
                  <a:lnTo>
                    <a:pt x="60" y="84"/>
                  </a:lnTo>
                  <a:lnTo>
                    <a:pt x="60" y="84"/>
                  </a:lnTo>
                  <a:lnTo>
                    <a:pt x="74" y="98"/>
                  </a:lnTo>
                  <a:lnTo>
                    <a:pt x="84" y="110"/>
                  </a:lnTo>
                  <a:lnTo>
                    <a:pt x="104" y="140"/>
                  </a:lnTo>
                  <a:lnTo>
                    <a:pt x="120" y="168"/>
                  </a:lnTo>
                  <a:lnTo>
                    <a:pt x="120" y="168"/>
                  </a:lnTo>
                  <a:lnTo>
                    <a:pt x="128" y="180"/>
                  </a:lnTo>
                  <a:lnTo>
                    <a:pt x="138" y="190"/>
                  </a:lnTo>
                  <a:lnTo>
                    <a:pt x="156" y="208"/>
                  </a:lnTo>
                  <a:lnTo>
                    <a:pt x="176" y="222"/>
                  </a:lnTo>
                  <a:lnTo>
                    <a:pt x="196" y="234"/>
                  </a:lnTo>
                  <a:lnTo>
                    <a:pt x="216" y="246"/>
                  </a:lnTo>
                  <a:lnTo>
                    <a:pt x="216" y="246"/>
                  </a:lnTo>
                  <a:lnTo>
                    <a:pt x="234" y="260"/>
                  </a:lnTo>
                  <a:lnTo>
                    <a:pt x="248" y="274"/>
                  </a:lnTo>
                  <a:lnTo>
                    <a:pt x="262" y="292"/>
                  </a:lnTo>
                  <a:lnTo>
                    <a:pt x="276" y="314"/>
                  </a:lnTo>
                  <a:lnTo>
                    <a:pt x="276" y="314"/>
                  </a:lnTo>
                  <a:lnTo>
                    <a:pt x="284" y="326"/>
                  </a:lnTo>
                  <a:lnTo>
                    <a:pt x="294" y="336"/>
                  </a:lnTo>
                  <a:lnTo>
                    <a:pt x="314" y="356"/>
                  </a:lnTo>
                  <a:lnTo>
                    <a:pt x="330" y="368"/>
                  </a:lnTo>
                  <a:lnTo>
                    <a:pt x="338" y="374"/>
                  </a:lnTo>
                  <a:lnTo>
                    <a:pt x="346" y="380"/>
                  </a:lnTo>
                  <a:lnTo>
                    <a:pt x="352" y="374"/>
                  </a:lnTo>
                  <a:lnTo>
                    <a:pt x="380" y="346"/>
                  </a:lnTo>
                  <a:lnTo>
                    <a:pt x="374" y="340"/>
                  </a:lnTo>
                  <a:lnTo>
                    <a:pt x="374" y="340"/>
                  </a:lnTo>
                  <a:lnTo>
                    <a:pt x="370" y="332"/>
                  </a:lnTo>
                  <a:lnTo>
                    <a:pt x="356" y="314"/>
                  </a:lnTo>
                  <a:lnTo>
                    <a:pt x="338" y="294"/>
                  </a:lnTo>
                  <a:lnTo>
                    <a:pt x="326" y="284"/>
                  </a:lnTo>
                  <a:lnTo>
                    <a:pt x="314" y="276"/>
                  </a:lnTo>
                  <a:lnTo>
                    <a:pt x="314" y="276"/>
                  </a:lnTo>
                  <a:lnTo>
                    <a:pt x="292" y="262"/>
                  </a:lnTo>
                  <a:lnTo>
                    <a:pt x="274" y="248"/>
                  </a:lnTo>
                  <a:lnTo>
                    <a:pt x="260" y="234"/>
                  </a:lnTo>
                  <a:lnTo>
                    <a:pt x="246" y="216"/>
                  </a:lnTo>
                  <a:lnTo>
                    <a:pt x="234" y="196"/>
                  </a:lnTo>
                  <a:lnTo>
                    <a:pt x="234" y="196"/>
                  </a:lnTo>
                  <a:lnTo>
                    <a:pt x="222" y="176"/>
                  </a:lnTo>
                  <a:lnTo>
                    <a:pt x="208" y="156"/>
                  </a:lnTo>
                  <a:lnTo>
                    <a:pt x="190" y="136"/>
                  </a:lnTo>
                  <a:lnTo>
                    <a:pt x="180" y="128"/>
                  </a:lnTo>
                  <a:lnTo>
                    <a:pt x="168" y="120"/>
                  </a:lnTo>
                  <a:lnTo>
                    <a:pt x="140" y="104"/>
                  </a:lnTo>
                  <a:lnTo>
                    <a:pt x="140" y="104"/>
                  </a:lnTo>
                  <a:lnTo>
                    <a:pt x="110" y="84"/>
                  </a:lnTo>
                  <a:lnTo>
                    <a:pt x="98" y="74"/>
                  </a:lnTo>
                  <a:lnTo>
                    <a:pt x="84" y="60"/>
                  </a:lnTo>
                  <a:lnTo>
                    <a:pt x="84" y="60"/>
                  </a:lnTo>
                  <a:lnTo>
                    <a:pt x="64" y="38"/>
                  </a:lnTo>
                  <a:lnTo>
                    <a:pt x="46" y="24"/>
                  </a:lnTo>
                  <a:lnTo>
                    <a:pt x="32" y="16"/>
                  </a:lnTo>
                  <a:lnTo>
                    <a:pt x="26" y="12"/>
                  </a:lnTo>
                  <a:lnTo>
                    <a:pt x="0" y="0"/>
                  </a:lnTo>
                  <a:lnTo>
                    <a:pt x="12"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8" name="Freeform 145"/>
            <p:cNvSpPr/>
            <p:nvPr/>
          </p:nvSpPr>
          <p:spPr bwMode="auto">
            <a:xfrm>
              <a:off x="3984625" y="2841625"/>
              <a:ext cx="546100" cy="546100"/>
            </a:xfrm>
            <a:custGeom>
              <a:avLst/>
              <a:gdLst/>
              <a:ahLst/>
              <a:cxnLst>
                <a:cxn ang="0">
                  <a:pos x="344" y="322"/>
                </a:cxn>
                <a:cxn ang="0">
                  <a:pos x="344" y="322"/>
                </a:cxn>
                <a:cxn ang="0">
                  <a:pos x="340" y="316"/>
                </a:cxn>
                <a:cxn ang="0">
                  <a:pos x="328" y="300"/>
                </a:cxn>
                <a:cxn ang="0">
                  <a:pos x="310" y="280"/>
                </a:cxn>
                <a:cxn ang="0">
                  <a:pos x="298" y="272"/>
                </a:cxn>
                <a:cxn ang="0">
                  <a:pos x="288" y="262"/>
                </a:cxn>
                <a:cxn ang="0">
                  <a:pos x="288" y="262"/>
                </a:cxn>
                <a:cxn ang="0">
                  <a:pos x="266" y="248"/>
                </a:cxn>
                <a:cxn ang="0">
                  <a:pos x="246" y="234"/>
                </a:cxn>
                <a:cxn ang="0">
                  <a:pos x="230" y="218"/>
                </a:cxn>
                <a:cxn ang="0">
                  <a:pos x="216" y="200"/>
                </a:cxn>
                <a:cxn ang="0">
                  <a:pos x="216" y="200"/>
                </a:cxn>
                <a:cxn ang="0">
                  <a:pos x="202" y="178"/>
                </a:cxn>
                <a:cxn ang="0">
                  <a:pos x="186" y="152"/>
                </a:cxn>
                <a:cxn ang="0">
                  <a:pos x="178" y="140"/>
                </a:cxn>
                <a:cxn ang="0">
                  <a:pos x="168" y="128"/>
                </a:cxn>
                <a:cxn ang="0">
                  <a:pos x="156" y="116"/>
                </a:cxn>
                <a:cxn ang="0">
                  <a:pos x="142" y="108"/>
                </a:cxn>
                <a:cxn ang="0">
                  <a:pos x="142" y="108"/>
                </a:cxn>
                <a:cxn ang="0">
                  <a:pos x="94" y="78"/>
                </a:cxn>
                <a:cxn ang="0">
                  <a:pos x="74" y="64"/>
                </a:cxn>
                <a:cxn ang="0">
                  <a:pos x="54" y="44"/>
                </a:cxn>
                <a:cxn ang="0">
                  <a:pos x="54" y="44"/>
                </a:cxn>
                <a:cxn ang="0">
                  <a:pos x="34" y="24"/>
                </a:cxn>
                <a:cxn ang="0">
                  <a:pos x="18" y="10"/>
                </a:cxn>
                <a:cxn ang="0">
                  <a:pos x="0" y="0"/>
                </a:cxn>
                <a:cxn ang="0">
                  <a:pos x="0" y="0"/>
                </a:cxn>
                <a:cxn ang="0">
                  <a:pos x="0" y="0"/>
                </a:cxn>
                <a:cxn ang="0">
                  <a:pos x="10" y="18"/>
                </a:cxn>
                <a:cxn ang="0">
                  <a:pos x="24" y="34"/>
                </a:cxn>
                <a:cxn ang="0">
                  <a:pos x="44" y="54"/>
                </a:cxn>
                <a:cxn ang="0">
                  <a:pos x="44" y="54"/>
                </a:cxn>
                <a:cxn ang="0">
                  <a:pos x="64" y="74"/>
                </a:cxn>
                <a:cxn ang="0">
                  <a:pos x="78" y="94"/>
                </a:cxn>
                <a:cxn ang="0">
                  <a:pos x="108" y="142"/>
                </a:cxn>
                <a:cxn ang="0">
                  <a:pos x="108" y="142"/>
                </a:cxn>
                <a:cxn ang="0">
                  <a:pos x="116" y="156"/>
                </a:cxn>
                <a:cxn ang="0">
                  <a:pos x="128" y="168"/>
                </a:cxn>
                <a:cxn ang="0">
                  <a:pos x="140" y="178"/>
                </a:cxn>
                <a:cxn ang="0">
                  <a:pos x="152" y="186"/>
                </a:cxn>
                <a:cxn ang="0">
                  <a:pos x="178" y="202"/>
                </a:cxn>
                <a:cxn ang="0">
                  <a:pos x="200" y="216"/>
                </a:cxn>
                <a:cxn ang="0">
                  <a:pos x="200" y="216"/>
                </a:cxn>
                <a:cxn ang="0">
                  <a:pos x="218" y="230"/>
                </a:cxn>
                <a:cxn ang="0">
                  <a:pos x="234" y="246"/>
                </a:cxn>
                <a:cxn ang="0">
                  <a:pos x="248" y="266"/>
                </a:cxn>
                <a:cxn ang="0">
                  <a:pos x="262" y="288"/>
                </a:cxn>
                <a:cxn ang="0">
                  <a:pos x="262" y="288"/>
                </a:cxn>
                <a:cxn ang="0">
                  <a:pos x="272" y="298"/>
                </a:cxn>
                <a:cxn ang="0">
                  <a:pos x="280" y="310"/>
                </a:cxn>
                <a:cxn ang="0">
                  <a:pos x="300" y="328"/>
                </a:cxn>
                <a:cxn ang="0">
                  <a:pos x="316" y="340"/>
                </a:cxn>
                <a:cxn ang="0">
                  <a:pos x="322" y="344"/>
                </a:cxn>
                <a:cxn ang="0">
                  <a:pos x="344" y="322"/>
                </a:cxn>
              </a:cxnLst>
              <a:rect l="0" t="0" r="r" b="b"/>
              <a:pathLst>
                <a:path w="344" h="344">
                  <a:moveTo>
                    <a:pt x="344" y="322"/>
                  </a:moveTo>
                  <a:lnTo>
                    <a:pt x="344" y="322"/>
                  </a:lnTo>
                  <a:lnTo>
                    <a:pt x="340" y="316"/>
                  </a:lnTo>
                  <a:lnTo>
                    <a:pt x="328" y="300"/>
                  </a:lnTo>
                  <a:lnTo>
                    <a:pt x="310" y="280"/>
                  </a:lnTo>
                  <a:lnTo>
                    <a:pt x="298" y="272"/>
                  </a:lnTo>
                  <a:lnTo>
                    <a:pt x="288" y="262"/>
                  </a:lnTo>
                  <a:lnTo>
                    <a:pt x="288" y="262"/>
                  </a:lnTo>
                  <a:lnTo>
                    <a:pt x="266" y="248"/>
                  </a:lnTo>
                  <a:lnTo>
                    <a:pt x="246" y="234"/>
                  </a:lnTo>
                  <a:lnTo>
                    <a:pt x="230" y="218"/>
                  </a:lnTo>
                  <a:lnTo>
                    <a:pt x="216" y="200"/>
                  </a:lnTo>
                  <a:lnTo>
                    <a:pt x="216" y="200"/>
                  </a:lnTo>
                  <a:lnTo>
                    <a:pt x="202" y="178"/>
                  </a:lnTo>
                  <a:lnTo>
                    <a:pt x="186" y="152"/>
                  </a:lnTo>
                  <a:lnTo>
                    <a:pt x="178" y="140"/>
                  </a:lnTo>
                  <a:lnTo>
                    <a:pt x="168" y="128"/>
                  </a:lnTo>
                  <a:lnTo>
                    <a:pt x="156" y="116"/>
                  </a:lnTo>
                  <a:lnTo>
                    <a:pt x="142" y="108"/>
                  </a:lnTo>
                  <a:lnTo>
                    <a:pt x="142" y="108"/>
                  </a:lnTo>
                  <a:lnTo>
                    <a:pt x="94" y="78"/>
                  </a:lnTo>
                  <a:lnTo>
                    <a:pt x="74" y="64"/>
                  </a:lnTo>
                  <a:lnTo>
                    <a:pt x="54" y="44"/>
                  </a:lnTo>
                  <a:lnTo>
                    <a:pt x="54" y="44"/>
                  </a:lnTo>
                  <a:lnTo>
                    <a:pt x="34" y="24"/>
                  </a:lnTo>
                  <a:lnTo>
                    <a:pt x="18" y="10"/>
                  </a:lnTo>
                  <a:lnTo>
                    <a:pt x="0" y="0"/>
                  </a:lnTo>
                  <a:lnTo>
                    <a:pt x="0" y="0"/>
                  </a:lnTo>
                  <a:lnTo>
                    <a:pt x="0" y="0"/>
                  </a:lnTo>
                  <a:lnTo>
                    <a:pt x="10" y="18"/>
                  </a:lnTo>
                  <a:lnTo>
                    <a:pt x="24" y="34"/>
                  </a:lnTo>
                  <a:lnTo>
                    <a:pt x="44" y="54"/>
                  </a:lnTo>
                  <a:lnTo>
                    <a:pt x="44" y="54"/>
                  </a:lnTo>
                  <a:lnTo>
                    <a:pt x="64" y="74"/>
                  </a:lnTo>
                  <a:lnTo>
                    <a:pt x="78" y="94"/>
                  </a:lnTo>
                  <a:lnTo>
                    <a:pt x="108" y="142"/>
                  </a:lnTo>
                  <a:lnTo>
                    <a:pt x="108" y="142"/>
                  </a:lnTo>
                  <a:lnTo>
                    <a:pt x="116" y="156"/>
                  </a:lnTo>
                  <a:lnTo>
                    <a:pt x="128" y="168"/>
                  </a:lnTo>
                  <a:lnTo>
                    <a:pt x="140" y="178"/>
                  </a:lnTo>
                  <a:lnTo>
                    <a:pt x="152" y="186"/>
                  </a:lnTo>
                  <a:lnTo>
                    <a:pt x="178" y="202"/>
                  </a:lnTo>
                  <a:lnTo>
                    <a:pt x="200" y="216"/>
                  </a:lnTo>
                  <a:lnTo>
                    <a:pt x="200" y="216"/>
                  </a:lnTo>
                  <a:lnTo>
                    <a:pt x="218" y="230"/>
                  </a:lnTo>
                  <a:lnTo>
                    <a:pt x="234" y="246"/>
                  </a:lnTo>
                  <a:lnTo>
                    <a:pt x="248" y="266"/>
                  </a:lnTo>
                  <a:lnTo>
                    <a:pt x="262" y="288"/>
                  </a:lnTo>
                  <a:lnTo>
                    <a:pt x="262" y="288"/>
                  </a:lnTo>
                  <a:lnTo>
                    <a:pt x="272" y="298"/>
                  </a:lnTo>
                  <a:lnTo>
                    <a:pt x="280" y="310"/>
                  </a:lnTo>
                  <a:lnTo>
                    <a:pt x="300" y="328"/>
                  </a:lnTo>
                  <a:lnTo>
                    <a:pt x="316" y="340"/>
                  </a:lnTo>
                  <a:lnTo>
                    <a:pt x="322" y="344"/>
                  </a:lnTo>
                  <a:lnTo>
                    <a:pt x="344" y="3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9" name="Freeform 146"/>
            <p:cNvSpPr/>
            <p:nvPr/>
          </p:nvSpPr>
          <p:spPr bwMode="auto">
            <a:xfrm>
              <a:off x="4156075" y="3013075"/>
              <a:ext cx="120650" cy="120650"/>
            </a:xfrm>
            <a:custGeom>
              <a:avLst/>
              <a:gdLst/>
              <a:ahLst/>
              <a:cxnLst>
                <a:cxn ang="0">
                  <a:pos x="30" y="46"/>
                </a:cxn>
                <a:cxn ang="0">
                  <a:pos x="30" y="46"/>
                </a:cxn>
                <a:cxn ang="0">
                  <a:pos x="42" y="56"/>
                </a:cxn>
                <a:cxn ang="0">
                  <a:pos x="54" y="66"/>
                </a:cxn>
                <a:cxn ang="0">
                  <a:pos x="66" y="72"/>
                </a:cxn>
                <a:cxn ang="0">
                  <a:pos x="76" y="76"/>
                </a:cxn>
                <a:cxn ang="0">
                  <a:pos x="76" y="76"/>
                </a:cxn>
                <a:cxn ang="0">
                  <a:pos x="72" y="66"/>
                </a:cxn>
                <a:cxn ang="0">
                  <a:pos x="66" y="54"/>
                </a:cxn>
                <a:cxn ang="0">
                  <a:pos x="56" y="42"/>
                </a:cxn>
                <a:cxn ang="0">
                  <a:pos x="46" y="30"/>
                </a:cxn>
                <a:cxn ang="0">
                  <a:pos x="46" y="30"/>
                </a:cxn>
                <a:cxn ang="0">
                  <a:pos x="34" y="18"/>
                </a:cxn>
                <a:cxn ang="0">
                  <a:pos x="22" y="10"/>
                </a:cxn>
                <a:cxn ang="0">
                  <a:pos x="10" y="4"/>
                </a:cxn>
                <a:cxn ang="0">
                  <a:pos x="0" y="0"/>
                </a:cxn>
                <a:cxn ang="0">
                  <a:pos x="0" y="0"/>
                </a:cxn>
                <a:cxn ang="0">
                  <a:pos x="4" y="10"/>
                </a:cxn>
                <a:cxn ang="0">
                  <a:pos x="10" y="22"/>
                </a:cxn>
                <a:cxn ang="0">
                  <a:pos x="18" y="34"/>
                </a:cxn>
                <a:cxn ang="0">
                  <a:pos x="30" y="46"/>
                </a:cxn>
                <a:cxn ang="0">
                  <a:pos x="30" y="46"/>
                </a:cxn>
              </a:cxnLst>
              <a:rect l="0" t="0" r="r" b="b"/>
              <a:pathLst>
                <a:path w="76" h="76">
                  <a:moveTo>
                    <a:pt x="30" y="46"/>
                  </a:moveTo>
                  <a:lnTo>
                    <a:pt x="30" y="46"/>
                  </a:lnTo>
                  <a:lnTo>
                    <a:pt x="42" y="56"/>
                  </a:lnTo>
                  <a:lnTo>
                    <a:pt x="54" y="66"/>
                  </a:lnTo>
                  <a:lnTo>
                    <a:pt x="66" y="72"/>
                  </a:lnTo>
                  <a:lnTo>
                    <a:pt x="76" y="76"/>
                  </a:lnTo>
                  <a:lnTo>
                    <a:pt x="76" y="76"/>
                  </a:lnTo>
                  <a:lnTo>
                    <a:pt x="72" y="66"/>
                  </a:lnTo>
                  <a:lnTo>
                    <a:pt x="66" y="54"/>
                  </a:lnTo>
                  <a:lnTo>
                    <a:pt x="56" y="42"/>
                  </a:lnTo>
                  <a:lnTo>
                    <a:pt x="46" y="30"/>
                  </a:lnTo>
                  <a:lnTo>
                    <a:pt x="46" y="30"/>
                  </a:lnTo>
                  <a:lnTo>
                    <a:pt x="34" y="18"/>
                  </a:lnTo>
                  <a:lnTo>
                    <a:pt x="22" y="10"/>
                  </a:lnTo>
                  <a:lnTo>
                    <a:pt x="10" y="4"/>
                  </a:lnTo>
                  <a:lnTo>
                    <a:pt x="0" y="0"/>
                  </a:lnTo>
                  <a:lnTo>
                    <a:pt x="0" y="0"/>
                  </a:lnTo>
                  <a:lnTo>
                    <a:pt x="4" y="10"/>
                  </a:lnTo>
                  <a:lnTo>
                    <a:pt x="10" y="22"/>
                  </a:lnTo>
                  <a:lnTo>
                    <a:pt x="18" y="34"/>
                  </a:lnTo>
                  <a:lnTo>
                    <a:pt x="30" y="46"/>
                  </a:lnTo>
                  <a:lnTo>
                    <a:pt x="30"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0" name="Freeform 147"/>
            <p:cNvSpPr/>
            <p:nvPr/>
          </p:nvSpPr>
          <p:spPr bwMode="auto">
            <a:xfrm>
              <a:off x="4235450" y="2616200"/>
              <a:ext cx="346075" cy="768350"/>
            </a:xfrm>
            <a:custGeom>
              <a:avLst/>
              <a:gdLst/>
              <a:ahLst/>
              <a:cxnLst>
                <a:cxn ang="0">
                  <a:pos x="2" y="28"/>
                </a:cxn>
                <a:cxn ang="0">
                  <a:pos x="4" y="50"/>
                </a:cxn>
                <a:cxn ang="0">
                  <a:pos x="22" y="100"/>
                </a:cxn>
                <a:cxn ang="0">
                  <a:pos x="22" y="100"/>
                </a:cxn>
                <a:cxn ang="0">
                  <a:pos x="36" y="134"/>
                </a:cxn>
                <a:cxn ang="0">
                  <a:pos x="46" y="202"/>
                </a:cxn>
                <a:cxn ang="0">
                  <a:pos x="50" y="216"/>
                </a:cxn>
                <a:cxn ang="0">
                  <a:pos x="64" y="252"/>
                </a:cxn>
                <a:cxn ang="0">
                  <a:pos x="92" y="292"/>
                </a:cxn>
                <a:cxn ang="0">
                  <a:pos x="106" y="310"/>
                </a:cxn>
                <a:cxn ang="0">
                  <a:pos x="124" y="348"/>
                </a:cxn>
                <a:cxn ang="0">
                  <a:pos x="134" y="396"/>
                </a:cxn>
                <a:cxn ang="0">
                  <a:pos x="138" y="410"/>
                </a:cxn>
                <a:cxn ang="0">
                  <a:pos x="154" y="448"/>
                </a:cxn>
                <a:cxn ang="0">
                  <a:pos x="170" y="476"/>
                </a:cxn>
                <a:cxn ang="0">
                  <a:pos x="182" y="480"/>
                </a:cxn>
                <a:cxn ang="0">
                  <a:pos x="216" y="456"/>
                </a:cxn>
                <a:cxn ang="0">
                  <a:pos x="214" y="448"/>
                </a:cxn>
                <a:cxn ang="0">
                  <a:pos x="200" y="400"/>
                </a:cxn>
                <a:cxn ang="0">
                  <a:pos x="184" y="374"/>
                </a:cxn>
                <a:cxn ang="0">
                  <a:pos x="170" y="354"/>
                </a:cxn>
                <a:cxn ang="0">
                  <a:pos x="150" y="314"/>
                </a:cxn>
                <a:cxn ang="0">
                  <a:pos x="140" y="272"/>
                </a:cxn>
                <a:cxn ang="0">
                  <a:pos x="138" y="248"/>
                </a:cxn>
                <a:cxn ang="0">
                  <a:pos x="124" y="200"/>
                </a:cxn>
                <a:cxn ang="0">
                  <a:pos x="110" y="176"/>
                </a:cxn>
                <a:cxn ang="0">
                  <a:pos x="90" y="148"/>
                </a:cxn>
                <a:cxn ang="0">
                  <a:pos x="62" y="104"/>
                </a:cxn>
                <a:cxn ang="0">
                  <a:pos x="54" y="86"/>
                </a:cxn>
                <a:cxn ang="0">
                  <a:pos x="32" y="40"/>
                </a:cxn>
                <a:cxn ang="0">
                  <a:pos x="20" y="22"/>
                </a:cxn>
                <a:cxn ang="0">
                  <a:pos x="2" y="28"/>
                </a:cxn>
              </a:cxnLst>
              <a:rect l="0" t="0" r="r" b="b"/>
              <a:pathLst>
                <a:path w="218" h="484">
                  <a:moveTo>
                    <a:pt x="2" y="28"/>
                  </a:moveTo>
                  <a:lnTo>
                    <a:pt x="2" y="28"/>
                  </a:lnTo>
                  <a:lnTo>
                    <a:pt x="2" y="36"/>
                  </a:lnTo>
                  <a:lnTo>
                    <a:pt x="4" y="50"/>
                  </a:lnTo>
                  <a:lnTo>
                    <a:pt x="12" y="74"/>
                  </a:lnTo>
                  <a:lnTo>
                    <a:pt x="22" y="100"/>
                  </a:lnTo>
                  <a:lnTo>
                    <a:pt x="22" y="100"/>
                  </a:lnTo>
                  <a:lnTo>
                    <a:pt x="22" y="100"/>
                  </a:lnTo>
                  <a:lnTo>
                    <a:pt x="30" y="118"/>
                  </a:lnTo>
                  <a:lnTo>
                    <a:pt x="36" y="134"/>
                  </a:lnTo>
                  <a:lnTo>
                    <a:pt x="42" y="170"/>
                  </a:lnTo>
                  <a:lnTo>
                    <a:pt x="46" y="202"/>
                  </a:lnTo>
                  <a:lnTo>
                    <a:pt x="46" y="202"/>
                  </a:lnTo>
                  <a:lnTo>
                    <a:pt x="50" y="216"/>
                  </a:lnTo>
                  <a:lnTo>
                    <a:pt x="54" y="228"/>
                  </a:lnTo>
                  <a:lnTo>
                    <a:pt x="64" y="252"/>
                  </a:lnTo>
                  <a:lnTo>
                    <a:pt x="78" y="272"/>
                  </a:lnTo>
                  <a:lnTo>
                    <a:pt x="92" y="292"/>
                  </a:lnTo>
                  <a:lnTo>
                    <a:pt x="106" y="310"/>
                  </a:lnTo>
                  <a:lnTo>
                    <a:pt x="106" y="310"/>
                  </a:lnTo>
                  <a:lnTo>
                    <a:pt x="116" y="328"/>
                  </a:lnTo>
                  <a:lnTo>
                    <a:pt x="124" y="348"/>
                  </a:lnTo>
                  <a:lnTo>
                    <a:pt x="130" y="370"/>
                  </a:lnTo>
                  <a:lnTo>
                    <a:pt x="134" y="396"/>
                  </a:lnTo>
                  <a:lnTo>
                    <a:pt x="134" y="396"/>
                  </a:lnTo>
                  <a:lnTo>
                    <a:pt x="138" y="410"/>
                  </a:lnTo>
                  <a:lnTo>
                    <a:pt x="142" y="424"/>
                  </a:lnTo>
                  <a:lnTo>
                    <a:pt x="154" y="448"/>
                  </a:lnTo>
                  <a:lnTo>
                    <a:pt x="164" y="466"/>
                  </a:lnTo>
                  <a:lnTo>
                    <a:pt x="170" y="476"/>
                  </a:lnTo>
                  <a:lnTo>
                    <a:pt x="174" y="484"/>
                  </a:lnTo>
                  <a:lnTo>
                    <a:pt x="182" y="480"/>
                  </a:lnTo>
                  <a:lnTo>
                    <a:pt x="218" y="466"/>
                  </a:lnTo>
                  <a:lnTo>
                    <a:pt x="216" y="456"/>
                  </a:lnTo>
                  <a:lnTo>
                    <a:pt x="216" y="456"/>
                  </a:lnTo>
                  <a:lnTo>
                    <a:pt x="214" y="448"/>
                  </a:lnTo>
                  <a:lnTo>
                    <a:pt x="208" y="426"/>
                  </a:lnTo>
                  <a:lnTo>
                    <a:pt x="200" y="400"/>
                  </a:lnTo>
                  <a:lnTo>
                    <a:pt x="192" y="388"/>
                  </a:lnTo>
                  <a:lnTo>
                    <a:pt x="184" y="374"/>
                  </a:lnTo>
                  <a:lnTo>
                    <a:pt x="184" y="374"/>
                  </a:lnTo>
                  <a:lnTo>
                    <a:pt x="170" y="354"/>
                  </a:lnTo>
                  <a:lnTo>
                    <a:pt x="158" y="334"/>
                  </a:lnTo>
                  <a:lnTo>
                    <a:pt x="150" y="314"/>
                  </a:lnTo>
                  <a:lnTo>
                    <a:pt x="144" y="294"/>
                  </a:lnTo>
                  <a:lnTo>
                    <a:pt x="140" y="272"/>
                  </a:lnTo>
                  <a:lnTo>
                    <a:pt x="140" y="272"/>
                  </a:lnTo>
                  <a:lnTo>
                    <a:pt x="138" y="248"/>
                  </a:lnTo>
                  <a:lnTo>
                    <a:pt x="132" y="224"/>
                  </a:lnTo>
                  <a:lnTo>
                    <a:pt x="124" y="200"/>
                  </a:lnTo>
                  <a:lnTo>
                    <a:pt x="118" y="188"/>
                  </a:lnTo>
                  <a:lnTo>
                    <a:pt x="110" y="176"/>
                  </a:lnTo>
                  <a:lnTo>
                    <a:pt x="90" y="148"/>
                  </a:lnTo>
                  <a:lnTo>
                    <a:pt x="90" y="148"/>
                  </a:lnTo>
                  <a:lnTo>
                    <a:pt x="70" y="120"/>
                  </a:lnTo>
                  <a:lnTo>
                    <a:pt x="62" y="104"/>
                  </a:lnTo>
                  <a:lnTo>
                    <a:pt x="54" y="86"/>
                  </a:lnTo>
                  <a:lnTo>
                    <a:pt x="54" y="86"/>
                  </a:lnTo>
                  <a:lnTo>
                    <a:pt x="44" y="60"/>
                  </a:lnTo>
                  <a:lnTo>
                    <a:pt x="32" y="40"/>
                  </a:lnTo>
                  <a:lnTo>
                    <a:pt x="24" y="26"/>
                  </a:lnTo>
                  <a:lnTo>
                    <a:pt x="20" y="22"/>
                  </a:lnTo>
                  <a:lnTo>
                    <a:pt x="0" y="0"/>
                  </a:lnTo>
                  <a:lnTo>
                    <a:pt x="2"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1" name="Freeform 148"/>
            <p:cNvSpPr/>
            <p:nvPr/>
          </p:nvSpPr>
          <p:spPr bwMode="auto">
            <a:xfrm>
              <a:off x="4254500" y="2660650"/>
              <a:ext cx="307975" cy="701675"/>
            </a:xfrm>
            <a:custGeom>
              <a:avLst/>
              <a:gdLst/>
              <a:ahLst/>
              <a:cxnLst>
                <a:cxn ang="0">
                  <a:pos x="194" y="430"/>
                </a:cxn>
                <a:cxn ang="0">
                  <a:pos x="194" y="430"/>
                </a:cxn>
                <a:cxn ang="0">
                  <a:pos x="192" y="422"/>
                </a:cxn>
                <a:cxn ang="0">
                  <a:pos x="188" y="402"/>
                </a:cxn>
                <a:cxn ang="0">
                  <a:pos x="178" y="378"/>
                </a:cxn>
                <a:cxn ang="0">
                  <a:pos x="172" y="366"/>
                </a:cxn>
                <a:cxn ang="0">
                  <a:pos x="164" y="354"/>
                </a:cxn>
                <a:cxn ang="0">
                  <a:pos x="164" y="354"/>
                </a:cxn>
                <a:cxn ang="0">
                  <a:pos x="150" y="332"/>
                </a:cxn>
                <a:cxn ang="0">
                  <a:pos x="138" y="312"/>
                </a:cxn>
                <a:cxn ang="0">
                  <a:pos x="128" y="290"/>
                </a:cxn>
                <a:cxn ang="0">
                  <a:pos x="122" y="268"/>
                </a:cxn>
                <a:cxn ang="0">
                  <a:pos x="122" y="268"/>
                </a:cxn>
                <a:cxn ang="0">
                  <a:pos x="118" y="242"/>
                </a:cxn>
                <a:cxn ang="0">
                  <a:pos x="114" y="212"/>
                </a:cxn>
                <a:cxn ang="0">
                  <a:pos x="110" y="198"/>
                </a:cxn>
                <a:cxn ang="0">
                  <a:pos x="106" y="182"/>
                </a:cxn>
                <a:cxn ang="0">
                  <a:pos x="98" y="168"/>
                </a:cxn>
                <a:cxn ang="0">
                  <a:pos x="90" y="154"/>
                </a:cxn>
                <a:cxn ang="0">
                  <a:pos x="90" y="154"/>
                </a:cxn>
                <a:cxn ang="0">
                  <a:pos x="56" y="108"/>
                </a:cxn>
                <a:cxn ang="0">
                  <a:pos x="44" y="88"/>
                </a:cxn>
                <a:cxn ang="0">
                  <a:pos x="32" y="62"/>
                </a:cxn>
                <a:cxn ang="0">
                  <a:pos x="32" y="62"/>
                </a:cxn>
                <a:cxn ang="0">
                  <a:pos x="22" y="36"/>
                </a:cxn>
                <a:cxn ang="0">
                  <a:pos x="12" y="18"/>
                </a:cxn>
                <a:cxn ang="0">
                  <a:pos x="0" y="0"/>
                </a:cxn>
                <a:cxn ang="0">
                  <a:pos x="0" y="0"/>
                </a:cxn>
                <a:cxn ang="0">
                  <a:pos x="0" y="0"/>
                </a:cxn>
                <a:cxn ang="0">
                  <a:pos x="2" y="20"/>
                </a:cxn>
                <a:cxn ang="0">
                  <a:pos x="8" y="42"/>
                </a:cxn>
                <a:cxn ang="0">
                  <a:pos x="20" y="68"/>
                </a:cxn>
                <a:cxn ang="0">
                  <a:pos x="20" y="68"/>
                </a:cxn>
                <a:cxn ang="0">
                  <a:pos x="30" y="92"/>
                </a:cxn>
                <a:cxn ang="0">
                  <a:pos x="36" y="116"/>
                </a:cxn>
                <a:cxn ang="0">
                  <a:pos x="44" y="172"/>
                </a:cxn>
                <a:cxn ang="0">
                  <a:pos x="44" y="172"/>
                </a:cxn>
                <a:cxn ang="0">
                  <a:pos x="48" y="188"/>
                </a:cxn>
                <a:cxn ang="0">
                  <a:pos x="54" y="204"/>
                </a:cxn>
                <a:cxn ang="0">
                  <a:pos x="62" y="218"/>
                </a:cxn>
                <a:cxn ang="0">
                  <a:pos x="70" y="232"/>
                </a:cxn>
                <a:cxn ang="0">
                  <a:pos x="86" y="256"/>
                </a:cxn>
                <a:cxn ang="0">
                  <a:pos x="102" y="276"/>
                </a:cxn>
                <a:cxn ang="0">
                  <a:pos x="102" y="276"/>
                </a:cxn>
                <a:cxn ang="0">
                  <a:pos x="114" y="296"/>
                </a:cxn>
                <a:cxn ang="0">
                  <a:pos x="122" y="318"/>
                </a:cxn>
                <a:cxn ang="0">
                  <a:pos x="128" y="340"/>
                </a:cxn>
                <a:cxn ang="0">
                  <a:pos x="132" y="366"/>
                </a:cxn>
                <a:cxn ang="0">
                  <a:pos x="132" y="366"/>
                </a:cxn>
                <a:cxn ang="0">
                  <a:pos x="136" y="380"/>
                </a:cxn>
                <a:cxn ang="0">
                  <a:pos x="140" y="394"/>
                </a:cxn>
                <a:cxn ang="0">
                  <a:pos x="152" y="418"/>
                </a:cxn>
                <a:cxn ang="0">
                  <a:pos x="162" y="434"/>
                </a:cxn>
                <a:cxn ang="0">
                  <a:pos x="166" y="442"/>
                </a:cxn>
                <a:cxn ang="0">
                  <a:pos x="194" y="430"/>
                </a:cxn>
              </a:cxnLst>
              <a:rect l="0" t="0" r="r" b="b"/>
              <a:pathLst>
                <a:path w="194" h="442">
                  <a:moveTo>
                    <a:pt x="194" y="430"/>
                  </a:moveTo>
                  <a:lnTo>
                    <a:pt x="194" y="430"/>
                  </a:lnTo>
                  <a:lnTo>
                    <a:pt x="192" y="422"/>
                  </a:lnTo>
                  <a:lnTo>
                    <a:pt x="188" y="402"/>
                  </a:lnTo>
                  <a:lnTo>
                    <a:pt x="178" y="378"/>
                  </a:lnTo>
                  <a:lnTo>
                    <a:pt x="172" y="366"/>
                  </a:lnTo>
                  <a:lnTo>
                    <a:pt x="164" y="354"/>
                  </a:lnTo>
                  <a:lnTo>
                    <a:pt x="164" y="354"/>
                  </a:lnTo>
                  <a:lnTo>
                    <a:pt x="150" y="332"/>
                  </a:lnTo>
                  <a:lnTo>
                    <a:pt x="138" y="312"/>
                  </a:lnTo>
                  <a:lnTo>
                    <a:pt x="128" y="290"/>
                  </a:lnTo>
                  <a:lnTo>
                    <a:pt x="122" y="268"/>
                  </a:lnTo>
                  <a:lnTo>
                    <a:pt x="122" y="268"/>
                  </a:lnTo>
                  <a:lnTo>
                    <a:pt x="118" y="242"/>
                  </a:lnTo>
                  <a:lnTo>
                    <a:pt x="114" y="212"/>
                  </a:lnTo>
                  <a:lnTo>
                    <a:pt x="110" y="198"/>
                  </a:lnTo>
                  <a:lnTo>
                    <a:pt x="106" y="182"/>
                  </a:lnTo>
                  <a:lnTo>
                    <a:pt x="98" y="168"/>
                  </a:lnTo>
                  <a:lnTo>
                    <a:pt x="90" y="154"/>
                  </a:lnTo>
                  <a:lnTo>
                    <a:pt x="90" y="154"/>
                  </a:lnTo>
                  <a:lnTo>
                    <a:pt x="56" y="108"/>
                  </a:lnTo>
                  <a:lnTo>
                    <a:pt x="44" y="88"/>
                  </a:lnTo>
                  <a:lnTo>
                    <a:pt x="32" y="62"/>
                  </a:lnTo>
                  <a:lnTo>
                    <a:pt x="32" y="62"/>
                  </a:lnTo>
                  <a:lnTo>
                    <a:pt x="22" y="36"/>
                  </a:lnTo>
                  <a:lnTo>
                    <a:pt x="12" y="18"/>
                  </a:lnTo>
                  <a:lnTo>
                    <a:pt x="0" y="0"/>
                  </a:lnTo>
                  <a:lnTo>
                    <a:pt x="0" y="0"/>
                  </a:lnTo>
                  <a:lnTo>
                    <a:pt x="0" y="0"/>
                  </a:lnTo>
                  <a:lnTo>
                    <a:pt x="2" y="20"/>
                  </a:lnTo>
                  <a:lnTo>
                    <a:pt x="8" y="42"/>
                  </a:lnTo>
                  <a:lnTo>
                    <a:pt x="20" y="68"/>
                  </a:lnTo>
                  <a:lnTo>
                    <a:pt x="20" y="68"/>
                  </a:lnTo>
                  <a:lnTo>
                    <a:pt x="30" y="92"/>
                  </a:lnTo>
                  <a:lnTo>
                    <a:pt x="36" y="116"/>
                  </a:lnTo>
                  <a:lnTo>
                    <a:pt x="44" y="172"/>
                  </a:lnTo>
                  <a:lnTo>
                    <a:pt x="44" y="172"/>
                  </a:lnTo>
                  <a:lnTo>
                    <a:pt x="48" y="188"/>
                  </a:lnTo>
                  <a:lnTo>
                    <a:pt x="54" y="204"/>
                  </a:lnTo>
                  <a:lnTo>
                    <a:pt x="62" y="218"/>
                  </a:lnTo>
                  <a:lnTo>
                    <a:pt x="70" y="232"/>
                  </a:lnTo>
                  <a:lnTo>
                    <a:pt x="86" y="256"/>
                  </a:lnTo>
                  <a:lnTo>
                    <a:pt x="102" y="276"/>
                  </a:lnTo>
                  <a:lnTo>
                    <a:pt x="102" y="276"/>
                  </a:lnTo>
                  <a:lnTo>
                    <a:pt x="114" y="296"/>
                  </a:lnTo>
                  <a:lnTo>
                    <a:pt x="122" y="318"/>
                  </a:lnTo>
                  <a:lnTo>
                    <a:pt x="128" y="340"/>
                  </a:lnTo>
                  <a:lnTo>
                    <a:pt x="132" y="366"/>
                  </a:lnTo>
                  <a:lnTo>
                    <a:pt x="132" y="366"/>
                  </a:lnTo>
                  <a:lnTo>
                    <a:pt x="136" y="380"/>
                  </a:lnTo>
                  <a:lnTo>
                    <a:pt x="140" y="394"/>
                  </a:lnTo>
                  <a:lnTo>
                    <a:pt x="152" y="418"/>
                  </a:lnTo>
                  <a:lnTo>
                    <a:pt x="162" y="434"/>
                  </a:lnTo>
                  <a:lnTo>
                    <a:pt x="166" y="442"/>
                  </a:lnTo>
                  <a:lnTo>
                    <a:pt x="194" y="43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2" name="Freeform 149"/>
            <p:cNvSpPr/>
            <p:nvPr/>
          </p:nvSpPr>
          <p:spPr bwMode="auto">
            <a:xfrm>
              <a:off x="4346575" y="2886075"/>
              <a:ext cx="66675" cy="155575"/>
            </a:xfrm>
            <a:custGeom>
              <a:avLst/>
              <a:gdLst/>
              <a:ahLst/>
              <a:cxnLst>
                <a:cxn ang="0">
                  <a:pos x="10" y="54"/>
                </a:cxn>
                <a:cxn ang="0">
                  <a:pos x="10" y="54"/>
                </a:cxn>
                <a:cxn ang="0">
                  <a:pos x="18" y="68"/>
                </a:cxn>
                <a:cxn ang="0">
                  <a:pos x="26" y="82"/>
                </a:cxn>
                <a:cxn ang="0">
                  <a:pos x="34" y="92"/>
                </a:cxn>
                <a:cxn ang="0">
                  <a:pos x="42" y="98"/>
                </a:cxn>
                <a:cxn ang="0">
                  <a:pos x="42" y="98"/>
                </a:cxn>
                <a:cxn ang="0">
                  <a:pos x="42" y="88"/>
                </a:cxn>
                <a:cxn ang="0">
                  <a:pos x="40" y="76"/>
                </a:cxn>
                <a:cxn ang="0">
                  <a:pos x="36" y="60"/>
                </a:cxn>
                <a:cxn ang="0">
                  <a:pos x="30" y="44"/>
                </a:cxn>
                <a:cxn ang="0">
                  <a:pos x="30" y="44"/>
                </a:cxn>
                <a:cxn ang="0">
                  <a:pos x="24" y="30"/>
                </a:cxn>
                <a:cxn ang="0">
                  <a:pos x="16" y="16"/>
                </a:cxn>
                <a:cxn ang="0">
                  <a:pos x="8" y="6"/>
                </a:cxn>
                <a:cxn ang="0">
                  <a:pos x="0" y="0"/>
                </a:cxn>
                <a:cxn ang="0">
                  <a:pos x="0" y="0"/>
                </a:cxn>
                <a:cxn ang="0">
                  <a:pos x="0" y="10"/>
                </a:cxn>
                <a:cxn ang="0">
                  <a:pos x="2" y="22"/>
                </a:cxn>
                <a:cxn ang="0">
                  <a:pos x="6" y="38"/>
                </a:cxn>
                <a:cxn ang="0">
                  <a:pos x="10" y="54"/>
                </a:cxn>
                <a:cxn ang="0">
                  <a:pos x="10" y="54"/>
                </a:cxn>
              </a:cxnLst>
              <a:rect l="0" t="0" r="r" b="b"/>
              <a:pathLst>
                <a:path w="42" h="98">
                  <a:moveTo>
                    <a:pt x="10" y="54"/>
                  </a:moveTo>
                  <a:lnTo>
                    <a:pt x="10" y="54"/>
                  </a:lnTo>
                  <a:lnTo>
                    <a:pt x="18" y="68"/>
                  </a:lnTo>
                  <a:lnTo>
                    <a:pt x="26" y="82"/>
                  </a:lnTo>
                  <a:lnTo>
                    <a:pt x="34" y="92"/>
                  </a:lnTo>
                  <a:lnTo>
                    <a:pt x="42" y="98"/>
                  </a:lnTo>
                  <a:lnTo>
                    <a:pt x="42" y="98"/>
                  </a:lnTo>
                  <a:lnTo>
                    <a:pt x="42" y="88"/>
                  </a:lnTo>
                  <a:lnTo>
                    <a:pt x="40" y="76"/>
                  </a:lnTo>
                  <a:lnTo>
                    <a:pt x="36" y="60"/>
                  </a:lnTo>
                  <a:lnTo>
                    <a:pt x="30" y="44"/>
                  </a:lnTo>
                  <a:lnTo>
                    <a:pt x="30" y="44"/>
                  </a:lnTo>
                  <a:lnTo>
                    <a:pt x="24" y="30"/>
                  </a:lnTo>
                  <a:lnTo>
                    <a:pt x="16" y="16"/>
                  </a:lnTo>
                  <a:lnTo>
                    <a:pt x="8" y="6"/>
                  </a:lnTo>
                  <a:lnTo>
                    <a:pt x="0" y="0"/>
                  </a:lnTo>
                  <a:lnTo>
                    <a:pt x="0" y="0"/>
                  </a:lnTo>
                  <a:lnTo>
                    <a:pt x="0" y="10"/>
                  </a:lnTo>
                  <a:lnTo>
                    <a:pt x="2" y="22"/>
                  </a:lnTo>
                  <a:lnTo>
                    <a:pt x="6" y="38"/>
                  </a:lnTo>
                  <a:lnTo>
                    <a:pt x="10" y="54"/>
                  </a:lnTo>
                  <a:lnTo>
                    <a:pt x="1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3" name="Freeform 150"/>
            <p:cNvSpPr/>
            <p:nvPr/>
          </p:nvSpPr>
          <p:spPr bwMode="auto">
            <a:xfrm>
              <a:off x="4562475" y="2616200"/>
              <a:ext cx="346075" cy="768350"/>
            </a:xfrm>
            <a:custGeom>
              <a:avLst/>
              <a:gdLst/>
              <a:ahLst/>
              <a:cxnLst>
                <a:cxn ang="0">
                  <a:pos x="198" y="22"/>
                </a:cxn>
                <a:cxn ang="0">
                  <a:pos x="186" y="40"/>
                </a:cxn>
                <a:cxn ang="0">
                  <a:pos x="164" y="86"/>
                </a:cxn>
                <a:cxn ang="0">
                  <a:pos x="164" y="86"/>
                </a:cxn>
                <a:cxn ang="0">
                  <a:pos x="148" y="120"/>
                </a:cxn>
                <a:cxn ang="0">
                  <a:pos x="108" y="176"/>
                </a:cxn>
                <a:cxn ang="0">
                  <a:pos x="100" y="188"/>
                </a:cxn>
                <a:cxn ang="0">
                  <a:pos x="86" y="224"/>
                </a:cxn>
                <a:cxn ang="0">
                  <a:pos x="78" y="272"/>
                </a:cxn>
                <a:cxn ang="0">
                  <a:pos x="74" y="294"/>
                </a:cxn>
                <a:cxn ang="0">
                  <a:pos x="60" y="334"/>
                </a:cxn>
                <a:cxn ang="0">
                  <a:pos x="34" y="374"/>
                </a:cxn>
                <a:cxn ang="0">
                  <a:pos x="26" y="388"/>
                </a:cxn>
                <a:cxn ang="0">
                  <a:pos x="10" y="426"/>
                </a:cxn>
                <a:cxn ang="0">
                  <a:pos x="2" y="456"/>
                </a:cxn>
                <a:cxn ang="0">
                  <a:pos x="8" y="468"/>
                </a:cxn>
                <a:cxn ang="0">
                  <a:pos x="48" y="476"/>
                </a:cxn>
                <a:cxn ang="0">
                  <a:pos x="54" y="468"/>
                </a:cxn>
                <a:cxn ang="0">
                  <a:pos x="76" y="424"/>
                </a:cxn>
                <a:cxn ang="0">
                  <a:pos x="84" y="396"/>
                </a:cxn>
                <a:cxn ang="0">
                  <a:pos x="88" y="370"/>
                </a:cxn>
                <a:cxn ang="0">
                  <a:pos x="102" y="328"/>
                </a:cxn>
                <a:cxn ang="0">
                  <a:pos x="126" y="292"/>
                </a:cxn>
                <a:cxn ang="0">
                  <a:pos x="140" y="272"/>
                </a:cxn>
                <a:cxn ang="0">
                  <a:pos x="164" y="228"/>
                </a:cxn>
                <a:cxn ang="0">
                  <a:pos x="172" y="202"/>
                </a:cxn>
                <a:cxn ang="0">
                  <a:pos x="176" y="170"/>
                </a:cxn>
                <a:cxn ang="0">
                  <a:pos x="182" y="134"/>
                </a:cxn>
                <a:cxn ang="0">
                  <a:pos x="196" y="100"/>
                </a:cxn>
                <a:cxn ang="0">
                  <a:pos x="206" y="74"/>
                </a:cxn>
                <a:cxn ang="0">
                  <a:pos x="216" y="36"/>
                </a:cxn>
                <a:cxn ang="0">
                  <a:pos x="218" y="0"/>
                </a:cxn>
              </a:cxnLst>
              <a:rect l="0" t="0" r="r" b="b"/>
              <a:pathLst>
                <a:path w="218" h="484">
                  <a:moveTo>
                    <a:pt x="198" y="22"/>
                  </a:moveTo>
                  <a:lnTo>
                    <a:pt x="198" y="22"/>
                  </a:lnTo>
                  <a:lnTo>
                    <a:pt x="194" y="26"/>
                  </a:lnTo>
                  <a:lnTo>
                    <a:pt x="186" y="40"/>
                  </a:lnTo>
                  <a:lnTo>
                    <a:pt x="174" y="60"/>
                  </a:lnTo>
                  <a:lnTo>
                    <a:pt x="164" y="86"/>
                  </a:lnTo>
                  <a:lnTo>
                    <a:pt x="164" y="86"/>
                  </a:lnTo>
                  <a:lnTo>
                    <a:pt x="164" y="86"/>
                  </a:lnTo>
                  <a:lnTo>
                    <a:pt x="156" y="104"/>
                  </a:lnTo>
                  <a:lnTo>
                    <a:pt x="148" y="120"/>
                  </a:lnTo>
                  <a:lnTo>
                    <a:pt x="128" y="148"/>
                  </a:lnTo>
                  <a:lnTo>
                    <a:pt x="108" y="176"/>
                  </a:lnTo>
                  <a:lnTo>
                    <a:pt x="108" y="176"/>
                  </a:lnTo>
                  <a:lnTo>
                    <a:pt x="100" y="188"/>
                  </a:lnTo>
                  <a:lnTo>
                    <a:pt x="94" y="200"/>
                  </a:lnTo>
                  <a:lnTo>
                    <a:pt x="86" y="224"/>
                  </a:lnTo>
                  <a:lnTo>
                    <a:pt x="80" y="248"/>
                  </a:lnTo>
                  <a:lnTo>
                    <a:pt x="78" y="272"/>
                  </a:lnTo>
                  <a:lnTo>
                    <a:pt x="74" y="294"/>
                  </a:lnTo>
                  <a:lnTo>
                    <a:pt x="74" y="294"/>
                  </a:lnTo>
                  <a:lnTo>
                    <a:pt x="68" y="314"/>
                  </a:lnTo>
                  <a:lnTo>
                    <a:pt x="60" y="334"/>
                  </a:lnTo>
                  <a:lnTo>
                    <a:pt x="48" y="354"/>
                  </a:lnTo>
                  <a:lnTo>
                    <a:pt x="34" y="374"/>
                  </a:lnTo>
                  <a:lnTo>
                    <a:pt x="34" y="374"/>
                  </a:lnTo>
                  <a:lnTo>
                    <a:pt x="26" y="388"/>
                  </a:lnTo>
                  <a:lnTo>
                    <a:pt x="20" y="400"/>
                  </a:lnTo>
                  <a:lnTo>
                    <a:pt x="10" y="426"/>
                  </a:lnTo>
                  <a:lnTo>
                    <a:pt x="4" y="446"/>
                  </a:lnTo>
                  <a:lnTo>
                    <a:pt x="2" y="456"/>
                  </a:lnTo>
                  <a:lnTo>
                    <a:pt x="0" y="466"/>
                  </a:lnTo>
                  <a:lnTo>
                    <a:pt x="8" y="468"/>
                  </a:lnTo>
                  <a:lnTo>
                    <a:pt x="44" y="484"/>
                  </a:lnTo>
                  <a:lnTo>
                    <a:pt x="48" y="476"/>
                  </a:lnTo>
                  <a:lnTo>
                    <a:pt x="48" y="476"/>
                  </a:lnTo>
                  <a:lnTo>
                    <a:pt x="54" y="468"/>
                  </a:lnTo>
                  <a:lnTo>
                    <a:pt x="64" y="450"/>
                  </a:lnTo>
                  <a:lnTo>
                    <a:pt x="76" y="424"/>
                  </a:lnTo>
                  <a:lnTo>
                    <a:pt x="80" y="410"/>
                  </a:lnTo>
                  <a:lnTo>
                    <a:pt x="84" y="396"/>
                  </a:lnTo>
                  <a:lnTo>
                    <a:pt x="84" y="396"/>
                  </a:lnTo>
                  <a:lnTo>
                    <a:pt x="88" y="370"/>
                  </a:lnTo>
                  <a:lnTo>
                    <a:pt x="94" y="348"/>
                  </a:lnTo>
                  <a:lnTo>
                    <a:pt x="102" y="328"/>
                  </a:lnTo>
                  <a:lnTo>
                    <a:pt x="112" y="310"/>
                  </a:lnTo>
                  <a:lnTo>
                    <a:pt x="126" y="292"/>
                  </a:lnTo>
                  <a:lnTo>
                    <a:pt x="126" y="292"/>
                  </a:lnTo>
                  <a:lnTo>
                    <a:pt x="140" y="272"/>
                  </a:lnTo>
                  <a:lnTo>
                    <a:pt x="154" y="252"/>
                  </a:lnTo>
                  <a:lnTo>
                    <a:pt x="164" y="228"/>
                  </a:lnTo>
                  <a:lnTo>
                    <a:pt x="168" y="216"/>
                  </a:lnTo>
                  <a:lnTo>
                    <a:pt x="172" y="202"/>
                  </a:lnTo>
                  <a:lnTo>
                    <a:pt x="172" y="202"/>
                  </a:lnTo>
                  <a:lnTo>
                    <a:pt x="176" y="170"/>
                  </a:lnTo>
                  <a:lnTo>
                    <a:pt x="176" y="170"/>
                  </a:lnTo>
                  <a:lnTo>
                    <a:pt x="182" y="134"/>
                  </a:lnTo>
                  <a:lnTo>
                    <a:pt x="188" y="118"/>
                  </a:lnTo>
                  <a:lnTo>
                    <a:pt x="196" y="100"/>
                  </a:lnTo>
                  <a:lnTo>
                    <a:pt x="196" y="100"/>
                  </a:lnTo>
                  <a:lnTo>
                    <a:pt x="206" y="74"/>
                  </a:lnTo>
                  <a:lnTo>
                    <a:pt x="214" y="50"/>
                  </a:lnTo>
                  <a:lnTo>
                    <a:pt x="216" y="36"/>
                  </a:lnTo>
                  <a:lnTo>
                    <a:pt x="216" y="28"/>
                  </a:lnTo>
                  <a:lnTo>
                    <a:pt x="218" y="0"/>
                  </a:lnTo>
                  <a:lnTo>
                    <a:pt x="198" y="2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4" name="Freeform 151"/>
            <p:cNvSpPr/>
            <p:nvPr/>
          </p:nvSpPr>
          <p:spPr bwMode="auto">
            <a:xfrm>
              <a:off x="4581525" y="2660650"/>
              <a:ext cx="307975" cy="701675"/>
            </a:xfrm>
            <a:custGeom>
              <a:avLst/>
              <a:gdLst/>
              <a:ahLst/>
              <a:cxnLst>
                <a:cxn ang="0">
                  <a:pos x="28" y="442"/>
                </a:cxn>
                <a:cxn ang="0">
                  <a:pos x="28" y="442"/>
                </a:cxn>
                <a:cxn ang="0">
                  <a:pos x="32" y="434"/>
                </a:cxn>
                <a:cxn ang="0">
                  <a:pos x="42" y="418"/>
                </a:cxn>
                <a:cxn ang="0">
                  <a:pos x="54" y="394"/>
                </a:cxn>
                <a:cxn ang="0">
                  <a:pos x="58" y="380"/>
                </a:cxn>
                <a:cxn ang="0">
                  <a:pos x="62" y="366"/>
                </a:cxn>
                <a:cxn ang="0">
                  <a:pos x="62" y="366"/>
                </a:cxn>
                <a:cxn ang="0">
                  <a:pos x="66" y="340"/>
                </a:cxn>
                <a:cxn ang="0">
                  <a:pos x="72" y="318"/>
                </a:cxn>
                <a:cxn ang="0">
                  <a:pos x="80" y="296"/>
                </a:cxn>
                <a:cxn ang="0">
                  <a:pos x="92" y="276"/>
                </a:cxn>
                <a:cxn ang="0">
                  <a:pos x="92" y="276"/>
                </a:cxn>
                <a:cxn ang="0">
                  <a:pos x="108" y="256"/>
                </a:cxn>
                <a:cxn ang="0">
                  <a:pos x="124" y="232"/>
                </a:cxn>
                <a:cxn ang="0">
                  <a:pos x="132" y="218"/>
                </a:cxn>
                <a:cxn ang="0">
                  <a:pos x="140" y="204"/>
                </a:cxn>
                <a:cxn ang="0">
                  <a:pos x="146" y="188"/>
                </a:cxn>
                <a:cxn ang="0">
                  <a:pos x="150" y="172"/>
                </a:cxn>
                <a:cxn ang="0">
                  <a:pos x="150" y="172"/>
                </a:cxn>
                <a:cxn ang="0">
                  <a:pos x="158" y="116"/>
                </a:cxn>
                <a:cxn ang="0">
                  <a:pos x="164" y="92"/>
                </a:cxn>
                <a:cxn ang="0">
                  <a:pos x="174" y="68"/>
                </a:cxn>
                <a:cxn ang="0">
                  <a:pos x="174" y="68"/>
                </a:cxn>
                <a:cxn ang="0">
                  <a:pos x="186" y="42"/>
                </a:cxn>
                <a:cxn ang="0">
                  <a:pos x="192" y="20"/>
                </a:cxn>
                <a:cxn ang="0">
                  <a:pos x="194" y="0"/>
                </a:cxn>
                <a:cxn ang="0">
                  <a:pos x="194" y="0"/>
                </a:cxn>
                <a:cxn ang="0">
                  <a:pos x="194" y="0"/>
                </a:cxn>
                <a:cxn ang="0">
                  <a:pos x="182" y="18"/>
                </a:cxn>
                <a:cxn ang="0">
                  <a:pos x="172" y="36"/>
                </a:cxn>
                <a:cxn ang="0">
                  <a:pos x="162" y="62"/>
                </a:cxn>
                <a:cxn ang="0">
                  <a:pos x="162" y="62"/>
                </a:cxn>
                <a:cxn ang="0">
                  <a:pos x="150" y="88"/>
                </a:cxn>
                <a:cxn ang="0">
                  <a:pos x="138" y="108"/>
                </a:cxn>
                <a:cxn ang="0">
                  <a:pos x="104" y="154"/>
                </a:cxn>
                <a:cxn ang="0">
                  <a:pos x="104" y="154"/>
                </a:cxn>
                <a:cxn ang="0">
                  <a:pos x="96" y="168"/>
                </a:cxn>
                <a:cxn ang="0">
                  <a:pos x="88" y="182"/>
                </a:cxn>
                <a:cxn ang="0">
                  <a:pos x="84" y="198"/>
                </a:cxn>
                <a:cxn ang="0">
                  <a:pos x="80" y="212"/>
                </a:cxn>
                <a:cxn ang="0">
                  <a:pos x="76" y="242"/>
                </a:cxn>
                <a:cxn ang="0">
                  <a:pos x="72" y="268"/>
                </a:cxn>
                <a:cxn ang="0">
                  <a:pos x="72" y="268"/>
                </a:cxn>
                <a:cxn ang="0">
                  <a:pos x="66" y="290"/>
                </a:cxn>
                <a:cxn ang="0">
                  <a:pos x="56" y="312"/>
                </a:cxn>
                <a:cxn ang="0">
                  <a:pos x="44" y="332"/>
                </a:cxn>
                <a:cxn ang="0">
                  <a:pos x="30" y="354"/>
                </a:cxn>
                <a:cxn ang="0">
                  <a:pos x="30" y="354"/>
                </a:cxn>
                <a:cxn ang="0">
                  <a:pos x="22" y="366"/>
                </a:cxn>
                <a:cxn ang="0">
                  <a:pos x="16" y="378"/>
                </a:cxn>
                <a:cxn ang="0">
                  <a:pos x="6" y="402"/>
                </a:cxn>
                <a:cxn ang="0">
                  <a:pos x="2" y="422"/>
                </a:cxn>
                <a:cxn ang="0">
                  <a:pos x="0" y="430"/>
                </a:cxn>
                <a:cxn ang="0">
                  <a:pos x="28" y="442"/>
                </a:cxn>
              </a:cxnLst>
              <a:rect l="0" t="0" r="r" b="b"/>
              <a:pathLst>
                <a:path w="194" h="442">
                  <a:moveTo>
                    <a:pt x="28" y="442"/>
                  </a:moveTo>
                  <a:lnTo>
                    <a:pt x="28" y="442"/>
                  </a:lnTo>
                  <a:lnTo>
                    <a:pt x="32" y="434"/>
                  </a:lnTo>
                  <a:lnTo>
                    <a:pt x="42" y="418"/>
                  </a:lnTo>
                  <a:lnTo>
                    <a:pt x="54" y="394"/>
                  </a:lnTo>
                  <a:lnTo>
                    <a:pt x="58" y="380"/>
                  </a:lnTo>
                  <a:lnTo>
                    <a:pt x="62" y="366"/>
                  </a:lnTo>
                  <a:lnTo>
                    <a:pt x="62" y="366"/>
                  </a:lnTo>
                  <a:lnTo>
                    <a:pt x="66" y="340"/>
                  </a:lnTo>
                  <a:lnTo>
                    <a:pt x="72" y="318"/>
                  </a:lnTo>
                  <a:lnTo>
                    <a:pt x="80" y="296"/>
                  </a:lnTo>
                  <a:lnTo>
                    <a:pt x="92" y="276"/>
                  </a:lnTo>
                  <a:lnTo>
                    <a:pt x="92" y="276"/>
                  </a:lnTo>
                  <a:lnTo>
                    <a:pt x="108" y="256"/>
                  </a:lnTo>
                  <a:lnTo>
                    <a:pt x="124" y="232"/>
                  </a:lnTo>
                  <a:lnTo>
                    <a:pt x="132" y="218"/>
                  </a:lnTo>
                  <a:lnTo>
                    <a:pt x="140" y="204"/>
                  </a:lnTo>
                  <a:lnTo>
                    <a:pt x="146" y="188"/>
                  </a:lnTo>
                  <a:lnTo>
                    <a:pt x="150" y="172"/>
                  </a:lnTo>
                  <a:lnTo>
                    <a:pt x="150" y="172"/>
                  </a:lnTo>
                  <a:lnTo>
                    <a:pt x="158" y="116"/>
                  </a:lnTo>
                  <a:lnTo>
                    <a:pt x="164" y="92"/>
                  </a:lnTo>
                  <a:lnTo>
                    <a:pt x="174" y="68"/>
                  </a:lnTo>
                  <a:lnTo>
                    <a:pt x="174" y="68"/>
                  </a:lnTo>
                  <a:lnTo>
                    <a:pt x="186" y="42"/>
                  </a:lnTo>
                  <a:lnTo>
                    <a:pt x="192" y="20"/>
                  </a:lnTo>
                  <a:lnTo>
                    <a:pt x="194" y="0"/>
                  </a:lnTo>
                  <a:lnTo>
                    <a:pt x="194" y="0"/>
                  </a:lnTo>
                  <a:lnTo>
                    <a:pt x="194" y="0"/>
                  </a:lnTo>
                  <a:lnTo>
                    <a:pt x="182" y="18"/>
                  </a:lnTo>
                  <a:lnTo>
                    <a:pt x="172" y="36"/>
                  </a:lnTo>
                  <a:lnTo>
                    <a:pt x="162" y="62"/>
                  </a:lnTo>
                  <a:lnTo>
                    <a:pt x="162" y="62"/>
                  </a:lnTo>
                  <a:lnTo>
                    <a:pt x="150" y="88"/>
                  </a:lnTo>
                  <a:lnTo>
                    <a:pt x="138" y="108"/>
                  </a:lnTo>
                  <a:lnTo>
                    <a:pt x="104" y="154"/>
                  </a:lnTo>
                  <a:lnTo>
                    <a:pt x="104" y="154"/>
                  </a:lnTo>
                  <a:lnTo>
                    <a:pt x="96" y="168"/>
                  </a:lnTo>
                  <a:lnTo>
                    <a:pt x="88" y="182"/>
                  </a:lnTo>
                  <a:lnTo>
                    <a:pt x="84" y="198"/>
                  </a:lnTo>
                  <a:lnTo>
                    <a:pt x="80" y="212"/>
                  </a:lnTo>
                  <a:lnTo>
                    <a:pt x="76" y="242"/>
                  </a:lnTo>
                  <a:lnTo>
                    <a:pt x="72" y="268"/>
                  </a:lnTo>
                  <a:lnTo>
                    <a:pt x="72" y="268"/>
                  </a:lnTo>
                  <a:lnTo>
                    <a:pt x="66" y="290"/>
                  </a:lnTo>
                  <a:lnTo>
                    <a:pt x="56" y="312"/>
                  </a:lnTo>
                  <a:lnTo>
                    <a:pt x="44" y="332"/>
                  </a:lnTo>
                  <a:lnTo>
                    <a:pt x="30" y="354"/>
                  </a:lnTo>
                  <a:lnTo>
                    <a:pt x="30" y="354"/>
                  </a:lnTo>
                  <a:lnTo>
                    <a:pt x="22" y="366"/>
                  </a:lnTo>
                  <a:lnTo>
                    <a:pt x="16" y="378"/>
                  </a:lnTo>
                  <a:lnTo>
                    <a:pt x="6" y="402"/>
                  </a:lnTo>
                  <a:lnTo>
                    <a:pt x="2" y="422"/>
                  </a:lnTo>
                  <a:lnTo>
                    <a:pt x="0" y="430"/>
                  </a:lnTo>
                  <a:lnTo>
                    <a:pt x="28" y="44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5" name="Freeform 152"/>
            <p:cNvSpPr/>
            <p:nvPr/>
          </p:nvSpPr>
          <p:spPr bwMode="auto">
            <a:xfrm>
              <a:off x="4730750" y="2886075"/>
              <a:ext cx="66675" cy="155575"/>
            </a:xfrm>
            <a:custGeom>
              <a:avLst/>
              <a:gdLst/>
              <a:ahLst/>
              <a:cxnLst>
                <a:cxn ang="0">
                  <a:pos x="12" y="44"/>
                </a:cxn>
                <a:cxn ang="0">
                  <a:pos x="12" y="44"/>
                </a:cxn>
                <a:cxn ang="0">
                  <a:pos x="6" y="60"/>
                </a:cxn>
                <a:cxn ang="0">
                  <a:pos x="2" y="76"/>
                </a:cxn>
                <a:cxn ang="0">
                  <a:pos x="0" y="88"/>
                </a:cxn>
                <a:cxn ang="0">
                  <a:pos x="0" y="98"/>
                </a:cxn>
                <a:cxn ang="0">
                  <a:pos x="0" y="98"/>
                </a:cxn>
                <a:cxn ang="0">
                  <a:pos x="8" y="92"/>
                </a:cxn>
                <a:cxn ang="0">
                  <a:pos x="16" y="82"/>
                </a:cxn>
                <a:cxn ang="0">
                  <a:pos x="24" y="68"/>
                </a:cxn>
                <a:cxn ang="0">
                  <a:pos x="32" y="54"/>
                </a:cxn>
                <a:cxn ang="0">
                  <a:pos x="32" y="54"/>
                </a:cxn>
                <a:cxn ang="0">
                  <a:pos x="36" y="38"/>
                </a:cxn>
                <a:cxn ang="0">
                  <a:pos x="40" y="22"/>
                </a:cxn>
                <a:cxn ang="0">
                  <a:pos x="42" y="10"/>
                </a:cxn>
                <a:cxn ang="0">
                  <a:pos x="42" y="0"/>
                </a:cxn>
                <a:cxn ang="0">
                  <a:pos x="42" y="0"/>
                </a:cxn>
                <a:cxn ang="0">
                  <a:pos x="34" y="6"/>
                </a:cxn>
                <a:cxn ang="0">
                  <a:pos x="26" y="16"/>
                </a:cxn>
                <a:cxn ang="0">
                  <a:pos x="18" y="30"/>
                </a:cxn>
                <a:cxn ang="0">
                  <a:pos x="12" y="44"/>
                </a:cxn>
                <a:cxn ang="0">
                  <a:pos x="12" y="44"/>
                </a:cxn>
              </a:cxnLst>
              <a:rect l="0" t="0" r="r" b="b"/>
              <a:pathLst>
                <a:path w="42" h="98">
                  <a:moveTo>
                    <a:pt x="12" y="44"/>
                  </a:moveTo>
                  <a:lnTo>
                    <a:pt x="12" y="44"/>
                  </a:lnTo>
                  <a:lnTo>
                    <a:pt x="6" y="60"/>
                  </a:lnTo>
                  <a:lnTo>
                    <a:pt x="2" y="76"/>
                  </a:lnTo>
                  <a:lnTo>
                    <a:pt x="0" y="88"/>
                  </a:lnTo>
                  <a:lnTo>
                    <a:pt x="0" y="98"/>
                  </a:lnTo>
                  <a:lnTo>
                    <a:pt x="0" y="98"/>
                  </a:lnTo>
                  <a:lnTo>
                    <a:pt x="8" y="92"/>
                  </a:lnTo>
                  <a:lnTo>
                    <a:pt x="16" y="82"/>
                  </a:lnTo>
                  <a:lnTo>
                    <a:pt x="24" y="68"/>
                  </a:lnTo>
                  <a:lnTo>
                    <a:pt x="32" y="54"/>
                  </a:lnTo>
                  <a:lnTo>
                    <a:pt x="32" y="54"/>
                  </a:lnTo>
                  <a:lnTo>
                    <a:pt x="36" y="38"/>
                  </a:lnTo>
                  <a:lnTo>
                    <a:pt x="40" y="22"/>
                  </a:lnTo>
                  <a:lnTo>
                    <a:pt x="42" y="10"/>
                  </a:lnTo>
                  <a:lnTo>
                    <a:pt x="42" y="0"/>
                  </a:lnTo>
                  <a:lnTo>
                    <a:pt x="42" y="0"/>
                  </a:lnTo>
                  <a:lnTo>
                    <a:pt x="34" y="6"/>
                  </a:lnTo>
                  <a:lnTo>
                    <a:pt x="26" y="16"/>
                  </a:lnTo>
                  <a:lnTo>
                    <a:pt x="18" y="30"/>
                  </a:lnTo>
                  <a:lnTo>
                    <a:pt x="12" y="44"/>
                  </a:lnTo>
                  <a:lnTo>
                    <a:pt x="1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6" name="Freeform 153"/>
            <p:cNvSpPr/>
            <p:nvPr/>
          </p:nvSpPr>
          <p:spPr bwMode="auto">
            <a:xfrm>
              <a:off x="4616450" y="3092450"/>
              <a:ext cx="768350" cy="346075"/>
            </a:xfrm>
            <a:custGeom>
              <a:avLst/>
              <a:gdLst/>
              <a:ahLst/>
              <a:cxnLst>
                <a:cxn ang="0">
                  <a:pos x="456" y="2"/>
                </a:cxn>
                <a:cxn ang="0">
                  <a:pos x="434" y="4"/>
                </a:cxn>
                <a:cxn ang="0">
                  <a:pos x="384" y="22"/>
                </a:cxn>
                <a:cxn ang="0">
                  <a:pos x="384" y="22"/>
                </a:cxn>
                <a:cxn ang="0">
                  <a:pos x="350" y="36"/>
                </a:cxn>
                <a:cxn ang="0">
                  <a:pos x="282" y="46"/>
                </a:cxn>
                <a:cxn ang="0">
                  <a:pos x="268" y="50"/>
                </a:cxn>
                <a:cxn ang="0">
                  <a:pos x="232" y="64"/>
                </a:cxn>
                <a:cxn ang="0">
                  <a:pos x="192" y="92"/>
                </a:cxn>
                <a:cxn ang="0">
                  <a:pos x="174" y="106"/>
                </a:cxn>
                <a:cxn ang="0">
                  <a:pos x="136" y="124"/>
                </a:cxn>
                <a:cxn ang="0">
                  <a:pos x="88" y="134"/>
                </a:cxn>
                <a:cxn ang="0">
                  <a:pos x="74" y="138"/>
                </a:cxn>
                <a:cxn ang="0">
                  <a:pos x="36" y="154"/>
                </a:cxn>
                <a:cxn ang="0">
                  <a:pos x="8" y="170"/>
                </a:cxn>
                <a:cxn ang="0">
                  <a:pos x="4" y="182"/>
                </a:cxn>
                <a:cxn ang="0">
                  <a:pos x="28" y="216"/>
                </a:cxn>
                <a:cxn ang="0">
                  <a:pos x="36" y="214"/>
                </a:cxn>
                <a:cxn ang="0">
                  <a:pos x="84" y="200"/>
                </a:cxn>
                <a:cxn ang="0">
                  <a:pos x="110" y="184"/>
                </a:cxn>
                <a:cxn ang="0">
                  <a:pos x="130" y="170"/>
                </a:cxn>
                <a:cxn ang="0">
                  <a:pos x="170" y="150"/>
                </a:cxn>
                <a:cxn ang="0">
                  <a:pos x="212" y="140"/>
                </a:cxn>
                <a:cxn ang="0">
                  <a:pos x="236" y="138"/>
                </a:cxn>
                <a:cxn ang="0">
                  <a:pos x="284" y="124"/>
                </a:cxn>
                <a:cxn ang="0">
                  <a:pos x="308" y="110"/>
                </a:cxn>
                <a:cxn ang="0">
                  <a:pos x="336" y="90"/>
                </a:cxn>
                <a:cxn ang="0">
                  <a:pos x="380" y="62"/>
                </a:cxn>
                <a:cxn ang="0">
                  <a:pos x="398" y="54"/>
                </a:cxn>
                <a:cxn ang="0">
                  <a:pos x="444" y="32"/>
                </a:cxn>
                <a:cxn ang="0">
                  <a:pos x="462" y="20"/>
                </a:cxn>
                <a:cxn ang="0">
                  <a:pos x="456" y="2"/>
                </a:cxn>
              </a:cxnLst>
              <a:rect l="0" t="0" r="r" b="b"/>
              <a:pathLst>
                <a:path w="484" h="218">
                  <a:moveTo>
                    <a:pt x="456" y="2"/>
                  </a:moveTo>
                  <a:lnTo>
                    <a:pt x="456" y="2"/>
                  </a:lnTo>
                  <a:lnTo>
                    <a:pt x="448" y="2"/>
                  </a:lnTo>
                  <a:lnTo>
                    <a:pt x="434" y="4"/>
                  </a:lnTo>
                  <a:lnTo>
                    <a:pt x="410" y="12"/>
                  </a:lnTo>
                  <a:lnTo>
                    <a:pt x="384" y="22"/>
                  </a:lnTo>
                  <a:lnTo>
                    <a:pt x="384" y="22"/>
                  </a:lnTo>
                  <a:lnTo>
                    <a:pt x="384" y="22"/>
                  </a:lnTo>
                  <a:lnTo>
                    <a:pt x="366" y="30"/>
                  </a:lnTo>
                  <a:lnTo>
                    <a:pt x="350" y="36"/>
                  </a:lnTo>
                  <a:lnTo>
                    <a:pt x="314" y="42"/>
                  </a:lnTo>
                  <a:lnTo>
                    <a:pt x="282" y="46"/>
                  </a:lnTo>
                  <a:lnTo>
                    <a:pt x="282" y="46"/>
                  </a:lnTo>
                  <a:lnTo>
                    <a:pt x="268" y="50"/>
                  </a:lnTo>
                  <a:lnTo>
                    <a:pt x="256" y="54"/>
                  </a:lnTo>
                  <a:lnTo>
                    <a:pt x="232" y="64"/>
                  </a:lnTo>
                  <a:lnTo>
                    <a:pt x="212" y="78"/>
                  </a:lnTo>
                  <a:lnTo>
                    <a:pt x="192" y="92"/>
                  </a:lnTo>
                  <a:lnTo>
                    <a:pt x="174" y="106"/>
                  </a:lnTo>
                  <a:lnTo>
                    <a:pt x="174" y="106"/>
                  </a:lnTo>
                  <a:lnTo>
                    <a:pt x="156" y="116"/>
                  </a:lnTo>
                  <a:lnTo>
                    <a:pt x="136" y="124"/>
                  </a:lnTo>
                  <a:lnTo>
                    <a:pt x="114" y="130"/>
                  </a:lnTo>
                  <a:lnTo>
                    <a:pt x="88" y="134"/>
                  </a:lnTo>
                  <a:lnTo>
                    <a:pt x="88" y="134"/>
                  </a:lnTo>
                  <a:lnTo>
                    <a:pt x="74" y="138"/>
                  </a:lnTo>
                  <a:lnTo>
                    <a:pt x="60" y="142"/>
                  </a:lnTo>
                  <a:lnTo>
                    <a:pt x="36" y="154"/>
                  </a:lnTo>
                  <a:lnTo>
                    <a:pt x="18" y="164"/>
                  </a:lnTo>
                  <a:lnTo>
                    <a:pt x="8" y="170"/>
                  </a:lnTo>
                  <a:lnTo>
                    <a:pt x="0" y="174"/>
                  </a:lnTo>
                  <a:lnTo>
                    <a:pt x="4" y="182"/>
                  </a:lnTo>
                  <a:lnTo>
                    <a:pt x="18" y="218"/>
                  </a:lnTo>
                  <a:lnTo>
                    <a:pt x="28" y="216"/>
                  </a:lnTo>
                  <a:lnTo>
                    <a:pt x="28" y="216"/>
                  </a:lnTo>
                  <a:lnTo>
                    <a:pt x="36" y="214"/>
                  </a:lnTo>
                  <a:lnTo>
                    <a:pt x="56" y="208"/>
                  </a:lnTo>
                  <a:lnTo>
                    <a:pt x="84" y="200"/>
                  </a:lnTo>
                  <a:lnTo>
                    <a:pt x="96" y="192"/>
                  </a:lnTo>
                  <a:lnTo>
                    <a:pt x="110" y="184"/>
                  </a:lnTo>
                  <a:lnTo>
                    <a:pt x="110" y="184"/>
                  </a:lnTo>
                  <a:lnTo>
                    <a:pt x="130" y="170"/>
                  </a:lnTo>
                  <a:lnTo>
                    <a:pt x="150" y="158"/>
                  </a:lnTo>
                  <a:lnTo>
                    <a:pt x="170" y="150"/>
                  </a:lnTo>
                  <a:lnTo>
                    <a:pt x="190" y="144"/>
                  </a:lnTo>
                  <a:lnTo>
                    <a:pt x="212" y="140"/>
                  </a:lnTo>
                  <a:lnTo>
                    <a:pt x="212" y="140"/>
                  </a:lnTo>
                  <a:lnTo>
                    <a:pt x="236" y="138"/>
                  </a:lnTo>
                  <a:lnTo>
                    <a:pt x="260" y="132"/>
                  </a:lnTo>
                  <a:lnTo>
                    <a:pt x="284" y="124"/>
                  </a:lnTo>
                  <a:lnTo>
                    <a:pt x="296" y="118"/>
                  </a:lnTo>
                  <a:lnTo>
                    <a:pt x="308" y="110"/>
                  </a:lnTo>
                  <a:lnTo>
                    <a:pt x="336" y="90"/>
                  </a:lnTo>
                  <a:lnTo>
                    <a:pt x="336" y="90"/>
                  </a:lnTo>
                  <a:lnTo>
                    <a:pt x="364" y="70"/>
                  </a:lnTo>
                  <a:lnTo>
                    <a:pt x="380" y="62"/>
                  </a:lnTo>
                  <a:lnTo>
                    <a:pt x="398" y="54"/>
                  </a:lnTo>
                  <a:lnTo>
                    <a:pt x="398" y="54"/>
                  </a:lnTo>
                  <a:lnTo>
                    <a:pt x="424" y="44"/>
                  </a:lnTo>
                  <a:lnTo>
                    <a:pt x="444" y="32"/>
                  </a:lnTo>
                  <a:lnTo>
                    <a:pt x="458" y="24"/>
                  </a:lnTo>
                  <a:lnTo>
                    <a:pt x="462" y="20"/>
                  </a:lnTo>
                  <a:lnTo>
                    <a:pt x="484" y="0"/>
                  </a:lnTo>
                  <a:lnTo>
                    <a:pt x="456" y="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7" name="Freeform 154"/>
            <p:cNvSpPr/>
            <p:nvPr/>
          </p:nvSpPr>
          <p:spPr bwMode="auto">
            <a:xfrm>
              <a:off x="4638675" y="3111500"/>
              <a:ext cx="701675" cy="307975"/>
            </a:xfrm>
            <a:custGeom>
              <a:avLst/>
              <a:gdLst/>
              <a:ahLst/>
              <a:cxnLst>
                <a:cxn ang="0">
                  <a:pos x="12" y="194"/>
                </a:cxn>
                <a:cxn ang="0">
                  <a:pos x="12" y="194"/>
                </a:cxn>
                <a:cxn ang="0">
                  <a:pos x="20" y="192"/>
                </a:cxn>
                <a:cxn ang="0">
                  <a:pos x="40" y="188"/>
                </a:cxn>
                <a:cxn ang="0">
                  <a:pos x="64" y="178"/>
                </a:cxn>
                <a:cxn ang="0">
                  <a:pos x="76" y="172"/>
                </a:cxn>
                <a:cxn ang="0">
                  <a:pos x="88" y="164"/>
                </a:cxn>
                <a:cxn ang="0">
                  <a:pos x="88" y="164"/>
                </a:cxn>
                <a:cxn ang="0">
                  <a:pos x="110" y="150"/>
                </a:cxn>
                <a:cxn ang="0">
                  <a:pos x="130" y="138"/>
                </a:cxn>
                <a:cxn ang="0">
                  <a:pos x="152" y="128"/>
                </a:cxn>
                <a:cxn ang="0">
                  <a:pos x="174" y="122"/>
                </a:cxn>
                <a:cxn ang="0">
                  <a:pos x="174" y="122"/>
                </a:cxn>
                <a:cxn ang="0">
                  <a:pos x="200" y="118"/>
                </a:cxn>
                <a:cxn ang="0">
                  <a:pos x="230" y="114"/>
                </a:cxn>
                <a:cxn ang="0">
                  <a:pos x="244" y="110"/>
                </a:cxn>
                <a:cxn ang="0">
                  <a:pos x="260" y="106"/>
                </a:cxn>
                <a:cxn ang="0">
                  <a:pos x="274" y="98"/>
                </a:cxn>
                <a:cxn ang="0">
                  <a:pos x="288" y="90"/>
                </a:cxn>
                <a:cxn ang="0">
                  <a:pos x="288" y="90"/>
                </a:cxn>
                <a:cxn ang="0">
                  <a:pos x="334" y="56"/>
                </a:cxn>
                <a:cxn ang="0">
                  <a:pos x="354" y="44"/>
                </a:cxn>
                <a:cxn ang="0">
                  <a:pos x="380" y="32"/>
                </a:cxn>
                <a:cxn ang="0">
                  <a:pos x="380" y="32"/>
                </a:cxn>
                <a:cxn ang="0">
                  <a:pos x="406" y="22"/>
                </a:cxn>
                <a:cxn ang="0">
                  <a:pos x="424" y="12"/>
                </a:cxn>
                <a:cxn ang="0">
                  <a:pos x="442" y="0"/>
                </a:cxn>
                <a:cxn ang="0">
                  <a:pos x="442" y="0"/>
                </a:cxn>
                <a:cxn ang="0">
                  <a:pos x="442" y="0"/>
                </a:cxn>
                <a:cxn ang="0">
                  <a:pos x="422" y="2"/>
                </a:cxn>
                <a:cxn ang="0">
                  <a:pos x="400" y="8"/>
                </a:cxn>
                <a:cxn ang="0">
                  <a:pos x="374" y="20"/>
                </a:cxn>
                <a:cxn ang="0">
                  <a:pos x="374" y="20"/>
                </a:cxn>
                <a:cxn ang="0">
                  <a:pos x="350" y="30"/>
                </a:cxn>
                <a:cxn ang="0">
                  <a:pos x="326" y="36"/>
                </a:cxn>
                <a:cxn ang="0">
                  <a:pos x="270" y="44"/>
                </a:cxn>
                <a:cxn ang="0">
                  <a:pos x="270" y="44"/>
                </a:cxn>
                <a:cxn ang="0">
                  <a:pos x="254" y="48"/>
                </a:cxn>
                <a:cxn ang="0">
                  <a:pos x="238" y="54"/>
                </a:cxn>
                <a:cxn ang="0">
                  <a:pos x="224" y="62"/>
                </a:cxn>
                <a:cxn ang="0">
                  <a:pos x="210" y="70"/>
                </a:cxn>
                <a:cxn ang="0">
                  <a:pos x="186" y="86"/>
                </a:cxn>
                <a:cxn ang="0">
                  <a:pos x="166" y="102"/>
                </a:cxn>
                <a:cxn ang="0">
                  <a:pos x="166" y="102"/>
                </a:cxn>
                <a:cxn ang="0">
                  <a:pos x="146" y="114"/>
                </a:cxn>
                <a:cxn ang="0">
                  <a:pos x="124" y="122"/>
                </a:cxn>
                <a:cxn ang="0">
                  <a:pos x="102" y="128"/>
                </a:cxn>
                <a:cxn ang="0">
                  <a:pos x="76" y="132"/>
                </a:cxn>
                <a:cxn ang="0">
                  <a:pos x="76" y="132"/>
                </a:cxn>
                <a:cxn ang="0">
                  <a:pos x="62" y="136"/>
                </a:cxn>
                <a:cxn ang="0">
                  <a:pos x="48" y="140"/>
                </a:cxn>
                <a:cxn ang="0">
                  <a:pos x="24" y="152"/>
                </a:cxn>
                <a:cxn ang="0">
                  <a:pos x="8" y="162"/>
                </a:cxn>
                <a:cxn ang="0">
                  <a:pos x="0" y="166"/>
                </a:cxn>
                <a:cxn ang="0">
                  <a:pos x="12" y="194"/>
                </a:cxn>
              </a:cxnLst>
              <a:rect l="0" t="0" r="r" b="b"/>
              <a:pathLst>
                <a:path w="442" h="194">
                  <a:moveTo>
                    <a:pt x="12" y="194"/>
                  </a:moveTo>
                  <a:lnTo>
                    <a:pt x="12" y="194"/>
                  </a:lnTo>
                  <a:lnTo>
                    <a:pt x="20" y="192"/>
                  </a:lnTo>
                  <a:lnTo>
                    <a:pt x="40" y="188"/>
                  </a:lnTo>
                  <a:lnTo>
                    <a:pt x="64" y="178"/>
                  </a:lnTo>
                  <a:lnTo>
                    <a:pt x="76" y="172"/>
                  </a:lnTo>
                  <a:lnTo>
                    <a:pt x="88" y="164"/>
                  </a:lnTo>
                  <a:lnTo>
                    <a:pt x="88" y="164"/>
                  </a:lnTo>
                  <a:lnTo>
                    <a:pt x="110" y="150"/>
                  </a:lnTo>
                  <a:lnTo>
                    <a:pt x="130" y="138"/>
                  </a:lnTo>
                  <a:lnTo>
                    <a:pt x="152" y="128"/>
                  </a:lnTo>
                  <a:lnTo>
                    <a:pt x="174" y="122"/>
                  </a:lnTo>
                  <a:lnTo>
                    <a:pt x="174" y="122"/>
                  </a:lnTo>
                  <a:lnTo>
                    <a:pt x="200" y="118"/>
                  </a:lnTo>
                  <a:lnTo>
                    <a:pt x="230" y="114"/>
                  </a:lnTo>
                  <a:lnTo>
                    <a:pt x="244" y="110"/>
                  </a:lnTo>
                  <a:lnTo>
                    <a:pt x="260" y="106"/>
                  </a:lnTo>
                  <a:lnTo>
                    <a:pt x="274" y="98"/>
                  </a:lnTo>
                  <a:lnTo>
                    <a:pt x="288" y="90"/>
                  </a:lnTo>
                  <a:lnTo>
                    <a:pt x="288" y="90"/>
                  </a:lnTo>
                  <a:lnTo>
                    <a:pt x="334" y="56"/>
                  </a:lnTo>
                  <a:lnTo>
                    <a:pt x="354" y="44"/>
                  </a:lnTo>
                  <a:lnTo>
                    <a:pt x="380" y="32"/>
                  </a:lnTo>
                  <a:lnTo>
                    <a:pt x="380" y="32"/>
                  </a:lnTo>
                  <a:lnTo>
                    <a:pt x="406" y="22"/>
                  </a:lnTo>
                  <a:lnTo>
                    <a:pt x="424" y="12"/>
                  </a:lnTo>
                  <a:lnTo>
                    <a:pt x="442" y="0"/>
                  </a:lnTo>
                  <a:lnTo>
                    <a:pt x="442" y="0"/>
                  </a:lnTo>
                  <a:lnTo>
                    <a:pt x="442" y="0"/>
                  </a:lnTo>
                  <a:lnTo>
                    <a:pt x="422" y="2"/>
                  </a:lnTo>
                  <a:lnTo>
                    <a:pt x="400" y="8"/>
                  </a:lnTo>
                  <a:lnTo>
                    <a:pt x="374" y="20"/>
                  </a:lnTo>
                  <a:lnTo>
                    <a:pt x="374" y="20"/>
                  </a:lnTo>
                  <a:lnTo>
                    <a:pt x="350" y="30"/>
                  </a:lnTo>
                  <a:lnTo>
                    <a:pt x="326" y="36"/>
                  </a:lnTo>
                  <a:lnTo>
                    <a:pt x="270" y="44"/>
                  </a:lnTo>
                  <a:lnTo>
                    <a:pt x="270" y="44"/>
                  </a:lnTo>
                  <a:lnTo>
                    <a:pt x="254" y="48"/>
                  </a:lnTo>
                  <a:lnTo>
                    <a:pt x="238" y="54"/>
                  </a:lnTo>
                  <a:lnTo>
                    <a:pt x="224" y="62"/>
                  </a:lnTo>
                  <a:lnTo>
                    <a:pt x="210" y="70"/>
                  </a:lnTo>
                  <a:lnTo>
                    <a:pt x="186" y="86"/>
                  </a:lnTo>
                  <a:lnTo>
                    <a:pt x="166" y="102"/>
                  </a:lnTo>
                  <a:lnTo>
                    <a:pt x="166" y="102"/>
                  </a:lnTo>
                  <a:lnTo>
                    <a:pt x="146" y="114"/>
                  </a:lnTo>
                  <a:lnTo>
                    <a:pt x="124" y="122"/>
                  </a:lnTo>
                  <a:lnTo>
                    <a:pt x="102" y="128"/>
                  </a:lnTo>
                  <a:lnTo>
                    <a:pt x="76" y="132"/>
                  </a:lnTo>
                  <a:lnTo>
                    <a:pt x="76" y="132"/>
                  </a:lnTo>
                  <a:lnTo>
                    <a:pt x="62" y="136"/>
                  </a:lnTo>
                  <a:lnTo>
                    <a:pt x="48" y="140"/>
                  </a:lnTo>
                  <a:lnTo>
                    <a:pt x="24" y="152"/>
                  </a:lnTo>
                  <a:lnTo>
                    <a:pt x="8" y="162"/>
                  </a:lnTo>
                  <a:lnTo>
                    <a:pt x="0" y="166"/>
                  </a:lnTo>
                  <a:lnTo>
                    <a:pt x="12" y="19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8" name="Freeform 155"/>
            <p:cNvSpPr/>
            <p:nvPr/>
          </p:nvSpPr>
          <p:spPr bwMode="auto">
            <a:xfrm>
              <a:off x="4959350" y="3203575"/>
              <a:ext cx="155575" cy="66675"/>
            </a:xfrm>
            <a:custGeom>
              <a:avLst/>
              <a:gdLst/>
              <a:ahLst/>
              <a:cxnLst>
                <a:cxn ang="0">
                  <a:pos x="44" y="10"/>
                </a:cxn>
                <a:cxn ang="0">
                  <a:pos x="44" y="10"/>
                </a:cxn>
                <a:cxn ang="0">
                  <a:pos x="30" y="18"/>
                </a:cxn>
                <a:cxn ang="0">
                  <a:pos x="16" y="26"/>
                </a:cxn>
                <a:cxn ang="0">
                  <a:pos x="6" y="34"/>
                </a:cxn>
                <a:cxn ang="0">
                  <a:pos x="0" y="42"/>
                </a:cxn>
                <a:cxn ang="0">
                  <a:pos x="0" y="42"/>
                </a:cxn>
                <a:cxn ang="0">
                  <a:pos x="10" y="42"/>
                </a:cxn>
                <a:cxn ang="0">
                  <a:pos x="22" y="40"/>
                </a:cxn>
                <a:cxn ang="0">
                  <a:pos x="38" y="36"/>
                </a:cxn>
                <a:cxn ang="0">
                  <a:pos x="54" y="30"/>
                </a:cxn>
                <a:cxn ang="0">
                  <a:pos x="54" y="30"/>
                </a:cxn>
                <a:cxn ang="0">
                  <a:pos x="68" y="24"/>
                </a:cxn>
                <a:cxn ang="0">
                  <a:pos x="82" y="16"/>
                </a:cxn>
                <a:cxn ang="0">
                  <a:pos x="92" y="8"/>
                </a:cxn>
                <a:cxn ang="0">
                  <a:pos x="98" y="0"/>
                </a:cxn>
                <a:cxn ang="0">
                  <a:pos x="98" y="0"/>
                </a:cxn>
                <a:cxn ang="0">
                  <a:pos x="88" y="0"/>
                </a:cxn>
                <a:cxn ang="0">
                  <a:pos x="76" y="2"/>
                </a:cxn>
                <a:cxn ang="0">
                  <a:pos x="60" y="6"/>
                </a:cxn>
                <a:cxn ang="0">
                  <a:pos x="44" y="10"/>
                </a:cxn>
                <a:cxn ang="0">
                  <a:pos x="44" y="10"/>
                </a:cxn>
              </a:cxnLst>
              <a:rect l="0" t="0" r="r" b="b"/>
              <a:pathLst>
                <a:path w="98" h="42">
                  <a:moveTo>
                    <a:pt x="44" y="10"/>
                  </a:moveTo>
                  <a:lnTo>
                    <a:pt x="44" y="10"/>
                  </a:lnTo>
                  <a:lnTo>
                    <a:pt x="30" y="18"/>
                  </a:lnTo>
                  <a:lnTo>
                    <a:pt x="16" y="26"/>
                  </a:lnTo>
                  <a:lnTo>
                    <a:pt x="6" y="34"/>
                  </a:lnTo>
                  <a:lnTo>
                    <a:pt x="0" y="42"/>
                  </a:lnTo>
                  <a:lnTo>
                    <a:pt x="0" y="42"/>
                  </a:lnTo>
                  <a:lnTo>
                    <a:pt x="10" y="42"/>
                  </a:lnTo>
                  <a:lnTo>
                    <a:pt x="22" y="40"/>
                  </a:lnTo>
                  <a:lnTo>
                    <a:pt x="38" y="36"/>
                  </a:lnTo>
                  <a:lnTo>
                    <a:pt x="54" y="30"/>
                  </a:lnTo>
                  <a:lnTo>
                    <a:pt x="54" y="30"/>
                  </a:lnTo>
                  <a:lnTo>
                    <a:pt x="68" y="24"/>
                  </a:lnTo>
                  <a:lnTo>
                    <a:pt x="82" y="16"/>
                  </a:lnTo>
                  <a:lnTo>
                    <a:pt x="92" y="8"/>
                  </a:lnTo>
                  <a:lnTo>
                    <a:pt x="98" y="0"/>
                  </a:lnTo>
                  <a:lnTo>
                    <a:pt x="98" y="0"/>
                  </a:lnTo>
                  <a:lnTo>
                    <a:pt x="88" y="0"/>
                  </a:lnTo>
                  <a:lnTo>
                    <a:pt x="76" y="2"/>
                  </a:lnTo>
                  <a:lnTo>
                    <a:pt x="60" y="6"/>
                  </a:lnTo>
                  <a:lnTo>
                    <a:pt x="44" y="10"/>
                  </a:lnTo>
                  <a:lnTo>
                    <a:pt x="44" y="1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9" name="Freeform 156"/>
            <p:cNvSpPr/>
            <p:nvPr/>
          </p:nvSpPr>
          <p:spPr bwMode="auto">
            <a:xfrm>
              <a:off x="4616450" y="3419475"/>
              <a:ext cx="768350" cy="346075"/>
            </a:xfrm>
            <a:custGeom>
              <a:avLst/>
              <a:gdLst/>
              <a:ahLst/>
              <a:cxnLst>
                <a:cxn ang="0">
                  <a:pos x="462" y="198"/>
                </a:cxn>
                <a:cxn ang="0">
                  <a:pos x="444" y="186"/>
                </a:cxn>
                <a:cxn ang="0">
                  <a:pos x="398" y="164"/>
                </a:cxn>
                <a:cxn ang="0">
                  <a:pos x="398" y="164"/>
                </a:cxn>
                <a:cxn ang="0">
                  <a:pos x="364" y="148"/>
                </a:cxn>
                <a:cxn ang="0">
                  <a:pos x="308" y="108"/>
                </a:cxn>
                <a:cxn ang="0">
                  <a:pos x="296" y="100"/>
                </a:cxn>
                <a:cxn ang="0">
                  <a:pos x="260" y="86"/>
                </a:cxn>
                <a:cxn ang="0">
                  <a:pos x="212" y="78"/>
                </a:cxn>
                <a:cxn ang="0">
                  <a:pos x="190" y="74"/>
                </a:cxn>
                <a:cxn ang="0">
                  <a:pos x="150" y="60"/>
                </a:cxn>
                <a:cxn ang="0">
                  <a:pos x="110" y="34"/>
                </a:cxn>
                <a:cxn ang="0">
                  <a:pos x="96" y="26"/>
                </a:cxn>
                <a:cxn ang="0">
                  <a:pos x="58" y="10"/>
                </a:cxn>
                <a:cxn ang="0">
                  <a:pos x="28" y="2"/>
                </a:cxn>
                <a:cxn ang="0">
                  <a:pos x="16" y="8"/>
                </a:cxn>
                <a:cxn ang="0">
                  <a:pos x="8" y="48"/>
                </a:cxn>
                <a:cxn ang="0">
                  <a:pos x="16" y="54"/>
                </a:cxn>
                <a:cxn ang="0">
                  <a:pos x="60" y="76"/>
                </a:cxn>
                <a:cxn ang="0">
                  <a:pos x="88" y="84"/>
                </a:cxn>
                <a:cxn ang="0">
                  <a:pos x="114" y="88"/>
                </a:cxn>
                <a:cxn ang="0">
                  <a:pos x="156" y="102"/>
                </a:cxn>
                <a:cxn ang="0">
                  <a:pos x="192" y="126"/>
                </a:cxn>
                <a:cxn ang="0">
                  <a:pos x="212" y="140"/>
                </a:cxn>
                <a:cxn ang="0">
                  <a:pos x="256" y="164"/>
                </a:cxn>
                <a:cxn ang="0">
                  <a:pos x="282" y="172"/>
                </a:cxn>
                <a:cxn ang="0">
                  <a:pos x="314" y="176"/>
                </a:cxn>
                <a:cxn ang="0">
                  <a:pos x="366" y="188"/>
                </a:cxn>
                <a:cxn ang="0">
                  <a:pos x="384" y="196"/>
                </a:cxn>
                <a:cxn ang="0">
                  <a:pos x="434" y="214"/>
                </a:cxn>
                <a:cxn ang="0">
                  <a:pos x="456" y="216"/>
                </a:cxn>
                <a:cxn ang="0">
                  <a:pos x="462" y="198"/>
                </a:cxn>
              </a:cxnLst>
              <a:rect l="0" t="0" r="r" b="b"/>
              <a:pathLst>
                <a:path w="484" h="218">
                  <a:moveTo>
                    <a:pt x="462" y="198"/>
                  </a:moveTo>
                  <a:lnTo>
                    <a:pt x="462" y="198"/>
                  </a:lnTo>
                  <a:lnTo>
                    <a:pt x="458" y="194"/>
                  </a:lnTo>
                  <a:lnTo>
                    <a:pt x="444" y="186"/>
                  </a:lnTo>
                  <a:lnTo>
                    <a:pt x="424" y="174"/>
                  </a:lnTo>
                  <a:lnTo>
                    <a:pt x="398" y="164"/>
                  </a:lnTo>
                  <a:lnTo>
                    <a:pt x="398" y="164"/>
                  </a:lnTo>
                  <a:lnTo>
                    <a:pt x="398" y="164"/>
                  </a:lnTo>
                  <a:lnTo>
                    <a:pt x="380" y="156"/>
                  </a:lnTo>
                  <a:lnTo>
                    <a:pt x="364" y="148"/>
                  </a:lnTo>
                  <a:lnTo>
                    <a:pt x="336" y="128"/>
                  </a:lnTo>
                  <a:lnTo>
                    <a:pt x="308" y="108"/>
                  </a:lnTo>
                  <a:lnTo>
                    <a:pt x="308" y="108"/>
                  </a:lnTo>
                  <a:lnTo>
                    <a:pt x="296" y="100"/>
                  </a:lnTo>
                  <a:lnTo>
                    <a:pt x="284" y="94"/>
                  </a:lnTo>
                  <a:lnTo>
                    <a:pt x="260" y="86"/>
                  </a:lnTo>
                  <a:lnTo>
                    <a:pt x="236" y="80"/>
                  </a:lnTo>
                  <a:lnTo>
                    <a:pt x="212" y="78"/>
                  </a:lnTo>
                  <a:lnTo>
                    <a:pt x="190" y="74"/>
                  </a:lnTo>
                  <a:lnTo>
                    <a:pt x="190" y="74"/>
                  </a:lnTo>
                  <a:lnTo>
                    <a:pt x="170" y="68"/>
                  </a:lnTo>
                  <a:lnTo>
                    <a:pt x="150" y="60"/>
                  </a:lnTo>
                  <a:lnTo>
                    <a:pt x="130" y="48"/>
                  </a:lnTo>
                  <a:lnTo>
                    <a:pt x="110" y="34"/>
                  </a:lnTo>
                  <a:lnTo>
                    <a:pt x="110" y="34"/>
                  </a:lnTo>
                  <a:lnTo>
                    <a:pt x="96" y="26"/>
                  </a:lnTo>
                  <a:lnTo>
                    <a:pt x="84" y="20"/>
                  </a:lnTo>
                  <a:lnTo>
                    <a:pt x="58" y="10"/>
                  </a:lnTo>
                  <a:lnTo>
                    <a:pt x="38" y="4"/>
                  </a:lnTo>
                  <a:lnTo>
                    <a:pt x="28" y="2"/>
                  </a:lnTo>
                  <a:lnTo>
                    <a:pt x="18" y="0"/>
                  </a:lnTo>
                  <a:lnTo>
                    <a:pt x="16" y="8"/>
                  </a:lnTo>
                  <a:lnTo>
                    <a:pt x="0" y="44"/>
                  </a:lnTo>
                  <a:lnTo>
                    <a:pt x="8" y="48"/>
                  </a:lnTo>
                  <a:lnTo>
                    <a:pt x="8" y="48"/>
                  </a:lnTo>
                  <a:lnTo>
                    <a:pt x="16" y="54"/>
                  </a:lnTo>
                  <a:lnTo>
                    <a:pt x="34" y="64"/>
                  </a:lnTo>
                  <a:lnTo>
                    <a:pt x="60" y="76"/>
                  </a:lnTo>
                  <a:lnTo>
                    <a:pt x="74" y="80"/>
                  </a:lnTo>
                  <a:lnTo>
                    <a:pt x="88" y="84"/>
                  </a:lnTo>
                  <a:lnTo>
                    <a:pt x="88" y="84"/>
                  </a:lnTo>
                  <a:lnTo>
                    <a:pt x="114" y="88"/>
                  </a:lnTo>
                  <a:lnTo>
                    <a:pt x="136" y="94"/>
                  </a:lnTo>
                  <a:lnTo>
                    <a:pt x="156" y="102"/>
                  </a:lnTo>
                  <a:lnTo>
                    <a:pt x="174" y="112"/>
                  </a:lnTo>
                  <a:lnTo>
                    <a:pt x="192" y="126"/>
                  </a:lnTo>
                  <a:lnTo>
                    <a:pt x="192" y="126"/>
                  </a:lnTo>
                  <a:lnTo>
                    <a:pt x="212" y="140"/>
                  </a:lnTo>
                  <a:lnTo>
                    <a:pt x="232" y="154"/>
                  </a:lnTo>
                  <a:lnTo>
                    <a:pt x="256" y="164"/>
                  </a:lnTo>
                  <a:lnTo>
                    <a:pt x="268" y="168"/>
                  </a:lnTo>
                  <a:lnTo>
                    <a:pt x="282" y="172"/>
                  </a:lnTo>
                  <a:lnTo>
                    <a:pt x="314" y="176"/>
                  </a:lnTo>
                  <a:lnTo>
                    <a:pt x="314" y="176"/>
                  </a:lnTo>
                  <a:lnTo>
                    <a:pt x="350" y="182"/>
                  </a:lnTo>
                  <a:lnTo>
                    <a:pt x="366" y="188"/>
                  </a:lnTo>
                  <a:lnTo>
                    <a:pt x="384" y="196"/>
                  </a:lnTo>
                  <a:lnTo>
                    <a:pt x="384" y="196"/>
                  </a:lnTo>
                  <a:lnTo>
                    <a:pt x="410" y="206"/>
                  </a:lnTo>
                  <a:lnTo>
                    <a:pt x="434" y="214"/>
                  </a:lnTo>
                  <a:lnTo>
                    <a:pt x="448" y="216"/>
                  </a:lnTo>
                  <a:lnTo>
                    <a:pt x="456" y="216"/>
                  </a:lnTo>
                  <a:lnTo>
                    <a:pt x="484" y="218"/>
                  </a:lnTo>
                  <a:lnTo>
                    <a:pt x="462" y="19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0" name="Freeform 157"/>
            <p:cNvSpPr/>
            <p:nvPr/>
          </p:nvSpPr>
          <p:spPr bwMode="auto">
            <a:xfrm>
              <a:off x="4638675" y="3438525"/>
              <a:ext cx="701675" cy="307975"/>
            </a:xfrm>
            <a:custGeom>
              <a:avLst/>
              <a:gdLst/>
              <a:ahLst/>
              <a:cxnLst>
                <a:cxn ang="0">
                  <a:pos x="0" y="28"/>
                </a:cxn>
                <a:cxn ang="0">
                  <a:pos x="0" y="28"/>
                </a:cxn>
                <a:cxn ang="0">
                  <a:pos x="8" y="32"/>
                </a:cxn>
                <a:cxn ang="0">
                  <a:pos x="24" y="42"/>
                </a:cxn>
                <a:cxn ang="0">
                  <a:pos x="48" y="54"/>
                </a:cxn>
                <a:cxn ang="0">
                  <a:pos x="62" y="58"/>
                </a:cxn>
                <a:cxn ang="0">
                  <a:pos x="76" y="62"/>
                </a:cxn>
                <a:cxn ang="0">
                  <a:pos x="76" y="62"/>
                </a:cxn>
                <a:cxn ang="0">
                  <a:pos x="102" y="66"/>
                </a:cxn>
                <a:cxn ang="0">
                  <a:pos x="124" y="72"/>
                </a:cxn>
                <a:cxn ang="0">
                  <a:pos x="146" y="80"/>
                </a:cxn>
                <a:cxn ang="0">
                  <a:pos x="166" y="92"/>
                </a:cxn>
                <a:cxn ang="0">
                  <a:pos x="166" y="92"/>
                </a:cxn>
                <a:cxn ang="0">
                  <a:pos x="186" y="108"/>
                </a:cxn>
                <a:cxn ang="0">
                  <a:pos x="210" y="124"/>
                </a:cxn>
                <a:cxn ang="0">
                  <a:pos x="224" y="132"/>
                </a:cxn>
                <a:cxn ang="0">
                  <a:pos x="238" y="140"/>
                </a:cxn>
                <a:cxn ang="0">
                  <a:pos x="254" y="146"/>
                </a:cxn>
                <a:cxn ang="0">
                  <a:pos x="270" y="150"/>
                </a:cxn>
                <a:cxn ang="0">
                  <a:pos x="270" y="150"/>
                </a:cxn>
                <a:cxn ang="0">
                  <a:pos x="326" y="158"/>
                </a:cxn>
                <a:cxn ang="0">
                  <a:pos x="350" y="164"/>
                </a:cxn>
                <a:cxn ang="0">
                  <a:pos x="374" y="174"/>
                </a:cxn>
                <a:cxn ang="0">
                  <a:pos x="374" y="174"/>
                </a:cxn>
                <a:cxn ang="0">
                  <a:pos x="400" y="186"/>
                </a:cxn>
                <a:cxn ang="0">
                  <a:pos x="422" y="192"/>
                </a:cxn>
                <a:cxn ang="0">
                  <a:pos x="442" y="194"/>
                </a:cxn>
                <a:cxn ang="0">
                  <a:pos x="442" y="194"/>
                </a:cxn>
                <a:cxn ang="0">
                  <a:pos x="442" y="194"/>
                </a:cxn>
                <a:cxn ang="0">
                  <a:pos x="424" y="182"/>
                </a:cxn>
                <a:cxn ang="0">
                  <a:pos x="406" y="172"/>
                </a:cxn>
                <a:cxn ang="0">
                  <a:pos x="380" y="162"/>
                </a:cxn>
                <a:cxn ang="0">
                  <a:pos x="380" y="162"/>
                </a:cxn>
                <a:cxn ang="0">
                  <a:pos x="354" y="150"/>
                </a:cxn>
                <a:cxn ang="0">
                  <a:pos x="334" y="138"/>
                </a:cxn>
                <a:cxn ang="0">
                  <a:pos x="288" y="104"/>
                </a:cxn>
                <a:cxn ang="0">
                  <a:pos x="288" y="104"/>
                </a:cxn>
                <a:cxn ang="0">
                  <a:pos x="274" y="96"/>
                </a:cxn>
                <a:cxn ang="0">
                  <a:pos x="260" y="88"/>
                </a:cxn>
                <a:cxn ang="0">
                  <a:pos x="244" y="84"/>
                </a:cxn>
                <a:cxn ang="0">
                  <a:pos x="230" y="80"/>
                </a:cxn>
                <a:cxn ang="0">
                  <a:pos x="200" y="76"/>
                </a:cxn>
                <a:cxn ang="0">
                  <a:pos x="174" y="72"/>
                </a:cxn>
                <a:cxn ang="0">
                  <a:pos x="174" y="72"/>
                </a:cxn>
                <a:cxn ang="0">
                  <a:pos x="152" y="66"/>
                </a:cxn>
                <a:cxn ang="0">
                  <a:pos x="130" y="56"/>
                </a:cxn>
                <a:cxn ang="0">
                  <a:pos x="110" y="44"/>
                </a:cxn>
                <a:cxn ang="0">
                  <a:pos x="88" y="30"/>
                </a:cxn>
                <a:cxn ang="0">
                  <a:pos x="88" y="30"/>
                </a:cxn>
                <a:cxn ang="0">
                  <a:pos x="76" y="22"/>
                </a:cxn>
                <a:cxn ang="0">
                  <a:pos x="64" y="16"/>
                </a:cxn>
                <a:cxn ang="0">
                  <a:pos x="40" y="6"/>
                </a:cxn>
                <a:cxn ang="0">
                  <a:pos x="20" y="2"/>
                </a:cxn>
                <a:cxn ang="0">
                  <a:pos x="12" y="0"/>
                </a:cxn>
                <a:cxn ang="0">
                  <a:pos x="0" y="28"/>
                </a:cxn>
              </a:cxnLst>
              <a:rect l="0" t="0" r="r" b="b"/>
              <a:pathLst>
                <a:path w="442" h="194">
                  <a:moveTo>
                    <a:pt x="0" y="28"/>
                  </a:moveTo>
                  <a:lnTo>
                    <a:pt x="0" y="28"/>
                  </a:lnTo>
                  <a:lnTo>
                    <a:pt x="8" y="32"/>
                  </a:lnTo>
                  <a:lnTo>
                    <a:pt x="24" y="42"/>
                  </a:lnTo>
                  <a:lnTo>
                    <a:pt x="48" y="54"/>
                  </a:lnTo>
                  <a:lnTo>
                    <a:pt x="62" y="58"/>
                  </a:lnTo>
                  <a:lnTo>
                    <a:pt x="76" y="62"/>
                  </a:lnTo>
                  <a:lnTo>
                    <a:pt x="76" y="62"/>
                  </a:lnTo>
                  <a:lnTo>
                    <a:pt x="102" y="66"/>
                  </a:lnTo>
                  <a:lnTo>
                    <a:pt x="124" y="72"/>
                  </a:lnTo>
                  <a:lnTo>
                    <a:pt x="146" y="80"/>
                  </a:lnTo>
                  <a:lnTo>
                    <a:pt x="166" y="92"/>
                  </a:lnTo>
                  <a:lnTo>
                    <a:pt x="166" y="92"/>
                  </a:lnTo>
                  <a:lnTo>
                    <a:pt x="186" y="108"/>
                  </a:lnTo>
                  <a:lnTo>
                    <a:pt x="210" y="124"/>
                  </a:lnTo>
                  <a:lnTo>
                    <a:pt x="224" y="132"/>
                  </a:lnTo>
                  <a:lnTo>
                    <a:pt x="238" y="140"/>
                  </a:lnTo>
                  <a:lnTo>
                    <a:pt x="254" y="146"/>
                  </a:lnTo>
                  <a:lnTo>
                    <a:pt x="270" y="150"/>
                  </a:lnTo>
                  <a:lnTo>
                    <a:pt x="270" y="150"/>
                  </a:lnTo>
                  <a:lnTo>
                    <a:pt x="326" y="158"/>
                  </a:lnTo>
                  <a:lnTo>
                    <a:pt x="350" y="164"/>
                  </a:lnTo>
                  <a:lnTo>
                    <a:pt x="374" y="174"/>
                  </a:lnTo>
                  <a:lnTo>
                    <a:pt x="374" y="174"/>
                  </a:lnTo>
                  <a:lnTo>
                    <a:pt x="400" y="186"/>
                  </a:lnTo>
                  <a:lnTo>
                    <a:pt x="422" y="192"/>
                  </a:lnTo>
                  <a:lnTo>
                    <a:pt x="442" y="194"/>
                  </a:lnTo>
                  <a:lnTo>
                    <a:pt x="442" y="194"/>
                  </a:lnTo>
                  <a:lnTo>
                    <a:pt x="442" y="194"/>
                  </a:lnTo>
                  <a:lnTo>
                    <a:pt x="424" y="182"/>
                  </a:lnTo>
                  <a:lnTo>
                    <a:pt x="406" y="172"/>
                  </a:lnTo>
                  <a:lnTo>
                    <a:pt x="380" y="162"/>
                  </a:lnTo>
                  <a:lnTo>
                    <a:pt x="380" y="162"/>
                  </a:lnTo>
                  <a:lnTo>
                    <a:pt x="354" y="150"/>
                  </a:lnTo>
                  <a:lnTo>
                    <a:pt x="334" y="138"/>
                  </a:lnTo>
                  <a:lnTo>
                    <a:pt x="288" y="104"/>
                  </a:lnTo>
                  <a:lnTo>
                    <a:pt x="288" y="104"/>
                  </a:lnTo>
                  <a:lnTo>
                    <a:pt x="274" y="96"/>
                  </a:lnTo>
                  <a:lnTo>
                    <a:pt x="260" y="88"/>
                  </a:lnTo>
                  <a:lnTo>
                    <a:pt x="244" y="84"/>
                  </a:lnTo>
                  <a:lnTo>
                    <a:pt x="230" y="80"/>
                  </a:lnTo>
                  <a:lnTo>
                    <a:pt x="200" y="76"/>
                  </a:lnTo>
                  <a:lnTo>
                    <a:pt x="174" y="72"/>
                  </a:lnTo>
                  <a:lnTo>
                    <a:pt x="174" y="72"/>
                  </a:lnTo>
                  <a:lnTo>
                    <a:pt x="152" y="66"/>
                  </a:lnTo>
                  <a:lnTo>
                    <a:pt x="130" y="56"/>
                  </a:lnTo>
                  <a:lnTo>
                    <a:pt x="110" y="44"/>
                  </a:lnTo>
                  <a:lnTo>
                    <a:pt x="88" y="30"/>
                  </a:lnTo>
                  <a:lnTo>
                    <a:pt x="88" y="30"/>
                  </a:lnTo>
                  <a:lnTo>
                    <a:pt x="76" y="22"/>
                  </a:lnTo>
                  <a:lnTo>
                    <a:pt x="64" y="16"/>
                  </a:lnTo>
                  <a:lnTo>
                    <a:pt x="40" y="6"/>
                  </a:lnTo>
                  <a:lnTo>
                    <a:pt x="20" y="2"/>
                  </a:lnTo>
                  <a:lnTo>
                    <a:pt x="12" y="0"/>
                  </a:lnTo>
                  <a:lnTo>
                    <a:pt x="0" y="28"/>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1" name="Freeform 158"/>
            <p:cNvSpPr/>
            <p:nvPr/>
          </p:nvSpPr>
          <p:spPr bwMode="auto">
            <a:xfrm>
              <a:off x="4959350" y="3587750"/>
              <a:ext cx="155575" cy="66675"/>
            </a:xfrm>
            <a:custGeom>
              <a:avLst/>
              <a:gdLst/>
              <a:ahLst/>
              <a:cxnLst>
                <a:cxn ang="0">
                  <a:pos x="54" y="12"/>
                </a:cxn>
                <a:cxn ang="0">
                  <a:pos x="54" y="12"/>
                </a:cxn>
                <a:cxn ang="0">
                  <a:pos x="38" y="6"/>
                </a:cxn>
                <a:cxn ang="0">
                  <a:pos x="22" y="2"/>
                </a:cxn>
                <a:cxn ang="0">
                  <a:pos x="10" y="0"/>
                </a:cxn>
                <a:cxn ang="0">
                  <a:pos x="0" y="0"/>
                </a:cxn>
                <a:cxn ang="0">
                  <a:pos x="0" y="0"/>
                </a:cxn>
                <a:cxn ang="0">
                  <a:pos x="6" y="8"/>
                </a:cxn>
                <a:cxn ang="0">
                  <a:pos x="16" y="16"/>
                </a:cxn>
                <a:cxn ang="0">
                  <a:pos x="30" y="24"/>
                </a:cxn>
                <a:cxn ang="0">
                  <a:pos x="44" y="32"/>
                </a:cxn>
                <a:cxn ang="0">
                  <a:pos x="44" y="32"/>
                </a:cxn>
                <a:cxn ang="0">
                  <a:pos x="60" y="36"/>
                </a:cxn>
                <a:cxn ang="0">
                  <a:pos x="76" y="40"/>
                </a:cxn>
                <a:cxn ang="0">
                  <a:pos x="88" y="42"/>
                </a:cxn>
                <a:cxn ang="0">
                  <a:pos x="98" y="42"/>
                </a:cxn>
                <a:cxn ang="0">
                  <a:pos x="98" y="42"/>
                </a:cxn>
                <a:cxn ang="0">
                  <a:pos x="92" y="34"/>
                </a:cxn>
                <a:cxn ang="0">
                  <a:pos x="82" y="26"/>
                </a:cxn>
                <a:cxn ang="0">
                  <a:pos x="68" y="18"/>
                </a:cxn>
                <a:cxn ang="0">
                  <a:pos x="54" y="12"/>
                </a:cxn>
                <a:cxn ang="0">
                  <a:pos x="54" y="12"/>
                </a:cxn>
              </a:cxnLst>
              <a:rect l="0" t="0" r="r" b="b"/>
              <a:pathLst>
                <a:path w="98" h="42">
                  <a:moveTo>
                    <a:pt x="54" y="12"/>
                  </a:moveTo>
                  <a:lnTo>
                    <a:pt x="54" y="12"/>
                  </a:lnTo>
                  <a:lnTo>
                    <a:pt x="38" y="6"/>
                  </a:lnTo>
                  <a:lnTo>
                    <a:pt x="22" y="2"/>
                  </a:lnTo>
                  <a:lnTo>
                    <a:pt x="10" y="0"/>
                  </a:lnTo>
                  <a:lnTo>
                    <a:pt x="0" y="0"/>
                  </a:lnTo>
                  <a:lnTo>
                    <a:pt x="0" y="0"/>
                  </a:lnTo>
                  <a:lnTo>
                    <a:pt x="6" y="8"/>
                  </a:lnTo>
                  <a:lnTo>
                    <a:pt x="16" y="16"/>
                  </a:lnTo>
                  <a:lnTo>
                    <a:pt x="30" y="24"/>
                  </a:lnTo>
                  <a:lnTo>
                    <a:pt x="44" y="32"/>
                  </a:lnTo>
                  <a:lnTo>
                    <a:pt x="44" y="32"/>
                  </a:lnTo>
                  <a:lnTo>
                    <a:pt x="60" y="36"/>
                  </a:lnTo>
                  <a:lnTo>
                    <a:pt x="76" y="40"/>
                  </a:lnTo>
                  <a:lnTo>
                    <a:pt x="88" y="42"/>
                  </a:lnTo>
                  <a:lnTo>
                    <a:pt x="98" y="42"/>
                  </a:lnTo>
                  <a:lnTo>
                    <a:pt x="98" y="42"/>
                  </a:lnTo>
                  <a:lnTo>
                    <a:pt x="92" y="34"/>
                  </a:lnTo>
                  <a:lnTo>
                    <a:pt x="82" y="26"/>
                  </a:lnTo>
                  <a:lnTo>
                    <a:pt x="68" y="18"/>
                  </a:lnTo>
                  <a:lnTo>
                    <a:pt x="54" y="12"/>
                  </a:lnTo>
                  <a:lnTo>
                    <a:pt x="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2" name="Freeform 159"/>
            <p:cNvSpPr/>
            <p:nvPr/>
          </p:nvSpPr>
          <p:spPr bwMode="auto">
            <a:xfrm>
              <a:off x="4562475" y="3473450"/>
              <a:ext cx="346075" cy="768350"/>
            </a:xfrm>
            <a:custGeom>
              <a:avLst/>
              <a:gdLst/>
              <a:ahLst/>
              <a:cxnLst>
                <a:cxn ang="0">
                  <a:pos x="216" y="456"/>
                </a:cxn>
                <a:cxn ang="0">
                  <a:pos x="214" y="434"/>
                </a:cxn>
                <a:cxn ang="0">
                  <a:pos x="196" y="384"/>
                </a:cxn>
                <a:cxn ang="0">
                  <a:pos x="196" y="384"/>
                </a:cxn>
                <a:cxn ang="0">
                  <a:pos x="182" y="350"/>
                </a:cxn>
                <a:cxn ang="0">
                  <a:pos x="172" y="282"/>
                </a:cxn>
                <a:cxn ang="0">
                  <a:pos x="168" y="268"/>
                </a:cxn>
                <a:cxn ang="0">
                  <a:pos x="154" y="232"/>
                </a:cxn>
                <a:cxn ang="0">
                  <a:pos x="126" y="192"/>
                </a:cxn>
                <a:cxn ang="0">
                  <a:pos x="112" y="174"/>
                </a:cxn>
                <a:cxn ang="0">
                  <a:pos x="94" y="136"/>
                </a:cxn>
                <a:cxn ang="0">
                  <a:pos x="84" y="88"/>
                </a:cxn>
                <a:cxn ang="0">
                  <a:pos x="80" y="74"/>
                </a:cxn>
                <a:cxn ang="0">
                  <a:pos x="64" y="36"/>
                </a:cxn>
                <a:cxn ang="0">
                  <a:pos x="48" y="8"/>
                </a:cxn>
                <a:cxn ang="0">
                  <a:pos x="36" y="4"/>
                </a:cxn>
                <a:cxn ang="0">
                  <a:pos x="2" y="28"/>
                </a:cxn>
                <a:cxn ang="0">
                  <a:pos x="4" y="36"/>
                </a:cxn>
                <a:cxn ang="0">
                  <a:pos x="18" y="84"/>
                </a:cxn>
                <a:cxn ang="0">
                  <a:pos x="34" y="110"/>
                </a:cxn>
                <a:cxn ang="0">
                  <a:pos x="48" y="130"/>
                </a:cxn>
                <a:cxn ang="0">
                  <a:pos x="68" y="170"/>
                </a:cxn>
                <a:cxn ang="0">
                  <a:pos x="78" y="212"/>
                </a:cxn>
                <a:cxn ang="0">
                  <a:pos x="80" y="236"/>
                </a:cxn>
                <a:cxn ang="0">
                  <a:pos x="94" y="284"/>
                </a:cxn>
                <a:cxn ang="0">
                  <a:pos x="108" y="308"/>
                </a:cxn>
                <a:cxn ang="0">
                  <a:pos x="128" y="336"/>
                </a:cxn>
                <a:cxn ang="0">
                  <a:pos x="156" y="380"/>
                </a:cxn>
                <a:cxn ang="0">
                  <a:pos x="164" y="396"/>
                </a:cxn>
                <a:cxn ang="0">
                  <a:pos x="186" y="444"/>
                </a:cxn>
                <a:cxn ang="0">
                  <a:pos x="198" y="462"/>
                </a:cxn>
                <a:cxn ang="0">
                  <a:pos x="216" y="456"/>
                </a:cxn>
              </a:cxnLst>
              <a:rect l="0" t="0" r="r" b="b"/>
              <a:pathLst>
                <a:path w="218" h="484">
                  <a:moveTo>
                    <a:pt x="216" y="456"/>
                  </a:moveTo>
                  <a:lnTo>
                    <a:pt x="216" y="456"/>
                  </a:lnTo>
                  <a:lnTo>
                    <a:pt x="216" y="448"/>
                  </a:lnTo>
                  <a:lnTo>
                    <a:pt x="214" y="434"/>
                  </a:lnTo>
                  <a:lnTo>
                    <a:pt x="206" y="410"/>
                  </a:lnTo>
                  <a:lnTo>
                    <a:pt x="196" y="384"/>
                  </a:lnTo>
                  <a:lnTo>
                    <a:pt x="196" y="384"/>
                  </a:lnTo>
                  <a:lnTo>
                    <a:pt x="196" y="384"/>
                  </a:lnTo>
                  <a:lnTo>
                    <a:pt x="188" y="366"/>
                  </a:lnTo>
                  <a:lnTo>
                    <a:pt x="182" y="350"/>
                  </a:lnTo>
                  <a:lnTo>
                    <a:pt x="176" y="314"/>
                  </a:lnTo>
                  <a:lnTo>
                    <a:pt x="172" y="282"/>
                  </a:lnTo>
                  <a:lnTo>
                    <a:pt x="172" y="282"/>
                  </a:lnTo>
                  <a:lnTo>
                    <a:pt x="168" y="268"/>
                  </a:lnTo>
                  <a:lnTo>
                    <a:pt x="164" y="256"/>
                  </a:lnTo>
                  <a:lnTo>
                    <a:pt x="154" y="232"/>
                  </a:lnTo>
                  <a:lnTo>
                    <a:pt x="140" y="212"/>
                  </a:lnTo>
                  <a:lnTo>
                    <a:pt x="126" y="192"/>
                  </a:lnTo>
                  <a:lnTo>
                    <a:pt x="112" y="174"/>
                  </a:lnTo>
                  <a:lnTo>
                    <a:pt x="112" y="174"/>
                  </a:lnTo>
                  <a:lnTo>
                    <a:pt x="102" y="156"/>
                  </a:lnTo>
                  <a:lnTo>
                    <a:pt x="94" y="136"/>
                  </a:lnTo>
                  <a:lnTo>
                    <a:pt x="88" y="114"/>
                  </a:lnTo>
                  <a:lnTo>
                    <a:pt x="84" y="88"/>
                  </a:lnTo>
                  <a:lnTo>
                    <a:pt x="84" y="88"/>
                  </a:lnTo>
                  <a:lnTo>
                    <a:pt x="80" y="74"/>
                  </a:lnTo>
                  <a:lnTo>
                    <a:pt x="76" y="60"/>
                  </a:lnTo>
                  <a:lnTo>
                    <a:pt x="64" y="36"/>
                  </a:lnTo>
                  <a:lnTo>
                    <a:pt x="54" y="18"/>
                  </a:lnTo>
                  <a:lnTo>
                    <a:pt x="48" y="8"/>
                  </a:lnTo>
                  <a:lnTo>
                    <a:pt x="44" y="0"/>
                  </a:lnTo>
                  <a:lnTo>
                    <a:pt x="36" y="4"/>
                  </a:lnTo>
                  <a:lnTo>
                    <a:pt x="0" y="18"/>
                  </a:lnTo>
                  <a:lnTo>
                    <a:pt x="2" y="28"/>
                  </a:lnTo>
                  <a:lnTo>
                    <a:pt x="2" y="28"/>
                  </a:lnTo>
                  <a:lnTo>
                    <a:pt x="4" y="36"/>
                  </a:lnTo>
                  <a:lnTo>
                    <a:pt x="10" y="56"/>
                  </a:lnTo>
                  <a:lnTo>
                    <a:pt x="18" y="84"/>
                  </a:lnTo>
                  <a:lnTo>
                    <a:pt x="26" y="96"/>
                  </a:lnTo>
                  <a:lnTo>
                    <a:pt x="34" y="110"/>
                  </a:lnTo>
                  <a:lnTo>
                    <a:pt x="34" y="110"/>
                  </a:lnTo>
                  <a:lnTo>
                    <a:pt x="48" y="130"/>
                  </a:lnTo>
                  <a:lnTo>
                    <a:pt x="60" y="150"/>
                  </a:lnTo>
                  <a:lnTo>
                    <a:pt x="68" y="170"/>
                  </a:lnTo>
                  <a:lnTo>
                    <a:pt x="74" y="190"/>
                  </a:lnTo>
                  <a:lnTo>
                    <a:pt x="78" y="212"/>
                  </a:lnTo>
                  <a:lnTo>
                    <a:pt x="78" y="212"/>
                  </a:lnTo>
                  <a:lnTo>
                    <a:pt x="80" y="236"/>
                  </a:lnTo>
                  <a:lnTo>
                    <a:pt x="86" y="260"/>
                  </a:lnTo>
                  <a:lnTo>
                    <a:pt x="94" y="284"/>
                  </a:lnTo>
                  <a:lnTo>
                    <a:pt x="100" y="296"/>
                  </a:lnTo>
                  <a:lnTo>
                    <a:pt x="108" y="308"/>
                  </a:lnTo>
                  <a:lnTo>
                    <a:pt x="128" y="336"/>
                  </a:lnTo>
                  <a:lnTo>
                    <a:pt x="128" y="336"/>
                  </a:lnTo>
                  <a:lnTo>
                    <a:pt x="148" y="364"/>
                  </a:lnTo>
                  <a:lnTo>
                    <a:pt x="156" y="380"/>
                  </a:lnTo>
                  <a:lnTo>
                    <a:pt x="164" y="396"/>
                  </a:lnTo>
                  <a:lnTo>
                    <a:pt x="164" y="396"/>
                  </a:lnTo>
                  <a:lnTo>
                    <a:pt x="174" y="424"/>
                  </a:lnTo>
                  <a:lnTo>
                    <a:pt x="186" y="444"/>
                  </a:lnTo>
                  <a:lnTo>
                    <a:pt x="194" y="458"/>
                  </a:lnTo>
                  <a:lnTo>
                    <a:pt x="198" y="462"/>
                  </a:lnTo>
                  <a:lnTo>
                    <a:pt x="218" y="484"/>
                  </a:lnTo>
                  <a:lnTo>
                    <a:pt x="216" y="45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3" name="Freeform 160"/>
            <p:cNvSpPr/>
            <p:nvPr/>
          </p:nvSpPr>
          <p:spPr bwMode="auto">
            <a:xfrm>
              <a:off x="4581525" y="3495675"/>
              <a:ext cx="307975" cy="701675"/>
            </a:xfrm>
            <a:custGeom>
              <a:avLst/>
              <a:gdLst/>
              <a:ahLst/>
              <a:cxnLst>
                <a:cxn ang="0">
                  <a:pos x="0" y="12"/>
                </a:cxn>
                <a:cxn ang="0">
                  <a:pos x="0" y="12"/>
                </a:cxn>
                <a:cxn ang="0">
                  <a:pos x="2" y="20"/>
                </a:cxn>
                <a:cxn ang="0">
                  <a:pos x="6" y="40"/>
                </a:cxn>
                <a:cxn ang="0">
                  <a:pos x="16" y="64"/>
                </a:cxn>
                <a:cxn ang="0">
                  <a:pos x="22" y="76"/>
                </a:cxn>
                <a:cxn ang="0">
                  <a:pos x="30" y="88"/>
                </a:cxn>
                <a:cxn ang="0">
                  <a:pos x="30" y="88"/>
                </a:cxn>
                <a:cxn ang="0">
                  <a:pos x="44" y="110"/>
                </a:cxn>
                <a:cxn ang="0">
                  <a:pos x="56" y="130"/>
                </a:cxn>
                <a:cxn ang="0">
                  <a:pos x="66" y="152"/>
                </a:cxn>
                <a:cxn ang="0">
                  <a:pos x="72" y="174"/>
                </a:cxn>
                <a:cxn ang="0">
                  <a:pos x="72" y="174"/>
                </a:cxn>
                <a:cxn ang="0">
                  <a:pos x="76" y="200"/>
                </a:cxn>
                <a:cxn ang="0">
                  <a:pos x="80" y="230"/>
                </a:cxn>
                <a:cxn ang="0">
                  <a:pos x="84" y="244"/>
                </a:cxn>
                <a:cxn ang="0">
                  <a:pos x="88" y="260"/>
                </a:cxn>
                <a:cxn ang="0">
                  <a:pos x="96" y="274"/>
                </a:cxn>
                <a:cxn ang="0">
                  <a:pos x="104" y="288"/>
                </a:cxn>
                <a:cxn ang="0">
                  <a:pos x="104" y="288"/>
                </a:cxn>
                <a:cxn ang="0">
                  <a:pos x="138" y="334"/>
                </a:cxn>
                <a:cxn ang="0">
                  <a:pos x="150" y="354"/>
                </a:cxn>
                <a:cxn ang="0">
                  <a:pos x="162" y="380"/>
                </a:cxn>
                <a:cxn ang="0">
                  <a:pos x="162" y="380"/>
                </a:cxn>
                <a:cxn ang="0">
                  <a:pos x="172" y="406"/>
                </a:cxn>
                <a:cxn ang="0">
                  <a:pos x="182" y="424"/>
                </a:cxn>
                <a:cxn ang="0">
                  <a:pos x="194" y="442"/>
                </a:cxn>
                <a:cxn ang="0">
                  <a:pos x="194" y="442"/>
                </a:cxn>
                <a:cxn ang="0">
                  <a:pos x="194" y="442"/>
                </a:cxn>
                <a:cxn ang="0">
                  <a:pos x="192" y="422"/>
                </a:cxn>
                <a:cxn ang="0">
                  <a:pos x="186" y="400"/>
                </a:cxn>
                <a:cxn ang="0">
                  <a:pos x="174" y="374"/>
                </a:cxn>
                <a:cxn ang="0">
                  <a:pos x="174" y="374"/>
                </a:cxn>
                <a:cxn ang="0">
                  <a:pos x="164" y="350"/>
                </a:cxn>
                <a:cxn ang="0">
                  <a:pos x="158" y="326"/>
                </a:cxn>
                <a:cxn ang="0">
                  <a:pos x="150" y="270"/>
                </a:cxn>
                <a:cxn ang="0">
                  <a:pos x="150" y="270"/>
                </a:cxn>
                <a:cxn ang="0">
                  <a:pos x="146" y="254"/>
                </a:cxn>
                <a:cxn ang="0">
                  <a:pos x="140" y="238"/>
                </a:cxn>
                <a:cxn ang="0">
                  <a:pos x="132" y="224"/>
                </a:cxn>
                <a:cxn ang="0">
                  <a:pos x="124" y="210"/>
                </a:cxn>
                <a:cxn ang="0">
                  <a:pos x="108" y="186"/>
                </a:cxn>
                <a:cxn ang="0">
                  <a:pos x="92" y="166"/>
                </a:cxn>
                <a:cxn ang="0">
                  <a:pos x="92" y="166"/>
                </a:cxn>
                <a:cxn ang="0">
                  <a:pos x="80" y="146"/>
                </a:cxn>
                <a:cxn ang="0">
                  <a:pos x="72" y="124"/>
                </a:cxn>
                <a:cxn ang="0">
                  <a:pos x="66" y="102"/>
                </a:cxn>
                <a:cxn ang="0">
                  <a:pos x="62" y="76"/>
                </a:cxn>
                <a:cxn ang="0">
                  <a:pos x="62" y="76"/>
                </a:cxn>
                <a:cxn ang="0">
                  <a:pos x="58" y="62"/>
                </a:cxn>
                <a:cxn ang="0">
                  <a:pos x="54" y="48"/>
                </a:cxn>
                <a:cxn ang="0">
                  <a:pos x="42" y="24"/>
                </a:cxn>
                <a:cxn ang="0">
                  <a:pos x="32" y="8"/>
                </a:cxn>
                <a:cxn ang="0">
                  <a:pos x="28" y="0"/>
                </a:cxn>
                <a:cxn ang="0">
                  <a:pos x="0" y="12"/>
                </a:cxn>
              </a:cxnLst>
              <a:rect l="0" t="0" r="r" b="b"/>
              <a:pathLst>
                <a:path w="194" h="442">
                  <a:moveTo>
                    <a:pt x="0" y="12"/>
                  </a:moveTo>
                  <a:lnTo>
                    <a:pt x="0" y="12"/>
                  </a:lnTo>
                  <a:lnTo>
                    <a:pt x="2" y="20"/>
                  </a:lnTo>
                  <a:lnTo>
                    <a:pt x="6" y="40"/>
                  </a:lnTo>
                  <a:lnTo>
                    <a:pt x="16" y="64"/>
                  </a:lnTo>
                  <a:lnTo>
                    <a:pt x="22" y="76"/>
                  </a:lnTo>
                  <a:lnTo>
                    <a:pt x="30" y="88"/>
                  </a:lnTo>
                  <a:lnTo>
                    <a:pt x="30" y="88"/>
                  </a:lnTo>
                  <a:lnTo>
                    <a:pt x="44" y="110"/>
                  </a:lnTo>
                  <a:lnTo>
                    <a:pt x="56" y="130"/>
                  </a:lnTo>
                  <a:lnTo>
                    <a:pt x="66" y="152"/>
                  </a:lnTo>
                  <a:lnTo>
                    <a:pt x="72" y="174"/>
                  </a:lnTo>
                  <a:lnTo>
                    <a:pt x="72" y="174"/>
                  </a:lnTo>
                  <a:lnTo>
                    <a:pt x="76" y="200"/>
                  </a:lnTo>
                  <a:lnTo>
                    <a:pt x="80" y="230"/>
                  </a:lnTo>
                  <a:lnTo>
                    <a:pt x="84" y="244"/>
                  </a:lnTo>
                  <a:lnTo>
                    <a:pt x="88" y="260"/>
                  </a:lnTo>
                  <a:lnTo>
                    <a:pt x="96" y="274"/>
                  </a:lnTo>
                  <a:lnTo>
                    <a:pt x="104" y="288"/>
                  </a:lnTo>
                  <a:lnTo>
                    <a:pt x="104" y="288"/>
                  </a:lnTo>
                  <a:lnTo>
                    <a:pt x="138" y="334"/>
                  </a:lnTo>
                  <a:lnTo>
                    <a:pt x="150" y="354"/>
                  </a:lnTo>
                  <a:lnTo>
                    <a:pt x="162" y="380"/>
                  </a:lnTo>
                  <a:lnTo>
                    <a:pt x="162" y="380"/>
                  </a:lnTo>
                  <a:lnTo>
                    <a:pt x="172" y="406"/>
                  </a:lnTo>
                  <a:lnTo>
                    <a:pt x="182" y="424"/>
                  </a:lnTo>
                  <a:lnTo>
                    <a:pt x="194" y="442"/>
                  </a:lnTo>
                  <a:lnTo>
                    <a:pt x="194" y="442"/>
                  </a:lnTo>
                  <a:lnTo>
                    <a:pt x="194" y="442"/>
                  </a:lnTo>
                  <a:lnTo>
                    <a:pt x="192" y="422"/>
                  </a:lnTo>
                  <a:lnTo>
                    <a:pt x="186" y="400"/>
                  </a:lnTo>
                  <a:lnTo>
                    <a:pt x="174" y="374"/>
                  </a:lnTo>
                  <a:lnTo>
                    <a:pt x="174" y="374"/>
                  </a:lnTo>
                  <a:lnTo>
                    <a:pt x="164" y="350"/>
                  </a:lnTo>
                  <a:lnTo>
                    <a:pt x="158" y="326"/>
                  </a:lnTo>
                  <a:lnTo>
                    <a:pt x="150" y="270"/>
                  </a:lnTo>
                  <a:lnTo>
                    <a:pt x="150" y="270"/>
                  </a:lnTo>
                  <a:lnTo>
                    <a:pt x="146" y="254"/>
                  </a:lnTo>
                  <a:lnTo>
                    <a:pt x="140" y="238"/>
                  </a:lnTo>
                  <a:lnTo>
                    <a:pt x="132" y="224"/>
                  </a:lnTo>
                  <a:lnTo>
                    <a:pt x="124" y="210"/>
                  </a:lnTo>
                  <a:lnTo>
                    <a:pt x="108" y="186"/>
                  </a:lnTo>
                  <a:lnTo>
                    <a:pt x="92" y="166"/>
                  </a:lnTo>
                  <a:lnTo>
                    <a:pt x="92" y="166"/>
                  </a:lnTo>
                  <a:lnTo>
                    <a:pt x="80" y="146"/>
                  </a:lnTo>
                  <a:lnTo>
                    <a:pt x="72" y="124"/>
                  </a:lnTo>
                  <a:lnTo>
                    <a:pt x="66" y="102"/>
                  </a:lnTo>
                  <a:lnTo>
                    <a:pt x="62" y="76"/>
                  </a:lnTo>
                  <a:lnTo>
                    <a:pt x="62" y="76"/>
                  </a:lnTo>
                  <a:lnTo>
                    <a:pt x="58" y="62"/>
                  </a:lnTo>
                  <a:lnTo>
                    <a:pt x="54" y="48"/>
                  </a:lnTo>
                  <a:lnTo>
                    <a:pt x="42" y="24"/>
                  </a:lnTo>
                  <a:lnTo>
                    <a:pt x="32" y="8"/>
                  </a:lnTo>
                  <a:lnTo>
                    <a:pt x="28" y="0"/>
                  </a:lnTo>
                  <a:lnTo>
                    <a:pt x="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4" name="Freeform 161"/>
            <p:cNvSpPr/>
            <p:nvPr/>
          </p:nvSpPr>
          <p:spPr bwMode="auto">
            <a:xfrm>
              <a:off x="4730750" y="3816350"/>
              <a:ext cx="66675" cy="155575"/>
            </a:xfrm>
            <a:custGeom>
              <a:avLst/>
              <a:gdLst/>
              <a:ahLst/>
              <a:cxnLst>
                <a:cxn ang="0">
                  <a:pos x="32" y="44"/>
                </a:cxn>
                <a:cxn ang="0">
                  <a:pos x="32" y="44"/>
                </a:cxn>
                <a:cxn ang="0">
                  <a:pos x="24" y="30"/>
                </a:cxn>
                <a:cxn ang="0">
                  <a:pos x="16" y="16"/>
                </a:cxn>
                <a:cxn ang="0">
                  <a:pos x="8" y="6"/>
                </a:cxn>
                <a:cxn ang="0">
                  <a:pos x="0" y="0"/>
                </a:cxn>
                <a:cxn ang="0">
                  <a:pos x="0" y="0"/>
                </a:cxn>
                <a:cxn ang="0">
                  <a:pos x="0" y="10"/>
                </a:cxn>
                <a:cxn ang="0">
                  <a:pos x="2" y="22"/>
                </a:cxn>
                <a:cxn ang="0">
                  <a:pos x="6" y="38"/>
                </a:cxn>
                <a:cxn ang="0">
                  <a:pos x="12" y="54"/>
                </a:cxn>
                <a:cxn ang="0">
                  <a:pos x="12" y="54"/>
                </a:cxn>
                <a:cxn ang="0">
                  <a:pos x="18" y="68"/>
                </a:cxn>
                <a:cxn ang="0">
                  <a:pos x="26" y="82"/>
                </a:cxn>
                <a:cxn ang="0">
                  <a:pos x="34" y="92"/>
                </a:cxn>
                <a:cxn ang="0">
                  <a:pos x="42" y="98"/>
                </a:cxn>
                <a:cxn ang="0">
                  <a:pos x="42" y="98"/>
                </a:cxn>
                <a:cxn ang="0">
                  <a:pos x="42" y="88"/>
                </a:cxn>
                <a:cxn ang="0">
                  <a:pos x="40" y="76"/>
                </a:cxn>
                <a:cxn ang="0">
                  <a:pos x="36" y="60"/>
                </a:cxn>
                <a:cxn ang="0">
                  <a:pos x="32" y="44"/>
                </a:cxn>
                <a:cxn ang="0">
                  <a:pos x="32" y="44"/>
                </a:cxn>
              </a:cxnLst>
              <a:rect l="0" t="0" r="r" b="b"/>
              <a:pathLst>
                <a:path w="42" h="98">
                  <a:moveTo>
                    <a:pt x="32" y="44"/>
                  </a:moveTo>
                  <a:lnTo>
                    <a:pt x="32" y="44"/>
                  </a:lnTo>
                  <a:lnTo>
                    <a:pt x="24" y="30"/>
                  </a:lnTo>
                  <a:lnTo>
                    <a:pt x="16" y="16"/>
                  </a:lnTo>
                  <a:lnTo>
                    <a:pt x="8" y="6"/>
                  </a:lnTo>
                  <a:lnTo>
                    <a:pt x="0" y="0"/>
                  </a:lnTo>
                  <a:lnTo>
                    <a:pt x="0" y="0"/>
                  </a:lnTo>
                  <a:lnTo>
                    <a:pt x="0" y="10"/>
                  </a:lnTo>
                  <a:lnTo>
                    <a:pt x="2" y="22"/>
                  </a:lnTo>
                  <a:lnTo>
                    <a:pt x="6" y="38"/>
                  </a:lnTo>
                  <a:lnTo>
                    <a:pt x="12" y="54"/>
                  </a:lnTo>
                  <a:lnTo>
                    <a:pt x="12" y="54"/>
                  </a:lnTo>
                  <a:lnTo>
                    <a:pt x="18" y="68"/>
                  </a:lnTo>
                  <a:lnTo>
                    <a:pt x="26" y="82"/>
                  </a:lnTo>
                  <a:lnTo>
                    <a:pt x="34" y="92"/>
                  </a:lnTo>
                  <a:lnTo>
                    <a:pt x="42" y="98"/>
                  </a:lnTo>
                  <a:lnTo>
                    <a:pt x="42" y="98"/>
                  </a:lnTo>
                  <a:lnTo>
                    <a:pt x="42" y="88"/>
                  </a:lnTo>
                  <a:lnTo>
                    <a:pt x="40" y="76"/>
                  </a:lnTo>
                  <a:lnTo>
                    <a:pt x="36" y="60"/>
                  </a:lnTo>
                  <a:lnTo>
                    <a:pt x="32" y="44"/>
                  </a:lnTo>
                  <a:lnTo>
                    <a:pt x="3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5" name="Freeform 162"/>
            <p:cNvSpPr/>
            <p:nvPr/>
          </p:nvSpPr>
          <p:spPr bwMode="auto">
            <a:xfrm>
              <a:off x="4235450" y="3473450"/>
              <a:ext cx="346075" cy="768350"/>
            </a:xfrm>
            <a:custGeom>
              <a:avLst/>
              <a:gdLst/>
              <a:ahLst/>
              <a:cxnLst>
                <a:cxn ang="0">
                  <a:pos x="20" y="462"/>
                </a:cxn>
                <a:cxn ang="0">
                  <a:pos x="32" y="444"/>
                </a:cxn>
                <a:cxn ang="0">
                  <a:pos x="54" y="396"/>
                </a:cxn>
                <a:cxn ang="0">
                  <a:pos x="54" y="396"/>
                </a:cxn>
                <a:cxn ang="0">
                  <a:pos x="70" y="364"/>
                </a:cxn>
                <a:cxn ang="0">
                  <a:pos x="110" y="308"/>
                </a:cxn>
                <a:cxn ang="0">
                  <a:pos x="118" y="296"/>
                </a:cxn>
                <a:cxn ang="0">
                  <a:pos x="132" y="260"/>
                </a:cxn>
                <a:cxn ang="0">
                  <a:pos x="140" y="212"/>
                </a:cxn>
                <a:cxn ang="0">
                  <a:pos x="144" y="190"/>
                </a:cxn>
                <a:cxn ang="0">
                  <a:pos x="158" y="150"/>
                </a:cxn>
                <a:cxn ang="0">
                  <a:pos x="184" y="110"/>
                </a:cxn>
                <a:cxn ang="0">
                  <a:pos x="192" y="96"/>
                </a:cxn>
                <a:cxn ang="0">
                  <a:pos x="208" y="58"/>
                </a:cxn>
                <a:cxn ang="0">
                  <a:pos x="216" y="28"/>
                </a:cxn>
                <a:cxn ang="0">
                  <a:pos x="210" y="16"/>
                </a:cxn>
                <a:cxn ang="0">
                  <a:pos x="170" y="8"/>
                </a:cxn>
                <a:cxn ang="0">
                  <a:pos x="164" y="16"/>
                </a:cxn>
                <a:cxn ang="0">
                  <a:pos x="142" y="60"/>
                </a:cxn>
                <a:cxn ang="0">
                  <a:pos x="134" y="88"/>
                </a:cxn>
                <a:cxn ang="0">
                  <a:pos x="130" y="114"/>
                </a:cxn>
                <a:cxn ang="0">
                  <a:pos x="116" y="156"/>
                </a:cxn>
                <a:cxn ang="0">
                  <a:pos x="92" y="192"/>
                </a:cxn>
                <a:cxn ang="0">
                  <a:pos x="78" y="212"/>
                </a:cxn>
                <a:cxn ang="0">
                  <a:pos x="54" y="256"/>
                </a:cxn>
                <a:cxn ang="0">
                  <a:pos x="46" y="282"/>
                </a:cxn>
                <a:cxn ang="0">
                  <a:pos x="42" y="314"/>
                </a:cxn>
                <a:cxn ang="0">
                  <a:pos x="30" y="366"/>
                </a:cxn>
                <a:cxn ang="0">
                  <a:pos x="22" y="384"/>
                </a:cxn>
                <a:cxn ang="0">
                  <a:pos x="4" y="434"/>
                </a:cxn>
                <a:cxn ang="0">
                  <a:pos x="2" y="456"/>
                </a:cxn>
                <a:cxn ang="0">
                  <a:pos x="20" y="462"/>
                </a:cxn>
              </a:cxnLst>
              <a:rect l="0" t="0" r="r" b="b"/>
              <a:pathLst>
                <a:path w="218" h="484">
                  <a:moveTo>
                    <a:pt x="20" y="462"/>
                  </a:moveTo>
                  <a:lnTo>
                    <a:pt x="20" y="462"/>
                  </a:lnTo>
                  <a:lnTo>
                    <a:pt x="24" y="458"/>
                  </a:lnTo>
                  <a:lnTo>
                    <a:pt x="32" y="444"/>
                  </a:lnTo>
                  <a:lnTo>
                    <a:pt x="44" y="424"/>
                  </a:lnTo>
                  <a:lnTo>
                    <a:pt x="54" y="396"/>
                  </a:lnTo>
                  <a:lnTo>
                    <a:pt x="54" y="396"/>
                  </a:lnTo>
                  <a:lnTo>
                    <a:pt x="54" y="396"/>
                  </a:lnTo>
                  <a:lnTo>
                    <a:pt x="62" y="380"/>
                  </a:lnTo>
                  <a:lnTo>
                    <a:pt x="70" y="364"/>
                  </a:lnTo>
                  <a:lnTo>
                    <a:pt x="90" y="336"/>
                  </a:lnTo>
                  <a:lnTo>
                    <a:pt x="110" y="308"/>
                  </a:lnTo>
                  <a:lnTo>
                    <a:pt x="110" y="308"/>
                  </a:lnTo>
                  <a:lnTo>
                    <a:pt x="118" y="296"/>
                  </a:lnTo>
                  <a:lnTo>
                    <a:pt x="124" y="284"/>
                  </a:lnTo>
                  <a:lnTo>
                    <a:pt x="132" y="260"/>
                  </a:lnTo>
                  <a:lnTo>
                    <a:pt x="138" y="236"/>
                  </a:lnTo>
                  <a:lnTo>
                    <a:pt x="140" y="212"/>
                  </a:lnTo>
                  <a:lnTo>
                    <a:pt x="144" y="190"/>
                  </a:lnTo>
                  <a:lnTo>
                    <a:pt x="144" y="190"/>
                  </a:lnTo>
                  <a:lnTo>
                    <a:pt x="150" y="170"/>
                  </a:lnTo>
                  <a:lnTo>
                    <a:pt x="158" y="150"/>
                  </a:lnTo>
                  <a:lnTo>
                    <a:pt x="170" y="130"/>
                  </a:lnTo>
                  <a:lnTo>
                    <a:pt x="184" y="110"/>
                  </a:lnTo>
                  <a:lnTo>
                    <a:pt x="184" y="110"/>
                  </a:lnTo>
                  <a:lnTo>
                    <a:pt x="192" y="96"/>
                  </a:lnTo>
                  <a:lnTo>
                    <a:pt x="198" y="84"/>
                  </a:lnTo>
                  <a:lnTo>
                    <a:pt x="208" y="58"/>
                  </a:lnTo>
                  <a:lnTo>
                    <a:pt x="214" y="38"/>
                  </a:lnTo>
                  <a:lnTo>
                    <a:pt x="216" y="28"/>
                  </a:lnTo>
                  <a:lnTo>
                    <a:pt x="218" y="18"/>
                  </a:lnTo>
                  <a:lnTo>
                    <a:pt x="210" y="16"/>
                  </a:lnTo>
                  <a:lnTo>
                    <a:pt x="174" y="0"/>
                  </a:lnTo>
                  <a:lnTo>
                    <a:pt x="170" y="8"/>
                  </a:lnTo>
                  <a:lnTo>
                    <a:pt x="170" y="8"/>
                  </a:lnTo>
                  <a:lnTo>
                    <a:pt x="164" y="16"/>
                  </a:lnTo>
                  <a:lnTo>
                    <a:pt x="154" y="34"/>
                  </a:lnTo>
                  <a:lnTo>
                    <a:pt x="142" y="60"/>
                  </a:lnTo>
                  <a:lnTo>
                    <a:pt x="138" y="74"/>
                  </a:lnTo>
                  <a:lnTo>
                    <a:pt x="134" y="88"/>
                  </a:lnTo>
                  <a:lnTo>
                    <a:pt x="134" y="88"/>
                  </a:lnTo>
                  <a:lnTo>
                    <a:pt x="130" y="114"/>
                  </a:lnTo>
                  <a:lnTo>
                    <a:pt x="124" y="136"/>
                  </a:lnTo>
                  <a:lnTo>
                    <a:pt x="116" y="156"/>
                  </a:lnTo>
                  <a:lnTo>
                    <a:pt x="106" y="174"/>
                  </a:lnTo>
                  <a:lnTo>
                    <a:pt x="92" y="192"/>
                  </a:lnTo>
                  <a:lnTo>
                    <a:pt x="92" y="192"/>
                  </a:lnTo>
                  <a:lnTo>
                    <a:pt x="78" y="212"/>
                  </a:lnTo>
                  <a:lnTo>
                    <a:pt x="64" y="232"/>
                  </a:lnTo>
                  <a:lnTo>
                    <a:pt x="54" y="256"/>
                  </a:lnTo>
                  <a:lnTo>
                    <a:pt x="50" y="268"/>
                  </a:lnTo>
                  <a:lnTo>
                    <a:pt x="46" y="282"/>
                  </a:lnTo>
                  <a:lnTo>
                    <a:pt x="42" y="314"/>
                  </a:lnTo>
                  <a:lnTo>
                    <a:pt x="42" y="314"/>
                  </a:lnTo>
                  <a:lnTo>
                    <a:pt x="36" y="350"/>
                  </a:lnTo>
                  <a:lnTo>
                    <a:pt x="30" y="366"/>
                  </a:lnTo>
                  <a:lnTo>
                    <a:pt x="22" y="384"/>
                  </a:lnTo>
                  <a:lnTo>
                    <a:pt x="22" y="384"/>
                  </a:lnTo>
                  <a:lnTo>
                    <a:pt x="12" y="410"/>
                  </a:lnTo>
                  <a:lnTo>
                    <a:pt x="4" y="434"/>
                  </a:lnTo>
                  <a:lnTo>
                    <a:pt x="2" y="448"/>
                  </a:lnTo>
                  <a:lnTo>
                    <a:pt x="2" y="456"/>
                  </a:lnTo>
                  <a:lnTo>
                    <a:pt x="0" y="484"/>
                  </a:lnTo>
                  <a:lnTo>
                    <a:pt x="20" y="46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6" name="Freeform 163"/>
            <p:cNvSpPr/>
            <p:nvPr/>
          </p:nvSpPr>
          <p:spPr bwMode="auto">
            <a:xfrm>
              <a:off x="4254500" y="3495675"/>
              <a:ext cx="307975" cy="701675"/>
            </a:xfrm>
            <a:custGeom>
              <a:avLst/>
              <a:gdLst/>
              <a:ahLst/>
              <a:cxnLst>
                <a:cxn ang="0">
                  <a:pos x="166" y="0"/>
                </a:cxn>
                <a:cxn ang="0">
                  <a:pos x="166" y="0"/>
                </a:cxn>
                <a:cxn ang="0">
                  <a:pos x="162" y="8"/>
                </a:cxn>
                <a:cxn ang="0">
                  <a:pos x="152" y="24"/>
                </a:cxn>
                <a:cxn ang="0">
                  <a:pos x="140" y="48"/>
                </a:cxn>
                <a:cxn ang="0">
                  <a:pos x="136" y="62"/>
                </a:cxn>
                <a:cxn ang="0">
                  <a:pos x="132" y="76"/>
                </a:cxn>
                <a:cxn ang="0">
                  <a:pos x="132" y="76"/>
                </a:cxn>
                <a:cxn ang="0">
                  <a:pos x="128" y="102"/>
                </a:cxn>
                <a:cxn ang="0">
                  <a:pos x="122" y="124"/>
                </a:cxn>
                <a:cxn ang="0">
                  <a:pos x="114" y="146"/>
                </a:cxn>
                <a:cxn ang="0">
                  <a:pos x="102" y="166"/>
                </a:cxn>
                <a:cxn ang="0">
                  <a:pos x="102" y="166"/>
                </a:cxn>
                <a:cxn ang="0">
                  <a:pos x="86" y="186"/>
                </a:cxn>
                <a:cxn ang="0">
                  <a:pos x="70" y="210"/>
                </a:cxn>
                <a:cxn ang="0">
                  <a:pos x="62" y="224"/>
                </a:cxn>
                <a:cxn ang="0">
                  <a:pos x="54" y="238"/>
                </a:cxn>
                <a:cxn ang="0">
                  <a:pos x="48" y="254"/>
                </a:cxn>
                <a:cxn ang="0">
                  <a:pos x="44" y="270"/>
                </a:cxn>
                <a:cxn ang="0">
                  <a:pos x="44" y="270"/>
                </a:cxn>
                <a:cxn ang="0">
                  <a:pos x="36" y="326"/>
                </a:cxn>
                <a:cxn ang="0">
                  <a:pos x="30" y="350"/>
                </a:cxn>
                <a:cxn ang="0">
                  <a:pos x="20" y="374"/>
                </a:cxn>
                <a:cxn ang="0">
                  <a:pos x="20" y="374"/>
                </a:cxn>
                <a:cxn ang="0">
                  <a:pos x="8" y="400"/>
                </a:cxn>
                <a:cxn ang="0">
                  <a:pos x="2" y="422"/>
                </a:cxn>
                <a:cxn ang="0">
                  <a:pos x="0" y="442"/>
                </a:cxn>
                <a:cxn ang="0">
                  <a:pos x="0" y="442"/>
                </a:cxn>
                <a:cxn ang="0">
                  <a:pos x="0" y="442"/>
                </a:cxn>
                <a:cxn ang="0">
                  <a:pos x="12" y="424"/>
                </a:cxn>
                <a:cxn ang="0">
                  <a:pos x="22" y="406"/>
                </a:cxn>
                <a:cxn ang="0">
                  <a:pos x="32" y="380"/>
                </a:cxn>
                <a:cxn ang="0">
                  <a:pos x="32" y="380"/>
                </a:cxn>
                <a:cxn ang="0">
                  <a:pos x="44" y="354"/>
                </a:cxn>
                <a:cxn ang="0">
                  <a:pos x="56" y="334"/>
                </a:cxn>
                <a:cxn ang="0">
                  <a:pos x="90" y="288"/>
                </a:cxn>
                <a:cxn ang="0">
                  <a:pos x="90" y="288"/>
                </a:cxn>
                <a:cxn ang="0">
                  <a:pos x="98" y="274"/>
                </a:cxn>
                <a:cxn ang="0">
                  <a:pos x="106" y="260"/>
                </a:cxn>
                <a:cxn ang="0">
                  <a:pos x="110" y="244"/>
                </a:cxn>
                <a:cxn ang="0">
                  <a:pos x="114" y="228"/>
                </a:cxn>
                <a:cxn ang="0">
                  <a:pos x="118" y="200"/>
                </a:cxn>
                <a:cxn ang="0">
                  <a:pos x="122" y="174"/>
                </a:cxn>
                <a:cxn ang="0">
                  <a:pos x="122" y="174"/>
                </a:cxn>
                <a:cxn ang="0">
                  <a:pos x="128" y="152"/>
                </a:cxn>
                <a:cxn ang="0">
                  <a:pos x="138" y="130"/>
                </a:cxn>
                <a:cxn ang="0">
                  <a:pos x="150" y="110"/>
                </a:cxn>
                <a:cxn ang="0">
                  <a:pos x="164" y="88"/>
                </a:cxn>
                <a:cxn ang="0">
                  <a:pos x="164" y="88"/>
                </a:cxn>
                <a:cxn ang="0">
                  <a:pos x="172" y="76"/>
                </a:cxn>
                <a:cxn ang="0">
                  <a:pos x="178" y="64"/>
                </a:cxn>
                <a:cxn ang="0">
                  <a:pos x="188" y="40"/>
                </a:cxn>
                <a:cxn ang="0">
                  <a:pos x="192" y="20"/>
                </a:cxn>
                <a:cxn ang="0">
                  <a:pos x="194" y="12"/>
                </a:cxn>
                <a:cxn ang="0">
                  <a:pos x="166" y="0"/>
                </a:cxn>
              </a:cxnLst>
              <a:rect l="0" t="0" r="r" b="b"/>
              <a:pathLst>
                <a:path w="194" h="442">
                  <a:moveTo>
                    <a:pt x="166" y="0"/>
                  </a:moveTo>
                  <a:lnTo>
                    <a:pt x="166" y="0"/>
                  </a:lnTo>
                  <a:lnTo>
                    <a:pt x="162" y="8"/>
                  </a:lnTo>
                  <a:lnTo>
                    <a:pt x="152" y="24"/>
                  </a:lnTo>
                  <a:lnTo>
                    <a:pt x="140" y="48"/>
                  </a:lnTo>
                  <a:lnTo>
                    <a:pt x="136" y="62"/>
                  </a:lnTo>
                  <a:lnTo>
                    <a:pt x="132" y="76"/>
                  </a:lnTo>
                  <a:lnTo>
                    <a:pt x="132" y="76"/>
                  </a:lnTo>
                  <a:lnTo>
                    <a:pt x="128" y="102"/>
                  </a:lnTo>
                  <a:lnTo>
                    <a:pt x="122" y="124"/>
                  </a:lnTo>
                  <a:lnTo>
                    <a:pt x="114" y="146"/>
                  </a:lnTo>
                  <a:lnTo>
                    <a:pt x="102" y="166"/>
                  </a:lnTo>
                  <a:lnTo>
                    <a:pt x="102" y="166"/>
                  </a:lnTo>
                  <a:lnTo>
                    <a:pt x="86" y="186"/>
                  </a:lnTo>
                  <a:lnTo>
                    <a:pt x="70" y="210"/>
                  </a:lnTo>
                  <a:lnTo>
                    <a:pt x="62" y="224"/>
                  </a:lnTo>
                  <a:lnTo>
                    <a:pt x="54" y="238"/>
                  </a:lnTo>
                  <a:lnTo>
                    <a:pt x="48" y="254"/>
                  </a:lnTo>
                  <a:lnTo>
                    <a:pt x="44" y="270"/>
                  </a:lnTo>
                  <a:lnTo>
                    <a:pt x="44" y="270"/>
                  </a:lnTo>
                  <a:lnTo>
                    <a:pt x="36" y="326"/>
                  </a:lnTo>
                  <a:lnTo>
                    <a:pt x="30" y="350"/>
                  </a:lnTo>
                  <a:lnTo>
                    <a:pt x="20" y="374"/>
                  </a:lnTo>
                  <a:lnTo>
                    <a:pt x="20" y="374"/>
                  </a:lnTo>
                  <a:lnTo>
                    <a:pt x="8" y="400"/>
                  </a:lnTo>
                  <a:lnTo>
                    <a:pt x="2" y="422"/>
                  </a:lnTo>
                  <a:lnTo>
                    <a:pt x="0" y="442"/>
                  </a:lnTo>
                  <a:lnTo>
                    <a:pt x="0" y="442"/>
                  </a:lnTo>
                  <a:lnTo>
                    <a:pt x="0" y="442"/>
                  </a:lnTo>
                  <a:lnTo>
                    <a:pt x="12" y="424"/>
                  </a:lnTo>
                  <a:lnTo>
                    <a:pt x="22" y="406"/>
                  </a:lnTo>
                  <a:lnTo>
                    <a:pt x="32" y="380"/>
                  </a:lnTo>
                  <a:lnTo>
                    <a:pt x="32" y="380"/>
                  </a:lnTo>
                  <a:lnTo>
                    <a:pt x="44" y="354"/>
                  </a:lnTo>
                  <a:lnTo>
                    <a:pt x="56" y="334"/>
                  </a:lnTo>
                  <a:lnTo>
                    <a:pt x="90" y="288"/>
                  </a:lnTo>
                  <a:lnTo>
                    <a:pt x="90" y="288"/>
                  </a:lnTo>
                  <a:lnTo>
                    <a:pt x="98" y="274"/>
                  </a:lnTo>
                  <a:lnTo>
                    <a:pt x="106" y="260"/>
                  </a:lnTo>
                  <a:lnTo>
                    <a:pt x="110" y="244"/>
                  </a:lnTo>
                  <a:lnTo>
                    <a:pt x="114" y="228"/>
                  </a:lnTo>
                  <a:lnTo>
                    <a:pt x="118" y="200"/>
                  </a:lnTo>
                  <a:lnTo>
                    <a:pt x="122" y="174"/>
                  </a:lnTo>
                  <a:lnTo>
                    <a:pt x="122" y="174"/>
                  </a:lnTo>
                  <a:lnTo>
                    <a:pt x="128" y="152"/>
                  </a:lnTo>
                  <a:lnTo>
                    <a:pt x="138" y="130"/>
                  </a:lnTo>
                  <a:lnTo>
                    <a:pt x="150" y="110"/>
                  </a:lnTo>
                  <a:lnTo>
                    <a:pt x="164" y="88"/>
                  </a:lnTo>
                  <a:lnTo>
                    <a:pt x="164" y="88"/>
                  </a:lnTo>
                  <a:lnTo>
                    <a:pt x="172" y="76"/>
                  </a:lnTo>
                  <a:lnTo>
                    <a:pt x="178" y="64"/>
                  </a:lnTo>
                  <a:lnTo>
                    <a:pt x="188" y="40"/>
                  </a:lnTo>
                  <a:lnTo>
                    <a:pt x="192" y="20"/>
                  </a:lnTo>
                  <a:lnTo>
                    <a:pt x="194" y="12"/>
                  </a:lnTo>
                  <a:lnTo>
                    <a:pt x="166"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7" name="Freeform 164"/>
            <p:cNvSpPr/>
            <p:nvPr/>
          </p:nvSpPr>
          <p:spPr bwMode="auto">
            <a:xfrm>
              <a:off x="4346575" y="3816350"/>
              <a:ext cx="66675" cy="155575"/>
            </a:xfrm>
            <a:custGeom>
              <a:avLst/>
              <a:gdLst/>
              <a:ahLst/>
              <a:cxnLst>
                <a:cxn ang="0">
                  <a:pos x="30" y="54"/>
                </a:cxn>
                <a:cxn ang="0">
                  <a:pos x="30" y="54"/>
                </a:cxn>
                <a:cxn ang="0">
                  <a:pos x="36" y="38"/>
                </a:cxn>
                <a:cxn ang="0">
                  <a:pos x="40" y="22"/>
                </a:cxn>
                <a:cxn ang="0">
                  <a:pos x="42" y="10"/>
                </a:cxn>
                <a:cxn ang="0">
                  <a:pos x="42" y="0"/>
                </a:cxn>
                <a:cxn ang="0">
                  <a:pos x="42" y="0"/>
                </a:cxn>
                <a:cxn ang="0">
                  <a:pos x="34" y="6"/>
                </a:cxn>
                <a:cxn ang="0">
                  <a:pos x="26" y="16"/>
                </a:cxn>
                <a:cxn ang="0">
                  <a:pos x="18" y="30"/>
                </a:cxn>
                <a:cxn ang="0">
                  <a:pos x="10" y="44"/>
                </a:cxn>
                <a:cxn ang="0">
                  <a:pos x="10" y="44"/>
                </a:cxn>
                <a:cxn ang="0">
                  <a:pos x="6" y="60"/>
                </a:cxn>
                <a:cxn ang="0">
                  <a:pos x="2" y="76"/>
                </a:cxn>
                <a:cxn ang="0">
                  <a:pos x="0" y="88"/>
                </a:cxn>
                <a:cxn ang="0">
                  <a:pos x="0" y="98"/>
                </a:cxn>
                <a:cxn ang="0">
                  <a:pos x="0" y="98"/>
                </a:cxn>
                <a:cxn ang="0">
                  <a:pos x="8" y="92"/>
                </a:cxn>
                <a:cxn ang="0">
                  <a:pos x="16" y="82"/>
                </a:cxn>
                <a:cxn ang="0">
                  <a:pos x="24" y="68"/>
                </a:cxn>
                <a:cxn ang="0">
                  <a:pos x="30" y="54"/>
                </a:cxn>
                <a:cxn ang="0">
                  <a:pos x="30" y="54"/>
                </a:cxn>
              </a:cxnLst>
              <a:rect l="0" t="0" r="r" b="b"/>
              <a:pathLst>
                <a:path w="42" h="98">
                  <a:moveTo>
                    <a:pt x="30" y="54"/>
                  </a:moveTo>
                  <a:lnTo>
                    <a:pt x="30" y="54"/>
                  </a:lnTo>
                  <a:lnTo>
                    <a:pt x="36" y="38"/>
                  </a:lnTo>
                  <a:lnTo>
                    <a:pt x="40" y="22"/>
                  </a:lnTo>
                  <a:lnTo>
                    <a:pt x="42" y="10"/>
                  </a:lnTo>
                  <a:lnTo>
                    <a:pt x="42" y="0"/>
                  </a:lnTo>
                  <a:lnTo>
                    <a:pt x="42" y="0"/>
                  </a:lnTo>
                  <a:lnTo>
                    <a:pt x="34" y="6"/>
                  </a:lnTo>
                  <a:lnTo>
                    <a:pt x="26" y="16"/>
                  </a:lnTo>
                  <a:lnTo>
                    <a:pt x="18" y="30"/>
                  </a:lnTo>
                  <a:lnTo>
                    <a:pt x="10" y="44"/>
                  </a:lnTo>
                  <a:lnTo>
                    <a:pt x="10" y="44"/>
                  </a:lnTo>
                  <a:lnTo>
                    <a:pt x="6" y="60"/>
                  </a:lnTo>
                  <a:lnTo>
                    <a:pt x="2" y="76"/>
                  </a:lnTo>
                  <a:lnTo>
                    <a:pt x="0" y="88"/>
                  </a:lnTo>
                  <a:lnTo>
                    <a:pt x="0" y="98"/>
                  </a:lnTo>
                  <a:lnTo>
                    <a:pt x="0" y="98"/>
                  </a:lnTo>
                  <a:lnTo>
                    <a:pt x="8" y="92"/>
                  </a:lnTo>
                  <a:lnTo>
                    <a:pt x="16" y="82"/>
                  </a:lnTo>
                  <a:lnTo>
                    <a:pt x="24" y="68"/>
                  </a:lnTo>
                  <a:lnTo>
                    <a:pt x="30" y="54"/>
                  </a:lnTo>
                  <a:lnTo>
                    <a:pt x="3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8" name="Freeform 165"/>
            <p:cNvSpPr/>
            <p:nvPr/>
          </p:nvSpPr>
          <p:spPr bwMode="auto">
            <a:xfrm>
              <a:off x="3759200" y="3419475"/>
              <a:ext cx="768350" cy="346075"/>
            </a:xfrm>
            <a:custGeom>
              <a:avLst/>
              <a:gdLst/>
              <a:ahLst/>
              <a:cxnLst>
                <a:cxn ang="0">
                  <a:pos x="28" y="216"/>
                </a:cxn>
                <a:cxn ang="0">
                  <a:pos x="50" y="214"/>
                </a:cxn>
                <a:cxn ang="0">
                  <a:pos x="100" y="196"/>
                </a:cxn>
                <a:cxn ang="0">
                  <a:pos x="100" y="196"/>
                </a:cxn>
                <a:cxn ang="0">
                  <a:pos x="134" y="182"/>
                </a:cxn>
                <a:cxn ang="0">
                  <a:pos x="202" y="172"/>
                </a:cxn>
                <a:cxn ang="0">
                  <a:pos x="216" y="168"/>
                </a:cxn>
                <a:cxn ang="0">
                  <a:pos x="252" y="154"/>
                </a:cxn>
                <a:cxn ang="0">
                  <a:pos x="292" y="126"/>
                </a:cxn>
                <a:cxn ang="0">
                  <a:pos x="310" y="112"/>
                </a:cxn>
                <a:cxn ang="0">
                  <a:pos x="348" y="94"/>
                </a:cxn>
                <a:cxn ang="0">
                  <a:pos x="396" y="84"/>
                </a:cxn>
                <a:cxn ang="0">
                  <a:pos x="410" y="80"/>
                </a:cxn>
                <a:cxn ang="0">
                  <a:pos x="448" y="64"/>
                </a:cxn>
                <a:cxn ang="0">
                  <a:pos x="476" y="48"/>
                </a:cxn>
                <a:cxn ang="0">
                  <a:pos x="480" y="36"/>
                </a:cxn>
                <a:cxn ang="0">
                  <a:pos x="456" y="2"/>
                </a:cxn>
                <a:cxn ang="0">
                  <a:pos x="448" y="4"/>
                </a:cxn>
                <a:cxn ang="0">
                  <a:pos x="400" y="18"/>
                </a:cxn>
                <a:cxn ang="0">
                  <a:pos x="374" y="34"/>
                </a:cxn>
                <a:cxn ang="0">
                  <a:pos x="354" y="48"/>
                </a:cxn>
                <a:cxn ang="0">
                  <a:pos x="314" y="68"/>
                </a:cxn>
                <a:cxn ang="0">
                  <a:pos x="272" y="78"/>
                </a:cxn>
                <a:cxn ang="0">
                  <a:pos x="248" y="80"/>
                </a:cxn>
                <a:cxn ang="0">
                  <a:pos x="200" y="94"/>
                </a:cxn>
                <a:cxn ang="0">
                  <a:pos x="176" y="108"/>
                </a:cxn>
                <a:cxn ang="0">
                  <a:pos x="148" y="128"/>
                </a:cxn>
                <a:cxn ang="0">
                  <a:pos x="104" y="156"/>
                </a:cxn>
                <a:cxn ang="0">
                  <a:pos x="88" y="164"/>
                </a:cxn>
                <a:cxn ang="0">
                  <a:pos x="40" y="186"/>
                </a:cxn>
                <a:cxn ang="0">
                  <a:pos x="22" y="198"/>
                </a:cxn>
                <a:cxn ang="0">
                  <a:pos x="28" y="216"/>
                </a:cxn>
              </a:cxnLst>
              <a:rect l="0" t="0" r="r" b="b"/>
              <a:pathLst>
                <a:path w="484" h="218">
                  <a:moveTo>
                    <a:pt x="28" y="216"/>
                  </a:moveTo>
                  <a:lnTo>
                    <a:pt x="28" y="216"/>
                  </a:lnTo>
                  <a:lnTo>
                    <a:pt x="36" y="216"/>
                  </a:lnTo>
                  <a:lnTo>
                    <a:pt x="50" y="214"/>
                  </a:lnTo>
                  <a:lnTo>
                    <a:pt x="74" y="206"/>
                  </a:lnTo>
                  <a:lnTo>
                    <a:pt x="100" y="196"/>
                  </a:lnTo>
                  <a:lnTo>
                    <a:pt x="100" y="196"/>
                  </a:lnTo>
                  <a:lnTo>
                    <a:pt x="100" y="196"/>
                  </a:lnTo>
                  <a:lnTo>
                    <a:pt x="118" y="188"/>
                  </a:lnTo>
                  <a:lnTo>
                    <a:pt x="134" y="182"/>
                  </a:lnTo>
                  <a:lnTo>
                    <a:pt x="170" y="176"/>
                  </a:lnTo>
                  <a:lnTo>
                    <a:pt x="202" y="172"/>
                  </a:lnTo>
                  <a:lnTo>
                    <a:pt x="202" y="172"/>
                  </a:lnTo>
                  <a:lnTo>
                    <a:pt x="216" y="168"/>
                  </a:lnTo>
                  <a:lnTo>
                    <a:pt x="228" y="164"/>
                  </a:lnTo>
                  <a:lnTo>
                    <a:pt x="252" y="154"/>
                  </a:lnTo>
                  <a:lnTo>
                    <a:pt x="272" y="140"/>
                  </a:lnTo>
                  <a:lnTo>
                    <a:pt x="292" y="126"/>
                  </a:lnTo>
                  <a:lnTo>
                    <a:pt x="310" y="112"/>
                  </a:lnTo>
                  <a:lnTo>
                    <a:pt x="310" y="112"/>
                  </a:lnTo>
                  <a:lnTo>
                    <a:pt x="328" y="102"/>
                  </a:lnTo>
                  <a:lnTo>
                    <a:pt x="348" y="94"/>
                  </a:lnTo>
                  <a:lnTo>
                    <a:pt x="370" y="88"/>
                  </a:lnTo>
                  <a:lnTo>
                    <a:pt x="396" y="84"/>
                  </a:lnTo>
                  <a:lnTo>
                    <a:pt x="396" y="84"/>
                  </a:lnTo>
                  <a:lnTo>
                    <a:pt x="410" y="80"/>
                  </a:lnTo>
                  <a:lnTo>
                    <a:pt x="424" y="76"/>
                  </a:lnTo>
                  <a:lnTo>
                    <a:pt x="448" y="64"/>
                  </a:lnTo>
                  <a:lnTo>
                    <a:pt x="466" y="54"/>
                  </a:lnTo>
                  <a:lnTo>
                    <a:pt x="476" y="48"/>
                  </a:lnTo>
                  <a:lnTo>
                    <a:pt x="484" y="44"/>
                  </a:lnTo>
                  <a:lnTo>
                    <a:pt x="480" y="36"/>
                  </a:lnTo>
                  <a:lnTo>
                    <a:pt x="466" y="0"/>
                  </a:lnTo>
                  <a:lnTo>
                    <a:pt x="456" y="2"/>
                  </a:lnTo>
                  <a:lnTo>
                    <a:pt x="456" y="2"/>
                  </a:lnTo>
                  <a:lnTo>
                    <a:pt x="448" y="4"/>
                  </a:lnTo>
                  <a:lnTo>
                    <a:pt x="426" y="10"/>
                  </a:lnTo>
                  <a:lnTo>
                    <a:pt x="400" y="18"/>
                  </a:lnTo>
                  <a:lnTo>
                    <a:pt x="388" y="26"/>
                  </a:lnTo>
                  <a:lnTo>
                    <a:pt x="374" y="34"/>
                  </a:lnTo>
                  <a:lnTo>
                    <a:pt x="374" y="34"/>
                  </a:lnTo>
                  <a:lnTo>
                    <a:pt x="354" y="48"/>
                  </a:lnTo>
                  <a:lnTo>
                    <a:pt x="334" y="60"/>
                  </a:lnTo>
                  <a:lnTo>
                    <a:pt x="314" y="68"/>
                  </a:lnTo>
                  <a:lnTo>
                    <a:pt x="294" y="74"/>
                  </a:lnTo>
                  <a:lnTo>
                    <a:pt x="272" y="78"/>
                  </a:lnTo>
                  <a:lnTo>
                    <a:pt x="272" y="78"/>
                  </a:lnTo>
                  <a:lnTo>
                    <a:pt x="248" y="80"/>
                  </a:lnTo>
                  <a:lnTo>
                    <a:pt x="224" y="86"/>
                  </a:lnTo>
                  <a:lnTo>
                    <a:pt x="200" y="94"/>
                  </a:lnTo>
                  <a:lnTo>
                    <a:pt x="188" y="100"/>
                  </a:lnTo>
                  <a:lnTo>
                    <a:pt x="176" y="108"/>
                  </a:lnTo>
                  <a:lnTo>
                    <a:pt x="148" y="128"/>
                  </a:lnTo>
                  <a:lnTo>
                    <a:pt x="148" y="128"/>
                  </a:lnTo>
                  <a:lnTo>
                    <a:pt x="120" y="148"/>
                  </a:lnTo>
                  <a:lnTo>
                    <a:pt x="104" y="156"/>
                  </a:lnTo>
                  <a:lnTo>
                    <a:pt x="88" y="164"/>
                  </a:lnTo>
                  <a:lnTo>
                    <a:pt x="88" y="164"/>
                  </a:lnTo>
                  <a:lnTo>
                    <a:pt x="60" y="174"/>
                  </a:lnTo>
                  <a:lnTo>
                    <a:pt x="40" y="186"/>
                  </a:lnTo>
                  <a:lnTo>
                    <a:pt x="26" y="194"/>
                  </a:lnTo>
                  <a:lnTo>
                    <a:pt x="22" y="198"/>
                  </a:lnTo>
                  <a:lnTo>
                    <a:pt x="0" y="218"/>
                  </a:lnTo>
                  <a:lnTo>
                    <a:pt x="28" y="21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9" name="Freeform 166"/>
            <p:cNvSpPr/>
            <p:nvPr/>
          </p:nvSpPr>
          <p:spPr bwMode="auto">
            <a:xfrm>
              <a:off x="3803650" y="3438525"/>
              <a:ext cx="701675" cy="307975"/>
            </a:xfrm>
            <a:custGeom>
              <a:avLst/>
              <a:gdLst/>
              <a:ahLst/>
              <a:cxnLst>
                <a:cxn ang="0">
                  <a:pos x="430" y="0"/>
                </a:cxn>
                <a:cxn ang="0">
                  <a:pos x="430" y="0"/>
                </a:cxn>
                <a:cxn ang="0">
                  <a:pos x="422" y="2"/>
                </a:cxn>
                <a:cxn ang="0">
                  <a:pos x="402" y="6"/>
                </a:cxn>
                <a:cxn ang="0">
                  <a:pos x="378" y="16"/>
                </a:cxn>
                <a:cxn ang="0">
                  <a:pos x="366" y="22"/>
                </a:cxn>
                <a:cxn ang="0">
                  <a:pos x="354" y="30"/>
                </a:cxn>
                <a:cxn ang="0">
                  <a:pos x="354" y="30"/>
                </a:cxn>
                <a:cxn ang="0">
                  <a:pos x="332" y="44"/>
                </a:cxn>
                <a:cxn ang="0">
                  <a:pos x="312" y="56"/>
                </a:cxn>
                <a:cxn ang="0">
                  <a:pos x="290" y="66"/>
                </a:cxn>
                <a:cxn ang="0">
                  <a:pos x="268" y="72"/>
                </a:cxn>
                <a:cxn ang="0">
                  <a:pos x="268" y="72"/>
                </a:cxn>
                <a:cxn ang="0">
                  <a:pos x="242" y="76"/>
                </a:cxn>
                <a:cxn ang="0">
                  <a:pos x="214" y="80"/>
                </a:cxn>
                <a:cxn ang="0">
                  <a:pos x="198" y="84"/>
                </a:cxn>
                <a:cxn ang="0">
                  <a:pos x="182" y="88"/>
                </a:cxn>
                <a:cxn ang="0">
                  <a:pos x="168" y="96"/>
                </a:cxn>
                <a:cxn ang="0">
                  <a:pos x="154" y="104"/>
                </a:cxn>
                <a:cxn ang="0">
                  <a:pos x="154" y="104"/>
                </a:cxn>
                <a:cxn ang="0">
                  <a:pos x="108" y="138"/>
                </a:cxn>
                <a:cxn ang="0">
                  <a:pos x="88" y="150"/>
                </a:cxn>
                <a:cxn ang="0">
                  <a:pos x="62" y="162"/>
                </a:cxn>
                <a:cxn ang="0">
                  <a:pos x="62" y="162"/>
                </a:cxn>
                <a:cxn ang="0">
                  <a:pos x="36" y="172"/>
                </a:cxn>
                <a:cxn ang="0">
                  <a:pos x="18" y="182"/>
                </a:cxn>
                <a:cxn ang="0">
                  <a:pos x="0" y="194"/>
                </a:cxn>
                <a:cxn ang="0">
                  <a:pos x="0" y="194"/>
                </a:cxn>
                <a:cxn ang="0">
                  <a:pos x="0" y="194"/>
                </a:cxn>
                <a:cxn ang="0">
                  <a:pos x="20" y="192"/>
                </a:cxn>
                <a:cxn ang="0">
                  <a:pos x="42" y="186"/>
                </a:cxn>
                <a:cxn ang="0">
                  <a:pos x="68" y="174"/>
                </a:cxn>
                <a:cxn ang="0">
                  <a:pos x="68" y="174"/>
                </a:cxn>
                <a:cxn ang="0">
                  <a:pos x="92" y="164"/>
                </a:cxn>
                <a:cxn ang="0">
                  <a:pos x="116" y="158"/>
                </a:cxn>
                <a:cxn ang="0">
                  <a:pos x="172" y="150"/>
                </a:cxn>
                <a:cxn ang="0">
                  <a:pos x="172" y="150"/>
                </a:cxn>
                <a:cxn ang="0">
                  <a:pos x="188" y="146"/>
                </a:cxn>
                <a:cxn ang="0">
                  <a:pos x="204" y="140"/>
                </a:cxn>
                <a:cxn ang="0">
                  <a:pos x="218" y="132"/>
                </a:cxn>
                <a:cxn ang="0">
                  <a:pos x="232" y="124"/>
                </a:cxn>
                <a:cxn ang="0">
                  <a:pos x="256" y="108"/>
                </a:cxn>
                <a:cxn ang="0">
                  <a:pos x="276" y="92"/>
                </a:cxn>
                <a:cxn ang="0">
                  <a:pos x="276" y="92"/>
                </a:cxn>
                <a:cxn ang="0">
                  <a:pos x="296" y="80"/>
                </a:cxn>
                <a:cxn ang="0">
                  <a:pos x="318" y="72"/>
                </a:cxn>
                <a:cxn ang="0">
                  <a:pos x="340" y="66"/>
                </a:cxn>
                <a:cxn ang="0">
                  <a:pos x="366" y="62"/>
                </a:cxn>
                <a:cxn ang="0">
                  <a:pos x="366" y="62"/>
                </a:cxn>
                <a:cxn ang="0">
                  <a:pos x="380" y="58"/>
                </a:cxn>
                <a:cxn ang="0">
                  <a:pos x="394" y="54"/>
                </a:cxn>
                <a:cxn ang="0">
                  <a:pos x="418" y="42"/>
                </a:cxn>
                <a:cxn ang="0">
                  <a:pos x="434" y="32"/>
                </a:cxn>
                <a:cxn ang="0">
                  <a:pos x="442" y="28"/>
                </a:cxn>
                <a:cxn ang="0">
                  <a:pos x="430" y="0"/>
                </a:cxn>
              </a:cxnLst>
              <a:rect l="0" t="0" r="r" b="b"/>
              <a:pathLst>
                <a:path w="442" h="194">
                  <a:moveTo>
                    <a:pt x="430" y="0"/>
                  </a:moveTo>
                  <a:lnTo>
                    <a:pt x="430" y="0"/>
                  </a:lnTo>
                  <a:lnTo>
                    <a:pt x="422" y="2"/>
                  </a:lnTo>
                  <a:lnTo>
                    <a:pt x="402" y="6"/>
                  </a:lnTo>
                  <a:lnTo>
                    <a:pt x="378" y="16"/>
                  </a:lnTo>
                  <a:lnTo>
                    <a:pt x="366" y="22"/>
                  </a:lnTo>
                  <a:lnTo>
                    <a:pt x="354" y="30"/>
                  </a:lnTo>
                  <a:lnTo>
                    <a:pt x="354" y="30"/>
                  </a:lnTo>
                  <a:lnTo>
                    <a:pt x="332" y="44"/>
                  </a:lnTo>
                  <a:lnTo>
                    <a:pt x="312" y="56"/>
                  </a:lnTo>
                  <a:lnTo>
                    <a:pt x="290" y="66"/>
                  </a:lnTo>
                  <a:lnTo>
                    <a:pt x="268" y="72"/>
                  </a:lnTo>
                  <a:lnTo>
                    <a:pt x="268" y="72"/>
                  </a:lnTo>
                  <a:lnTo>
                    <a:pt x="242" y="76"/>
                  </a:lnTo>
                  <a:lnTo>
                    <a:pt x="214" y="80"/>
                  </a:lnTo>
                  <a:lnTo>
                    <a:pt x="198" y="84"/>
                  </a:lnTo>
                  <a:lnTo>
                    <a:pt x="182" y="88"/>
                  </a:lnTo>
                  <a:lnTo>
                    <a:pt x="168" y="96"/>
                  </a:lnTo>
                  <a:lnTo>
                    <a:pt x="154" y="104"/>
                  </a:lnTo>
                  <a:lnTo>
                    <a:pt x="154" y="104"/>
                  </a:lnTo>
                  <a:lnTo>
                    <a:pt x="108" y="138"/>
                  </a:lnTo>
                  <a:lnTo>
                    <a:pt x="88" y="150"/>
                  </a:lnTo>
                  <a:lnTo>
                    <a:pt x="62" y="162"/>
                  </a:lnTo>
                  <a:lnTo>
                    <a:pt x="62" y="162"/>
                  </a:lnTo>
                  <a:lnTo>
                    <a:pt x="36" y="172"/>
                  </a:lnTo>
                  <a:lnTo>
                    <a:pt x="18" y="182"/>
                  </a:lnTo>
                  <a:lnTo>
                    <a:pt x="0" y="194"/>
                  </a:lnTo>
                  <a:lnTo>
                    <a:pt x="0" y="194"/>
                  </a:lnTo>
                  <a:lnTo>
                    <a:pt x="0" y="194"/>
                  </a:lnTo>
                  <a:lnTo>
                    <a:pt x="20" y="192"/>
                  </a:lnTo>
                  <a:lnTo>
                    <a:pt x="42" y="186"/>
                  </a:lnTo>
                  <a:lnTo>
                    <a:pt x="68" y="174"/>
                  </a:lnTo>
                  <a:lnTo>
                    <a:pt x="68" y="174"/>
                  </a:lnTo>
                  <a:lnTo>
                    <a:pt x="92" y="164"/>
                  </a:lnTo>
                  <a:lnTo>
                    <a:pt x="116" y="158"/>
                  </a:lnTo>
                  <a:lnTo>
                    <a:pt x="172" y="150"/>
                  </a:lnTo>
                  <a:lnTo>
                    <a:pt x="172" y="150"/>
                  </a:lnTo>
                  <a:lnTo>
                    <a:pt x="188" y="146"/>
                  </a:lnTo>
                  <a:lnTo>
                    <a:pt x="204" y="140"/>
                  </a:lnTo>
                  <a:lnTo>
                    <a:pt x="218" y="132"/>
                  </a:lnTo>
                  <a:lnTo>
                    <a:pt x="232" y="124"/>
                  </a:lnTo>
                  <a:lnTo>
                    <a:pt x="256" y="108"/>
                  </a:lnTo>
                  <a:lnTo>
                    <a:pt x="276" y="92"/>
                  </a:lnTo>
                  <a:lnTo>
                    <a:pt x="276" y="92"/>
                  </a:lnTo>
                  <a:lnTo>
                    <a:pt x="296" y="80"/>
                  </a:lnTo>
                  <a:lnTo>
                    <a:pt x="318" y="72"/>
                  </a:lnTo>
                  <a:lnTo>
                    <a:pt x="340" y="66"/>
                  </a:lnTo>
                  <a:lnTo>
                    <a:pt x="366" y="62"/>
                  </a:lnTo>
                  <a:lnTo>
                    <a:pt x="366" y="62"/>
                  </a:lnTo>
                  <a:lnTo>
                    <a:pt x="380" y="58"/>
                  </a:lnTo>
                  <a:lnTo>
                    <a:pt x="394" y="54"/>
                  </a:lnTo>
                  <a:lnTo>
                    <a:pt x="418" y="42"/>
                  </a:lnTo>
                  <a:lnTo>
                    <a:pt x="434" y="32"/>
                  </a:lnTo>
                  <a:lnTo>
                    <a:pt x="442" y="28"/>
                  </a:lnTo>
                  <a:lnTo>
                    <a:pt x="430"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0" name="Freeform 167"/>
            <p:cNvSpPr/>
            <p:nvPr/>
          </p:nvSpPr>
          <p:spPr bwMode="auto">
            <a:xfrm>
              <a:off x="4029075" y="3587750"/>
              <a:ext cx="155575" cy="66675"/>
            </a:xfrm>
            <a:custGeom>
              <a:avLst/>
              <a:gdLst/>
              <a:ahLst/>
              <a:cxnLst>
                <a:cxn ang="0">
                  <a:pos x="54" y="32"/>
                </a:cxn>
                <a:cxn ang="0">
                  <a:pos x="54" y="32"/>
                </a:cxn>
                <a:cxn ang="0">
                  <a:pos x="68" y="24"/>
                </a:cxn>
                <a:cxn ang="0">
                  <a:pos x="82" y="16"/>
                </a:cxn>
                <a:cxn ang="0">
                  <a:pos x="92" y="8"/>
                </a:cxn>
                <a:cxn ang="0">
                  <a:pos x="98" y="0"/>
                </a:cxn>
                <a:cxn ang="0">
                  <a:pos x="98" y="0"/>
                </a:cxn>
                <a:cxn ang="0">
                  <a:pos x="88" y="0"/>
                </a:cxn>
                <a:cxn ang="0">
                  <a:pos x="76" y="2"/>
                </a:cxn>
                <a:cxn ang="0">
                  <a:pos x="60" y="6"/>
                </a:cxn>
                <a:cxn ang="0">
                  <a:pos x="44" y="12"/>
                </a:cxn>
                <a:cxn ang="0">
                  <a:pos x="44" y="12"/>
                </a:cxn>
                <a:cxn ang="0">
                  <a:pos x="30" y="18"/>
                </a:cxn>
                <a:cxn ang="0">
                  <a:pos x="16" y="26"/>
                </a:cxn>
                <a:cxn ang="0">
                  <a:pos x="6" y="34"/>
                </a:cxn>
                <a:cxn ang="0">
                  <a:pos x="0" y="42"/>
                </a:cxn>
                <a:cxn ang="0">
                  <a:pos x="0" y="42"/>
                </a:cxn>
                <a:cxn ang="0">
                  <a:pos x="10" y="42"/>
                </a:cxn>
                <a:cxn ang="0">
                  <a:pos x="22" y="40"/>
                </a:cxn>
                <a:cxn ang="0">
                  <a:pos x="38" y="36"/>
                </a:cxn>
                <a:cxn ang="0">
                  <a:pos x="54" y="32"/>
                </a:cxn>
                <a:cxn ang="0">
                  <a:pos x="54" y="32"/>
                </a:cxn>
              </a:cxnLst>
              <a:rect l="0" t="0" r="r" b="b"/>
              <a:pathLst>
                <a:path w="98" h="42">
                  <a:moveTo>
                    <a:pt x="54" y="32"/>
                  </a:moveTo>
                  <a:lnTo>
                    <a:pt x="54" y="32"/>
                  </a:lnTo>
                  <a:lnTo>
                    <a:pt x="68" y="24"/>
                  </a:lnTo>
                  <a:lnTo>
                    <a:pt x="82" y="16"/>
                  </a:lnTo>
                  <a:lnTo>
                    <a:pt x="92" y="8"/>
                  </a:lnTo>
                  <a:lnTo>
                    <a:pt x="98" y="0"/>
                  </a:lnTo>
                  <a:lnTo>
                    <a:pt x="98" y="0"/>
                  </a:lnTo>
                  <a:lnTo>
                    <a:pt x="88" y="0"/>
                  </a:lnTo>
                  <a:lnTo>
                    <a:pt x="76" y="2"/>
                  </a:lnTo>
                  <a:lnTo>
                    <a:pt x="60" y="6"/>
                  </a:lnTo>
                  <a:lnTo>
                    <a:pt x="44" y="12"/>
                  </a:lnTo>
                  <a:lnTo>
                    <a:pt x="44" y="12"/>
                  </a:lnTo>
                  <a:lnTo>
                    <a:pt x="30" y="18"/>
                  </a:lnTo>
                  <a:lnTo>
                    <a:pt x="16" y="26"/>
                  </a:lnTo>
                  <a:lnTo>
                    <a:pt x="6" y="34"/>
                  </a:lnTo>
                  <a:lnTo>
                    <a:pt x="0" y="42"/>
                  </a:lnTo>
                  <a:lnTo>
                    <a:pt x="0" y="42"/>
                  </a:lnTo>
                  <a:lnTo>
                    <a:pt x="10" y="42"/>
                  </a:lnTo>
                  <a:lnTo>
                    <a:pt x="22" y="40"/>
                  </a:lnTo>
                  <a:lnTo>
                    <a:pt x="38" y="36"/>
                  </a:lnTo>
                  <a:lnTo>
                    <a:pt x="54" y="32"/>
                  </a:lnTo>
                  <a:lnTo>
                    <a:pt x="54" y="3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1" name="Freeform 168"/>
            <p:cNvSpPr/>
            <p:nvPr/>
          </p:nvSpPr>
          <p:spPr bwMode="auto">
            <a:xfrm>
              <a:off x="3759200" y="3092450"/>
              <a:ext cx="768350" cy="346075"/>
            </a:xfrm>
            <a:custGeom>
              <a:avLst/>
              <a:gdLst/>
              <a:ahLst/>
              <a:cxnLst>
                <a:cxn ang="0">
                  <a:pos x="22" y="20"/>
                </a:cxn>
                <a:cxn ang="0">
                  <a:pos x="40" y="32"/>
                </a:cxn>
                <a:cxn ang="0">
                  <a:pos x="88" y="54"/>
                </a:cxn>
                <a:cxn ang="0">
                  <a:pos x="88" y="54"/>
                </a:cxn>
                <a:cxn ang="0">
                  <a:pos x="120" y="70"/>
                </a:cxn>
                <a:cxn ang="0">
                  <a:pos x="176" y="110"/>
                </a:cxn>
                <a:cxn ang="0">
                  <a:pos x="188" y="118"/>
                </a:cxn>
                <a:cxn ang="0">
                  <a:pos x="224" y="132"/>
                </a:cxn>
                <a:cxn ang="0">
                  <a:pos x="272" y="140"/>
                </a:cxn>
                <a:cxn ang="0">
                  <a:pos x="294" y="144"/>
                </a:cxn>
                <a:cxn ang="0">
                  <a:pos x="334" y="158"/>
                </a:cxn>
                <a:cxn ang="0">
                  <a:pos x="374" y="184"/>
                </a:cxn>
                <a:cxn ang="0">
                  <a:pos x="388" y="192"/>
                </a:cxn>
                <a:cxn ang="0">
                  <a:pos x="426" y="208"/>
                </a:cxn>
                <a:cxn ang="0">
                  <a:pos x="456" y="216"/>
                </a:cxn>
                <a:cxn ang="0">
                  <a:pos x="468" y="210"/>
                </a:cxn>
                <a:cxn ang="0">
                  <a:pos x="476" y="170"/>
                </a:cxn>
                <a:cxn ang="0">
                  <a:pos x="468" y="164"/>
                </a:cxn>
                <a:cxn ang="0">
                  <a:pos x="424" y="142"/>
                </a:cxn>
                <a:cxn ang="0">
                  <a:pos x="396" y="134"/>
                </a:cxn>
                <a:cxn ang="0">
                  <a:pos x="370" y="130"/>
                </a:cxn>
                <a:cxn ang="0">
                  <a:pos x="328" y="116"/>
                </a:cxn>
                <a:cxn ang="0">
                  <a:pos x="292" y="92"/>
                </a:cxn>
                <a:cxn ang="0">
                  <a:pos x="272" y="78"/>
                </a:cxn>
                <a:cxn ang="0">
                  <a:pos x="228" y="54"/>
                </a:cxn>
                <a:cxn ang="0">
                  <a:pos x="202" y="46"/>
                </a:cxn>
                <a:cxn ang="0">
                  <a:pos x="170" y="42"/>
                </a:cxn>
                <a:cxn ang="0">
                  <a:pos x="118" y="30"/>
                </a:cxn>
                <a:cxn ang="0">
                  <a:pos x="100" y="22"/>
                </a:cxn>
                <a:cxn ang="0">
                  <a:pos x="50" y="4"/>
                </a:cxn>
                <a:cxn ang="0">
                  <a:pos x="28" y="2"/>
                </a:cxn>
                <a:cxn ang="0">
                  <a:pos x="22" y="20"/>
                </a:cxn>
              </a:cxnLst>
              <a:rect l="0" t="0" r="r" b="b"/>
              <a:pathLst>
                <a:path w="484" h="218">
                  <a:moveTo>
                    <a:pt x="22" y="20"/>
                  </a:moveTo>
                  <a:lnTo>
                    <a:pt x="22" y="20"/>
                  </a:lnTo>
                  <a:lnTo>
                    <a:pt x="26" y="24"/>
                  </a:lnTo>
                  <a:lnTo>
                    <a:pt x="40" y="32"/>
                  </a:lnTo>
                  <a:lnTo>
                    <a:pt x="60" y="44"/>
                  </a:lnTo>
                  <a:lnTo>
                    <a:pt x="88" y="54"/>
                  </a:lnTo>
                  <a:lnTo>
                    <a:pt x="88" y="54"/>
                  </a:lnTo>
                  <a:lnTo>
                    <a:pt x="88" y="54"/>
                  </a:lnTo>
                  <a:lnTo>
                    <a:pt x="104" y="62"/>
                  </a:lnTo>
                  <a:lnTo>
                    <a:pt x="120" y="70"/>
                  </a:lnTo>
                  <a:lnTo>
                    <a:pt x="148" y="90"/>
                  </a:lnTo>
                  <a:lnTo>
                    <a:pt x="176" y="110"/>
                  </a:lnTo>
                  <a:lnTo>
                    <a:pt x="176" y="110"/>
                  </a:lnTo>
                  <a:lnTo>
                    <a:pt x="188" y="118"/>
                  </a:lnTo>
                  <a:lnTo>
                    <a:pt x="200" y="124"/>
                  </a:lnTo>
                  <a:lnTo>
                    <a:pt x="224" y="132"/>
                  </a:lnTo>
                  <a:lnTo>
                    <a:pt x="248" y="138"/>
                  </a:lnTo>
                  <a:lnTo>
                    <a:pt x="272" y="140"/>
                  </a:lnTo>
                  <a:lnTo>
                    <a:pt x="294" y="144"/>
                  </a:lnTo>
                  <a:lnTo>
                    <a:pt x="294" y="144"/>
                  </a:lnTo>
                  <a:lnTo>
                    <a:pt x="314" y="150"/>
                  </a:lnTo>
                  <a:lnTo>
                    <a:pt x="334" y="158"/>
                  </a:lnTo>
                  <a:lnTo>
                    <a:pt x="354" y="170"/>
                  </a:lnTo>
                  <a:lnTo>
                    <a:pt x="374" y="184"/>
                  </a:lnTo>
                  <a:lnTo>
                    <a:pt x="374" y="184"/>
                  </a:lnTo>
                  <a:lnTo>
                    <a:pt x="388" y="192"/>
                  </a:lnTo>
                  <a:lnTo>
                    <a:pt x="400" y="198"/>
                  </a:lnTo>
                  <a:lnTo>
                    <a:pt x="426" y="208"/>
                  </a:lnTo>
                  <a:lnTo>
                    <a:pt x="446" y="214"/>
                  </a:lnTo>
                  <a:lnTo>
                    <a:pt x="456" y="216"/>
                  </a:lnTo>
                  <a:lnTo>
                    <a:pt x="466" y="218"/>
                  </a:lnTo>
                  <a:lnTo>
                    <a:pt x="468" y="210"/>
                  </a:lnTo>
                  <a:lnTo>
                    <a:pt x="484" y="174"/>
                  </a:lnTo>
                  <a:lnTo>
                    <a:pt x="476" y="170"/>
                  </a:lnTo>
                  <a:lnTo>
                    <a:pt x="476" y="170"/>
                  </a:lnTo>
                  <a:lnTo>
                    <a:pt x="468" y="164"/>
                  </a:lnTo>
                  <a:lnTo>
                    <a:pt x="450" y="154"/>
                  </a:lnTo>
                  <a:lnTo>
                    <a:pt x="424" y="142"/>
                  </a:lnTo>
                  <a:lnTo>
                    <a:pt x="410" y="138"/>
                  </a:lnTo>
                  <a:lnTo>
                    <a:pt x="396" y="134"/>
                  </a:lnTo>
                  <a:lnTo>
                    <a:pt x="396" y="134"/>
                  </a:lnTo>
                  <a:lnTo>
                    <a:pt x="370" y="130"/>
                  </a:lnTo>
                  <a:lnTo>
                    <a:pt x="348" y="124"/>
                  </a:lnTo>
                  <a:lnTo>
                    <a:pt x="328" y="116"/>
                  </a:lnTo>
                  <a:lnTo>
                    <a:pt x="310" y="106"/>
                  </a:lnTo>
                  <a:lnTo>
                    <a:pt x="292" y="92"/>
                  </a:lnTo>
                  <a:lnTo>
                    <a:pt x="292" y="92"/>
                  </a:lnTo>
                  <a:lnTo>
                    <a:pt x="272" y="78"/>
                  </a:lnTo>
                  <a:lnTo>
                    <a:pt x="252" y="64"/>
                  </a:lnTo>
                  <a:lnTo>
                    <a:pt x="228" y="54"/>
                  </a:lnTo>
                  <a:lnTo>
                    <a:pt x="216" y="50"/>
                  </a:lnTo>
                  <a:lnTo>
                    <a:pt x="202" y="46"/>
                  </a:lnTo>
                  <a:lnTo>
                    <a:pt x="170" y="42"/>
                  </a:lnTo>
                  <a:lnTo>
                    <a:pt x="170" y="42"/>
                  </a:lnTo>
                  <a:lnTo>
                    <a:pt x="134" y="36"/>
                  </a:lnTo>
                  <a:lnTo>
                    <a:pt x="118" y="30"/>
                  </a:lnTo>
                  <a:lnTo>
                    <a:pt x="100" y="22"/>
                  </a:lnTo>
                  <a:lnTo>
                    <a:pt x="100" y="22"/>
                  </a:lnTo>
                  <a:lnTo>
                    <a:pt x="74" y="12"/>
                  </a:lnTo>
                  <a:lnTo>
                    <a:pt x="50" y="4"/>
                  </a:lnTo>
                  <a:lnTo>
                    <a:pt x="36" y="2"/>
                  </a:lnTo>
                  <a:lnTo>
                    <a:pt x="28" y="2"/>
                  </a:lnTo>
                  <a:lnTo>
                    <a:pt x="0" y="0"/>
                  </a:lnTo>
                  <a:lnTo>
                    <a:pt x="2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2" name="Freeform 169"/>
            <p:cNvSpPr/>
            <p:nvPr/>
          </p:nvSpPr>
          <p:spPr bwMode="auto">
            <a:xfrm>
              <a:off x="3803650" y="3111500"/>
              <a:ext cx="701675" cy="307975"/>
            </a:xfrm>
            <a:custGeom>
              <a:avLst/>
              <a:gdLst/>
              <a:ahLst/>
              <a:cxnLst>
                <a:cxn ang="0">
                  <a:pos x="442" y="166"/>
                </a:cxn>
                <a:cxn ang="0">
                  <a:pos x="442" y="166"/>
                </a:cxn>
                <a:cxn ang="0">
                  <a:pos x="434" y="162"/>
                </a:cxn>
                <a:cxn ang="0">
                  <a:pos x="418" y="152"/>
                </a:cxn>
                <a:cxn ang="0">
                  <a:pos x="394" y="140"/>
                </a:cxn>
                <a:cxn ang="0">
                  <a:pos x="380" y="136"/>
                </a:cxn>
                <a:cxn ang="0">
                  <a:pos x="366" y="132"/>
                </a:cxn>
                <a:cxn ang="0">
                  <a:pos x="366" y="132"/>
                </a:cxn>
                <a:cxn ang="0">
                  <a:pos x="340" y="128"/>
                </a:cxn>
                <a:cxn ang="0">
                  <a:pos x="318" y="122"/>
                </a:cxn>
                <a:cxn ang="0">
                  <a:pos x="296" y="114"/>
                </a:cxn>
                <a:cxn ang="0">
                  <a:pos x="276" y="102"/>
                </a:cxn>
                <a:cxn ang="0">
                  <a:pos x="276" y="102"/>
                </a:cxn>
                <a:cxn ang="0">
                  <a:pos x="256" y="86"/>
                </a:cxn>
                <a:cxn ang="0">
                  <a:pos x="232" y="70"/>
                </a:cxn>
                <a:cxn ang="0">
                  <a:pos x="218" y="62"/>
                </a:cxn>
                <a:cxn ang="0">
                  <a:pos x="204" y="54"/>
                </a:cxn>
                <a:cxn ang="0">
                  <a:pos x="188" y="48"/>
                </a:cxn>
                <a:cxn ang="0">
                  <a:pos x="172" y="44"/>
                </a:cxn>
                <a:cxn ang="0">
                  <a:pos x="172" y="44"/>
                </a:cxn>
                <a:cxn ang="0">
                  <a:pos x="116" y="36"/>
                </a:cxn>
                <a:cxn ang="0">
                  <a:pos x="92" y="30"/>
                </a:cxn>
                <a:cxn ang="0">
                  <a:pos x="68" y="20"/>
                </a:cxn>
                <a:cxn ang="0">
                  <a:pos x="68" y="20"/>
                </a:cxn>
                <a:cxn ang="0">
                  <a:pos x="42" y="8"/>
                </a:cxn>
                <a:cxn ang="0">
                  <a:pos x="20" y="2"/>
                </a:cxn>
                <a:cxn ang="0">
                  <a:pos x="0" y="0"/>
                </a:cxn>
                <a:cxn ang="0">
                  <a:pos x="0" y="0"/>
                </a:cxn>
                <a:cxn ang="0">
                  <a:pos x="0" y="0"/>
                </a:cxn>
                <a:cxn ang="0">
                  <a:pos x="18" y="12"/>
                </a:cxn>
                <a:cxn ang="0">
                  <a:pos x="36" y="22"/>
                </a:cxn>
                <a:cxn ang="0">
                  <a:pos x="62" y="32"/>
                </a:cxn>
                <a:cxn ang="0">
                  <a:pos x="62" y="32"/>
                </a:cxn>
                <a:cxn ang="0">
                  <a:pos x="88" y="44"/>
                </a:cxn>
                <a:cxn ang="0">
                  <a:pos x="108" y="56"/>
                </a:cxn>
                <a:cxn ang="0">
                  <a:pos x="154" y="90"/>
                </a:cxn>
                <a:cxn ang="0">
                  <a:pos x="154" y="90"/>
                </a:cxn>
                <a:cxn ang="0">
                  <a:pos x="168" y="98"/>
                </a:cxn>
                <a:cxn ang="0">
                  <a:pos x="182" y="106"/>
                </a:cxn>
                <a:cxn ang="0">
                  <a:pos x="198" y="110"/>
                </a:cxn>
                <a:cxn ang="0">
                  <a:pos x="214" y="114"/>
                </a:cxn>
                <a:cxn ang="0">
                  <a:pos x="242" y="118"/>
                </a:cxn>
                <a:cxn ang="0">
                  <a:pos x="268" y="122"/>
                </a:cxn>
                <a:cxn ang="0">
                  <a:pos x="268" y="122"/>
                </a:cxn>
                <a:cxn ang="0">
                  <a:pos x="290" y="128"/>
                </a:cxn>
                <a:cxn ang="0">
                  <a:pos x="312" y="138"/>
                </a:cxn>
                <a:cxn ang="0">
                  <a:pos x="332" y="150"/>
                </a:cxn>
                <a:cxn ang="0">
                  <a:pos x="354" y="164"/>
                </a:cxn>
                <a:cxn ang="0">
                  <a:pos x="354" y="164"/>
                </a:cxn>
                <a:cxn ang="0">
                  <a:pos x="366" y="172"/>
                </a:cxn>
                <a:cxn ang="0">
                  <a:pos x="378" y="178"/>
                </a:cxn>
                <a:cxn ang="0">
                  <a:pos x="402" y="188"/>
                </a:cxn>
                <a:cxn ang="0">
                  <a:pos x="422" y="192"/>
                </a:cxn>
                <a:cxn ang="0">
                  <a:pos x="430" y="194"/>
                </a:cxn>
                <a:cxn ang="0">
                  <a:pos x="442" y="166"/>
                </a:cxn>
              </a:cxnLst>
              <a:rect l="0" t="0" r="r" b="b"/>
              <a:pathLst>
                <a:path w="442" h="194">
                  <a:moveTo>
                    <a:pt x="442" y="166"/>
                  </a:moveTo>
                  <a:lnTo>
                    <a:pt x="442" y="166"/>
                  </a:lnTo>
                  <a:lnTo>
                    <a:pt x="434" y="162"/>
                  </a:lnTo>
                  <a:lnTo>
                    <a:pt x="418" y="152"/>
                  </a:lnTo>
                  <a:lnTo>
                    <a:pt x="394" y="140"/>
                  </a:lnTo>
                  <a:lnTo>
                    <a:pt x="380" y="136"/>
                  </a:lnTo>
                  <a:lnTo>
                    <a:pt x="366" y="132"/>
                  </a:lnTo>
                  <a:lnTo>
                    <a:pt x="366" y="132"/>
                  </a:lnTo>
                  <a:lnTo>
                    <a:pt x="340" y="128"/>
                  </a:lnTo>
                  <a:lnTo>
                    <a:pt x="318" y="122"/>
                  </a:lnTo>
                  <a:lnTo>
                    <a:pt x="296" y="114"/>
                  </a:lnTo>
                  <a:lnTo>
                    <a:pt x="276" y="102"/>
                  </a:lnTo>
                  <a:lnTo>
                    <a:pt x="276" y="102"/>
                  </a:lnTo>
                  <a:lnTo>
                    <a:pt x="256" y="86"/>
                  </a:lnTo>
                  <a:lnTo>
                    <a:pt x="232" y="70"/>
                  </a:lnTo>
                  <a:lnTo>
                    <a:pt x="218" y="62"/>
                  </a:lnTo>
                  <a:lnTo>
                    <a:pt x="204" y="54"/>
                  </a:lnTo>
                  <a:lnTo>
                    <a:pt x="188" y="48"/>
                  </a:lnTo>
                  <a:lnTo>
                    <a:pt x="172" y="44"/>
                  </a:lnTo>
                  <a:lnTo>
                    <a:pt x="172" y="44"/>
                  </a:lnTo>
                  <a:lnTo>
                    <a:pt x="116" y="36"/>
                  </a:lnTo>
                  <a:lnTo>
                    <a:pt x="92" y="30"/>
                  </a:lnTo>
                  <a:lnTo>
                    <a:pt x="68" y="20"/>
                  </a:lnTo>
                  <a:lnTo>
                    <a:pt x="68" y="20"/>
                  </a:lnTo>
                  <a:lnTo>
                    <a:pt x="42" y="8"/>
                  </a:lnTo>
                  <a:lnTo>
                    <a:pt x="20" y="2"/>
                  </a:lnTo>
                  <a:lnTo>
                    <a:pt x="0" y="0"/>
                  </a:lnTo>
                  <a:lnTo>
                    <a:pt x="0" y="0"/>
                  </a:lnTo>
                  <a:lnTo>
                    <a:pt x="0" y="0"/>
                  </a:lnTo>
                  <a:lnTo>
                    <a:pt x="18" y="12"/>
                  </a:lnTo>
                  <a:lnTo>
                    <a:pt x="36" y="22"/>
                  </a:lnTo>
                  <a:lnTo>
                    <a:pt x="62" y="32"/>
                  </a:lnTo>
                  <a:lnTo>
                    <a:pt x="62" y="32"/>
                  </a:lnTo>
                  <a:lnTo>
                    <a:pt x="88" y="44"/>
                  </a:lnTo>
                  <a:lnTo>
                    <a:pt x="108" y="56"/>
                  </a:lnTo>
                  <a:lnTo>
                    <a:pt x="154" y="90"/>
                  </a:lnTo>
                  <a:lnTo>
                    <a:pt x="154" y="90"/>
                  </a:lnTo>
                  <a:lnTo>
                    <a:pt x="168" y="98"/>
                  </a:lnTo>
                  <a:lnTo>
                    <a:pt x="182" y="106"/>
                  </a:lnTo>
                  <a:lnTo>
                    <a:pt x="198" y="110"/>
                  </a:lnTo>
                  <a:lnTo>
                    <a:pt x="214" y="114"/>
                  </a:lnTo>
                  <a:lnTo>
                    <a:pt x="242" y="118"/>
                  </a:lnTo>
                  <a:lnTo>
                    <a:pt x="268" y="122"/>
                  </a:lnTo>
                  <a:lnTo>
                    <a:pt x="268" y="122"/>
                  </a:lnTo>
                  <a:lnTo>
                    <a:pt x="290" y="128"/>
                  </a:lnTo>
                  <a:lnTo>
                    <a:pt x="312" y="138"/>
                  </a:lnTo>
                  <a:lnTo>
                    <a:pt x="332" y="150"/>
                  </a:lnTo>
                  <a:lnTo>
                    <a:pt x="354" y="164"/>
                  </a:lnTo>
                  <a:lnTo>
                    <a:pt x="354" y="164"/>
                  </a:lnTo>
                  <a:lnTo>
                    <a:pt x="366" y="172"/>
                  </a:lnTo>
                  <a:lnTo>
                    <a:pt x="378" y="178"/>
                  </a:lnTo>
                  <a:lnTo>
                    <a:pt x="402" y="188"/>
                  </a:lnTo>
                  <a:lnTo>
                    <a:pt x="422" y="192"/>
                  </a:lnTo>
                  <a:lnTo>
                    <a:pt x="430" y="194"/>
                  </a:lnTo>
                  <a:lnTo>
                    <a:pt x="442" y="166"/>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73" name="Freeform 170"/>
            <p:cNvSpPr/>
            <p:nvPr/>
          </p:nvSpPr>
          <p:spPr bwMode="auto">
            <a:xfrm>
              <a:off x="4029075" y="3203575"/>
              <a:ext cx="155575" cy="66675"/>
            </a:xfrm>
            <a:custGeom>
              <a:avLst/>
              <a:gdLst/>
              <a:ahLst/>
              <a:cxnLst>
                <a:cxn ang="0">
                  <a:pos x="44" y="30"/>
                </a:cxn>
                <a:cxn ang="0">
                  <a:pos x="44" y="30"/>
                </a:cxn>
                <a:cxn ang="0">
                  <a:pos x="60" y="36"/>
                </a:cxn>
                <a:cxn ang="0">
                  <a:pos x="76" y="40"/>
                </a:cxn>
                <a:cxn ang="0">
                  <a:pos x="88" y="42"/>
                </a:cxn>
                <a:cxn ang="0">
                  <a:pos x="98" y="42"/>
                </a:cxn>
                <a:cxn ang="0">
                  <a:pos x="98" y="42"/>
                </a:cxn>
                <a:cxn ang="0">
                  <a:pos x="92" y="34"/>
                </a:cxn>
                <a:cxn ang="0">
                  <a:pos x="82" y="26"/>
                </a:cxn>
                <a:cxn ang="0">
                  <a:pos x="68" y="18"/>
                </a:cxn>
                <a:cxn ang="0">
                  <a:pos x="54" y="10"/>
                </a:cxn>
                <a:cxn ang="0">
                  <a:pos x="54" y="10"/>
                </a:cxn>
                <a:cxn ang="0">
                  <a:pos x="38" y="6"/>
                </a:cxn>
                <a:cxn ang="0">
                  <a:pos x="22" y="2"/>
                </a:cxn>
                <a:cxn ang="0">
                  <a:pos x="10" y="0"/>
                </a:cxn>
                <a:cxn ang="0">
                  <a:pos x="0" y="0"/>
                </a:cxn>
                <a:cxn ang="0">
                  <a:pos x="0" y="0"/>
                </a:cxn>
                <a:cxn ang="0">
                  <a:pos x="6" y="8"/>
                </a:cxn>
                <a:cxn ang="0">
                  <a:pos x="16" y="16"/>
                </a:cxn>
                <a:cxn ang="0">
                  <a:pos x="30" y="24"/>
                </a:cxn>
                <a:cxn ang="0">
                  <a:pos x="44" y="30"/>
                </a:cxn>
                <a:cxn ang="0">
                  <a:pos x="44" y="30"/>
                </a:cxn>
              </a:cxnLst>
              <a:rect l="0" t="0" r="r" b="b"/>
              <a:pathLst>
                <a:path w="98" h="42">
                  <a:moveTo>
                    <a:pt x="44" y="30"/>
                  </a:moveTo>
                  <a:lnTo>
                    <a:pt x="44" y="30"/>
                  </a:lnTo>
                  <a:lnTo>
                    <a:pt x="60" y="36"/>
                  </a:lnTo>
                  <a:lnTo>
                    <a:pt x="76" y="40"/>
                  </a:lnTo>
                  <a:lnTo>
                    <a:pt x="88" y="42"/>
                  </a:lnTo>
                  <a:lnTo>
                    <a:pt x="98" y="42"/>
                  </a:lnTo>
                  <a:lnTo>
                    <a:pt x="98" y="42"/>
                  </a:lnTo>
                  <a:lnTo>
                    <a:pt x="92" y="34"/>
                  </a:lnTo>
                  <a:lnTo>
                    <a:pt x="82" y="26"/>
                  </a:lnTo>
                  <a:lnTo>
                    <a:pt x="68" y="18"/>
                  </a:lnTo>
                  <a:lnTo>
                    <a:pt x="54" y="10"/>
                  </a:lnTo>
                  <a:lnTo>
                    <a:pt x="54" y="10"/>
                  </a:lnTo>
                  <a:lnTo>
                    <a:pt x="38" y="6"/>
                  </a:lnTo>
                  <a:lnTo>
                    <a:pt x="22" y="2"/>
                  </a:lnTo>
                  <a:lnTo>
                    <a:pt x="10" y="0"/>
                  </a:lnTo>
                  <a:lnTo>
                    <a:pt x="0" y="0"/>
                  </a:lnTo>
                  <a:lnTo>
                    <a:pt x="0" y="0"/>
                  </a:lnTo>
                  <a:lnTo>
                    <a:pt x="6" y="8"/>
                  </a:lnTo>
                  <a:lnTo>
                    <a:pt x="16" y="16"/>
                  </a:lnTo>
                  <a:lnTo>
                    <a:pt x="30" y="24"/>
                  </a:lnTo>
                  <a:lnTo>
                    <a:pt x="44" y="30"/>
                  </a:lnTo>
                  <a:lnTo>
                    <a:pt x="44"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480" fill="hold"/>
                                        <p:tgtEl>
                                          <p:spTgt spid="18"/>
                                        </p:tgtEl>
                                      </p:cBhvr>
                                    </p:cmd>
                                  </p:childTnLst>
                                </p:cTn>
                              </p:par>
                              <p:par>
                                <p:cTn id="7" presetID="8" presetClass="emph" presetSubtype="0" fill="hold" nodeType="withEffect">
                                  <p:stCondLst>
                                    <p:cond delay="0"/>
                                  </p:stCondLst>
                                  <p:childTnLst>
                                    <p:animRot by="5400000">
                                      <p:cBhvr>
                                        <p:cTn id="8" dur="4000" fill="hold"/>
                                        <p:tgtEl>
                                          <p:spTgt spid="21"/>
                                        </p:tgtEl>
                                        <p:attrNameLst>
                                          <p:attrName>r</p:attrName>
                                        </p:attrNameLst>
                                      </p:cBhvr>
                                    </p:animRot>
                                  </p:childTnLst>
                                </p:cTn>
                              </p:par>
                              <p:par>
                                <p:cTn id="9" presetID="21" presetClass="entr" presetSubtype="8"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8)">
                                      <p:cBhvr>
                                        <p:cTn id="11"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repeatCount="indefinite" fill="hold" display="0">
                  <p:stCondLst>
                    <p:cond delay="indefinite"/>
                  </p:stCondLst>
                </p:cTn>
                <p:tgtEl>
                  <p:spTgt spid="18"/>
                </p:tgtEl>
              </p:cMediaNode>
            </p:video>
          </p:childTnLst>
        </p:cTn>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6" name="Picture 15"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a:scene3d>
            <a:camera prst="orthographicFront"/>
            <a:lightRig rig="threePt" dir="t"/>
          </a:scene3d>
          <a:sp3d>
            <a:bevelT prst="slope"/>
          </a:sp3d>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normAutofit/>
          </a:bodyPr>
          <a:lstStyle>
            <a:lvl1pPr>
              <a:defRPr sz="4000">
                <a:latin typeface="华文新魏" panose="02010800040101010101" pitchFamily="2" charset="-122"/>
                <a:ea typeface="华文新魏" panose="02010800040101010101" pitchFamily="2" charset="-122"/>
              </a:defRPr>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680321" y="2336872"/>
            <a:ext cx="9613861" cy="4260479"/>
          </a:xfrm>
        </p:spPr>
        <p:txBody>
          <a:bodyPr/>
          <a:lstStyle>
            <a:lvl1pPr>
              <a:defRPr sz="2800">
                <a:latin typeface="华文行楷" panose="02010800040101010101" pitchFamily="2" charset="-122"/>
                <a:ea typeface="华文行楷" panose="02010800040101010101" pitchFamily="2" charset="-122"/>
              </a:defRPr>
            </a:lvl1pPr>
            <a:lvl2pPr>
              <a:defRPr sz="2400">
                <a:latin typeface="华文行楷" panose="02010800040101010101" pitchFamily="2" charset="-122"/>
                <a:ea typeface="华文行楷" panose="02010800040101010101" pitchFamily="2" charset="-122"/>
              </a:defRPr>
            </a:lvl2pPr>
            <a:lvl3pPr>
              <a:defRPr sz="2200">
                <a:latin typeface="华文行楷" panose="02010800040101010101" pitchFamily="2" charset="-122"/>
                <a:ea typeface="华文行楷" panose="02010800040101010101" pitchFamily="2" charset="-122"/>
              </a:defRPr>
            </a:lvl3pPr>
            <a:lvl4pPr>
              <a:defRPr sz="2000">
                <a:latin typeface="华文行楷" panose="02010800040101010101" pitchFamily="2" charset="-122"/>
                <a:ea typeface="华文行楷" panose="02010800040101010101" pitchFamily="2" charset="-122"/>
              </a:defRPr>
            </a:lvl4pPr>
            <a:lvl5pPr>
              <a:defRPr sz="2000">
                <a:latin typeface="华文行楷" panose="02010800040101010101" pitchFamily="2" charset="-122"/>
                <a:ea typeface="华文行楷" panose="02010800040101010101" pitchFamily="2"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grpSp>
        <p:nvGrpSpPr>
          <p:cNvPr id="11" name="Group 174"/>
          <p:cNvGrpSpPr/>
          <p:nvPr userDrawn="1"/>
        </p:nvGrpSpPr>
        <p:grpSpPr>
          <a:xfrm>
            <a:off x="10775256" y="719341"/>
            <a:ext cx="1224136" cy="1180181"/>
            <a:chOff x="3689350" y="2546350"/>
            <a:chExt cx="1765300" cy="1765300"/>
          </a:xfrm>
          <a:scene3d>
            <a:camera prst="orthographicFront">
              <a:rot lat="0" lon="0" rev="0"/>
            </a:camera>
            <a:lightRig rig="chilly" dir="t">
              <a:rot lat="0" lon="0" rev="18480000"/>
            </a:lightRig>
          </a:scene3d>
        </p:grpSpPr>
        <p:sp>
          <p:nvSpPr>
            <p:cNvPr id="12" name="Freeform 119"/>
            <p:cNvSpPr/>
            <p:nvPr/>
          </p:nvSpPr>
          <p:spPr bwMode="auto">
            <a:xfrm>
              <a:off x="3689350" y="2546350"/>
              <a:ext cx="1765300" cy="1765300"/>
            </a:xfrm>
            <a:custGeom>
              <a:avLst/>
              <a:gdLst/>
              <a:ahLst/>
              <a:cxnLst>
                <a:cxn ang="0">
                  <a:pos x="1112" y="584"/>
                </a:cxn>
                <a:cxn ang="0">
                  <a:pos x="1102" y="668"/>
                </a:cxn>
                <a:cxn ang="0">
                  <a:pos x="1078" y="748"/>
                </a:cxn>
                <a:cxn ang="0">
                  <a:pos x="1046" y="822"/>
                </a:cxn>
                <a:cxn ang="0">
                  <a:pos x="1002" y="890"/>
                </a:cxn>
                <a:cxn ang="0">
                  <a:pos x="950" y="950"/>
                </a:cxn>
                <a:cxn ang="0">
                  <a:pos x="890" y="1002"/>
                </a:cxn>
                <a:cxn ang="0">
                  <a:pos x="822" y="1046"/>
                </a:cxn>
                <a:cxn ang="0">
                  <a:pos x="748" y="1078"/>
                </a:cxn>
                <a:cxn ang="0">
                  <a:pos x="668" y="1102"/>
                </a:cxn>
                <a:cxn ang="0">
                  <a:pos x="584" y="1112"/>
                </a:cxn>
                <a:cxn ang="0">
                  <a:pos x="528" y="1112"/>
                </a:cxn>
                <a:cxn ang="0">
                  <a:pos x="444" y="1102"/>
                </a:cxn>
                <a:cxn ang="0">
                  <a:pos x="364" y="1078"/>
                </a:cxn>
                <a:cxn ang="0">
                  <a:pos x="290" y="1046"/>
                </a:cxn>
                <a:cxn ang="0">
                  <a:pos x="222" y="1002"/>
                </a:cxn>
                <a:cxn ang="0">
                  <a:pos x="162" y="950"/>
                </a:cxn>
                <a:cxn ang="0">
                  <a:pos x="110" y="890"/>
                </a:cxn>
                <a:cxn ang="0">
                  <a:pos x="66" y="822"/>
                </a:cxn>
                <a:cxn ang="0">
                  <a:pos x="34" y="748"/>
                </a:cxn>
                <a:cxn ang="0">
                  <a:pos x="10" y="668"/>
                </a:cxn>
                <a:cxn ang="0">
                  <a:pos x="0" y="584"/>
                </a:cxn>
                <a:cxn ang="0">
                  <a:pos x="0" y="528"/>
                </a:cxn>
                <a:cxn ang="0">
                  <a:pos x="10" y="444"/>
                </a:cxn>
                <a:cxn ang="0">
                  <a:pos x="34" y="364"/>
                </a:cxn>
                <a:cxn ang="0">
                  <a:pos x="66" y="290"/>
                </a:cxn>
                <a:cxn ang="0">
                  <a:pos x="110" y="222"/>
                </a:cxn>
                <a:cxn ang="0">
                  <a:pos x="162" y="162"/>
                </a:cxn>
                <a:cxn ang="0">
                  <a:pos x="222" y="110"/>
                </a:cxn>
                <a:cxn ang="0">
                  <a:pos x="290" y="66"/>
                </a:cxn>
                <a:cxn ang="0">
                  <a:pos x="364" y="34"/>
                </a:cxn>
                <a:cxn ang="0">
                  <a:pos x="444" y="10"/>
                </a:cxn>
                <a:cxn ang="0">
                  <a:pos x="528" y="0"/>
                </a:cxn>
                <a:cxn ang="0">
                  <a:pos x="584" y="0"/>
                </a:cxn>
                <a:cxn ang="0">
                  <a:pos x="668" y="10"/>
                </a:cxn>
                <a:cxn ang="0">
                  <a:pos x="748" y="34"/>
                </a:cxn>
                <a:cxn ang="0">
                  <a:pos x="822" y="66"/>
                </a:cxn>
                <a:cxn ang="0">
                  <a:pos x="890" y="110"/>
                </a:cxn>
                <a:cxn ang="0">
                  <a:pos x="950" y="162"/>
                </a:cxn>
                <a:cxn ang="0">
                  <a:pos x="1002" y="222"/>
                </a:cxn>
                <a:cxn ang="0">
                  <a:pos x="1046" y="290"/>
                </a:cxn>
                <a:cxn ang="0">
                  <a:pos x="1078" y="364"/>
                </a:cxn>
                <a:cxn ang="0">
                  <a:pos x="1102" y="444"/>
                </a:cxn>
                <a:cxn ang="0">
                  <a:pos x="1112" y="528"/>
                </a:cxn>
              </a:cxnLst>
              <a:rect l="0" t="0" r="r" b="b"/>
              <a:pathLst>
                <a:path w="1112" h="1112">
                  <a:moveTo>
                    <a:pt x="1112" y="556"/>
                  </a:moveTo>
                  <a:lnTo>
                    <a:pt x="1112" y="556"/>
                  </a:lnTo>
                  <a:lnTo>
                    <a:pt x="1112" y="584"/>
                  </a:lnTo>
                  <a:lnTo>
                    <a:pt x="1110" y="612"/>
                  </a:lnTo>
                  <a:lnTo>
                    <a:pt x="1106" y="640"/>
                  </a:lnTo>
                  <a:lnTo>
                    <a:pt x="1102" y="668"/>
                  </a:lnTo>
                  <a:lnTo>
                    <a:pt x="1096" y="696"/>
                  </a:lnTo>
                  <a:lnTo>
                    <a:pt x="1088" y="722"/>
                  </a:lnTo>
                  <a:lnTo>
                    <a:pt x="1078" y="748"/>
                  </a:lnTo>
                  <a:lnTo>
                    <a:pt x="1068" y="772"/>
                  </a:lnTo>
                  <a:lnTo>
                    <a:pt x="1058" y="798"/>
                  </a:lnTo>
                  <a:lnTo>
                    <a:pt x="1046" y="822"/>
                  </a:lnTo>
                  <a:lnTo>
                    <a:pt x="1032" y="844"/>
                  </a:lnTo>
                  <a:lnTo>
                    <a:pt x="1018" y="868"/>
                  </a:lnTo>
                  <a:lnTo>
                    <a:pt x="1002" y="890"/>
                  </a:lnTo>
                  <a:lnTo>
                    <a:pt x="986" y="910"/>
                  </a:lnTo>
                  <a:lnTo>
                    <a:pt x="968" y="930"/>
                  </a:lnTo>
                  <a:lnTo>
                    <a:pt x="950" y="950"/>
                  </a:lnTo>
                  <a:lnTo>
                    <a:pt x="930" y="968"/>
                  </a:lnTo>
                  <a:lnTo>
                    <a:pt x="910" y="986"/>
                  </a:lnTo>
                  <a:lnTo>
                    <a:pt x="890" y="1002"/>
                  </a:lnTo>
                  <a:lnTo>
                    <a:pt x="868" y="1018"/>
                  </a:lnTo>
                  <a:lnTo>
                    <a:pt x="844" y="1032"/>
                  </a:lnTo>
                  <a:lnTo>
                    <a:pt x="822" y="1046"/>
                  </a:lnTo>
                  <a:lnTo>
                    <a:pt x="798" y="1058"/>
                  </a:lnTo>
                  <a:lnTo>
                    <a:pt x="772" y="1068"/>
                  </a:lnTo>
                  <a:lnTo>
                    <a:pt x="748" y="1078"/>
                  </a:lnTo>
                  <a:lnTo>
                    <a:pt x="722" y="1088"/>
                  </a:lnTo>
                  <a:lnTo>
                    <a:pt x="696" y="1096"/>
                  </a:lnTo>
                  <a:lnTo>
                    <a:pt x="668" y="1102"/>
                  </a:lnTo>
                  <a:lnTo>
                    <a:pt x="640" y="1106"/>
                  </a:lnTo>
                  <a:lnTo>
                    <a:pt x="612" y="1110"/>
                  </a:lnTo>
                  <a:lnTo>
                    <a:pt x="584" y="1112"/>
                  </a:lnTo>
                  <a:lnTo>
                    <a:pt x="556" y="1112"/>
                  </a:lnTo>
                  <a:lnTo>
                    <a:pt x="556" y="1112"/>
                  </a:lnTo>
                  <a:lnTo>
                    <a:pt x="528" y="1112"/>
                  </a:lnTo>
                  <a:lnTo>
                    <a:pt x="500" y="1110"/>
                  </a:lnTo>
                  <a:lnTo>
                    <a:pt x="472" y="1106"/>
                  </a:lnTo>
                  <a:lnTo>
                    <a:pt x="444" y="1102"/>
                  </a:lnTo>
                  <a:lnTo>
                    <a:pt x="416" y="1096"/>
                  </a:lnTo>
                  <a:lnTo>
                    <a:pt x="390" y="1088"/>
                  </a:lnTo>
                  <a:lnTo>
                    <a:pt x="364" y="1078"/>
                  </a:lnTo>
                  <a:lnTo>
                    <a:pt x="340" y="1068"/>
                  </a:lnTo>
                  <a:lnTo>
                    <a:pt x="314" y="1058"/>
                  </a:lnTo>
                  <a:lnTo>
                    <a:pt x="290" y="1046"/>
                  </a:lnTo>
                  <a:lnTo>
                    <a:pt x="268" y="1032"/>
                  </a:lnTo>
                  <a:lnTo>
                    <a:pt x="244" y="1018"/>
                  </a:lnTo>
                  <a:lnTo>
                    <a:pt x="222" y="1002"/>
                  </a:lnTo>
                  <a:lnTo>
                    <a:pt x="202" y="986"/>
                  </a:lnTo>
                  <a:lnTo>
                    <a:pt x="182" y="968"/>
                  </a:lnTo>
                  <a:lnTo>
                    <a:pt x="162" y="950"/>
                  </a:lnTo>
                  <a:lnTo>
                    <a:pt x="144" y="930"/>
                  </a:lnTo>
                  <a:lnTo>
                    <a:pt x="126" y="910"/>
                  </a:lnTo>
                  <a:lnTo>
                    <a:pt x="110" y="890"/>
                  </a:lnTo>
                  <a:lnTo>
                    <a:pt x="94" y="868"/>
                  </a:lnTo>
                  <a:lnTo>
                    <a:pt x="80" y="844"/>
                  </a:lnTo>
                  <a:lnTo>
                    <a:pt x="66" y="822"/>
                  </a:lnTo>
                  <a:lnTo>
                    <a:pt x="54" y="798"/>
                  </a:lnTo>
                  <a:lnTo>
                    <a:pt x="44" y="772"/>
                  </a:lnTo>
                  <a:lnTo>
                    <a:pt x="34" y="748"/>
                  </a:lnTo>
                  <a:lnTo>
                    <a:pt x="24" y="722"/>
                  </a:lnTo>
                  <a:lnTo>
                    <a:pt x="16" y="696"/>
                  </a:lnTo>
                  <a:lnTo>
                    <a:pt x="10" y="668"/>
                  </a:lnTo>
                  <a:lnTo>
                    <a:pt x="6" y="640"/>
                  </a:lnTo>
                  <a:lnTo>
                    <a:pt x="2" y="612"/>
                  </a:lnTo>
                  <a:lnTo>
                    <a:pt x="0" y="584"/>
                  </a:lnTo>
                  <a:lnTo>
                    <a:pt x="0" y="556"/>
                  </a:lnTo>
                  <a:lnTo>
                    <a:pt x="0" y="556"/>
                  </a:lnTo>
                  <a:lnTo>
                    <a:pt x="0" y="528"/>
                  </a:lnTo>
                  <a:lnTo>
                    <a:pt x="2" y="500"/>
                  </a:lnTo>
                  <a:lnTo>
                    <a:pt x="6" y="472"/>
                  </a:lnTo>
                  <a:lnTo>
                    <a:pt x="10" y="444"/>
                  </a:lnTo>
                  <a:lnTo>
                    <a:pt x="16" y="416"/>
                  </a:lnTo>
                  <a:lnTo>
                    <a:pt x="24" y="390"/>
                  </a:lnTo>
                  <a:lnTo>
                    <a:pt x="34" y="364"/>
                  </a:lnTo>
                  <a:lnTo>
                    <a:pt x="44" y="340"/>
                  </a:lnTo>
                  <a:lnTo>
                    <a:pt x="54" y="314"/>
                  </a:lnTo>
                  <a:lnTo>
                    <a:pt x="66" y="290"/>
                  </a:lnTo>
                  <a:lnTo>
                    <a:pt x="80" y="268"/>
                  </a:lnTo>
                  <a:lnTo>
                    <a:pt x="94" y="244"/>
                  </a:lnTo>
                  <a:lnTo>
                    <a:pt x="110" y="222"/>
                  </a:lnTo>
                  <a:lnTo>
                    <a:pt x="126" y="202"/>
                  </a:lnTo>
                  <a:lnTo>
                    <a:pt x="144" y="182"/>
                  </a:lnTo>
                  <a:lnTo>
                    <a:pt x="162" y="162"/>
                  </a:lnTo>
                  <a:lnTo>
                    <a:pt x="182" y="144"/>
                  </a:lnTo>
                  <a:lnTo>
                    <a:pt x="202" y="126"/>
                  </a:lnTo>
                  <a:lnTo>
                    <a:pt x="222" y="110"/>
                  </a:lnTo>
                  <a:lnTo>
                    <a:pt x="244" y="94"/>
                  </a:lnTo>
                  <a:lnTo>
                    <a:pt x="268" y="80"/>
                  </a:lnTo>
                  <a:lnTo>
                    <a:pt x="290" y="66"/>
                  </a:lnTo>
                  <a:lnTo>
                    <a:pt x="314" y="54"/>
                  </a:lnTo>
                  <a:lnTo>
                    <a:pt x="340" y="44"/>
                  </a:lnTo>
                  <a:lnTo>
                    <a:pt x="364" y="34"/>
                  </a:lnTo>
                  <a:lnTo>
                    <a:pt x="390" y="24"/>
                  </a:lnTo>
                  <a:lnTo>
                    <a:pt x="416" y="16"/>
                  </a:lnTo>
                  <a:lnTo>
                    <a:pt x="444" y="10"/>
                  </a:lnTo>
                  <a:lnTo>
                    <a:pt x="472" y="6"/>
                  </a:lnTo>
                  <a:lnTo>
                    <a:pt x="500" y="2"/>
                  </a:lnTo>
                  <a:lnTo>
                    <a:pt x="528" y="0"/>
                  </a:lnTo>
                  <a:lnTo>
                    <a:pt x="556" y="0"/>
                  </a:lnTo>
                  <a:lnTo>
                    <a:pt x="556" y="0"/>
                  </a:lnTo>
                  <a:lnTo>
                    <a:pt x="584" y="0"/>
                  </a:lnTo>
                  <a:lnTo>
                    <a:pt x="612" y="2"/>
                  </a:lnTo>
                  <a:lnTo>
                    <a:pt x="640" y="6"/>
                  </a:lnTo>
                  <a:lnTo>
                    <a:pt x="668" y="10"/>
                  </a:lnTo>
                  <a:lnTo>
                    <a:pt x="696" y="16"/>
                  </a:lnTo>
                  <a:lnTo>
                    <a:pt x="722" y="24"/>
                  </a:lnTo>
                  <a:lnTo>
                    <a:pt x="748" y="34"/>
                  </a:lnTo>
                  <a:lnTo>
                    <a:pt x="772" y="44"/>
                  </a:lnTo>
                  <a:lnTo>
                    <a:pt x="798" y="54"/>
                  </a:lnTo>
                  <a:lnTo>
                    <a:pt x="822" y="66"/>
                  </a:lnTo>
                  <a:lnTo>
                    <a:pt x="844" y="80"/>
                  </a:lnTo>
                  <a:lnTo>
                    <a:pt x="868" y="94"/>
                  </a:lnTo>
                  <a:lnTo>
                    <a:pt x="890" y="110"/>
                  </a:lnTo>
                  <a:lnTo>
                    <a:pt x="910" y="126"/>
                  </a:lnTo>
                  <a:lnTo>
                    <a:pt x="930" y="144"/>
                  </a:lnTo>
                  <a:lnTo>
                    <a:pt x="950" y="162"/>
                  </a:lnTo>
                  <a:lnTo>
                    <a:pt x="968" y="182"/>
                  </a:lnTo>
                  <a:lnTo>
                    <a:pt x="986" y="202"/>
                  </a:lnTo>
                  <a:lnTo>
                    <a:pt x="1002" y="222"/>
                  </a:lnTo>
                  <a:lnTo>
                    <a:pt x="1018" y="244"/>
                  </a:lnTo>
                  <a:lnTo>
                    <a:pt x="1032" y="268"/>
                  </a:lnTo>
                  <a:lnTo>
                    <a:pt x="1046" y="290"/>
                  </a:lnTo>
                  <a:lnTo>
                    <a:pt x="1058" y="314"/>
                  </a:lnTo>
                  <a:lnTo>
                    <a:pt x="1068" y="340"/>
                  </a:lnTo>
                  <a:lnTo>
                    <a:pt x="1078" y="364"/>
                  </a:lnTo>
                  <a:lnTo>
                    <a:pt x="1088" y="390"/>
                  </a:lnTo>
                  <a:lnTo>
                    <a:pt x="1096" y="416"/>
                  </a:lnTo>
                  <a:lnTo>
                    <a:pt x="1102" y="444"/>
                  </a:lnTo>
                  <a:lnTo>
                    <a:pt x="1106" y="472"/>
                  </a:lnTo>
                  <a:lnTo>
                    <a:pt x="1110" y="500"/>
                  </a:lnTo>
                  <a:lnTo>
                    <a:pt x="1112" y="528"/>
                  </a:lnTo>
                  <a:lnTo>
                    <a:pt x="1112" y="556"/>
                  </a:lnTo>
                  <a:lnTo>
                    <a:pt x="1112" y="556"/>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3" name="Freeform 120"/>
            <p:cNvSpPr/>
            <p:nvPr/>
          </p:nvSpPr>
          <p:spPr bwMode="auto">
            <a:xfrm>
              <a:off x="3759200" y="2616200"/>
              <a:ext cx="1625600" cy="1625600"/>
            </a:xfrm>
            <a:custGeom>
              <a:avLst/>
              <a:gdLst/>
              <a:ahLst/>
              <a:cxnLst>
                <a:cxn ang="0">
                  <a:pos x="1024" y="512"/>
                </a:cxn>
                <a:cxn ang="0">
                  <a:pos x="1020" y="564"/>
                </a:cxn>
                <a:cxn ang="0">
                  <a:pos x="1014" y="616"/>
                </a:cxn>
                <a:cxn ang="0">
                  <a:pos x="1000" y="664"/>
                </a:cxn>
                <a:cxn ang="0">
                  <a:pos x="984" y="712"/>
                </a:cxn>
                <a:cxn ang="0">
                  <a:pos x="962" y="756"/>
                </a:cxn>
                <a:cxn ang="0">
                  <a:pos x="906" y="838"/>
                </a:cxn>
                <a:cxn ang="0">
                  <a:pos x="838" y="906"/>
                </a:cxn>
                <a:cxn ang="0">
                  <a:pos x="756" y="962"/>
                </a:cxn>
                <a:cxn ang="0">
                  <a:pos x="712" y="984"/>
                </a:cxn>
                <a:cxn ang="0">
                  <a:pos x="664" y="1000"/>
                </a:cxn>
                <a:cxn ang="0">
                  <a:pos x="616" y="1014"/>
                </a:cxn>
                <a:cxn ang="0">
                  <a:pos x="564" y="1020"/>
                </a:cxn>
                <a:cxn ang="0">
                  <a:pos x="512" y="1024"/>
                </a:cxn>
                <a:cxn ang="0">
                  <a:pos x="486" y="1022"/>
                </a:cxn>
                <a:cxn ang="0">
                  <a:pos x="434" y="1018"/>
                </a:cxn>
                <a:cxn ang="0">
                  <a:pos x="384" y="1008"/>
                </a:cxn>
                <a:cxn ang="0">
                  <a:pos x="336" y="992"/>
                </a:cxn>
                <a:cxn ang="0">
                  <a:pos x="290" y="974"/>
                </a:cxn>
                <a:cxn ang="0">
                  <a:pos x="226" y="936"/>
                </a:cxn>
                <a:cxn ang="0">
                  <a:pos x="150" y="874"/>
                </a:cxn>
                <a:cxn ang="0">
                  <a:pos x="88" y="798"/>
                </a:cxn>
                <a:cxn ang="0">
                  <a:pos x="50" y="734"/>
                </a:cxn>
                <a:cxn ang="0">
                  <a:pos x="32" y="688"/>
                </a:cxn>
                <a:cxn ang="0">
                  <a:pos x="16" y="640"/>
                </a:cxn>
                <a:cxn ang="0">
                  <a:pos x="6" y="590"/>
                </a:cxn>
                <a:cxn ang="0">
                  <a:pos x="2" y="538"/>
                </a:cxn>
                <a:cxn ang="0">
                  <a:pos x="0" y="512"/>
                </a:cxn>
                <a:cxn ang="0">
                  <a:pos x="4" y="460"/>
                </a:cxn>
                <a:cxn ang="0">
                  <a:pos x="10" y="408"/>
                </a:cxn>
                <a:cxn ang="0">
                  <a:pos x="24" y="360"/>
                </a:cxn>
                <a:cxn ang="0">
                  <a:pos x="40" y="312"/>
                </a:cxn>
                <a:cxn ang="0">
                  <a:pos x="62" y="268"/>
                </a:cxn>
                <a:cxn ang="0">
                  <a:pos x="118" y="186"/>
                </a:cxn>
                <a:cxn ang="0">
                  <a:pos x="186" y="118"/>
                </a:cxn>
                <a:cxn ang="0">
                  <a:pos x="268" y="62"/>
                </a:cxn>
                <a:cxn ang="0">
                  <a:pos x="312" y="40"/>
                </a:cxn>
                <a:cxn ang="0">
                  <a:pos x="360" y="24"/>
                </a:cxn>
                <a:cxn ang="0">
                  <a:pos x="408" y="10"/>
                </a:cxn>
                <a:cxn ang="0">
                  <a:pos x="460" y="4"/>
                </a:cxn>
                <a:cxn ang="0">
                  <a:pos x="512" y="0"/>
                </a:cxn>
                <a:cxn ang="0">
                  <a:pos x="538" y="2"/>
                </a:cxn>
                <a:cxn ang="0">
                  <a:pos x="590" y="6"/>
                </a:cxn>
                <a:cxn ang="0">
                  <a:pos x="640" y="16"/>
                </a:cxn>
                <a:cxn ang="0">
                  <a:pos x="688" y="32"/>
                </a:cxn>
                <a:cxn ang="0">
                  <a:pos x="734" y="50"/>
                </a:cxn>
                <a:cxn ang="0">
                  <a:pos x="798" y="88"/>
                </a:cxn>
                <a:cxn ang="0">
                  <a:pos x="874" y="150"/>
                </a:cxn>
                <a:cxn ang="0">
                  <a:pos x="936" y="226"/>
                </a:cxn>
                <a:cxn ang="0">
                  <a:pos x="974" y="290"/>
                </a:cxn>
                <a:cxn ang="0">
                  <a:pos x="992" y="336"/>
                </a:cxn>
                <a:cxn ang="0">
                  <a:pos x="1008" y="384"/>
                </a:cxn>
                <a:cxn ang="0">
                  <a:pos x="1018" y="434"/>
                </a:cxn>
                <a:cxn ang="0">
                  <a:pos x="1022" y="486"/>
                </a:cxn>
                <a:cxn ang="0">
                  <a:pos x="1024" y="512"/>
                </a:cxn>
              </a:cxnLst>
              <a:rect l="0" t="0" r="r" b="b"/>
              <a:pathLst>
                <a:path w="1024" h="1024">
                  <a:moveTo>
                    <a:pt x="1024" y="512"/>
                  </a:moveTo>
                  <a:lnTo>
                    <a:pt x="1024" y="512"/>
                  </a:lnTo>
                  <a:lnTo>
                    <a:pt x="1022" y="538"/>
                  </a:lnTo>
                  <a:lnTo>
                    <a:pt x="1020" y="564"/>
                  </a:lnTo>
                  <a:lnTo>
                    <a:pt x="1018" y="590"/>
                  </a:lnTo>
                  <a:lnTo>
                    <a:pt x="1014" y="616"/>
                  </a:lnTo>
                  <a:lnTo>
                    <a:pt x="1008" y="640"/>
                  </a:lnTo>
                  <a:lnTo>
                    <a:pt x="1000" y="664"/>
                  </a:lnTo>
                  <a:lnTo>
                    <a:pt x="992" y="688"/>
                  </a:lnTo>
                  <a:lnTo>
                    <a:pt x="984" y="712"/>
                  </a:lnTo>
                  <a:lnTo>
                    <a:pt x="974" y="734"/>
                  </a:lnTo>
                  <a:lnTo>
                    <a:pt x="962" y="756"/>
                  </a:lnTo>
                  <a:lnTo>
                    <a:pt x="936" y="798"/>
                  </a:lnTo>
                  <a:lnTo>
                    <a:pt x="906" y="838"/>
                  </a:lnTo>
                  <a:lnTo>
                    <a:pt x="874" y="874"/>
                  </a:lnTo>
                  <a:lnTo>
                    <a:pt x="838" y="906"/>
                  </a:lnTo>
                  <a:lnTo>
                    <a:pt x="798" y="936"/>
                  </a:lnTo>
                  <a:lnTo>
                    <a:pt x="756" y="962"/>
                  </a:lnTo>
                  <a:lnTo>
                    <a:pt x="734" y="974"/>
                  </a:lnTo>
                  <a:lnTo>
                    <a:pt x="712" y="984"/>
                  </a:lnTo>
                  <a:lnTo>
                    <a:pt x="688" y="992"/>
                  </a:lnTo>
                  <a:lnTo>
                    <a:pt x="664" y="1000"/>
                  </a:lnTo>
                  <a:lnTo>
                    <a:pt x="640" y="1008"/>
                  </a:lnTo>
                  <a:lnTo>
                    <a:pt x="616" y="1014"/>
                  </a:lnTo>
                  <a:lnTo>
                    <a:pt x="590" y="1018"/>
                  </a:lnTo>
                  <a:lnTo>
                    <a:pt x="564" y="1020"/>
                  </a:lnTo>
                  <a:lnTo>
                    <a:pt x="538" y="1022"/>
                  </a:lnTo>
                  <a:lnTo>
                    <a:pt x="512" y="1024"/>
                  </a:lnTo>
                  <a:lnTo>
                    <a:pt x="512" y="1024"/>
                  </a:lnTo>
                  <a:lnTo>
                    <a:pt x="486" y="1022"/>
                  </a:lnTo>
                  <a:lnTo>
                    <a:pt x="460" y="1020"/>
                  </a:lnTo>
                  <a:lnTo>
                    <a:pt x="434" y="1018"/>
                  </a:lnTo>
                  <a:lnTo>
                    <a:pt x="408" y="1014"/>
                  </a:lnTo>
                  <a:lnTo>
                    <a:pt x="384" y="1008"/>
                  </a:lnTo>
                  <a:lnTo>
                    <a:pt x="360" y="1000"/>
                  </a:lnTo>
                  <a:lnTo>
                    <a:pt x="336" y="992"/>
                  </a:lnTo>
                  <a:lnTo>
                    <a:pt x="312" y="984"/>
                  </a:lnTo>
                  <a:lnTo>
                    <a:pt x="290" y="974"/>
                  </a:lnTo>
                  <a:lnTo>
                    <a:pt x="268" y="962"/>
                  </a:lnTo>
                  <a:lnTo>
                    <a:pt x="226" y="936"/>
                  </a:lnTo>
                  <a:lnTo>
                    <a:pt x="186" y="906"/>
                  </a:lnTo>
                  <a:lnTo>
                    <a:pt x="150" y="874"/>
                  </a:lnTo>
                  <a:lnTo>
                    <a:pt x="118" y="838"/>
                  </a:lnTo>
                  <a:lnTo>
                    <a:pt x="88" y="798"/>
                  </a:lnTo>
                  <a:lnTo>
                    <a:pt x="62" y="756"/>
                  </a:lnTo>
                  <a:lnTo>
                    <a:pt x="50" y="734"/>
                  </a:lnTo>
                  <a:lnTo>
                    <a:pt x="40" y="712"/>
                  </a:lnTo>
                  <a:lnTo>
                    <a:pt x="32" y="688"/>
                  </a:lnTo>
                  <a:lnTo>
                    <a:pt x="24" y="664"/>
                  </a:lnTo>
                  <a:lnTo>
                    <a:pt x="16" y="640"/>
                  </a:lnTo>
                  <a:lnTo>
                    <a:pt x="10" y="616"/>
                  </a:lnTo>
                  <a:lnTo>
                    <a:pt x="6" y="590"/>
                  </a:lnTo>
                  <a:lnTo>
                    <a:pt x="4" y="564"/>
                  </a:lnTo>
                  <a:lnTo>
                    <a:pt x="2" y="538"/>
                  </a:lnTo>
                  <a:lnTo>
                    <a:pt x="0" y="512"/>
                  </a:lnTo>
                  <a:lnTo>
                    <a:pt x="0" y="512"/>
                  </a:lnTo>
                  <a:lnTo>
                    <a:pt x="2" y="486"/>
                  </a:lnTo>
                  <a:lnTo>
                    <a:pt x="4" y="460"/>
                  </a:lnTo>
                  <a:lnTo>
                    <a:pt x="6" y="434"/>
                  </a:lnTo>
                  <a:lnTo>
                    <a:pt x="10" y="408"/>
                  </a:lnTo>
                  <a:lnTo>
                    <a:pt x="16" y="384"/>
                  </a:lnTo>
                  <a:lnTo>
                    <a:pt x="24" y="360"/>
                  </a:lnTo>
                  <a:lnTo>
                    <a:pt x="32" y="336"/>
                  </a:lnTo>
                  <a:lnTo>
                    <a:pt x="40" y="312"/>
                  </a:lnTo>
                  <a:lnTo>
                    <a:pt x="50" y="290"/>
                  </a:lnTo>
                  <a:lnTo>
                    <a:pt x="62" y="268"/>
                  </a:lnTo>
                  <a:lnTo>
                    <a:pt x="88" y="226"/>
                  </a:lnTo>
                  <a:lnTo>
                    <a:pt x="118" y="186"/>
                  </a:lnTo>
                  <a:lnTo>
                    <a:pt x="150" y="150"/>
                  </a:lnTo>
                  <a:lnTo>
                    <a:pt x="186" y="118"/>
                  </a:lnTo>
                  <a:lnTo>
                    <a:pt x="226" y="88"/>
                  </a:lnTo>
                  <a:lnTo>
                    <a:pt x="268" y="62"/>
                  </a:lnTo>
                  <a:lnTo>
                    <a:pt x="290" y="50"/>
                  </a:lnTo>
                  <a:lnTo>
                    <a:pt x="312" y="40"/>
                  </a:lnTo>
                  <a:lnTo>
                    <a:pt x="336" y="32"/>
                  </a:lnTo>
                  <a:lnTo>
                    <a:pt x="360" y="24"/>
                  </a:lnTo>
                  <a:lnTo>
                    <a:pt x="384" y="16"/>
                  </a:lnTo>
                  <a:lnTo>
                    <a:pt x="408" y="10"/>
                  </a:lnTo>
                  <a:lnTo>
                    <a:pt x="434" y="6"/>
                  </a:lnTo>
                  <a:lnTo>
                    <a:pt x="460" y="4"/>
                  </a:lnTo>
                  <a:lnTo>
                    <a:pt x="486" y="2"/>
                  </a:lnTo>
                  <a:lnTo>
                    <a:pt x="512" y="0"/>
                  </a:lnTo>
                  <a:lnTo>
                    <a:pt x="512" y="0"/>
                  </a:lnTo>
                  <a:lnTo>
                    <a:pt x="538" y="2"/>
                  </a:lnTo>
                  <a:lnTo>
                    <a:pt x="564" y="4"/>
                  </a:lnTo>
                  <a:lnTo>
                    <a:pt x="590" y="6"/>
                  </a:lnTo>
                  <a:lnTo>
                    <a:pt x="616" y="10"/>
                  </a:lnTo>
                  <a:lnTo>
                    <a:pt x="640" y="16"/>
                  </a:lnTo>
                  <a:lnTo>
                    <a:pt x="664" y="24"/>
                  </a:lnTo>
                  <a:lnTo>
                    <a:pt x="688" y="32"/>
                  </a:lnTo>
                  <a:lnTo>
                    <a:pt x="712" y="40"/>
                  </a:lnTo>
                  <a:lnTo>
                    <a:pt x="734" y="50"/>
                  </a:lnTo>
                  <a:lnTo>
                    <a:pt x="756" y="62"/>
                  </a:lnTo>
                  <a:lnTo>
                    <a:pt x="798" y="88"/>
                  </a:lnTo>
                  <a:lnTo>
                    <a:pt x="838" y="118"/>
                  </a:lnTo>
                  <a:lnTo>
                    <a:pt x="874" y="150"/>
                  </a:lnTo>
                  <a:lnTo>
                    <a:pt x="906" y="186"/>
                  </a:lnTo>
                  <a:lnTo>
                    <a:pt x="936" y="226"/>
                  </a:lnTo>
                  <a:lnTo>
                    <a:pt x="962" y="268"/>
                  </a:lnTo>
                  <a:lnTo>
                    <a:pt x="974" y="290"/>
                  </a:lnTo>
                  <a:lnTo>
                    <a:pt x="984" y="312"/>
                  </a:lnTo>
                  <a:lnTo>
                    <a:pt x="992" y="336"/>
                  </a:lnTo>
                  <a:lnTo>
                    <a:pt x="1000" y="360"/>
                  </a:lnTo>
                  <a:lnTo>
                    <a:pt x="1008" y="384"/>
                  </a:lnTo>
                  <a:lnTo>
                    <a:pt x="1014" y="408"/>
                  </a:lnTo>
                  <a:lnTo>
                    <a:pt x="1018" y="434"/>
                  </a:lnTo>
                  <a:lnTo>
                    <a:pt x="1020" y="460"/>
                  </a:lnTo>
                  <a:lnTo>
                    <a:pt x="1022" y="486"/>
                  </a:lnTo>
                  <a:lnTo>
                    <a:pt x="1024" y="512"/>
                  </a:lnTo>
                  <a:lnTo>
                    <a:pt x="1024" y="512"/>
                  </a:lnTo>
                  <a:close/>
                </a:path>
              </a:pathLst>
            </a:custGeom>
            <a:solidFill>
              <a:srgbClr val="FFDF4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4" name="Freeform 121"/>
            <p:cNvSpPr/>
            <p:nvPr/>
          </p:nvSpPr>
          <p:spPr bwMode="auto">
            <a:xfrm>
              <a:off x="3978275" y="2835275"/>
              <a:ext cx="1187450" cy="1187450"/>
            </a:xfrm>
            <a:custGeom>
              <a:avLst/>
              <a:gdLst/>
              <a:ahLst/>
              <a:cxnLst>
                <a:cxn ang="0">
                  <a:pos x="748" y="374"/>
                </a:cxn>
                <a:cxn ang="0">
                  <a:pos x="742" y="450"/>
                </a:cxn>
                <a:cxn ang="0">
                  <a:pos x="720" y="520"/>
                </a:cxn>
                <a:cxn ang="0">
                  <a:pos x="684" y="584"/>
                </a:cxn>
                <a:cxn ang="0">
                  <a:pos x="640" y="640"/>
                </a:cxn>
                <a:cxn ang="0">
                  <a:pos x="584" y="684"/>
                </a:cxn>
                <a:cxn ang="0">
                  <a:pos x="520" y="720"/>
                </a:cxn>
                <a:cxn ang="0">
                  <a:pos x="450" y="742"/>
                </a:cxn>
                <a:cxn ang="0">
                  <a:pos x="374" y="748"/>
                </a:cxn>
                <a:cxn ang="0">
                  <a:pos x="336" y="746"/>
                </a:cxn>
                <a:cxn ang="0">
                  <a:pos x="262" y="732"/>
                </a:cxn>
                <a:cxn ang="0">
                  <a:pos x="196" y="704"/>
                </a:cxn>
                <a:cxn ang="0">
                  <a:pos x="136" y="664"/>
                </a:cxn>
                <a:cxn ang="0">
                  <a:pos x="84" y="612"/>
                </a:cxn>
                <a:cxn ang="0">
                  <a:pos x="44" y="552"/>
                </a:cxn>
                <a:cxn ang="0">
                  <a:pos x="16" y="486"/>
                </a:cxn>
                <a:cxn ang="0">
                  <a:pos x="2" y="412"/>
                </a:cxn>
                <a:cxn ang="0">
                  <a:pos x="0" y="374"/>
                </a:cxn>
                <a:cxn ang="0">
                  <a:pos x="6" y="298"/>
                </a:cxn>
                <a:cxn ang="0">
                  <a:pos x="28" y="228"/>
                </a:cxn>
                <a:cxn ang="0">
                  <a:pos x="64" y="164"/>
                </a:cxn>
                <a:cxn ang="0">
                  <a:pos x="108" y="108"/>
                </a:cxn>
                <a:cxn ang="0">
                  <a:pos x="164" y="64"/>
                </a:cxn>
                <a:cxn ang="0">
                  <a:pos x="228" y="28"/>
                </a:cxn>
                <a:cxn ang="0">
                  <a:pos x="298" y="6"/>
                </a:cxn>
                <a:cxn ang="0">
                  <a:pos x="374" y="0"/>
                </a:cxn>
                <a:cxn ang="0">
                  <a:pos x="412" y="2"/>
                </a:cxn>
                <a:cxn ang="0">
                  <a:pos x="486" y="16"/>
                </a:cxn>
                <a:cxn ang="0">
                  <a:pos x="552" y="44"/>
                </a:cxn>
                <a:cxn ang="0">
                  <a:pos x="612" y="84"/>
                </a:cxn>
                <a:cxn ang="0">
                  <a:pos x="664" y="136"/>
                </a:cxn>
                <a:cxn ang="0">
                  <a:pos x="704" y="196"/>
                </a:cxn>
                <a:cxn ang="0">
                  <a:pos x="732" y="262"/>
                </a:cxn>
                <a:cxn ang="0">
                  <a:pos x="746" y="336"/>
                </a:cxn>
                <a:cxn ang="0">
                  <a:pos x="748" y="374"/>
                </a:cxn>
              </a:cxnLst>
              <a:rect l="0" t="0" r="r" b="b"/>
              <a:pathLst>
                <a:path w="748" h="748">
                  <a:moveTo>
                    <a:pt x="748" y="374"/>
                  </a:moveTo>
                  <a:lnTo>
                    <a:pt x="748" y="374"/>
                  </a:lnTo>
                  <a:lnTo>
                    <a:pt x="746" y="412"/>
                  </a:lnTo>
                  <a:lnTo>
                    <a:pt x="742" y="450"/>
                  </a:lnTo>
                  <a:lnTo>
                    <a:pt x="732" y="486"/>
                  </a:lnTo>
                  <a:lnTo>
                    <a:pt x="720" y="520"/>
                  </a:lnTo>
                  <a:lnTo>
                    <a:pt x="704" y="552"/>
                  </a:lnTo>
                  <a:lnTo>
                    <a:pt x="684" y="584"/>
                  </a:lnTo>
                  <a:lnTo>
                    <a:pt x="664" y="612"/>
                  </a:lnTo>
                  <a:lnTo>
                    <a:pt x="640" y="640"/>
                  </a:lnTo>
                  <a:lnTo>
                    <a:pt x="612" y="664"/>
                  </a:lnTo>
                  <a:lnTo>
                    <a:pt x="584" y="684"/>
                  </a:lnTo>
                  <a:lnTo>
                    <a:pt x="552" y="704"/>
                  </a:lnTo>
                  <a:lnTo>
                    <a:pt x="520" y="720"/>
                  </a:lnTo>
                  <a:lnTo>
                    <a:pt x="486" y="732"/>
                  </a:lnTo>
                  <a:lnTo>
                    <a:pt x="450" y="742"/>
                  </a:lnTo>
                  <a:lnTo>
                    <a:pt x="412" y="746"/>
                  </a:lnTo>
                  <a:lnTo>
                    <a:pt x="374" y="748"/>
                  </a:lnTo>
                  <a:lnTo>
                    <a:pt x="374" y="748"/>
                  </a:lnTo>
                  <a:lnTo>
                    <a:pt x="336" y="746"/>
                  </a:lnTo>
                  <a:lnTo>
                    <a:pt x="298" y="742"/>
                  </a:lnTo>
                  <a:lnTo>
                    <a:pt x="262" y="732"/>
                  </a:lnTo>
                  <a:lnTo>
                    <a:pt x="228" y="720"/>
                  </a:lnTo>
                  <a:lnTo>
                    <a:pt x="196" y="704"/>
                  </a:lnTo>
                  <a:lnTo>
                    <a:pt x="164" y="684"/>
                  </a:lnTo>
                  <a:lnTo>
                    <a:pt x="136" y="664"/>
                  </a:lnTo>
                  <a:lnTo>
                    <a:pt x="108" y="640"/>
                  </a:lnTo>
                  <a:lnTo>
                    <a:pt x="84" y="612"/>
                  </a:lnTo>
                  <a:lnTo>
                    <a:pt x="64" y="584"/>
                  </a:lnTo>
                  <a:lnTo>
                    <a:pt x="44" y="552"/>
                  </a:lnTo>
                  <a:lnTo>
                    <a:pt x="28" y="520"/>
                  </a:lnTo>
                  <a:lnTo>
                    <a:pt x="16" y="486"/>
                  </a:lnTo>
                  <a:lnTo>
                    <a:pt x="6" y="450"/>
                  </a:lnTo>
                  <a:lnTo>
                    <a:pt x="2" y="412"/>
                  </a:lnTo>
                  <a:lnTo>
                    <a:pt x="0" y="374"/>
                  </a:lnTo>
                  <a:lnTo>
                    <a:pt x="0" y="374"/>
                  </a:lnTo>
                  <a:lnTo>
                    <a:pt x="2" y="336"/>
                  </a:lnTo>
                  <a:lnTo>
                    <a:pt x="6" y="298"/>
                  </a:lnTo>
                  <a:lnTo>
                    <a:pt x="16" y="262"/>
                  </a:lnTo>
                  <a:lnTo>
                    <a:pt x="28" y="228"/>
                  </a:lnTo>
                  <a:lnTo>
                    <a:pt x="44" y="196"/>
                  </a:lnTo>
                  <a:lnTo>
                    <a:pt x="64" y="164"/>
                  </a:lnTo>
                  <a:lnTo>
                    <a:pt x="84" y="136"/>
                  </a:lnTo>
                  <a:lnTo>
                    <a:pt x="108" y="108"/>
                  </a:lnTo>
                  <a:lnTo>
                    <a:pt x="136" y="84"/>
                  </a:lnTo>
                  <a:lnTo>
                    <a:pt x="164" y="64"/>
                  </a:lnTo>
                  <a:lnTo>
                    <a:pt x="196" y="44"/>
                  </a:lnTo>
                  <a:lnTo>
                    <a:pt x="228" y="28"/>
                  </a:lnTo>
                  <a:lnTo>
                    <a:pt x="262" y="16"/>
                  </a:lnTo>
                  <a:lnTo>
                    <a:pt x="298" y="6"/>
                  </a:lnTo>
                  <a:lnTo>
                    <a:pt x="336" y="2"/>
                  </a:lnTo>
                  <a:lnTo>
                    <a:pt x="374" y="0"/>
                  </a:lnTo>
                  <a:lnTo>
                    <a:pt x="374" y="0"/>
                  </a:lnTo>
                  <a:lnTo>
                    <a:pt x="412" y="2"/>
                  </a:lnTo>
                  <a:lnTo>
                    <a:pt x="450" y="6"/>
                  </a:lnTo>
                  <a:lnTo>
                    <a:pt x="486" y="16"/>
                  </a:lnTo>
                  <a:lnTo>
                    <a:pt x="520" y="28"/>
                  </a:lnTo>
                  <a:lnTo>
                    <a:pt x="552" y="44"/>
                  </a:lnTo>
                  <a:lnTo>
                    <a:pt x="584" y="64"/>
                  </a:lnTo>
                  <a:lnTo>
                    <a:pt x="612" y="84"/>
                  </a:lnTo>
                  <a:lnTo>
                    <a:pt x="640" y="108"/>
                  </a:lnTo>
                  <a:lnTo>
                    <a:pt x="664" y="136"/>
                  </a:lnTo>
                  <a:lnTo>
                    <a:pt x="684" y="164"/>
                  </a:lnTo>
                  <a:lnTo>
                    <a:pt x="704" y="196"/>
                  </a:lnTo>
                  <a:lnTo>
                    <a:pt x="720" y="228"/>
                  </a:lnTo>
                  <a:lnTo>
                    <a:pt x="732" y="262"/>
                  </a:lnTo>
                  <a:lnTo>
                    <a:pt x="742" y="298"/>
                  </a:lnTo>
                  <a:lnTo>
                    <a:pt x="746" y="336"/>
                  </a:lnTo>
                  <a:lnTo>
                    <a:pt x="748" y="374"/>
                  </a:lnTo>
                  <a:lnTo>
                    <a:pt x="748" y="374"/>
                  </a:lnTo>
                  <a:close/>
                </a:path>
              </a:pathLst>
            </a:custGeom>
            <a:solidFill>
              <a:srgbClr val="F7AA0F"/>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19" name="Freeform 122"/>
            <p:cNvSpPr/>
            <p:nvPr/>
          </p:nvSpPr>
          <p:spPr bwMode="auto">
            <a:xfrm>
              <a:off x="4191000" y="3048000"/>
              <a:ext cx="762000" cy="762000"/>
            </a:xfrm>
            <a:custGeom>
              <a:avLst/>
              <a:gdLst/>
              <a:ahLst/>
              <a:cxnLst>
                <a:cxn ang="0">
                  <a:pos x="480" y="240"/>
                </a:cxn>
                <a:cxn ang="0">
                  <a:pos x="476" y="288"/>
                </a:cxn>
                <a:cxn ang="0">
                  <a:pos x="462" y="334"/>
                </a:cxn>
                <a:cxn ang="0">
                  <a:pos x="440" y="374"/>
                </a:cxn>
                <a:cxn ang="0">
                  <a:pos x="410" y="410"/>
                </a:cxn>
                <a:cxn ang="0">
                  <a:pos x="374" y="440"/>
                </a:cxn>
                <a:cxn ang="0">
                  <a:pos x="334" y="462"/>
                </a:cxn>
                <a:cxn ang="0">
                  <a:pos x="288" y="476"/>
                </a:cxn>
                <a:cxn ang="0">
                  <a:pos x="240" y="480"/>
                </a:cxn>
                <a:cxn ang="0">
                  <a:pos x="216" y="480"/>
                </a:cxn>
                <a:cxn ang="0">
                  <a:pos x="168" y="470"/>
                </a:cxn>
                <a:cxn ang="0">
                  <a:pos x="126" y="452"/>
                </a:cxn>
                <a:cxn ang="0">
                  <a:pos x="86" y="426"/>
                </a:cxn>
                <a:cxn ang="0">
                  <a:pos x="54" y="394"/>
                </a:cxn>
                <a:cxn ang="0">
                  <a:pos x="28" y="354"/>
                </a:cxn>
                <a:cxn ang="0">
                  <a:pos x="10" y="312"/>
                </a:cxn>
                <a:cxn ang="0">
                  <a:pos x="0" y="264"/>
                </a:cxn>
                <a:cxn ang="0">
                  <a:pos x="0" y="240"/>
                </a:cxn>
                <a:cxn ang="0">
                  <a:pos x="4" y="192"/>
                </a:cxn>
                <a:cxn ang="0">
                  <a:pos x="18" y="146"/>
                </a:cxn>
                <a:cxn ang="0">
                  <a:pos x="40" y="106"/>
                </a:cxn>
                <a:cxn ang="0">
                  <a:pos x="70" y="70"/>
                </a:cxn>
                <a:cxn ang="0">
                  <a:pos x="106" y="40"/>
                </a:cxn>
                <a:cxn ang="0">
                  <a:pos x="146" y="18"/>
                </a:cxn>
                <a:cxn ang="0">
                  <a:pos x="192" y="4"/>
                </a:cxn>
                <a:cxn ang="0">
                  <a:pos x="240" y="0"/>
                </a:cxn>
                <a:cxn ang="0">
                  <a:pos x="264" y="0"/>
                </a:cxn>
                <a:cxn ang="0">
                  <a:pos x="312" y="10"/>
                </a:cxn>
                <a:cxn ang="0">
                  <a:pos x="354" y="28"/>
                </a:cxn>
                <a:cxn ang="0">
                  <a:pos x="394" y="54"/>
                </a:cxn>
                <a:cxn ang="0">
                  <a:pos x="426" y="86"/>
                </a:cxn>
                <a:cxn ang="0">
                  <a:pos x="452" y="126"/>
                </a:cxn>
                <a:cxn ang="0">
                  <a:pos x="470" y="168"/>
                </a:cxn>
                <a:cxn ang="0">
                  <a:pos x="480" y="216"/>
                </a:cxn>
                <a:cxn ang="0">
                  <a:pos x="480" y="240"/>
                </a:cxn>
              </a:cxnLst>
              <a:rect l="0" t="0" r="r" b="b"/>
              <a:pathLst>
                <a:path w="480" h="480">
                  <a:moveTo>
                    <a:pt x="480" y="240"/>
                  </a:moveTo>
                  <a:lnTo>
                    <a:pt x="480" y="240"/>
                  </a:lnTo>
                  <a:lnTo>
                    <a:pt x="480" y="264"/>
                  </a:lnTo>
                  <a:lnTo>
                    <a:pt x="476" y="288"/>
                  </a:lnTo>
                  <a:lnTo>
                    <a:pt x="470" y="312"/>
                  </a:lnTo>
                  <a:lnTo>
                    <a:pt x="462" y="334"/>
                  </a:lnTo>
                  <a:lnTo>
                    <a:pt x="452" y="354"/>
                  </a:lnTo>
                  <a:lnTo>
                    <a:pt x="440" y="374"/>
                  </a:lnTo>
                  <a:lnTo>
                    <a:pt x="426" y="394"/>
                  </a:lnTo>
                  <a:lnTo>
                    <a:pt x="410" y="410"/>
                  </a:lnTo>
                  <a:lnTo>
                    <a:pt x="394" y="426"/>
                  </a:lnTo>
                  <a:lnTo>
                    <a:pt x="374" y="440"/>
                  </a:lnTo>
                  <a:lnTo>
                    <a:pt x="354" y="452"/>
                  </a:lnTo>
                  <a:lnTo>
                    <a:pt x="334" y="462"/>
                  </a:lnTo>
                  <a:lnTo>
                    <a:pt x="312" y="470"/>
                  </a:lnTo>
                  <a:lnTo>
                    <a:pt x="288" y="476"/>
                  </a:lnTo>
                  <a:lnTo>
                    <a:pt x="264" y="480"/>
                  </a:lnTo>
                  <a:lnTo>
                    <a:pt x="240" y="480"/>
                  </a:lnTo>
                  <a:lnTo>
                    <a:pt x="240" y="480"/>
                  </a:lnTo>
                  <a:lnTo>
                    <a:pt x="216" y="480"/>
                  </a:lnTo>
                  <a:lnTo>
                    <a:pt x="192" y="476"/>
                  </a:lnTo>
                  <a:lnTo>
                    <a:pt x="168" y="470"/>
                  </a:lnTo>
                  <a:lnTo>
                    <a:pt x="146" y="462"/>
                  </a:lnTo>
                  <a:lnTo>
                    <a:pt x="126" y="452"/>
                  </a:lnTo>
                  <a:lnTo>
                    <a:pt x="106" y="440"/>
                  </a:lnTo>
                  <a:lnTo>
                    <a:pt x="86" y="426"/>
                  </a:lnTo>
                  <a:lnTo>
                    <a:pt x="70" y="410"/>
                  </a:lnTo>
                  <a:lnTo>
                    <a:pt x="54" y="394"/>
                  </a:lnTo>
                  <a:lnTo>
                    <a:pt x="40" y="374"/>
                  </a:lnTo>
                  <a:lnTo>
                    <a:pt x="28" y="354"/>
                  </a:lnTo>
                  <a:lnTo>
                    <a:pt x="18" y="334"/>
                  </a:lnTo>
                  <a:lnTo>
                    <a:pt x="10" y="312"/>
                  </a:lnTo>
                  <a:lnTo>
                    <a:pt x="4" y="288"/>
                  </a:lnTo>
                  <a:lnTo>
                    <a:pt x="0" y="264"/>
                  </a:lnTo>
                  <a:lnTo>
                    <a:pt x="0" y="240"/>
                  </a:lnTo>
                  <a:lnTo>
                    <a:pt x="0" y="240"/>
                  </a:lnTo>
                  <a:lnTo>
                    <a:pt x="0" y="216"/>
                  </a:lnTo>
                  <a:lnTo>
                    <a:pt x="4" y="192"/>
                  </a:lnTo>
                  <a:lnTo>
                    <a:pt x="10" y="168"/>
                  </a:lnTo>
                  <a:lnTo>
                    <a:pt x="18" y="146"/>
                  </a:lnTo>
                  <a:lnTo>
                    <a:pt x="28" y="126"/>
                  </a:lnTo>
                  <a:lnTo>
                    <a:pt x="40" y="106"/>
                  </a:lnTo>
                  <a:lnTo>
                    <a:pt x="54" y="86"/>
                  </a:lnTo>
                  <a:lnTo>
                    <a:pt x="70" y="70"/>
                  </a:lnTo>
                  <a:lnTo>
                    <a:pt x="86" y="54"/>
                  </a:lnTo>
                  <a:lnTo>
                    <a:pt x="106" y="40"/>
                  </a:lnTo>
                  <a:lnTo>
                    <a:pt x="126" y="28"/>
                  </a:lnTo>
                  <a:lnTo>
                    <a:pt x="146" y="18"/>
                  </a:lnTo>
                  <a:lnTo>
                    <a:pt x="168" y="10"/>
                  </a:lnTo>
                  <a:lnTo>
                    <a:pt x="192" y="4"/>
                  </a:lnTo>
                  <a:lnTo>
                    <a:pt x="216" y="0"/>
                  </a:lnTo>
                  <a:lnTo>
                    <a:pt x="240" y="0"/>
                  </a:lnTo>
                  <a:lnTo>
                    <a:pt x="240" y="0"/>
                  </a:lnTo>
                  <a:lnTo>
                    <a:pt x="264" y="0"/>
                  </a:lnTo>
                  <a:lnTo>
                    <a:pt x="288" y="4"/>
                  </a:lnTo>
                  <a:lnTo>
                    <a:pt x="312" y="10"/>
                  </a:lnTo>
                  <a:lnTo>
                    <a:pt x="334" y="18"/>
                  </a:lnTo>
                  <a:lnTo>
                    <a:pt x="354" y="28"/>
                  </a:lnTo>
                  <a:lnTo>
                    <a:pt x="374" y="40"/>
                  </a:lnTo>
                  <a:lnTo>
                    <a:pt x="394" y="54"/>
                  </a:lnTo>
                  <a:lnTo>
                    <a:pt x="410" y="70"/>
                  </a:lnTo>
                  <a:lnTo>
                    <a:pt x="426" y="86"/>
                  </a:lnTo>
                  <a:lnTo>
                    <a:pt x="440" y="106"/>
                  </a:lnTo>
                  <a:lnTo>
                    <a:pt x="452" y="126"/>
                  </a:lnTo>
                  <a:lnTo>
                    <a:pt x="462" y="146"/>
                  </a:lnTo>
                  <a:lnTo>
                    <a:pt x="470" y="168"/>
                  </a:lnTo>
                  <a:lnTo>
                    <a:pt x="476" y="192"/>
                  </a:lnTo>
                  <a:lnTo>
                    <a:pt x="480" y="216"/>
                  </a:lnTo>
                  <a:lnTo>
                    <a:pt x="480" y="240"/>
                  </a:lnTo>
                  <a:lnTo>
                    <a:pt x="480" y="240"/>
                  </a:lnTo>
                  <a:close/>
                </a:path>
              </a:pathLst>
            </a:custGeom>
            <a:solidFill>
              <a:srgbClr val="E846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0" name="Freeform 123"/>
            <p:cNvSpPr/>
            <p:nvPr/>
          </p:nvSpPr>
          <p:spPr bwMode="auto">
            <a:xfrm>
              <a:off x="4511675" y="2549525"/>
              <a:ext cx="120650" cy="815975"/>
            </a:xfrm>
            <a:custGeom>
              <a:avLst/>
              <a:gdLst/>
              <a:ahLst/>
              <a:cxnLst>
                <a:cxn ang="0">
                  <a:pos x="28" y="26"/>
                </a:cxn>
                <a:cxn ang="0">
                  <a:pos x="24" y="48"/>
                </a:cxn>
                <a:cxn ang="0">
                  <a:pos x="20" y="102"/>
                </a:cxn>
                <a:cxn ang="0">
                  <a:pos x="20" y="102"/>
                </a:cxn>
                <a:cxn ang="0">
                  <a:pos x="20" y="138"/>
                </a:cxn>
                <a:cxn ang="0">
                  <a:pos x="4" y="204"/>
                </a:cxn>
                <a:cxn ang="0">
                  <a:pos x="2" y="218"/>
                </a:cxn>
                <a:cxn ang="0">
                  <a:pos x="2" y="258"/>
                </a:cxn>
                <a:cxn ang="0">
                  <a:pos x="12" y="304"/>
                </a:cxn>
                <a:cxn ang="0">
                  <a:pos x="18" y="328"/>
                </a:cxn>
                <a:cxn ang="0">
                  <a:pos x="20" y="368"/>
                </a:cxn>
                <a:cxn ang="0">
                  <a:pos x="10" y="416"/>
                </a:cxn>
                <a:cxn ang="0">
                  <a:pos x="8" y="432"/>
                </a:cxn>
                <a:cxn ang="0">
                  <a:pos x="8" y="472"/>
                </a:cxn>
                <a:cxn ang="0">
                  <a:pos x="12" y="504"/>
                </a:cxn>
                <a:cxn ang="0">
                  <a:pos x="22" y="514"/>
                </a:cxn>
                <a:cxn ang="0">
                  <a:pos x="64" y="504"/>
                </a:cxn>
                <a:cxn ang="0">
                  <a:pos x="64" y="496"/>
                </a:cxn>
                <a:cxn ang="0">
                  <a:pos x="68" y="446"/>
                </a:cxn>
                <a:cxn ang="0">
                  <a:pos x="66" y="416"/>
                </a:cxn>
                <a:cxn ang="0">
                  <a:pos x="60" y="392"/>
                </a:cxn>
                <a:cxn ang="0">
                  <a:pos x="56" y="348"/>
                </a:cxn>
                <a:cxn ang="0">
                  <a:pos x="64" y="304"/>
                </a:cxn>
                <a:cxn ang="0">
                  <a:pos x="70" y="282"/>
                </a:cxn>
                <a:cxn ang="0">
                  <a:pos x="76" y="232"/>
                </a:cxn>
                <a:cxn ang="0">
                  <a:pos x="72" y="204"/>
                </a:cxn>
                <a:cxn ang="0">
                  <a:pos x="64" y="172"/>
                </a:cxn>
                <a:cxn ang="0">
                  <a:pos x="56" y="138"/>
                </a:cxn>
                <a:cxn ang="0">
                  <a:pos x="56" y="102"/>
                </a:cxn>
                <a:cxn ang="0">
                  <a:pos x="56" y="72"/>
                </a:cxn>
                <a:cxn ang="0">
                  <a:pos x="50" y="34"/>
                </a:cxn>
                <a:cxn ang="0">
                  <a:pos x="38" y="0"/>
                </a:cxn>
              </a:cxnLst>
              <a:rect l="0" t="0" r="r" b="b"/>
              <a:pathLst>
                <a:path w="76" h="514">
                  <a:moveTo>
                    <a:pt x="28" y="26"/>
                  </a:moveTo>
                  <a:lnTo>
                    <a:pt x="28" y="26"/>
                  </a:lnTo>
                  <a:lnTo>
                    <a:pt x="26" y="34"/>
                  </a:lnTo>
                  <a:lnTo>
                    <a:pt x="24" y="48"/>
                  </a:lnTo>
                  <a:lnTo>
                    <a:pt x="20" y="72"/>
                  </a:lnTo>
                  <a:lnTo>
                    <a:pt x="20" y="102"/>
                  </a:lnTo>
                  <a:lnTo>
                    <a:pt x="20" y="102"/>
                  </a:lnTo>
                  <a:lnTo>
                    <a:pt x="20" y="102"/>
                  </a:lnTo>
                  <a:lnTo>
                    <a:pt x="22" y="120"/>
                  </a:lnTo>
                  <a:lnTo>
                    <a:pt x="20" y="138"/>
                  </a:lnTo>
                  <a:lnTo>
                    <a:pt x="12" y="172"/>
                  </a:lnTo>
                  <a:lnTo>
                    <a:pt x="4" y="204"/>
                  </a:lnTo>
                  <a:lnTo>
                    <a:pt x="4" y="204"/>
                  </a:lnTo>
                  <a:lnTo>
                    <a:pt x="2" y="218"/>
                  </a:lnTo>
                  <a:lnTo>
                    <a:pt x="0" y="232"/>
                  </a:lnTo>
                  <a:lnTo>
                    <a:pt x="2" y="258"/>
                  </a:lnTo>
                  <a:lnTo>
                    <a:pt x="6" y="282"/>
                  </a:lnTo>
                  <a:lnTo>
                    <a:pt x="12" y="304"/>
                  </a:lnTo>
                  <a:lnTo>
                    <a:pt x="18" y="328"/>
                  </a:lnTo>
                  <a:lnTo>
                    <a:pt x="18" y="328"/>
                  </a:lnTo>
                  <a:lnTo>
                    <a:pt x="20" y="348"/>
                  </a:lnTo>
                  <a:lnTo>
                    <a:pt x="20" y="368"/>
                  </a:lnTo>
                  <a:lnTo>
                    <a:pt x="16" y="392"/>
                  </a:lnTo>
                  <a:lnTo>
                    <a:pt x="10" y="416"/>
                  </a:lnTo>
                  <a:lnTo>
                    <a:pt x="10" y="416"/>
                  </a:lnTo>
                  <a:lnTo>
                    <a:pt x="8" y="432"/>
                  </a:lnTo>
                  <a:lnTo>
                    <a:pt x="8" y="446"/>
                  </a:lnTo>
                  <a:lnTo>
                    <a:pt x="8" y="472"/>
                  </a:lnTo>
                  <a:lnTo>
                    <a:pt x="10" y="494"/>
                  </a:lnTo>
                  <a:lnTo>
                    <a:pt x="12" y="504"/>
                  </a:lnTo>
                  <a:lnTo>
                    <a:pt x="14" y="514"/>
                  </a:lnTo>
                  <a:lnTo>
                    <a:pt x="22" y="514"/>
                  </a:lnTo>
                  <a:lnTo>
                    <a:pt x="62" y="514"/>
                  </a:lnTo>
                  <a:lnTo>
                    <a:pt x="64" y="504"/>
                  </a:lnTo>
                  <a:lnTo>
                    <a:pt x="64" y="504"/>
                  </a:lnTo>
                  <a:lnTo>
                    <a:pt x="64" y="496"/>
                  </a:lnTo>
                  <a:lnTo>
                    <a:pt x="68" y="474"/>
                  </a:lnTo>
                  <a:lnTo>
                    <a:pt x="68" y="446"/>
                  </a:lnTo>
                  <a:lnTo>
                    <a:pt x="68" y="432"/>
                  </a:lnTo>
                  <a:lnTo>
                    <a:pt x="66" y="416"/>
                  </a:lnTo>
                  <a:lnTo>
                    <a:pt x="66" y="416"/>
                  </a:lnTo>
                  <a:lnTo>
                    <a:pt x="60" y="392"/>
                  </a:lnTo>
                  <a:lnTo>
                    <a:pt x="56" y="368"/>
                  </a:lnTo>
                  <a:lnTo>
                    <a:pt x="56" y="348"/>
                  </a:lnTo>
                  <a:lnTo>
                    <a:pt x="58" y="328"/>
                  </a:lnTo>
                  <a:lnTo>
                    <a:pt x="64" y="304"/>
                  </a:lnTo>
                  <a:lnTo>
                    <a:pt x="64" y="304"/>
                  </a:lnTo>
                  <a:lnTo>
                    <a:pt x="70" y="282"/>
                  </a:lnTo>
                  <a:lnTo>
                    <a:pt x="74" y="258"/>
                  </a:lnTo>
                  <a:lnTo>
                    <a:pt x="76" y="232"/>
                  </a:lnTo>
                  <a:lnTo>
                    <a:pt x="74" y="218"/>
                  </a:lnTo>
                  <a:lnTo>
                    <a:pt x="72" y="204"/>
                  </a:lnTo>
                  <a:lnTo>
                    <a:pt x="72" y="204"/>
                  </a:lnTo>
                  <a:lnTo>
                    <a:pt x="64" y="172"/>
                  </a:lnTo>
                  <a:lnTo>
                    <a:pt x="64" y="172"/>
                  </a:lnTo>
                  <a:lnTo>
                    <a:pt x="56" y="138"/>
                  </a:lnTo>
                  <a:lnTo>
                    <a:pt x="54" y="120"/>
                  </a:lnTo>
                  <a:lnTo>
                    <a:pt x="56" y="102"/>
                  </a:lnTo>
                  <a:lnTo>
                    <a:pt x="56" y="102"/>
                  </a:lnTo>
                  <a:lnTo>
                    <a:pt x="56" y="72"/>
                  </a:lnTo>
                  <a:lnTo>
                    <a:pt x="52" y="48"/>
                  </a:lnTo>
                  <a:lnTo>
                    <a:pt x="50" y="34"/>
                  </a:lnTo>
                  <a:lnTo>
                    <a:pt x="48" y="26"/>
                  </a:lnTo>
                  <a:lnTo>
                    <a:pt x="38" y="0"/>
                  </a:lnTo>
                  <a:lnTo>
                    <a:pt x="28"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1" name="Freeform 124"/>
            <p:cNvSpPr/>
            <p:nvPr/>
          </p:nvSpPr>
          <p:spPr bwMode="auto">
            <a:xfrm>
              <a:off x="4527550" y="2600325"/>
              <a:ext cx="88900" cy="746125"/>
            </a:xfrm>
            <a:custGeom>
              <a:avLst/>
              <a:gdLst/>
              <a:ahLst/>
              <a:cxnLst>
                <a:cxn ang="0">
                  <a:pos x="44" y="470"/>
                </a:cxn>
                <a:cxn ang="0">
                  <a:pos x="44" y="470"/>
                </a:cxn>
                <a:cxn ang="0">
                  <a:pos x="44" y="462"/>
                </a:cxn>
                <a:cxn ang="0">
                  <a:pos x="48" y="442"/>
                </a:cxn>
                <a:cxn ang="0">
                  <a:pos x="48" y="416"/>
                </a:cxn>
                <a:cxn ang="0">
                  <a:pos x="48" y="402"/>
                </a:cxn>
                <a:cxn ang="0">
                  <a:pos x="46" y="388"/>
                </a:cxn>
                <a:cxn ang="0">
                  <a:pos x="46" y="388"/>
                </a:cxn>
                <a:cxn ang="0">
                  <a:pos x="40" y="362"/>
                </a:cxn>
                <a:cxn ang="0">
                  <a:pos x="36" y="338"/>
                </a:cxn>
                <a:cxn ang="0">
                  <a:pos x="36" y="316"/>
                </a:cxn>
                <a:cxn ang="0">
                  <a:pos x="38" y="292"/>
                </a:cxn>
                <a:cxn ang="0">
                  <a:pos x="38" y="292"/>
                </a:cxn>
                <a:cxn ang="0">
                  <a:pos x="46" y="268"/>
                </a:cxn>
                <a:cxn ang="0">
                  <a:pos x="52" y="238"/>
                </a:cxn>
                <a:cxn ang="0">
                  <a:pos x="54" y="224"/>
                </a:cxn>
                <a:cxn ang="0">
                  <a:pos x="56" y="208"/>
                </a:cxn>
                <a:cxn ang="0">
                  <a:pos x="56" y="192"/>
                </a:cxn>
                <a:cxn ang="0">
                  <a:pos x="52" y="174"/>
                </a:cxn>
                <a:cxn ang="0">
                  <a:pos x="52" y="174"/>
                </a:cxn>
                <a:cxn ang="0">
                  <a:pos x="38" y="120"/>
                </a:cxn>
                <a:cxn ang="0">
                  <a:pos x="36" y="96"/>
                </a:cxn>
                <a:cxn ang="0">
                  <a:pos x="36" y="68"/>
                </a:cxn>
                <a:cxn ang="0">
                  <a:pos x="36" y="68"/>
                </a:cxn>
                <a:cxn ang="0">
                  <a:pos x="36" y="40"/>
                </a:cxn>
                <a:cxn ang="0">
                  <a:pos x="32" y="18"/>
                </a:cxn>
                <a:cxn ang="0">
                  <a:pos x="28" y="0"/>
                </a:cxn>
                <a:cxn ang="0">
                  <a:pos x="28" y="0"/>
                </a:cxn>
                <a:cxn ang="0">
                  <a:pos x="28" y="0"/>
                </a:cxn>
                <a:cxn ang="0">
                  <a:pos x="24" y="18"/>
                </a:cxn>
                <a:cxn ang="0">
                  <a:pos x="20" y="40"/>
                </a:cxn>
                <a:cxn ang="0">
                  <a:pos x="20" y="68"/>
                </a:cxn>
                <a:cxn ang="0">
                  <a:pos x="20" y="68"/>
                </a:cxn>
                <a:cxn ang="0">
                  <a:pos x="20" y="96"/>
                </a:cxn>
                <a:cxn ang="0">
                  <a:pos x="18" y="120"/>
                </a:cxn>
                <a:cxn ang="0">
                  <a:pos x="4" y="174"/>
                </a:cxn>
                <a:cxn ang="0">
                  <a:pos x="4" y="174"/>
                </a:cxn>
                <a:cxn ang="0">
                  <a:pos x="0" y="192"/>
                </a:cxn>
                <a:cxn ang="0">
                  <a:pos x="0" y="208"/>
                </a:cxn>
                <a:cxn ang="0">
                  <a:pos x="2" y="224"/>
                </a:cxn>
                <a:cxn ang="0">
                  <a:pos x="4" y="238"/>
                </a:cxn>
                <a:cxn ang="0">
                  <a:pos x="10" y="268"/>
                </a:cxn>
                <a:cxn ang="0">
                  <a:pos x="18" y="292"/>
                </a:cxn>
                <a:cxn ang="0">
                  <a:pos x="18" y="292"/>
                </a:cxn>
                <a:cxn ang="0">
                  <a:pos x="20" y="316"/>
                </a:cxn>
                <a:cxn ang="0">
                  <a:pos x="20" y="338"/>
                </a:cxn>
                <a:cxn ang="0">
                  <a:pos x="16" y="362"/>
                </a:cxn>
                <a:cxn ang="0">
                  <a:pos x="10" y="388"/>
                </a:cxn>
                <a:cxn ang="0">
                  <a:pos x="10" y="388"/>
                </a:cxn>
                <a:cxn ang="0">
                  <a:pos x="8" y="402"/>
                </a:cxn>
                <a:cxn ang="0">
                  <a:pos x="8" y="416"/>
                </a:cxn>
                <a:cxn ang="0">
                  <a:pos x="8" y="442"/>
                </a:cxn>
                <a:cxn ang="0">
                  <a:pos x="12" y="462"/>
                </a:cxn>
                <a:cxn ang="0">
                  <a:pos x="12" y="470"/>
                </a:cxn>
                <a:cxn ang="0">
                  <a:pos x="44" y="470"/>
                </a:cxn>
              </a:cxnLst>
              <a:rect l="0" t="0" r="r" b="b"/>
              <a:pathLst>
                <a:path w="56" h="470">
                  <a:moveTo>
                    <a:pt x="44" y="470"/>
                  </a:moveTo>
                  <a:lnTo>
                    <a:pt x="44" y="470"/>
                  </a:lnTo>
                  <a:lnTo>
                    <a:pt x="44" y="462"/>
                  </a:lnTo>
                  <a:lnTo>
                    <a:pt x="48" y="442"/>
                  </a:lnTo>
                  <a:lnTo>
                    <a:pt x="48" y="416"/>
                  </a:lnTo>
                  <a:lnTo>
                    <a:pt x="48" y="402"/>
                  </a:lnTo>
                  <a:lnTo>
                    <a:pt x="46" y="388"/>
                  </a:lnTo>
                  <a:lnTo>
                    <a:pt x="46" y="388"/>
                  </a:lnTo>
                  <a:lnTo>
                    <a:pt x="40" y="362"/>
                  </a:lnTo>
                  <a:lnTo>
                    <a:pt x="36" y="338"/>
                  </a:lnTo>
                  <a:lnTo>
                    <a:pt x="36" y="316"/>
                  </a:lnTo>
                  <a:lnTo>
                    <a:pt x="38" y="292"/>
                  </a:lnTo>
                  <a:lnTo>
                    <a:pt x="38" y="292"/>
                  </a:lnTo>
                  <a:lnTo>
                    <a:pt x="46" y="268"/>
                  </a:lnTo>
                  <a:lnTo>
                    <a:pt x="52" y="238"/>
                  </a:lnTo>
                  <a:lnTo>
                    <a:pt x="54" y="224"/>
                  </a:lnTo>
                  <a:lnTo>
                    <a:pt x="56" y="208"/>
                  </a:lnTo>
                  <a:lnTo>
                    <a:pt x="56" y="192"/>
                  </a:lnTo>
                  <a:lnTo>
                    <a:pt x="52" y="174"/>
                  </a:lnTo>
                  <a:lnTo>
                    <a:pt x="52" y="174"/>
                  </a:lnTo>
                  <a:lnTo>
                    <a:pt x="38" y="120"/>
                  </a:lnTo>
                  <a:lnTo>
                    <a:pt x="36" y="96"/>
                  </a:lnTo>
                  <a:lnTo>
                    <a:pt x="36" y="68"/>
                  </a:lnTo>
                  <a:lnTo>
                    <a:pt x="36" y="68"/>
                  </a:lnTo>
                  <a:lnTo>
                    <a:pt x="36" y="40"/>
                  </a:lnTo>
                  <a:lnTo>
                    <a:pt x="32" y="18"/>
                  </a:lnTo>
                  <a:lnTo>
                    <a:pt x="28" y="0"/>
                  </a:lnTo>
                  <a:lnTo>
                    <a:pt x="28" y="0"/>
                  </a:lnTo>
                  <a:lnTo>
                    <a:pt x="28" y="0"/>
                  </a:lnTo>
                  <a:lnTo>
                    <a:pt x="24" y="18"/>
                  </a:lnTo>
                  <a:lnTo>
                    <a:pt x="20" y="40"/>
                  </a:lnTo>
                  <a:lnTo>
                    <a:pt x="20" y="68"/>
                  </a:lnTo>
                  <a:lnTo>
                    <a:pt x="20" y="68"/>
                  </a:lnTo>
                  <a:lnTo>
                    <a:pt x="20" y="96"/>
                  </a:lnTo>
                  <a:lnTo>
                    <a:pt x="18" y="120"/>
                  </a:lnTo>
                  <a:lnTo>
                    <a:pt x="4" y="174"/>
                  </a:lnTo>
                  <a:lnTo>
                    <a:pt x="4" y="174"/>
                  </a:lnTo>
                  <a:lnTo>
                    <a:pt x="0" y="192"/>
                  </a:lnTo>
                  <a:lnTo>
                    <a:pt x="0" y="208"/>
                  </a:lnTo>
                  <a:lnTo>
                    <a:pt x="2" y="224"/>
                  </a:lnTo>
                  <a:lnTo>
                    <a:pt x="4" y="238"/>
                  </a:lnTo>
                  <a:lnTo>
                    <a:pt x="10" y="268"/>
                  </a:lnTo>
                  <a:lnTo>
                    <a:pt x="18" y="292"/>
                  </a:lnTo>
                  <a:lnTo>
                    <a:pt x="18" y="292"/>
                  </a:lnTo>
                  <a:lnTo>
                    <a:pt x="20" y="316"/>
                  </a:lnTo>
                  <a:lnTo>
                    <a:pt x="20" y="338"/>
                  </a:lnTo>
                  <a:lnTo>
                    <a:pt x="16" y="362"/>
                  </a:lnTo>
                  <a:lnTo>
                    <a:pt x="10" y="388"/>
                  </a:lnTo>
                  <a:lnTo>
                    <a:pt x="10" y="388"/>
                  </a:lnTo>
                  <a:lnTo>
                    <a:pt x="8" y="402"/>
                  </a:lnTo>
                  <a:lnTo>
                    <a:pt x="8" y="416"/>
                  </a:lnTo>
                  <a:lnTo>
                    <a:pt x="8" y="442"/>
                  </a:lnTo>
                  <a:lnTo>
                    <a:pt x="12" y="462"/>
                  </a:lnTo>
                  <a:lnTo>
                    <a:pt x="12" y="470"/>
                  </a:lnTo>
                  <a:lnTo>
                    <a:pt x="44" y="47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2" name="Freeform 125"/>
            <p:cNvSpPr/>
            <p:nvPr/>
          </p:nvSpPr>
          <p:spPr bwMode="auto">
            <a:xfrm>
              <a:off x="4556125" y="2841625"/>
              <a:ext cx="31750" cy="168275"/>
            </a:xfrm>
            <a:custGeom>
              <a:avLst/>
              <a:gdLst/>
              <a:ahLst/>
              <a:cxnLst>
                <a:cxn ang="0">
                  <a:pos x="0" y="52"/>
                </a:cxn>
                <a:cxn ang="0">
                  <a:pos x="0" y="52"/>
                </a:cxn>
                <a:cxn ang="0">
                  <a:pos x="0" y="70"/>
                </a:cxn>
                <a:cxn ang="0">
                  <a:pos x="2" y="84"/>
                </a:cxn>
                <a:cxn ang="0">
                  <a:pos x="6" y="96"/>
                </a:cxn>
                <a:cxn ang="0">
                  <a:pos x="10" y="106"/>
                </a:cxn>
                <a:cxn ang="0">
                  <a:pos x="10" y="106"/>
                </a:cxn>
                <a:cxn ang="0">
                  <a:pos x="14" y="96"/>
                </a:cxn>
                <a:cxn ang="0">
                  <a:pos x="18" y="84"/>
                </a:cxn>
                <a:cxn ang="0">
                  <a:pos x="20" y="70"/>
                </a:cxn>
                <a:cxn ang="0">
                  <a:pos x="20" y="52"/>
                </a:cxn>
                <a:cxn ang="0">
                  <a:pos x="20" y="52"/>
                </a:cxn>
                <a:cxn ang="0">
                  <a:pos x="20" y="36"/>
                </a:cxn>
                <a:cxn ang="0">
                  <a:pos x="18" y="22"/>
                </a:cxn>
                <a:cxn ang="0">
                  <a:pos x="14" y="8"/>
                </a:cxn>
                <a:cxn ang="0">
                  <a:pos x="10" y="0"/>
                </a:cxn>
                <a:cxn ang="0">
                  <a:pos x="10" y="0"/>
                </a:cxn>
                <a:cxn ang="0">
                  <a:pos x="6" y="8"/>
                </a:cxn>
                <a:cxn ang="0">
                  <a:pos x="2" y="22"/>
                </a:cxn>
                <a:cxn ang="0">
                  <a:pos x="0" y="36"/>
                </a:cxn>
                <a:cxn ang="0">
                  <a:pos x="0" y="52"/>
                </a:cxn>
                <a:cxn ang="0">
                  <a:pos x="0" y="52"/>
                </a:cxn>
              </a:cxnLst>
              <a:rect l="0" t="0" r="r" b="b"/>
              <a:pathLst>
                <a:path w="20" h="106">
                  <a:moveTo>
                    <a:pt x="0" y="52"/>
                  </a:moveTo>
                  <a:lnTo>
                    <a:pt x="0" y="52"/>
                  </a:lnTo>
                  <a:lnTo>
                    <a:pt x="0" y="70"/>
                  </a:lnTo>
                  <a:lnTo>
                    <a:pt x="2" y="84"/>
                  </a:lnTo>
                  <a:lnTo>
                    <a:pt x="6" y="96"/>
                  </a:lnTo>
                  <a:lnTo>
                    <a:pt x="10" y="106"/>
                  </a:lnTo>
                  <a:lnTo>
                    <a:pt x="10" y="106"/>
                  </a:lnTo>
                  <a:lnTo>
                    <a:pt x="14" y="96"/>
                  </a:lnTo>
                  <a:lnTo>
                    <a:pt x="18" y="84"/>
                  </a:lnTo>
                  <a:lnTo>
                    <a:pt x="20" y="70"/>
                  </a:lnTo>
                  <a:lnTo>
                    <a:pt x="20" y="52"/>
                  </a:lnTo>
                  <a:lnTo>
                    <a:pt x="20" y="52"/>
                  </a:lnTo>
                  <a:lnTo>
                    <a:pt x="20" y="36"/>
                  </a:lnTo>
                  <a:lnTo>
                    <a:pt x="18" y="22"/>
                  </a:lnTo>
                  <a:lnTo>
                    <a:pt x="14" y="8"/>
                  </a:lnTo>
                  <a:lnTo>
                    <a:pt x="10" y="0"/>
                  </a:lnTo>
                  <a:lnTo>
                    <a:pt x="10" y="0"/>
                  </a:lnTo>
                  <a:lnTo>
                    <a:pt x="6" y="8"/>
                  </a:lnTo>
                  <a:lnTo>
                    <a:pt x="2" y="22"/>
                  </a:lnTo>
                  <a:lnTo>
                    <a:pt x="0" y="36"/>
                  </a:lnTo>
                  <a:lnTo>
                    <a:pt x="0" y="52"/>
                  </a:lnTo>
                  <a:lnTo>
                    <a:pt x="0" y="5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3" name="Freeform 126"/>
            <p:cNvSpPr/>
            <p:nvPr/>
          </p:nvSpPr>
          <p:spPr bwMode="auto">
            <a:xfrm>
              <a:off x="4591050" y="2806700"/>
              <a:ext cx="603250" cy="603250"/>
            </a:xfrm>
            <a:custGeom>
              <a:avLst/>
              <a:gdLst/>
              <a:ahLst/>
              <a:cxnLst>
                <a:cxn ang="0">
                  <a:pos x="354" y="12"/>
                </a:cxn>
                <a:cxn ang="0">
                  <a:pos x="334" y="24"/>
                </a:cxn>
                <a:cxn ang="0">
                  <a:pos x="296" y="60"/>
                </a:cxn>
                <a:cxn ang="0">
                  <a:pos x="296" y="60"/>
                </a:cxn>
                <a:cxn ang="0">
                  <a:pos x="270" y="84"/>
                </a:cxn>
                <a:cxn ang="0">
                  <a:pos x="212" y="120"/>
                </a:cxn>
                <a:cxn ang="0">
                  <a:pos x="200" y="128"/>
                </a:cxn>
                <a:cxn ang="0">
                  <a:pos x="172" y="156"/>
                </a:cxn>
                <a:cxn ang="0">
                  <a:pos x="146" y="196"/>
                </a:cxn>
                <a:cxn ang="0">
                  <a:pos x="134" y="216"/>
                </a:cxn>
                <a:cxn ang="0">
                  <a:pos x="106" y="248"/>
                </a:cxn>
                <a:cxn ang="0">
                  <a:pos x="66" y="276"/>
                </a:cxn>
                <a:cxn ang="0">
                  <a:pos x="54" y="284"/>
                </a:cxn>
                <a:cxn ang="0">
                  <a:pos x="24" y="314"/>
                </a:cxn>
                <a:cxn ang="0">
                  <a:pos x="6" y="338"/>
                </a:cxn>
                <a:cxn ang="0">
                  <a:pos x="6" y="352"/>
                </a:cxn>
                <a:cxn ang="0">
                  <a:pos x="40" y="374"/>
                </a:cxn>
                <a:cxn ang="0">
                  <a:pos x="48" y="370"/>
                </a:cxn>
                <a:cxn ang="0">
                  <a:pos x="86" y="338"/>
                </a:cxn>
                <a:cxn ang="0">
                  <a:pos x="104" y="314"/>
                </a:cxn>
                <a:cxn ang="0">
                  <a:pos x="118" y="292"/>
                </a:cxn>
                <a:cxn ang="0">
                  <a:pos x="146" y="260"/>
                </a:cxn>
                <a:cxn ang="0">
                  <a:pos x="184" y="234"/>
                </a:cxn>
                <a:cxn ang="0">
                  <a:pos x="204" y="222"/>
                </a:cxn>
                <a:cxn ang="0">
                  <a:pos x="244" y="190"/>
                </a:cxn>
                <a:cxn ang="0">
                  <a:pos x="260" y="168"/>
                </a:cxn>
                <a:cxn ang="0">
                  <a:pos x="276" y="140"/>
                </a:cxn>
                <a:cxn ang="0">
                  <a:pos x="306" y="98"/>
                </a:cxn>
                <a:cxn ang="0">
                  <a:pos x="320" y="84"/>
                </a:cxn>
                <a:cxn ang="0">
                  <a:pos x="356" y="46"/>
                </a:cxn>
                <a:cxn ang="0">
                  <a:pos x="368" y="26"/>
                </a:cxn>
                <a:cxn ang="0">
                  <a:pos x="354" y="12"/>
                </a:cxn>
              </a:cxnLst>
              <a:rect l="0" t="0" r="r" b="b"/>
              <a:pathLst>
                <a:path w="380" h="380">
                  <a:moveTo>
                    <a:pt x="354" y="12"/>
                  </a:moveTo>
                  <a:lnTo>
                    <a:pt x="354" y="12"/>
                  </a:lnTo>
                  <a:lnTo>
                    <a:pt x="348" y="16"/>
                  </a:lnTo>
                  <a:lnTo>
                    <a:pt x="334" y="24"/>
                  </a:lnTo>
                  <a:lnTo>
                    <a:pt x="316" y="38"/>
                  </a:lnTo>
                  <a:lnTo>
                    <a:pt x="296" y="60"/>
                  </a:lnTo>
                  <a:lnTo>
                    <a:pt x="296" y="60"/>
                  </a:lnTo>
                  <a:lnTo>
                    <a:pt x="296" y="60"/>
                  </a:lnTo>
                  <a:lnTo>
                    <a:pt x="282" y="74"/>
                  </a:lnTo>
                  <a:lnTo>
                    <a:pt x="270" y="84"/>
                  </a:lnTo>
                  <a:lnTo>
                    <a:pt x="240" y="104"/>
                  </a:lnTo>
                  <a:lnTo>
                    <a:pt x="212" y="120"/>
                  </a:lnTo>
                  <a:lnTo>
                    <a:pt x="212" y="120"/>
                  </a:lnTo>
                  <a:lnTo>
                    <a:pt x="200" y="128"/>
                  </a:lnTo>
                  <a:lnTo>
                    <a:pt x="190" y="138"/>
                  </a:lnTo>
                  <a:lnTo>
                    <a:pt x="172" y="156"/>
                  </a:lnTo>
                  <a:lnTo>
                    <a:pt x="158" y="176"/>
                  </a:lnTo>
                  <a:lnTo>
                    <a:pt x="146" y="196"/>
                  </a:lnTo>
                  <a:lnTo>
                    <a:pt x="134" y="216"/>
                  </a:lnTo>
                  <a:lnTo>
                    <a:pt x="134" y="216"/>
                  </a:lnTo>
                  <a:lnTo>
                    <a:pt x="120" y="234"/>
                  </a:lnTo>
                  <a:lnTo>
                    <a:pt x="106" y="248"/>
                  </a:lnTo>
                  <a:lnTo>
                    <a:pt x="88" y="262"/>
                  </a:lnTo>
                  <a:lnTo>
                    <a:pt x="66" y="276"/>
                  </a:lnTo>
                  <a:lnTo>
                    <a:pt x="66" y="276"/>
                  </a:lnTo>
                  <a:lnTo>
                    <a:pt x="54" y="284"/>
                  </a:lnTo>
                  <a:lnTo>
                    <a:pt x="44" y="294"/>
                  </a:lnTo>
                  <a:lnTo>
                    <a:pt x="24" y="314"/>
                  </a:lnTo>
                  <a:lnTo>
                    <a:pt x="12" y="330"/>
                  </a:lnTo>
                  <a:lnTo>
                    <a:pt x="6" y="338"/>
                  </a:lnTo>
                  <a:lnTo>
                    <a:pt x="0" y="346"/>
                  </a:lnTo>
                  <a:lnTo>
                    <a:pt x="6" y="352"/>
                  </a:lnTo>
                  <a:lnTo>
                    <a:pt x="34" y="380"/>
                  </a:lnTo>
                  <a:lnTo>
                    <a:pt x="40" y="374"/>
                  </a:lnTo>
                  <a:lnTo>
                    <a:pt x="40" y="374"/>
                  </a:lnTo>
                  <a:lnTo>
                    <a:pt x="48" y="370"/>
                  </a:lnTo>
                  <a:lnTo>
                    <a:pt x="66" y="356"/>
                  </a:lnTo>
                  <a:lnTo>
                    <a:pt x="86" y="338"/>
                  </a:lnTo>
                  <a:lnTo>
                    <a:pt x="96" y="326"/>
                  </a:lnTo>
                  <a:lnTo>
                    <a:pt x="104" y="314"/>
                  </a:lnTo>
                  <a:lnTo>
                    <a:pt x="104" y="314"/>
                  </a:lnTo>
                  <a:lnTo>
                    <a:pt x="118" y="292"/>
                  </a:lnTo>
                  <a:lnTo>
                    <a:pt x="132" y="274"/>
                  </a:lnTo>
                  <a:lnTo>
                    <a:pt x="146" y="260"/>
                  </a:lnTo>
                  <a:lnTo>
                    <a:pt x="164" y="246"/>
                  </a:lnTo>
                  <a:lnTo>
                    <a:pt x="184" y="234"/>
                  </a:lnTo>
                  <a:lnTo>
                    <a:pt x="184" y="234"/>
                  </a:lnTo>
                  <a:lnTo>
                    <a:pt x="204" y="222"/>
                  </a:lnTo>
                  <a:lnTo>
                    <a:pt x="224" y="208"/>
                  </a:lnTo>
                  <a:lnTo>
                    <a:pt x="244" y="190"/>
                  </a:lnTo>
                  <a:lnTo>
                    <a:pt x="252" y="180"/>
                  </a:lnTo>
                  <a:lnTo>
                    <a:pt x="260" y="168"/>
                  </a:lnTo>
                  <a:lnTo>
                    <a:pt x="276" y="140"/>
                  </a:lnTo>
                  <a:lnTo>
                    <a:pt x="276" y="140"/>
                  </a:lnTo>
                  <a:lnTo>
                    <a:pt x="296" y="110"/>
                  </a:lnTo>
                  <a:lnTo>
                    <a:pt x="306" y="98"/>
                  </a:lnTo>
                  <a:lnTo>
                    <a:pt x="320" y="84"/>
                  </a:lnTo>
                  <a:lnTo>
                    <a:pt x="320" y="84"/>
                  </a:lnTo>
                  <a:lnTo>
                    <a:pt x="342" y="64"/>
                  </a:lnTo>
                  <a:lnTo>
                    <a:pt x="356" y="46"/>
                  </a:lnTo>
                  <a:lnTo>
                    <a:pt x="364" y="32"/>
                  </a:lnTo>
                  <a:lnTo>
                    <a:pt x="368" y="26"/>
                  </a:lnTo>
                  <a:lnTo>
                    <a:pt x="380" y="0"/>
                  </a:lnTo>
                  <a:lnTo>
                    <a:pt x="3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4" name="Freeform 127"/>
            <p:cNvSpPr/>
            <p:nvPr/>
          </p:nvSpPr>
          <p:spPr bwMode="auto">
            <a:xfrm>
              <a:off x="4613275" y="2841625"/>
              <a:ext cx="546100" cy="546100"/>
            </a:xfrm>
            <a:custGeom>
              <a:avLst/>
              <a:gdLst/>
              <a:ahLst/>
              <a:cxnLst>
                <a:cxn ang="0">
                  <a:pos x="22" y="344"/>
                </a:cxn>
                <a:cxn ang="0">
                  <a:pos x="22" y="344"/>
                </a:cxn>
                <a:cxn ang="0">
                  <a:pos x="28" y="340"/>
                </a:cxn>
                <a:cxn ang="0">
                  <a:pos x="44" y="328"/>
                </a:cxn>
                <a:cxn ang="0">
                  <a:pos x="64" y="310"/>
                </a:cxn>
                <a:cxn ang="0">
                  <a:pos x="72" y="298"/>
                </a:cxn>
                <a:cxn ang="0">
                  <a:pos x="82" y="288"/>
                </a:cxn>
                <a:cxn ang="0">
                  <a:pos x="82" y="288"/>
                </a:cxn>
                <a:cxn ang="0">
                  <a:pos x="96" y="266"/>
                </a:cxn>
                <a:cxn ang="0">
                  <a:pos x="110" y="246"/>
                </a:cxn>
                <a:cxn ang="0">
                  <a:pos x="126" y="230"/>
                </a:cxn>
                <a:cxn ang="0">
                  <a:pos x="144" y="216"/>
                </a:cxn>
                <a:cxn ang="0">
                  <a:pos x="144" y="216"/>
                </a:cxn>
                <a:cxn ang="0">
                  <a:pos x="166" y="202"/>
                </a:cxn>
                <a:cxn ang="0">
                  <a:pos x="192" y="186"/>
                </a:cxn>
                <a:cxn ang="0">
                  <a:pos x="204" y="178"/>
                </a:cxn>
                <a:cxn ang="0">
                  <a:pos x="216" y="168"/>
                </a:cxn>
                <a:cxn ang="0">
                  <a:pos x="228" y="156"/>
                </a:cxn>
                <a:cxn ang="0">
                  <a:pos x="238" y="142"/>
                </a:cxn>
                <a:cxn ang="0">
                  <a:pos x="238" y="142"/>
                </a:cxn>
                <a:cxn ang="0">
                  <a:pos x="266" y="94"/>
                </a:cxn>
                <a:cxn ang="0">
                  <a:pos x="280" y="74"/>
                </a:cxn>
                <a:cxn ang="0">
                  <a:pos x="300" y="54"/>
                </a:cxn>
                <a:cxn ang="0">
                  <a:pos x="300" y="54"/>
                </a:cxn>
                <a:cxn ang="0">
                  <a:pos x="320" y="34"/>
                </a:cxn>
                <a:cxn ang="0">
                  <a:pos x="334" y="18"/>
                </a:cxn>
                <a:cxn ang="0">
                  <a:pos x="344" y="0"/>
                </a:cxn>
                <a:cxn ang="0">
                  <a:pos x="344" y="0"/>
                </a:cxn>
                <a:cxn ang="0">
                  <a:pos x="344" y="0"/>
                </a:cxn>
                <a:cxn ang="0">
                  <a:pos x="326" y="10"/>
                </a:cxn>
                <a:cxn ang="0">
                  <a:pos x="310" y="24"/>
                </a:cxn>
                <a:cxn ang="0">
                  <a:pos x="290" y="44"/>
                </a:cxn>
                <a:cxn ang="0">
                  <a:pos x="290" y="44"/>
                </a:cxn>
                <a:cxn ang="0">
                  <a:pos x="270" y="64"/>
                </a:cxn>
                <a:cxn ang="0">
                  <a:pos x="250" y="78"/>
                </a:cxn>
                <a:cxn ang="0">
                  <a:pos x="202" y="108"/>
                </a:cxn>
                <a:cxn ang="0">
                  <a:pos x="202" y="108"/>
                </a:cxn>
                <a:cxn ang="0">
                  <a:pos x="188" y="116"/>
                </a:cxn>
                <a:cxn ang="0">
                  <a:pos x="176" y="128"/>
                </a:cxn>
                <a:cxn ang="0">
                  <a:pos x="166" y="140"/>
                </a:cxn>
                <a:cxn ang="0">
                  <a:pos x="158" y="152"/>
                </a:cxn>
                <a:cxn ang="0">
                  <a:pos x="142" y="178"/>
                </a:cxn>
                <a:cxn ang="0">
                  <a:pos x="128" y="200"/>
                </a:cxn>
                <a:cxn ang="0">
                  <a:pos x="128" y="200"/>
                </a:cxn>
                <a:cxn ang="0">
                  <a:pos x="114" y="218"/>
                </a:cxn>
                <a:cxn ang="0">
                  <a:pos x="98" y="234"/>
                </a:cxn>
                <a:cxn ang="0">
                  <a:pos x="78" y="248"/>
                </a:cxn>
                <a:cxn ang="0">
                  <a:pos x="56" y="262"/>
                </a:cxn>
                <a:cxn ang="0">
                  <a:pos x="56" y="262"/>
                </a:cxn>
                <a:cxn ang="0">
                  <a:pos x="46" y="272"/>
                </a:cxn>
                <a:cxn ang="0">
                  <a:pos x="34" y="280"/>
                </a:cxn>
                <a:cxn ang="0">
                  <a:pos x="16" y="300"/>
                </a:cxn>
                <a:cxn ang="0">
                  <a:pos x="4" y="316"/>
                </a:cxn>
                <a:cxn ang="0">
                  <a:pos x="0" y="322"/>
                </a:cxn>
                <a:cxn ang="0">
                  <a:pos x="22" y="344"/>
                </a:cxn>
              </a:cxnLst>
              <a:rect l="0" t="0" r="r" b="b"/>
              <a:pathLst>
                <a:path w="344" h="344">
                  <a:moveTo>
                    <a:pt x="22" y="344"/>
                  </a:moveTo>
                  <a:lnTo>
                    <a:pt x="22" y="344"/>
                  </a:lnTo>
                  <a:lnTo>
                    <a:pt x="28" y="340"/>
                  </a:lnTo>
                  <a:lnTo>
                    <a:pt x="44" y="328"/>
                  </a:lnTo>
                  <a:lnTo>
                    <a:pt x="64" y="310"/>
                  </a:lnTo>
                  <a:lnTo>
                    <a:pt x="72" y="298"/>
                  </a:lnTo>
                  <a:lnTo>
                    <a:pt x="82" y="288"/>
                  </a:lnTo>
                  <a:lnTo>
                    <a:pt x="82" y="288"/>
                  </a:lnTo>
                  <a:lnTo>
                    <a:pt x="96" y="266"/>
                  </a:lnTo>
                  <a:lnTo>
                    <a:pt x="110" y="246"/>
                  </a:lnTo>
                  <a:lnTo>
                    <a:pt x="126" y="230"/>
                  </a:lnTo>
                  <a:lnTo>
                    <a:pt x="144" y="216"/>
                  </a:lnTo>
                  <a:lnTo>
                    <a:pt x="144" y="216"/>
                  </a:lnTo>
                  <a:lnTo>
                    <a:pt x="166" y="202"/>
                  </a:lnTo>
                  <a:lnTo>
                    <a:pt x="192" y="186"/>
                  </a:lnTo>
                  <a:lnTo>
                    <a:pt x="204" y="178"/>
                  </a:lnTo>
                  <a:lnTo>
                    <a:pt x="216" y="168"/>
                  </a:lnTo>
                  <a:lnTo>
                    <a:pt x="228" y="156"/>
                  </a:lnTo>
                  <a:lnTo>
                    <a:pt x="238" y="142"/>
                  </a:lnTo>
                  <a:lnTo>
                    <a:pt x="238" y="142"/>
                  </a:lnTo>
                  <a:lnTo>
                    <a:pt x="266" y="94"/>
                  </a:lnTo>
                  <a:lnTo>
                    <a:pt x="280" y="74"/>
                  </a:lnTo>
                  <a:lnTo>
                    <a:pt x="300" y="54"/>
                  </a:lnTo>
                  <a:lnTo>
                    <a:pt x="300" y="54"/>
                  </a:lnTo>
                  <a:lnTo>
                    <a:pt x="320" y="34"/>
                  </a:lnTo>
                  <a:lnTo>
                    <a:pt x="334" y="18"/>
                  </a:lnTo>
                  <a:lnTo>
                    <a:pt x="344" y="0"/>
                  </a:lnTo>
                  <a:lnTo>
                    <a:pt x="344" y="0"/>
                  </a:lnTo>
                  <a:lnTo>
                    <a:pt x="344" y="0"/>
                  </a:lnTo>
                  <a:lnTo>
                    <a:pt x="326" y="10"/>
                  </a:lnTo>
                  <a:lnTo>
                    <a:pt x="310" y="24"/>
                  </a:lnTo>
                  <a:lnTo>
                    <a:pt x="290" y="44"/>
                  </a:lnTo>
                  <a:lnTo>
                    <a:pt x="290" y="44"/>
                  </a:lnTo>
                  <a:lnTo>
                    <a:pt x="270" y="64"/>
                  </a:lnTo>
                  <a:lnTo>
                    <a:pt x="250" y="78"/>
                  </a:lnTo>
                  <a:lnTo>
                    <a:pt x="202" y="108"/>
                  </a:lnTo>
                  <a:lnTo>
                    <a:pt x="202" y="108"/>
                  </a:lnTo>
                  <a:lnTo>
                    <a:pt x="188" y="116"/>
                  </a:lnTo>
                  <a:lnTo>
                    <a:pt x="176" y="128"/>
                  </a:lnTo>
                  <a:lnTo>
                    <a:pt x="166" y="140"/>
                  </a:lnTo>
                  <a:lnTo>
                    <a:pt x="158" y="152"/>
                  </a:lnTo>
                  <a:lnTo>
                    <a:pt x="142" y="178"/>
                  </a:lnTo>
                  <a:lnTo>
                    <a:pt x="128" y="200"/>
                  </a:lnTo>
                  <a:lnTo>
                    <a:pt x="128" y="200"/>
                  </a:lnTo>
                  <a:lnTo>
                    <a:pt x="114" y="218"/>
                  </a:lnTo>
                  <a:lnTo>
                    <a:pt x="98" y="234"/>
                  </a:lnTo>
                  <a:lnTo>
                    <a:pt x="78" y="248"/>
                  </a:lnTo>
                  <a:lnTo>
                    <a:pt x="56" y="262"/>
                  </a:lnTo>
                  <a:lnTo>
                    <a:pt x="56" y="262"/>
                  </a:lnTo>
                  <a:lnTo>
                    <a:pt x="46" y="272"/>
                  </a:lnTo>
                  <a:lnTo>
                    <a:pt x="34" y="280"/>
                  </a:lnTo>
                  <a:lnTo>
                    <a:pt x="16" y="300"/>
                  </a:lnTo>
                  <a:lnTo>
                    <a:pt x="4" y="316"/>
                  </a:lnTo>
                  <a:lnTo>
                    <a:pt x="0" y="322"/>
                  </a:lnTo>
                  <a:lnTo>
                    <a:pt x="22" y="3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5" name="Freeform 128"/>
            <p:cNvSpPr/>
            <p:nvPr/>
          </p:nvSpPr>
          <p:spPr bwMode="auto">
            <a:xfrm>
              <a:off x="4867275" y="3013075"/>
              <a:ext cx="120650" cy="120650"/>
            </a:xfrm>
            <a:custGeom>
              <a:avLst/>
              <a:gdLst/>
              <a:ahLst/>
              <a:cxnLst>
                <a:cxn ang="0">
                  <a:pos x="30" y="30"/>
                </a:cxn>
                <a:cxn ang="0">
                  <a:pos x="30" y="30"/>
                </a:cxn>
                <a:cxn ang="0">
                  <a:pos x="20" y="42"/>
                </a:cxn>
                <a:cxn ang="0">
                  <a:pos x="10" y="54"/>
                </a:cxn>
                <a:cxn ang="0">
                  <a:pos x="4" y="66"/>
                </a:cxn>
                <a:cxn ang="0">
                  <a:pos x="0" y="76"/>
                </a:cxn>
                <a:cxn ang="0">
                  <a:pos x="0" y="76"/>
                </a:cxn>
                <a:cxn ang="0">
                  <a:pos x="10" y="72"/>
                </a:cxn>
                <a:cxn ang="0">
                  <a:pos x="22" y="66"/>
                </a:cxn>
                <a:cxn ang="0">
                  <a:pos x="34" y="56"/>
                </a:cxn>
                <a:cxn ang="0">
                  <a:pos x="46" y="46"/>
                </a:cxn>
                <a:cxn ang="0">
                  <a:pos x="46" y="46"/>
                </a:cxn>
                <a:cxn ang="0">
                  <a:pos x="58" y="34"/>
                </a:cxn>
                <a:cxn ang="0">
                  <a:pos x="66" y="22"/>
                </a:cxn>
                <a:cxn ang="0">
                  <a:pos x="72" y="10"/>
                </a:cxn>
                <a:cxn ang="0">
                  <a:pos x="76" y="0"/>
                </a:cxn>
                <a:cxn ang="0">
                  <a:pos x="76" y="0"/>
                </a:cxn>
                <a:cxn ang="0">
                  <a:pos x="66" y="4"/>
                </a:cxn>
                <a:cxn ang="0">
                  <a:pos x="54" y="10"/>
                </a:cxn>
                <a:cxn ang="0">
                  <a:pos x="42" y="18"/>
                </a:cxn>
                <a:cxn ang="0">
                  <a:pos x="30" y="30"/>
                </a:cxn>
                <a:cxn ang="0">
                  <a:pos x="30" y="30"/>
                </a:cxn>
              </a:cxnLst>
              <a:rect l="0" t="0" r="r" b="b"/>
              <a:pathLst>
                <a:path w="76" h="76">
                  <a:moveTo>
                    <a:pt x="30" y="30"/>
                  </a:moveTo>
                  <a:lnTo>
                    <a:pt x="30" y="30"/>
                  </a:lnTo>
                  <a:lnTo>
                    <a:pt x="20" y="42"/>
                  </a:lnTo>
                  <a:lnTo>
                    <a:pt x="10" y="54"/>
                  </a:lnTo>
                  <a:lnTo>
                    <a:pt x="4" y="66"/>
                  </a:lnTo>
                  <a:lnTo>
                    <a:pt x="0" y="76"/>
                  </a:lnTo>
                  <a:lnTo>
                    <a:pt x="0" y="76"/>
                  </a:lnTo>
                  <a:lnTo>
                    <a:pt x="10" y="72"/>
                  </a:lnTo>
                  <a:lnTo>
                    <a:pt x="22" y="66"/>
                  </a:lnTo>
                  <a:lnTo>
                    <a:pt x="34" y="56"/>
                  </a:lnTo>
                  <a:lnTo>
                    <a:pt x="46" y="46"/>
                  </a:lnTo>
                  <a:lnTo>
                    <a:pt x="46" y="46"/>
                  </a:lnTo>
                  <a:lnTo>
                    <a:pt x="58" y="34"/>
                  </a:lnTo>
                  <a:lnTo>
                    <a:pt x="66" y="22"/>
                  </a:lnTo>
                  <a:lnTo>
                    <a:pt x="72" y="10"/>
                  </a:lnTo>
                  <a:lnTo>
                    <a:pt x="76" y="0"/>
                  </a:lnTo>
                  <a:lnTo>
                    <a:pt x="76" y="0"/>
                  </a:lnTo>
                  <a:lnTo>
                    <a:pt x="66" y="4"/>
                  </a:lnTo>
                  <a:lnTo>
                    <a:pt x="54" y="10"/>
                  </a:lnTo>
                  <a:lnTo>
                    <a:pt x="42" y="18"/>
                  </a:lnTo>
                  <a:lnTo>
                    <a:pt x="30" y="30"/>
                  </a:lnTo>
                  <a:lnTo>
                    <a:pt x="30"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6" name="Freeform 129"/>
            <p:cNvSpPr/>
            <p:nvPr/>
          </p:nvSpPr>
          <p:spPr bwMode="auto">
            <a:xfrm>
              <a:off x="4635500" y="3368675"/>
              <a:ext cx="815975" cy="120650"/>
            </a:xfrm>
            <a:custGeom>
              <a:avLst/>
              <a:gdLst/>
              <a:ahLst/>
              <a:cxnLst>
                <a:cxn ang="0">
                  <a:pos x="488" y="28"/>
                </a:cxn>
                <a:cxn ang="0">
                  <a:pos x="466" y="24"/>
                </a:cxn>
                <a:cxn ang="0">
                  <a:pos x="412" y="20"/>
                </a:cxn>
                <a:cxn ang="0">
                  <a:pos x="412" y="20"/>
                </a:cxn>
                <a:cxn ang="0">
                  <a:pos x="376" y="20"/>
                </a:cxn>
                <a:cxn ang="0">
                  <a:pos x="310" y="4"/>
                </a:cxn>
                <a:cxn ang="0">
                  <a:pos x="296" y="2"/>
                </a:cxn>
                <a:cxn ang="0">
                  <a:pos x="256" y="2"/>
                </a:cxn>
                <a:cxn ang="0">
                  <a:pos x="210" y="12"/>
                </a:cxn>
                <a:cxn ang="0">
                  <a:pos x="186" y="18"/>
                </a:cxn>
                <a:cxn ang="0">
                  <a:pos x="146" y="20"/>
                </a:cxn>
                <a:cxn ang="0">
                  <a:pos x="98" y="10"/>
                </a:cxn>
                <a:cxn ang="0">
                  <a:pos x="82" y="8"/>
                </a:cxn>
                <a:cxn ang="0">
                  <a:pos x="42" y="8"/>
                </a:cxn>
                <a:cxn ang="0">
                  <a:pos x="10" y="12"/>
                </a:cxn>
                <a:cxn ang="0">
                  <a:pos x="0" y="22"/>
                </a:cxn>
                <a:cxn ang="0">
                  <a:pos x="10" y="64"/>
                </a:cxn>
                <a:cxn ang="0">
                  <a:pos x="18" y="64"/>
                </a:cxn>
                <a:cxn ang="0">
                  <a:pos x="68" y="68"/>
                </a:cxn>
                <a:cxn ang="0">
                  <a:pos x="98" y="66"/>
                </a:cxn>
                <a:cxn ang="0">
                  <a:pos x="122" y="60"/>
                </a:cxn>
                <a:cxn ang="0">
                  <a:pos x="166" y="56"/>
                </a:cxn>
                <a:cxn ang="0">
                  <a:pos x="210" y="64"/>
                </a:cxn>
                <a:cxn ang="0">
                  <a:pos x="232" y="70"/>
                </a:cxn>
                <a:cxn ang="0">
                  <a:pos x="282" y="76"/>
                </a:cxn>
                <a:cxn ang="0">
                  <a:pos x="310" y="72"/>
                </a:cxn>
                <a:cxn ang="0">
                  <a:pos x="342" y="64"/>
                </a:cxn>
                <a:cxn ang="0">
                  <a:pos x="394" y="54"/>
                </a:cxn>
                <a:cxn ang="0">
                  <a:pos x="412" y="56"/>
                </a:cxn>
                <a:cxn ang="0">
                  <a:pos x="466" y="52"/>
                </a:cxn>
                <a:cxn ang="0">
                  <a:pos x="488" y="48"/>
                </a:cxn>
                <a:cxn ang="0">
                  <a:pos x="488" y="28"/>
                </a:cxn>
              </a:cxnLst>
              <a:rect l="0" t="0" r="r" b="b"/>
              <a:pathLst>
                <a:path w="514" h="76">
                  <a:moveTo>
                    <a:pt x="488" y="28"/>
                  </a:moveTo>
                  <a:lnTo>
                    <a:pt x="488" y="28"/>
                  </a:lnTo>
                  <a:lnTo>
                    <a:pt x="480" y="26"/>
                  </a:lnTo>
                  <a:lnTo>
                    <a:pt x="466" y="24"/>
                  </a:lnTo>
                  <a:lnTo>
                    <a:pt x="442" y="20"/>
                  </a:lnTo>
                  <a:lnTo>
                    <a:pt x="412" y="20"/>
                  </a:lnTo>
                  <a:lnTo>
                    <a:pt x="412" y="20"/>
                  </a:lnTo>
                  <a:lnTo>
                    <a:pt x="412" y="20"/>
                  </a:lnTo>
                  <a:lnTo>
                    <a:pt x="394" y="22"/>
                  </a:lnTo>
                  <a:lnTo>
                    <a:pt x="376" y="20"/>
                  </a:lnTo>
                  <a:lnTo>
                    <a:pt x="342" y="12"/>
                  </a:lnTo>
                  <a:lnTo>
                    <a:pt x="310" y="4"/>
                  </a:lnTo>
                  <a:lnTo>
                    <a:pt x="310" y="4"/>
                  </a:lnTo>
                  <a:lnTo>
                    <a:pt x="296" y="2"/>
                  </a:lnTo>
                  <a:lnTo>
                    <a:pt x="282" y="0"/>
                  </a:lnTo>
                  <a:lnTo>
                    <a:pt x="256" y="2"/>
                  </a:lnTo>
                  <a:lnTo>
                    <a:pt x="232" y="6"/>
                  </a:lnTo>
                  <a:lnTo>
                    <a:pt x="210" y="12"/>
                  </a:lnTo>
                  <a:lnTo>
                    <a:pt x="186" y="18"/>
                  </a:lnTo>
                  <a:lnTo>
                    <a:pt x="186" y="18"/>
                  </a:lnTo>
                  <a:lnTo>
                    <a:pt x="166" y="20"/>
                  </a:lnTo>
                  <a:lnTo>
                    <a:pt x="146" y="20"/>
                  </a:lnTo>
                  <a:lnTo>
                    <a:pt x="122" y="16"/>
                  </a:lnTo>
                  <a:lnTo>
                    <a:pt x="98" y="10"/>
                  </a:lnTo>
                  <a:lnTo>
                    <a:pt x="98" y="10"/>
                  </a:lnTo>
                  <a:lnTo>
                    <a:pt x="82" y="8"/>
                  </a:lnTo>
                  <a:lnTo>
                    <a:pt x="68" y="8"/>
                  </a:lnTo>
                  <a:lnTo>
                    <a:pt x="42" y="8"/>
                  </a:lnTo>
                  <a:lnTo>
                    <a:pt x="20" y="10"/>
                  </a:lnTo>
                  <a:lnTo>
                    <a:pt x="10" y="12"/>
                  </a:lnTo>
                  <a:lnTo>
                    <a:pt x="0" y="14"/>
                  </a:lnTo>
                  <a:lnTo>
                    <a:pt x="0" y="22"/>
                  </a:lnTo>
                  <a:lnTo>
                    <a:pt x="0" y="62"/>
                  </a:lnTo>
                  <a:lnTo>
                    <a:pt x="10" y="64"/>
                  </a:lnTo>
                  <a:lnTo>
                    <a:pt x="10" y="64"/>
                  </a:lnTo>
                  <a:lnTo>
                    <a:pt x="18" y="64"/>
                  </a:lnTo>
                  <a:lnTo>
                    <a:pt x="40" y="68"/>
                  </a:lnTo>
                  <a:lnTo>
                    <a:pt x="68" y="68"/>
                  </a:lnTo>
                  <a:lnTo>
                    <a:pt x="82" y="68"/>
                  </a:lnTo>
                  <a:lnTo>
                    <a:pt x="98" y="66"/>
                  </a:lnTo>
                  <a:lnTo>
                    <a:pt x="98" y="66"/>
                  </a:lnTo>
                  <a:lnTo>
                    <a:pt x="122" y="60"/>
                  </a:lnTo>
                  <a:lnTo>
                    <a:pt x="146" y="56"/>
                  </a:lnTo>
                  <a:lnTo>
                    <a:pt x="166" y="56"/>
                  </a:lnTo>
                  <a:lnTo>
                    <a:pt x="186" y="58"/>
                  </a:lnTo>
                  <a:lnTo>
                    <a:pt x="210" y="64"/>
                  </a:lnTo>
                  <a:lnTo>
                    <a:pt x="210" y="64"/>
                  </a:lnTo>
                  <a:lnTo>
                    <a:pt x="232" y="70"/>
                  </a:lnTo>
                  <a:lnTo>
                    <a:pt x="256" y="74"/>
                  </a:lnTo>
                  <a:lnTo>
                    <a:pt x="282" y="76"/>
                  </a:lnTo>
                  <a:lnTo>
                    <a:pt x="296" y="74"/>
                  </a:lnTo>
                  <a:lnTo>
                    <a:pt x="310" y="72"/>
                  </a:lnTo>
                  <a:lnTo>
                    <a:pt x="342" y="64"/>
                  </a:lnTo>
                  <a:lnTo>
                    <a:pt x="342" y="64"/>
                  </a:lnTo>
                  <a:lnTo>
                    <a:pt x="376" y="56"/>
                  </a:lnTo>
                  <a:lnTo>
                    <a:pt x="394" y="54"/>
                  </a:lnTo>
                  <a:lnTo>
                    <a:pt x="412" y="56"/>
                  </a:lnTo>
                  <a:lnTo>
                    <a:pt x="412" y="56"/>
                  </a:lnTo>
                  <a:lnTo>
                    <a:pt x="442" y="56"/>
                  </a:lnTo>
                  <a:lnTo>
                    <a:pt x="466" y="52"/>
                  </a:lnTo>
                  <a:lnTo>
                    <a:pt x="480" y="50"/>
                  </a:lnTo>
                  <a:lnTo>
                    <a:pt x="488" y="48"/>
                  </a:lnTo>
                  <a:lnTo>
                    <a:pt x="514" y="38"/>
                  </a:lnTo>
                  <a:lnTo>
                    <a:pt x="488"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7" name="Freeform 130"/>
            <p:cNvSpPr/>
            <p:nvPr/>
          </p:nvSpPr>
          <p:spPr bwMode="auto">
            <a:xfrm>
              <a:off x="4654550" y="3384550"/>
              <a:ext cx="746125" cy="88900"/>
            </a:xfrm>
            <a:custGeom>
              <a:avLst/>
              <a:gdLst/>
              <a:ahLst/>
              <a:cxnLst>
                <a:cxn ang="0">
                  <a:pos x="0" y="44"/>
                </a:cxn>
                <a:cxn ang="0">
                  <a:pos x="0" y="44"/>
                </a:cxn>
                <a:cxn ang="0">
                  <a:pos x="8" y="44"/>
                </a:cxn>
                <a:cxn ang="0">
                  <a:pos x="28" y="48"/>
                </a:cxn>
                <a:cxn ang="0">
                  <a:pos x="54" y="48"/>
                </a:cxn>
                <a:cxn ang="0">
                  <a:pos x="68" y="48"/>
                </a:cxn>
                <a:cxn ang="0">
                  <a:pos x="82" y="46"/>
                </a:cxn>
                <a:cxn ang="0">
                  <a:pos x="82" y="46"/>
                </a:cxn>
                <a:cxn ang="0">
                  <a:pos x="108" y="40"/>
                </a:cxn>
                <a:cxn ang="0">
                  <a:pos x="132" y="36"/>
                </a:cxn>
                <a:cxn ang="0">
                  <a:pos x="154" y="36"/>
                </a:cxn>
                <a:cxn ang="0">
                  <a:pos x="178" y="38"/>
                </a:cxn>
                <a:cxn ang="0">
                  <a:pos x="178" y="38"/>
                </a:cxn>
                <a:cxn ang="0">
                  <a:pos x="202" y="46"/>
                </a:cxn>
                <a:cxn ang="0">
                  <a:pos x="232" y="52"/>
                </a:cxn>
                <a:cxn ang="0">
                  <a:pos x="246" y="54"/>
                </a:cxn>
                <a:cxn ang="0">
                  <a:pos x="262" y="56"/>
                </a:cxn>
                <a:cxn ang="0">
                  <a:pos x="278" y="56"/>
                </a:cxn>
                <a:cxn ang="0">
                  <a:pos x="296" y="52"/>
                </a:cxn>
                <a:cxn ang="0">
                  <a:pos x="296" y="52"/>
                </a:cxn>
                <a:cxn ang="0">
                  <a:pos x="350" y="38"/>
                </a:cxn>
                <a:cxn ang="0">
                  <a:pos x="374" y="36"/>
                </a:cxn>
                <a:cxn ang="0">
                  <a:pos x="402" y="36"/>
                </a:cxn>
                <a:cxn ang="0">
                  <a:pos x="402" y="36"/>
                </a:cxn>
                <a:cxn ang="0">
                  <a:pos x="430" y="36"/>
                </a:cxn>
                <a:cxn ang="0">
                  <a:pos x="452" y="32"/>
                </a:cxn>
                <a:cxn ang="0">
                  <a:pos x="470" y="28"/>
                </a:cxn>
                <a:cxn ang="0">
                  <a:pos x="470" y="28"/>
                </a:cxn>
                <a:cxn ang="0">
                  <a:pos x="470" y="28"/>
                </a:cxn>
                <a:cxn ang="0">
                  <a:pos x="452" y="24"/>
                </a:cxn>
                <a:cxn ang="0">
                  <a:pos x="430" y="20"/>
                </a:cxn>
                <a:cxn ang="0">
                  <a:pos x="402" y="20"/>
                </a:cxn>
                <a:cxn ang="0">
                  <a:pos x="402" y="20"/>
                </a:cxn>
                <a:cxn ang="0">
                  <a:pos x="374" y="20"/>
                </a:cxn>
                <a:cxn ang="0">
                  <a:pos x="350" y="18"/>
                </a:cxn>
                <a:cxn ang="0">
                  <a:pos x="296" y="4"/>
                </a:cxn>
                <a:cxn ang="0">
                  <a:pos x="296" y="4"/>
                </a:cxn>
                <a:cxn ang="0">
                  <a:pos x="278" y="0"/>
                </a:cxn>
                <a:cxn ang="0">
                  <a:pos x="262" y="0"/>
                </a:cxn>
                <a:cxn ang="0">
                  <a:pos x="246" y="2"/>
                </a:cxn>
                <a:cxn ang="0">
                  <a:pos x="232" y="4"/>
                </a:cxn>
                <a:cxn ang="0">
                  <a:pos x="202" y="10"/>
                </a:cxn>
                <a:cxn ang="0">
                  <a:pos x="178" y="18"/>
                </a:cxn>
                <a:cxn ang="0">
                  <a:pos x="178" y="18"/>
                </a:cxn>
                <a:cxn ang="0">
                  <a:pos x="154" y="20"/>
                </a:cxn>
                <a:cxn ang="0">
                  <a:pos x="132" y="20"/>
                </a:cxn>
                <a:cxn ang="0">
                  <a:pos x="108" y="16"/>
                </a:cxn>
                <a:cxn ang="0">
                  <a:pos x="82" y="10"/>
                </a:cxn>
                <a:cxn ang="0">
                  <a:pos x="82" y="10"/>
                </a:cxn>
                <a:cxn ang="0">
                  <a:pos x="68" y="8"/>
                </a:cxn>
                <a:cxn ang="0">
                  <a:pos x="54" y="8"/>
                </a:cxn>
                <a:cxn ang="0">
                  <a:pos x="28" y="8"/>
                </a:cxn>
                <a:cxn ang="0">
                  <a:pos x="8" y="12"/>
                </a:cxn>
                <a:cxn ang="0">
                  <a:pos x="0" y="12"/>
                </a:cxn>
                <a:cxn ang="0">
                  <a:pos x="0" y="44"/>
                </a:cxn>
              </a:cxnLst>
              <a:rect l="0" t="0" r="r" b="b"/>
              <a:pathLst>
                <a:path w="470" h="56">
                  <a:moveTo>
                    <a:pt x="0" y="44"/>
                  </a:moveTo>
                  <a:lnTo>
                    <a:pt x="0" y="44"/>
                  </a:lnTo>
                  <a:lnTo>
                    <a:pt x="8" y="44"/>
                  </a:lnTo>
                  <a:lnTo>
                    <a:pt x="28" y="48"/>
                  </a:lnTo>
                  <a:lnTo>
                    <a:pt x="54" y="48"/>
                  </a:lnTo>
                  <a:lnTo>
                    <a:pt x="68" y="48"/>
                  </a:lnTo>
                  <a:lnTo>
                    <a:pt x="82" y="46"/>
                  </a:lnTo>
                  <a:lnTo>
                    <a:pt x="82" y="46"/>
                  </a:lnTo>
                  <a:lnTo>
                    <a:pt x="108" y="40"/>
                  </a:lnTo>
                  <a:lnTo>
                    <a:pt x="132" y="36"/>
                  </a:lnTo>
                  <a:lnTo>
                    <a:pt x="154" y="36"/>
                  </a:lnTo>
                  <a:lnTo>
                    <a:pt x="178" y="38"/>
                  </a:lnTo>
                  <a:lnTo>
                    <a:pt x="178" y="38"/>
                  </a:lnTo>
                  <a:lnTo>
                    <a:pt x="202" y="46"/>
                  </a:lnTo>
                  <a:lnTo>
                    <a:pt x="232" y="52"/>
                  </a:lnTo>
                  <a:lnTo>
                    <a:pt x="246" y="54"/>
                  </a:lnTo>
                  <a:lnTo>
                    <a:pt x="262" y="56"/>
                  </a:lnTo>
                  <a:lnTo>
                    <a:pt x="278" y="56"/>
                  </a:lnTo>
                  <a:lnTo>
                    <a:pt x="296" y="52"/>
                  </a:lnTo>
                  <a:lnTo>
                    <a:pt x="296" y="52"/>
                  </a:lnTo>
                  <a:lnTo>
                    <a:pt x="350" y="38"/>
                  </a:lnTo>
                  <a:lnTo>
                    <a:pt x="374" y="36"/>
                  </a:lnTo>
                  <a:lnTo>
                    <a:pt x="402" y="36"/>
                  </a:lnTo>
                  <a:lnTo>
                    <a:pt x="402" y="36"/>
                  </a:lnTo>
                  <a:lnTo>
                    <a:pt x="430" y="36"/>
                  </a:lnTo>
                  <a:lnTo>
                    <a:pt x="452" y="32"/>
                  </a:lnTo>
                  <a:lnTo>
                    <a:pt x="470" y="28"/>
                  </a:lnTo>
                  <a:lnTo>
                    <a:pt x="470" y="28"/>
                  </a:lnTo>
                  <a:lnTo>
                    <a:pt x="470" y="28"/>
                  </a:lnTo>
                  <a:lnTo>
                    <a:pt x="452" y="24"/>
                  </a:lnTo>
                  <a:lnTo>
                    <a:pt x="430" y="20"/>
                  </a:lnTo>
                  <a:lnTo>
                    <a:pt x="402" y="20"/>
                  </a:lnTo>
                  <a:lnTo>
                    <a:pt x="402" y="20"/>
                  </a:lnTo>
                  <a:lnTo>
                    <a:pt x="374" y="20"/>
                  </a:lnTo>
                  <a:lnTo>
                    <a:pt x="350" y="18"/>
                  </a:lnTo>
                  <a:lnTo>
                    <a:pt x="296" y="4"/>
                  </a:lnTo>
                  <a:lnTo>
                    <a:pt x="296" y="4"/>
                  </a:lnTo>
                  <a:lnTo>
                    <a:pt x="278" y="0"/>
                  </a:lnTo>
                  <a:lnTo>
                    <a:pt x="262" y="0"/>
                  </a:lnTo>
                  <a:lnTo>
                    <a:pt x="246" y="2"/>
                  </a:lnTo>
                  <a:lnTo>
                    <a:pt x="232" y="4"/>
                  </a:lnTo>
                  <a:lnTo>
                    <a:pt x="202" y="10"/>
                  </a:lnTo>
                  <a:lnTo>
                    <a:pt x="178" y="18"/>
                  </a:lnTo>
                  <a:lnTo>
                    <a:pt x="178" y="18"/>
                  </a:lnTo>
                  <a:lnTo>
                    <a:pt x="154" y="20"/>
                  </a:lnTo>
                  <a:lnTo>
                    <a:pt x="132" y="20"/>
                  </a:lnTo>
                  <a:lnTo>
                    <a:pt x="108" y="16"/>
                  </a:lnTo>
                  <a:lnTo>
                    <a:pt x="82" y="10"/>
                  </a:lnTo>
                  <a:lnTo>
                    <a:pt x="82" y="10"/>
                  </a:lnTo>
                  <a:lnTo>
                    <a:pt x="68" y="8"/>
                  </a:lnTo>
                  <a:lnTo>
                    <a:pt x="54" y="8"/>
                  </a:lnTo>
                  <a:lnTo>
                    <a:pt x="28" y="8"/>
                  </a:lnTo>
                  <a:lnTo>
                    <a:pt x="8" y="12"/>
                  </a:lnTo>
                  <a:lnTo>
                    <a:pt x="0" y="12"/>
                  </a:lnTo>
                  <a:lnTo>
                    <a:pt x="0" y="4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8" name="Freeform 131"/>
            <p:cNvSpPr/>
            <p:nvPr/>
          </p:nvSpPr>
          <p:spPr bwMode="auto">
            <a:xfrm>
              <a:off x="4991100" y="3413125"/>
              <a:ext cx="168275" cy="31750"/>
            </a:xfrm>
            <a:custGeom>
              <a:avLst/>
              <a:gdLst/>
              <a:ahLst/>
              <a:cxnLst>
                <a:cxn ang="0">
                  <a:pos x="54" y="0"/>
                </a:cxn>
                <a:cxn ang="0">
                  <a:pos x="54" y="0"/>
                </a:cxn>
                <a:cxn ang="0">
                  <a:pos x="36" y="0"/>
                </a:cxn>
                <a:cxn ang="0">
                  <a:pos x="22" y="2"/>
                </a:cxn>
                <a:cxn ang="0">
                  <a:pos x="10" y="6"/>
                </a:cxn>
                <a:cxn ang="0">
                  <a:pos x="0" y="10"/>
                </a:cxn>
                <a:cxn ang="0">
                  <a:pos x="0" y="10"/>
                </a:cxn>
                <a:cxn ang="0">
                  <a:pos x="10" y="14"/>
                </a:cxn>
                <a:cxn ang="0">
                  <a:pos x="22" y="18"/>
                </a:cxn>
                <a:cxn ang="0">
                  <a:pos x="36" y="20"/>
                </a:cxn>
                <a:cxn ang="0">
                  <a:pos x="54" y="20"/>
                </a:cxn>
                <a:cxn ang="0">
                  <a:pos x="54" y="20"/>
                </a:cxn>
                <a:cxn ang="0">
                  <a:pos x="70" y="20"/>
                </a:cxn>
                <a:cxn ang="0">
                  <a:pos x="84" y="18"/>
                </a:cxn>
                <a:cxn ang="0">
                  <a:pos x="98" y="14"/>
                </a:cxn>
                <a:cxn ang="0">
                  <a:pos x="106" y="10"/>
                </a:cxn>
                <a:cxn ang="0">
                  <a:pos x="106" y="10"/>
                </a:cxn>
                <a:cxn ang="0">
                  <a:pos x="98" y="6"/>
                </a:cxn>
                <a:cxn ang="0">
                  <a:pos x="84" y="2"/>
                </a:cxn>
                <a:cxn ang="0">
                  <a:pos x="70" y="0"/>
                </a:cxn>
                <a:cxn ang="0">
                  <a:pos x="54" y="0"/>
                </a:cxn>
                <a:cxn ang="0">
                  <a:pos x="54" y="0"/>
                </a:cxn>
              </a:cxnLst>
              <a:rect l="0" t="0" r="r" b="b"/>
              <a:pathLst>
                <a:path w="106" h="20">
                  <a:moveTo>
                    <a:pt x="54" y="0"/>
                  </a:moveTo>
                  <a:lnTo>
                    <a:pt x="54" y="0"/>
                  </a:lnTo>
                  <a:lnTo>
                    <a:pt x="36" y="0"/>
                  </a:lnTo>
                  <a:lnTo>
                    <a:pt x="22" y="2"/>
                  </a:lnTo>
                  <a:lnTo>
                    <a:pt x="10" y="6"/>
                  </a:lnTo>
                  <a:lnTo>
                    <a:pt x="0" y="10"/>
                  </a:lnTo>
                  <a:lnTo>
                    <a:pt x="0" y="10"/>
                  </a:lnTo>
                  <a:lnTo>
                    <a:pt x="10" y="14"/>
                  </a:lnTo>
                  <a:lnTo>
                    <a:pt x="22" y="18"/>
                  </a:lnTo>
                  <a:lnTo>
                    <a:pt x="36" y="20"/>
                  </a:lnTo>
                  <a:lnTo>
                    <a:pt x="54" y="20"/>
                  </a:lnTo>
                  <a:lnTo>
                    <a:pt x="54" y="20"/>
                  </a:lnTo>
                  <a:lnTo>
                    <a:pt x="70" y="20"/>
                  </a:lnTo>
                  <a:lnTo>
                    <a:pt x="84" y="18"/>
                  </a:lnTo>
                  <a:lnTo>
                    <a:pt x="98" y="14"/>
                  </a:lnTo>
                  <a:lnTo>
                    <a:pt x="106" y="10"/>
                  </a:lnTo>
                  <a:lnTo>
                    <a:pt x="106" y="10"/>
                  </a:lnTo>
                  <a:lnTo>
                    <a:pt x="98" y="6"/>
                  </a:lnTo>
                  <a:lnTo>
                    <a:pt x="84" y="2"/>
                  </a:lnTo>
                  <a:lnTo>
                    <a:pt x="70" y="0"/>
                  </a:lnTo>
                  <a:lnTo>
                    <a:pt x="54" y="0"/>
                  </a:lnTo>
                  <a:lnTo>
                    <a:pt x="54" y="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29" name="Freeform 132"/>
            <p:cNvSpPr/>
            <p:nvPr/>
          </p:nvSpPr>
          <p:spPr bwMode="auto">
            <a:xfrm>
              <a:off x="4591050" y="3448050"/>
              <a:ext cx="603250" cy="603250"/>
            </a:xfrm>
            <a:custGeom>
              <a:avLst/>
              <a:gdLst/>
              <a:ahLst/>
              <a:cxnLst>
                <a:cxn ang="0">
                  <a:pos x="368" y="354"/>
                </a:cxn>
                <a:cxn ang="0">
                  <a:pos x="356" y="334"/>
                </a:cxn>
                <a:cxn ang="0">
                  <a:pos x="320" y="296"/>
                </a:cxn>
                <a:cxn ang="0">
                  <a:pos x="320" y="296"/>
                </a:cxn>
                <a:cxn ang="0">
                  <a:pos x="296" y="270"/>
                </a:cxn>
                <a:cxn ang="0">
                  <a:pos x="260" y="212"/>
                </a:cxn>
                <a:cxn ang="0">
                  <a:pos x="252" y="200"/>
                </a:cxn>
                <a:cxn ang="0">
                  <a:pos x="224" y="172"/>
                </a:cxn>
                <a:cxn ang="0">
                  <a:pos x="184" y="146"/>
                </a:cxn>
                <a:cxn ang="0">
                  <a:pos x="164" y="134"/>
                </a:cxn>
                <a:cxn ang="0">
                  <a:pos x="132" y="106"/>
                </a:cxn>
                <a:cxn ang="0">
                  <a:pos x="104" y="66"/>
                </a:cxn>
                <a:cxn ang="0">
                  <a:pos x="96" y="54"/>
                </a:cxn>
                <a:cxn ang="0">
                  <a:pos x="66" y="24"/>
                </a:cxn>
                <a:cxn ang="0">
                  <a:pos x="42" y="6"/>
                </a:cxn>
                <a:cxn ang="0">
                  <a:pos x="28" y="6"/>
                </a:cxn>
                <a:cxn ang="0">
                  <a:pos x="6" y="40"/>
                </a:cxn>
                <a:cxn ang="0">
                  <a:pos x="10" y="48"/>
                </a:cxn>
                <a:cxn ang="0">
                  <a:pos x="42" y="86"/>
                </a:cxn>
                <a:cxn ang="0">
                  <a:pos x="66" y="104"/>
                </a:cxn>
                <a:cxn ang="0">
                  <a:pos x="88" y="118"/>
                </a:cxn>
                <a:cxn ang="0">
                  <a:pos x="120" y="146"/>
                </a:cxn>
                <a:cxn ang="0">
                  <a:pos x="146" y="184"/>
                </a:cxn>
                <a:cxn ang="0">
                  <a:pos x="158" y="204"/>
                </a:cxn>
                <a:cxn ang="0">
                  <a:pos x="190" y="244"/>
                </a:cxn>
                <a:cxn ang="0">
                  <a:pos x="212" y="260"/>
                </a:cxn>
                <a:cxn ang="0">
                  <a:pos x="240" y="276"/>
                </a:cxn>
                <a:cxn ang="0">
                  <a:pos x="282" y="306"/>
                </a:cxn>
                <a:cxn ang="0">
                  <a:pos x="296" y="320"/>
                </a:cxn>
                <a:cxn ang="0">
                  <a:pos x="334" y="356"/>
                </a:cxn>
                <a:cxn ang="0">
                  <a:pos x="354" y="368"/>
                </a:cxn>
                <a:cxn ang="0">
                  <a:pos x="368" y="354"/>
                </a:cxn>
              </a:cxnLst>
              <a:rect l="0" t="0" r="r" b="b"/>
              <a:pathLst>
                <a:path w="380" h="380">
                  <a:moveTo>
                    <a:pt x="368" y="354"/>
                  </a:moveTo>
                  <a:lnTo>
                    <a:pt x="368" y="354"/>
                  </a:lnTo>
                  <a:lnTo>
                    <a:pt x="364" y="348"/>
                  </a:lnTo>
                  <a:lnTo>
                    <a:pt x="356" y="334"/>
                  </a:lnTo>
                  <a:lnTo>
                    <a:pt x="342" y="316"/>
                  </a:lnTo>
                  <a:lnTo>
                    <a:pt x="320" y="296"/>
                  </a:lnTo>
                  <a:lnTo>
                    <a:pt x="320" y="296"/>
                  </a:lnTo>
                  <a:lnTo>
                    <a:pt x="320" y="296"/>
                  </a:lnTo>
                  <a:lnTo>
                    <a:pt x="306" y="282"/>
                  </a:lnTo>
                  <a:lnTo>
                    <a:pt x="296" y="270"/>
                  </a:lnTo>
                  <a:lnTo>
                    <a:pt x="276" y="240"/>
                  </a:lnTo>
                  <a:lnTo>
                    <a:pt x="260" y="212"/>
                  </a:lnTo>
                  <a:lnTo>
                    <a:pt x="260" y="212"/>
                  </a:lnTo>
                  <a:lnTo>
                    <a:pt x="252" y="200"/>
                  </a:lnTo>
                  <a:lnTo>
                    <a:pt x="244" y="190"/>
                  </a:lnTo>
                  <a:lnTo>
                    <a:pt x="224" y="172"/>
                  </a:lnTo>
                  <a:lnTo>
                    <a:pt x="204" y="158"/>
                  </a:lnTo>
                  <a:lnTo>
                    <a:pt x="184" y="146"/>
                  </a:lnTo>
                  <a:lnTo>
                    <a:pt x="164" y="134"/>
                  </a:lnTo>
                  <a:lnTo>
                    <a:pt x="164" y="134"/>
                  </a:lnTo>
                  <a:lnTo>
                    <a:pt x="146" y="120"/>
                  </a:lnTo>
                  <a:lnTo>
                    <a:pt x="132" y="106"/>
                  </a:lnTo>
                  <a:lnTo>
                    <a:pt x="118" y="88"/>
                  </a:lnTo>
                  <a:lnTo>
                    <a:pt x="104" y="66"/>
                  </a:lnTo>
                  <a:lnTo>
                    <a:pt x="104" y="66"/>
                  </a:lnTo>
                  <a:lnTo>
                    <a:pt x="96" y="54"/>
                  </a:lnTo>
                  <a:lnTo>
                    <a:pt x="86" y="44"/>
                  </a:lnTo>
                  <a:lnTo>
                    <a:pt x="66" y="24"/>
                  </a:lnTo>
                  <a:lnTo>
                    <a:pt x="50" y="12"/>
                  </a:lnTo>
                  <a:lnTo>
                    <a:pt x="42" y="6"/>
                  </a:lnTo>
                  <a:lnTo>
                    <a:pt x="34" y="0"/>
                  </a:lnTo>
                  <a:lnTo>
                    <a:pt x="28" y="6"/>
                  </a:lnTo>
                  <a:lnTo>
                    <a:pt x="0" y="34"/>
                  </a:lnTo>
                  <a:lnTo>
                    <a:pt x="6" y="40"/>
                  </a:lnTo>
                  <a:lnTo>
                    <a:pt x="6" y="40"/>
                  </a:lnTo>
                  <a:lnTo>
                    <a:pt x="10" y="48"/>
                  </a:lnTo>
                  <a:lnTo>
                    <a:pt x="24" y="66"/>
                  </a:lnTo>
                  <a:lnTo>
                    <a:pt x="42" y="86"/>
                  </a:lnTo>
                  <a:lnTo>
                    <a:pt x="54" y="96"/>
                  </a:lnTo>
                  <a:lnTo>
                    <a:pt x="66" y="104"/>
                  </a:lnTo>
                  <a:lnTo>
                    <a:pt x="66" y="104"/>
                  </a:lnTo>
                  <a:lnTo>
                    <a:pt x="88" y="118"/>
                  </a:lnTo>
                  <a:lnTo>
                    <a:pt x="106" y="132"/>
                  </a:lnTo>
                  <a:lnTo>
                    <a:pt x="120" y="146"/>
                  </a:lnTo>
                  <a:lnTo>
                    <a:pt x="134" y="164"/>
                  </a:lnTo>
                  <a:lnTo>
                    <a:pt x="146" y="184"/>
                  </a:lnTo>
                  <a:lnTo>
                    <a:pt x="146" y="184"/>
                  </a:lnTo>
                  <a:lnTo>
                    <a:pt x="158" y="204"/>
                  </a:lnTo>
                  <a:lnTo>
                    <a:pt x="172" y="224"/>
                  </a:lnTo>
                  <a:lnTo>
                    <a:pt x="190" y="244"/>
                  </a:lnTo>
                  <a:lnTo>
                    <a:pt x="200" y="252"/>
                  </a:lnTo>
                  <a:lnTo>
                    <a:pt x="212" y="260"/>
                  </a:lnTo>
                  <a:lnTo>
                    <a:pt x="240" y="276"/>
                  </a:lnTo>
                  <a:lnTo>
                    <a:pt x="240" y="276"/>
                  </a:lnTo>
                  <a:lnTo>
                    <a:pt x="270" y="296"/>
                  </a:lnTo>
                  <a:lnTo>
                    <a:pt x="282" y="306"/>
                  </a:lnTo>
                  <a:lnTo>
                    <a:pt x="296" y="320"/>
                  </a:lnTo>
                  <a:lnTo>
                    <a:pt x="296" y="320"/>
                  </a:lnTo>
                  <a:lnTo>
                    <a:pt x="316" y="342"/>
                  </a:lnTo>
                  <a:lnTo>
                    <a:pt x="334" y="356"/>
                  </a:lnTo>
                  <a:lnTo>
                    <a:pt x="348" y="364"/>
                  </a:lnTo>
                  <a:lnTo>
                    <a:pt x="354" y="368"/>
                  </a:lnTo>
                  <a:lnTo>
                    <a:pt x="380" y="380"/>
                  </a:lnTo>
                  <a:lnTo>
                    <a:pt x="368" y="3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0" name="Freeform 133"/>
            <p:cNvSpPr/>
            <p:nvPr/>
          </p:nvSpPr>
          <p:spPr bwMode="auto">
            <a:xfrm>
              <a:off x="4613275" y="3470275"/>
              <a:ext cx="546100" cy="546100"/>
            </a:xfrm>
            <a:custGeom>
              <a:avLst/>
              <a:gdLst/>
              <a:ahLst/>
              <a:cxnLst>
                <a:cxn ang="0">
                  <a:pos x="0" y="22"/>
                </a:cxn>
                <a:cxn ang="0">
                  <a:pos x="0" y="22"/>
                </a:cxn>
                <a:cxn ang="0">
                  <a:pos x="4" y="28"/>
                </a:cxn>
                <a:cxn ang="0">
                  <a:pos x="16" y="44"/>
                </a:cxn>
                <a:cxn ang="0">
                  <a:pos x="34" y="64"/>
                </a:cxn>
                <a:cxn ang="0">
                  <a:pos x="46" y="72"/>
                </a:cxn>
                <a:cxn ang="0">
                  <a:pos x="56" y="82"/>
                </a:cxn>
                <a:cxn ang="0">
                  <a:pos x="56" y="82"/>
                </a:cxn>
                <a:cxn ang="0">
                  <a:pos x="78" y="96"/>
                </a:cxn>
                <a:cxn ang="0">
                  <a:pos x="98" y="110"/>
                </a:cxn>
                <a:cxn ang="0">
                  <a:pos x="114" y="126"/>
                </a:cxn>
                <a:cxn ang="0">
                  <a:pos x="128" y="144"/>
                </a:cxn>
                <a:cxn ang="0">
                  <a:pos x="128" y="144"/>
                </a:cxn>
                <a:cxn ang="0">
                  <a:pos x="142" y="166"/>
                </a:cxn>
                <a:cxn ang="0">
                  <a:pos x="158" y="192"/>
                </a:cxn>
                <a:cxn ang="0">
                  <a:pos x="166" y="204"/>
                </a:cxn>
                <a:cxn ang="0">
                  <a:pos x="176" y="216"/>
                </a:cxn>
                <a:cxn ang="0">
                  <a:pos x="188" y="228"/>
                </a:cxn>
                <a:cxn ang="0">
                  <a:pos x="202" y="236"/>
                </a:cxn>
                <a:cxn ang="0">
                  <a:pos x="202" y="236"/>
                </a:cxn>
                <a:cxn ang="0">
                  <a:pos x="250" y="266"/>
                </a:cxn>
                <a:cxn ang="0">
                  <a:pos x="270" y="280"/>
                </a:cxn>
                <a:cxn ang="0">
                  <a:pos x="290" y="300"/>
                </a:cxn>
                <a:cxn ang="0">
                  <a:pos x="290" y="300"/>
                </a:cxn>
                <a:cxn ang="0">
                  <a:pos x="310" y="320"/>
                </a:cxn>
                <a:cxn ang="0">
                  <a:pos x="326" y="334"/>
                </a:cxn>
                <a:cxn ang="0">
                  <a:pos x="344" y="344"/>
                </a:cxn>
                <a:cxn ang="0">
                  <a:pos x="344" y="344"/>
                </a:cxn>
                <a:cxn ang="0">
                  <a:pos x="344" y="344"/>
                </a:cxn>
                <a:cxn ang="0">
                  <a:pos x="334" y="326"/>
                </a:cxn>
                <a:cxn ang="0">
                  <a:pos x="320" y="310"/>
                </a:cxn>
                <a:cxn ang="0">
                  <a:pos x="300" y="290"/>
                </a:cxn>
                <a:cxn ang="0">
                  <a:pos x="300" y="290"/>
                </a:cxn>
                <a:cxn ang="0">
                  <a:pos x="280" y="270"/>
                </a:cxn>
                <a:cxn ang="0">
                  <a:pos x="266" y="250"/>
                </a:cxn>
                <a:cxn ang="0">
                  <a:pos x="238" y="202"/>
                </a:cxn>
                <a:cxn ang="0">
                  <a:pos x="238" y="202"/>
                </a:cxn>
                <a:cxn ang="0">
                  <a:pos x="228" y="188"/>
                </a:cxn>
                <a:cxn ang="0">
                  <a:pos x="216" y="176"/>
                </a:cxn>
                <a:cxn ang="0">
                  <a:pos x="204" y="166"/>
                </a:cxn>
                <a:cxn ang="0">
                  <a:pos x="192" y="158"/>
                </a:cxn>
                <a:cxn ang="0">
                  <a:pos x="166" y="142"/>
                </a:cxn>
                <a:cxn ang="0">
                  <a:pos x="144" y="128"/>
                </a:cxn>
                <a:cxn ang="0">
                  <a:pos x="144" y="128"/>
                </a:cxn>
                <a:cxn ang="0">
                  <a:pos x="126" y="114"/>
                </a:cxn>
                <a:cxn ang="0">
                  <a:pos x="110" y="98"/>
                </a:cxn>
                <a:cxn ang="0">
                  <a:pos x="96" y="78"/>
                </a:cxn>
                <a:cxn ang="0">
                  <a:pos x="82" y="56"/>
                </a:cxn>
                <a:cxn ang="0">
                  <a:pos x="82" y="56"/>
                </a:cxn>
                <a:cxn ang="0">
                  <a:pos x="72" y="46"/>
                </a:cxn>
                <a:cxn ang="0">
                  <a:pos x="64" y="34"/>
                </a:cxn>
                <a:cxn ang="0">
                  <a:pos x="44" y="16"/>
                </a:cxn>
                <a:cxn ang="0">
                  <a:pos x="28" y="4"/>
                </a:cxn>
                <a:cxn ang="0">
                  <a:pos x="22" y="0"/>
                </a:cxn>
                <a:cxn ang="0">
                  <a:pos x="0" y="22"/>
                </a:cxn>
              </a:cxnLst>
              <a:rect l="0" t="0" r="r" b="b"/>
              <a:pathLst>
                <a:path w="344" h="344">
                  <a:moveTo>
                    <a:pt x="0" y="22"/>
                  </a:moveTo>
                  <a:lnTo>
                    <a:pt x="0" y="22"/>
                  </a:lnTo>
                  <a:lnTo>
                    <a:pt x="4" y="28"/>
                  </a:lnTo>
                  <a:lnTo>
                    <a:pt x="16" y="44"/>
                  </a:lnTo>
                  <a:lnTo>
                    <a:pt x="34" y="64"/>
                  </a:lnTo>
                  <a:lnTo>
                    <a:pt x="46" y="72"/>
                  </a:lnTo>
                  <a:lnTo>
                    <a:pt x="56" y="82"/>
                  </a:lnTo>
                  <a:lnTo>
                    <a:pt x="56" y="82"/>
                  </a:lnTo>
                  <a:lnTo>
                    <a:pt x="78" y="96"/>
                  </a:lnTo>
                  <a:lnTo>
                    <a:pt x="98" y="110"/>
                  </a:lnTo>
                  <a:lnTo>
                    <a:pt x="114" y="126"/>
                  </a:lnTo>
                  <a:lnTo>
                    <a:pt x="128" y="144"/>
                  </a:lnTo>
                  <a:lnTo>
                    <a:pt x="128" y="144"/>
                  </a:lnTo>
                  <a:lnTo>
                    <a:pt x="142" y="166"/>
                  </a:lnTo>
                  <a:lnTo>
                    <a:pt x="158" y="192"/>
                  </a:lnTo>
                  <a:lnTo>
                    <a:pt x="166" y="204"/>
                  </a:lnTo>
                  <a:lnTo>
                    <a:pt x="176" y="216"/>
                  </a:lnTo>
                  <a:lnTo>
                    <a:pt x="188" y="228"/>
                  </a:lnTo>
                  <a:lnTo>
                    <a:pt x="202" y="236"/>
                  </a:lnTo>
                  <a:lnTo>
                    <a:pt x="202" y="236"/>
                  </a:lnTo>
                  <a:lnTo>
                    <a:pt x="250" y="266"/>
                  </a:lnTo>
                  <a:lnTo>
                    <a:pt x="270" y="280"/>
                  </a:lnTo>
                  <a:lnTo>
                    <a:pt x="290" y="300"/>
                  </a:lnTo>
                  <a:lnTo>
                    <a:pt x="290" y="300"/>
                  </a:lnTo>
                  <a:lnTo>
                    <a:pt x="310" y="320"/>
                  </a:lnTo>
                  <a:lnTo>
                    <a:pt x="326" y="334"/>
                  </a:lnTo>
                  <a:lnTo>
                    <a:pt x="344" y="344"/>
                  </a:lnTo>
                  <a:lnTo>
                    <a:pt x="344" y="344"/>
                  </a:lnTo>
                  <a:lnTo>
                    <a:pt x="344" y="344"/>
                  </a:lnTo>
                  <a:lnTo>
                    <a:pt x="334" y="326"/>
                  </a:lnTo>
                  <a:lnTo>
                    <a:pt x="320" y="310"/>
                  </a:lnTo>
                  <a:lnTo>
                    <a:pt x="300" y="290"/>
                  </a:lnTo>
                  <a:lnTo>
                    <a:pt x="300" y="290"/>
                  </a:lnTo>
                  <a:lnTo>
                    <a:pt x="280" y="270"/>
                  </a:lnTo>
                  <a:lnTo>
                    <a:pt x="266" y="250"/>
                  </a:lnTo>
                  <a:lnTo>
                    <a:pt x="238" y="202"/>
                  </a:lnTo>
                  <a:lnTo>
                    <a:pt x="238" y="202"/>
                  </a:lnTo>
                  <a:lnTo>
                    <a:pt x="228" y="188"/>
                  </a:lnTo>
                  <a:lnTo>
                    <a:pt x="216" y="176"/>
                  </a:lnTo>
                  <a:lnTo>
                    <a:pt x="204" y="166"/>
                  </a:lnTo>
                  <a:lnTo>
                    <a:pt x="192" y="158"/>
                  </a:lnTo>
                  <a:lnTo>
                    <a:pt x="166" y="142"/>
                  </a:lnTo>
                  <a:lnTo>
                    <a:pt x="144" y="128"/>
                  </a:lnTo>
                  <a:lnTo>
                    <a:pt x="144" y="128"/>
                  </a:lnTo>
                  <a:lnTo>
                    <a:pt x="126" y="114"/>
                  </a:lnTo>
                  <a:lnTo>
                    <a:pt x="110" y="98"/>
                  </a:lnTo>
                  <a:lnTo>
                    <a:pt x="96" y="78"/>
                  </a:lnTo>
                  <a:lnTo>
                    <a:pt x="82" y="56"/>
                  </a:lnTo>
                  <a:lnTo>
                    <a:pt x="82" y="56"/>
                  </a:lnTo>
                  <a:lnTo>
                    <a:pt x="72" y="46"/>
                  </a:lnTo>
                  <a:lnTo>
                    <a:pt x="64" y="34"/>
                  </a:lnTo>
                  <a:lnTo>
                    <a:pt x="44" y="16"/>
                  </a:lnTo>
                  <a:lnTo>
                    <a:pt x="28" y="4"/>
                  </a:lnTo>
                  <a:lnTo>
                    <a:pt x="22" y="0"/>
                  </a:lnTo>
                  <a:lnTo>
                    <a:pt x="0" y="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1" name="Freeform 134"/>
            <p:cNvSpPr/>
            <p:nvPr/>
          </p:nvSpPr>
          <p:spPr bwMode="auto">
            <a:xfrm>
              <a:off x="4867275" y="3724275"/>
              <a:ext cx="120650" cy="120650"/>
            </a:xfrm>
            <a:custGeom>
              <a:avLst/>
              <a:gdLst/>
              <a:ahLst/>
              <a:cxnLst>
                <a:cxn ang="0">
                  <a:pos x="46" y="30"/>
                </a:cxn>
                <a:cxn ang="0">
                  <a:pos x="46" y="30"/>
                </a:cxn>
                <a:cxn ang="0">
                  <a:pos x="34" y="20"/>
                </a:cxn>
                <a:cxn ang="0">
                  <a:pos x="22" y="10"/>
                </a:cxn>
                <a:cxn ang="0">
                  <a:pos x="10" y="4"/>
                </a:cxn>
                <a:cxn ang="0">
                  <a:pos x="0" y="0"/>
                </a:cxn>
                <a:cxn ang="0">
                  <a:pos x="0" y="0"/>
                </a:cxn>
                <a:cxn ang="0">
                  <a:pos x="4" y="10"/>
                </a:cxn>
                <a:cxn ang="0">
                  <a:pos x="10" y="22"/>
                </a:cxn>
                <a:cxn ang="0">
                  <a:pos x="20" y="34"/>
                </a:cxn>
                <a:cxn ang="0">
                  <a:pos x="30" y="46"/>
                </a:cxn>
                <a:cxn ang="0">
                  <a:pos x="30" y="46"/>
                </a:cxn>
                <a:cxn ang="0">
                  <a:pos x="42" y="58"/>
                </a:cxn>
                <a:cxn ang="0">
                  <a:pos x="54" y="66"/>
                </a:cxn>
                <a:cxn ang="0">
                  <a:pos x="66" y="72"/>
                </a:cxn>
                <a:cxn ang="0">
                  <a:pos x="76" y="76"/>
                </a:cxn>
                <a:cxn ang="0">
                  <a:pos x="76" y="76"/>
                </a:cxn>
                <a:cxn ang="0">
                  <a:pos x="72" y="66"/>
                </a:cxn>
                <a:cxn ang="0">
                  <a:pos x="66" y="54"/>
                </a:cxn>
                <a:cxn ang="0">
                  <a:pos x="58" y="42"/>
                </a:cxn>
                <a:cxn ang="0">
                  <a:pos x="46" y="30"/>
                </a:cxn>
                <a:cxn ang="0">
                  <a:pos x="46" y="30"/>
                </a:cxn>
              </a:cxnLst>
              <a:rect l="0" t="0" r="r" b="b"/>
              <a:pathLst>
                <a:path w="76" h="76">
                  <a:moveTo>
                    <a:pt x="46" y="30"/>
                  </a:moveTo>
                  <a:lnTo>
                    <a:pt x="46" y="30"/>
                  </a:lnTo>
                  <a:lnTo>
                    <a:pt x="34" y="20"/>
                  </a:lnTo>
                  <a:lnTo>
                    <a:pt x="22" y="10"/>
                  </a:lnTo>
                  <a:lnTo>
                    <a:pt x="10" y="4"/>
                  </a:lnTo>
                  <a:lnTo>
                    <a:pt x="0" y="0"/>
                  </a:lnTo>
                  <a:lnTo>
                    <a:pt x="0" y="0"/>
                  </a:lnTo>
                  <a:lnTo>
                    <a:pt x="4" y="10"/>
                  </a:lnTo>
                  <a:lnTo>
                    <a:pt x="10" y="22"/>
                  </a:lnTo>
                  <a:lnTo>
                    <a:pt x="20" y="34"/>
                  </a:lnTo>
                  <a:lnTo>
                    <a:pt x="30" y="46"/>
                  </a:lnTo>
                  <a:lnTo>
                    <a:pt x="30" y="46"/>
                  </a:lnTo>
                  <a:lnTo>
                    <a:pt x="42" y="58"/>
                  </a:lnTo>
                  <a:lnTo>
                    <a:pt x="54" y="66"/>
                  </a:lnTo>
                  <a:lnTo>
                    <a:pt x="66" y="72"/>
                  </a:lnTo>
                  <a:lnTo>
                    <a:pt x="76" y="76"/>
                  </a:lnTo>
                  <a:lnTo>
                    <a:pt x="76" y="76"/>
                  </a:lnTo>
                  <a:lnTo>
                    <a:pt x="72" y="66"/>
                  </a:lnTo>
                  <a:lnTo>
                    <a:pt x="66" y="54"/>
                  </a:lnTo>
                  <a:lnTo>
                    <a:pt x="58" y="42"/>
                  </a:lnTo>
                  <a:lnTo>
                    <a:pt x="46" y="30"/>
                  </a:lnTo>
                  <a:lnTo>
                    <a:pt x="46"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2" name="Freeform 135"/>
            <p:cNvSpPr/>
            <p:nvPr/>
          </p:nvSpPr>
          <p:spPr bwMode="auto">
            <a:xfrm>
              <a:off x="4511675" y="3492500"/>
              <a:ext cx="120650" cy="815975"/>
            </a:xfrm>
            <a:custGeom>
              <a:avLst/>
              <a:gdLst/>
              <a:ahLst/>
              <a:cxnLst>
                <a:cxn ang="0">
                  <a:pos x="48" y="488"/>
                </a:cxn>
                <a:cxn ang="0">
                  <a:pos x="52" y="466"/>
                </a:cxn>
                <a:cxn ang="0">
                  <a:pos x="56" y="412"/>
                </a:cxn>
                <a:cxn ang="0">
                  <a:pos x="56" y="412"/>
                </a:cxn>
                <a:cxn ang="0">
                  <a:pos x="56" y="376"/>
                </a:cxn>
                <a:cxn ang="0">
                  <a:pos x="72" y="310"/>
                </a:cxn>
                <a:cxn ang="0">
                  <a:pos x="74" y="296"/>
                </a:cxn>
                <a:cxn ang="0">
                  <a:pos x="74" y="256"/>
                </a:cxn>
                <a:cxn ang="0">
                  <a:pos x="64" y="210"/>
                </a:cxn>
                <a:cxn ang="0">
                  <a:pos x="58" y="186"/>
                </a:cxn>
                <a:cxn ang="0">
                  <a:pos x="56" y="146"/>
                </a:cxn>
                <a:cxn ang="0">
                  <a:pos x="66" y="98"/>
                </a:cxn>
                <a:cxn ang="0">
                  <a:pos x="68" y="82"/>
                </a:cxn>
                <a:cxn ang="0">
                  <a:pos x="68" y="42"/>
                </a:cxn>
                <a:cxn ang="0">
                  <a:pos x="64" y="10"/>
                </a:cxn>
                <a:cxn ang="0">
                  <a:pos x="54" y="0"/>
                </a:cxn>
                <a:cxn ang="0">
                  <a:pos x="12" y="10"/>
                </a:cxn>
                <a:cxn ang="0">
                  <a:pos x="12" y="18"/>
                </a:cxn>
                <a:cxn ang="0">
                  <a:pos x="8" y="68"/>
                </a:cxn>
                <a:cxn ang="0">
                  <a:pos x="10" y="98"/>
                </a:cxn>
                <a:cxn ang="0">
                  <a:pos x="16" y="122"/>
                </a:cxn>
                <a:cxn ang="0">
                  <a:pos x="20" y="166"/>
                </a:cxn>
                <a:cxn ang="0">
                  <a:pos x="12" y="210"/>
                </a:cxn>
                <a:cxn ang="0">
                  <a:pos x="6" y="232"/>
                </a:cxn>
                <a:cxn ang="0">
                  <a:pos x="0" y="282"/>
                </a:cxn>
                <a:cxn ang="0">
                  <a:pos x="4" y="310"/>
                </a:cxn>
                <a:cxn ang="0">
                  <a:pos x="12" y="342"/>
                </a:cxn>
                <a:cxn ang="0">
                  <a:pos x="22" y="394"/>
                </a:cxn>
                <a:cxn ang="0">
                  <a:pos x="20" y="412"/>
                </a:cxn>
                <a:cxn ang="0">
                  <a:pos x="24" y="466"/>
                </a:cxn>
                <a:cxn ang="0">
                  <a:pos x="28" y="488"/>
                </a:cxn>
                <a:cxn ang="0">
                  <a:pos x="48" y="488"/>
                </a:cxn>
              </a:cxnLst>
              <a:rect l="0" t="0" r="r" b="b"/>
              <a:pathLst>
                <a:path w="76" h="514">
                  <a:moveTo>
                    <a:pt x="48" y="488"/>
                  </a:moveTo>
                  <a:lnTo>
                    <a:pt x="48" y="488"/>
                  </a:lnTo>
                  <a:lnTo>
                    <a:pt x="50" y="480"/>
                  </a:lnTo>
                  <a:lnTo>
                    <a:pt x="52" y="466"/>
                  </a:lnTo>
                  <a:lnTo>
                    <a:pt x="56" y="442"/>
                  </a:lnTo>
                  <a:lnTo>
                    <a:pt x="56" y="412"/>
                  </a:lnTo>
                  <a:lnTo>
                    <a:pt x="56" y="412"/>
                  </a:lnTo>
                  <a:lnTo>
                    <a:pt x="56" y="412"/>
                  </a:lnTo>
                  <a:lnTo>
                    <a:pt x="54" y="394"/>
                  </a:lnTo>
                  <a:lnTo>
                    <a:pt x="56" y="376"/>
                  </a:lnTo>
                  <a:lnTo>
                    <a:pt x="64" y="342"/>
                  </a:lnTo>
                  <a:lnTo>
                    <a:pt x="72" y="310"/>
                  </a:lnTo>
                  <a:lnTo>
                    <a:pt x="72" y="310"/>
                  </a:lnTo>
                  <a:lnTo>
                    <a:pt x="74" y="296"/>
                  </a:lnTo>
                  <a:lnTo>
                    <a:pt x="76" y="282"/>
                  </a:lnTo>
                  <a:lnTo>
                    <a:pt x="74" y="256"/>
                  </a:lnTo>
                  <a:lnTo>
                    <a:pt x="70" y="232"/>
                  </a:lnTo>
                  <a:lnTo>
                    <a:pt x="64" y="210"/>
                  </a:lnTo>
                  <a:lnTo>
                    <a:pt x="58" y="186"/>
                  </a:lnTo>
                  <a:lnTo>
                    <a:pt x="58" y="186"/>
                  </a:lnTo>
                  <a:lnTo>
                    <a:pt x="56" y="166"/>
                  </a:lnTo>
                  <a:lnTo>
                    <a:pt x="56" y="146"/>
                  </a:lnTo>
                  <a:lnTo>
                    <a:pt x="60" y="122"/>
                  </a:lnTo>
                  <a:lnTo>
                    <a:pt x="66" y="98"/>
                  </a:lnTo>
                  <a:lnTo>
                    <a:pt x="66" y="98"/>
                  </a:lnTo>
                  <a:lnTo>
                    <a:pt x="68" y="82"/>
                  </a:lnTo>
                  <a:lnTo>
                    <a:pt x="68" y="68"/>
                  </a:lnTo>
                  <a:lnTo>
                    <a:pt x="68" y="42"/>
                  </a:lnTo>
                  <a:lnTo>
                    <a:pt x="66" y="20"/>
                  </a:lnTo>
                  <a:lnTo>
                    <a:pt x="64" y="10"/>
                  </a:lnTo>
                  <a:lnTo>
                    <a:pt x="62" y="0"/>
                  </a:lnTo>
                  <a:lnTo>
                    <a:pt x="54" y="0"/>
                  </a:lnTo>
                  <a:lnTo>
                    <a:pt x="14" y="0"/>
                  </a:lnTo>
                  <a:lnTo>
                    <a:pt x="12" y="10"/>
                  </a:lnTo>
                  <a:lnTo>
                    <a:pt x="12" y="10"/>
                  </a:lnTo>
                  <a:lnTo>
                    <a:pt x="12" y="18"/>
                  </a:lnTo>
                  <a:lnTo>
                    <a:pt x="8" y="40"/>
                  </a:lnTo>
                  <a:lnTo>
                    <a:pt x="8" y="68"/>
                  </a:lnTo>
                  <a:lnTo>
                    <a:pt x="8" y="82"/>
                  </a:lnTo>
                  <a:lnTo>
                    <a:pt x="10" y="98"/>
                  </a:lnTo>
                  <a:lnTo>
                    <a:pt x="10" y="98"/>
                  </a:lnTo>
                  <a:lnTo>
                    <a:pt x="16" y="122"/>
                  </a:lnTo>
                  <a:lnTo>
                    <a:pt x="20" y="146"/>
                  </a:lnTo>
                  <a:lnTo>
                    <a:pt x="20" y="166"/>
                  </a:lnTo>
                  <a:lnTo>
                    <a:pt x="18" y="186"/>
                  </a:lnTo>
                  <a:lnTo>
                    <a:pt x="12" y="210"/>
                  </a:lnTo>
                  <a:lnTo>
                    <a:pt x="12" y="210"/>
                  </a:lnTo>
                  <a:lnTo>
                    <a:pt x="6" y="232"/>
                  </a:lnTo>
                  <a:lnTo>
                    <a:pt x="2" y="256"/>
                  </a:lnTo>
                  <a:lnTo>
                    <a:pt x="0" y="282"/>
                  </a:lnTo>
                  <a:lnTo>
                    <a:pt x="2" y="296"/>
                  </a:lnTo>
                  <a:lnTo>
                    <a:pt x="4" y="310"/>
                  </a:lnTo>
                  <a:lnTo>
                    <a:pt x="12" y="342"/>
                  </a:lnTo>
                  <a:lnTo>
                    <a:pt x="12" y="342"/>
                  </a:lnTo>
                  <a:lnTo>
                    <a:pt x="20" y="376"/>
                  </a:lnTo>
                  <a:lnTo>
                    <a:pt x="22" y="394"/>
                  </a:lnTo>
                  <a:lnTo>
                    <a:pt x="20" y="412"/>
                  </a:lnTo>
                  <a:lnTo>
                    <a:pt x="20" y="412"/>
                  </a:lnTo>
                  <a:lnTo>
                    <a:pt x="20" y="442"/>
                  </a:lnTo>
                  <a:lnTo>
                    <a:pt x="24" y="466"/>
                  </a:lnTo>
                  <a:lnTo>
                    <a:pt x="26" y="480"/>
                  </a:lnTo>
                  <a:lnTo>
                    <a:pt x="28" y="488"/>
                  </a:lnTo>
                  <a:lnTo>
                    <a:pt x="38" y="514"/>
                  </a:lnTo>
                  <a:lnTo>
                    <a:pt x="48" y="48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3" name="Freeform 136"/>
            <p:cNvSpPr/>
            <p:nvPr/>
          </p:nvSpPr>
          <p:spPr bwMode="auto">
            <a:xfrm>
              <a:off x="4527550" y="3511550"/>
              <a:ext cx="88900" cy="746125"/>
            </a:xfrm>
            <a:custGeom>
              <a:avLst/>
              <a:gdLst/>
              <a:ahLst/>
              <a:cxnLst>
                <a:cxn ang="0">
                  <a:pos x="12" y="0"/>
                </a:cxn>
                <a:cxn ang="0">
                  <a:pos x="12" y="0"/>
                </a:cxn>
                <a:cxn ang="0">
                  <a:pos x="12" y="8"/>
                </a:cxn>
                <a:cxn ang="0">
                  <a:pos x="8" y="28"/>
                </a:cxn>
                <a:cxn ang="0">
                  <a:pos x="8" y="54"/>
                </a:cxn>
                <a:cxn ang="0">
                  <a:pos x="8" y="68"/>
                </a:cxn>
                <a:cxn ang="0">
                  <a:pos x="10" y="82"/>
                </a:cxn>
                <a:cxn ang="0">
                  <a:pos x="10" y="82"/>
                </a:cxn>
                <a:cxn ang="0">
                  <a:pos x="16" y="108"/>
                </a:cxn>
                <a:cxn ang="0">
                  <a:pos x="20" y="132"/>
                </a:cxn>
                <a:cxn ang="0">
                  <a:pos x="20" y="154"/>
                </a:cxn>
                <a:cxn ang="0">
                  <a:pos x="18" y="178"/>
                </a:cxn>
                <a:cxn ang="0">
                  <a:pos x="18" y="178"/>
                </a:cxn>
                <a:cxn ang="0">
                  <a:pos x="10" y="202"/>
                </a:cxn>
                <a:cxn ang="0">
                  <a:pos x="4" y="232"/>
                </a:cxn>
                <a:cxn ang="0">
                  <a:pos x="2" y="246"/>
                </a:cxn>
                <a:cxn ang="0">
                  <a:pos x="0" y="262"/>
                </a:cxn>
                <a:cxn ang="0">
                  <a:pos x="0" y="278"/>
                </a:cxn>
                <a:cxn ang="0">
                  <a:pos x="4" y="296"/>
                </a:cxn>
                <a:cxn ang="0">
                  <a:pos x="4" y="296"/>
                </a:cxn>
                <a:cxn ang="0">
                  <a:pos x="18" y="350"/>
                </a:cxn>
                <a:cxn ang="0">
                  <a:pos x="20" y="374"/>
                </a:cxn>
                <a:cxn ang="0">
                  <a:pos x="20" y="402"/>
                </a:cxn>
                <a:cxn ang="0">
                  <a:pos x="20" y="402"/>
                </a:cxn>
                <a:cxn ang="0">
                  <a:pos x="20" y="430"/>
                </a:cxn>
                <a:cxn ang="0">
                  <a:pos x="24" y="452"/>
                </a:cxn>
                <a:cxn ang="0">
                  <a:pos x="28" y="470"/>
                </a:cxn>
                <a:cxn ang="0">
                  <a:pos x="28" y="470"/>
                </a:cxn>
                <a:cxn ang="0">
                  <a:pos x="28" y="470"/>
                </a:cxn>
                <a:cxn ang="0">
                  <a:pos x="32" y="452"/>
                </a:cxn>
                <a:cxn ang="0">
                  <a:pos x="36" y="430"/>
                </a:cxn>
                <a:cxn ang="0">
                  <a:pos x="36" y="402"/>
                </a:cxn>
                <a:cxn ang="0">
                  <a:pos x="36" y="402"/>
                </a:cxn>
                <a:cxn ang="0">
                  <a:pos x="36" y="374"/>
                </a:cxn>
                <a:cxn ang="0">
                  <a:pos x="38" y="350"/>
                </a:cxn>
                <a:cxn ang="0">
                  <a:pos x="52" y="296"/>
                </a:cxn>
                <a:cxn ang="0">
                  <a:pos x="52" y="296"/>
                </a:cxn>
                <a:cxn ang="0">
                  <a:pos x="56" y="278"/>
                </a:cxn>
                <a:cxn ang="0">
                  <a:pos x="56" y="262"/>
                </a:cxn>
                <a:cxn ang="0">
                  <a:pos x="54" y="246"/>
                </a:cxn>
                <a:cxn ang="0">
                  <a:pos x="52" y="232"/>
                </a:cxn>
                <a:cxn ang="0">
                  <a:pos x="46" y="202"/>
                </a:cxn>
                <a:cxn ang="0">
                  <a:pos x="38" y="178"/>
                </a:cxn>
                <a:cxn ang="0">
                  <a:pos x="38" y="178"/>
                </a:cxn>
                <a:cxn ang="0">
                  <a:pos x="36" y="154"/>
                </a:cxn>
                <a:cxn ang="0">
                  <a:pos x="36" y="132"/>
                </a:cxn>
                <a:cxn ang="0">
                  <a:pos x="40" y="108"/>
                </a:cxn>
                <a:cxn ang="0">
                  <a:pos x="46" y="82"/>
                </a:cxn>
                <a:cxn ang="0">
                  <a:pos x="46" y="82"/>
                </a:cxn>
                <a:cxn ang="0">
                  <a:pos x="48" y="68"/>
                </a:cxn>
                <a:cxn ang="0">
                  <a:pos x="48" y="54"/>
                </a:cxn>
                <a:cxn ang="0">
                  <a:pos x="48" y="28"/>
                </a:cxn>
                <a:cxn ang="0">
                  <a:pos x="44" y="8"/>
                </a:cxn>
                <a:cxn ang="0">
                  <a:pos x="44" y="0"/>
                </a:cxn>
                <a:cxn ang="0">
                  <a:pos x="12" y="0"/>
                </a:cxn>
              </a:cxnLst>
              <a:rect l="0" t="0" r="r" b="b"/>
              <a:pathLst>
                <a:path w="56" h="470">
                  <a:moveTo>
                    <a:pt x="12" y="0"/>
                  </a:moveTo>
                  <a:lnTo>
                    <a:pt x="12" y="0"/>
                  </a:lnTo>
                  <a:lnTo>
                    <a:pt x="12" y="8"/>
                  </a:lnTo>
                  <a:lnTo>
                    <a:pt x="8" y="28"/>
                  </a:lnTo>
                  <a:lnTo>
                    <a:pt x="8" y="54"/>
                  </a:lnTo>
                  <a:lnTo>
                    <a:pt x="8" y="68"/>
                  </a:lnTo>
                  <a:lnTo>
                    <a:pt x="10" y="82"/>
                  </a:lnTo>
                  <a:lnTo>
                    <a:pt x="10" y="82"/>
                  </a:lnTo>
                  <a:lnTo>
                    <a:pt x="16" y="108"/>
                  </a:lnTo>
                  <a:lnTo>
                    <a:pt x="20" y="132"/>
                  </a:lnTo>
                  <a:lnTo>
                    <a:pt x="20" y="154"/>
                  </a:lnTo>
                  <a:lnTo>
                    <a:pt x="18" y="178"/>
                  </a:lnTo>
                  <a:lnTo>
                    <a:pt x="18" y="178"/>
                  </a:lnTo>
                  <a:lnTo>
                    <a:pt x="10" y="202"/>
                  </a:lnTo>
                  <a:lnTo>
                    <a:pt x="4" y="232"/>
                  </a:lnTo>
                  <a:lnTo>
                    <a:pt x="2" y="246"/>
                  </a:lnTo>
                  <a:lnTo>
                    <a:pt x="0" y="262"/>
                  </a:lnTo>
                  <a:lnTo>
                    <a:pt x="0" y="278"/>
                  </a:lnTo>
                  <a:lnTo>
                    <a:pt x="4" y="296"/>
                  </a:lnTo>
                  <a:lnTo>
                    <a:pt x="4" y="296"/>
                  </a:lnTo>
                  <a:lnTo>
                    <a:pt x="18" y="350"/>
                  </a:lnTo>
                  <a:lnTo>
                    <a:pt x="20" y="374"/>
                  </a:lnTo>
                  <a:lnTo>
                    <a:pt x="20" y="402"/>
                  </a:lnTo>
                  <a:lnTo>
                    <a:pt x="20" y="402"/>
                  </a:lnTo>
                  <a:lnTo>
                    <a:pt x="20" y="430"/>
                  </a:lnTo>
                  <a:lnTo>
                    <a:pt x="24" y="452"/>
                  </a:lnTo>
                  <a:lnTo>
                    <a:pt x="28" y="470"/>
                  </a:lnTo>
                  <a:lnTo>
                    <a:pt x="28" y="470"/>
                  </a:lnTo>
                  <a:lnTo>
                    <a:pt x="28" y="470"/>
                  </a:lnTo>
                  <a:lnTo>
                    <a:pt x="32" y="452"/>
                  </a:lnTo>
                  <a:lnTo>
                    <a:pt x="36" y="430"/>
                  </a:lnTo>
                  <a:lnTo>
                    <a:pt x="36" y="402"/>
                  </a:lnTo>
                  <a:lnTo>
                    <a:pt x="36" y="402"/>
                  </a:lnTo>
                  <a:lnTo>
                    <a:pt x="36" y="374"/>
                  </a:lnTo>
                  <a:lnTo>
                    <a:pt x="38" y="350"/>
                  </a:lnTo>
                  <a:lnTo>
                    <a:pt x="52" y="296"/>
                  </a:lnTo>
                  <a:lnTo>
                    <a:pt x="52" y="296"/>
                  </a:lnTo>
                  <a:lnTo>
                    <a:pt x="56" y="278"/>
                  </a:lnTo>
                  <a:lnTo>
                    <a:pt x="56" y="262"/>
                  </a:lnTo>
                  <a:lnTo>
                    <a:pt x="54" y="246"/>
                  </a:lnTo>
                  <a:lnTo>
                    <a:pt x="52" y="232"/>
                  </a:lnTo>
                  <a:lnTo>
                    <a:pt x="46" y="202"/>
                  </a:lnTo>
                  <a:lnTo>
                    <a:pt x="38" y="178"/>
                  </a:lnTo>
                  <a:lnTo>
                    <a:pt x="38" y="178"/>
                  </a:lnTo>
                  <a:lnTo>
                    <a:pt x="36" y="154"/>
                  </a:lnTo>
                  <a:lnTo>
                    <a:pt x="36" y="132"/>
                  </a:lnTo>
                  <a:lnTo>
                    <a:pt x="40" y="108"/>
                  </a:lnTo>
                  <a:lnTo>
                    <a:pt x="46" y="82"/>
                  </a:lnTo>
                  <a:lnTo>
                    <a:pt x="46" y="82"/>
                  </a:lnTo>
                  <a:lnTo>
                    <a:pt x="48" y="68"/>
                  </a:lnTo>
                  <a:lnTo>
                    <a:pt x="48" y="54"/>
                  </a:lnTo>
                  <a:lnTo>
                    <a:pt x="48" y="28"/>
                  </a:lnTo>
                  <a:lnTo>
                    <a:pt x="44" y="8"/>
                  </a:lnTo>
                  <a:lnTo>
                    <a:pt x="44" y="0"/>
                  </a:lnTo>
                  <a:lnTo>
                    <a:pt x="1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4" name="Freeform 137"/>
            <p:cNvSpPr/>
            <p:nvPr/>
          </p:nvSpPr>
          <p:spPr bwMode="auto">
            <a:xfrm>
              <a:off x="4556125" y="3848100"/>
              <a:ext cx="31750" cy="168275"/>
            </a:xfrm>
            <a:custGeom>
              <a:avLst/>
              <a:gdLst/>
              <a:ahLst/>
              <a:cxnLst>
                <a:cxn ang="0">
                  <a:pos x="20" y="54"/>
                </a:cxn>
                <a:cxn ang="0">
                  <a:pos x="20" y="54"/>
                </a:cxn>
                <a:cxn ang="0">
                  <a:pos x="20" y="36"/>
                </a:cxn>
                <a:cxn ang="0">
                  <a:pos x="18" y="22"/>
                </a:cxn>
                <a:cxn ang="0">
                  <a:pos x="14" y="10"/>
                </a:cxn>
                <a:cxn ang="0">
                  <a:pos x="10" y="0"/>
                </a:cxn>
                <a:cxn ang="0">
                  <a:pos x="10" y="0"/>
                </a:cxn>
                <a:cxn ang="0">
                  <a:pos x="6" y="10"/>
                </a:cxn>
                <a:cxn ang="0">
                  <a:pos x="2" y="22"/>
                </a:cxn>
                <a:cxn ang="0">
                  <a:pos x="0" y="36"/>
                </a:cxn>
                <a:cxn ang="0">
                  <a:pos x="0" y="54"/>
                </a:cxn>
                <a:cxn ang="0">
                  <a:pos x="0" y="54"/>
                </a:cxn>
                <a:cxn ang="0">
                  <a:pos x="0" y="70"/>
                </a:cxn>
                <a:cxn ang="0">
                  <a:pos x="2" y="84"/>
                </a:cxn>
                <a:cxn ang="0">
                  <a:pos x="6" y="98"/>
                </a:cxn>
                <a:cxn ang="0">
                  <a:pos x="10" y="106"/>
                </a:cxn>
                <a:cxn ang="0">
                  <a:pos x="10" y="106"/>
                </a:cxn>
                <a:cxn ang="0">
                  <a:pos x="14" y="98"/>
                </a:cxn>
                <a:cxn ang="0">
                  <a:pos x="18" y="84"/>
                </a:cxn>
                <a:cxn ang="0">
                  <a:pos x="20" y="70"/>
                </a:cxn>
                <a:cxn ang="0">
                  <a:pos x="20" y="54"/>
                </a:cxn>
                <a:cxn ang="0">
                  <a:pos x="20" y="54"/>
                </a:cxn>
              </a:cxnLst>
              <a:rect l="0" t="0" r="r" b="b"/>
              <a:pathLst>
                <a:path w="20" h="106">
                  <a:moveTo>
                    <a:pt x="20" y="54"/>
                  </a:moveTo>
                  <a:lnTo>
                    <a:pt x="20" y="54"/>
                  </a:lnTo>
                  <a:lnTo>
                    <a:pt x="20" y="36"/>
                  </a:lnTo>
                  <a:lnTo>
                    <a:pt x="18" y="22"/>
                  </a:lnTo>
                  <a:lnTo>
                    <a:pt x="14" y="10"/>
                  </a:lnTo>
                  <a:lnTo>
                    <a:pt x="10" y="0"/>
                  </a:lnTo>
                  <a:lnTo>
                    <a:pt x="10" y="0"/>
                  </a:lnTo>
                  <a:lnTo>
                    <a:pt x="6" y="10"/>
                  </a:lnTo>
                  <a:lnTo>
                    <a:pt x="2" y="22"/>
                  </a:lnTo>
                  <a:lnTo>
                    <a:pt x="0" y="36"/>
                  </a:lnTo>
                  <a:lnTo>
                    <a:pt x="0" y="54"/>
                  </a:lnTo>
                  <a:lnTo>
                    <a:pt x="0" y="54"/>
                  </a:lnTo>
                  <a:lnTo>
                    <a:pt x="0" y="70"/>
                  </a:lnTo>
                  <a:lnTo>
                    <a:pt x="2" y="84"/>
                  </a:lnTo>
                  <a:lnTo>
                    <a:pt x="6" y="98"/>
                  </a:lnTo>
                  <a:lnTo>
                    <a:pt x="10" y="106"/>
                  </a:lnTo>
                  <a:lnTo>
                    <a:pt x="10" y="106"/>
                  </a:lnTo>
                  <a:lnTo>
                    <a:pt x="14" y="98"/>
                  </a:lnTo>
                  <a:lnTo>
                    <a:pt x="18" y="84"/>
                  </a:lnTo>
                  <a:lnTo>
                    <a:pt x="20" y="70"/>
                  </a:lnTo>
                  <a:lnTo>
                    <a:pt x="20" y="54"/>
                  </a:lnTo>
                  <a:lnTo>
                    <a:pt x="2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5" name="Freeform 138"/>
            <p:cNvSpPr/>
            <p:nvPr/>
          </p:nvSpPr>
          <p:spPr bwMode="auto">
            <a:xfrm>
              <a:off x="3949700" y="3448050"/>
              <a:ext cx="603250" cy="603250"/>
            </a:xfrm>
            <a:custGeom>
              <a:avLst/>
              <a:gdLst/>
              <a:ahLst/>
              <a:cxnLst>
                <a:cxn ang="0">
                  <a:pos x="26" y="368"/>
                </a:cxn>
                <a:cxn ang="0">
                  <a:pos x="46" y="356"/>
                </a:cxn>
                <a:cxn ang="0">
                  <a:pos x="84" y="320"/>
                </a:cxn>
                <a:cxn ang="0">
                  <a:pos x="84" y="320"/>
                </a:cxn>
                <a:cxn ang="0">
                  <a:pos x="110" y="296"/>
                </a:cxn>
                <a:cxn ang="0">
                  <a:pos x="168" y="260"/>
                </a:cxn>
                <a:cxn ang="0">
                  <a:pos x="180" y="252"/>
                </a:cxn>
                <a:cxn ang="0">
                  <a:pos x="208" y="224"/>
                </a:cxn>
                <a:cxn ang="0">
                  <a:pos x="234" y="184"/>
                </a:cxn>
                <a:cxn ang="0">
                  <a:pos x="246" y="164"/>
                </a:cxn>
                <a:cxn ang="0">
                  <a:pos x="274" y="132"/>
                </a:cxn>
                <a:cxn ang="0">
                  <a:pos x="314" y="104"/>
                </a:cxn>
                <a:cxn ang="0">
                  <a:pos x="326" y="96"/>
                </a:cxn>
                <a:cxn ang="0">
                  <a:pos x="356" y="66"/>
                </a:cxn>
                <a:cxn ang="0">
                  <a:pos x="374" y="42"/>
                </a:cxn>
                <a:cxn ang="0">
                  <a:pos x="374" y="28"/>
                </a:cxn>
                <a:cxn ang="0">
                  <a:pos x="340" y="6"/>
                </a:cxn>
                <a:cxn ang="0">
                  <a:pos x="332" y="10"/>
                </a:cxn>
                <a:cxn ang="0">
                  <a:pos x="294" y="42"/>
                </a:cxn>
                <a:cxn ang="0">
                  <a:pos x="276" y="66"/>
                </a:cxn>
                <a:cxn ang="0">
                  <a:pos x="262" y="88"/>
                </a:cxn>
                <a:cxn ang="0">
                  <a:pos x="234" y="120"/>
                </a:cxn>
                <a:cxn ang="0">
                  <a:pos x="196" y="146"/>
                </a:cxn>
                <a:cxn ang="0">
                  <a:pos x="176" y="158"/>
                </a:cxn>
                <a:cxn ang="0">
                  <a:pos x="136" y="190"/>
                </a:cxn>
                <a:cxn ang="0">
                  <a:pos x="120" y="212"/>
                </a:cxn>
                <a:cxn ang="0">
                  <a:pos x="104" y="240"/>
                </a:cxn>
                <a:cxn ang="0">
                  <a:pos x="74" y="282"/>
                </a:cxn>
                <a:cxn ang="0">
                  <a:pos x="60" y="296"/>
                </a:cxn>
                <a:cxn ang="0">
                  <a:pos x="24" y="334"/>
                </a:cxn>
                <a:cxn ang="0">
                  <a:pos x="12" y="354"/>
                </a:cxn>
                <a:cxn ang="0">
                  <a:pos x="26" y="368"/>
                </a:cxn>
              </a:cxnLst>
              <a:rect l="0" t="0" r="r" b="b"/>
              <a:pathLst>
                <a:path w="380" h="380">
                  <a:moveTo>
                    <a:pt x="26" y="368"/>
                  </a:moveTo>
                  <a:lnTo>
                    <a:pt x="26" y="368"/>
                  </a:lnTo>
                  <a:lnTo>
                    <a:pt x="32" y="364"/>
                  </a:lnTo>
                  <a:lnTo>
                    <a:pt x="46" y="356"/>
                  </a:lnTo>
                  <a:lnTo>
                    <a:pt x="64" y="342"/>
                  </a:lnTo>
                  <a:lnTo>
                    <a:pt x="84" y="320"/>
                  </a:lnTo>
                  <a:lnTo>
                    <a:pt x="84" y="320"/>
                  </a:lnTo>
                  <a:lnTo>
                    <a:pt x="84" y="320"/>
                  </a:lnTo>
                  <a:lnTo>
                    <a:pt x="98" y="306"/>
                  </a:lnTo>
                  <a:lnTo>
                    <a:pt x="110" y="296"/>
                  </a:lnTo>
                  <a:lnTo>
                    <a:pt x="140" y="276"/>
                  </a:lnTo>
                  <a:lnTo>
                    <a:pt x="168" y="260"/>
                  </a:lnTo>
                  <a:lnTo>
                    <a:pt x="168" y="260"/>
                  </a:lnTo>
                  <a:lnTo>
                    <a:pt x="180" y="252"/>
                  </a:lnTo>
                  <a:lnTo>
                    <a:pt x="190" y="244"/>
                  </a:lnTo>
                  <a:lnTo>
                    <a:pt x="208" y="224"/>
                  </a:lnTo>
                  <a:lnTo>
                    <a:pt x="222" y="204"/>
                  </a:lnTo>
                  <a:lnTo>
                    <a:pt x="234" y="184"/>
                  </a:lnTo>
                  <a:lnTo>
                    <a:pt x="246" y="164"/>
                  </a:lnTo>
                  <a:lnTo>
                    <a:pt x="246" y="164"/>
                  </a:lnTo>
                  <a:lnTo>
                    <a:pt x="260" y="146"/>
                  </a:lnTo>
                  <a:lnTo>
                    <a:pt x="274" y="132"/>
                  </a:lnTo>
                  <a:lnTo>
                    <a:pt x="292" y="118"/>
                  </a:lnTo>
                  <a:lnTo>
                    <a:pt x="314" y="104"/>
                  </a:lnTo>
                  <a:lnTo>
                    <a:pt x="314" y="104"/>
                  </a:lnTo>
                  <a:lnTo>
                    <a:pt x="326" y="96"/>
                  </a:lnTo>
                  <a:lnTo>
                    <a:pt x="336" y="86"/>
                  </a:lnTo>
                  <a:lnTo>
                    <a:pt x="356" y="66"/>
                  </a:lnTo>
                  <a:lnTo>
                    <a:pt x="368" y="50"/>
                  </a:lnTo>
                  <a:lnTo>
                    <a:pt x="374" y="42"/>
                  </a:lnTo>
                  <a:lnTo>
                    <a:pt x="380" y="34"/>
                  </a:lnTo>
                  <a:lnTo>
                    <a:pt x="374" y="28"/>
                  </a:lnTo>
                  <a:lnTo>
                    <a:pt x="346" y="0"/>
                  </a:lnTo>
                  <a:lnTo>
                    <a:pt x="340" y="6"/>
                  </a:lnTo>
                  <a:lnTo>
                    <a:pt x="340" y="6"/>
                  </a:lnTo>
                  <a:lnTo>
                    <a:pt x="332" y="10"/>
                  </a:lnTo>
                  <a:lnTo>
                    <a:pt x="314" y="24"/>
                  </a:lnTo>
                  <a:lnTo>
                    <a:pt x="294" y="42"/>
                  </a:lnTo>
                  <a:lnTo>
                    <a:pt x="284" y="54"/>
                  </a:lnTo>
                  <a:lnTo>
                    <a:pt x="276" y="66"/>
                  </a:lnTo>
                  <a:lnTo>
                    <a:pt x="276" y="66"/>
                  </a:lnTo>
                  <a:lnTo>
                    <a:pt x="262" y="88"/>
                  </a:lnTo>
                  <a:lnTo>
                    <a:pt x="248" y="106"/>
                  </a:lnTo>
                  <a:lnTo>
                    <a:pt x="234" y="120"/>
                  </a:lnTo>
                  <a:lnTo>
                    <a:pt x="216" y="134"/>
                  </a:lnTo>
                  <a:lnTo>
                    <a:pt x="196" y="146"/>
                  </a:lnTo>
                  <a:lnTo>
                    <a:pt x="196" y="146"/>
                  </a:lnTo>
                  <a:lnTo>
                    <a:pt x="176" y="158"/>
                  </a:lnTo>
                  <a:lnTo>
                    <a:pt x="156" y="172"/>
                  </a:lnTo>
                  <a:lnTo>
                    <a:pt x="136" y="190"/>
                  </a:lnTo>
                  <a:lnTo>
                    <a:pt x="128" y="200"/>
                  </a:lnTo>
                  <a:lnTo>
                    <a:pt x="120" y="212"/>
                  </a:lnTo>
                  <a:lnTo>
                    <a:pt x="104" y="240"/>
                  </a:lnTo>
                  <a:lnTo>
                    <a:pt x="104" y="240"/>
                  </a:lnTo>
                  <a:lnTo>
                    <a:pt x="84" y="270"/>
                  </a:lnTo>
                  <a:lnTo>
                    <a:pt x="74" y="282"/>
                  </a:lnTo>
                  <a:lnTo>
                    <a:pt x="60" y="296"/>
                  </a:lnTo>
                  <a:lnTo>
                    <a:pt x="60" y="296"/>
                  </a:lnTo>
                  <a:lnTo>
                    <a:pt x="38" y="316"/>
                  </a:lnTo>
                  <a:lnTo>
                    <a:pt x="24" y="334"/>
                  </a:lnTo>
                  <a:lnTo>
                    <a:pt x="16" y="348"/>
                  </a:lnTo>
                  <a:lnTo>
                    <a:pt x="12" y="354"/>
                  </a:lnTo>
                  <a:lnTo>
                    <a:pt x="0" y="380"/>
                  </a:lnTo>
                  <a:lnTo>
                    <a:pt x="26" y="36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6" name="Freeform 139"/>
            <p:cNvSpPr/>
            <p:nvPr/>
          </p:nvSpPr>
          <p:spPr bwMode="auto">
            <a:xfrm>
              <a:off x="3984625" y="3470275"/>
              <a:ext cx="546100" cy="546100"/>
            </a:xfrm>
            <a:custGeom>
              <a:avLst/>
              <a:gdLst/>
              <a:ahLst/>
              <a:cxnLst>
                <a:cxn ang="0">
                  <a:pos x="322" y="0"/>
                </a:cxn>
                <a:cxn ang="0">
                  <a:pos x="322" y="0"/>
                </a:cxn>
                <a:cxn ang="0">
                  <a:pos x="316" y="4"/>
                </a:cxn>
                <a:cxn ang="0">
                  <a:pos x="300" y="16"/>
                </a:cxn>
                <a:cxn ang="0">
                  <a:pos x="280" y="34"/>
                </a:cxn>
                <a:cxn ang="0">
                  <a:pos x="272" y="46"/>
                </a:cxn>
                <a:cxn ang="0">
                  <a:pos x="262" y="56"/>
                </a:cxn>
                <a:cxn ang="0">
                  <a:pos x="262" y="56"/>
                </a:cxn>
                <a:cxn ang="0">
                  <a:pos x="248" y="78"/>
                </a:cxn>
                <a:cxn ang="0">
                  <a:pos x="234" y="98"/>
                </a:cxn>
                <a:cxn ang="0">
                  <a:pos x="218" y="114"/>
                </a:cxn>
                <a:cxn ang="0">
                  <a:pos x="200" y="128"/>
                </a:cxn>
                <a:cxn ang="0">
                  <a:pos x="200" y="128"/>
                </a:cxn>
                <a:cxn ang="0">
                  <a:pos x="178" y="142"/>
                </a:cxn>
                <a:cxn ang="0">
                  <a:pos x="152" y="158"/>
                </a:cxn>
                <a:cxn ang="0">
                  <a:pos x="140" y="166"/>
                </a:cxn>
                <a:cxn ang="0">
                  <a:pos x="128" y="176"/>
                </a:cxn>
                <a:cxn ang="0">
                  <a:pos x="116" y="188"/>
                </a:cxn>
                <a:cxn ang="0">
                  <a:pos x="108" y="202"/>
                </a:cxn>
                <a:cxn ang="0">
                  <a:pos x="108" y="202"/>
                </a:cxn>
                <a:cxn ang="0">
                  <a:pos x="78" y="250"/>
                </a:cxn>
                <a:cxn ang="0">
                  <a:pos x="64" y="270"/>
                </a:cxn>
                <a:cxn ang="0">
                  <a:pos x="44" y="290"/>
                </a:cxn>
                <a:cxn ang="0">
                  <a:pos x="44" y="290"/>
                </a:cxn>
                <a:cxn ang="0">
                  <a:pos x="24" y="310"/>
                </a:cxn>
                <a:cxn ang="0">
                  <a:pos x="10" y="326"/>
                </a:cxn>
                <a:cxn ang="0">
                  <a:pos x="0" y="344"/>
                </a:cxn>
                <a:cxn ang="0">
                  <a:pos x="0" y="344"/>
                </a:cxn>
                <a:cxn ang="0">
                  <a:pos x="0" y="344"/>
                </a:cxn>
                <a:cxn ang="0">
                  <a:pos x="18" y="334"/>
                </a:cxn>
                <a:cxn ang="0">
                  <a:pos x="34" y="320"/>
                </a:cxn>
                <a:cxn ang="0">
                  <a:pos x="54" y="300"/>
                </a:cxn>
                <a:cxn ang="0">
                  <a:pos x="54" y="300"/>
                </a:cxn>
                <a:cxn ang="0">
                  <a:pos x="74" y="280"/>
                </a:cxn>
                <a:cxn ang="0">
                  <a:pos x="94" y="266"/>
                </a:cxn>
                <a:cxn ang="0">
                  <a:pos x="142" y="236"/>
                </a:cxn>
                <a:cxn ang="0">
                  <a:pos x="142" y="236"/>
                </a:cxn>
                <a:cxn ang="0">
                  <a:pos x="156" y="228"/>
                </a:cxn>
                <a:cxn ang="0">
                  <a:pos x="168" y="216"/>
                </a:cxn>
                <a:cxn ang="0">
                  <a:pos x="178" y="204"/>
                </a:cxn>
                <a:cxn ang="0">
                  <a:pos x="186" y="192"/>
                </a:cxn>
                <a:cxn ang="0">
                  <a:pos x="202" y="166"/>
                </a:cxn>
                <a:cxn ang="0">
                  <a:pos x="216" y="144"/>
                </a:cxn>
                <a:cxn ang="0">
                  <a:pos x="216" y="144"/>
                </a:cxn>
                <a:cxn ang="0">
                  <a:pos x="230" y="126"/>
                </a:cxn>
                <a:cxn ang="0">
                  <a:pos x="246" y="110"/>
                </a:cxn>
                <a:cxn ang="0">
                  <a:pos x="266" y="96"/>
                </a:cxn>
                <a:cxn ang="0">
                  <a:pos x="288" y="82"/>
                </a:cxn>
                <a:cxn ang="0">
                  <a:pos x="288" y="82"/>
                </a:cxn>
                <a:cxn ang="0">
                  <a:pos x="298" y="72"/>
                </a:cxn>
                <a:cxn ang="0">
                  <a:pos x="310" y="64"/>
                </a:cxn>
                <a:cxn ang="0">
                  <a:pos x="328" y="44"/>
                </a:cxn>
                <a:cxn ang="0">
                  <a:pos x="340" y="28"/>
                </a:cxn>
                <a:cxn ang="0">
                  <a:pos x="344" y="22"/>
                </a:cxn>
                <a:cxn ang="0">
                  <a:pos x="322" y="0"/>
                </a:cxn>
              </a:cxnLst>
              <a:rect l="0" t="0" r="r" b="b"/>
              <a:pathLst>
                <a:path w="344" h="344">
                  <a:moveTo>
                    <a:pt x="322" y="0"/>
                  </a:moveTo>
                  <a:lnTo>
                    <a:pt x="322" y="0"/>
                  </a:lnTo>
                  <a:lnTo>
                    <a:pt x="316" y="4"/>
                  </a:lnTo>
                  <a:lnTo>
                    <a:pt x="300" y="16"/>
                  </a:lnTo>
                  <a:lnTo>
                    <a:pt x="280" y="34"/>
                  </a:lnTo>
                  <a:lnTo>
                    <a:pt x="272" y="46"/>
                  </a:lnTo>
                  <a:lnTo>
                    <a:pt x="262" y="56"/>
                  </a:lnTo>
                  <a:lnTo>
                    <a:pt x="262" y="56"/>
                  </a:lnTo>
                  <a:lnTo>
                    <a:pt x="248" y="78"/>
                  </a:lnTo>
                  <a:lnTo>
                    <a:pt x="234" y="98"/>
                  </a:lnTo>
                  <a:lnTo>
                    <a:pt x="218" y="114"/>
                  </a:lnTo>
                  <a:lnTo>
                    <a:pt x="200" y="128"/>
                  </a:lnTo>
                  <a:lnTo>
                    <a:pt x="200" y="128"/>
                  </a:lnTo>
                  <a:lnTo>
                    <a:pt x="178" y="142"/>
                  </a:lnTo>
                  <a:lnTo>
                    <a:pt x="152" y="158"/>
                  </a:lnTo>
                  <a:lnTo>
                    <a:pt x="140" y="166"/>
                  </a:lnTo>
                  <a:lnTo>
                    <a:pt x="128" y="176"/>
                  </a:lnTo>
                  <a:lnTo>
                    <a:pt x="116" y="188"/>
                  </a:lnTo>
                  <a:lnTo>
                    <a:pt x="108" y="202"/>
                  </a:lnTo>
                  <a:lnTo>
                    <a:pt x="108" y="202"/>
                  </a:lnTo>
                  <a:lnTo>
                    <a:pt x="78" y="250"/>
                  </a:lnTo>
                  <a:lnTo>
                    <a:pt x="64" y="270"/>
                  </a:lnTo>
                  <a:lnTo>
                    <a:pt x="44" y="290"/>
                  </a:lnTo>
                  <a:lnTo>
                    <a:pt x="44" y="290"/>
                  </a:lnTo>
                  <a:lnTo>
                    <a:pt x="24" y="310"/>
                  </a:lnTo>
                  <a:lnTo>
                    <a:pt x="10" y="326"/>
                  </a:lnTo>
                  <a:lnTo>
                    <a:pt x="0" y="344"/>
                  </a:lnTo>
                  <a:lnTo>
                    <a:pt x="0" y="344"/>
                  </a:lnTo>
                  <a:lnTo>
                    <a:pt x="0" y="344"/>
                  </a:lnTo>
                  <a:lnTo>
                    <a:pt x="18" y="334"/>
                  </a:lnTo>
                  <a:lnTo>
                    <a:pt x="34" y="320"/>
                  </a:lnTo>
                  <a:lnTo>
                    <a:pt x="54" y="300"/>
                  </a:lnTo>
                  <a:lnTo>
                    <a:pt x="54" y="300"/>
                  </a:lnTo>
                  <a:lnTo>
                    <a:pt x="74" y="280"/>
                  </a:lnTo>
                  <a:lnTo>
                    <a:pt x="94" y="266"/>
                  </a:lnTo>
                  <a:lnTo>
                    <a:pt x="142" y="236"/>
                  </a:lnTo>
                  <a:lnTo>
                    <a:pt x="142" y="236"/>
                  </a:lnTo>
                  <a:lnTo>
                    <a:pt x="156" y="228"/>
                  </a:lnTo>
                  <a:lnTo>
                    <a:pt x="168" y="216"/>
                  </a:lnTo>
                  <a:lnTo>
                    <a:pt x="178" y="204"/>
                  </a:lnTo>
                  <a:lnTo>
                    <a:pt x="186" y="192"/>
                  </a:lnTo>
                  <a:lnTo>
                    <a:pt x="202" y="166"/>
                  </a:lnTo>
                  <a:lnTo>
                    <a:pt x="216" y="144"/>
                  </a:lnTo>
                  <a:lnTo>
                    <a:pt x="216" y="144"/>
                  </a:lnTo>
                  <a:lnTo>
                    <a:pt x="230" y="126"/>
                  </a:lnTo>
                  <a:lnTo>
                    <a:pt x="246" y="110"/>
                  </a:lnTo>
                  <a:lnTo>
                    <a:pt x="266" y="96"/>
                  </a:lnTo>
                  <a:lnTo>
                    <a:pt x="288" y="82"/>
                  </a:lnTo>
                  <a:lnTo>
                    <a:pt x="288" y="82"/>
                  </a:lnTo>
                  <a:lnTo>
                    <a:pt x="298" y="72"/>
                  </a:lnTo>
                  <a:lnTo>
                    <a:pt x="310" y="64"/>
                  </a:lnTo>
                  <a:lnTo>
                    <a:pt x="328" y="44"/>
                  </a:lnTo>
                  <a:lnTo>
                    <a:pt x="340" y="28"/>
                  </a:lnTo>
                  <a:lnTo>
                    <a:pt x="344" y="22"/>
                  </a:lnTo>
                  <a:lnTo>
                    <a:pt x="322"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7" name="Freeform 140"/>
            <p:cNvSpPr/>
            <p:nvPr/>
          </p:nvSpPr>
          <p:spPr bwMode="auto">
            <a:xfrm>
              <a:off x="4156075" y="3724275"/>
              <a:ext cx="120650" cy="120650"/>
            </a:xfrm>
            <a:custGeom>
              <a:avLst/>
              <a:gdLst/>
              <a:ahLst/>
              <a:cxnLst>
                <a:cxn ang="0">
                  <a:pos x="46" y="46"/>
                </a:cxn>
                <a:cxn ang="0">
                  <a:pos x="46" y="46"/>
                </a:cxn>
                <a:cxn ang="0">
                  <a:pos x="56" y="34"/>
                </a:cxn>
                <a:cxn ang="0">
                  <a:pos x="66" y="22"/>
                </a:cxn>
                <a:cxn ang="0">
                  <a:pos x="72" y="10"/>
                </a:cxn>
                <a:cxn ang="0">
                  <a:pos x="76" y="0"/>
                </a:cxn>
                <a:cxn ang="0">
                  <a:pos x="76" y="0"/>
                </a:cxn>
                <a:cxn ang="0">
                  <a:pos x="66" y="4"/>
                </a:cxn>
                <a:cxn ang="0">
                  <a:pos x="54" y="10"/>
                </a:cxn>
                <a:cxn ang="0">
                  <a:pos x="42" y="20"/>
                </a:cxn>
                <a:cxn ang="0">
                  <a:pos x="30" y="30"/>
                </a:cxn>
                <a:cxn ang="0">
                  <a:pos x="30" y="30"/>
                </a:cxn>
                <a:cxn ang="0">
                  <a:pos x="18" y="42"/>
                </a:cxn>
                <a:cxn ang="0">
                  <a:pos x="10" y="54"/>
                </a:cxn>
                <a:cxn ang="0">
                  <a:pos x="4" y="66"/>
                </a:cxn>
                <a:cxn ang="0">
                  <a:pos x="0" y="76"/>
                </a:cxn>
                <a:cxn ang="0">
                  <a:pos x="0" y="76"/>
                </a:cxn>
                <a:cxn ang="0">
                  <a:pos x="10" y="72"/>
                </a:cxn>
                <a:cxn ang="0">
                  <a:pos x="22" y="66"/>
                </a:cxn>
                <a:cxn ang="0">
                  <a:pos x="34" y="58"/>
                </a:cxn>
                <a:cxn ang="0">
                  <a:pos x="46" y="46"/>
                </a:cxn>
                <a:cxn ang="0">
                  <a:pos x="46" y="46"/>
                </a:cxn>
              </a:cxnLst>
              <a:rect l="0" t="0" r="r" b="b"/>
              <a:pathLst>
                <a:path w="76" h="76">
                  <a:moveTo>
                    <a:pt x="46" y="46"/>
                  </a:moveTo>
                  <a:lnTo>
                    <a:pt x="46" y="46"/>
                  </a:lnTo>
                  <a:lnTo>
                    <a:pt x="56" y="34"/>
                  </a:lnTo>
                  <a:lnTo>
                    <a:pt x="66" y="22"/>
                  </a:lnTo>
                  <a:lnTo>
                    <a:pt x="72" y="10"/>
                  </a:lnTo>
                  <a:lnTo>
                    <a:pt x="76" y="0"/>
                  </a:lnTo>
                  <a:lnTo>
                    <a:pt x="76" y="0"/>
                  </a:lnTo>
                  <a:lnTo>
                    <a:pt x="66" y="4"/>
                  </a:lnTo>
                  <a:lnTo>
                    <a:pt x="54" y="10"/>
                  </a:lnTo>
                  <a:lnTo>
                    <a:pt x="42" y="20"/>
                  </a:lnTo>
                  <a:lnTo>
                    <a:pt x="30" y="30"/>
                  </a:lnTo>
                  <a:lnTo>
                    <a:pt x="30" y="30"/>
                  </a:lnTo>
                  <a:lnTo>
                    <a:pt x="18" y="42"/>
                  </a:lnTo>
                  <a:lnTo>
                    <a:pt x="10" y="54"/>
                  </a:lnTo>
                  <a:lnTo>
                    <a:pt x="4" y="66"/>
                  </a:lnTo>
                  <a:lnTo>
                    <a:pt x="0" y="76"/>
                  </a:lnTo>
                  <a:lnTo>
                    <a:pt x="0" y="76"/>
                  </a:lnTo>
                  <a:lnTo>
                    <a:pt x="10" y="72"/>
                  </a:lnTo>
                  <a:lnTo>
                    <a:pt x="22" y="66"/>
                  </a:lnTo>
                  <a:lnTo>
                    <a:pt x="34" y="58"/>
                  </a:lnTo>
                  <a:lnTo>
                    <a:pt x="46" y="46"/>
                  </a:lnTo>
                  <a:lnTo>
                    <a:pt x="46"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8" name="Freeform 141"/>
            <p:cNvSpPr/>
            <p:nvPr/>
          </p:nvSpPr>
          <p:spPr bwMode="auto">
            <a:xfrm>
              <a:off x="3692525" y="3368675"/>
              <a:ext cx="815975" cy="120650"/>
            </a:xfrm>
            <a:custGeom>
              <a:avLst/>
              <a:gdLst/>
              <a:ahLst/>
              <a:cxnLst>
                <a:cxn ang="0">
                  <a:pos x="26" y="48"/>
                </a:cxn>
                <a:cxn ang="0">
                  <a:pos x="48" y="52"/>
                </a:cxn>
                <a:cxn ang="0">
                  <a:pos x="102" y="56"/>
                </a:cxn>
                <a:cxn ang="0">
                  <a:pos x="102" y="56"/>
                </a:cxn>
                <a:cxn ang="0">
                  <a:pos x="138" y="56"/>
                </a:cxn>
                <a:cxn ang="0">
                  <a:pos x="204" y="72"/>
                </a:cxn>
                <a:cxn ang="0">
                  <a:pos x="218" y="74"/>
                </a:cxn>
                <a:cxn ang="0">
                  <a:pos x="258" y="74"/>
                </a:cxn>
                <a:cxn ang="0">
                  <a:pos x="304" y="64"/>
                </a:cxn>
                <a:cxn ang="0">
                  <a:pos x="328" y="58"/>
                </a:cxn>
                <a:cxn ang="0">
                  <a:pos x="368" y="56"/>
                </a:cxn>
                <a:cxn ang="0">
                  <a:pos x="416" y="66"/>
                </a:cxn>
                <a:cxn ang="0">
                  <a:pos x="432" y="68"/>
                </a:cxn>
                <a:cxn ang="0">
                  <a:pos x="472" y="68"/>
                </a:cxn>
                <a:cxn ang="0">
                  <a:pos x="504" y="64"/>
                </a:cxn>
                <a:cxn ang="0">
                  <a:pos x="514" y="54"/>
                </a:cxn>
                <a:cxn ang="0">
                  <a:pos x="504" y="12"/>
                </a:cxn>
                <a:cxn ang="0">
                  <a:pos x="496" y="12"/>
                </a:cxn>
                <a:cxn ang="0">
                  <a:pos x="446" y="8"/>
                </a:cxn>
                <a:cxn ang="0">
                  <a:pos x="416" y="10"/>
                </a:cxn>
                <a:cxn ang="0">
                  <a:pos x="392" y="16"/>
                </a:cxn>
                <a:cxn ang="0">
                  <a:pos x="348" y="20"/>
                </a:cxn>
                <a:cxn ang="0">
                  <a:pos x="304" y="12"/>
                </a:cxn>
                <a:cxn ang="0">
                  <a:pos x="282" y="6"/>
                </a:cxn>
                <a:cxn ang="0">
                  <a:pos x="232" y="0"/>
                </a:cxn>
                <a:cxn ang="0">
                  <a:pos x="204" y="4"/>
                </a:cxn>
                <a:cxn ang="0">
                  <a:pos x="172" y="12"/>
                </a:cxn>
                <a:cxn ang="0">
                  <a:pos x="120" y="22"/>
                </a:cxn>
                <a:cxn ang="0">
                  <a:pos x="102" y="20"/>
                </a:cxn>
                <a:cxn ang="0">
                  <a:pos x="48" y="24"/>
                </a:cxn>
                <a:cxn ang="0">
                  <a:pos x="26" y="28"/>
                </a:cxn>
                <a:cxn ang="0">
                  <a:pos x="26" y="48"/>
                </a:cxn>
              </a:cxnLst>
              <a:rect l="0" t="0" r="r" b="b"/>
              <a:pathLst>
                <a:path w="514" h="76">
                  <a:moveTo>
                    <a:pt x="26" y="48"/>
                  </a:moveTo>
                  <a:lnTo>
                    <a:pt x="26" y="48"/>
                  </a:lnTo>
                  <a:lnTo>
                    <a:pt x="34" y="50"/>
                  </a:lnTo>
                  <a:lnTo>
                    <a:pt x="48" y="52"/>
                  </a:lnTo>
                  <a:lnTo>
                    <a:pt x="72" y="56"/>
                  </a:lnTo>
                  <a:lnTo>
                    <a:pt x="102" y="56"/>
                  </a:lnTo>
                  <a:lnTo>
                    <a:pt x="102" y="56"/>
                  </a:lnTo>
                  <a:lnTo>
                    <a:pt x="102" y="56"/>
                  </a:lnTo>
                  <a:lnTo>
                    <a:pt x="120" y="54"/>
                  </a:lnTo>
                  <a:lnTo>
                    <a:pt x="138" y="56"/>
                  </a:lnTo>
                  <a:lnTo>
                    <a:pt x="172" y="64"/>
                  </a:lnTo>
                  <a:lnTo>
                    <a:pt x="204" y="72"/>
                  </a:lnTo>
                  <a:lnTo>
                    <a:pt x="204" y="72"/>
                  </a:lnTo>
                  <a:lnTo>
                    <a:pt x="218" y="74"/>
                  </a:lnTo>
                  <a:lnTo>
                    <a:pt x="232" y="76"/>
                  </a:lnTo>
                  <a:lnTo>
                    <a:pt x="258" y="74"/>
                  </a:lnTo>
                  <a:lnTo>
                    <a:pt x="282" y="70"/>
                  </a:lnTo>
                  <a:lnTo>
                    <a:pt x="304" y="64"/>
                  </a:lnTo>
                  <a:lnTo>
                    <a:pt x="328" y="58"/>
                  </a:lnTo>
                  <a:lnTo>
                    <a:pt x="328" y="58"/>
                  </a:lnTo>
                  <a:lnTo>
                    <a:pt x="348" y="56"/>
                  </a:lnTo>
                  <a:lnTo>
                    <a:pt x="368" y="56"/>
                  </a:lnTo>
                  <a:lnTo>
                    <a:pt x="392" y="60"/>
                  </a:lnTo>
                  <a:lnTo>
                    <a:pt x="416" y="66"/>
                  </a:lnTo>
                  <a:lnTo>
                    <a:pt x="416" y="66"/>
                  </a:lnTo>
                  <a:lnTo>
                    <a:pt x="432" y="68"/>
                  </a:lnTo>
                  <a:lnTo>
                    <a:pt x="446" y="68"/>
                  </a:lnTo>
                  <a:lnTo>
                    <a:pt x="472" y="68"/>
                  </a:lnTo>
                  <a:lnTo>
                    <a:pt x="494" y="66"/>
                  </a:lnTo>
                  <a:lnTo>
                    <a:pt x="504" y="64"/>
                  </a:lnTo>
                  <a:lnTo>
                    <a:pt x="514" y="62"/>
                  </a:lnTo>
                  <a:lnTo>
                    <a:pt x="514" y="54"/>
                  </a:lnTo>
                  <a:lnTo>
                    <a:pt x="514" y="14"/>
                  </a:lnTo>
                  <a:lnTo>
                    <a:pt x="504" y="12"/>
                  </a:lnTo>
                  <a:lnTo>
                    <a:pt x="504" y="12"/>
                  </a:lnTo>
                  <a:lnTo>
                    <a:pt x="496" y="12"/>
                  </a:lnTo>
                  <a:lnTo>
                    <a:pt x="474" y="8"/>
                  </a:lnTo>
                  <a:lnTo>
                    <a:pt x="446" y="8"/>
                  </a:lnTo>
                  <a:lnTo>
                    <a:pt x="432" y="8"/>
                  </a:lnTo>
                  <a:lnTo>
                    <a:pt x="416" y="10"/>
                  </a:lnTo>
                  <a:lnTo>
                    <a:pt x="416" y="10"/>
                  </a:lnTo>
                  <a:lnTo>
                    <a:pt x="392" y="16"/>
                  </a:lnTo>
                  <a:lnTo>
                    <a:pt x="368" y="20"/>
                  </a:lnTo>
                  <a:lnTo>
                    <a:pt x="348" y="20"/>
                  </a:lnTo>
                  <a:lnTo>
                    <a:pt x="328" y="18"/>
                  </a:lnTo>
                  <a:lnTo>
                    <a:pt x="304" y="12"/>
                  </a:lnTo>
                  <a:lnTo>
                    <a:pt x="304" y="12"/>
                  </a:lnTo>
                  <a:lnTo>
                    <a:pt x="282" y="6"/>
                  </a:lnTo>
                  <a:lnTo>
                    <a:pt x="258" y="2"/>
                  </a:lnTo>
                  <a:lnTo>
                    <a:pt x="232" y="0"/>
                  </a:lnTo>
                  <a:lnTo>
                    <a:pt x="218" y="2"/>
                  </a:lnTo>
                  <a:lnTo>
                    <a:pt x="204" y="4"/>
                  </a:lnTo>
                  <a:lnTo>
                    <a:pt x="172" y="12"/>
                  </a:lnTo>
                  <a:lnTo>
                    <a:pt x="172" y="12"/>
                  </a:lnTo>
                  <a:lnTo>
                    <a:pt x="138" y="20"/>
                  </a:lnTo>
                  <a:lnTo>
                    <a:pt x="120" y="22"/>
                  </a:lnTo>
                  <a:lnTo>
                    <a:pt x="102" y="20"/>
                  </a:lnTo>
                  <a:lnTo>
                    <a:pt x="102" y="20"/>
                  </a:lnTo>
                  <a:lnTo>
                    <a:pt x="72" y="20"/>
                  </a:lnTo>
                  <a:lnTo>
                    <a:pt x="48" y="24"/>
                  </a:lnTo>
                  <a:lnTo>
                    <a:pt x="34" y="26"/>
                  </a:lnTo>
                  <a:lnTo>
                    <a:pt x="26" y="28"/>
                  </a:lnTo>
                  <a:lnTo>
                    <a:pt x="0" y="38"/>
                  </a:lnTo>
                  <a:lnTo>
                    <a:pt x="26" y="4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39" name="Freeform 142"/>
            <p:cNvSpPr/>
            <p:nvPr/>
          </p:nvSpPr>
          <p:spPr bwMode="auto">
            <a:xfrm>
              <a:off x="3743325" y="3384550"/>
              <a:ext cx="746125" cy="88900"/>
            </a:xfrm>
            <a:custGeom>
              <a:avLst/>
              <a:gdLst/>
              <a:ahLst/>
              <a:cxnLst>
                <a:cxn ang="0">
                  <a:pos x="470" y="12"/>
                </a:cxn>
                <a:cxn ang="0">
                  <a:pos x="470" y="12"/>
                </a:cxn>
                <a:cxn ang="0">
                  <a:pos x="462" y="12"/>
                </a:cxn>
                <a:cxn ang="0">
                  <a:pos x="442" y="8"/>
                </a:cxn>
                <a:cxn ang="0">
                  <a:pos x="416" y="8"/>
                </a:cxn>
                <a:cxn ang="0">
                  <a:pos x="402" y="8"/>
                </a:cxn>
                <a:cxn ang="0">
                  <a:pos x="388" y="10"/>
                </a:cxn>
                <a:cxn ang="0">
                  <a:pos x="388" y="10"/>
                </a:cxn>
                <a:cxn ang="0">
                  <a:pos x="362" y="16"/>
                </a:cxn>
                <a:cxn ang="0">
                  <a:pos x="338" y="20"/>
                </a:cxn>
                <a:cxn ang="0">
                  <a:pos x="316" y="20"/>
                </a:cxn>
                <a:cxn ang="0">
                  <a:pos x="292" y="18"/>
                </a:cxn>
                <a:cxn ang="0">
                  <a:pos x="292" y="18"/>
                </a:cxn>
                <a:cxn ang="0">
                  <a:pos x="268" y="10"/>
                </a:cxn>
                <a:cxn ang="0">
                  <a:pos x="238" y="4"/>
                </a:cxn>
                <a:cxn ang="0">
                  <a:pos x="224" y="2"/>
                </a:cxn>
                <a:cxn ang="0">
                  <a:pos x="208" y="0"/>
                </a:cxn>
                <a:cxn ang="0">
                  <a:pos x="192" y="0"/>
                </a:cxn>
                <a:cxn ang="0">
                  <a:pos x="174" y="4"/>
                </a:cxn>
                <a:cxn ang="0">
                  <a:pos x="174" y="4"/>
                </a:cxn>
                <a:cxn ang="0">
                  <a:pos x="120" y="18"/>
                </a:cxn>
                <a:cxn ang="0">
                  <a:pos x="96" y="20"/>
                </a:cxn>
                <a:cxn ang="0">
                  <a:pos x="68" y="20"/>
                </a:cxn>
                <a:cxn ang="0">
                  <a:pos x="68" y="20"/>
                </a:cxn>
                <a:cxn ang="0">
                  <a:pos x="40" y="20"/>
                </a:cxn>
                <a:cxn ang="0">
                  <a:pos x="18" y="24"/>
                </a:cxn>
                <a:cxn ang="0">
                  <a:pos x="0" y="28"/>
                </a:cxn>
                <a:cxn ang="0">
                  <a:pos x="0" y="28"/>
                </a:cxn>
                <a:cxn ang="0">
                  <a:pos x="0" y="28"/>
                </a:cxn>
                <a:cxn ang="0">
                  <a:pos x="18" y="32"/>
                </a:cxn>
                <a:cxn ang="0">
                  <a:pos x="40" y="36"/>
                </a:cxn>
                <a:cxn ang="0">
                  <a:pos x="68" y="36"/>
                </a:cxn>
                <a:cxn ang="0">
                  <a:pos x="68" y="36"/>
                </a:cxn>
                <a:cxn ang="0">
                  <a:pos x="96" y="36"/>
                </a:cxn>
                <a:cxn ang="0">
                  <a:pos x="120" y="38"/>
                </a:cxn>
                <a:cxn ang="0">
                  <a:pos x="174" y="52"/>
                </a:cxn>
                <a:cxn ang="0">
                  <a:pos x="174" y="52"/>
                </a:cxn>
                <a:cxn ang="0">
                  <a:pos x="192" y="56"/>
                </a:cxn>
                <a:cxn ang="0">
                  <a:pos x="208" y="56"/>
                </a:cxn>
                <a:cxn ang="0">
                  <a:pos x="224" y="54"/>
                </a:cxn>
                <a:cxn ang="0">
                  <a:pos x="238" y="52"/>
                </a:cxn>
                <a:cxn ang="0">
                  <a:pos x="268" y="46"/>
                </a:cxn>
                <a:cxn ang="0">
                  <a:pos x="292" y="38"/>
                </a:cxn>
                <a:cxn ang="0">
                  <a:pos x="292" y="38"/>
                </a:cxn>
                <a:cxn ang="0">
                  <a:pos x="316" y="36"/>
                </a:cxn>
                <a:cxn ang="0">
                  <a:pos x="338" y="36"/>
                </a:cxn>
                <a:cxn ang="0">
                  <a:pos x="362" y="40"/>
                </a:cxn>
                <a:cxn ang="0">
                  <a:pos x="388" y="46"/>
                </a:cxn>
                <a:cxn ang="0">
                  <a:pos x="388" y="46"/>
                </a:cxn>
                <a:cxn ang="0">
                  <a:pos x="402" y="48"/>
                </a:cxn>
                <a:cxn ang="0">
                  <a:pos x="416" y="48"/>
                </a:cxn>
                <a:cxn ang="0">
                  <a:pos x="442" y="48"/>
                </a:cxn>
                <a:cxn ang="0">
                  <a:pos x="462" y="44"/>
                </a:cxn>
                <a:cxn ang="0">
                  <a:pos x="470" y="44"/>
                </a:cxn>
                <a:cxn ang="0">
                  <a:pos x="470" y="12"/>
                </a:cxn>
              </a:cxnLst>
              <a:rect l="0" t="0" r="r" b="b"/>
              <a:pathLst>
                <a:path w="470" h="56">
                  <a:moveTo>
                    <a:pt x="470" y="12"/>
                  </a:moveTo>
                  <a:lnTo>
                    <a:pt x="470" y="12"/>
                  </a:lnTo>
                  <a:lnTo>
                    <a:pt x="462" y="12"/>
                  </a:lnTo>
                  <a:lnTo>
                    <a:pt x="442" y="8"/>
                  </a:lnTo>
                  <a:lnTo>
                    <a:pt x="416" y="8"/>
                  </a:lnTo>
                  <a:lnTo>
                    <a:pt x="402" y="8"/>
                  </a:lnTo>
                  <a:lnTo>
                    <a:pt x="388" y="10"/>
                  </a:lnTo>
                  <a:lnTo>
                    <a:pt x="388" y="10"/>
                  </a:lnTo>
                  <a:lnTo>
                    <a:pt x="362" y="16"/>
                  </a:lnTo>
                  <a:lnTo>
                    <a:pt x="338" y="20"/>
                  </a:lnTo>
                  <a:lnTo>
                    <a:pt x="316" y="20"/>
                  </a:lnTo>
                  <a:lnTo>
                    <a:pt x="292" y="18"/>
                  </a:lnTo>
                  <a:lnTo>
                    <a:pt x="292" y="18"/>
                  </a:lnTo>
                  <a:lnTo>
                    <a:pt x="268" y="10"/>
                  </a:lnTo>
                  <a:lnTo>
                    <a:pt x="238" y="4"/>
                  </a:lnTo>
                  <a:lnTo>
                    <a:pt x="224" y="2"/>
                  </a:lnTo>
                  <a:lnTo>
                    <a:pt x="208" y="0"/>
                  </a:lnTo>
                  <a:lnTo>
                    <a:pt x="192" y="0"/>
                  </a:lnTo>
                  <a:lnTo>
                    <a:pt x="174" y="4"/>
                  </a:lnTo>
                  <a:lnTo>
                    <a:pt x="174" y="4"/>
                  </a:lnTo>
                  <a:lnTo>
                    <a:pt x="120" y="18"/>
                  </a:lnTo>
                  <a:lnTo>
                    <a:pt x="96" y="20"/>
                  </a:lnTo>
                  <a:lnTo>
                    <a:pt x="68" y="20"/>
                  </a:lnTo>
                  <a:lnTo>
                    <a:pt x="68" y="20"/>
                  </a:lnTo>
                  <a:lnTo>
                    <a:pt x="40" y="20"/>
                  </a:lnTo>
                  <a:lnTo>
                    <a:pt x="18" y="24"/>
                  </a:lnTo>
                  <a:lnTo>
                    <a:pt x="0" y="28"/>
                  </a:lnTo>
                  <a:lnTo>
                    <a:pt x="0" y="28"/>
                  </a:lnTo>
                  <a:lnTo>
                    <a:pt x="0" y="28"/>
                  </a:lnTo>
                  <a:lnTo>
                    <a:pt x="18" y="32"/>
                  </a:lnTo>
                  <a:lnTo>
                    <a:pt x="40" y="36"/>
                  </a:lnTo>
                  <a:lnTo>
                    <a:pt x="68" y="36"/>
                  </a:lnTo>
                  <a:lnTo>
                    <a:pt x="68" y="36"/>
                  </a:lnTo>
                  <a:lnTo>
                    <a:pt x="96" y="36"/>
                  </a:lnTo>
                  <a:lnTo>
                    <a:pt x="120" y="38"/>
                  </a:lnTo>
                  <a:lnTo>
                    <a:pt x="174" y="52"/>
                  </a:lnTo>
                  <a:lnTo>
                    <a:pt x="174" y="52"/>
                  </a:lnTo>
                  <a:lnTo>
                    <a:pt x="192" y="56"/>
                  </a:lnTo>
                  <a:lnTo>
                    <a:pt x="208" y="56"/>
                  </a:lnTo>
                  <a:lnTo>
                    <a:pt x="224" y="54"/>
                  </a:lnTo>
                  <a:lnTo>
                    <a:pt x="238" y="52"/>
                  </a:lnTo>
                  <a:lnTo>
                    <a:pt x="268" y="46"/>
                  </a:lnTo>
                  <a:lnTo>
                    <a:pt x="292" y="38"/>
                  </a:lnTo>
                  <a:lnTo>
                    <a:pt x="292" y="38"/>
                  </a:lnTo>
                  <a:lnTo>
                    <a:pt x="316" y="36"/>
                  </a:lnTo>
                  <a:lnTo>
                    <a:pt x="338" y="36"/>
                  </a:lnTo>
                  <a:lnTo>
                    <a:pt x="362" y="40"/>
                  </a:lnTo>
                  <a:lnTo>
                    <a:pt x="388" y="46"/>
                  </a:lnTo>
                  <a:lnTo>
                    <a:pt x="388" y="46"/>
                  </a:lnTo>
                  <a:lnTo>
                    <a:pt x="402" y="48"/>
                  </a:lnTo>
                  <a:lnTo>
                    <a:pt x="416" y="48"/>
                  </a:lnTo>
                  <a:lnTo>
                    <a:pt x="442" y="48"/>
                  </a:lnTo>
                  <a:lnTo>
                    <a:pt x="462" y="44"/>
                  </a:lnTo>
                  <a:lnTo>
                    <a:pt x="470" y="44"/>
                  </a:lnTo>
                  <a:lnTo>
                    <a:pt x="47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0" name="Freeform 143"/>
            <p:cNvSpPr/>
            <p:nvPr/>
          </p:nvSpPr>
          <p:spPr bwMode="auto">
            <a:xfrm>
              <a:off x="3984625" y="3413125"/>
              <a:ext cx="168275" cy="31750"/>
            </a:xfrm>
            <a:custGeom>
              <a:avLst/>
              <a:gdLst/>
              <a:ahLst/>
              <a:cxnLst>
                <a:cxn ang="0">
                  <a:pos x="52" y="20"/>
                </a:cxn>
                <a:cxn ang="0">
                  <a:pos x="52" y="20"/>
                </a:cxn>
                <a:cxn ang="0">
                  <a:pos x="70" y="20"/>
                </a:cxn>
                <a:cxn ang="0">
                  <a:pos x="84" y="18"/>
                </a:cxn>
                <a:cxn ang="0">
                  <a:pos x="96" y="14"/>
                </a:cxn>
                <a:cxn ang="0">
                  <a:pos x="106" y="10"/>
                </a:cxn>
                <a:cxn ang="0">
                  <a:pos x="106" y="10"/>
                </a:cxn>
                <a:cxn ang="0">
                  <a:pos x="96" y="6"/>
                </a:cxn>
                <a:cxn ang="0">
                  <a:pos x="84" y="2"/>
                </a:cxn>
                <a:cxn ang="0">
                  <a:pos x="70" y="0"/>
                </a:cxn>
                <a:cxn ang="0">
                  <a:pos x="52" y="0"/>
                </a:cxn>
                <a:cxn ang="0">
                  <a:pos x="52" y="0"/>
                </a:cxn>
                <a:cxn ang="0">
                  <a:pos x="36" y="0"/>
                </a:cxn>
                <a:cxn ang="0">
                  <a:pos x="22" y="2"/>
                </a:cxn>
                <a:cxn ang="0">
                  <a:pos x="8" y="6"/>
                </a:cxn>
                <a:cxn ang="0">
                  <a:pos x="0" y="10"/>
                </a:cxn>
                <a:cxn ang="0">
                  <a:pos x="0" y="10"/>
                </a:cxn>
                <a:cxn ang="0">
                  <a:pos x="8" y="14"/>
                </a:cxn>
                <a:cxn ang="0">
                  <a:pos x="22" y="18"/>
                </a:cxn>
                <a:cxn ang="0">
                  <a:pos x="36" y="20"/>
                </a:cxn>
                <a:cxn ang="0">
                  <a:pos x="52" y="20"/>
                </a:cxn>
                <a:cxn ang="0">
                  <a:pos x="52" y="20"/>
                </a:cxn>
              </a:cxnLst>
              <a:rect l="0" t="0" r="r" b="b"/>
              <a:pathLst>
                <a:path w="106" h="20">
                  <a:moveTo>
                    <a:pt x="52" y="20"/>
                  </a:moveTo>
                  <a:lnTo>
                    <a:pt x="52" y="20"/>
                  </a:lnTo>
                  <a:lnTo>
                    <a:pt x="70" y="20"/>
                  </a:lnTo>
                  <a:lnTo>
                    <a:pt x="84" y="18"/>
                  </a:lnTo>
                  <a:lnTo>
                    <a:pt x="96" y="14"/>
                  </a:lnTo>
                  <a:lnTo>
                    <a:pt x="106" y="10"/>
                  </a:lnTo>
                  <a:lnTo>
                    <a:pt x="106" y="10"/>
                  </a:lnTo>
                  <a:lnTo>
                    <a:pt x="96" y="6"/>
                  </a:lnTo>
                  <a:lnTo>
                    <a:pt x="84" y="2"/>
                  </a:lnTo>
                  <a:lnTo>
                    <a:pt x="70" y="0"/>
                  </a:lnTo>
                  <a:lnTo>
                    <a:pt x="52" y="0"/>
                  </a:lnTo>
                  <a:lnTo>
                    <a:pt x="52" y="0"/>
                  </a:lnTo>
                  <a:lnTo>
                    <a:pt x="36" y="0"/>
                  </a:lnTo>
                  <a:lnTo>
                    <a:pt x="22" y="2"/>
                  </a:lnTo>
                  <a:lnTo>
                    <a:pt x="8" y="6"/>
                  </a:lnTo>
                  <a:lnTo>
                    <a:pt x="0" y="10"/>
                  </a:lnTo>
                  <a:lnTo>
                    <a:pt x="0" y="10"/>
                  </a:lnTo>
                  <a:lnTo>
                    <a:pt x="8" y="14"/>
                  </a:lnTo>
                  <a:lnTo>
                    <a:pt x="22" y="18"/>
                  </a:lnTo>
                  <a:lnTo>
                    <a:pt x="36" y="20"/>
                  </a:lnTo>
                  <a:lnTo>
                    <a:pt x="52" y="20"/>
                  </a:lnTo>
                  <a:lnTo>
                    <a:pt x="5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1" name="Freeform 144"/>
            <p:cNvSpPr/>
            <p:nvPr/>
          </p:nvSpPr>
          <p:spPr bwMode="auto">
            <a:xfrm>
              <a:off x="3949700" y="2806700"/>
              <a:ext cx="603250" cy="603250"/>
            </a:xfrm>
            <a:custGeom>
              <a:avLst/>
              <a:gdLst/>
              <a:ahLst/>
              <a:cxnLst>
                <a:cxn ang="0">
                  <a:pos x="12" y="26"/>
                </a:cxn>
                <a:cxn ang="0">
                  <a:pos x="24" y="46"/>
                </a:cxn>
                <a:cxn ang="0">
                  <a:pos x="60" y="84"/>
                </a:cxn>
                <a:cxn ang="0">
                  <a:pos x="60" y="84"/>
                </a:cxn>
                <a:cxn ang="0">
                  <a:pos x="84" y="110"/>
                </a:cxn>
                <a:cxn ang="0">
                  <a:pos x="120" y="168"/>
                </a:cxn>
                <a:cxn ang="0">
                  <a:pos x="128" y="180"/>
                </a:cxn>
                <a:cxn ang="0">
                  <a:pos x="156" y="208"/>
                </a:cxn>
                <a:cxn ang="0">
                  <a:pos x="196" y="234"/>
                </a:cxn>
                <a:cxn ang="0">
                  <a:pos x="216" y="246"/>
                </a:cxn>
                <a:cxn ang="0">
                  <a:pos x="248" y="274"/>
                </a:cxn>
                <a:cxn ang="0">
                  <a:pos x="276" y="314"/>
                </a:cxn>
                <a:cxn ang="0">
                  <a:pos x="284" y="326"/>
                </a:cxn>
                <a:cxn ang="0">
                  <a:pos x="314" y="356"/>
                </a:cxn>
                <a:cxn ang="0">
                  <a:pos x="338" y="374"/>
                </a:cxn>
                <a:cxn ang="0">
                  <a:pos x="352" y="374"/>
                </a:cxn>
                <a:cxn ang="0">
                  <a:pos x="374" y="340"/>
                </a:cxn>
                <a:cxn ang="0">
                  <a:pos x="370" y="332"/>
                </a:cxn>
                <a:cxn ang="0">
                  <a:pos x="338" y="294"/>
                </a:cxn>
                <a:cxn ang="0">
                  <a:pos x="314" y="276"/>
                </a:cxn>
                <a:cxn ang="0">
                  <a:pos x="292" y="262"/>
                </a:cxn>
                <a:cxn ang="0">
                  <a:pos x="260" y="234"/>
                </a:cxn>
                <a:cxn ang="0">
                  <a:pos x="234" y="196"/>
                </a:cxn>
                <a:cxn ang="0">
                  <a:pos x="222" y="176"/>
                </a:cxn>
                <a:cxn ang="0">
                  <a:pos x="190" y="136"/>
                </a:cxn>
                <a:cxn ang="0">
                  <a:pos x="168" y="120"/>
                </a:cxn>
                <a:cxn ang="0">
                  <a:pos x="140" y="104"/>
                </a:cxn>
                <a:cxn ang="0">
                  <a:pos x="98" y="74"/>
                </a:cxn>
                <a:cxn ang="0">
                  <a:pos x="84" y="60"/>
                </a:cxn>
                <a:cxn ang="0">
                  <a:pos x="46" y="24"/>
                </a:cxn>
                <a:cxn ang="0">
                  <a:pos x="26" y="12"/>
                </a:cxn>
                <a:cxn ang="0">
                  <a:pos x="12" y="26"/>
                </a:cxn>
              </a:cxnLst>
              <a:rect l="0" t="0" r="r" b="b"/>
              <a:pathLst>
                <a:path w="380" h="380">
                  <a:moveTo>
                    <a:pt x="12" y="26"/>
                  </a:moveTo>
                  <a:lnTo>
                    <a:pt x="12" y="26"/>
                  </a:lnTo>
                  <a:lnTo>
                    <a:pt x="16" y="32"/>
                  </a:lnTo>
                  <a:lnTo>
                    <a:pt x="24" y="46"/>
                  </a:lnTo>
                  <a:lnTo>
                    <a:pt x="38" y="64"/>
                  </a:lnTo>
                  <a:lnTo>
                    <a:pt x="60" y="84"/>
                  </a:lnTo>
                  <a:lnTo>
                    <a:pt x="60" y="84"/>
                  </a:lnTo>
                  <a:lnTo>
                    <a:pt x="60" y="84"/>
                  </a:lnTo>
                  <a:lnTo>
                    <a:pt x="74" y="98"/>
                  </a:lnTo>
                  <a:lnTo>
                    <a:pt x="84" y="110"/>
                  </a:lnTo>
                  <a:lnTo>
                    <a:pt x="104" y="140"/>
                  </a:lnTo>
                  <a:lnTo>
                    <a:pt x="120" y="168"/>
                  </a:lnTo>
                  <a:lnTo>
                    <a:pt x="120" y="168"/>
                  </a:lnTo>
                  <a:lnTo>
                    <a:pt x="128" y="180"/>
                  </a:lnTo>
                  <a:lnTo>
                    <a:pt x="138" y="190"/>
                  </a:lnTo>
                  <a:lnTo>
                    <a:pt x="156" y="208"/>
                  </a:lnTo>
                  <a:lnTo>
                    <a:pt x="176" y="222"/>
                  </a:lnTo>
                  <a:lnTo>
                    <a:pt x="196" y="234"/>
                  </a:lnTo>
                  <a:lnTo>
                    <a:pt x="216" y="246"/>
                  </a:lnTo>
                  <a:lnTo>
                    <a:pt x="216" y="246"/>
                  </a:lnTo>
                  <a:lnTo>
                    <a:pt x="234" y="260"/>
                  </a:lnTo>
                  <a:lnTo>
                    <a:pt x="248" y="274"/>
                  </a:lnTo>
                  <a:lnTo>
                    <a:pt x="262" y="292"/>
                  </a:lnTo>
                  <a:lnTo>
                    <a:pt x="276" y="314"/>
                  </a:lnTo>
                  <a:lnTo>
                    <a:pt x="276" y="314"/>
                  </a:lnTo>
                  <a:lnTo>
                    <a:pt x="284" y="326"/>
                  </a:lnTo>
                  <a:lnTo>
                    <a:pt x="294" y="336"/>
                  </a:lnTo>
                  <a:lnTo>
                    <a:pt x="314" y="356"/>
                  </a:lnTo>
                  <a:lnTo>
                    <a:pt x="330" y="368"/>
                  </a:lnTo>
                  <a:lnTo>
                    <a:pt x="338" y="374"/>
                  </a:lnTo>
                  <a:lnTo>
                    <a:pt x="346" y="380"/>
                  </a:lnTo>
                  <a:lnTo>
                    <a:pt x="352" y="374"/>
                  </a:lnTo>
                  <a:lnTo>
                    <a:pt x="380" y="346"/>
                  </a:lnTo>
                  <a:lnTo>
                    <a:pt x="374" y="340"/>
                  </a:lnTo>
                  <a:lnTo>
                    <a:pt x="374" y="340"/>
                  </a:lnTo>
                  <a:lnTo>
                    <a:pt x="370" y="332"/>
                  </a:lnTo>
                  <a:lnTo>
                    <a:pt x="356" y="314"/>
                  </a:lnTo>
                  <a:lnTo>
                    <a:pt x="338" y="294"/>
                  </a:lnTo>
                  <a:lnTo>
                    <a:pt x="326" y="284"/>
                  </a:lnTo>
                  <a:lnTo>
                    <a:pt x="314" y="276"/>
                  </a:lnTo>
                  <a:lnTo>
                    <a:pt x="314" y="276"/>
                  </a:lnTo>
                  <a:lnTo>
                    <a:pt x="292" y="262"/>
                  </a:lnTo>
                  <a:lnTo>
                    <a:pt x="274" y="248"/>
                  </a:lnTo>
                  <a:lnTo>
                    <a:pt x="260" y="234"/>
                  </a:lnTo>
                  <a:lnTo>
                    <a:pt x="246" y="216"/>
                  </a:lnTo>
                  <a:lnTo>
                    <a:pt x="234" y="196"/>
                  </a:lnTo>
                  <a:lnTo>
                    <a:pt x="234" y="196"/>
                  </a:lnTo>
                  <a:lnTo>
                    <a:pt x="222" y="176"/>
                  </a:lnTo>
                  <a:lnTo>
                    <a:pt x="208" y="156"/>
                  </a:lnTo>
                  <a:lnTo>
                    <a:pt x="190" y="136"/>
                  </a:lnTo>
                  <a:lnTo>
                    <a:pt x="180" y="128"/>
                  </a:lnTo>
                  <a:lnTo>
                    <a:pt x="168" y="120"/>
                  </a:lnTo>
                  <a:lnTo>
                    <a:pt x="140" y="104"/>
                  </a:lnTo>
                  <a:lnTo>
                    <a:pt x="140" y="104"/>
                  </a:lnTo>
                  <a:lnTo>
                    <a:pt x="110" y="84"/>
                  </a:lnTo>
                  <a:lnTo>
                    <a:pt x="98" y="74"/>
                  </a:lnTo>
                  <a:lnTo>
                    <a:pt x="84" y="60"/>
                  </a:lnTo>
                  <a:lnTo>
                    <a:pt x="84" y="60"/>
                  </a:lnTo>
                  <a:lnTo>
                    <a:pt x="64" y="38"/>
                  </a:lnTo>
                  <a:lnTo>
                    <a:pt x="46" y="24"/>
                  </a:lnTo>
                  <a:lnTo>
                    <a:pt x="32" y="16"/>
                  </a:lnTo>
                  <a:lnTo>
                    <a:pt x="26" y="12"/>
                  </a:lnTo>
                  <a:lnTo>
                    <a:pt x="0" y="0"/>
                  </a:lnTo>
                  <a:lnTo>
                    <a:pt x="12" y="2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2" name="Freeform 145"/>
            <p:cNvSpPr/>
            <p:nvPr/>
          </p:nvSpPr>
          <p:spPr bwMode="auto">
            <a:xfrm>
              <a:off x="3984625" y="2841625"/>
              <a:ext cx="546100" cy="546100"/>
            </a:xfrm>
            <a:custGeom>
              <a:avLst/>
              <a:gdLst/>
              <a:ahLst/>
              <a:cxnLst>
                <a:cxn ang="0">
                  <a:pos x="344" y="322"/>
                </a:cxn>
                <a:cxn ang="0">
                  <a:pos x="344" y="322"/>
                </a:cxn>
                <a:cxn ang="0">
                  <a:pos x="340" y="316"/>
                </a:cxn>
                <a:cxn ang="0">
                  <a:pos x="328" y="300"/>
                </a:cxn>
                <a:cxn ang="0">
                  <a:pos x="310" y="280"/>
                </a:cxn>
                <a:cxn ang="0">
                  <a:pos x="298" y="272"/>
                </a:cxn>
                <a:cxn ang="0">
                  <a:pos x="288" y="262"/>
                </a:cxn>
                <a:cxn ang="0">
                  <a:pos x="288" y="262"/>
                </a:cxn>
                <a:cxn ang="0">
                  <a:pos x="266" y="248"/>
                </a:cxn>
                <a:cxn ang="0">
                  <a:pos x="246" y="234"/>
                </a:cxn>
                <a:cxn ang="0">
                  <a:pos x="230" y="218"/>
                </a:cxn>
                <a:cxn ang="0">
                  <a:pos x="216" y="200"/>
                </a:cxn>
                <a:cxn ang="0">
                  <a:pos x="216" y="200"/>
                </a:cxn>
                <a:cxn ang="0">
                  <a:pos x="202" y="178"/>
                </a:cxn>
                <a:cxn ang="0">
                  <a:pos x="186" y="152"/>
                </a:cxn>
                <a:cxn ang="0">
                  <a:pos x="178" y="140"/>
                </a:cxn>
                <a:cxn ang="0">
                  <a:pos x="168" y="128"/>
                </a:cxn>
                <a:cxn ang="0">
                  <a:pos x="156" y="116"/>
                </a:cxn>
                <a:cxn ang="0">
                  <a:pos x="142" y="108"/>
                </a:cxn>
                <a:cxn ang="0">
                  <a:pos x="142" y="108"/>
                </a:cxn>
                <a:cxn ang="0">
                  <a:pos x="94" y="78"/>
                </a:cxn>
                <a:cxn ang="0">
                  <a:pos x="74" y="64"/>
                </a:cxn>
                <a:cxn ang="0">
                  <a:pos x="54" y="44"/>
                </a:cxn>
                <a:cxn ang="0">
                  <a:pos x="54" y="44"/>
                </a:cxn>
                <a:cxn ang="0">
                  <a:pos x="34" y="24"/>
                </a:cxn>
                <a:cxn ang="0">
                  <a:pos x="18" y="10"/>
                </a:cxn>
                <a:cxn ang="0">
                  <a:pos x="0" y="0"/>
                </a:cxn>
                <a:cxn ang="0">
                  <a:pos x="0" y="0"/>
                </a:cxn>
                <a:cxn ang="0">
                  <a:pos x="0" y="0"/>
                </a:cxn>
                <a:cxn ang="0">
                  <a:pos x="10" y="18"/>
                </a:cxn>
                <a:cxn ang="0">
                  <a:pos x="24" y="34"/>
                </a:cxn>
                <a:cxn ang="0">
                  <a:pos x="44" y="54"/>
                </a:cxn>
                <a:cxn ang="0">
                  <a:pos x="44" y="54"/>
                </a:cxn>
                <a:cxn ang="0">
                  <a:pos x="64" y="74"/>
                </a:cxn>
                <a:cxn ang="0">
                  <a:pos x="78" y="94"/>
                </a:cxn>
                <a:cxn ang="0">
                  <a:pos x="108" y="142"/>
                </a:cxn>
                <a:cxn ang="0">
                  <a:pos x="108" y="142"/>
                </a:cxn>
                <a:cxn ang="0">
                  <a:pos x="116" y="156"/>
                </a:cxn>
                <a:cxn ang="0">
                  <a:pos x="128" y="168"/>
                </a:cxn>
                <a:cxn ang="0">
                  <a:pos x="140" y="178"/>
                </a:cxn>
                <a:cxn ang="0">
                  <a:pos x="152" y="186"/>
                </a:cxn>
                <a:cxn ang="0">
                  <a:pos x="178" y="202"/>
                </a:cxn>
                <a:cxn ang="0">
                  <a:pos x="200" y="216"/>
                </a:cxn>
                <a:cxn ang="0">
                  <a:pos x="200" y="216"/>
                </a:cxn>
                <a:cxn ang="0">
                  <a:pos x="218" y="230"/>
                </a:cxn>
                <a:cxn ang="0">
                  <a:pos x="234" y="246"/>
                </a:cxn>
                <a:cxn ang="0">
                  <a:pos x="248" y="266"/>
                </a:cxn>
                <a:cxn ang="0">
                  <a:pos x="262" y="288"/>
                </a:cxn>
                <a:cxn ang="0">
                  <a:pos x="262" y="288"/>
                </a:cxn>
                <a:cxn ang="0">
                  <a:pos x="272" y="298"/>
                </a:cxn>
                <a:cxn ang="0">
                  <a:pos x="280" y="310"/>
                </a:cxn>
                <a:cxn ang="0">
                  <a:pos x="300" y="328"/>
                </a:cxn>
                <a:cxn ang="0">
                  <a:pos x="316" y="340"/>
                </a:cxn>
                <a:cxn ang="0">
                  <a:pos x="322" y="344"/>
                </a:cxn>
                <a:cxn ang="0">
                  <a:pos x="344" y="322"/>
                </a:cxn>
              </a:cxnLst>
              <a:rect l="0" t="0" r="r" b="b"/>
              <a:pathLst>
                <a:path w="344" h="344">
                  <a:moveTo>
                    <a:pt x="344" y="322"/>
                  </a:moveTo>
                  <a:lnTo>
                    <a:pt x="344" y="322"/>
                  </a:lnTo>
                  <a:lnTo>
                    <a:pt x="340" y="316"/>
                  </a:lnTo>
                  <a:lnTo>
                    <a:pt x="328" y="300"/>
                  </a:lnTo>
                  <a:lnTo>
                    <a:pt x="310" y="280"/>
                  </a:lnTo>
                  <a:lnTo>
                    <a:pt x="298" y="272"/>
                  </a:lnTo>
                  <a:lnTo>
                    <a:pt x="288" y="262"/>
                  </a:lnTo>
                  <a:lnTo>
                    <a:pt x="288" y="262"/>
                  </a:lnTo>
                  <a:lnTo>
                    <a:pt x="266" y="248"/>
                  </a:lnTo>
                  <a:lnTo>
                    <a:pt x="246" y="234"/>
                  </a:lnTo>
                  <a:lnTo>
                    <a:pt x="230" y="218"/>
                  </a:lnTo>
                  <a:lnTo>
                    <a:pt x="216" y="200"/>
                  </a:lnTo>
                  <a:lnTo>
                    <a:pt x="216" y="200"/>
                  </a:lnTo>
                  <a:lnTo>
                    <a:pt x="202" y="178"/>
                  </a:lnTo>
                  <a:lnTo>
                    <a:pt x="186" y="152"/>
                  </a:lnTo>
                  <a:lnTo>
                    <a:pt x="178" y="140"/>
                  </a:lnTo>
                  <a:lnTo>
                    <a:pt x="168" y="128"/>
                  </a:lnTo>
                  <a:lnTo>
                    <a:pt x="156" y="116"/>
                  </a:lnTo>
                  <a:lnTo>
                    <a:pt x="142" y="108"/>
                  </a:lnTo>
                  <a:lnTo>
                    <a:pt x="142" y="108"/>
                  </a:lnTo>
                  <a:lnTo>
                    <a:pt x="94" y="78"/>
                  </a:lnTo>
                  <a:lnTo>
                    <a:pt x="74" y="64"/>
                  </a:lnTo>
                  <a:lnTo>
                    <a:pt x="54" y="44"/>
                  </a:lnTo>
                  <a:lnTo>
                    <a:pt x="54" y="44"/>
                  </a:lnTo>
                  <a:lnTo>
                    <a:pt x="34" y="24"/>
                  </a:lnTo>
                  <a:lnTo>
                    <a:pt x="18" y="10"/>
                  </a:lnTo>
                  <a:lnTo>
                    <a:pt x="0" y="0"/>
                  </a:lnTo>
                  <a:lnTo>
                    <a:pt x="0" y="0"/>
                  </a:lnTo>
                  <a:lnTo>
                    <a:pt x="0" y="0"/>
                  </a:lnTo>
                  <a:lnTo>
                    <a:pt x="10" y="18"/>
                  </a:lnTo>
                  <a:lnTo>
                    <a:pt x="24" y="34"/>
                  </a:lnTo>
                  <a:lnTo>
                    <a:pt x="44" y="54"/>
                  </a:lnTo>
                  <a:lnTo>
                    <a:pt x="44" y="54"/>
                  </a:lnTo>
                  <a:lnTo>
                    <a:pt x="64" y="74"/>
                  </a:lnTo>
                  <a:lnTo>
                    <a:pt x="78" y="94"/>
                  </a:lnTo>
                  <a:lnTo>
                    <a:pt x="108" y="142"/>
                  </a:lnTo>
                  <a:lnTo>
                    <a:pt x="108" y="142"/>
                  </a:lnTo>
                  <a:lnTo>
                    <a:pt x="116" y="156"/>
                  </a:lnTo>
                  <a:lnTo>
                    <a:pt x="128" y="168"/>
                  </a:lnTo>
                  <a:lnTo>
                    <a:pt x="140" y="178"/>
                  </a:lnTo>
                  <a:lnTo>
                    <a:pt x="152" y="186"/>
                  </a:lnTo>
                  <a:lnTo>
                    <a:pt x="178" y="202"/>
                  </a:lnTo>
                  <a:lnTo>
                    <a:pt x="200" y="216"/>
                  </a:lnTo>
                  <a:lnTo>
                    <a:pt x="200" y="216"/>
                  </a:lnTo>
                  <a:lnTo>
                    <a:pt x="218" y="230"/>
                  </a:lnTo>
                  <a:lnTo>
                    <a:pt x="234" y="246"/>
                  </a:lnTo>
                  <a:lnTo>
                    <a:pt x="248" y="266"/>
                  </a:lnTo>
                  <a:lnTo>
                    <a:pt x="262" y="288"/>
                  </a:lnTo>
                  <a:lnTo>
                    <a:pt x="262" y="288"/>
                  </a:lnTo>
                  <a:lnTo>
                    <a:pt x="272" y="298"/>
                  </a:lnTo>
                  <a:lnTo>
                    <a:pt x="280" y="310"/>
                  </a:lnTo>
                  <a:lnTo>
                    <a:pt x="300" y="328"/>
                  </a:lnTo>
                  <a:lnTo>
                    <a:pt x="316" y="340"/>
                  </a:lnTo>
                  <a:lnTo>
                    <a:pt x="322" y="344"/>
                  </a:lnTo>
                  <a:lnTo>
                    <a:pt x="344" y="32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3" name="Freeform 146"/>
            <p:cNvSpPr/>
            <p:nvPr/>
          </p:nvSpPr>
          <p:spPr bwMode="auto">
            <a:xfrm>
              <a:off x="4156075" y="3013075"/>
              <a:ext cx="120650" cy="120650"/>
            </a:xfrm>
            <a:custGeom>
              <a:avLst/>
              <a:gdLst/>
              <a:ahLst/>
              <a:cxnLst>
                <a:cxn ang="0">
                  <a:pos x="30" y="46"/>
                </a:cxn>
                <a:cxn ang="0">
                  <a:pos x="30" y="46"/>
                </a:cxn>
                <a:cxn ang="0">
                  <a:pos x="42" y="56"/>
                </a:cxn>
                <a:cxn ang="0">
                  <a:pos x="54" y="66"/>
                </a:cxn>
                <a:cxn ang="0">
                  <a:pos x="66" y="72"/>
                </a:cxn>
                <a:cxn ang="0">
                  <a:pos x="76" y="76"/>
                </a:cxn>
                <a:cxn ang="0">
                  <a:pos x="76" y="76"/>
                </a:cxn>
                <a:cxn ang="0">
                  <a:pos x="72" y="66"/>
                </a:cxn>
                <a:cxn ang="0">
                  <a:pos x="66" y="54"/>
                </a:cxn>
                <a:cxn ang="0">
                  <a:pos x="56" y="42"/>
                </a:cxn>
                <a:cxn ang="0">
                  <a:pos x="46" y="30"/>
                </a:cxn>
                <a:cxn ang="0">
                  <a:pos x="46" y="30"/>
                </a:cxn>
                <a:cxn ang="0">
                  <a:pos x="34" y="18"/>
                </a:cxn>
                <a:cxn ang="0">
                  <a:pos x="22" y="10"/>
                </a:cxn>
                <a:cxn ang="0">
                  <a:pos x="10" y="4"/>
                </a:cxn>
                <a:cxn ang="0">
                  <a:pos x="0" y="0"/>
                </a:cxn>
                <a:cxn ang="0">
                  <a:pos x="0" y="0"/>
                </a:cxn>
                <a:cxn ang="0">
                  <a:pos x="4" y="10"/>
                </a:cxn>
                <a:cxn ang="0">
                  <a:pos x="10" y="22"/>
                </a:cxn>
                <a:cxn ang="0">
                  <a:pos x="18" y="34"/>
                </a:cxn>
                <a:cxn ang="0">
                  <a:pos x="30" y="46"/>
                </a:cxn>
                <a:cxn ang="0">
                  <a:pos x="30" y="46"/>
                </a:cxn>
              </a:cxnLst>
              <a:rect l="0" t="0" r="r" b="b"/>
              <a:pathLst>
                <a:path w="76" h="76">
                  <a:moveTo>
                    <a:pt x="30" y="46"/>
                  </a:moveTo>
                  <a:lnTo>
                    <a:pt x="30" y="46"/>
                  </a:lnTo>
                  <a:lnTo>
                    <a:pt x="42" y="56"/>
                  </a:lnTo>
                  <a:lnTo>
                    <a:pt x="54" y="66"/>
                  </a:lnTo>
                  <a:lnTo>
                    <a:pt x="66" y="72"/>
                  </a:lnTo>
                  <a:lnTo>
                    <a:pt x="76" y="76"/>
                  </a:lnTo>
                  <a:lnTo>
                    <a:pt x="76" y="76"/>
                  </a:lnTo>
                  <a:lnTo>
                    <a:pt x="72" y="66"/>
                  </a:lnTo>
                  <a:lnTo>
                    <a:pt x="66" y="54"/>
                  </a:lnTo>
                  <a:lnTo>
                    <a:pt x="56" y="42"/>
                  </a:lnTo>
                  <a:lnTo>
                    <a:pt x="46" y="30"/>
                  </a:lnTo>
                  <a:lnTo>
                    <a:pt x="46" y="30"/>
                  </a:lnTo>
                  <a:lnTo>
                    <a:pt x="34" y="18"/>
                  </a:lnTo>
                  <a:lnTo>
                    <a:pt x="22" y="10"/>
                  </a:lnTo>
                  <a:lnTo>
                    <a:pt x="10" y="4"/>
                  </a:lnTo>
                  <a:lnTo>
                    <a:pt x="0" y="0"/>
                  </a:lnTo>
                  <a:lnTo>
                    <a:pt x="0" y="0"/>
                  </a:lnTo>
                  <a:lnTo>
                    <a:pt x="4" y="10"/>
                  </a:lnTo>
                  <a:lnTo>
                    <a:pt x="10" y="22"/>
                  </a:lnTo>
                  <a:lnTo>
                    <a:pt x="18" y="34"/>
                  </a:lnTo>
                  <a:lnTo>
                    <a:pt x="30" y="46"/>
                  </a:lnTo>
                  <a:lnTo>
                    <a:pt x="30" y="4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4" name="Freeform 147"/>
            <p:cNvSpPr/>
            <p:nvPr/>
          </p:nvSpPr>
          <p:spPr bwMode="auto">
            <a:xfrm>
              <a:off x="4235450" y="2616200"/>
              <a:ext cx="346075" cy="768350"/>
            </a:xfrm>
            <a:custGeom>
              <a:avLst/>
              <a:gdLst/>
              <a:ahLst/>
              <a:cxnLst>
                <a:cxn ang="0">
                  <a:pos x="2" y="28"/>
                </a:cxn>
                <a:cxn ang="0">
                  <a:pos x="4" y="50"/>
                </a:cxn>
                <a:cxn ang="0">
                  <a:pos x="22" y="100"/>
                </a:cxn>
                <a:cxn ang="0">
                  <a:pos x="22" y="100"/>
                </a:cxn>
                <a:cxn ang="0">
                  <a:pos x="36" y="134"/>
                </a:cxn>
                <a:cxn ang="0">
                  <a:pos x="46" y="202"/>
                </a:cxn>
                <a:cxn ang="0">
                  <a:pos x="50" y="216"/>
                </a:cxn>
                <a:cxn ang="0">
                  <a:pos x="64" y="252"/>
                </a:cxn>
                <a:cxn ang="0">
                  <a:pos x="92" y="292"/>
                </a:cxn>
                <a:cxn ang="0">
                  <a:pos x="106" y="310"/>
                </a:cxn>
                <a:cxn ang="0">
                  <a:pos x="124" y="348"/>
                </a:cxn>
                <a:cxn ang="0">
                  <a:pos x="134" y="396"/>
                </a:cxn>
                <a:cxn ang="0">
                  <a:pos x="138" y="410"/>
                </a:cxn>
                <a:cxn ang="0">
                  <a:pos x="154" y="448"/>
                </a:cxn>
                <a:cxn ang="0">
                  <a:pos x="170" y="476"/>
                </a:cxn>
                <a:cxn ang="0">
                  <a:pos x="182" y="480"/>
                </a:cxn>
                <a:cxn ang="0">
                  <a:pos x="216" y="456"/>
                </a:cxn>
                <a:cxn ang="0">
                  <a:pos x="214" y="448"/>
                </a:cxn>
                <a:cxn ang="0">
                  <a:pos x="200" y="400"/>
                </a:cxn>
                <a:cxn ang="0">
                  <a:pos x="184" y="374"/>
                </a:cxn>
                <a:cxn ang="0">
                  <a:pos x="170" y="354"/>
                </a:cxn>
                <a:cxn ang="0">
                  <a:pos x="150" y="314"/>
                </a:cxn>
                <a:cxn ang="0">
                  <a:pos x="140" y="272"/>
                </a:cxn>
                <a:cxn ang="0">
                  <a:pos x="138" y="248"/>
                </a:cxn>
                <a:cxn ang="0">
                  <a:pos x="124" y="200"/>
                </a:cxn>
                <a:cxn ang="0">
                  <a:pos x="110" y="176"/>
                </a:cxn>
                <a:cxn ang="0">
                  <a:pos x="90" y="148"/>
                </a:cxn>
                <a:cxn ang="0">
                  <a:pos x="62" y="104"/>
                </a:cxn>
                <a:cxn ang="0">
                  <a:pos x="54" y="86"/>
                </a:cxn>
                <a:cxn ang="0">
                  <a:pos x="32" y="40"/>
                </a:cxn>
                <a:cxn ang="0">
                  <a:pos x="20" y="22"/>
                </a:cxn>
                <a:cxn ang="0">
                  <a:pos x="2" y="28"/>
                </a:cxn>
              </a:cxnLst>
              <a:rect l="0" t="0" r="r" b="b"/>
              <a:pathLst>
                <a:path w="218" h="484">
                  <a:moveTo>
                    <a:pt x="2" y="28"/>
                  </a:moveTo>
                  <a:lnTo>
                    <a:pt x="2" y="28"/>
                  </a:lnTo>
                  <a:lnTo>
                    <a:pt x="2" y="36"/>
                  </a:lnTo>
                  <a:lnTo>
                    <a:pt x="4" y="50"/>
                  </a:lnTo>
                  <a:lnTo>
                    <a:pt x="12" y="74"/>
                  </a:lnTo>
                  <a:lnTo>
                    <a:pt x="22" y="100"/>
                  </a:lnTo>
                  <a:lnTo>
                    <a:pt x="22" y="100"/>
                  </a:lnTo>
                  <a:lnTo>
                    <a:pt x="22" y="100"/>
                  </a:lnTo>
                  <a:lnTo>
                    <a:pt x="30" y="118"/>
                  </a:lnTo>
                  <a:lnTo>
                    <a:pt x="36" y="134"/>
                  </a:lnTo>
                  <a:lnTo>
                    <a:pt x="42" y="170"/>
                  </a:lnTo>
                  <a:lnTo>
                    <a:pt x="46" y="202"/>
                  </a:lnTo>
                  <a:lnTo>
                    <a:pt x="46" y="202"/>
                  </a:lnTo>
                  <a:lnTo>
                    <a:pt x="50" y="216"/>
                  </a:lnTo>
                  <a:lnTo>
                    <a:pt x="54" y="228"/>
                  </a:lnTo>
                  <a:lnTo>
                    <a:pt x="64" y="252"/>
                  </a:lnTo>
                  <a:lnTo>
                    <a:pt x="78" y="272"/>
                  </a:lnTo>
                  <a:lnTo>
                    <a:pt x="92" y="292"/>
                  </a:lnTo>
                  <a:lnTo>
                    <a:pt x="106" y="310"/>
                  </a:lnTo>
                  <a:lnTo>
                    <a:pt x="106" y="310"/>
                  </a:lnTo>
                  <a:lnTo>
                    <a:pt x="116" y="328"/>
                  </a:lnTo>
                  <a:lnTo>
                    <a:pt x="124" y="348"/>
                  </a:lnTo>
                  <a:lnTo>
                    <a:pt x="130" y="370"/>
                  </a:lnTo>
                  <a:lnTo>
                    <a:pt x="134" y="396"/>
                  </a:lnTo>
                  <a:lnTo>
                    <a:pt x="134" y="396"/>
                  </a:lnTo>
                  <a:lnTo>
                    <a:pt x="138" y="410"/>
                  </a:lnTo>
                  <a:lnTo>
                    <a:pt x="142" y="424"/>
                  </a:lnTo>
                  <a:lnTo>
                    <a:pt x="154" y="448"/>
                  </a:lnTo>
                  <a:lnTo>
                    <a:pt x="164" y="466"/>
                  </a:lnTo>
                  <a:lnTo>
                    <a:pt x="170" y="476"/>
                  </a:lnTo>
                  <a:lnTo>
                    <a:pt x="174" y="484"/>
                  </a:lnTo>
                  <a:lnTo>
                    <a:pt x="182" y="480"/>
                  </a:lnTo>
                  <a:lnTo>
                    <a:pt x="218" y="466"/>
                  </a:lnTo>
                  <a:lnTo>
                    <a:pt x="216" y="456"/>
                  </a:lnTo>
                  <a:lnTo>
                    <a:pt x="216" y="456"/>
                  </a:lnTo>
                  <a:lnTo>
                    <a:pt x="214" y="448"/>
                  </a:lnTo>
                  <a:lnTo>
                    <a:pt x="208" y="426"/>
                  </a:lnTo>
                  <a:lnTo>
                    <a:pt x="200" y="400"/>
                  </a:lnTo>
                  <a:lnTo>
                    <a:pt x="192" y="388"/>
                  </a:lnTo>
                  <a:lnTo>
                    <a:pt x="184" y="374"/>
                  </a:lnTo>
                  <a:lnTo>
                    <a:pt x="184" y="374"/>
                  </a:lnTo>
                  <a:lnTo>
                    <a:pt x="170" y="354"/>
                  </a:lnTo>
                  <a:lnTo>
                    <a:pt x="158" y="334"/>
                  </a:lnTo>
                  <a:lnTo>
                    <a:pt x="150" y="314"/>
                  </a:lnTo>
                  <a:lnTo>
                    <a:pt x="144" y="294"/>
                  </a:lnTo>
                  <a:lnTo>
                    <a:pt x="140" y="272"/>
                  </a:lnTo>
                  <a:lnTo>
                    <a:pt x="140" y="272"/>
                  </a:lnTo>
                  <a:lnTo>
                    <a:pt x="138" y="248"/>
                  </a:lnTo>
                  <a:lnTo>
                    <a:pt x="132" y="224"/>
                  </a:lnTo>
                  <a:lnTo>
                    <a:pt x="124" y="200"/>
                  </a:lnTo>
                  <a:lnTo>
                    <a:pt x="118" y="188"/>
                  </a:lnTo>
                  <a:lnTo>
                    <a:pt x="110" y="176"/>
                  </a:lnTo>
                  <a:lnTo>
                    <a:pt x="90" y="148"/>
                  </a:lnTo>
                  <a:lnTo>
                    <a:pt x="90" y="148"/>
                  </a:lnTo>
                  <a:lnTo>
                    <a:pt x="70" y="120"/>
                  </a:lnTo>
                  <a:lnTo>
                    <a:pt x="62" y="104"/>
                  </a:lnTo>
                  <a:lnTo>
                    <a:pt x="54" y="86"/>
                  </a:lnTo>
                  <a:lnTo>
                    <a:pt x="54" y="86"/>
                  </a:lnTo>
                  <a:lnTo>
                    <a:pt x="44" y="60"/>
                  </a:lnTo>
                  <a:lnTo>
                    <a:pt x="32" y="40"/>
                  </a:lnTo>
                  <a:lnTo>
                    <a:pt x="24" y="26"/>
                  </a:lnTo>
                  <a:lnTo>
                    <a:pt x="20" y="22"/>
                  </a:lnTo>
                  <a:lnTo>
                    <a:pt x="0" y="0"/>
                  </a:lnTo>
                  <a:lnTo>
                    <a:pt x="2" y="2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5" name="Freeform 148"/>
            <p:cNvSpPr/>
            <p:nvPr/>
          </p:nvSpPr>
          <p:spPr bwMode="auto">
            <a:xfrm>
              <a:off x="4254500" y="2660650"/>
              <a:ext cx="307975" cy="701675"/>
            </a:xfrm>
            <a:custGeom>
              <a:avLst/>
              <a:gdLst/>
              <a:ahLst/>
              <a:cxnLst>
                <a:cxn ang="0">
                  <a:pos x="194" y="430"/>
                </a:cxn>
                <a:cxn ang="0">
                  <a:pos x="194" y="430"/>
                </a:cxn>
                <a:cxn ang="0">
                  <a:pos x="192" y="422"/>
                </a:cxn>
                <a:cxn ang="0">
                  <a:pos x="188" y="402"/>
                </a:cxn>
                <a:cxn ang="0">
                  <a:pos x="178" y="378"/>
                </a:cxn>
                <a:cxn ang="0">
                  <a:pos x="172" y="366"/>
                </a:cxn>
                <a:cxn ang="0">
                  <a:pos x="164" y="354"/>
                </a:cxn>
                <a:cxn ang="0">
                  <a:pos x="164" y="354"/>
                </a:cxn>
                <a:cxn ang="0">
                  <a:pos x="150" y="332"/>
                </a:cxn>
                <a:cxn ang="0">
                  <a:pos x="138" y="312"/>
                </a:cxn>
                <a:cxn ang="0">
                  <a:pos x="128" y="290"/>
                </a:cxn>
                <a:cxn ang="0">
                  <a:pos x="122" y="268"/>
                </a:cxn>
                <a:cxn ang="0">
                  <a:pos x="122" y="268"/>
                </a:cxn>
                <a:cxn ang="0">
                  <a:pos x="118" y="242"/>
                </a:cxn>
                <a:cxn ang="0">
                  <a:pos x="114" y="212"/>
                </a:cxn>
                <a:cxn ang="0">
                  <a:pos x="110" y="198"/>
                </a:cxn>
                <a:cxn ang="0">
                  <a:pos x="106" y="182"/>
                </a:cxn>
                <a:cxn ang="0">
                  <a:pos x="98" y="168"/>
                </a:cxn>
                <a:cxn ang="0">
                  <a:pos x="90" y="154"/>
                </a:cxn>
                <a:cxn ang="0">
                  <a:pos x="90" y="154"/>
                </a:cxn>
                <a:cxn ang="0">
                  <a:pos x="56" y="108"/>
                </a:cxn>
                <a:cxn ang="0">
                  <a:pos x="44" y="88"/>
                </a:cxn>
                <a:cxn ang="0">
                  <a:pos x="32" y="62"/>
                </a:cxn>
                <a:cxn ang="0">
                  <a:pos x="32" y="62"/>
                </a:cxn>
                <a:cxn ang="0">
                  <a:pos x="22" y="36"/>
                </a:cxn>
                <a:cxn ang="0">
                  <a:pos x="12" y="18"/>
                </a:cxn>
                <a:cxn ang="0">
                  <a:pos x="0" y="0"/>
                </a:cxn>
                <a:cxn ang="0">
                  <a:pos x="0" y="0"/>
                </a:cxn>
                <a:cxn ang="0">
                  <a:pos x="0" y="0"/>
                </a:cxn>
                <a:cxn ang="0">
                  <a:pos x="2" y="20"/>
                </a:cxn>
                <a:cxn ang="0">
                  <a:pos x="8" y="42"/>
                </a:cxn>
                <a:cxn ang="0">
                  <a:pos x="20" y="68"/>
                </a:cxn>
                <a:cxn ang="0">
                  <a:pos x="20" y="68"/>
                </a:cxn>
                <a:cxn ang="0">
                  <a:pos x="30" y="92"/>
                </a:cxn>
                <a:cxn ang="0">
                  <a:pos x="36" y="116"/>
                </a:cxn>
                <a:cxn ang="0">
                  <a:pos x="44" y="172"/>
                </a:cxn>
                <a:cxn ang="0">
                  <a:pos x="44" y="172"/>
                </a:cxn>
                <a:cxn ang="0">
                  <a:pos x="48" y="188"/>
                </a:cxn>
                <a:cxn ang="0">
                  <a:pos x="54" y="204"/>
                </a:cxn>
                <a:cxn ang="0">
                  <a:pos x="62" y="218"/>
                </a:cxn>
                <a:cxn ang="0">
                  <a:pos x="70" y="232"/>
                </a:cxn>
                <a:cxn ang="0">
                  <a:pos x="86" y="256"/>
                </a:cxn>
                <a:cxn ang="0">
                  <a:pos x="102" y="276"/>
                </a:cxn>
                <a:cxn ang="0">
                  <a:pos x="102" y="276"/>
                </a:cxn>
                <a:cxn ang="0">
                  <a:pos x="114" y="296"/>
                </a:cxn>
                <a:cxn ang="0">
                  <a:pos x="122" y="318"/>
                </a:cxn>
                <a:cxn ang="0">
                  <a:pos x="128" y="340"/>
                </a:cxn>
                <a:cxn ang="0">
                  <a:pos x="132" y="366"/>
                </a:cxn>
                <a:cxn ang="0">
                  <a:pos x="132" y="366"/>
                </a:cxn>
                <a:cxn ang="0">
                  <a:pos x="136" y="380"/>
                </a:cxn>
                <a:cxn ang="0">
                  <a:pos x="140" y="394"/>
                </a:cxn>
                <a:cxn ang="0">
                  <a:pos x="152" y="418"/>
                </a:cxn>
                <a:cxn ang="0">
                  <a:pos x="162" y="434"/>
                </a:cxn>
                <a:cxn ang="0">
                  <a:pos x="166" y="442"/>
                </a:cxn>
                <a:cxn ang="0">
                  <a:pos x="194" y="430"/>
                </a:cxn>
              </a:cxnLst>
              <a:rect l="0" t="0" r="r" b="b"/>
              <a:pathLst>
                <a:path w="194" h="442">
                  <a:moveTo>
                    <a:pt x="194" y="430"/>
                  </a:moveTo>
                  <a:lnTo>
                    <a:pt x="194" y="430"/>
                  </a:lnTo>
                  <a:lnTo>
                    <a:pt x="192" y="422"/>
                  </a:lnTo>
                  <a:lnTo>
                    <a:pt x="188" y="402"/>
                  </a:lnTo>
                  <a:lnTo>
                    <a:pt x="178" y="378"/>
                  </a:lnTo>
                  <a:lnTo>
                    <a:pt x="172" y="366"/>
                  </a:lnTo>
                  <a:lnTo>
                    <a:pt x="164" y="354"/>
                  </a:lnTo>
                  <a:lnTo>
                    <a:pt x="164" y="354"/>
                  </a:lnTo>
                  <a:lnTo>
                    <a:pt x="150" y="332"/>
                  </a:lnTo>
                  <a:lnTo>
                    <a:pt x="138" y="312"/>
                  </a:lnTo>
                  <a:lnTo>
                    <a:pt x="128" y="290"/>
                  </a:lnTo>
                  <a:lnTo>
                    <a:pt x="122" y="268"/>
                  </a:lnTo>
                  <a:lnTo>
                    <a:pt x="122" y="268"/>
                  </a:lnTo>
                  <a:lnTo>
                    <a:pt x="118" y="242"/>
                  </a:lnTo>
                  <a:lnTo>
                    <a:pt x="114" y="212"/>
                  </a:lnTo>
                  <a:lnTo>
                    <a:pt x="110" y="198"/>
                  </a:lnTo>
                  <a:lnTo>
                    <a:pt x="106" y="182"/>
                  </a:lnTo>
                  <a:lnTo>
                    <a:pt x="98" y="168"/>
                  </a:lnTo>
                  <a:lnTo>
                    <a:pt x="90" y="154"/>
                  </a:lnTo>
                  <a:lnTo>
                    <a:pt x="90" y="154"/>
                  </a:lnTo>
                  <a:lnTo>
                    <a:pt x="56" y="108"/>
                  </a:lnTo>
                  <a:lnTo>
                    <a:pt x="44" y="88"/>
                  </a:lnTo>
                  <a:lnTo>
                    <a:pt x="32" y="62"/>
                  </a:lnTo>
                  <a:lnTo>
                    <a:pt x="32" y="62"/>
                  </a:lnTo>
                  <a:lnTo>
                    <a:pt x="22" y="36"/>
                  </a:lnTo>
                  <a:lnTo>
                    <a:pt x="12" y="18"/>
                  </a:lnTo>
                  <a:lnTo>
                    <a:pt x="0" y="0"/>
                  </a:lnTo>
                  <a:lnTo>
                    <a:pt x="0" y="0"/>
                  </a:lnTo>
                  <a:lnTo>
                    <a:pt x="0" y="0"/>
                  </a:lnTo>
                  <a:lnTo>
                    <a:pt x="2" y="20"/>
                  </a:lnTo>
                  <a:lnTo>
                    <a:pt x="8" y="42"/>
                  </a:lnTo>
                  <a:lnTo>
                    <a:pt x="20" y="68"/>
                  </a:lnTo>
                  <a:lnTo>
                    <a:pt x="20" y="68"/>
                  </a:lnTo>
                  <a:lnTo>
                    <a:pt x="30" y="92"/>
                  </a:lnTo>
                  <a:lnTo>
                    <a:pt x="36" y="116"/>
                  </a:lnTo>
                  <a:lnTo>
                    <a:pt x="44" y="172"/>
                  </a:lnTo>
                  <a:lnTo>
                    <a:pt x="44" y="172"/>
                  </a:lnTo>
                  <a:lnTo>
                    <a:pt x="48" y="188"/>
                  </a:lnTo>
                  <a:lnTo>
                    <a:pt x="54" y="204"/>
                  </a:lnTo>
                  <a:lnTo>
                    <a:pt x="62" y="218"/>
                  </a:lnTo>
                  <a:lnTo>
                    <a:pt x="70" y="232"/>
                  </a:lnTo>
                  <a:lnTo>
                    <a:pt x="86" y="256"/>
                  </a:lnTo>
                  <a:lnTo>
                    <a:pt x="102" y="276"/>
                  </a:lnTo>
                  <a:lnTo>
                    <a:pt x="102" y="276"/>
                  </a:lnTo>
                  <a:lnTo>
                    <a:pt x="114" y="296"/>
                  </a:lnTo>
                  <a:lnTo>
                    <a:pt x="122" y="318"/>
                  </a:lnTo>
                  <a:lnTo>
                    <a:pt x="128" y="340"/>
                  </a:lnTo>
                  <a:lnTo>
                    <a:pt x="132" y="366"/>
                  </a:lnTo>
                  <a:lnTo>
                    <a:pt x="132" y="366"/>
                  </a:lnTo>
                  <a:lnTo>
                    <a:pt x="136" y="380"/>
                  </a:lnTo>
                  <a:lnTo>
                    <a:pt x="140" y="394"/>
                  </a:lnTo>
                  <a:lnTo>
                    <a:pt x="152" y="418"/>
                  </a:lnTo>
                  <a:lnTo>
                    <a:pt x="162" y="434"/>
                  </a:lnTo>
                  <a:lnTo>
                    <a:pt x="166" y="442"/>
                  </a:lnTo>
                  <a:lnTo>
                    <a:pt x="194" y="43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6" name="Freeform 149"/>
            <p:cNvSpPr/>
            <p:nvPr/>
          </p:nvSpPr>
          <p:spPr bwMode="auto">
            <a:xfrm>
              <a:off x="4346575" y="2886075"/>
              <a:ext cx="66675" cy="155575"/>
            </a:xfrm>
            <a:custGeom>
              <a:avLst/>
              <a:gdLst/>
              <a:ahLst/>
              <a:cxnLst>
                <a:cxn ang="0">
                  <a:pos x="10" y="54"/>
                </a:cxn>
                <a:cxn ang="0">
                  <a:pos x="10" y="54"/>
                </a:cxn>
                <a:cxn ang="0">
                  <a:pos x="18" y="68"/>
                </a:cxn>
                <a:cxn ang="0">
                  <a:pos x="26" y="82"/>
                </a:cxn>
                <a:cxn ang="0">
                  <a:pos x="34" y="92"/>
                </a:cxn>
                <a:cxn ang="0">
                  <a:pos x="42" y="98"/>
                </a:cxn>
                <a:cxn ang="0">
                  <a:pos x="42" y="98"/>
                </a:cxn>
                <a:cxn ang="0">
                  <a:pos x="42" y="88"/>
                </a:cxn>
                <a:cxn ang="0">
                  <a:pos x="40" y="76"/>
                </a:cxn>
                <a:cxn ang="0">
                  <a:pos x="36" y="60"/>
                </a:cxn>
                <a:cxn ang="0">
                  <a:pos x="30" y="44"/>
                </a:cxn>
                <a:cxn ang="0">
                  <a:pos x="30" y="44"/>
                </a:cxn>
                <a:cxn ang="0">
                  <a:pos x="24" y="30"/>
                </a:cxn>
                <a:cxn ang="0">
                  <a:pos x="16" y="16"/>
                </a:cxn>
                <a:cxn ang="0">
                  <a:pos x="8" y="6"/>
                </a:cxn>
                <a:cxn ang="0">
                  <a:pos x="0" y="0"/>
                </a:cxn>
                <a:cxn ang="0">
                  <a:pos x="0" y="0"/>
                </a:cxn>
                <a:cxn ang="0">
                  <a:pos x="0" y="10"/>
                </a:cxn>
                <a:cxn ang="0">
                  <a:pos x="2" y="22"/>
                </a:cxn>
                <a:cxn ang="0">
                  <a:pos x="6" y="38"/>
                </a:cxn>
                <a:cxn ang="0">
                  <a:pos x="10" y="54"/>
                </a:cxn>
                <a:cxn ang="0">
                  <a:pos x="10" y="54"/>
                </a:cxn>
              </a:cxnLst>
              <a:rect l="0" t="0" r="r" b="b"/>
              <a:pathLst>
                <a:path w="42" h="98">
                  <a:moveTo>
                    <a:pt x="10" y="54"/>
                  </a:moveTo>
                  <a:lnTo>
                    <a:pt x="10" y="54"/>
                  </a:lnTo>
                  <a:lnTo>
                    <a:pt x="18" y="68"/>
                  </a:lnTo>
                  <a:lnTo>
                    <a:pt x="26" y="82"/>
                  </a:lnTo>
                  <a:lnTo>
                    <a:pt x="34" y="92"/>
                  </a:lnTo>
                  <a:lnTo>
                    <a:pt x="42" y="98"/>
                  </a:lnTo>
                  <a:lnTo>
                    <a:pt x="42" y="98"/>
                  </a:lnTo>
                  <a:lnTo>
                    <a:pt x="42" y="88"/>
                  </a:lnTo>
                  <a:lnTo>
                    <a:pt x="40" y="76"/>
                  </a:lnTo>
                  <a:lnTo>
                    <a:pt x="36" y="60"/>
                  </a:lnTo>
                  <a:lnTo>
                    <a:pt x="30" y="44"/>
                  </a:lnTo>
                  <a:lnTo>
                    <a:pt x="30" y="44"/>
                  </a:lnTo>
                  <a:lnTo>
                    <a:pt x="24" y="30"/>
                  </a:lnTo>
                  <a:lnTo>
                    <a:pt x="16" y="16"/>
                  </a:lnTo>
                  <a:lnTo>
                    <a:pt x="8" y="6"/>
                  </a:lnTo>
                  <a:lnTo>
                    <a:pt x="0" y="0"/>
                  </a:lnTo>
                  <a:lnTo>
                    <a:pt x="0" y="0"/>
                  </a:lnTo>
                  <a:lnTo>
                    <a:pt x="0" y="10"/>
                  </a:lnTo>
                  <a:lnTo>
                    <a:pt x="2" y="22"/>
                  </a:lnTo>
                  <a:lnTo>
                    <a:pt x="6" y="38"/>
                  </a:lnTo>
                  <a:lnTo>
                    <a:pt x="10" y="54"/>
                  </a:lnTo>
                  <a:lnTo>
                    <a:pt x="1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7" name="Freeform 150"/>
            <p:cNvSpPr/>
            <p:nvPr/>
          </p:nvSpPr>
          <p:spPr bwMode="auto">
            <a:xfrm>
              <a:off x="4562475" y="2616200"/>
              <a:ext cx="346075" cy="768350"/>
            </a:xfrm>
            <a:custGeom>
              <a:avLst/>
              <a:gdLst/>
              <a:ahLst/>
              <a:cxnLst>
                <a:cxn ang="0">
                  <a:pos x="198" y="22"/>
                </a:cxn>
                <a:cxn ang="0">
                  <a:pos x="186" y="40"/>
                </a:cxn>
                <a:cxn ang="0">
                  <a:pos x="164" y="86"/>
                </a:cxn>
                <a:cxn ang="0">
                  <a:pos x="164" y="86"/>
                </a:cxn>
                <a:cxn ang="0">
                  <a:pos x="148" y="120"/>
                </a:cxn>
                <a:cxn ang="0">
                  <a:pos x="108" y="176"/>
                </a:cxn>
                <a:cxn ang="0">
                  <a:pos x="100" y="188"/>
                </a:cxn>
                <a:cxn ang="0">
                  <a:pos x="86" y="224"/>
                </a:cxn>
                <a:cxn ang="0">
                  <a:pos x="78" y="272"/>
                </a:cxn>
                <a:cxn ang="0">
                  <a:pos x="74" y="294"/>
                </a:cxn>
                <a:cxn ang="0">
                  <a:pos x="60" y="334"/>
                </a:cxn>
                <a:cxn ang="0">
                  <a:pos x="34" y="374"/>
                </a:cxn>
                <a:cxn ang="0">
                  <a:pos x="26" y="388"/>
                </a:cxn>
                <a:cxn ang="0">
                  <a:pos x="10" y="426"/>
                </a:cxn>
                <a:cxn ang="0">
                  <a:pos x="2" y="456"/>
                </a:cxn>
                <a:cxn ang="0">
                  <a:pos x="8" y="468"/>
                </a:cxn>
                <a:cxn ang="0">
                  <a:pos x="48" y="476"/>
                </a:cxn>
                <a:cxn ang="0">
                  <a:pos x="54" y="468"/>
                </a:cxn>
                <a:cxn ang="0">
                  <a:pos x="76" y="424"/>
                </a:cxn>
                <a:cxn ang="0">
                  <a:pos x="84" y="396"/>
                </a:cxn>
                <a:cxn ang="0">
                  <a:pos x="88" y="370"/>
                </a:cxn>
                <a:cxn ang="0">
                  <a:pos x="102" y="328"/>
                </a:cxn>
                <a:cxn ang="0">
                  <a:pos x="126" y="292"/>
                </a:cxn>
                <a:cxn ang="0">
                  <a:pos x="140" y="272"/>
                </a:cxn>
                <a:cxn ang="0">
                  <a:pos x="164" y="228"/>
                </a:cxn>
                <a:cxn ang="0">
                  <a:pos x="172" y="202"/>
                </a:cxn>
                <a:cxn ang="0">
                  <a:pos x="176" y="170"/>
                </a:cxn>
                <a:cxn ang="0">
                  <a:pos x="182" y="134"/>
                </a:cxn>
                <a:cxn ang="0">
                  <a:pos x="196" y="100"/>
                </a:cxn>
                <a:cxn ang="0">
                  <a:pos x="206" y="74"/>
                </a:cxn>
                <a:cxn ang="0">
                  <a:pos x="216" y="36"/>
                </a:cxn>
                <a:cxn ang="0">
                  <a:pos x="218" y="0"/>
                </a:cxn>
              </a:cxnLst>
              <a:rect l="0" t="0" r="r" b="b"/>
              <a:pathLst>
                <a:path w="218" h="484">
                  <a:moveTo>
                    <a:pt x="198" y="22"/>
                  </a:moveTo>
                  <a:lnTo>
                    <a:pt x="198" y="22"/>
                  </a:lnTo>
                  <a:lnTo>
                    <a:pt x="194" y="26"/>
                  </a:lnTo>
                  <a:lnTo>
                    <a:pt x="186" y="40"/>
                  </a:lnTo>
                  <a:lnTo>
                    <a:pt x="174" y="60"/>
                  </a:lnTo>
                  <a:lnTo>
                    <a:pt x="164" y="86"/>
                  </a:lnTo>
                  <a:lnTo>
                    <a:pt x="164" y="86"/>
                  </a:lnTo>
                  <a:lnTo>
                    <a:pt x="164" y="86"/>
                  </a:lnTo>
                  <a:lnTo>
                    <a:pt x="156" y="104"/>
                  </a:lnTo>
                  <a:lnTo>
                    <a:pt x="148" y="120"/>
                  </a:lnTo>
                  <a:lnTo>
                    <a:pt x="128" y="148"/>
                  </a:lnTo>
                  <a:lnTo>
                    <a:pt x="108" y="176"/>
                  </a:lnTo>
                  <a:lnTo>
                    <a:pt x="108" y="176"/>
                  </a:lnTo>
                  <a:lnTo>
                    <a:pt x="100" y="188"/>
                  </a:lnTo>
                  <a:lnTo>
                    <a:pt x="94" y="200"/>
                  </a:lnTo>
                  <a:lnTo>
                    <a:pt x="86" y="224"/>
                  </a:lnTo>
                  <a:lnTo>
                    <a:pt x="80" y="248"/>
                  </a:lnTo>
                  <a:lnTo>
                    <a:pt x="78" y="272"/>
                  </a:lnTo>
                  <a:lnTo>
                    <a:pt x="74" y="294"/>
                  </a:lnTo>
                  <a:lnTo>
                    <a:pt x="74" y="294"/>
                  </a:lnTo>
                  <a:lnTo>
                    <a:pt x="68" y="314"/>
                  </a:lnTo>
                  <a:lnTo>
                    <a:pt x="60" y="334"/>
                  </a:lnTo>
                  <a:lnTo>
                    <a:pt x="48" y="354"/>
                  </a:lnTo>
                  <a:lnTo>
                    <a:pt x="34" y="374"/>
                  </a:lnTo>
                  <a:lnTo>
                    <a:pt x="34" y="374"/>
                  </a:lnTo>
                  <a:lnTo>
                    <a:pt x="26" y="388"/>
                  </a:lnTo>
                  <a:lnTo>
                    <a:pt x="20" y="400"/>
                  </a:lnTo>
                  <a:lnTo>
                    <a:pt x="10" y="426"/>
                  </a:lnTo>
                  <a:lnTo>
                    <a:pt x="4" y="446"/>
                  </a:lnTo>
                  <a:lnTo>
                    <a:pt x="2" y="456"/>
                  </a:lnTo>
                  <a:lnTo>
                    <a:pt x="0" y="466"/>
                  </a:lnTo>
                  <a:lnTo>
                    <a:pt x="8" y="468"/>
                  </a:lnTo>
                  <a:lnTo>
                    <a:pt x="44" y="484"/>
                  </a:lnTo>
                  <a:lnTo>
                    <a:pt x="48" y="476"/>
                  </a:lnTo>
                  <a:lnTo>
                    <a:pt x="48" y="476"/>
                  </a:lnTo>
                  <a:lnTo>
                    <a:pt x="54" y="468"/>
                  </a:lnTo>
                  <a:lnTo>
                    <a:pt x="64" y="450"/>
                  </a:lnTo>
                  <a:lnTo>
                    <a:pt x="76" y="424"/>
                  </a:lnTo>
                  <a:lnTo>
                    <a:pt x="80" y="410"/>
                  </a:lnTo>
                  <a:lnTo>
                    <a:pt x="84" y="396"/>
                  </a:lnTo>
                  <a:lnTo>
                    <a:pt x="84" y="396"/>
                  </a:lnTo>
                  <a:lnTo>
                    <a:pt x="88" y="370"/>
                  </a:lnTo>
                  <a:lnTo>
                    <a:pt x="94" y="348"/>
                  </a:lnTo>
                  <a:lnTo>
                    <a:pt x="102" y="328"/>
                  </a:lnTo>
                  <a:lnTo>
                    <a:pt x="112" y="310"/>
                  </a:lnTo>
                  <a:lnTo>
                    <a:pt x="126" y="292"/>
                  </a:lnTo>
                  <a:lnTo>
                    <a:pt x="126" y="292"/>
                  </a:lnTo>
                  <a:lnTo>
                    <a:pt x="140" y="272"/>
                  </a:lnTo>
                  <a:lnTo>
                    <a:pt x="154" y="252"/>
                  </a:lnTo>
                  <a:lnTo>
                    <a:pt x="164" y="228"/>
                  </a:lnTo>
                  <a:lnTo>
                    <a:pt x="168" y="216"/>
                  </a:lnTo>
                  <a:lnTo>
                    <a:pt x="172" y="202"/>
                  </a:lnTo>
                  <a:lnTo>
                    <a:pt x="172" y="202"/>
                  </a:lnTo>
                  <a:lnTo>
                    <a:pt x="176" y="170"/>
                  </a:lnTo>
                  <a:lnTo>
                    <a:pt x="176" y="170"/>
                  </a:lnTo>
                  <a:lnTo>
                    <a:pt x="182" y="134"/>
                  </a:lnTo>
                  <a:lnTo>
                    <a:pt x="188" y="118"/>
                  </a:lnTo>
                  <a:lnTo>
                    <a:pt x="196" y="100"/>
                  </a:lnTo>
                  <a:lnTo>
                    <a:pt x="196" y="100"/>
                  </a:lnTo>
                  <a:lnTo>
                    <a:pt x="206" y="74"/>
                  </a:lnTo>
                  <a:lnTo>
                    <a:pt x="214" y="50"/>
                  </a:lnTo>
                  <a:lnTo>
                    <a:pt x="216" y="36"/>
                  </a:lnTo>
                  <a:lnTo>
                    <a:pt x="216" y="28"/>
                  </a:lnTo>
                  <a:lnTo>
                    <a:pt x="218" y="0"/>
                  </a:lnTo>
                  <a:lnTo>
                    <a:pt x="198" y="2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8" name="Freeform 151"/>
            <p:cNvSpPr/>
            <p:nvPr/>
          </p:nvSpPr>
          <p:spPr bwMode="auto">
            <a:xfrm>
              <a:off x="4581525" y="2660650"/>
              <a:ext cx="307975" cy="701675"/>
            </a:xfrm>
            <a:custGeom>
              <a:avLst/>
              <a:gdLst/>
              <a:ahLst/>
              <a:cxnLst>
                <a:cxn ang="0">
                  <a:pos x="28" y="442"/>
                </a:cxn>
                <a:cxn ang="0">
                  <a:pos x="28" y="442"/>
                </a:cxn>
                <a:cxn ang="0">
                  <a:pos x="32" y="434"/>
                </a:cxn>
                <a:cxn ang="0">
                  <a:pos x="42" y="418"/>
                </a:cxn>
                <a:cxn ang="0">
                  <a:pos x="54" y="394"/>
                </a:cxn>
                <a:cxn ang="0">
                  <a:pos x="58" y="380"/>
                </a:cxn>
                <a:cxn ang="0">
                  <a:pos x="62" y="366"/>
                </a:cxn>
                <a:cxn ang="0">
                  <a:pos x="62" y="366"/>
                </a:cxn>
                <a:cxn ang="0">
                  <a:pos x="66" y="340"/>
                </a:cxn>
                <a:cxn ang="0">
                  <a:pos x="72" y="318"/>
                </a:cxn>
                <a:cxn ang="0">
                  <a:pos x="80" y="296"/>
                </a:cxn>
                <a:cxn ang="0">
                  <a:pos x="92" y="276"/>
                </a:cxn>
                <a:cxn ang="0">
                  <a:pos x="92" y="276"/>
                </a:cxn>
                <a:cxn ang="0">
                  <a:pos x="108" y="256"/>
                </a:cxn>
                <a:cxn ang="0">
                  <a:pos x="124" y="232"/>
                </a:cxn>
                <a:cxn ang="0">
                  <a:pos x="132" y="218"/>
                </a:cxn>
                <a:cxn ang="0">
                  <a:pos x="140" y="204"/>
                </a:cxn>
                <a:cxn ang="0">
                  <a:pos x="146" y="188"/>
                </a:cxn>
                <a:cxn ang="0">
                  <a:pos x="150" y="172"/>
                </a:cxn>
                <a:cxn ang="0">
                  <a:pos x="150" y="172"/>
                </a:cxn>
                <a:cxn ang="0">
                  <a:pos x="158" y="116"/>
                </a:cxn>
                <a:cxn ang="0">
                  <a:pos x="164" y="92"/>
                </a:cxn>
                <a:cxn ang="0">
                  <a:pos x="174" y="68"/>
                </a:cxn>
                <a:cxn ang="0">
                  <a:pos x="174" y="68"/>
                </a:cxn>
                <a:cxn ang="0">
                  <a:pos x="186" y="42"/>
                </a:cxn>
                <a:cxn ang="0">
                  <a:pos x="192" y="20"/>
                </a:cxn>
                <a:cxn ang="0">
                  <a:pos x="194" y="0"/>
                </a:cxn>
                <a:cxn ang="0">
                  <a:pos x="194" y="0"/>
                </a:cxn>
                <a:cxn ang="0">
                  <a:pos x="194" y="0"/>
                </a:cxn>
                <a:cxn ang="0">
                  <a:pos x="182" y="18"/>
                </a:cxn>
                <a:cxn ang="0">
                  <a:pos x="172" y="36"/>
                </a:cxn>
                <a:cxn ang="0">
                  <a:pos x="162" y="62"/>
                </a:cxn>
                <a:cxn ang="0">
                  <a:pos x="162" y="62"/>
                </a:cxn>
                <a:cxn ang="0">
                  <a:pos x="150" y="88"/>
                </a:cxn>
                <a:cxn ang="0">
                  <a:pos x="138" y="108"/>
                </a:cxn>
                <a:cxn ang="0">
                  <a:pos x="104" y="154"/>
                </a:cxn>
                <a:cxn ang="0">
                  <a:pos x="104" y="154"/>
                </a:cxn>
                <a:cxn ang="0">
                  <a:pos x="96" y="168"/>
                </a:cxn>
                <a:cxn ang="0">
                  <a:pos x="88" y="182"/>
                </a:cxn>
                <a:cxn ang="0">
                  <a:pos x="84" y="198"/>
                </a:cxn>
                <a:cxn ang="0">
                  <a:pos x="80" y="212"/>
                </a:cxn>
                <a:cxn ang="0">
                  <a:pos x="76" y="242"/>
                </a:cxn>
                <a:cxn ang="0">
                  <a:pos x="72" y="268"/>
                </a:cxn>
                <a:cxn ang="0">
                  <a:pos x="72" y="268"/>
                </a:cxn>
                <a:cxn ang="0">
                  <a:pos x="66" y="290"/>
                </a:cxn>
                <a:cxn ang="0">
                  <a:pos x="56" y="312"/>
                </a:cxn>
                <a:cxn ang="0">
                  <a:pos x="44" y="332"/>
                </a:cxn>
                <a:cxn ang="0">
                  <a:pos x="30" y="354"/>
                </a:cxn>
                <a:cxn ang="0">
                  <a:pos x="30" y="354"/>
                </a:cxn>
                <a:cxn ang="0">
                  <a:pos x="22" y="366"/>
                </a:cxn>
                <a:cxn ang="0">
                  <a:pos x="16" y="378"/>
                </a:cxn>
                <a:cxn ang="0">
                  <a:pos x="6" y="402"/>
                </a:cxn>
                <a:cxn ang="0">
                  <a:pos x="2" y="422"/>
                </a:cxn>
                <a:cxn ang="0">
                  <a:pos x="0" y="430"/>
                </a:cxn>
                <a:cxn ang="0">
                  <a:pos x="28" y="442"/>
                </a:cxn>
              </a:cxnLst>
              <a:rect l="0" t="0" r="r" b="b"/>
              <a:pathLst>
                <a:path w="194" h="442">
                  <a:moveTo>
                    <a:pt x="28" y="442"/>
                  </a:moveTo>
                  <a:lnTo>
                    <a:pt x="28" y="442"/>
                  </a:lnTo>
                  <a:lnTo>
                    <a:pt x="32" y="434"/>
                  </a:lnTo>
                  <a:lnTo>
                    <a:pt x="42" y="418"/>
                  </a:lnTo>
                  <a:lnTo>
                    <a:pt x="54" y="394"/>
                  </a:lnTo>
                  <a:lnTo>
                    <a:pt x="58" y="380"/>
                  </a:lnTo>
                  <a:lnTo>
                    <a:pt x="62" y="366"/>
                  </a:lnTo>
                  <a:lnTo>
                    <a:pt x="62" y="366"/>
                  </a:lnTo>
                  <a:lnTo>
                    <a:pt x="66" y="340"/>
                  </a:lnTo>
                  <a:lnTo>
                    <a:pt x="72" y="318"/>
                  </a:lnTo>
                  <a:lnTo>
                    <a:pt x="80" y="296"/>
                  </a:lnTo>
                  <a:lnTo>
                    <a:pt x="92" y="276"/>
                  </a:lnTo>
                  <a:lnTo>
                    <a:pt x="92" y="276"/>
                  </a:lnTo>
                  <a:lnTo>
                    <a:pt x="108" y="256"/>
                  </a:lnTo>
                  <a:lnTo>
                    <a:pt x="124" y="232"/>
                  </a:lnTo>
                  <a:lnTo>
                    <a:pt x="132" y="218"/>
                  </a:lnTo>
                  <a:lnTo>
                    <a:pt x="140" y="204"/>
                  </a:lnTo>
                  <a:lnTo>
                    <a:pt x="146" y="188"/>
                  </a:lnTo>
                  <a:lnTo>
                    <a:pt x="150" y="172"/>
                  </a:lnTo>
                  <a:lnTo>
                    <a:pt x="150" y="172"/>
                  </a:lnTo>
                  <a:lnTo>
                    <a:pt x="158" y="116"/>
                  </a:lnTo>
                  <a:lnTo>
                    <a:pt x="164" y="92"/>
                  </a:lnTo>
                  <a:lnTo>
                    <a:pt x="174" y="68"/>
                  </a:lnTo>
                  <a:lnTo>
                    <a:pt x="174" y="68"/>
                  </a:lnTo>
                  <a:lnTo>
                    <a:pt x="186" y="42"/>
                  </a:lnTo>
                  <a:lnTo>
                    <a:pt x="192" y="20"/>
                  </a:lnTo>
                  <a:lnTo>
                    <a:pt x="194" y="0"/>
                  </a:lnTo>
                  <a:lnTo>
                    <a:pt x="194" y="0"/>
                  </a:lnTo>
                  <a:lnTo>
                    <a:pt x="194" y="0"/>
                  </a:lnTo>
                  <a:lnTo>
                    <a:pt x="182" y="18"/>
                  </a:lnTo>
                  <a:lnTo>
                    <a:pt x="172" y="36"/>
                  </a:lnTo>
                  <a:lnTo>
                    <a:pt x="162" y="62"/>
                  </a:lnTo>
                  <a:lnTo>
                    <a:pt x="162" y="62"/>
                  </a:lnTo>
                  <a:lnTo>
                    <a:pt x="150" y="88"/>
                  </a:lnTo>
                  <a:lnTo>
                    <a:pt x="138" y="108"/>
                  </a:lnTo>
                  <a:lnTo>
                    <a:pt x="104" y="154"/>
                  </a:lnTo>
                  <a:lnTo>
                    <a:pt x="104" y="154"/>
                  </a:lnTo>
                  <a:lnTo>
                    <a:pt x="96" y="168"/>
                  </a:lnTo>
                  <a:lnTo>
                    <a:pt x="88" y="182"/>
                  </a:lnTo>
                  <a:lnTo>
                    <a:pt x="84" y="198"/>
                  </a:lnTo>
                  <a:lnTo>
                    <a:pt x="80" y="212"/>
                  </a:lnTo>
                  <a:lnTo>
                    <a:pt x="76" y="242"/>
                  </a:lnTo>
                  <a:lnTo>
                    <a:pt x="72" y="268"/>
                  </a:lnTo>
                  <a:lnTo>
                    <a:pt x="72" y="268"/>
                  </a:lnTo>
                  <a:lnTo>
                    <a:pt x="66" y="290"/>
                  </a:lnTo>
                  <a:lnTo>
                    <a:pt x="56" y="312"/>
                  </a:lnTo>
                  <a:lnTo>
                    <a:pt x="44" y="332"/>
                  </a:lnTo>
                  <a:lnTo>
                    <a:pt x="30" y="354"/>
                  </a:lnTo>
                  <a:lnTo>
                    <a:pt x="30" y="354"/>
                  </a:lnTo>
                  <a:lnTo>
                    <a:pt x="22" y="366"/>
                  </a:lnTo>
                  <a:lnTo>
                    <a:pt x="16" y="378"/>
                  </a:lnTo>
                  <a:lnTo>
                    <a:pt x="6" y="402"/>
                  </a:lnTo>
                  <a:lnTo>
                    <a:pt x="2" y="422"/>
                  </a:lnTo>
                  <a:lnTo>
                    <a:pt x="0" y="430"/>
                  </a:lnTo>
                  <a:lnTo>
                    <a:pt x="28" y="44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49" name="Freeform 152"/>
            <p:cNvSpPr/>
            <p:nvPr/>
          </p:nvSpPr>
          <p:spPr bwMode="auto">
            <a:xfrm>
              <a:off x="4730750" y="2886075"/>
              <a:ext cx="66675" cy="155575"/>
            </a:xfrm>
            <a:custGeom>
              <a:avLst/>
              <a:gdLst/>
              <a:ahLst/>
              <a:cxnLst>
                <a:cxn ang="0">
                  <a:pos x="12" y="44"/>
                </a:cxn>
                <a:cxn ang="0">
                  <a:pos x="12" y="44"/>
                </a:cxn>
                <a:cxn ang="0">
                  <a:pos x="6" y="60"/>
                </a:cxn>
                <a:cxn ang="0">
                  <a:pos x="2" y="76"/>
                </a:cxn>
                <a:cxn ang="0">
                  <a:pos x="0" y="88"/>
                </a:cxn>
                <a:cxn ang="0">
                  <a:pos x="0" y="98"/>
                </a:cxn>
                <a:cxn ang="0">
                  <a:pos x="0" y="98"/>
                </a:cxn>
                <a:cxn ang="0">
                  <a:pos x="8" y="92"/>
                </a:cxn>
                <a:cxn ang="0">
                  <a:pos x="16" y="82"/>
                </a:cxn>
                <a:cxn ang="0">
                  <a:pos x="24" y="68"/>
                </a:cxn>
                <a:cxn ang="0">
                  <a:pos x="32" y="54"/>
                </a:cxn>
                <a:cxn ang="0">
                  <a:pos x="32" y="54"/>
                </a:cxn>
                <a:cxn ang="0">
                  <a:pos x="36" y="38"/>
                </a:cxn>
                <a:cxn ang="0">
                  <a:pos x="40" y="22"/>
                </a:cxn>
                <a:cxn ang="0">
                  <a:pos x="42" y="10"/>
                </a:cxn>
                <a:cxn ang="0">
                  <a:pos x="42" y="0"/>
                </a:cxn>
                <a:cxn ang="0">
                  <a:pos x="42" y="0"/>
                </a:cxn>
                <a:cxn ang="0">
                  <a:pos x="34" y="6"/>
                </a:cxn>
                <a:cxn ang="0">
                  <a:pos x="26" y="16"/>
                </a:cxn>
                <a:cxn ang="0">
                  <a:pos x="18" y="30"/>
                </a:cxn>
                <a:cxn ang="0">
                  <a:pos x="12" y="44"/>
                </a:cxn>
                <a:cxn ang="0">
                  <a:pos x="12" y="44"/>
                </a:cxn>
              </a:cxnLst>
              <a:rect l="0" t="0" r="r" b="b"/>
              <a:pathLst>
                <a:path w="42" h="98">
                  <a:moveTo>
                    <a:pt x="12" y="44"/>
                  </a:moveTo>
                  <a:lnTo>
                    <a:pt x="12" y="44"/>
                  </a:lnTo>
                  <a:lnTo>
                    <a:pt x="6" y="60"/>
                  </a:lnTo>
                  <a:lnTo>
                    <a:pt x="2" y="76"/>
                  </a:lnTo>
                  <a:lnTo>
                    <a:pt x="0" y="88"/>
                  </a:lnTo>
                  <a:lnTo>
                    <a:pt x="0" y="98"/>
                  </a:lnTo>
                  <a:lnTo>
                    <a:pt x="0" y="98"/>
                  </a:lnTo>
                  <a:lnTo>
                    <a:pt x="8" y="92"/>
                  </a:lnTo>
                  <a:lnTo>
                    <a:pt x="16" y="82"/>
                  </a:lnTo>
                  <a:lnTo>
                    <a:pt x="24" y="68"/>
                  </a:lnTo>
                  <a:lnTo>
                    <a:pt x="32" y="54"/>
                  </a:lnTo>
                  <a:lnTo>
                    <a:pt x="32" y="54"/>
                  </a:lnTo>
                  <a:lnTo>
                    <a:pt x="36" y="38"/>
                  </a:lnTo>
                  <a:lnTo>
                    <a:pt x="40" y="22"/>
                  </a:lnTo>
                  <a:lnTo>
                    <a:pt x="42" y="10"/>
                  </a:lnTo>
                  <a:lnTo>
                    <a:pt x="42" y="0"/>
                  </a:lnTo>
                  <a:lnTo>
                    <a:pt x="42" y="0"/>
                  </a:lnTo>
                  <a:lnTo>
                    <a:pt x="34" y="6"/>
                  </a:lnTo>
                  <a:lnTo>
                    <a:pt x="26" y="16"/>
                  </a:lnTo>
                  <a:lnTo>
                    <a:pt x="18" y="30"/>
                  </a:lnTo>
                  <a:lnTo>
                    <a:pt x="12" y="44"/>
                  </a:lnTo>
                  <a:lnTo>
                    <a:pt x="1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0" name="Freeform 153"/>
            <p:cNvSpPr/>
            <p:nvPr/>
          </p:nvSpPr>
          <p:spPr bwMode="auto">
            <a:xfrm>
              <a:off x="4616450" y="3092450"/>
              <a:ext cx="768350" cy="346075"/>
            </a:xfrm>
            <a:custGeom>
              <a:avLst/>
              <a:gdLst/>
              <a:ahLst/>
              <a:cxnLst>
                <a:cxn ang="0">
                  <a:pos x="456" y="2"/>
                </a:cxn>
                <a:cxn ang="0">
                  <a:pos x="434" y="4"/>
                </a:cxn>
                <a:cxn ang="0">
                  <a:pos x="384" y="22"/>
                </a:cxn>
                <a:cxn ang="0">
                  <a:pos x="384" y="22"/>
                </a:cxn>
                <a:cxn ang="0">
                  <a:pos x="350" y="36"/>
                </a:cxn>
                <a:cxn ang="0">
                  <a:pos x="282" y="46"/>
                </a:cxn>
                <a:cxn ang="0">
                  <a:pos x="268" y="50"/>
                </a:cxn>
                <a:cxn ang="0">
                  <a:pos x="232" y="64"/>
                </a:cxn>
                <a:cxn ang="0">
                  <a:pos x="192" y="92"/>
                </a:cxn>
                <a:cxn ang="0">
                  <a:pos x="174" y="106"/>
                </a:cxn>
                <a:cxn ang="0">
                  <a:pos x="136" y="124"/>
                </a:cxn>
                <a:cxn ang="0">
                  <a:pos x="88" y="134"/>
                </a:cxn>
                <a:cxn ang="0">
                  <a:pos x="74" y="138"/>
                </a:cxn>
                <a:cxn ang="0">
                  <a:pos x="36" y="154"/>
                </a:cxn>
                <a:cxn ang="0">
                  <a:pos x="8" y="170"/>
                </a:cxn>
                <a:cxn ang="0">
                  <a:pos x="4" y="182"/>
                </a:cxn>
                <a:cxn ang="0">
                  <a:pos x="28" y="216"/>
                </a:cxn>
                <a:cxn ang="0">
                  <a:pos x="36" y="214"/>
                </a:cxn>
                <a:cxn ang="0">
                  <a:pos x="84" y="200"/>
                </a:cxn>
                <a:cxn ang="0">
                  <a:pos x="110" y="184"/>
                </a:cxn>
                <a:cxn ang="0">
                  <a:pos x="130" y="170"/>
                </a:cxn>
                <a:cxn ang="0">
                  <a:pos x="170" y="150"/>
                </a:cxn>
                <a:cxn ang="0">
                  <a:pos x="212" y="140"/>
                </a:cxn>
                <a:cxn ang="0">
                  <a:pos x="236" y="138"/>
                </a:cxn>
                <a:cxn ang="0">
                  <a:pos x="284" y="124"/>
                </a:cxn>
                <a:cxn ang="0">
                  <a:pos x="308" y="110"/>
                </a:cxn>
                <a:cxn ang="0">
                  <a:pos x="336" y="90"/>
                </a:cxn>
                <a:cxn ang="0">
                  <a:pos x="380" y="62"/>
                </a:cxn>
                <a:cxn ang="0">
                  <a:pos x="398" y="54"/>
                </a:cxn>
                <a:cxn ang="0">
                  <a:pos x="444" y="32"/>
                </a:cxn>
                <a:cxn ang="0">
                  <a:pos x="462" y="20"/>
                </a:cxn>
                <a:cxn ang="0">
                  <a:pos x="456" y="2"/>
                </a:cxn>
              </a:cxnLst>
              <a:rect l="0" t="0" r="r" b="b"/>
              <a:pathLst>
                <a:path w="484" h="218">
                  <a:moveTo>
                    <a:pt x="456" y="2"/>
                  </a:moveTo>
                  <a:lnTo>
                    <a:pt x="456" y="2"/>
                  </a:lnTo>
                  <a:lnTo>
                    <a:pt x="448" y="2"/>
                  </a:lnTo>
                  <a:lnTo>
                    <a:pt x="434" y="4"/>
                  </a:lnTo>
                  <a:lnTo>
                    <a:pt x="410" y="12"/>
                  </a:lnTo>
                  <a:lnTo>
                    <a:pt x="384" y="22"/>
                  </a:lnTo>
                  <a:lnTo>
                    <a:pt x="384" y="22"/>
                  </a:lnTo>
                  <a:lnTo>
                    <a:pt x="384" y="22"/>
                  </a:lnTo>
                  <a:lnTo>
                    <a:pt x="366" y="30"/>
                  </a:lnTo>
                  <a:lnTo>
                    <a:pt x="350" y="36"/>
                  </a:lnTo>
                  <a:lnTo>
                    <a:pt x="314" y="42"/>
                  </a:lnTo>
                  <a:lnTo>
                    <a:pt x="282" y="46"/>
                  </a:lnTo>
                  <a:lnTo>
                    <a:pt x="282" y="46"/>
                  </a:lnTo>
                  <a:lnTo>
                    <a:pt x="268" y="50"/>
                  </a:lnTo>
                  <a:lnTo>
                    <a:pt x="256" y="54"/>
                  </a:lnTo>
                  <a:lnTo>
                    <a:pt x="232" y="64"/>
                  </a:lnTo>
                  <a:lnTo>
                    <a:pt x="212" y="78"/>
                  </a:lnTo>
                  <a:lnTo>
                    <a:pt x="192" y="92"/>
                  </a:lnTo>
                  <a:lnTo>
                    <a:pt x="174" y="106"/>
                  </a:lnTo>
                  <a:lnTo>
                    <a:pt x="174" y="106"/>
                  </a:lnTo>
                  <a:lnTo>
                    <a:pt x="156" y="116"/>
                  </a:lnTo>
                  <a:lnTo>
                    <a:pt x="136" y="124"/>
                  </a:lnTo>
                  <a:lnTo>
                    <a:pt x="114" y="130"/>
                  </a:lnTo>
                  <a:lnTo>
                    <a:pt x="88" y="134"/>
                  </a:lnTo>
                  <a:lnTo>
                    <a:pt x="88" y="134"/>
                  </a:lnTo>
                  <a:lnTo>
                    <a:pt x="74" y="138"/>
                  </a:lnTo>
                  <a:lnTo>
                    <a:pt x="60" y="142"/>
                  </a:lnTo>
                  <a:lnTo>
                    <a:pt x="36" y="154"/>
                  </a:lnTo>
                  <a:lnTo>
                    <a:pt x="18" y="164"/>
                  </a:lnTo>
                  <a:lnTo>
                    <a:pt x="8" y="170"/>
                  </a:lnTo>
                  <a:lnTo>
                    <a:pt x="0" y="174"/>
                  </a:lnTo>
                  <a:lnTo>
                    <a:pt x="4" y="182"/>
                  </a:lnTo>
                  <a:lnTo>
                    <a:pt x="18" y="218"/>
                  </a:lnTo>
                  <a:lnTo>
                    <a:pt x="28" y="216"/>
                  </a:lnTo>
                  <a:lnTo>
                    <a:pt x="28" y="216"/>
                  </a:lnTo>
                  <a:lnTo>
                    <a:pt x="36" y="214"/>
                  </a:lnTo>
                  <a:lnTo>
                    <a:pt x="56" y="208"/>
                  </a:lnTo>
                  <a:lnTo>
                    <a:pt x="84" y="200"/>
                  </a:lnTo>
                  <a:lnTo>
                    <a:pt x="96" y="192"/>
                  </a:lnTo>
                  <a:lnTo>
                    <a:pt x="110" y="184"/>
                  </a:lnTo>
                  <a:lnTo>
                    <a:pt x="110" y="184"/>
                  </a:lnTo>
                  <a:lnTo>
                    <a:pt x="130" y="170"/>
                  </a:lnTo>
                  <a:lnTo>
                    <a:pt x="150" y="158"/>
                  </a:lnTo>
                  <a:lnTo>
                    <a:pt x="170" y="150"/>
                  </a:lnTo>
                  <a:lnTo>
                    <a:pt x="190" y="144"/>
                  </a:lnTo>
                  <a:lnTo>
                    <a:pt x="212" y="140"/>
                  </a:lnTo>
                  <a:lnTo>
                    <a:pt x="212" y="140"/>
                  </a:lnTo>
                  <a:lnTo>
                    <a:pt x="236" y="138"/>
                  </a:lnTo>
                  <a:lnTo>
                    <a:pt x="260" y="132"/>
                  </a:lnTo>
                  <a:lnTo>
                    <a:pt x="284" y="124"/>
                  </a:lnTo>
                  <a:lnTo>
                    <a:pt x="296" y="118"/>
                  </a:lnTo>
                  <a:lnTo>
                    <a:pt x="308" y="110"/>
                  </a:lnTo>
                  <a:lnTo>
                    <a:pt x="336" y="90"/>
                  </a:lnTo>
                  <a:lnTo>
                    <a:pt x="336" y="90"/>
                  </a:lnTo>
                  <a:lnTo>
                    <a:pt x="364" y="70"/>
                  </a:lnTo>
                  <a:lnTo>
                    <a:pt x="380" y="62"/>
                  </a:lnTo>
                  <a:lnTo>
                    <a:pt x="398" y="54"/>
                  </a:lnTo>
                  <a:lnTo>
                    <a:pt x="398" y="54"/>
                  </a:lnTo>
                  <a:lnTo>
                    <a:pt x="424" y="44"/>
                  </a:lnTo>
                  <a:lnTo>
                    <a:pt x="444" y="32"/>
                  </a:lnTo>
                  <a:lnTo>
                    <a:pt x="458" y="24"/>
                  </a:lnTo>
                  <a:lnTo>
                    <a:pt x="462" y="20"/>
                  </a:lnTo>
                  <a:lnTo>
                    <a:pt x="484" y="0"/>
                  </a:lnTo>
                  <a:lnTo>
                    <a:pt x="456" y="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1" name="Freeform 154"/>
            <p:cNvSpPr/>
            <p:nvPr/>
          </p:nvSpPr>
          <p:spPr bwMode="auto">
            <a:xfrm>
              <a:off x="4638675" y="3111500"/>
              <a:ext cx="701675" cy="307975"/>
            </a:xfrm>
            <a:custGeom>
              <a:avLst/>
              <a:gdLst/>
              <a:ahLst/>
              <a:cxnLst>
                <a:cxn ang="0">
                  <a:pos x="12" y="194"/>
                </a:cxn>
                <a:cxn ang="0">
                  <a:pos x="12" y="194"/>
                </a:cxn>
                <a:cxn ang="0">
                  <a:pos x="20" y="192"/>
                </a:cxn>
                <a:cxn ang="0">
                  <a:pos x="40" y="188"/>
                </a:cxn>
                <a:cxn ang="0">
                  <a:pos x="64" y="178"/>
                </a:cxn>
                <a:cxn ang="0">
                  <a:pos x="76" y="172"/>
                </a:cxn>
                <a:cxn ang="0">
                  <a:pos x="88" y="164"/>
                </a:cxn>
                <a:cxn ang="0">
                  <a:pos x="88" y="164"/>
                </a:cxn>
                <a:cxn ang="0">
                  <a:pos x="110" y="150"/>
                </a:cxn>
                <a:cxn ang="0">
                  <a:pos x="130" y="138"/>
                </a:cxn>
                <a:cxn ang="0">
                  <a:pos x="152" y="128"/>
                </a:cxn>
                <a:cxn ang="0">
                  <a:pos x="174" y="122"/>
                </a:cxn>
                <a:cxn ang="0">
                  <a:pos x="174" y="122"/>
                </a:cxn>
                <a:cxn ang="0">
                  <a:pos x="200" y="118"/>
                </a:cxn>
                <a:cxn ang="0">
                  <a:pos x="230" y="114"/>
                </a:cxn>
                <a:cxn ang="0">
                  <a:pos x="244" y="110"/>
                </a:cxn>
                <a:cxn ang="0">
                  <a:pos x="260" y="106"/>
                </a:cxn>
                <a:cxn ang="0">
                  <a:pos x="274" y="98"/>
                </a:cxn>
                <a:cxn ang="0">
                  <a:pos x="288" y="90"/>
                </a:cxn>
                <a:cxn ang="0">
                  <a:pos x="288" y="90"/>
                </a:cxn>
                <a:cxn ang="0">
                  <a:pos x="334" y="56"/>
                </a:cxn>
                <a:cxn ang="0">
                  <a:pos x="354" y="44"/>
                </a:cxn>
                <a:cxn ang="0">
                  <a:pos x="380" y="32"/>
                </a:cxn>
                <a:cxn ang="0">
                  <a:pos x="380" y="32"/>
                </a:cxn>
                <a:cxn ang="0">
                  <a:pos x="406" y="22"/>
                </a:cxn>
                <a:cxn ang="0">
                  <a:pos x="424" y="12"/>
                </a:cxn>
                <a:cxn ang="0">
                  <a:pos x="442" y="0"/>
                </a:cxn>
                <a:cxn ang="0">
                  <a:pos x="442" y="0"/>
                </a:cxn>
                <a:cxn ang="0">
                  <a:pos x="442" y="0"/>
                </a:cxn>
                <a:cxn ang="0">
                  <a:pos x="422" y="2"/>
                </a:cxn>
                <a:cxn ang="0">
                  <a:pos x="400" y="8"/>
                </a:cxn>
                <a:cxn ang="0">
                  <a:pos x="374" y="20"/>
                </a:cxn>
                <a:cxn ang="0">
                  <a:pos x="374" y="20"/>
                </a:cxn>
                <a:cxn ang="0">
                  <a:pos x="350" y="30"/>
                </a:cxn>
                <a:cxn ang="0">
                  <a:pos x="326" y="36"/>
                </a:cxn>
                <a:cxn ang="0">
                  <a:pos x="270" y="44"/>
                </a:cxn>
                <a:cxn ang="0">
                  <a:pos x="270" y="44"/>
                </a:cxn>
                <a:cxn ang="0">
                  <a:pos x="254" y="48"/>
                </a:cxn>
                <a:cxn ang="0">
                  <a:pos x="238" y="54"/>
                </a:cxn>
                <a:cxn ang="0">
                  <a:pos x="224" y="62"/>
                </a:cxn>
                <a:cxn ang="0">
                  <a:pos x="210" y="70"/>
                </a:cxn>
                <a:cxn ang="0">
                  <a:pos x="186" y="86"/>
                </a:cxn>
                <a:cxn ang="0">
                  <a:pos x="166" y="102"/>
                </a:cxn>
                <a:cxn ang="0">
                  <a:pos x="166" y="102"/>
                </a:cxn>
                <a:cxn ang="0">
                  <a:pos x="146" y="114"/>
                </a:cxn>
                <a:cxn ang="0">
                  <a:pos x="124" y="122"/>
                </a:cxn>
                <a:cxn ang="0">
                  <a:pos x="102" y="128"/>
                </a:cxn>
                <a:cxn ang="0">
                  <a:pos x="76" y="132"/>
                </a:cxn>
                <a:cxn ang="0">
                  <a:pos x="76" y="132"/>
                </a:cxn>
                <a:cxn ang="0">
                  <a:pos x="62" y="136"/>
                </a:cxn>
                <a:cxn ang="0">
                  <a:pos x="48" y="140"/>
                </a:cxn>
                <a:cxn ang="0">
                  <a:pos x="24" y="152"/>
                </a:cxn>
                <a:cxn ang="0">
                  <a:pos x="8" y="162"/>
                </a:cxn>
                <a:cxn ang="0">
                  <a:pos x="0" y="166"/>
                </a:cxn>
                <a:cxn ang="0">
                  <a:pos x="12" y="194"/>
                </a:cxn>
              </a:cxnLst>
              <a:rect l="0" t="0" r="r" b="b"/>
              <a:pathLst>
                <a:path w="442" h="194">
                  <a:moveTo>
                    <a:pt x="12" y="194"/>
                  </a:moveTo>
                  <a:lnTo>
                    <a:pt x="12" y="194"/>
                  </a:lnTo>
                  <a:lnTo>
                    <a:pt x="20" y="192"/>
                  </a:lnTo>
                  <a:lnTo>
                    <a:pt x="40" y="188"/>
                  </a:lnTo>
                  <a:lnTo>
                    <a:pt x="64" y="178"/>
                  </a:lnTo>
                  <a:lnTo>
                    <a:pt x="76" y="172"/>
                  </a:lnTo>
                  <a:lnTo>
                    <a:pt x="88" y="164"/>
                  </a:lnTo>
                  <a:lnTo>
                    <a:pt x="88" y="164"/>
                  </a:lnTo>
                  <a:lnTo>
                    <a:pt x="110" y="150"/>
                  </a:lnTo>
                  <a:lnTo>
                    <a:pt x="130" y="138"/>
                  </a:lnTo>
                  <a:lnTo>
                    <a:pt x="152" y="128"/>
                  </a:lnTo>
                  <a:lnTo>
                    <a:pt x="174" y="122"/>
                  </a:lnTo>
                  <a:lnTo>
                    <a:pt x="174" y="122"/>
                  </a:lnTo>
                  <a:lnTo>
                    <a:pt x="200" y="118"/>
                  </a:lnTo>
                  <a:lnTo>
                    <a:pt x="230" y="114"/>
                  </a:lnTo>
                  <a:lnTo>
                    <a:pt x="244" y="110"/>
                  </a:lnTo>
                  <a:lnTo>
                    <a:pt x="260" y="106"/>
                  </a:lnTo>
                  <a:lnTo>
                    <a:pt x="274" y="98"/>
                  </a:lnTo>
                  <a:lnTo>
                    <a:pt x="288" y="90"/>
                  </a:lnTo>
                  <a:lnTo>
                    <a:pt x="288" y="90"/>
                  </a:lnTo>
                  <a:lnTo>
                    <a:pt x="334" y="56"/>
                  </a:lnTo>
                  <a:lnTo>
                    <a:pt x="354" y="44"/>
                  </a:lnTo>
                  <a:lnTo>
                    <a:pt x="380" y="32"/>
                  </a:lnTo>
                  <a:lnTo>
                    <a:pt x="380" y="32"/>
                  </a:lnTo>
                  <a:lnTo>
                    <a:pt x="406" y="22"/>
                  </a:lnTo>
                  <a:lnTo>
                    <a:pt x="424" y="12"/>
                  </a:lnTo>
                  <a:lnTo>
                    <a:pt x="442" y="0"/>
                  </a:lnTo>
                  <a:lnTo>
                    <a:pt x="442" y="0"/>
                  </a:lnTo>
                  <a:lnTo>
                    <a:pt x="442" y="0"/>
                  </a:lnTo>
                  <a:lnTo>
                    <a:pt x="422" y="2"/>
                  </a:lnTo>
                  <a:lnTo>
                    <a:pt x="400" y="8"/>
                  </a:lnTo>
                  <a:lnTo>
                    <a:pt x="374" y="20"/>
                  </a:lnTo>
                  <a:lnTo>
                    <a:pt x="374" y="20"/>
                  </a:lnTo>
                  <a:lnTo>
                    <a:pt x="350" y="30"/>
                  </a:lnTo>
                  <a:lnTo>
                    <a:pt x="326" y="36"/>
                  </a:lnTo>
                  <a:lnTo>
                    <a:pt x="270" y="44"/>
                  </a:lnTo>
                  <a:lnTo>
                    <a:pt x="270" y="44"/>
                  </a:lnTo>
                  <a:lnTo>
                    <a:pt x="254" y="48"/>
                  </a:lnTo>
                  <a:lnTo>
                    <a:pt x="238" y="54"/>
                  </a:lnTo>
                  <a:lnTo>
                    <a:pt x="224" y="62"/>
                  </a:lnTo>
                  <a:lnTo>
                    <a:pt x="210" y="70"/>
                  </a:lnTo>
                  <a:lnTo>
                    <a:pt x="186" y="86"/>
                  </a:lnTo>
                  <a:lnTo>
                    <a:pt x="166" y="102"/>
                  </a:lnTo>
                  <a:lnTo>
                    <a:pt x="166" y="102"/>
                  </a:lnTo>
                  <a:lnTo>
                    <a:pt x="146" y="114"/>
                  </a:lnTo>
                  <a:lnTo>
                    <a:pt x="124" y="122"/>
                  </a:lnTo>
                  <a:lnTo>
                    <a:pt x="102" y="128"/>
                  </a:lnTo>
                  <a:lnTo>
                    <a:pt x="76" y="132"/>
                  </a:lnTo>
                  <a:lnTo>
                    <a:pt x="76" y="132"/>
                  </a:lnTo>
                  <a:lnTo>
                    <a:pt x="62" y="136"/>
                  </a:lnTo>
                  <a:lnTo>
                    <a:pt x="48" y="140"/>
                  </a:lnTo>
                  <a:lnTo>
                    <a:pt x="24" y="152"/>
                  </a:lnTo>
                  <a:lnTo>
                    <a:pt x="8" y="162"/>
                  </a:lnTo>
                  <a:lnTo>
                    <a:pt x="0" y="166"/>
                  </a:lnTo>
                  <a:lnTo>
                    <a:pt x="12" y="194"/>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2" name="Freeform 155"/>
            <p:cNvSpPr/>
            <p:nvPr/>
          </p:nvSpPr>
          <p:spPr bwMode="auto">
            <a:xfrm>
              <a:off x="4959350" y="3203575"/>
              <a:ext cx="155575" cy="66675"/>
            </a:xfrm>
            <a:custGeom>
              <a:avLst/>
              <a:gdLst/>
              <a:ahLst/>
              <a:cxnLst>
                <a:cxn ang="0">
                  <a:pos x="44" y="10"/>
                </a:cxn>
                <a:cxn ang="0">
                  <a:pos x="44" y="10"/>
                </a:cxn>
                <a:cxn ang="0">
                  <a:pos x="30" y="18"/>
                </a:cxn>
                <a:cxn ang="0">
                  <a:pos x="16" y="26"/>
                </a:cxn>
                <a:cxn ang="0">
                  <a:pos x="6" y="34"/>
                </a:cxn>
                <a:cxn ang="0">
                  <a:pos x="0" y="42"/>
                </a:cxn>
                <a:cxn ang="0">
                  <a:pos x="0" y="42"/>
                </a:cxn>
                <a:cxn ang="0">
                  <a:pos x="10" y="42"/>
                </a:cxn>
                <a:cxn ang="0">
                  <a:pos x="22" y="40"/>
                </a:cxn>
                <a:cxn ang="0">
                  <a:pos x="38" y="36"/>
                </a:cxn>
                <a:cxn ang="0">
                  <a:pos x="54" y="30"/>
                </a:cxn>
                <a:cxn ang="0">
                  <a:pos x="54" y="30"/>
                </a:cxn>
                <a:cxn ang="0">
                  <a:pos x="68" y="24"/>
                </a:cxn>
                <a:cxn ang="0">
                  <a:pos x="82" y="16"/>
                </a:cxn>
                <a:cxn ang="0">
                  <a:pos x="92" y="8"/>
                </a:cxn>
                <a:cxn ang="0">
                  <a:pos x="98" y="0"/>
                </a:cxn>
                <a:cxn ang="0">
                  <a:pos x="98" y="0"/>
                </a:cxn>
                <a:cxn ang="0">
                  <a:pos x="88" y="0"/>
                </a:cxn>
                <a:cxn ang="0">
                  <a:pos x="76" y="2"/>
                </a:cxn>
                <a:cxn ang="0">
                  <a:pos x="60" y="6"/>
                </a:cxn>
                <a:cxn ang="0">
                  <a:pos x="44" y="10"/>
                </a:cxn>
                <a:cxn ang="0">
                  <a:pos x="44" y="10"/>
                </a:cxn>
              </a:cxnLst>
              <a:rect l="0" t="0" r="r" b="b"/>
              <a:pathLst>
                <a:path w="98" h="42">
                  <a:moveTo>
                    <a:pt x="44" y="10"/>
                  </a:moveTo>
                  <a:lnTo>
                    <a:pt x="44" y="10"/>
                  </a:lnTo>
                  <a:lnTo>
                    <a:pt x="30" y="18"/>
                  </a:lnTo>
                  <a:lnTo>
                    <a:pt x="16" y="26"/>
                  </a:lnTo>
                  <a:lnTo>
                    <a:pt x="6" y="34"/>
                  </a:lnTo>
                  <a:lnTo>
                    <a:pt x="0" y="42"/>
                  </a:lnTo>
                  <a:lnTo>
                    <a:pt x="0" y="42"/>
                  </a:lnTo>
                  <a:lnTo>
                    <a:pt x="10" y="42"/>
                  </a:lnTo>
                  <a:lnTo>
                    <a:pt x="22" y="40"/>
                  </a:lnTo>
                  <a:lnTo>
                    <a:pt x="38" y="36"/>
                  </a:lnTo>
                  <a:lnTo>
                    <a:pt x="54" y="30"/>
                  </a:lnTo>
                  <a:lnTo>
                    <a:pt x="54" y="30"/>
                  </a:lnTo>
                  <a:lnTo>
                    <a:pt x="68" y="24"/>
                  </a:lnTo>
                  <a:lnTo>
                    <a:pt x="82" y="16"/>
                  </a:lnTo>
                  <a:lnTo>
                    <a:pt x="92" y="8"/>
                  </a:lnTo>
                  <a:lnTo>
                    <a:pt x="98" y="0"/>
                  </a:lnTo>
                  <a:lnTo>
                    <a:pt x="98" y="0"/>
                  </a:lnTo>
                  <a:lnTo>
                    <a:pt x="88" y="0"/>
                  </a:lnTo>
                  <a:lnTo>
                    <a:pt x="76" y="2"/>
                  </a:lnTo>
                  <a:lnTo>
                    <a:pt x="60" y="6"/>
                  </a:lnTo>
                  <a:lnTo>
                    <a:pt x="44" y="10"/>
                  </a:lnTo>
                  <a:lnTo>
                    <a:pt x="44" y="1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3" name="Freeform 156"/>
            <p:cNvSpPr/>
            <p:nvPr/>
          </p:nvSpPr>
          <p:spPr bwMode="auto">
            <a:xfrm>
              <a:off x="4616450" y="3419475"/>
              <a:ext cx="768350" cy="346075"/>
            </a:xfrm>
            <a:custGeom>
              <a:avLst/>
              <a:gdLst/>
              <a:ahLst/>
              <a:cxnLst>
                <a:cxn ang="0">
                  <a:pos x="462" y="198"/>
                </a:cxn>
                <a:cxn ang="0">
                  <a:pos x="444" y="186"/>
                </a:cxn>
                <a:cxn ang="0">
                  <a:pos x="398" y="164"/>
                </a:cxn>
                <a:cxn ang="0">
                  <a:pos x="398" y="164"/>
                </a:cxn>
                <a:cxn ang="0">
                  <a:pos x="364" y="148"/>
                </a:cxn>
                <a:cxn ang="0">
                  <a:pos x="308" y="108"/>
                </a:cxn>
                <a:cxn ang="0">
                  <a:pos x="296" y="100"/>
                </a:cxn>
                <a:cxn ang="0">
                  <a:pos x="260" y="86"/>
                </a:cxn>
                <a:cxn ang="0">
                  <a:pos x="212" y="78"/>
                </a:cxn>
                <a:cxn ang="0">
                  <a:pos x="190" y="74"/>
                </a:cxn>
                <a:cxn ang="0">
                  <a:pos x="150" y="60"/>
                </a:cxn>
                <a:cxn ang="0">
                  <a:pos x="110" y="34"/>
                </a:cxn>
                <a:cxn ang="0">
                  <a:pos x="96" y="26"/>
                </a:cxn>
                <a:cxn ang="0">
                  <a:pos x="58" y="10"/>
                </a:cxn>
                <a:cxn ang="0">
                  <a:pos x="28" y="2"/>
                </a:cxn>
                <a:cxn ang="0">
                  <a:pos x="16" y="8"/>
                </a:cxn>
                <a:cxn ang="0">
                  <a:pos x="8" y="48"/>
                </a:cxn>
                <a:cxn ang="0">
                  <a:pos x="16" y="54"/>
                </a:cxn>
                <a:cxn ang="0">
                  <a:pos x="60" y="76"/>
                </a:cxn>
                <a:cxn ang="0">
                  <a:pos x="88" y="84"/>
                </a:cxn>
                <a:cxn ang="0">
                  <a:pos x="114" y="88"/>
                </a:cxn>
                <a:cxn ang="0">
                  <a:pos x="156" y="102"/>
                </a:cxn>
                <a:cxn ang="0">
                  <a:pos x="192" y="126"/>
                </a:cxn>
                <a:cxn ang="0">
                  <a:pos x="212" y="140"/>
                </a:cxn>
                <a:cxn ang="0">
                  <a:pos x="256" y="164"/>
                </a:cxn>
                <a:cxn ang="0">
                  <a:pos x="282" y="172"/>
                </a:cxn>
                <a:cxn ang="0">
                  <a:pos x="314" y="176"/>
                </a:cxn>
                <a:cxn ang="0">
                  <a:pos x="366" y="188"/>
                </a:cxn>
                <a:cxn ang="0">
                  <a:pos x="384" y="196"/>
                </a:cxn>
                <a:cxn ang="0">
                  <a:pos x="434" y="214"/>
                </a:cxn>
                <a:cxn ang="0">
                  <a:pos x="456" y="216"/>
                </a:cxn>
                <a:cxn ang="0">
                  <a:pos x="462" y="198"/>
                </a:cxn>
              </a:cxnLst>
              <a:rect l="0" t="0" r="r" b="b"/>
              <a:pathLst>
                <a:path w="484" h="218">
                  <a:moveTo>
                    <a:pt x="462" y="198"/>
                  </a:moveTo>
                  <a:lnTo>
                    <a:pt x="462" y="198"/>
                  </a:lnTo>
                  <a:lnTo>
                    <a:pt x="458" y="194"/>
                  </a:lnTo>
                  <a:lnTo>
                    <a:pt x="444" y="186"/>
                  </a:lnTo>
                  <a:lnTo>
                    <a:pt x="424" y="174"/>
                  </a:lnTo>
                  <a:lnTo>
                    <a:pt x="398" y="164"/>
                  </a:lnTo>
                  <a:lnTo>
                    <a:pt x="398" y="164"/>
                  </a:lnTo>
                  <a:lnTo>
                    <a:pt x="398" y="164"/>
                  </a:lnTo>
                  <a:lnTo>
                    <a:pt x="380" y="156"/>
                  </a:lnTo>
                  <a:lnTo>
                    <a:pt x="364" y="148"/>
                  </a:lnTo>
                  <a:lnTo>
                    <a:pt x="336" y="128"/>
                  </a:lnTo>
                  <a:lnTo>
                    <a:pt x="308" y="108"/>
                  </a:lnTo>
                  <a:lnTo>
                    <a:pt x="308" y="108"/>
                  </a:lnTo>
                  <a:lnTo>
                    <a:pt x="296" y="100"/>
                  </a:lnTo>
                  <a:lnTo>
                    <a:pt x="284" y="94"/>
                  </a:lnTo>
                  <a:lnTo>
                    <a:pt x="260" y="86"/>
                  </a:lnTo>
                  <a:lnTo>
                    <a:pt x="236" y="80"/>
                  </a:lnTo>
                  <a:lnTo>
                    <a:pt x="212" y="78"/>
                  </a:lnTo>
                  <a:lnTo>
                    <a:pt x="190" y="74"/>
                  </a:lnTo>
                  <a:lnTo>
                    <a:pt x="190" y="74"/>
                  </a:lnTo>
                  <a:lnTo>
                    <a:pt x="170" y="68"/>
                  </a:lnTo>
                  <a:lnTo>
                    <a:pt x="150" y="60"/>
                  </a:lnTo>
                  <a:lnTo>
                    <a:pt x="130" y="48"/>
                  </a:lnTo>
                  <a:lnTo>
                    <a:pt x="110" y="34"/>
                  </a:lnTo>
                  <a:lnTo>
                    <a:pt x="110" y="34"/>
                  </a:lnTo>
                  <a:lnTo>
                    <a:pt x="96" y="26"/>
                  </a:lnTo>
                  <a:lnTo>
                    <a:pt x="84" y="20"/>
                  </a:lnTo>
                  <a:lnTo>
                    <a:pt x="58" y="10"/>
                  </a:lnTo>
                  <a:lnTo>
                    <a:pt x="38" y="4"/>
                  </a:lnTo>
                  <a:lnTo>
                    <a:pt x="28" y="2"/>
                  </a:lnTo>
                  <a:lnTo>
                    <a:pt x="18" y="0"/>
                  </a:lnTo>
                  <a:lnTo>
                    <a:pt x="16" y="8"/>
                  </a:lnTo>
                  <a:lnTo>
                    <a:pt x="0" y="44"/>
                  </a:lnTo>
                  <a:lnTo>
                    <a:pt x="8" y="48"/>
                  </a:lnTo>
                  <a:lnTo>
                    <a:pt x="8" y="48"/>
                  </a:lnTo>
                  <a:lnTo>
                    <a:pt x="16" y="54"/>
                  </a:lnTo>
                  <a:lnTo>
                    <a:pt x="34" y="64"/>
                  </a:lnTo>
                  <a:lnTo>
                    <a:pt x="60" y="76"/>
                  </a:lnTo>
                  <a:lnTo>
                    <a:pt x="74" y="80"/>
                  </a:lnTo>
                  <a:lnTo>
                    <a:pt x="88" y="84"/>
                  </a:lnTo>
                  <a:lnTo>
                    <a:pt x="88" y="84"/>
                  </a:lnTo>
                  <a:lnTo>
                    <a:pt x="114" y="88"/>
                  </a:lnTo>
                  <a:lnTo>
                    <a:pt x="136" y="94"/>
                  </a:lnTo>
                  <a:lnTo>
                    <a:pt x="156" y="102"/>
                  </a:lnTo>
                  <a:lnTo>
                    <a:pt x="174" y="112"/>
                  </a:lnTo>
                  <a:lnTo>
                    <a:pt x="192" y="126"/>
                  </a:lnTo>
                  <a:lnTo>
                    <a:pt x="192" y="126"/>
                  </a:lnTo>
                  <a:lnTo>
                    <a:pt x="212" y="140"/>
                  </a:lnTo>
                  <a:lnTo>
                    <a:pt x="232" y="154"/>
                  </a:lnTo>
                  <a:lnTo>
                    <a:pt x="256" y="164"/>
                  </a:lnTo>
                  <a:lnTo>
                    <a:pt x="268" y="168"/>
                  </a:lnTo>
                  <a:lnTo>
                    <a:pt x="282" y="172"/>
                  </a:lnTo>
                  <a:lnTo>
                    <a:pt x="314" y="176"/>
                  </a:lnTo>
                  <a:lnTo>
                    <a:pt x="314" y="176"/>
                  </a:lnTo>
                  <a:lnTo>
                    <a:pt x="350" y="182"/>
                  </a:lnTo>
                  <a:lnTo>
                    <a:pt x="366" y="188"/>
                  </a:lnTo>
                  <a:lnTo>
                    <a:pt x="384" y="196"/>
                  </a:lnTo>
                  <a:lnTo>
                    <a:pt x="384" y="196"/>
                  </a:lnTo>
                  <a:lnTo>
                    <a:pt x="410" y="206"/>
                  </a:lnTo>
                  <a:lnTo>
                    <a:pt x="434" y="214"/>
                  </a:lnTo>
                  <a:lnTo>
                    <a:pt x="448" y="216"/>
                  </a:lnTo>
                  <a:lnTo>
                    <a:pt x="456" y="216"/>
                  </a:lnTo>
                  <a:lnTo>
                    <a:pt x="484" y="218"/>
                  </a:lnTo>
                  <a:lnTo>
                    <a:pt x="462" y="198"/>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4" name="Freeform 157"/>
            <p:cNvSpPr/>
            <p:nvPr/>
          </p:nvSpPr>
          <p:spPr bwMode="auto">
            <a:xfrm>
              <a:off x="4638675" y="3438525"/>
              <a:ext cx="701675" cy="307975"/>
            </a:xfrm>
            <a:custGeom>
              <a:avLst/>
              <a:gdLst/>
              <a:ahLst/>
              <a:cxnLst>
                <a:cxn ang="0">
                  <a:pos x="0" y="28"/>
                </a:cxn>
                <a:cxn ang="0">
                  <a:pos x="0" y="28"/>
                </a:cxn>
                <a:cxn ang="0">
                  <a:pos x="8" y="32"/>
                </a:cxn>
                <a:cxn ang="0">
                  <a:pos x="24" y="42"/>
                </a:cxn>
                <a:cxn ang="0">
                  <a:pos x="48" y="54"/>
                </a:cxn>
                <a:cxn ang="0">
                  <a:pos x="62" y="58"/>
                </a:cxn>
                <a:cxn ang="0">
                  <a:pos x="76" y="62"/>
                </a:cxn>
                <a:cxn ang="0">
                  <a:pos x="76" y="62"/>
                </a:cxn>
                <a:cxn ang="0">
                  <a:pos x="102" y="66"/>
                </a:cxn>
                <a:cxn ang="0">
                  <a:pos x="124" y="72"/>
                </a:cxn>
                <a:cxn ang="0">
                  <a:pos x="146" y="80"/>
                </a:cxn>
                <a:cxn ang="0">
                  <a:pos x="166" y="92"/>
                </a:cxn>
                <a:cxn ang="0">
                  <a:pos x="166" y="92"/>
                </a:cxn>
                <a:cxn ang="0">
                  <a:pos x="186" y="108"/>
                </a:cxn>
                <a:cxn ang="0">
                  <a:pos x="210" y="124"/>
                </a:cxn>
                <a:cxn ang="0">
                  <a:pos x="224" y="132"/>
                </a:cxn>
                <a:cxn ang="0">
                  <a:pos x="238" y="140"/>
                </a:cxn>
                <a:cxn ang="0">
                  <a:pos x="254" y="146"/>
                </a:cxn>
                <a:cxn ang="0">
                  <a:pos x="270" y="150"/>
                </a:cxn>
                <a:cxn ang="0">
                  <a:pos x="270" y="150"/>
                </a:cxn>
                <a:cxn ang="0">
                  <a:pos x="326" y="158"/>
                </a:cxn>
                <a:cxn ang="0">
                  <a:pos x="350" y="164"/>
                </a:cxn>
                <a:cxn ang="0">
                  <a:pos x="374" y="174"/>
                </a:cxn>
                <a:cxn ang="0">
                  <a:pos x="374" y="174"/>
                </a:cxn>
                <a:cxn ang="0">
                  <a:pos x="400" y="186"/>
                </a:cxn>
                <a:cxn ang="0">
                  <a:pos x="422" y="192"/>
                </a:cxn>
                <a:cxn ang="0">
                  <a:pos x="442" y="194"/>
                </a:cxn>
                <a:cxn ang="0">
                  <a:pos x="442" y="194"/>
                </a:cxn>
                <a:cxn ang="0">
                  <a:pos x="442" y="194"/>
                </a:cxn>
                <a:cxn ang="0">
                  <a:pos x="424" y="182"/>
                </a:cxn>
                <a:cxn ang="0">
                  <a:pos x="406" y="172"/>
                </a:cxn>
                <a:cxn ang="0">
                  <a:pos x="380" y="162"/>
                </a:cxn>
                <a:cxn ang="0">
                  <a:pos x="380" y="162"/>
                </a:cxn>
                <a:cxn ang="0">
                  <a:pos x="354" y="150"/>
                </a:cxn>
                <a:cxn ang="0">
                  <a:pos x="334" y="138"/>
                </a:cxn>
                <a:cxn ang="0">
                  <a:pos x="288" y="104"/>
                </a:cxn>
                <a:cxn ang="0">
                  <a:pos x="288" y="104"/>
                </a:cxn>
                <a:cxn ang="0">
                  <a:pos x="274" y="96"/>
                </a:cxn>
                <a:cxn ang="0">
                  <a:pos x="260" y="88"/>
                </a:cxn>
                <a:cxn ang="0">
                  <a:pos x="244" y="84"/>
                </a:cxn>
                <a:cxn ang="0">
                  <a:pos x="230" y="80"/>
                </a:cxn>
                <a:cxn ang="0">
                  <a:pos x="200" y="76"/>
                </a:cxn>
                <a:cxn ang="0">
                  <a:pos x="174" y="72"/>
                </a:cxn>
                <a:cxn ang="0">
                  <a:pos x="174" y="72"/>
                </a:cxn>
                <a:cxn ang="0">
                  <a:pos x="152" y="66"/>
                </a:cxn>
                <a:cxn ang="0">
                  <a:pos x="130" y="56"/>
                </a:cxn>
                <a:cxn ang="0">
                  <a:pos x="110" y="44"/>
                </a:cxn>
                <a:cxn ang="0">
                  <a:pos x="88" y="30"/>
                </a:cxn>
                <a:cxn ang="0">
                  <a:pos x="88" y="30"/>
                </a:cxn>
                <a:cxn ang="0">
                  <a:pos x="76" y="22"/>
                </a:cxn>
                <a:cxn ang="0">
                  <a:pos x="64" y="16"/>
                </a:cxn>
                <a:cxn ang="0">
                  <a:pos x="40" y="6"/>
                </a:cxn>
                <a:cxn ang="0">
                  <a:pos x="20" y="2"/>
                </a:cxn>
                <a:cxn ang="0">
                  <a:pos x="12" y="0"/>
                </a:cxn>
                <a:cxn ang="0">
                  <a:pos x="0" y="28"/>
                </a:cxn>
              </a:cxnLst>
              <a:rect l="0" t="0" r="r" b="b"/>
              <a:pathLst>
                <a:path w="442" h="194">
                  <a:moveTo>
                    <a:pt x="0" y="28"/>
                  </a:moveTo>
                  <a:lnTo>
                    <a:pt x="0" y="28"/>
                  </a:lnTo>
                  <a:lnTo>
                    <a:pt x="8" y="32"/>
                  </a:lnTo>
                  <a:lnTo>
                    <a:pt x="24" y="42"/>
                  </a:lnTo>
                  <a:lnTo>
                    <a:pt x="48" y="54"/>
                  </a:lnTo>
                  <a:lnTo>
                    <a:pt x="62" y="58"/>
                  </a:lnTo>
                  <a:lnTo>
                    <a:pt x="76" y="62"/>
                  </a:lnTo>
                  <a:lnTo>
                    <a:pt x="76" y="62"/>
                  </a:lnTo>
                  <a:lnTo>
                    <a:pt x="102" y="66"/>
                  </a:lnTo>
                  <a:lnTo>
                    <a:pt x="124" y="72"/>
                  </a:lnTo>
                  <a:lnTo>
                    <a:pt x="146" y="80"/>
                  </a:lnTo>
                  <a:lnTo>
                    <a:pt x="166" y="92"/>
                  </a:lnTo>
                  <a:lnTo>
                    <a:pt x="166" y="92"/>
                  </a:lnTo>
                  <a:lnTo>
                    <a:pt x="186" y="108"/>
                  </a:lnTo>
                  <a:lnTo>
                    <a:pt x="210" y="124"/>
                  </a:lnTo>
                  <a:lnTo>
                    <a:pt x="224" y="132"/>
                  </a:lnTo>
                  <a:lnTo>
                    <a:pt x="238" y="140"/>
                  </a:lnTo>
                  <a:lnTo>
                    <a:pt x="254" y="146"/>
                  </a:lnTo>
                  <a:lnTo>
                    <a:pt x="270" y="150"/>
                  </a:lnTo>
                  <a:lnTo>
                    <a:pt x="270" y="150"/>
                  </a:lnTo>
                  <a:lnTo>
                    <a:pt x="326" y="158"/>
                  </a:lnTo>
                  <a:lnTo>
                    <a:pt x="350" y="164"/>
                  </a:lnTo>
                  <a:lnTo>
                    <a:pt x="374" y="174"/>
                  </a:lnTo>
                  <a:lnTo>
                    <a:pt x="374" y="174"/>
                  </a:lnTo>
                  <a:lnTo>
                    <a:pt x="400" y="186"/>
                  </a:lnTo>
                  <a:lnTo>
                    <a:pt x="422" y="192"/>
                  </a:lnTo>
                  <a:lnTo>
                    <a:pt x="442" y="194"/>
                  </a:lnTo>
                  <a:lnTo>
                    <a:pt x="442" y="194"/>
                  </a:lnTo>
                  <a:lnTo>
                    <a:pt x="442" y="194"/>
                  </a:lnTo>
                  <a:lnTo>
                    <a:pt x="424" y="182"/>
                  </a:lnTo>
                  <a:lnTo>
                    <a:pt x="406" y="172"/>
                  </a:lnTo>
                  <a:lnTo>
                    <a:pt x="380" y="162"/>
                  </a:lnTo>
                  <a:lnTo>
                    <a:pt x="380" y="162"/>
                  </a:lnTo>
                  <a:lnTo>
                    <a:pt x="354" y="150"/>
                  </a:lnTo>
                  <a:lnTo>
                    <a:pt x="334" y="138"/>
                  </a:lnTo>
                  <a:lnTo>
                    <a:pt x="288" y="104"/>
                  </a:lnTo>
                  <a:lnTo>
                    <a:pt x="288" y="104"/>
                  </a:lnTo>
                  <a:lnTo>
                    <a:pt x="274" y="96"/>
                  </a:lnTo>
                  <a:lnTo>
                    <a:pt x="260" y="88"/>
                  </a:lnTo>
                  <a:lnTo>
                    <a:pt x="244" y="84"/>
                  </a:lnTo>
                  <a:lnTo>
                    <a:pt x="230" y="80"/>
                  </a:lnTo>
                  <a:lnTo>
                    <a:pt x="200" y="76"/>
                  </a:lnTo>
                  <a:lnTo>
                    <a:pt x="174" y="72"/>
                  </a:lnTo>
                  <a:lnTo>
                    <a:pt x="174" y="72"/>
                  </a:lnTo>
                  <a:lnTo>
                    <a:pt x="152" y="66"/>
                  </a:lnTo>
                  <a:lnTo>
                    <a:pt x="130" y="56"/>
                  </a:lnTo>
                  <a:lnTo>
                    <a:pt x="110" y="44"/>
                  </a:lnTo>
                  <a:lnTo>
                    <a:pt x="88" y="30"/>
                  </a:lnTo>
                  <a:lnTo>
                    <a:pt x="88" y="30"/>
                  </a:lnTo>
                  <a:lnTo>
                    <a:pt x="76" y="22"/>
                  </a:lnTo>
                  <a:lnTo>
                    <a:pt x="64" y="16"/>
                  </a:lnTo>
                  <a:lnTo>
                    <a:pt x="40" y="6"/>
                  </a:lnTo>
                  <a:lnTo>
                    <a:pt x="20" y="2"/>
                  </a:lnTo>
                  <a:lnTo>
                    <a:pt x="12" y="0"/>
                  </a:lnTo>
                  <a:lnTo>
                    <a:pt x="0" y="28"/>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5" name="Freeform 158"/>
            <p:cNvSpPr/>
            <p:nvPr/>
          </p:nvSpPr>
          <p:spPr bwMode="auto">
            <a:xfrm>
              <a:off x="4959350" y="3587750"/>
              <a:ext cx="155575" cy="66675"/>
            </a:xfrm>
            <a:custGeom>
              <a:avLst/>
              <a:gdLst/>
              <a:ahLst/>
              <a:cxnLst>
                <a:cxn ang="0">
                  <a:pos x="54" y="12"/>
                </a:cxn>
                <a:cxn ang="0">
                  <a:pos x="54" y="12"/>
                </a:cxn>
                <a:cxn ang="0">
                  <a:pos x="38" y="6"/>
                </a:cxn>
                <a:cxn ang="0">
                  <a:pos x="22" y="2"/>
                </a:cxn>
                <a:cxn ang="0">
                  <a:pos x="10" y="0"/>
                </a:cxn>
                <a:cxn ang="0">
                  <a:pos x="0" y="0"/>
                </a:cxn>
                <a:cxn ang="0">
                  <a:pos x="0" y="0"/>
                </a:cxn>
                <a:cxn ang="0">
                  <a:pos x="6" y="8"/>
                </a:cxn>
                <a:cxn ang="0">
                  <a:pos x="16" y="16"/>
                </a:cxn>
                <a:cxn ang="0">
                  <a:pos x="30" y="24"/>
                </a:cxn>
                <a:cxn ang="0">
                  <a:pos x="44" y="32"/>
                </a:cxn>
                <a:cxn ang="0">
                  <a:pos x="44" y="32"/>
                </a:cxn>
                <a:cxn ang="0">
                  <a:pos x="60" y="36"/>
                </a:cxn>
                <a:cxn ang="0">
                  <a:pos x="76" y="40"/>
                </a:cxn>
                <a:cxn ang="0">
                  <a:pos x="88" y="42"/>
                </a:cxn>
                <a:cxn ang="0">
                  <a:pos x="98" y="42"/>
                </a:cxn>
                <a:cxn ang="0">
                  <a:pos x="98" y="42"/>
                </a:cxn>
                <a:cxn ang="0">
                  <a:pos x="92" y="34"/>
                </a:cxn>
                <a:cxn ang="0">
                  <a:pos x="82" y="26"/>
                </a:cxn>
                <a:cxn ang="0">
                  <a:pos x="68" y="18"/>
                </a:cxn>
                <a:cxn ang="0">
                  <a:pos x="54" y="12"/>
                </a:cxn>
                <a:cxn ang="0">
                  <a:pos x="54" y="12"/>
                </a:cxn>
              </a:cxnLst>
              <a:rect l="0" t="0" r="r" b="b"/>
              <a:pathLst>
                <a:path w="98" h="42">
                  <a:moveTo>
                    <a:pt x="54" y="12"/>
                  </a:moveTo>
                  <a:lnTo>
                    <a:pt x="54" y="12"/>
                  </a:lnTo>
                  <a:lnTo>
                    <a:pt x="38" y="6"/>
                  </a:lnTo>
                  <a:lnTo>
                    <a:pt x="22" y="2"/>
                  </a:lnTo>
                  <a:lnTo>
                    <a:pt x="10" y="0"/>
                  </a:lnTo>
                  <a:lnTo>
                    <a:pt x="0" y="0"/>
                  </a:lnTo>
                  <a:lnTo>
                    <a:pt x="0" y="0"/>
                  </a:lnTo>
                  <a:lnTo>
                    <a:pt x="6" y="8"/>
                  </a:lnTo>
                  <a:lnTo>
                    <a:pt x="16" y="16"/>
                  </a:lnTo>
                  <a:lnTo>
                    <a:pt x="30" y="24"/>
                  </a:lnTo>
                  <a:lnTo>
                    <a:pt x="44" y="32"/>
                  </a:lnTo>
                  <a:lnTo>
                    <a:pt x="44" y="32"/>
                  </a:lnTo>
                  <a:lnTo>
                    <a:pt x="60" y="36"/>
                  </a:lnTo>
                  <a:lnTo>
                    <a:pt x="76" y="40"/>
                  </a:lnTo>
                  <a:lnTo>
                    <a:pt x="88" y="42"/>
                  </a:lnTo>
                  <a:lnTo>
                    <a:pt x="98" y="42"/>
                  </a:lnTo>
                  <a:lnTo>
                    <a:pt x="98" y="42"/>
                  </a:lnTo>
                  <a:lnTo>
                    <a:pt x="92" y="34"/>
                  </a:lnTo>
                  <a:lnTo>
                    <a:pt x="82" y="26"/>
                  </a:lnTo>
                  <a:lnTo>
                    <a:pt x="68" y="18"/>
                  </a:lnTo>
                  <a:lnTo>
                    <a:pt x="54" y="12"/>
                  </a:lnTo>
                  <a:lnTo>
                    <a:pt x="54" y="1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6" name="Freeform 159"/>
            <p:cNvSpPr/>
            <p:nvPr/>
          </p:nvSpPr>
          <p:spPr bwMode="auto">
            <a:xfrm>
              <a:off x="4562475" y="3473450"/>
              <a:ext cx="346075" cy="768350"/>
            </a:xfrm>
            <a:custGeom>
              <a:avLst/>
              <a:gdLst/>
              <a:ahLst/>
              <a:cxnLst>
                <a:cxn ang="0">
                  <a:pos x="216" y="456"/>
                </a:cxn>
                <a:cxn ang="0">
                  <a:pos x="214" y="434"/>
                </a:cxn>
                <a:cxn ang="0">
                  <a:pos x="196" y="384"/>
                </a:cxn>
                <a:cxn ang="0">
                  <a:pos x="196" y="384"/>
                </a:cxn>
                <a:cxn ang="0">
                  <a:pos x="182" y="350"/>
                </a:cxn>
                <a:cxn ang="0">
                  <a:pos x="172" y="282"/>
                </a:cxn>
                <a:cxn ang="0">
                  <a:pos x="168" y="268"/>
                </a:cxn>
                <a:cxn ang="0">
                  <a:pos x="154" y="232"/>
                </a:cxn>
                <a:cxn ang="0">
                  <a:pos x="126" y="192"/>
                </a:cxn>
                <a:cxn ang="0">
                  <a:pos x="112" y="174"/>
                </a:cxn>
                <a:cxn ang="0">
                  <a:pos x="94" y="136"/>
                </a:cxn>
                <a:cxn ang="0">
                  <a:pos x="84" y="88"/>
                </a:cxn>
                <a:cxn ang="0">
                  <a:pos x="80" y="74"/>
                </a:cxn>
                <a:cxn ang="0">
                  <a:pos x="64" y="36"/>
                </a:cxn>
                <a:cxn ang="0">
                  <a:pos x="48" y="8"/>
                </a:cxn>
                <a:cxn ang="0">
                  <a:pos x="36" y="4"/>
                </a:cxn>
                <a:cxn ang="0">
                  <a:pos x="2" y="28"/>
                </a:cxn>
                <a:cxn ang="0">
                  <a:pos x="4" y="36"/>
                </a:cxn>
                <a:cxn ang="0">
                  <a:pos x="18" y="84"/>
                </a:cxn>
                <a:cxn ang="0">
                  <a:pos x="34" y="110"/>
                </a:cxn>
                <a:cxn ang="0">
                  <a:pos x="48" y="130"/>
                </a:cxn>
                <a:cxn ang="0">
                  <a:pos x="68" y="170"/>
                </a:cxn>
                <a:cxn ang="0">
                  <a:pos x="78" y="212"/>
                </a:cxn>
                <a:cxn ang="0">
                  <a:pos x="80" y="236"/>
                </a:cxn>
                <a:cxn ang="0">
                  <a:pos x="94" y="284"/>
                </a:cxn>
                <a:cxn ang="0">
                  <a:pos x="108" y="308"/>
                </a:cxn>
                <a:cxn ang="0">
                  <a:pos x="128" y="336"/>
                </a:cxn>
                <a:cxn ang="0">
                  <a:pos x="156" y="380"/>
                </a:cxn>
                <a:cxn ang="0">
                  <a:pos x="164" y="396"/>
                </a:cxn>
                <a:cxn ang="0">
                  <a:pos x="186" y="444"/>
                </a:cxn>
                <a:cxn ang="0">
                  <a:pos x="198" y="462"/>
                </a:cxn>
                <a:cxn ang="0">
                  <a:pos x="216" y="456"/>
                </a:cxn>
              </a:cxnLst>
              <a:rect l="0" t="0" r="r" b="b"/>
              <a:pathLst>
                <a:path w="218" h="484">
                  <a:moveTo>
                    <a:pt x="216" y="456"/>
                  </a:moveTo>
                  <a:lnTo>
                    <a:pt x="216" y="456"/>
                  </a:lnTo>
                  <a:lnTo>
                    <a:pt x="216" y="448"/>
                  </a:lnTo>
                  <a:lnTo>
                    <a:pt x="214" y="434"/>
                  </a:lnTo>
                  <a:lnTo>
                    <a:pt x="206" y="410"/>
                  </a:lnTo>
                  <a:lnTo>
                    <a:pt x="196" y="384"/>
                  </a:lnTo>
                  <a:lnTo>
                    <a:pt x="196" y="384"/>
                  </a:lnTo>
                  <a:lnTo>
                    <a:pt x="196" y="384"/>
                  </a:lnTo>
                  <a:lnTo>
                    <a:pt x="188" y="366"/>
                  </a:lnTo>
                  <a:lnTo>
                    <a:pt x="182" y="350"/>
                  </a:lnTo>
                  <a:lnTo>
                    <a:pt x="176" y="314"/>
                  </a:lnTo>
                  <a:lnTo>
                    <a:pt x="172" y="282"/>
                  </a:lnTo>
                  <a:lnTo>
                    <a:pt x="172" y="282"/>
                  </a:lnTo>
                  <a:lnTo>
                    <a:pt x="168" y="268"/>
                  </a:lnTo>
                  <a:lnTo>
                    <a:pt x="164" y="256"/>
                  </a:lnTo>
                  <a:lnTo>
                    <a:pt x="154" y="232"/>
                  </a:lnTo>
                  <a:lnTo>
                    <a:pt x="140" y="212"/>
                  </a:lnTo>
                  <a:lnTo>
                    <a:pt x="126" y="192"/>
                  </a:lnTo>
                  <a:lnTo>
                    <a:pt x="112" y="174"/>
                  </a:lnTo>
                  <a:lnTo>
                    <a:pt x="112" y="174"/>
                  </a:lnTo>
                  <a:lnTo>
                    <a:pt x="102" y="156"/>
                  </a:lnTo>
                  <a:lnTo>
                    <a:pt x="94" y="136"/>
                  </a:lnTo>
                  <a:lnTo>
                    <a:pt x="88" y="114"/>
                  </a:lnTo>
                  <a:lnTo>
                    <a:pt x="84" y="88"/>
                  </a:lnTo>
                  <a:lnTo>
                    <a:pt x="84" y="88"/>
                  </a:lnTo>
                  <a:lnTo>
                    <a:pt x="80" y="74"/>
                  </a:lnTo>
                  <a:lnTo>
                    <a:pt x="76" y="60"/>
                  </a:lnTo>
                  <a:lnTo>
                    <a:pt x="64" y="36"/>
                  </a:lnTo>
                  <a:lnTo>
                    <a:pt x="54" y="18"/>
                  </a:lnTo>
                  <a:lnTo>
                    <a:pt x="48" y="8"/>
                  </a:lnTo>
                  <a:lnTo>
                    <a:pt x="44" y="0"/>
                  </a:lnTo>
                  <a:lnTo>
                    <a:pt x="36" y="4"/>
                  </a:lnTo>
                  <a:lnTo>
                    <a:pt x="0" y="18"/>
                  </a:lnTo>
                  <a:lnTo>
                    <a:pt x="2" y="28"/>
                  </a:lnTo>
                  <a:lnTo>
                    <a:pt x="2" y="28"/>
                  </a:lnTo>
                  <a:lnTo>
                    <a:pt x="4" y="36"/>
                  </a:lnTo>
                  <a:lnTo>
                    <a:pt x="10" y="56"/>
                  </a:lnTo>
                  <a:lnTo>
                    <a:pt x="18" y="84"/>
                  </a:lnTo>
                  <a:lnTo>
                    <a:pt x="26" y="96"/>
                  </a:lnTo>
                  <a:lnTo>
                    <a:pt x="34" y="110"/>
                  </a:lnTo>
                  <a:lnTo>
                    <a:pt x="34" y="110"/>
                  </a:lnTo>
                  <a:lnTo>
                    <a:pt x="48" y="130"/>
                  </a:lnTo>
                  <a:lnTo>
                    <a:pt x="60" y="150"/>
                  </a:lnTo>
                  <a:lnTo>
                    <a:pt x="68" y="170"/>
                  </a:lnTo>
                  <a:lnTo>
                    <a:pt x="74" y="190"/>
                  </a:lnTo>
                  <a:lnTo>
                    <a:pt x="78" y="212"/>
                  </a:lnTo>
                  <a:lnTo>
                    <a:pt x="78" y="212"/>
                  </a:lnTo>
                  <a:lnTo>
                    <a:pt x="80" y="236"/>
                  </a:lnTo>
                  <a:lnTo>
                    <a:pt x="86" y="260"/>
                  </a:lnTo>
                  <a:lnTo>
                    <a:pt x="94" y="284"/>
                  </a:lnTo>
                  <a:lnTo>
                    <a:pt x="100" y="296"/>
                  </a:lnTo>
                  <a:lnTo>
                    <a:pt x="108" y="308"/>
                  </a:lnTo>
                  <a:lnTo>
                    <a:pt x="128" y="336"/>
                  </a:lnTo>
                  <a:lnTo>
                    <a:pt x="128" y="336"/>
                  </a:lnTo>
                  <a:lnTo>
                    <a:pt x="148" y="364"/>
                  </a:lnTo>
                  <a:lnTo>
                    <a:pt x="156" y="380"/>
                  </a:lnTo>
                  <a:lnTo>
                    <a:pt x="164" y="396"/>
                  </a:lnTo>
                  <a:lnTo>
                    <a:pt x="164" y="396"/>
                  </a:lnTo>
                  <a:lnTo>
                    <a:pt x="174" y="424"/>
                  </a:lnTo>
                  <a:lnTo>
                    <a:pt x="186" y="444"/>
                  </a:lnTo>
                  <a:lnTo>
                    <a:pt x="194" y="458"/>
                  </a:lnTo>
                  <a:lnTo>
                    <a:pt x="198" y="462"/>
                  </a:lnTo>
                  <a:lnTo>
                    <a:pt x="218" y="484"/>
                  </a:lnTo>
                  <a:lnTo>
                    <a:pt x="216" y="45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7" name="Freeform 160"/>
            <p:cNvSpPr/>
            <p:nvPr/>
          </p:nvSpPr>
          <p:spPr bwMode="auto">
            <a:xfrm>
              <a:off x="4581525" y="3495675"/>
              <a:ext cx="307975" cy="701675"/>
            </a:xfrm>
            <a:custGeom>
              <a:avLst/>
              <a:gdLst/>
              <a:ahLst/>
              <a:cxnLst>
                <a:cxn ang="0">
                  <a:pos x="0" y="12"/>
                </a:cxn>
                <a:cxn ang="0">
                  <a:pos x="0" y="12"/>
                </a:cxn>
                <a:cxn ang="0">
                  <a:pos x="2" y="20"/>
                </a:cxn>
                <a:cxn ang="0">
                  <a:pos x="6" y="40"/>
                </a:cxn>
                <a:cxn ang="0">
                  <a:pos x="16" y="64"/>
                </a:cxn>
                <a:cxn ang="0">
                  <a:pos x="22" y="76"/>
                </a:cxn>
                <a:cxn ang="0">
                  <a:pos x="30" y="88"/>
                </a:cxn>
                <a:cxn ang="0">
                  <a:pos x="30" y="88"/>
                </a:cxn>
                <a:cxn ang="0">
                  <a:pos x="44" y="110"/>
                </a:cxn>
                <a:cxn ang="0">
                  <a:pos x="56" y="130"/>
                </a:cxn>
                <a:cxn ang="0">
                  <a:pos x="66" y="152"/>
                </a:cxn>
                <a:cxn ang="0">
                  <a:pos x="72" y="174"/>
                </a:cxn>
                <a:cxn ang="0">
                  <a:pos x="72" y="174"/>
                </a:cxn>
                <a:cxn ang="0">
                  <a:pos x="76" y="200"/>
                </a:cxn>
                <a:cxn ang="0">
                  <a:pos x="80" y="230"/>
                </a:cxn>
                <a:cxn ang="0">
                  <a:pos x="84" y="244"/>
                </a:cxn>
                <a:cxn ang="0">
                  <a:pos x="88" y="260"/>
                </a:cxn>
                <a:cxn ang="0">
                  <a:pos x="96" y="274"/>
                </a:cxn>
                <a:cxn ang="0">
                  <a:pos x="104" y="288"/>
                </a:cxn>
                <a:cxn ang="0">
                  <a:pos x="104" y="288"/>
                </a:cxn>
                <a:cxn ang="0">
                  <a:pos x="138" y="334"/>
                </a:cxn>
                <a:cxn ang="0">
                  <a:pos x="150" y="354"/>
                </a:cxn>
                <a:cxn ang="0">
                  <a:pos x="162" y="380"/>
                </a:cxn>
                <a:cxn ang="0">
                  <a:pos x="162" y="380"/>
                </a:cxn>
                <a:cxn ang="0">
                  <a:pos x="172" y="406"/>
                </a:cxn>
                <a:cxn ang="0">
                  <a:pos x="182" y="424"/>
                </a:cxn>
                <a:cxn ang="0">
                  <a:pos x="194" y="442"/>
                </a:cxn>
                <a:cxn ang="0">
                  <a:pos x="194" y="442"/>
                </a:cxn>
                <a:cxn ang="0">
                  <a:pos x="194" y="442"/>
                </a:cxn>
                <a:cxn ang="0">
                  <a:pos x="192" y="422"/>
                </a:cxn>
                <a:cxn ang="0">
                  <a:pos x="186" y="400"/>
                </a:cxn>
                <a:cxn ang="0">
                  <a:pos x="174" y="374"/>
                </a:cxn>
                <a:cxn ang="0">
                  <a:pos x="174" y="374"/>
                </a:cxn>
                <a:cxn ang="0">
                  <a:pos x="164" y="350"/>
                </a:cxn>
                <a:cxn ang="0">
                  <a:pos x="158" y="326"/>
                </a:cxn>
                <a:cxn ang="0">
                  <a:pos x="150" y="270"/>
                </a:cxn>
                <a:cxn ang="0">
                  <a:pos x="150" y="270"/>
                </a:cxn>
                <a:cxn ang="0">
                  <a:pos x="146" y="254"/>
                </a:cxn>
                <a:cxn ang="0">
                  <a:pos x="140" y="238"/>
                </a:cxn>
                <a:cxn ang="0">
                  <a:pos x="132" y="224"/>
                </a:cxn>
                <a:cxn ang="0">
                  <a:pos x="124" y="210"/>
                </a:cxn>
                <a:cxn ang="0">
                  <a:pos x="108" y="186"/>
                </a:cxn>
                <a:cxn ang="0">
                  <a:pos x="92" y="166"/>
                </a:cxn>
                <a:cxn ang="0">
                  <a:pos x="92" y="166"/>
                </a:cxn>
                <a:cxn ang="0">
                  <a:pos x="80" y="146"/>
                </a:cxn>
                <a:cxn ang="0">
                  <a:pos x="72" y="124"/>
                </a:cxn>
                <a:cxn ang="0">
                  <a:pos x="66" y="102"/>
                </a:cxn>
                <a:cxn ang="0">
                  <a:pos x="62" y="76"/>
                </a:cxn>
                <a:cxn ang="0">
                  <a:pos x="62" y="76"/>
                </a:cxn>
                <a:cxn ang="0">
                  <a:pos x="58" y="62"/>
                </a:cxn>
                <a:cxn ang="0">
                  <a:pos x="54" y="48"/>
                </a:cxn>
                <a:cxn ang="0">
                  <a:pos x="42" y="24"/>
                </a:cxn>
                <a:cxn ang="0">
                  <a:pos x="32" y="8"/>
                </a:cxn>
                <a:cxn ang="0">
                  <a:pos x="28" y="0"/>
                </a:cxn>
                <a:cxn ang="0">
                  <a:pos x="0" y="12"/>
                </a:cxn>
              </a:cxnLst>
              <a:rect l="0" t="0" r="r" b="b"/>
              <a:pathLst>
                <a:path w="194" h="442">
                  <a:moveTo>
                    <a:pt x="0" y="12"/>
                  </a:moveTo>
                  <a:lnTo>
                    <a:pt x="0" y="12"/>
                  </a:lnTo>
                  <a:lnTo>
                    <a:pt x="2" y="20"/>
                  </a:lnTo>
                  <a:lnTo>
                    <a:pt x="6" y="40"/>
                  </a:lnTo>
                  <a:lnTo>
                    <a:pt x="16" y="64"/>
                  </a:lnTo>
                  <a:lnTo>
                    <a:pt x="22" y="76"/>
                  </a:lnTo>
                  <a:lnTo>
                    <a:pt x="30" y="88"/>
                  </a:lnTo>
                  <a:lnTo>
                    <a:pt x="30" y="88"/>
                  </a:lnTo>
                  <a:lnTo>
                    <a:pt x="44" y="110"/>
                  </a:lnTo>
                  <a:lnTo>
                    <a:pt x="56" y="130"/>
                  </a:lnTo>
                  <a:lnTo>
                    <a:pt x="66" y="152"/>
                  </a:lnTo>
                  <a:lnTo>
                    <a:pt x="72" y="174"/>
                  </a:lnTo>
                  <a:lnTo>
                    <a:pt x="72" y="174"/>
                  </a:lnTo>
                  <a:lnTo>
                    <a:pt x="76" y="200"/>
                  </a:lnTo>
                  <a:lnTo>
                    <a:pt x="80" y="230"/>
                  </a:lnTo>
                  <a:lnTo>
                    <a:pt x="84" y="244"/>
                  </a:lnTo>
                  <a:lnTo>
                    <a:pt x="88" y="260"/>
                  </a:lnTo>
                  <a:lnTo>
                    <a:pt x="96" y="274"/>
                  </a:lnTo>
                  <a:lnTo>
                    <a:pt x="104" y="288"/>
                  </a:lnTo>
                  <a:lnTo>
                    <a:pt x="104" y="288"/>
                  </a:lnTo>
                  <a:lnTo>
                    <a:pt x="138" y="334"/>
                  </a:lnTo>
                  <a:lnTo>
                    <a:pt x="150" y="354"/>
                  </a:lnTo>
                  <a:lnTo>
                    <a:pt x="162" y="380"/>
                  </a:lnTo>
                  <a:lnTo>
                    <a:pt x="162" y="380"/>
                  </a:lnTo>
                  <a:lnTo>
                    <a:pt x="172" y="406"/>
                  </a:lnTo>
                  <a:lnTo>
                    <a:pt x="182" y="424"/>
                  </a:lnTo>
                  <a:lnTo>
                    <a:pt x="194" y="442"/>
                  </a:lnTo>
                  <a:lnTo>
                    <a:pt x="194" y="442"/>
                  </a:lnTo>
                  <a:lnTo>
                    <a:pt x="194" y="442"/>
                  </a:lnTo>
                  <a:lnTo>
                    <a:pt x="192" y="422"/>
                  </a:lnTo>
                  <a:lnTo>
                    <a:pt x="186" y="400"/>
                  </a:lnTo>
                  <a:lnTo>
                    <a:pt x="174" y="374"/>
                  </a:lnTo>
                  <a:lnTo>
                    <a:pt x="174" y="374"/>
                  </a:lnTo>
                  <a:lnTo>
                    <a:pt x="164" y="350"/>
                  </a:lnTo>
                  <a:lnTo>
                    <a:pt x="158" y="326"/>
                  </a:lnTo>
                  <a:lnTo>
                    <a:pt x="150" y="270"/>
                  </a:lnTo>
                  <a:lnTo>
                    <a:pt x="150" y="270"/>
                  </a:lnTo>
                  <a:lnTo>
                    <a:pt x="146" y="254"/>
                  </a:lnTo>
                  <a:lnTo>
                    <a:pt x="140" y="238"/>
                  </a:lnTo>
                  <a:lnTo>
                    <a:pt x="132" y="224"/>
                  </a:lnTo>
                  <a:lnTo>
                    <a:pt x="124" y="210"/>
                  </a:lnTo>
                  <a:lnTo>
                    <a:pt x="108" y="186"/>
                  </a:lnTo>
                  <a:lnTo>
                    <a:pt x="92" y="166"/>
                  </a:lnTo>
                  <a:lnTo>
                    <a:pt x="92" y="166"/>
                  </a:lnTo>
                  <a:lnTo>
                    <a:pt x="80" y="146"/>
                  </a:lnTo>
                  <a:lnTo>
                    <a:pt x="72" y="124"/>
                  </a:lnTo>
                  <a:lnTo>
                    <a:pt x="66" y="102"/>
                  </a:lnTo>
                  <a:lnTo>
                    <a:pt x="62" y="76"/>
                  </a:lnTo>
                  <a:lnTo>
                    <a:pt x="62" y="76"/>
                  </a:lnTo>
                  <a:lnTo>
                    <a:pt x="58" y="62"/>
                  </a:lnTo>
                  <a:lnTo>
                    <a:pt x="54" y="48"/>
                  </a:lnTo>
                  <a:lnTo>
                    <a:pt x="42" y="24"/>
                  </a:lnTo>
                  <a:lnTo>
                    <a:pt x="32" y="8"/>
                  </a:lnTo>
                  <a:lnTo>
                    <a:pt x="28" y="0"/>
                  </a:lnTo>
                  <a:lnTo>
                    <a:pt x="0" y="12"/>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8" name="Freeform 161"/>
            <p:cNvSpPr/>
            <p:nvPr/>
          </p:nvSpPr>
          <p:spPr bwMode="auto">
            <a:xfrm>
              <a:off x="4730750" y="3816350"/>
              <a:ext cx="66675" cy="155575"/>
            </a:xfrm>
            <a:custGeom>
              <a:avLst/>
              <a:gdLst/>
              <a:ahLst/>
              <a:cxnLst>
                <a:cxn ang="0">
                  <a:pos x="32" y="44"/>
                </a:cxn>
                <a:cxn ang="0">
                  <a:pos x="32" y="44"/>
                </a:cxn>
                <a:cxn ang="0">
                  <a:pos x="24" y="30"/>
                </a:cxn>
                <a:cxn ang="0">
                  <a:pos x="16" y="16"/>
                </a:cxn>
                <a:cxn ang="0">
                  <a:pos x="8" y="6"/>
                </a:cxn>
                <a:cxn ang="0">
                  <a:pos x="0" y="0"/>
                </a:cxn>
                <a:cxn ang="0">
                  <a:pos x="0" y="0"/>
                </a:cxn>
                <a:cxn ang="0">
                  <a:pos x="0" y="10"/>
                </a:cxn>
                <a:cxn ang="0">
                  <a:pos x="2" y="22"/>
                </a:cxn>
                <a:cxn ang="0">
                  <a:pos x="6" y="38"/>
                </a:cxn>
                <a:cxn ang="0">
                  <a:pos x="12" y="54"/>
                </a:cxn>
                <a:cxn ang="0">
                  <a:pos x="12" y="54"/>
                </a:cxn>
                <a:cxn ang="0">
                  <a:pos x="18" y="68"/>
                </a:cxn>
                <a:cxn ang="0">
                  <a:pos x="26" y="82"/>
                </a:cxn>
                <a:cxn ang="0">
                  <a:pos x="34" y="92"/>
                </a:cxn>
                <a:cxn ang="0">
                  <a:pos x="42" y="98"/>
                </a:cxn>
                <a:cxn ang="0">
                  <a:pos x="42" y="98"/>
                </a:cxn>
                <a:cxn ang="0">
                  <a:pos x="42" y="88"/>
                </a:cxn>
                <a:cxn ang="0">
                  <a:pos x="40" y="76"/>
                </a:cxn>
                <a:cxn ang="0">
                  <a:pos x="36" y="60"/>
                </a:cxn>
                <a:cxn ang="0">
                  <a:pos x="32" y="44"/>
                </a:cxn>
                <a:cxn ang="0">
                  <a:pos x="32" y="44"/>
                </a:cxn>
              </a:cxnLst>
              <a:rect l="0" t="0" r="r" b="b"/>
              <a:pathLst>
                <a:path w="42" h="98">
                  <a:moveTo>
                    <a:pt x="32" y="44"/>
                  </a:moveTo>
                  <a:lnTo>
                    <a:pt x="32" y="44"/>
                  </a:lnTo>
                  <a:lnTo>
                    <a:pt x="24" y="30"/>
                  </a:lnTo>
                  <a:lnTo>
                    <a:pt x="16" y="16"/>
                  </a:lnTo>
                  <a:lnTo>
                    <a:pt x="8" y="6"/>
                  </a:lnTo>
                  <a:lnTo>
                    <a:pt x="0" y="0"/>
                  </a:lnTo>
                  <a:lnTo>
                    <a:pt x="0" y="0"/>
                  </a:lnTo>
                  <a:lnTo>
                    <a:pt x="0" y="10"/>
                  </a:lnTo>
                  <a:lnTo>
                    <a:pt x="2" y="22"/>
                  </a:lnTo>
                  <a:lnTo>
                    <a:pt x="6" y="38"/>
                  </a:lnTo>
                  <a:lnTo>
                    <a:pt x="12" y="54"/>
                  </a:lnTo>
                  <a:lnTo>
                    <a:pt x="12" y="54"/>
                  </a:lnTo>
                  <a:lnTo>
                    <a:pt x="18" y="68"/>
                  </a:lnTo>
                  <a:lnTo>
                    <a:pt x="26" y="82"/>
                  </a:lnTo>
                  <a:lnTo>
                    <a:pt x="34" y="92"/>
                  </a:lnTo>
                  <a:lnTo>
                    <a:pt x="42" y="98"/>
                  </a:lnTo>
                  <a:lnTo>
                    <a:pt x="42" y="98"/>
                  </a:lnTo>
                  <a:lnTo>
                    <a:pt x="42" y="88"/>
                  </a:lnTo>
                  <a:lnTo>
                    <a:pt x="40" y="76"/>
                  </a:lnTo>
                  <a:lnTo>
                    <a:pt x="36" y="60"/>
                  </a:lnTo>
                  <a:lnTo>
                    <a:pt x="32" y="44"/>
                  </a:lnTo>
                  <a:lnTo>
                    <a:pt x="32" y="4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59" name="Freeform 162"/>
            <p:cNvSpPr/>
            <p:nvPr/>
          </p:nvSpPr>
          <p:spPr bwMode="auto">
            <a:xfrm>
              <a:off x="4235450" y="3473450"/>
              <a:ext cx="346075" cy="768350"/>
            </a:xfrm>
            <a:custGeom>
              <a:avLst/>
              <a:gdLst/>
              <a:ahLst/>
              <a:cxnLst>
                <a:cxn ang="0">
                  <a:pos x="20" y="462"/>
                </a:cxn>
                <a:cxn ang="0">
                  <a:pos x="32" y="444"/>
                </a:cxn>
                <a:cxn ang="0">
                  <a:pos x="54" y="396"/>
                </a:cxn>
                <a:cxn ang="0">
                  <a:pos x="54" y="396"/>
                </a:cxn>
                <a:cxn ang="0">
                  <a:pos x="70" y="364"/>
                </a:cxn>
                <a:cxn ang="0">
                  <a:pos x="110" y="308"/>
                </a:cxn>
                <a:cxn ang="0">
                  <a:pos x="118" y="296"/>
                </a:cxn>
                <a:cxn ang="0">
                  <a:pos x="132" y="260"/>
                </a:cxn>
                <a:cxn ang="0">
                  <a:pos x="140" y="212"/>
                </a:cxn>
                <a:cxn ang="0">
                  <a:pos x="144" y="190"/>
                </a:cxn>
                <a:cxn ang="0">
                  <a:pos x="158" y="150"/>
                </a:cxn>
                <a:cxn ang="0">
                  <a:pos x="184" y="110"/>
                </a:cxn>
                <a:cxn ang="0">
                  <a:pos x="192" y="96"/>
                </a:cxn>
                <a:cxn ang="0">
                  <a:pos x="208" y="58"/>
                </a:cxn>
                <a:cxn ang="0">
                  <a:pos x="216" y="28"/>
                </a:cxn>
                <a:cxn ang="0">
                  <a:pos x="210" y="16"/>
                </a:cxn>
                <a:cxn ang="0">
                  <a:pos x="170" y="8"/>
                </a:cxn>
                <a:cxn ang="0">
                  <a:pos x="164" y="16"/>
                </a:cxn>
                <a:cxn ang="0">
                  <a:pos x="142" y="60"/>
                </a:cxn>
                <a:cxn ang="0">
                  <a:pos x="134" y="88"/>
                </a:cxn>
                <a:cxn ang="0">
                  <a:pos x="130" y="114"/>
                </a:cxn>
                <a:cxn ang="0">
                  <a:pos x="116" y="156"/>
                </a:cxn>
                <a:cxn ang="0">
                  <a:pos x="92" y="192"/>
                </a:cxn>
                <a:cxn ang="0">
                  <a:pos x="78" y="212"/>
                </a:cxn>
                <a:cxn ang="0">
                  <a:pos x="54" y="256"/>
                </a:cxn>
                <a:cxn ang="0">
                  <a:pos x="46" y="282"/>
                </a:cxn>
                <a:cxn ang="0">
                  <a:pos x="42" y="314"/>
                </a:cxn>
                <a:cxn ang="0">
                  <a:pos x="30" y="366"/>
                </a:cxn>
                <a:cxn ang="0">
                  <a:pos x="22" y="384"/>
                </a:cxn>
                <a:cxn ang="0">
                  <a:pos x="4" y="434"/>
                </a:cxn>
                <a:cxn ang="0">
                  <a:pos x="2" y="456"/>
                </a:cxn>
                <a:cxn ang="0">
                  <a:pos x="20" y="462"/>
                </a:cxn>
              </a:cxnLst>
              <a:rect l="0" t="0" r="r" b="b"/>
              <a:pathLst>
                <a:path w="218" h="484">
                  <a:moveTo>
                    <a:pt x="20" y="462"/>
                  </a:moveTo>
                  <a:lnTo>
                    <a:pt x="20" y="462"/>
                  </a:lnTo>
                  <a:lnTo>
                    <a:pt x="24" y="458"/>
                  </a:lnTo>
                  <a:lnTo>
                    <a:pt x="32" y="444"/>
                  </a:lnTo>
                  <a:lnTo>
                    <a:pt x="44" y="424"/>
                  </a:lnTo>
                  <a:lnTo>
                    <a:pt x="54" y="396"/>
                  </a:lnTo>
                  <a:lnTo>
                    <a:pt x="54" y="396"/>
                  </a:lnTo>
                  <a:lnTo>
                    <a:pt x="54" y="396"/>
                  </a:lnTo>
                  <a:lnTo>
                    <a:pt x="62" y="380"/>
                  </a:lnTo>
                  <a:lnTo>
                    <a:pt x="70" y="364"/>
                  </a:lnTo>
                  <a:lnTo>
                    <a:pt x="90" y="336"/>
                  </a:lnTo>
                  <a:lnTo>
                    <a:pt x="110" y="308"/>
                  </a:lnTo>
                  <a:lnTo>
                    <a:pt x="110" y="308"/>
                  </a:lnTo>
                  <a:lnTo>
                    <a:pt x="118" y="296"/>
                  </a:lnTo>
                  <a:lnTo>
                    <a:pt x="124" y="284"/>
                  </a:lnTo>
                  <a:lnTo>
                    <a:pt x="132" y="260"/>
                  </a:lnTo>
                  <a:lnTo>
                    <a:pt x="138" y="236"/>
                  </a:lnTo>
                  <a:lnTo>
                    <a:pt x="140" y="212"/>
                  </a:lnTo>
                  <a:lnTo>
                    <a:pt x="144" y="190"/>
                  </a:lnTo>
                  <a:lnTo>
                    <a:pt x="144" y="190"/>
                  </a:lnTo>
                  <a:lnTo>
                    <a:pt x="150" y="170"/>
                  </a:lnTo>
                  <a:lnTo>
                    <a:pt x="158" y="150"/>
                  </a:lnTo>
                  <a:lnTo>
                    <a:pt x="170" y="130"/>
                  </a:lnTo>
                  <a:lnTo>
                    <a:pt x="184" y="110"/>
                  </a:lnTo>
                  <a:lnTo>
                    <a:pt x="184" y="110"/>
                  </a:lnTo>
                  <a:lnTo>
                    <a:pt x="192" y="96"/>
                  </a:lnTo>
                  <a:lnTo>
                    <a:pt x="198" y="84"/>
                  </a:lnTo>
                  <a:lnTo>
                    <a:pt x="208" y="58"/>
                  </a:lnTo>
                  <a:lnTo>
                    <a:pt x="214" y="38"/>
                  </a:lnTo>
                  <a:lnTo>
                    <a:pt x="216" y="28"/>
                  </a:lnTo>
                  <a:lnTo>
                    <a:pt x="218" y="18"/>
                  </a:lnTo>
                  <a:lnTo>
                    <a:pt x="210" y="16"/>
                  </a:lnTo>
                  <a:lnTo>
                    <a:pt x="174" y="0"/>
                  </a:lnTo>
                  <a:lnTo>
                    <a:pt x="170" y="8"/>
                  </a:lnTo>
                  <a:lnTo>
                    <a:pt x="170" y="8"/>
                  </a:lnTo>
                  <a:lnTo>
                    <a:pt x="164" y="16"/>
                  </a:lnTo>
                  <a:lnTo>
                    <a:pt x="154" y="34"/>
                  </a:lnTo>
                  <a:lnTo>
                    <a:pt x="142" y="60"/>
                  </a:lnTo>
                  <a:lnTo>
                    <a:pt x="138" y="74"/>
                  </a:lnTo>
                  <a:lnTo>
                    <a:pt x="134" y="88"/>
                  </a:lnTo>
                  <a:lnTo>
                    <a:pt x="134" y="88"/>
                  </a:lnTo>
                  <a:lnTo>
                    <a:pt x="130" y="114"/>
                  </a:lnTo>
                  <a:lnTo>
                    <a:pt x="124" y="136"/>
                  </a:lnTo>
                  <a:lnTo>
                    <a:pt x="116" y="156"/>
                  </a:lnTo>
                  <a:lnTo>
                    <a:pt x="106" y="174"/>
                  </a:lnTo>
                  <a:lnTo>
                    <a:pt x="92" y="192"/>
                  </a:lnTo>
                  <a:lnTo>
                    <a:pt x="92" y="192"/>
                  </a:lnTo>
                  <a:lnTo>
                    <a:pt x="78" y="212"/>
                  </a:lnTo>
                  <a:lnTo>
                    <a:pt x="64" y="232"/>
                  </a:lnTo>
                  <a:lnTo>
                    <a:pt x="54" y="256"/>
                  </a:lnTo>
                  <a:lnTo>
                    <a:pt x="50" y="268"/>
                  </a:lnTo>
                  <a:lnTo>
                    <a:pt x="46" y="282"/>
                  </a:lnTo>
                  <a:lnTo>
                    <a:pt x="42" y="314"/>
                  </a:lnTo>
                  <a:lnTo>
                    <a:pt x="42" y="314"/>
                  </a:lnTo>
                  <a:lnTo>
                    <a:pt x="36" y="350"/>
                  </a:lnTo>
                  <a:lnTo>
                    <a:pt x="30" y="366"/>
                  </a:lnTo>
                  <a:lnTo>
                    <a:pt x="22" y="384"/>
                  </a:lnTo>
                  <a:lnTo>
                    <a:pt x="22" y="384"/>
                  </a:lnTo>
                  <a:lnTo>
                    <a:pt x="12" y="410"/>
                  </a:lnTo>
                  <a:lnTo>
                    <a:pt x="4" y="434"/>
                  </a:lnTo>
                  <a:lnTo>
                    <a:pt x="2" y="448"/>
                  </a:lnTo>
                  <a:lnTo>
                    <a:pt x="2" y="456"/>
                  </a:lnTo>
                  <a:lnTo>
                    <a:pt x="0" y="484"/>
                  </a:lnTo>
                  <a:lnTo>
                    <a:pt x="20" y="46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0" name="Freeform 163"/>
            <p:cNvSpPr/>
            <p:nvPr/>
          </p:nvSpPr>
          <p:spPr bwMode="auto">
            <a:xfrm>
              <a:off x="4254500" y="3495675"/>
              <a:ext cx="307975" cy="701675"/>
            </a:xfrm>
            <a:custGeom>
              <a:avLst/>
              <a:gdLst/>
              <a:ahLst/>
              <a:cxnLst>
                <a:cxn ang="0">
                  <a:pos x="166" y="0"/>
                </a:cxn>
                <a:cxn ang="0">
                  <a:pos x="166" y="0"/>
                </a:cxn>
                <a:cxn ang="0">
                  <a:pos x="162" y="8"/>
                </a:cxn>
                <a:cxn ang="0">
                  <a:pos x="152" y="24"/>
                </a:cxn>
                <a:cxn ang="0">
                  <a:pos x="140" y="48"/>
                </a:cxn>
                <a:cxn ang="0">
                  <a:pos x="136" y="62"/>
                </a:cxn>
                <a:cxn ang="0">
                  <a:pos x="132" y="76"/>
                </a:cxn>
                <a:cxn ang="0">
                  <a:pos x="132" y="76"/>
                </a:cxn>
                <a:cxn ang="0">
                  <a:pos x="128" y="102"/>
                </a:cxn>
                <a:cxn ang="0">
                  <a:pos x="122" y="124"/>
                </a:cxn>
                <a:cxn ang="0">
                  <a:pos x="114" y="146"/>
                </a:cxn>
                <a:cxn ang="0">
                  <a:pos x="102" y="166"/>
                </a:cxn>
                <a:cxn ang="0">
                  <a:pos x="102" y="166"/>
                </a:cxn>
                <a:cxn ang="0">
                  <a:pos x="86" y="186"/>
                </a:cxn>
                <a:cxn ang="0">
                  <a:pos x="70" y="210"/>
                </a:cxn>
                <a:cxn ang="0">
                  <a:pos x="62" y="224"/>
                </a:cxn>
                <a:cxn ang="0">
                  <a:pos x="54" y="238"/>
                </a:cxn>
                <a:cxn ang="0">
                  <a:pos x="48" y="254"/>
                </a:cxn>
                <a:cxn ang="0">
                  <a:pos x="44" y="270"/>
                </a:cxn>
                <a:cxn ang="0">
                  <a:pos x="44" y="270"/>
                </a:cxn>
                <a:cxn ang="0">
                  <a:pos x="36" y="326"/>
                </a:cxn>
                <a:cxn ang="0">
                  <a:pos x="30" y="350"/>
                </a:cxn>
                <a:cxn ang="0">
                  <a:pos x="20" y="374"/>
                </a:cxn>
                <a:cxn ang="0">
                  <a:pos x="20" y="374"/>
                </a:cxn>
                <a:cxn ang="0">
                  <a:pos x="8" y="400"/>
                </a:cxn>
                <a:cxn ang="0">
                  <a:pos x="2" y="422"/>
                </a:cxn>
                <a:cxn ang="0">
                  <a:pos x="0" y="442"/>
                </a:cxn>
                <a:cxn ang="0">
                  <a:pos x="0" y="442"/>
                </a:cxn>
                <a:cxn ang="0">
                  <a:pos x="0" y="442"/>
                </a:cxn>
                <a:cxn ang="0">
                  <a:pos x="12" y="424"/>
                </a:cxn>
                <a:cxn ang="0">
                  <a:pos x="22" y="406"/>
                </a:cxn>
                <a:cxn ang="0">
                  <a:pos x="32" y="380"/>
                </a:cxn>
                <a:cxn ang="0">
                  <a:pos x="32" y="380"/>
                </a:cxn>
                <a:cxn ang="0">
                  <a:pos x="44" y="354"/>
                </a:cxn>
                <a:cxn ang="0">
                  <a:pos x="56" y="334"/>
                </a:cxn>
                <a:cxn ang="0">
                  <a:pos x="90" y="288"/>
                </a:cxn>
                <a:cxn ang="0">
                  <a:pos x="90" y="288"/>
                </a:cxn>
                <a:cxn ang="0">
                  <a:pos x="98" y="274"/>
                </a:cxn>
                <a:cxn ang="0">
                  <a:pos x="106" y="260"/>
                </a:cxn>
                <a:cxn ang="0">
                  <a:pos x="110" y="244"/>
                </a:cxn>
                <a:cxn ang="0">
                  <a:pos x="114" y="228"/>
                </a:cxn>
                <a:cxn ang="0">
                  <a:pos x="118" y="200"/>
                </a:cxn>
                <a:cxn ang="0">
                  <a:pos x="122" y="174"/>
                </a:cxn>
                <a:cxn ang="0">
                  <a:pos x="122" y="174"/>
                </a:cxn>
                <a:cxn ang="0">
                  <a:pos x="128" y="152"/>
                </a:cxn>
                <a:cxn ang="0">
                  <a:pos x="138" y="130"/>
                </a:cxn>
                <a:cxn ang="0">
                  <a:pos x="150" y="110"/>
                </a:cxn>
                <a:cxn ang="0">
                  <a:pos x="164" y="88"/>
                </a:cxn>
                <a:cxn ang="0">
                  <a:pos x="164" y="88"/>
                </a:cxn>
                <a:cxn ang="0">
                  <a:pos x="172" y="76"/>
                </a:cxn>
                <a:cxn ang="0">
                  <a:pos x="178" y="64"/>
                </a:cxn>
                <a:cxn ang="0">
                  <a:pos x="188" y="40"/>
                </a:cxn>
                <a:cxn ang="0">
                  <a:pos x="192" y="20"/>
                </a:cxn>
                <a:cxn ang="0">
                  <a:pos x="194" y="12"/>
                </a:cxn>
                <a:cxn ang="0">
                  <a:pos x="166" y="0"/>
                </a:cxn>
              </a:cxnLst>
              <a:rect l="0" t="0" r="r" b="b"/>
              <a:pathLst>
                <a:path w="194" h="442">
                  <a:moveTo>
                    <a:pt x="166" y="0"/>
                  </a:moveTo>
                  <a:lnTo>
                    <a:pt x="166" y="0"/>
                  </a:lnTo>
                  <a:lnTo>
                    <a:pt x="162" y="8"/>
                  </a:lnTo>
                  <a:lnTo>
                    <a:pt x="152" y="24"/>
                  </a:lnTo>
                  <a:lnTo>
                    <a:pt x="140" y="48"/>
                  </a:lnTo>
                  <a:lnTo>
                    <a:pt x="136" y="62"/>
                  </a:lnTo>
                  <a:lnTo>
                    <a:pt x="132" y="76"/>
                  </a:lnTo>
                  <a:lnTo>
                    <a:pt x="132" y="76"/>
                  </a:lnTo>
                  <a:lnTo>
                    <a:pt x="128" y="102"/>
                  </a:lnTo>
                  <a:lnTo>
                    <a:pt x="122" y="124"/>
                  </a:lnTo>
                  <a:lnTo>
                    <a:pt x="114" y="146"/>
                  </a:lnTo>
                  <a:lnTo>
                    <a:pt x="102" y="166"/>
                  </a:lnTo>
                  <a:lnTo>
                    <a:pt x="102" y="166"/>
                  </a:lnTo>
                  <a:lnTo>
                    <a:pt x="86" y="186"/>
                  </a:lnTo>
                  <a:lnTo>
                    <a:pt x="70" y="210"/>
                  </a:lnTo>
                  <a:lnTo>
                    <a:pt x="62" y="224"/>
                  </a:lnTo>
                  <a:lnTo>
                    <a:pt x="54" y="238"/>
                  </a:lnTo>
                  <a:lnTo>
                    <a:pt x="48" y="254"/>
                  </a:lnTo>
                  <a:lnTo>
                    <a:pt x="44" y="270"/>
                  </a:lnTo>
                  <a:lnTo>
                    <a:pt x="44" y="270"/>
                  </a:lnTo>
                  <a:lnTo>
                    <a:pt x="36" y="326"/>
                  </a:lnTo>
                  <a:lnTo>
                    <a:pt x="30" y="350"/>
                  </a:lnTo>
                  <a:lnTo>
                    <a:pt x="20" y="374"/>
                  </a:lnTo>
                  <a:lnTo>
                    <a:pt x="20" y="374"/>
                  </a:lnTo>
                  <a:lnTo>
                    <a:pt x="8" y="400"/>
                  </a:lnTo>
                  <a:lnTo>
                    <a:pt x="2" y="422"/>
                  </a:lnTo>
                  <a:lnTo>
                    <a:pt x="0" y="442"/>
                  </a:lnTo>
                  <a:lnTo>
                    <a:pt x="0" y="442"/>
                  </a:lnTo>
                  <a:lnTo>
                    <a:pt x="0" y="442"/>
                  </a:lnTo>
                  <a:lnTo>
                    <a:pt x="12" y="424"/>
                  </a:lnTo>
                  <a:lnTo>
                    <a:pt x="22" y="406"/>
                  </a:lnTo>
                  <a:lnTo>
                    <a:pt x="32" y="380"/>
                  </a:lnTo>
                  <a:lnTo>
                    <a:pt x="32" y="380"/>
                  </a:lnTo>
                  <a:lnTo>
                    <a:pt x="44" y="354"/>
                  </a:lnTo>
                  <a:lnTo>
                    <a:pt x="56" y="334"/>
                  </a:lnTo>
                  <a:lnTo>
                    <a:pt x="90" y="288"/>
                  </a:lnTo>
                  <a:lnTo>
                    <a:pt x="90" y="288"/>
                  </a:lnTo>
                  <a:lnTo>
                    <a:pt x="98" y="274"/>
                  </a:lnTo>
                  <a:lnTo>
                    <a:pt x="106" y="260"/>
                  </a:lnTo>
                  <a:lnTo>
                    <a:pt x="110" y="244"/>
                  </a:lnTo>
                  <a:lnTo>
                    <a:pt x="114" y="228"/>
                  </a:lnTo>
                  <a:lnTo>
                    <a:pt x="118" y="200"/>
                  </a:lnTo>
                  <a:lnTo>
                    <a:pt x="122" y="174"/>
                  </a:lnTo>
                  <a:lnTo>
                    <a:pt x="122" y="174"/>
                  </a:lnTo>
                  <a:lnTo>
                    <a:pt x="128" y="152"/>
                  </a:lnTo>
                  <a:lnTo>
                    <a:pt x="138" y="130"/>
                  </a:lnTo>
                  <a:lnTo>
                    <a:pt x="150" y="110"/>
                  </a:lnTo>
                  <a:lnTo>
                    <a:pt x="164" y="88"/>
                  </a:lnTo>
                  <a:lnTo>
                    <a:pt x="164" y="88"/>
                  </a:lnTo>
                  <a:lnTo>
                    <a:pt x="172" y="76"/>
                  </a:lnTo>
                  <a:lnTo>
                    <a:pt x="178" y="64"/>
                  </a:lnTo>
                  <a:lnTo>
                    <a:pt x="188" y="40"/>
                  </a:lnTo>
                  <a:lnTo>
                    <a:pt x="192" y="20"/>
                  </a:lnTo>
                  <a:lnTo>
                    <a:pt x="194" y="12"/>
                  </a:lnTo>
                  <a:lnTo>
                    <a:pt x="166"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1" name="Freeform 164"/>
            <p:cNvSpPr/>
            <p:nvPr/>
          </p:nvSpPr>
          <p:spPr bwMode="auto">
            <a:xfrm>
              <a:off x="4346575" y="3816350"/>
              <a:ext cx="66675" cy="155575"/>
            </a:xfrm>
            <a:custGeom>
              <a:avLst/>
              <a:gdLst/>
              <a:ahLst/>
              <a:cxnLst>
                <a:cxn ang="0">
                  <a:pos x="30" y="54"/>
                </a:cxn>
                <a:cxn ang="0">
                  <a:pos x="30" y="54"/>
                </a:cxn>
                <a:cxn ang="0">
                  <a:pos x="36" y="38"/>
                </a:cxn>
                <a:cxn ang="0">
                  <a:pos x="40" y="22"/>
                </a:cxn>
                <a:cxn ang="0">
                  <a:pos x="42" y="10"/>
                </a:cxn>
                <a:cxn ang="0">
                  <a:pos x="42" y="0"/>
                </a:cxn>
                <a:cxn ang="0">
                  <a:pos x="42" y="0"/>
                </a:cxn>
                <a:cxn ang="0">
                  <a:pos x="34" y="6"/>
                </a:cxn>
                <a:cxn ang="0">
                  <a:pos x="26" y="16"/>
                </a:cxn>
                <a:cxn ang="0">
                  <a:pos x="18" y="30"/>
                </a:cxn>
                <a:cxn ang="0">
                  <a:pos x="10" y="44"/>
                </a:cxn>
                <a:cxn ang="0">
                  <a:pos x="10" y="44"/>
                </a:cxn>
                <a:cxn ang="0">
                  <a:pos x="6" y="60"/>
                </a:cxn>
                <a:cxn ang="0">
                  <a:pos x="2" y="76"/>
                </a:cxn>
                <a:cxn ang="0">
                  <a:pos x="0" y="88"/>
                </a:cxn>
                <a:cxn ang="0">
                  <a:pos x="0" y="98"/>
                </a:cxn>
                <a:cxn ang="0">
                  <a:pos x="0" y="98"/>
                </a:cxn>
                <a:cxn ang="0">
                  <a:pos x="8" y="92"/>
                </a:cxn>
                <a:cxn ang="0">
                  <a:pos x="16" y="82"/>
                </a:cxn>
                <a:cxn ang="0">
                  <a:pos x="24" y="68"/>
                </a:cxn>
                <a:cxn ang="0">
                  <a:pos x="30" y="54"/>
                </a:cxn>
                <a:cxn ang="0">
                  <a:pos x="30" y="54"/>
                </a:cxn>
              </a:cxnLst>
              <a:rect l="0" t="0" r="r" b="b"/>
              <a:pathLst>
                <a:path w="42" h="98">
                  <a:moveTo>
                    <a:pt x="30" y="54"/>
                  </a:moveTo>
                  <a:lnTo>
                    <a:pt x="30" y="54"/>
                  </a:lnTo>
                  <a:lnTo>
                    <a:pt x="36" y="38"/>
                  </a:lnTo>
                  <a:lnTo>
                    <a:pt x="40" y="22"/>
                  </a:lnTo>
                  <a:lnTo>
                    <a:pt x="42" y="10"/>
                  </a:lnTo>
                  <a:lnTo>
                    <a:pt x="42" y="0"/>
                  </a:lnTo>
                  <a:lnTo>
                    <a:pt x="42" y="0"/>
                  </a:lnTo>
                  <a:lnTo>
                    <a:pt x="34" y="6"/>
                  </a:lnTo>
                  <a:lnTo>
                    <a:pt x="26" y="16"/>
                  </a:lnTo>
                  <a:lnTo>
                    <a:pt x="18" y="30"/>
                  </a:lnTo>
                  <a:lnTo>
                    <a:pt x="10" y="44"/>
                  </a:lnTo>
                  <a:lnTo>
                    <a:pt x="10" y="44"/>
                  </a:lnTo>
                  <a:lnTo>
                    <a:pt x="6" y="60"/>
                  </a:lnTo>
                  <a:lnTo>
                    <a:pt x="2" y="76"/>
                  </a:lnTo>
                  <a:lnTo>
                    <a:pt x="0" y="88"/>
                  </a:lnTo>
                  <a:lnTo>
                    <a:pt x="0" y="98"/>
                  </a:lnTo>
                  <a:lnTo>
                    <a:pt x="0" y="98"/>
                  </a:lnTo>
                  <a:lnTo>
                    <a:pt x="8" y="92"/>
                  </a:lnTo>
                  <a:lnTo>
                    <a:pt x="16" y="82"/>
                  </a:lnTo>
                  <a:lnTo>
                    <a:pt x="24" y="68"/>
                  </a:lnTo>
                  <a:lnTo>
                    <a:pt x="30" y="54"/>
                  </a:lnTo>
                  <a:lnTo>
                    <a:pt x="30" y="54"/>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2" name="Freeform 165"/>
            <p:cNvSpPr/>
            <p:nvPr/>
          </p:nvSpPr>
          <p:spPr bwMode="auto">
            <a:xfrm>
              <a:off x="3759200" y="3419475"/>
              <a:ext cx="768350" cy="346075"/>
            </a:xfrm>
            <a:custGeom>
              <a:avLst/>
              <a:gdLst/>
              <a:ahLst/>
              <a:cxnLst>
                <a:cxn ang="0">
                  <a:pos x="28" y="216"/>
                </a:cxn>
                <a:cxn ang="0">
                  <a:pos x="50" y="214"/>
                </a:cxn>
                <a:cxn ang="0">
                  <a:pos x="100" y="196"/>
                </a:cxn>
                <a:cxn ang="0">
                  <a:pos x="100" y="196"/>
                </a:cxn>
                <a:cxn ang="0">
                  <a:pos x="134" y="182"/>
                </a:cxn>
                <a:cxn ang="0">
                  <a:pos x="202" y="172"/>
                </a:cxn>
                <a:cxn ang="0">
                  <a:pos x="216" y="168"/>
                </a:cxn>
                <a:cxn ang="0">
                  <a:pos x="252" y="154"/>
                </a:cxn>
                <a:cxn ang="0">
                  <a:pos x="292" y="126"/>
                </a:cxn>
                <a:cxn ang="0">
                  <a:pos x="310" y="112"/>
                </a:cxn>
                <a:cxn ang="0">
                  <a:pos x="348" y="94"/>
                </a:cxn>
                <a:cxn ang="0">
                  <a:pos x="396" y="84"/>
                </a:cxn>
                <a:cxn ang="0">
                  <a:pos x="410" y="80"/>
                </a:cxn>
                <a:cxn ang="0">
                  <a:pos x="448" y="64"/>
                </a:cxn>
                <a:cxn ang="0">
                  <a:pos x="476" y="48"/>
                </a:cxn>
                <a:cxn ang="0">
                  <a:pos x="480" y="36"/>
                </a:cxn>
                <a:cxn ang="0">
                  <a:pos x="456" y="2"/>
                </a:cxn>
                <a:cxn ang="0">
                  <a:pos x="448" y="4"/>
                </a:cxn>
                <a:cxn ang="0">
                  <a:pos x="400" y="18"/>
                </a:cxn>
                <a:cxn ang="0">
                  <a:pos x="374" y="34"/>
                </a:cxn>
                <a:cxn ang="0">
                  <a:pos x="354" y="48"/>
                </a:cxn>
                <a:cxn ang="0">
                  <a:pos x="314" y="68"/>
                </a:cxn>
                <a:cxn ang="0">
                  <a:pos x="272" y="78"/>
                </a:cxn>
                <a:cxn ang="0">
                  <a:pos x="248" y="80"/>
                </a:cxn>
                <a:cxn ang="0">
                  <a:pos x="200" y="94"/>
                </a:cxn>
                <a:cxn ang="0">
                  <a:pos x="176" y="108"/>
                </a:cxn>
                <a:cxn ang="0">
                  <a:pos x="148" y="128"/>
                </a:cxn>
                <a:cxn ang="0">
                  <a:pos x="104" y="156"/>
                </a:cxn>
                <a:cxn ang="0">
                  <a:pos x="88" y="164"/>
                </a:cxn>
                <a:cxn ang="0">
                  <a:pos x="40" y="186"/>
                </a:cxn>
                <a:cxn ang="0">
                  <a:pos x="22" y="198"/>
                </a:cxn>
                <a:cxn ang="0">
                  <a:pos x="28" y="216"/>
                </a:cxn>
              </a:cxnLst>
              <a:rect l="0" t="0" r="r" b="b"/>
              <a:pathLst>
                <a:path w="484" h="218">
                  <a:moveTo>
                    <a:pt x="28" y="216"/>
                  </a:moveTo>
                  <a:lnTo>
                    <a:pt x="28" y="216"/>
                  </a:lnTo>
                  <a:lnTo>
                    <a:pt x="36" y="216"/>
                  </a:lnTo>
                  <a:lnTo>
                    <a:pt x="50" y="214"/>
                  </a:lnTo>
                  <a:lnTo>
                    <a:pt x="74" y="206"/>
                  </a:lnTo>
                  <a:lnTo>
                    <a:pt x="100" y="196"/>
                  </a:lnTo>
                  <a:lnTo>
                    <a:pt x="100" y="196"/>
                  </a:lnTo>
                  <a:lnTo>
                    <a:pt x="100" y="196"/>
                  </a:lnTo>
                  <a:lnTo>
                    <a:pt x="118" y="188"/>
                  </a:lnTo>
                  <a:lnTo>
                    <a:pt x="134" y="182"/>
                  </a:lnTo>
                  <a:lnTo>
                    <a:pt x="170" y="176"/>
                  </a:lnTo>
                  <a:lnTo>
                    <a:pt x="202" y="172"/>
                  </a:lnTo>
                  <a:lnTo>
                    <a:pt x="202" y="172"/>
                  </a:lnTo>
                  <a:lnTo>
                    <a:pt x="216" y="168"/>
                  </a:lnTo>
                  <a:lnTo>
                    <a:pt x="228" y="164"/>
                  </a:lnTo>
                  <a:lnTo>
                    <a:pt x="252" y="154"/>
                  </a:lnTo>
                  <a:lnTo>
                    <a:pt x="272" y="140"/>
                  </a:lnTo>
                  <a:lnTo>
                    <a:pt x="292" y="126"/>
                  </a:lnTo>
                  <a:lnTo>
                    <a:pt x="310" y="112"/>
                  </a:lnTo>
                  <a:lnTo>
                    <a:pt x="310" y="112"/>
                  </a:lnTo>
                  <a:lnTo>
                    <a:pt x="328" y="102"/>
                  </a:lnTo>
                  <a:lnTo>
                    <a:pt x="348" y="94"/>
                  </a:lnTo>
                  <a:lnTo>
                    <a:pt x="370" y="88"/>
                  </a:lnTo>
                  <a:lnTo>
                    <a:pt x="396" y="84"/>
                  </a:lnTo>
                  <a:lnTo>
                    <a:pt x="396" y="84"/>
                  </a:lnTo>
                  <a:lnTo>
                    <a:pt x="410" y="80"/>
                  </a:lnTo>
                  <a:lnTo>
                    <a:pt x="424" y="76"/>
                  </a:lnTo>
                  <a:lnTo>
                    <a:pt x="448" y="64"/>
                  </a:lnTo>
                  <a:lnTo>
                    <a:pt x="466" y="54"/>
                  </a:lnTo>
                  <a:lnTo>
                    <a:pt x="476" y="48"/>
                  </a:lnTo>
                  <a:lnTo>
                    <a:pt x="484" y="44"/>
                  </a:lnTo>
                  <a:lnTo>
                    <a:pt x="480" y="36"/>
                  </a:lnTo>
                  <a:lnTo>
                    <a:pt x="466" y="0"/>
                  </a:lnTo>
                  <a:lnTo>
                    <a:pt x="456" y="2"/>
                  </a:lnTo>
                  <a:lnTo>
                    <a:pt x="456" y="2"/>
                  </a:lnTo>
                  <a:lnTo>
                    <a:pt x="448" y="4"/>
                  </a:lnTo>
                  <a:lnTo>
                    <a:pt x="426" y="10"/>
                  </a:lnTo>
                  <a:lnTo>
                    <a:pt x="400" y="18"/>
                  </a:lnTo>
                  <a:lnTo>
                    <a:pt x="388" y="26"/>
                  </a:lnTo>
                  <a:lnTo>
                    <a:pt x="374" y="34"/>
                  </a:lnTo>
                  <a:lnTo>
                    <a:pt x="374" y="34"/>
                  </a:lnTo>
                  <a:lnTo>
                    <a:pt x="354" y="48"/>
                  </a:lnTo>
                  <a:lnTo>
                    <a:pt x="334" y="60"/>
                  </a:lnTo>
                  <a:lnTo>
                    <a:pt x="314" y="68"/>
                  </a:lnTo>
                  <a:lnTo>
                    <a:pt x="294" y="74"/>
                  </a:lnTo>
                  <a:lnTo>
                    <a:pt x="272" y="78"/>
                  </a:lnTo>
                  <a:lnTo>
                    <a:pt x="272" y="78"/>
                  </a:lnTo>
                  <a:lnTo>
                    <a:pt x="248" y="80"/>
                  </a:lnTo>
                  <a:lnTo>
                    <a:pt x="224" y="86"/>
                  </a:lnTo>
                  <a:lnTo>
                    <a:pt x="200" y="94"/>
                  </a:lnTo>
                  <a:lnTo>
                    <a:pt x="188" y="100"/>
                  </a:lnTo>
                  <a:lnTo>
                    <a:pt x="176" y="108"/>
                  </a:lnTo>
                  <a:lnTo>
                    <a:pt x="148" y="128"/>
                  </a:lnTo>
                  <a:lnTo>
                    <a:pt x="148" y="128"/>
                  </a:lnTo>
                  <a:lnTo>
                    <a:pt x="120" y="148"/>
                  </a:lnTo>
                  <a:lnTo>
                    <a:pt x="104" y="156"/>
                  </a:lnTo>
                  <a:lnTo>
                    <a:pt x="88" y="164"/>
                  </a:lnTo>
                  <a:lnTo>
                    <a:pt x="88" y="164"/>
                  </a:lnTo>
                  <a:lnTo>
                    <a:pt x="60" y="174"/>
                  </a:lnTo>
                  <a:lnTo>
                    <a:pt x="40" y="186"/>
                  </a:lnTo>
                  <a:lnTo>
                    <a:pt x="26" y="194"/>
                  </a:lnTo>
                  <a:lnTo>
                    <a:pt x="22" y="198"/>
                  </a:lnTo>
                  <a:lnTo>
                    <a:pt x="0" y="218"/>
                  </a:lnTo>
                  <a:lnTo>
                    <a:pt x="28" y="216"/>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3" name="Freeform 166"/>
            <p:cNvSpPr/>
            <p:nvPr/>
          </p:nvSpPr>
          <p:spPr bwMode="auto">
            <a:xfrm>
              <a:off x="3803650" y="3438525"/>
              <a:ext cx="701675" cy="307975"/>
            </a:xfrm>
            <a:custGeom>
              <a:avLst/>
              <a:gdLst/>
              <a:ahLst/>
              <a:cxnLst>
                <a:cxn ang="0">
                  <a:pos x="430" y="0"/>
                </a:cxn>
                <a:cxn ang="0">
                  <a:pos x="430" y="0"/>
                </a:cxn>
                <a:cxn ang="0">
                  <a:pos x="422" y="2"/>
                </a:cxn>
                <a:cxn ang="0">
                  <a:pos x="402" y="6"/>
                </a:cxn>
                <a:cxn ang="0">
                  <a:pos x="378" y="16"/>
                </a:cxn>
                <a:cxn ang="0">
                  <a:pos x="366" y="22"/>
                </a:cxn>
                <a:cxn ang="0">
                  <a:pos x="354" y="30"/>
                </a:cxn>
                <a:cxn ang="0">
                  <a:pos x="354" y="30"/>
                </a:cxn>
                <a:cxn ang="0">
                  <a:pos x="332" y="44"/>
                </a:cxn>
                <a:cxn ang="0">
                  <a:pos x="312" y="56"/>
                </a:cxn>
                <a:cxn ang="0">
                  <a:pos x="290" y="66"/>
                </a:cxn>
                <a:cxn ang="0">
                  <a:pos x="268" y="72"/>
                </a:cxn>
                <a:cxn ang="0">
                  <a:pos x="268" y="72"/>
                </a:cxn>
                <a:cxn ang="0">
                  <a:pos x="242" y="76"/>
                </a:cxn>
                <a:cxn ang="0">
                  <a:pos x="214" y="80"/>
                </a:cxn>
                <a:cxn ang="0">
                  <a:pos x="198" y="84"/>
                </a:cxn>
                <a:cxn ang="0">
                  <a:pos x="182" y="88"/>
                </a:cxn>
                <a:cxn ang="0">
                  <a:pos x="168" y="96"/>
                </a:cxn>
                <a:cxn ang="0">
                  <a:pos x="154" y="104"/>
                </a:cxn>
                <a:cxn ang="0">
                  <a:pos x="154" y="104"/>
                </a:cxn>
                <a:cxn ang="0">
                  <a:pos x="108" y="138"/>
                </a:cxn>
                <a:cxn ang="0">
                  <a:pos x="88" y="150"/>
                </a:cxn>
                <a:cxn ang="0">
                  <a:pos x="62" y="162"/>
                </a:cxn>
                <a:cxn ang="0">
                  <a:pos x="62" y="162"/>
                </a:cxn>
                <a:cxn ang="0">
                  <a:pos x="36" y="172"/>
                </a:cxn>
                <a:cxn ang="0">
                  <a:pos x="18" y="182"/>
                </a:cxn>
                <a:cxn ang="0">
                  <a:pos x="0" y="194"/>
                </a:cxn>
                <a:cxn ang="0">
                  <a:pos x="0" y="194"/>
                </a:cxn>
                <a:cxn ang="0">
                  <a:pos x="0" y="194"/>
                </a:cxn>
                <a:cxn ang="0">
                  <a:pos x="20" y="192"/>
                </a:cxn>
                <a:cxn ang="0">
                  <a:pos x="42" y="186"/>
                </a:cxn>
                <a:cxn ang="0">
                  <a:pos x="68" y="174"/>
                </a:cxn>
                <a:cxn ang="0">
                  <a:pos x="68" y="174"/>
                </a:cxn>
                <a:cxn ang="0">
                  <a:pos x="92" y="164"/>
                </a:cxn>
                <a:cxn ang="0">
                  <a:pos x="116" y="158"/>
                </a:cxn>
                <a:cxn ang="0">
                  <a:pos x="172" y="150"/>
                </a:cxn>
                <a:cxn ang="0">
                  <a:pos x="172" y="150"/>
                </a:cxn>
                <a:cxn ang="0">
                  <a:pos x="188" y="146"/>
                </a:cxn>
                <a:cxn ang="0">
                  <a:pos x="204" y="140"/>
                </a:cxn>
                <a:cxn ang="0">
                  <a:pos x="218" y="132"/>
                </a:cxn>
                <a:cxn ang="0">
                  <a:pos x="232" y="124"/>
                </a:cxn>
                <a:cxn ang="0">
                  <a:pos x="256" y="108"/>
                </a:cxn>
                <a:cxn ang="0">
                  <a:pos x="276" y="92"/>
                </a:cxn>
                <a:cxn ang="0">
                  <a:pos x="276" y="92"/>
                </a:cxn>
                <a:cxn ang="0">
                  <a:pos x="296" y="80"/>
                </a:cxn>
                <a:cxn ang="0">
                  <a:pos x="318" y="72"/>
                </a:cxn>
                <a:cxn ang="0">
                  <a:pos x="340" y="66"/>
                </a:cxn>
                <a:cxn ang="0">
                  <a:pos x="366" y="62"/>
                </a:cxn>
                <a:cxn ang="0">
                  <a:pos x="366" y="62"/>
                </a:cxn>
                <a:cxn ang="0">
                  <a:pos x="380" y="58"/>
                </a:cxn>
                <a:cxn ang="0">
                  <a:pos x="394" y="54"/>
                </a:cxn>
                <a:cxn ang="0">
                  <a:pos x="418" y="42"/>
                </a:cxn>
                <a:cxn ang="0">
                  <a:pos x="434" y="32"/>
                </a:cxn>
                <a:cxn ang="0">
                  <a:pos x="442" y="28"/>
                </a:cxn>
                <a:cxn ang="0">
                  <a:pos x="430" y="0"/>
                </a:cxn>
              </a:cxnLst>
              <a:rect l="0" t="0" r="r" b="b"/>
              <a:pathLst>
                <a:path w="442" h="194">
                  <a:moveTo>
                    <a:pt x="430" y="0"/>
                  </a:moveTo>
                  <a:lnTo>
                    <a:pt x="430" y="0"/>
                  </a:lnTo>
                  <a:lnTo>
                    <a:pt x="422" y="2"/>
                  </a:lnTo>
                  <a:lnTo>
                    <a:pt x="402" y="6"/>
                  </a:lnTo>
                  <a:lnTo>
                    <a:pt x="378" y="16"/>
                  </a:lnTo>
                  <a:lnTo>
                    <a:pt x="366" y="22"/>
                  </a:lnTo>
                  <a:lnTo>
                    <a:pt x="354" y="30"/>
                  </a:lnTo>
                  <a:lnTo>
                    <a:pt x="354" y="30"/>
                  </a:lnTo>
                  <a:lnTo>
                    <a:pt x="332" y="44"/>
                  </a:lnTo>
                  <a:lnTo>
                    <a:pt x="312" y="56"/>
                  </a:lnTo>
                  <a:lnTo>
                    <a:pt x="290" y="66"/>
                  </a:lnTo>
                  <a:lnTo>
                    <a:pt x="268" y="72"/>
                  </a:lnTo>
                  <a:lnTo>
                    <a:pt x="268" y="72"/>
                  </a:lnTo>
                  <a:lnTo>
                    <a:pt x="242" y="76"/>
                  </a:lnTo>
                  <a:lnTo>
                    <a:pt x="214" y="80"/>
                  </a:lnTo>
                  <a:lnTo>
                    <a:pt x="198" y="84"/>
                  </a:lnTo>
                  <a:lnTo>
                    <a:pt x="182" y="88"/>
                  </a:lnTo>
                  <a:lnTo>
                    <a:pt x="168" y="96"/>
                  </a:lnTo>
                  <a:lnTo>
                    <a:pt x="154" y="104"/>
                  </a:lnTo>
                  <a:lnTo>
                    <a:pt x="154" y="104"/>
                  </a:lnTo>
                  <a:lnTo>
                    <a:pt x="108" y="138"/>
                  </a:lnTo>
                  <a:lnTo>
                    <a:pt x="88" y="150"/>
                  </a:lnTo>
                  <a:lnTo>
                    <a:pt x="62" y="162"/>
                  </a:lnTo>
                  <a:lnTo>
                    <a:pt x="62" y="162"/>
                  </a:lnTo>
                  <a:lnTo>
                    <a:pt x="36" y="172"/>
                  </a:lnTo>
                  <a:lnTo>
                    <a:pt x="18" y="182"/>
                  </a:lnTo>
                  <a:lnTo>
                    <a:pt x="0" y="194"/>
                  </a:lnTo>
                  <a:lnTo>
                    <a:pt x="0" y="194"/>
                  </a:lnTo>
                  <a:lnTo>
                    <a:pt x="0" y="194"/>
                  </a:lnTo>
                  <a:lnTo>
                    <a:pt x="20" y="192"/>
                  </a:lnTo>
                  <a:lnTo>
                    <a:pt x="42" y="186"/>
                  </a:lnTo>
                  <a:lnTo>
                    <a:pt x="68" y="174"/>
                  </a:lnTo>
                  <a:lnTo>
                    <a:pt x="68" y="174"/>
                  </a:lnTo>
                  <a:lnTo>
                    <a:pt x="92" y="164"/>
                  </a:lnTo>
                  <a:lnTo>
                    <a:pt x="116" y="158"/>
                  </a:lnTo>
                  <a:lnTo>
                    <a:pt x="172" y="150"/>
                  </a:lnTo>
                  <a:lnTo>
                    <a:pt x="172" y="150"/>
                  </a:lnTo>
                  <a:lnTo>
                    <a:pt x="188" y="146"/>
                  </a:lnTo>
                  <a:lnTo>
                    <a:pt x="204" y="140"/>
                  </a:lnTo>
                  <a:lnTo>
                    <a:pt x="218" y="132"/>
                  </a:lnTo>
                  <a:lnTo>
                    <a:pt x="232" y="124"/>
                  </a:lnTo>
                  <a:lnTo>
                    <a:pt x="256" y="108"/>
                  </a:lnTo>
                  <a:lnTo>
                    <a:pt x="276" y="92"/>
                  </a:lnTo>
                  <a:lnTo>
                    <a:pt x="276" y="92"/>
                  </a:lnTo>
                  <a:lnTo>
                    <a:pt x="296" y="80"/>
                  </a:lnTo>
                  <a:lnTo>
                    <a:pt x="318" y="72"/>
                  </a:lnTo>
                  <a:lnTo>
                    <a:pt x="340" y="66"/>
                  </a:lnTo>
                  <a:lnTo>
                    <a:pt x="366" y="62"/>
                  </a:lnTo>
                  <a:lnTo>
                    <a:pt x="366" y="62"/>
                  </a:lnTo>
                  <a:lnTo>
                    <a:pt x="380" y="58"/>
                  </a:lnTo>
                  <a:lnTo>
                    <a:pt x="394" y="54"/>
                  </a:lnTo>
                  <a:lnTo>
                    <a:pt x="418" y="42"/>
                  </a:lnTo>
                  <a:lnTo>
                    <a:pt x="434" y="32"/>
                  </a:lnTo>
                  <a:lnTo>
                    <a:pt x="442" y="28"/>
                  </a:lnTo>
                  <a:lnTo>
                    <a:pt x="430" y="0"/>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4" name="Freeform 167"/>
            <p:cNvSpPr/>
            <p:nvPr/>
          </p:nvSpPr>
          <p:spPr bwMode="auto">
            <a:xfrm>
              <a:off x="4029075" y="3587750"/>
              <a:ext cx="155575" cy="66675"/>
            </a:xfrm>
            <a:custGeom>
              <a:avLst/>
              <a:gdLst/>
              <a:ahLst/>
              <a:cxnLst>
                <a:cxn ang="0">
                  <a:pos x="54" y="32"/>
                </a:cxn>
                <a:cxn ang="0">
                  <a:pos x="54" y="32"/>
                </a:cxn>
                <a:cxn ang="0">
                  <a:pos x="68" y="24"/>
                </a:cxn>
                <a:cxn ang="0">
                  <a:pos x="82" y="16"/>
                </a:cxn>
                <a:cxn ang="0">
                  <a:pos x="92" y="8"/>
                </a:cxn>
                <a:cxn ang="0">
                  <a:pos x="98" y="0"/>
                </a:cxn>
                <a:cxn ang="0">
                  <a:pos x="98" y="0"/>
                </a:cxn>
                <a:cxn ang="0">
                  <a:pos x="88" y="0"/>
                </a:cxn>
                <a:cxn ang="0">
                  <a:pos x="76" y="2"/>
                </a:cxn>
                <a:cxn ang="0">
                  <a:pos x="60" y="6"/>
                </a:cxn>
                <a:cxn ang="0">
                  <a:pos x="44" y="12"/>
                </a:cxn>
                <a:cxn ang="0">
                  <a:pos x="44" y="12"/>
                </a:cxn>
                <a:cxn ang="0">
                  <a:pos x="30" y="18"/>
                </a:cxn>
                <a:cxn ang="0">
                  <a:pos x="16" y="26"/>
                </a:cxn>
                <a:cxn ang="0">
                  <a:pos x="6" y="34"/>
                </a:cxn>
                <a:cxn ang="0">
                  <a:pos x="0" y="42"/>
                </a:cxn>
                <a:cxn ang="0">
                  <a:pos x="0" y="42"/>
                </a:cxn>
                <a:cxn ang="0">
                  <a:pos x="10" y="42"/>
                </a:cxn>
                <a:cxn ang="0">
                  <a:pos x="22" y="40"/>
                </a:cxn>
                <a:cxn ang="0">
                  <a:pos x="38" y="36"/>
                </a:cxn>
                <a:cxn ang="0">
                  <a:pos x="54" y="32"/>
                </a:cxn>
                <a:cxn ang="0">
                  <a:pos x="54" y="32"/>
                </a:cxn>
              </a:cxnLst>
              <a:rect l="0" t="0" r="r" b="b"/>
              <a:pathLst>
                <a:path w="98" h="42">
                  <a:moveTo>
                    <a:pt x="54" y="32"/>
                  </a:moveTo>
                  <a:lnTo>
                    <a:pt x="54" y="32"/>
                  </a:lnTo>
                  <a:lnTo>
                    <a:pt x="68" y="24"/>
                  </a:lnTo>
                  <a:lnTo>
                    <a:pt x="82" y="16"/>
                  </a:lnTo>
                  <a:lnTo>
                    <a:pt x="92" y="8"/>
                  </a:lnTo>
                  <a:lnTo>
                    <a:pt x="98" y="0"/>
                  </a:lnTo>
                  <a:lnTo>
                    <a:pt x="98" y="0"/>
                  </a:lnTo>
                  <a:lnTo>
                    <a:pt x="88" y="0"/>
                  </a:lnTo>
                  <a:lnTo>
                    <a:pt x="76" y="2"/>
                  </a:lnTo>
                  <a:lnTo>
                    <a:pt x="60" y="6"/>
                  </a:lnTo>
                  <a:lnTo>
                    <a:pt x="44" y="12"/>
                  </a:lnTo>
                  <a:lnTo>
                    <a:pt x="44" y="12"/>
                  </a:lnTo>
                  <a:lnTo>
                    <a:pt x="30" y="18"/>
                  </a:lnTo>
                  <a:lnTo>
                    <a:pt x="16" y="26"/>
                  </a:lnTo>
                  <a:lnTo>
                    <a:pt x="6" y="34"/>
                  </a:lnTo>
                  <a:lnTo>
                    <a:pt x="0" y="42"/>
                  </a:lnTo>
                  <a:lnTo>
                    <a:pt x="0" y="42"/>
                  </a:lnTo>
                  <a:lnTo>
                    <a:pt x="10" y="42"/>
                  </a:lnTo>
                  <a:lnTo>
                    <a:pt x="22" y="40"/>
                  </a:lnTo>
                  <a:lnTo>
                    <a:pt x="38" y="36"/>
                  </a:lnTo>
                  <a:lnTo>
                    <a:pt x="54" y="32"/>
                  </a:lnTo>
                  <a:lnTo>
                    <a:pt x="54" y="32"/>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5" name="Freeform 168"/>
            <p:cNvSpPr/>
            <p:nvPr/>
          </p:nvSpPr>
          <p:spPr bwMode="auto">
            <a:xfrm>
              <a:off x="3759200" y="3092450"/>
              <a:ext cx="768350" cy="346075"/>
            </a:xfrm>
            <a:custGeom>
              <a:avLst/>
              <a:gdLst/>
              <a:ahLst/>
              <a:cxnLst>
                <a:cxn ang="0">
                  <a:pos x="22" y="20"/>
                </a:cxn>
                <a:cxn ang="0">
                  <a:pos x="40" y="32"/>
                </a:cxn>
                <a:cxn ang="0">
                  <a:pos x="88" y="54"/>
                </a:cxn>
                <a:cxn ang="0">
                  <a:pos x="88" y="54"/>
                </a:cxn>
                <a:cxn ang="0">
                  <a:pos x="120" y="70"/>
                </a:cxn>
                <a:cxn ang="0">
                  <a:pos x="176" y="110"/>
                </a:cxn>
                <a:cxn ang="0">
                  <a:pos x="188" y="118"/>
                </a:cxn>
                <a:cxn ang="0">
                  <a:pos x="224" y="132"/>
                </a:cxn>
                <a:cxn ang="0">
                  <a:pos x="272" y="140"/>
                </a:cxn>
                <a:cxn ang="0">
                  <a:pos x="294" y="144"/>
                </a:cxn>
                <a:cxn ang="0">
                  <a:pos x="334" y="158"/>
                </a:cxn>
                <a:cxn ang="0">
                  <a:pos x="374" y="184"/>
                </a:cxn>
                <a:cxn ang="0">
                  <a:pos x="388" y="192"/>
                </a:cxn>
                <a:cxn ang="0">
                  <a:pos x="426" y="208"/>
                </a:cxn>
                <a:cxn ang="0">
                  <a:pos x="456" y="216"/>
                </a:cxn>
                <a:cxn ang="0">
                  <a:pos x="468" y="210"/>
                </a:cxn>
                <a:cxn ang="0">
                  <a:pos x="476" y="170"/>
                </a:cxn>
                <a:cxn ang="0">
                  <a:pos x="468" y="164"/>
                </a:cxn>
                <a:cxn ang="0">
                  <a:pos x="424" y="142"/>
                </a:cxn>
                <a:cxn ang="0">
                  <a:pos x="396" y="134"/>
                </a:cxn>
                <a:cxn ang="0">
                  <a:pos x="370" y="130"/>
                </a:cxn>
                <a:cxn ang="0">
                  <a:pos x="328" y="116"/>
                </a:cxn>
                <a:cxn ang="0">
                  <a:pos x="292" y="92"/>
                </a:cxn>
                <a:cxn ang="0">
                  <a:pos x="272" y="78"/>
                </a:cxn>
                <a:cxn ang="0">
                  <a:pos x="228" y="54"/>
                </a:cxn>
                <a:cxn ang="0">
                  <a:pos x="202" y="46"/>
                </a:cxn>
                <a:cxn ang="0">
                  <a:pos x="170" y="42"/>
                </a:cxn>
                <a:cxn ang="0">
                  <a:pos x="118" y="30"/>
                </a:cxn>
                <a:cxn ang="0">
                  <a:pos x="100" y="22"/>
                </a:cxn>
                <a:cxn ang="0">
                  <a:pos x="50" y="4"/>
                </a:cxn>
                <a:cxn ang="0">
                  <a:pos x="28" y="2"/>
                </a:cxn>
                <a:cxn ang="0">
                  <a:pos x="22" y="20"/>
                </a:cxn>
              </a:cxnLst>
              <a:rect l="0" t="0" r="r" b="b"/>
              <a:pathLst>
                <a:path w="484" h="218">
                  <a:moveTo>
                    <a:pt x="22" y="20"/>
                  </a:moveTo>
                  <a:lnTo>
                    <a:pt x="22" y="20"/>
                  </a:lnTo>
                  <a:lnTo>
                    <a:pt x="26" y="24"/>
                  </a:lnTo>
                  <a:lnTo>
                    <a:pt x="40" y="32"/>
                  </a:lnTo>
                  <a:lnTo>
                    <a:pt x="60" y="44"/>
                  </a:lnTo>
                  <a:lnTo>
                    <a:pt x="88" y="54"/>
                  </a:lnTo>
                  <a:lnTo>
                    <a:pt x="88" y="54"/>
                  </a:lnTo>
                  <a:lnTo>
                    <a:pt x="88" y="54"/>
                  </a:lnTo>
                  <a:lnTo>
                    <a:pt x="104" y="62"/>
                  </a:lnTo>
                  <a:lnTo>
                    <a:pt x="120" y="70"/>
                  </a:lnTo>
                  <a:lnTo>
                    <a:pt x="148" y="90"/>
                  </a:lnTo>
                  <a:lnTo>
                    <a:pt x="176" y="110"/>
                  </a:lnTo>
                  <a:lnTo>
                    <a:pt x="176" y="110"/>
                  </a:lnTo>
                  <a:lnTo>
                    <a:pt x="188" y="118"/>
                  </a:lnTo>
                  <a:lnTo>
                    <a:pt x="200" y="124"/>
                  </a:lnTo>
                  <a:lnTo>
                    <a:pt x="224" y="132"/>
                  </a:lnTo>
                  <a:lnTo>
                    <a:pt x="248" y="138"/>
                  </a:lnTo>
                  <a:lnTo>
                    <a:pt x="272" y="140"/>
                  </a:lnTo>
                  <a:lnTo>
                    <a:pt x="294" y="144"/>
                  </a:lnTo>
                  <a:lnTo>
                    <a:pt x="294" y="144"/>
                  </a:lnTo>
                  <a:lnTo>
                    <a:pt x="314" y="150"/>
                  </a:lnTo>
                  <a:lnTo>
                    <a:pt x="334" y="158"/>
                  </a:lnTo>
                  <a:lnTo>
                    <a:pt x="354" y="170"/>
                  </a:lnTo>
                  <a:lnTo>
                    <a:pt x="374" y="184"/>
                  </a:lnTo>
                  <a:lnTo>
                    <a:pt x="374" y="184"/>
                  </a:lnTo>
                  <a:lnTo>
                    <a:pt x="388" y="192"/>
                  </a:lnTo>
                  <a:lnTo>
                    <a:pt x="400" y="198"/>
                  </a:lnTo>
                  <a:lnTo>
                    <a:pt x="426" y="208"/>
                  </a:lnTo>
                  <a:lnTo>
                    <a:pt x="446" y="214"/>
                  </a:lnTo>
                  <a:lnTo>
                    <a:pt x="456" y="216"/>
                  </a:lnTo>
                  <a:lnTo>
                    <a:pt x="466" y="218"/>
                  </a:lnTo>
                  <a:lnTo>
                    <a:pt x="468" y="210"/>
                  </a:lnTo>
                  <a:lnTo>
                    <a:pt x="484" y="174"/>
                  </a:lnTo>
                  <a:lnTo>
                    <a:pt x="476" y="170"/>
                  </a:lnTo>
                  <a:lnTo>
                    <a:pt x="476" y="170"/>
                  </a:lnTo>
                  <a:lnTo>
                    <a:pt x="468" y="164"/>
                  </a:lnTo>
                  <a:lnTo>
                    <a:pt x="450" y="154"/>
                  </a:lnTo>
                  <a:lnTo>
                    <a:pt x="424" y="142"/>
                  </a:lnTo>
                  <a:lnTo>
                    <a:pt x="410" y="138"/>
                  </a:lnTo>
                  <a:lnTo>
                    <a:pt x="396" y="134"/>
                  </a:lnTo>
                  <a:lnTo>
                    <a:pt x="396" y="134"/>
                  </a:lnTo>
                  <a:lnTo>
                    <a:pt x="370" y="130"/>
                  </a:lnTo>
                  <a:lnTo>
                    <a:pt x="348" y="124"/>
                  </a:lnTo>
                  <a:lnTo>
                    <a:pt x="328" y="116"/>
                  </a:lnTo>
                  <a:lnTo>
                    <a:pt x="310" y="106"/>
                  </a:lnTo>
                  <a:lnTo>
                    <a:pt x="292" y="92"/>
                  </a:lnTo>
                  <a:lnTo>
                    <a:pt x="292" y="92"/>
                  </a:lnTo>
                  <a:lnTo>
                    <a:pt x="272" y="78"/>
                  </a:lnTo>
                  <a:lnTo>
                    <a:pt x="252" y="64"/>
                  </a:lnTo>
                  <a:lnTo>
                    <a:pt x="228" y="54"/>
                  </a:lnTo>
                  <a:lnTo>
                    <a:pt x="216" y="50"/>
                  </a:lnTo>
                  <a:lnTo>
                    <a:pt x="202" y="46"/>
                  </a:lnTo>
                  <a:lnTo>
                    <a:pt x="170" y="42"/>
                  </a:lnTo>
                  <a:lnTo>
                    <a:pt x="170" y="42"/>
                  </a:lnTo>
                  <a:lnTo>
                    <a:pt x="134" y="36"/>
                  </a:lnTo>
                  <a:lnTo>
                    <a:pt x="118" y="30"/>
                  </a:lnTo>
                  <a:lnTo>
                    <a:pt x="100" y="22"/>
                  </a:lnTo>
                  <a:lnTo>
                    <a:pt x="100" y="22"/>
                  </a:lnTo>
                  <a:lnTo>
                    <a:pt x="74" y="12"/>
                  </a:lnTo>
                  <a:lnTo>
                    <a:pt x="50" y="4"/>
                  </a:lnTo>
                  <a:lnTo>
                    <a:pt x="36" y="2"/>
                  </a:lnTo>
                  <a:lnTo>
                    <a:pt x="28" y="2"/>
                  </a:lnTo>
                  <a:lnTo>
                    <a:pt x="0" y="0"/>
                  </a:lnTo>
                  <a:lnTo>
                    <a:pt x="22" y="2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6" name="Freeform 169"/>
            <p:cNvSpPr/>
            <p:nvPr/>
          </p:nvSpPr>
          <p:spPr bwMode="auto">
            <a:xfrm>
              <a:off x="3803650" y="3111500"/>
              <a:ext cx="701675" cy="307975"/>
            </a:xfrm>
            <a:custGeom>
              <a:avLst/>
              <a:gdLst/>
              <a:ahLst/>
              <a:cxnLst>
                <a:cxn ang="0">
                  <a:pos x="442" y="166"/>
                </a:cxn>
                <a:cxn ang="0">
                  <a:pos x="442" y="166"/>
                </a:cxn>
                <a:cxn ang="0">
                  <a:pos x="434" y="162"/>
                </a:cxn>
                <a:cxn ang="0">
                  <a:pos x="418" y="152"/>
                </a:cxn>
                <a:cxn ang="0">
                  <a:pos x="394" y="140"/>
                </a:cxn>
                <a:cxn ang="0">
                  <a:pos x="380" y="136"/>
                </a:cxn>
                <a:cxn ang="0">
                  <a:pos x="366" y="132"/>
                </a:cxn>
                <a:cxn ang="0">
                  <a:pos x="366" y="132"/>
                </a:cxn>
                <a:cxn ang="0">
                  <a:pos x="340" y="128"/>
                </a:cxn>
                <a:cxn ang="0">
                  <a:pos x="318" y="122"/>
                </a:cxn>
                <a:cxn ang="0">
                  <a:pos x="296" y="114"/>
                </a:cxn>
                <a:cxn ang="0">
                  <a:pos x="276" y="102"/>
                </a:cxn>
                <a:cxn ang="0">
                  <a:pos x="276" y="102"/>
                </a:cxn>
                <a:cxn ang="0">
                  <a:pos x="256" y="86"/>
                </a:cxn>
                <a:cxn ang="0">
                  <a:pos x="232" y="70"/>
                </a:cxn>
                <a:cxn ang="0">
                  <a:pos x="218" y="62"/>
                </a:cxn>
                <a:cxn ang="0">
                  <a:pos x="204" y="54"/>
                </a:cxn>
                <a:cxn ang="0">
                  <a:pos x="188" y="48"/>
                </a:cxn>
                <a:cxn ang="0">
                  <a:pos x="172" y="44"/>
                </a:cxn>
                <a:cxn ang="0">
                  <a:pos x="172" y="44"/>
                </a:cxn>
                <a:cxn ang="0">
                  <a:pos x="116" y="36"/>
                </a:cxn>
                <a:cxn ang="0">
                  <a:pos x="92" y="30"/>
                </a:cxn>
                <a:cxn ang="0">
                  <a:pos x="68" y="20"/>
                </a:cxn>
                <a:cxn ang="0">
                  <a:pos x="68" y="20"/>
                </a:cxn>
                <a:cxn ang="0">
                  <a:pos x="42" y="8"/>
                </a:cxn>
                <a:cxn ang="0">
                  <a:pos x="20" y="2"/>
                </a:cxn>
                <a:cxn ang="0">
                  <a:pos x="0" y="0"/>
                </a:cxn>
                <a:cxn ang="0">
                  <a:pos x="0" y="0"/>
                </a:cxn>
                <a:cxn ang="0">
                  <a:pos x="0" y="0"/>
                </a:cxn>
                <a:cxn ang="0">
                  <a:pos x="18" y="12"/>
                </a:cxn>
                <a:cxn ang="0">
                  <a:pos x="36" y="22"/>
                </a:cxn>
                <a:cxn ang="0">
                  <a:pos x="62" y="32"/>
                </a:cxn>
                <a:cxn ang="0">
                  <a:pos x="62" y="32"/>
                </a:cxn>
                <a:cxn ang="0">
                  <a:pos x="88" y="44"/>
                </a:cxn>
                <a:cxn ang="0">
                  <a:pos x="108" y="56"/>
                </a:cxn>
                <a:cxn ang="0">
                  <a:pos x="154" y="90"/>
                </a:cxn>
                <a:cxn ang="0">
                  <a:pos x="154" y="90"/>
                </a:cxn>
                <a:cxn ang="0">
                  <a:pos x="168" y="98"/>
                </a:cxn>
                <a:cxn ang="0">
                  <a:pos x="182" y="106"/>
                </a:cxn>
                <a:cxn ang="0">
                  <a:pos x="198" y="110"/>
                </a:cxn>
                <a:cxn ang="0">
                  <a:pos x="214" y="114"/>
                </a:cxn>
                <a:cxn ang="0">
                  <a:pos x="242" y="118"/>
                </a:cxn>
                <a:cxn ang="0">
                  <a:pos x="268" y="122"/>
                </a:cxn>
                <a:cxn ang="0">
                  <a:pos x="268" y="122"/>
                </a:cxn>
                <a:cxn ang="0">
                  <a:pos x="290" y="128"/>
                </a:cxn>
                <a:cxn ang="0">
                  <a:pos x="312" y="138"/>
                </a:cxn>
                <a:cxn ang="0">
                  <a:pos x="332" y="150"/>
                </a:cxn>
                <a:cxn ang="0">
                  <a:pos x="354" y="164"/>
                </a:cxn>
                <a:cxn ang="0">
                  <a:pos x="354" y="164"/>
                </a:cxn>
                <a:cxn ang="0">
                  <a:pos x="366" y="172"/>
                </a:cxn>
                <a:cxn ang="0">
                  <a:pos x="378" y="178"/>
                </a:cxn>
                <a:cxn ang="0">
                  <a:pos x="402" y="188"/>
                </a:cxn>
                <a:cxn ang="0">
                  <a:pos x="422" y="192"/>
                </a:cxn>
                <a:cxn ang="0">
                  <a:pos x="430" y="194"/>
                </a:cxn>
                <a:cxn ang="0">
                  <a:pos x="442" y="166"/>
                </a:cxn>
              </a:cxnLst>
              <a:rect l="0" t="0" r="r" b="b"/>
              <a:pathLst>
                <a:path w="442" h="194">
                  <a:moveTo>
                    <a:pt x="442" y="166"/>
                  </a:moveTo>
                  <a:lnTo>
                    <a:pt x="442" y="166"/>
                  </a:lnTo>
                  <a:lnTo>
                    <a:pt x="434" y="162"/>
                  </a:lnTo>
                  <a:lnTo>
                    <a:pt x="418" y="152"/>
                  </a:lnTo>
                  <a:lnTo>
                    <a:pt x="394" y="140"/>
                  </a:lnTo>
                  <a:lnTo>
                    <a:pt x="380" y="136"/>
                  </a:lnTo>
                  <a:lnTo>
                    <a:pt x="366" y="132"/>
                  </a:lnTo>
                  <a:lnTo>
                    <a:pt x="366" y="132"/>
                  </a:lnTo>
                  <a:lnTo>
                    <a:pt x="340" y="128"/>
                  </a:lnTo>
                  <a:lnTo>
                    <a:pt x="318" y="122"/>
                  </a:lnTo>
                  <a:lnTo>
                    <a:pt x="296" y="114"/>
                  </a:lnTo>
                  <a:lnTo>
                    <a:pt x="276" y="102"/>
                  </a:lnTo>
                  <a:lnTo>
                    <a:pt x="276" y="102"/>
                  </a:lnTo>
                  <a:lnTo>
                    <a:pt x="256" y="86"/>
                  </a:lnTo>
                  <a:lnTo>
                    <a:pt x="232" y="70"/>
                  </a:lnTo>
                  <a:lnTo>
                    <a:pt x="218" y="62"/>
                  </a:lnTo>
                  <a:lnTo>
                    <a:pt x="204" y="54"/>
                  </a:lnTo>
                  <a:lnTo>
                    <a:pt x="188" y="48"/>
                  </a:lnTo>
                  <a:lnTo>
                    <a:pt x="172" y="44"/>
                  </a:lnTo>
                  <a:lnTo>
                    <a:pt x="172" y="44"/>
                  </a:lnTo>
                  <a:lnTo>
                    <a:pt x="116" y="36"/>
                  </a:lnTo>
                  <a:lnTo>
                    <a:pt x="92" y="30"/>
                  </a:lnTo>
                  <a:lnTo>
                    <a:pt x="68" y="20"/>
                  </a:lnTo>
                  <a:lnTo>
                    <a:pt x="68" y="20"/>
                  </a:lnTo>
                  <a:lnTo>
                    <a:pt x="42" y="8"/>
                  </a:lnTo>
                  <a:lnTo>
                    <a:pt x="20" y="2"/>
                  </a:lnTo>
                  <a:lnTo>
                    <a:pt x="0" y="0"/>
                  </a:lnTo>
                  <a:lnTo>
                    <a:pt x="0" y="0"/>
                  </a:lnTo>
                  <a:lnTo>
                    <a:pt x="0" y="0"/>
                  </a:lnTo>
                  <a:lnTo>
                    <a:pt x="18" y="12"/>
                  </a:lnTo>
                  <a:lnTo>
                    <a:pt x="36" y="22"/>
                  </a:lnTo>
                  <a:lnTo>
                    <a:pt x="62" y="32"/>
                  </a:lnTo>
                  <a:lnTo>
                    <a:pt x="62" y="32"/>
                  </a:lnTo>
                  <a:lnTo>
                    <a:pt x="88" y="44"/>
                  </a:lnTo>
                  <a:lnTo>
                    <a:pt x="108" y="56"/>
                  </a:lnTo>
                  <a:lnTo>
                    <a:pt x="154" y="90"/>
                  </a:lnTo>
                  <a:lnTo>
                    <a:pt x="154" y="90"/>
                  </a:lnTo>
                  <a:lnTo>
                    <a:pt x="168" y="98"/>
                  </a:lnTo>
                  <a:lnTo>
                    <a:pt x="182" y="106"/>
                  </a:lnTo>
                  <a:lnTo>
                    <a:pt x="198" y="110"/>
                  </a:lnTo>
                  <a:lnTo>
                    <a:pt x="214" y="114"/>
                  </a:lnTo>
                  <a:lnTo>
                    <a:pt x="242" y="118"/>
                  </a:lnTo>
                  <a:lnTo>
                    <a:pt x="268" y="122"/>
                  </a:lnTo>
                  <a:lnTo>
                    <a:pt x="268" y="122"/>
                  </a:lnTo>
                  <a:lnTo>
                    <a:pt x="290" y="128"/>
                  </a:lnTo>
                  <a:lnTo>
                    <a:pt x="312" y="138"/>
                  </a:lnTo>
                  <a:lnTo>
                    <a:pt x="332" y="150"/>
                  </a:lnTo>
                  <a:lnTo>
                    <a:pt x="354" y="164"/>
                  </a:lnTo>
                  <a:lnTo>
                    <a:pt x="354" y="164"/>
                  </a:lnTo>
                  <a:lnTo>
                    <a:pt x="366" y="172"/>
                  </a:lnTo>
                  <a:lnTo>
                    <a:pt x="378" y="178"/>
                  </a:lnTo>
                  <a:lnTo>
                    <a:pt x="402" y="188"/>
                  </a:lnTo>
                  <a:lnTo>
                    <a:pt x="422" y="192"/>
                  </a:lnTo>
                  <a:lnTo>
                    <a:pt x="430" y="194"/>
                  </a:lnTo>
                  <a:lnTo>
                    <a:pt x="442" y="166"/>
                  </a:lnTo>
                  <a:close/>
                </a:path>
              </a:pathLst>
            </a:custGeom>
            <a:solidFill>
              <a:srgbClr val="FF7F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sp>
          <p:nvSpPr>
            <p:cNvPr id="67" name="Freeform 170"/>
            <p:cNvSpPr/>
            <p:nvPr/>
          </p:nvSpPr>
          <p:spPr bwMode="auto">
            <a:xfrm>
              <a:off x="4029075" y="3203575"/>
              <a:ext cx="155575" cy="66675"/>
            </a:xfrm>
            <a:custGeom>
              <a:avLst/>
              <a:gdLst/>
              <a:ahLst/>
              <a:cxnLst>
                <a:cxn ang="0">
                  <a:pos x="44" y="30"/>
                </a:cxn>
                <a:cxn ang="0">
                  <a:pos x="44" y="30"/>
                </a:cxn>
                <a:cxn ang="0">
                  <a:pos x="60" y="36"/>
                </a:cxn>
                <a:cxn ang="0">
                  <a:pos x="76" y="40"/>
                </a:cxn>
                <a:cxn ang="0">
                  <a:pos x="88" y="42"/>
                </a:cxn>
                <a:cxn ang="0">
                  <a:pos x="98" y="42"/>
                </a:cxn>
                <a:cxn ang="0">
                  <a:pos x="98" y="42"/>
                </a:cxn>
                <a:cxn ang="0">
                  <a:pos x="92" y="34"/>
                </a:cxn>
                <a:cxn ang="0">
                  <a:pos x="82" y="26"/>
                </a:cxn>
                <a:cxn ang="0">
                  <a:pos x="68" y="18"/>
                </a:cxn>
                <a:cxn ang="0">
                  <a:pos x="54" y="10"/>
                </a:cxn>
                <a:cxn ang="0">
                  <a:pos x="54" y="10"/>
                </a:cxn>
                <a:cxn ang="0">
                  <a:pos x="38" y="6"/>
                </a:cxn>
                <a:cxn ang="0">
                  <a:pos x="22" y="2"/>
                </a:cxn>
                <a:cxn ang="0">
                  <a:pos x="10" y="0"/>
                </a:cxn>
                <a:cxn ang="0">
                  <a:pos x="0" y="0"/>
                </a:cxn>
                <a:cxn ang="0">
                  <a:pos x="0" y="0"/>
                </a:cxn>
                <a:cxn ang="0">
                  <a:pos x="6" y="8"/>
                </a:cxn>
                <a:cxn ang="0">
                  <a:pos x="16" y="16"/>
                </a:cxn>
                <a:cxn ang="0">
                  <a:pos x="30" y="24"/>
                </a:cxn>
                <a:cxn ang="0">
                  <a:pos x="44" y="30"/>
                </a:cxn>
                <a:cxn ang="0">
                  <a:pos x="44" y="30"/>
                </a:cxn>
              </a:cxnLst>
              <a:rect l="0" t="0" r="r" b="b"/>
              <a:pathLst>
                <a:path w="98" h="42">
                  <a:moveTo>
                    <a:pt x="44" y="30"/>
                  </a:moveTo>
                  <a:lnTo>
                    <a:pt x="44" y="30"/>
                  </a:lnTo>
                  <a:lnTo>
                    <a:pt x="60" y="36"/>
                  </a:lnTo>
                  <a:lnTo>
                    <a:pt x="76" y="40"/>
                  </a:lnTo>
                  <a:lnTo>
                    <a:pt x="88" y="42"/>
                  </a:lnTo>
                  <a:lnTo>
                    <a:pt x="98" y="42"/>
                  </a:lnTo>
                  <a:lnTo>
                    <a:pt x="98" y="42"/>
                  </a:lnTo>
                  <a:lnTo>
                    <a:pt x="92" y="34"/>
                  </a:lnTo>
                  <a:lnTo>
                    <a:pt x="82" y="26"/>
                  </a:lnTo>
                  <a:lnTo>
                    <a:pt x="68" y="18"/>
                  </a:lnTo>
                  <a:lnTo>
                    <a:pt x="54" y="10"/>
                  </a:lnTo>
                  <a:lnTo>
                    <a:pt x="54" y="10"/>
                  </a:lnTo>
                  <a:lnTo>
                    <a:pt x="38" y="6"/>
                  </a:lnTo>
                  <a:lnTo>
                    <a:pt x="22" y="2"/>
                  </a:lnTo>
                  <a:lnTo>
                    <a:pt x="10" y="0"/>
                  </a:lnTo>
                  <a:lnTo>
                    <a:pt x="0" y="0"/>
                  </a:lnTo>
                  <a:lnTo>
                    <a:pt x="0" y="0"/>
                  </a:lnTo>
                  <a:lnTo>
                    <a:pt x="6" y="8"/>
                  </a:lnTo>
                  <a:lnTo>
                    <a:pt x="16" y="16"/>
                  </a:lnTo>
                  <a:lnTo>
                    <a:pt x="30" y="24"/>
                  </a:lnTo>
                  <a:lnTo>
                    <a:pt x="44" y="30"/>
                  </a:lnTo>
                  <a:lnTo>
                    <a:pt x="44" y="30"/>
                  </a:lnTo>
                  <a:close/>
                </a:path>
              </a:pathLst>
            </a:custGeom>
            <a:solidFill>
              <a:srgbClr val="FFC800"/>
            </a:solidFill>
            <a:ln w="9525">
              <a:noFill/>
              <a:round/>
            </a:ln>
            <a:effectLst/>
            <a:sp3d prstMaterial="clear">
              <a:bevelT h="63500"/>
            </a:sp3d>
          </p:spPr>
          <p:txBody>
            <a:bodyPr vert="horz" wrap="square" lIns="91440" tIns="45720" rIns="91440" bIns="45720" numCol="1" anchor="t" anchorCtr="0" compatLnSpc="1"/>
            <a:lstStyle/>
            <a:p>
              <a:endParaRPr lang="zh-CN" altLang="en-US" dirty="0">
                <a:solidFill>
                  <a:prstClr val="black"/>
                </a:solidFill>
                <a:latin typeface="微软雅黑" panose="020B0503020204020204" pitchFamily="34" charset="-122"/>
              </a:endParaRPr>
            </a:p>
          </p:txBody>
        </p:sp>
      </p:grpSp>
      <p:pic>
        <p:nvPicPr>
          <p:cNvPr id="8" name="图片 7"/>
          <p:cNvPicPr>
            <a:picLocks noChangeAspect="1"/>
          </p:cNvPicPr>
          <p:nvPr userDrawn="1"/>
        </p:nvPicPr>
        <p:blipFill>
          <a:blip r:embed="rId4"/>
          <a:stretch>
            <a:fillRect/>
          </a:stretch>
        </p:blipFill>
        <p:spPr>
          <a:xfrm>
            <a:off x="10925908" y="5589240"/>
            <a:ext cx="1143000" cy="11430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5400000">
                                      <p:cBhvr>
                                        <p:cTn id="6" dur="4000" fill="hold"/>
                                        <p:tgtEl>
                                          <p:spTgt spid="11"/>
                                        </p:tgtEl>
                                        <p:attrNameLst>
                                          <p:attrName>r</p:attrName>
                                        </p:attrNameLst>
                                      </p:cBhvr>
                                    </p:animRot>
                                  </p:childTnLst>
                                </p:cTn>
                              </p:par>
                              <p:par>
                                <p:cTn id="7" presetID="16" presetClass="entr" presetSubtype="42"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barn(outHorizontal)">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30578ACC-22D6-47C1-A373-4FD133E34F3C}"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80320" y="2336873"/>
            <a:ext cx="4698358" cy="359931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5594123" y="2336873"/>
            <a:ext cx="4700058" cy="3599316"/>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680322" y="3030008"/>
            <a:ext cx="4698355" cy="290617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5594123" y="3030008"/>
            <a:ext cx="4700059" cy="2906179"/>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4685846" y="2336873"/>
            <a:ext cx="5608336" cy="3599313"/>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E331444B-B92B-4E27-8C94-BB93EAF5CB18}"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363EFA5E-FA76-400D-B3DC-F0BA90E6D10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446C117F-5CCF-4837-BE5F-2B92066CAFAF}"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84EB90BD-B6CE-46B7-997F-7313B992CCDC}"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zh-CN" altLang="en-US"/>
              <a:t>单击此处编辑母版标题样式</a:t>
            </a:r>
            <a:endParaRPr lang="en-US" dirty="0"/>
          </a:p>
        </p:txBody>
      </p:sp>
      <p:sp>
        <p:nvSpPr>
          <p:cNvPr id="12" name="Text Placeholder 3"/>
          <p:cNvSpPr>
            <a:spLocks noGrp="1"/>
          </p:cNvSpPr>
          <p:nvPr>
            <p:ph type="body" sz="half" idx="13" hasCustomPrompt="1"/>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4" name="Text Placeholder 3"/>
          <p:cNvSpPr>
            <a:spLocks noGrp="1"/>
          </p:cNvSpPr>
          <p:nvPr>
            <p:ph type="body" sz="half" idx="2" hasCustomPrompt="1"/>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DB9D11F-B188-461D-B23F-39381795C052}"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endParaRPr lang="en-US" sz="7200" dirty="0">
              <a:solidFill>
                <a:schemeClr val="tx1"/>
              </a:solidFill>
              <a:effectLst/>
            </a:endParaRP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endParaRPr lang="en-US" sz="7200" dirty="0">
              <a:solidFill>
                <a:schemeClr val="tx1"/>
              </a:solidFill>
              <a:effectLs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52E6D8D9-55A2-4063-B0F3-121F44549695}"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zh-CN" altLang="en-US"/>
              <a:t>单击此处编辑母版标题样式</a:t>
            </a:r>
            <a:endParaRPr lang="en-US" dirty="0"/>
          </a:p>
        </p:txBody>
      </p:sp>
      <p:sp>
        <p:nvSpPr>
          <p:cNvPr id="7" name="Text Placeholder 2"/>
          <p:cNvSpPr>
            <a:spLocks noGrp="1"/>
          </p:cNvSpPr>
          <p:nvPr>
            <p:ph type="body" idx="1" hasCustomPrompt="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8" name="Text Placeholder 3"/>
          <p:cNvSpPr>
            <a:spLocks noGrp="1"/>
          </p:cNvSpPr>
          <p:nvPr>
            <p:ph type="body" sz="half" idx="15" hasCustomPrompt="1"/>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9" name="Text Placeholder 4"/>
          <p:cNvSpPr>
            <a:spLocks noGrp="1"/>
          </p:cNvSpPr>
          <p:nvPr>
            <p:ph type="body" sz="quarter" idx="3" hasCustomPrompt="1"/>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0" name="Text Placeholder 3"/>
          <p:cNvSpPr>
            <a:spLocks noGrp="1"/>
          </p:cNvSpPr>
          <p:nvPr>
            <p:ph type="body" sz="half" idx="16" hasCustomPrompt="1"/>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11" name="Text Placeholder 4"/>
          <p:cNvSpPr>
            <a:spLocks noGrp="1"/>
          </p:cNvSpPr>
          <p:nvPr>
            <p:ph type="body" sz="quarter" idx="13" hasCustomPrompt="1"/>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12" name="Text Placeholder 3"/>
          <p:cNvSpPr>
            <a:spLocks noGrp="1"/>
          </p:cNvSpPr>
          <p:nvPr>
            <p:ph type="body" sz="half" idx="17" hasCustomPrompt="1"/>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3" name="Date Placeholder 2"/>
          <p:cNvSpPr>
            <a:spLocks noGrp="1"/>
          </p:cNvSpPr>
          <p:nvPr>
            <p:ph type="dt" sz="half" idx="10"/>
          </p:nvPr>
        </p:nvSpPr>
        <p:spPr/>
        <p:txBody>
          <a:bodyPr/>
          <a:lstStyle/>
          <a:p>
            <a:fld id="{D4B24536-994D-4021-A283-9F449C0DB509}"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zh-CN" altLang="en-US"/>
              <a:t>单击此处编辑母版标题样式</a:t>
            </a:r>
            <a:endParaRPr lang="en-US" dirty="0"/>
          </a:p>
        </p:txBody>
      </p:sp>
      <p:sp>
        <p:nvSpPr>
          <p:cNvPr id="19" name="Text Placeholder 2"/>
          <p:cNvSpPr>
            <a:spLocks noGrp="1"/>
          </p:cNvSpPr>
          <p:nvPr>
            <p:ph type="body" idx="1" hasCustomPrompt="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1" name="Text Placeholder 3"/>
          <p:cNvSpPr>
            <a:spLocks noGrp="1"/>
          </p:cNvSpPr>
          <p:nvPr>
            <p:ph type="body" sz="half" idx="18" hasCustomPrompt="1"/>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22" name="Text Placeholder 4"/>
          <p:cNvSpPr>
            <a:spLocks noGrp="1"/>
          </p:cNvSpPr>
          <p:nvPr>
            <p:ph type="body" sz="quarter" idx="3" hasCustomPrompt="1"/>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19" hasCustomPrompt="1"/>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25" name="Text Placeholder 4"/>
          <p:cNvSpPr>
            <a:spLocks noGrp="1"/>
          </p:cNvSpPr>
          <p:nvPr>
            <p:ph type="body" sz="quarter" idx="13" hasCustomPrompt="1"/>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7" name="Text Placeholder 3"/>
          <p:cNvSpPr>
            <a:spLocks noGrp="1"/>
          </p:cNvSpPr>
          <p:nvPr>
            <p:ph type="body" sz="half" idx="20" hasCustomPrompt="1"/>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3" name="Date Placeholder 2"/>
          <p:cNvSpPr>
            <a:spLocks noGrp="1"/>
          </p:cNvSpPr>
          <p:nvPr>
            <p:ph type="dt" sz="half" idx="10"/>
          </p:nvPr>
        </p:nvSpPr>
        <p:spPr/>
        <p:txBody>
          <a:bodyPr/>
          <a:lstStyle/>
          <a:p>
            <a:fld id="{3CBBBB78-C96F-47B7-AB17-D852CA960AC9}"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80322" y="609597"/>
            <a:ext cx="8870004" cy="5326589"/>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fld>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7.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6.xml"/><Relationship Id="rId8" Type="http://schemas.openxmlformats.org/officeDocument/2006/relationships/slideLayout" Target="../slideLayouts/slideLayout25.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9.xml"/><Relationship Id="rId19" Type="http://schemas.openxmlformats.org/officeDocument/2006/relationships/tags" Target="../tags/tag123.xml"/><Relationship Id="rId18" Type="http://schemas.openxmlformats.org/officeDocument/2006/relationships/slideLayout" Target="../slideLayouts/slideLayout35.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8">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Lst>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hf hdr="0" ftr="0" dt="0"/>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8.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9.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4.xml"/><Relationship Id="rId5" Type="http://schemas.openxmlformats.org/officeDocument/2006/relationships/tags" Target="../tags/tag135.xml"/><Relationship Id="rId4" Type="http://schemas.openxmlformats.org/officeDocument/2006/relationships/image" Target="../media/image8.png"/><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4.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143.xml"/><Relationship Id="rId7" Type="http://schemas.openxmlformats.org/officeDocument/2006/relationships/tags" Target="../tags/tag142.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tags" Target="../tags/tag137.xml"/><Relationship Id="rId12" Type="http://schemas.openxmlformats.org/officeDocument/2006/relationships/notesSlide" Target="../notesSlides/notesSlide4.xml"/><Relationship Id="rId11" Type="http://schemas.openxmlformats.org/officeDocument/2006/relationships/slideLayout" Target="../slideLayouts/slideLayout24.xml"/><Relationship Id="rId10" Type="http://schemas.openxmlformats.org/officeDocument/2006/relationships/tags" Target="../tags/tag144.xml"/><Relationship Id="rId1" Type="http://schemas.openxmlformats.org/officeDocument/2006/relationships/tags" Target="../tags/tag136.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4.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image" Target="../media/image8.png"/><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153.xml"/><Relationship Id="rId4" Type="http://schemas.openxmlformats.org/officeDocument/2006/relationships/image" Target="../media/image8.png"/><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24.xml"/><Relationship Id="rId5" Type="http://schemas.openxmlformats.org/officeDocument/2006/relationships/tags" Target="../tags/tag157.xml"/><Relationship Id="rId4" Type="http://schemas.openxmlformats.org/officeDocument/2006/relationships/image" Target="../media/image8.png"/><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8.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9" Type="http://schemas.openxmlformats.org/officeDocument/2006/relationships/notesSlide" Target="../notesSlides/notesSlide7.xml"/><Relationship Id="rId18" Type="http://schemas.openxmlformats.org/officeDocument/2006/relationships/slideLayout" Target="../slideLayouts/slideLayout24.xml"/><Relationship Id="rId17" Type="http://schemas.openxmlformats.org/officeDocument/2006/relationships/tags" Target="../tags/tag173.xml"/><Relationship Id="rId16" Type="http://schemas.openxmlformats.org/officeDocument/2006/relationships/image" Target="../media/image8.png"/><Relationship Id="rId15" Type="http://schemas.openxmlformats.org/officeDocument/2006/relationships/tags" Target="../tags/tag172.xml"/><Relationship Id="rId14" Type="http://schemas.openxmlformats.org/officeDocument/2006/relationships/tags" Target="../tags/tag171.xml"/><Relationship Id="rId13" Type="http://schemas.openxmlformats.org/officeDocument/2006/relationships/tags" Target="../tags/tag170.xml"/><Relationship Id="rId12" Type="http://schemas.openxmlformats.org/officeDocument/2006/relationships/tags" Target="../tags/tag169.xml"/><Relationship Id="rId11" Type="http://schemas.openxmlformats.org/officeDocument/2006/relationships/tags" Target="../tags/tag168.xml"/><Relationship Id="rId10" Type="http://schemas.openxmlformats.org/officeDocument/2006/relationships/tags" Target="../tags/tag167.xml"/><Relationship Id="rId1" Type="http://schemas.openxmlformats.org/officeDocument/2006/relationships/tags" Target="../tags/tag158.xml"/></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4.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image" Target="../media/image8.png"/><Relationship Id="rId1" Type="http://schemas.openxmlformats.org/officeDocument/2006/relationships/tags" Target="../tags/tag174.xml"/></Relationships>
</file>

<file path=ppt/slides/_rels/slide10.xml.rels><?xml version="1.0" encoding="UTF-8" standalone="yes"?>
<Relationships xmlns="http://schemas.openxmlformats.org/package/2006/relationships"><Relationship Id="rId9" Type="http://schemas.openxmlformats.org/officeDocument/2006/relationships/tags" Target="../tags/tag185.xml"/><Relationship Id="rId8" Type="http://schemas.openxmlformats.org/officeDocument/2006/relationships/tags" Target="../tags/tag184.xml"/><Relationship Id="rId7" Type="http://schemas.openxmlformats.org/officeDocument/2006/relationships/tags" Target="../tags/tag183.xml"/><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image" Target="../media/image8.png"/><Relationship Id="rId3" Type="http://schemas.openxmlformats.org/officeDocument/2006/relationships/tags" Target="../tags/tag180.xml"/><Relationship Id="rId20" Type="http://schemas.openxmlformats.org/officeDocument/2006/relationships/notesSlide" Target="../notesSlides/notesSlide9.xml"/><Relationship Id="rId2" Type="http://schemas.openxmlformats.org/officeDocument/2006/relationships/tags" Target="../tags/tag179.xml"/><Relationship Id="rId19" Type="http://schemas.openxmlformats.org/officeDocument/2006/relationships/slideLayout" Target="../slideLayouts/slideLayout24.xml"/><Relationship Id="rId18" Type="http://schemas.openxmlformats.org/officeDocument/2006/relationships/tags" Target="../tags/tag194.xml"/><Relationship Id="rId17" Type="http://schemas.openxmlformats.org/officeDocument/2006/relationships/tags" Target="../tags/tag193.xml"/><Relationship Id="rId16" Type="http://schemas.openxmlformats.org/officeDocument/2006/relationships/tags" Target="../tags/tag192.xml"/><Relationship Id="rId15" Type="http://schemas.openxmlformats.org/officeDocument/2006/relationships/tags" Target="../tags/tag191.xml"/><Relationship Id="rId14" Type="http://schemas.openxmlformats.org/officeDocument/2006/relationships/tags" Target="../tags/tag190.xml"/><Relationship Id="rId13" Type="http://schemas.openxmlformats.org/officeDocument/2006/relationships/tags" Target="../tags/tag189.xml"/><Relationship Id="rId12" Type="http://schemas.openxmlformats.org/officeDocument/2006/relationships/tags" Target="../tags/tag188.xml"/><Relationship Id="rId11" Type="http://schemas.openxmlformats.org/officeDocument/2006/relationships/tags" Target="../tags/tag187.xml"/><Relationship Id="rId10" Type="http://schemas.openxmlformats.org/officeDocument/2006/relationships/tags" Target="../tags/tag186.xml"/><Relationship Id="rId1" Type="http://schemas.openxmlformats.org/officeDocument/2006/relationships/tags" Target="../tags/tag178.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24.xml"/><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 Type="http://schemas.openxmlformats.org/officeDocument/2006/relationships/image" Target="../media/image8.png"/><Relationship Id="rId1" Type="http://schemas.openxmlformats.org/officeDocument/2006/relationships/tags" Target="../tags/tag195.xml"/></Relationships>
</file>

<file path=ppt/slides/_rels/slide12.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5" Type="http://schemas.openxmlformats.org/officeDocument/2006/relationships/notesSlide" Target="../notesSlides/notesSlide11.xml"/><Relationship Id="rId34" Type="http://schemas.openxmlformats.org/officeDocument/2006/relationships/slideLayout" Target="../slideLayouts/slideLayout24.xml"/><Relationship Id="rId33" Type="http://schemas.openxmlformats.org/officeDocument/2006/relationships/tags" Target="../tags/tag231.xml"/><Relationship Id="rId32" Type="http://schemas.openxmlformats.org/officeDocument/2006/relationships/tags" Target="../tags/tag230.xml"/><Relationship Id="rId31" Type="http://schemas.openxmlformats.org/officeDocument/2006/relationships/tags" Target="../tags/tag229.xml"/><Relationship Id="rId30" Type="http://schemas.openxmlformats.org/officeDocument/2006/relationships/image" Target="../media/image8.png"/><Relationship Id="rId3" Type="http://schemas.openxmlformats.org/officeDocument/2006/relationships/tags" Target="../tags/tag202.xml"/><Relationship Id="rId29" Type="http://schemas.openxmlformats.org/officeDocument/2006/relationships/tags" Target="../tags/tag228.xml"/><Relationship Id="rId28" Type="http://schemas.openxmlformats.org/officeDocument/2006/relationships/tags" Target="../tags/tag227.xml"/><Relationship Id="rId27" Type="http://schemas.openxmlformats.org/officeDocument/2006/relationships/tags" Target="../tags/tag226.xml"/><Relationship Id="rId26" Type="http://schemas.openxmlformats.org/officeDocument/2006/relationships/tags" Target="../tags/tag225.xml"/><Relationship Id="rId25" Type="http://schemas.openxmlformats.org/officeDocument/2006/relationships/tags" Target="../tags/tag224.xml"/><Relationship Id="rId24" Type="http://schemas.openxmlformats.org/officeDocument/2006/relationships/tags" Target="../tags/tag223.xml"/><Relationship Id="rId23" Type="http://schemas.openxmlformats.org/officeDocument/2006/relationships/tags" Target="../tags/tag222.xml"/><Relationship Id="rId22" Type="http://schemas.openxmlformats.org/officeDocument/2006/relationships/tags" Target="../tags/tag221.xml"/><Relationship Id="rId21" Type="http://schemas.openxmlformats.org/officeDocument/2006/relationships/tags" Target="../tags/tag220.xml"/><Relationship Id="rId20" Type="http://schemas.openxmlformats.org/officeDocument/2006/relationships/tags" Target="../tags/tag219.xml"/><Relationship Id="rId2" Type="http://schemas.openxmlformats.org/officeDocument/2006/relationships/tags" Target="../tags/tag201.xml"/><Relationship Id="rId19" Type="http://schemas.openxmlformats.org/officeDocument/2006/relationships/tags" Target="../tags/tag218.xml"/><Relationship Id="rId18" Type="http://schemas.openxmlformats.org/officeDocument/2006/relationships/tags" Target="../tags/tag217.xml"/><Relationship Id="rId17" Type="http://schemas.openxmlformats.org/officeDocument/2006/relationships/tags" Target="../tags/tag216.xml"/><Relationship Id="rId16" Type="http://schemas.openxmlformats.org/officeDocument/2006/relationships/tags" Target="../tags/tag215.xml"/><Relationship Id="rId15" Type="http://schemas.openxmlformats.org/officeDocument/2006/relationships/tags" Target="../tags/tag214.xml"/><Relationship Id="rId14" Type="http://schemas.openxmlformats.org/officeDocument/2006/relationships/tags" Target="../tags/tag213.xml"/><Relationship Id="rId13" Type="http://schemas.openxmlformats.org/officeDocument/2006/relationships/tags" Target="../tags/tag212.xml"/><Relationship Id="rId12" Type="http://schemas.openxmlformats.org/officeDocument/2006/relationships/tags" Target="../tags/tag211.xml"/><Relationship Id="rId11" Type="http://schemas.openxmlformats.org/officeDocument/2006/relationships/tags" Target="../tags/tag210.xml"/><Relationship Id="rId10" Type="http://schemas.openxmlformats.org/officeDocument/2006/relationships/tags" Target="../tags/tag209.xml"/><Relationship Id="rId1" Type="http://schemas.openxmlformats.org/officeDocument/2006/relationships/tags" Target="../tags/tag200.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image" Target="../media/image8.png"/><Relationship Id="rId2" Type="http://schemas.openxmlformats.org/officeDocument/2006/relationships/tags" Target="../tags/tag233.xml"/><Relationship Id="rId1" Type="http://schemas.openxmlformats.org/officeDocument/2006/relationships/tags" Target="../tags/tag232.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4.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image" Target="../media/image8.png"/><Relationship Id="rId2" Type="http://schemas.openxmlformats.org/officeDocument/2006/relationships/tags" Target="../tags/tag238.xml"/><Relationship Id="rId1" Type="http://schemas.openxmlformats.org/officeDocument/2006/relationships/tags" Target="../tags/tag237.xml"/></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3.xml"/><Relationship Id="rId8" Type="http://schemas.openxmlformats.org/officeDocument/2006/relationships/slideLayout" Target="../slideLayouts/slideLayout24.xml"/><Relationship Id="rId7" Type="http://schemas.openxmlformats.org/officeDocument/2006/relationships/tags" Target="../tags/tag247.xml"/><Relationship Id="rId6" Type="http://schemas.openxmlformats.org/officeDocument/2006/relationships/image" Target="../media/image8.png"/><Relationship Id="rId5" Type="http://schemas.openxmlformats.org/officeDocument/2006/relationships/tags" Target="../tags/tag246.xml"/><Relationship Id="rId4" Type="http://schemas.openxmlformats.org/officeDocument/2006/relationships/tags" Target="../tags/tag245.xml"/><Relationship Id="rId3" Type="http://schemas.openxmlformats.org/officeDocument/2006/relationships/tags" Target="../tags/tag244.xml"/><Relationship Id="rId2" Type="http://schemas.openxmlformats.org/officeDocument/2006/relationships/tags" Target="../tags/tag243.xml"/><Relationship Id="rId1" Type="http://schemas.openxmlformats.org/officeDocument/2006/relationships/tags" Target="../tags/tag242.xml"/></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24.xml"/><Relationship Id="rId7" Type="http://schemas.openxmlformats.org/officeDocument/2006/relationships/tags" Target="../tags/tag253.xml"/><Relationship Id="rId6" Type="http://schemas.openxmlformats.org/officeDocument/2006/relationships/image" Target="../media/image8.png"/><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258.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tags" Target="../tags/tag257.xml"/><Relationship Id="rId3" Type="http://schemas.openxmlformats.org/officeDocument/2006/relationships/tags" Target="../tags/tag256.xml"/><Relationship Id="rId2" Type="http://schemas.openxmlformats.org/officeDocument/2006/relationships/tags" Target="../tags/tag255.xml"/><Relationship Id="rId1" Type="http://schemas.openxmlformats.org/officeDocument/2006/relationships/tags" Target="../tags/tag254.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263.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268.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tags" Target="../tags/tag267.xml"/><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s>
</file>

<file path=ppt/slides/_rels/slide20.xml.rels><?xml version="1.0" encoding="UTF-8" standalone="yes"?>
<Relationships xmlns="http://schemas.openxmlformats.org/package/2006/relationships"><Relationship Id="rId9" Type="http://schemas.openxmlformats.org/officeDocument/2006/relationships/tags" Target="../tags/tag275.xml"/><Relationship Id="rId8" Type="http://schemas.openxmlformats.org/officeDocument/2006/relationships/tags" Target="../tags/tag274.xml"/><Relationship Id="rId7" Type="http://schemas.openxmlformats.org/officeDocument/2006/relationships/tags" Target="../tags/tag273.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tags" Target="../tags/tag272.xml"/><Relationship Id="rId3" Type="http://schemas.openxmlformats.org/officeDocument/2006/relationships/tags" Target="../tags/tag271.xml"/><Relationship Id="rId21" Type="http://schemas.openxmlformats.org/officeDocument/2006/relationships/notesSlide" Target="../notesSlides/notesSlide15.xml"/><Relationship Id="rId20" Type="http://schemas.openxmlformats.org/officeDocument/2006/relationships/slideLayout" Target="../slideLayouts/slideLayout24.xml"/><Relationship Id="rId2" Type="http://schemas.openxmlformats.org/officeDocument/2006/relationships/tags" Target="../tags/tag270.xml"/><Relationship Id="rId19" Type="http://schemas.openxmlformats.org/officeDocument/2006/relationships/tags" Target="../tags/tag285.xml"/><Relationship Id="rId18" Type="http://schemas.openxmlformats.org/officeDocument/2006/relationships/tags" Target="../tags/tag284.xml"/><Relationship Id="rId17" Type="http://schemas.openxmlformats.org/officeDocument/2006/relationships/tags" Target="../tags/tag283.xml"/><Relationship Id="rId16" Type="http://schemas.openxmlformats.org/officeDocument/2006/relationships/tags" Target="../tags/tag282.xml"/><Relationship Id="rId15" Type="http://schemas.openxmlformats.org/officeDocument/2006/relationships/tags" Target="../tags/tag281.xml"/><Relationship Id="rId14" Type="http://schemas.openxmlformats.org/officeDocument/2006/relationships/tags" Target="../tags/tag280.xml"/><Relationship Id="rId13" Type="http://schemas.openxmlformats.org/officeDocument/2006/relationships/tags" Target="../tags/tag279.xml"/><Relationship Id="rId12" Type="http://schemas.openxmlformats.org/officeDocument/2006/relationships/tags" Target="../tags/tag278.xml"/><Relationship Id="rId11" Type="http://schemas.openxmlformats.org/officeDocument/2006/relationships/tags" Target="../tags/tag277.xml"/><Relationship Id="rId10" Type="http://schemas.openxmlformats.org/officeDocument/2006/relationships/tags" Target="../tags/tag276.xml"/><Relationship Id="rId1" Type="http://schemas.openxmlformats.org/officeDocument/2006/relationships/tags" Target="../tags/tag269.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291.xml"/><Relationship Id="rId6" Type="http://schemas.openxmlformats.org/officeDocument/2006/relationships/image" Target="../media/image8.png"/><Relationship Id="rId5" Type="http://schemas.openxmlformats.org/officeDocument/2006/relationships/tags" Target="../tags/tag290.xml"/><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tags" Target="../tags/tag287.xml"/><Relationship Id="rId1" Type="http://schemas.openxmlformats.org/officeDocument/2006/relationships/tags" Target="../tags/tag286.xml"/></Relationships>
</file>

<file path=ppt/slides/_rels/slide22.xml.rels><?xml version="1.0" encoding="UTF-8" standalone="yes"?>
<Relationships xmlns="http://schemas.openxmlformats.org/package/2006/relationships"><Relationship Id="rId9" Type="http://schemas.openxmlformats.org/officeDocument/2006/relationships/tags" Target="../tags/tag300.xml"/><Relationship Id="rId8" Type="http://schemas.openxmlformats.org/officeDocument/2006/relationships/tags" Target="../tags/tag299.xml"/><Relationship Id="rId7" Type="http://schemas.openxmlformats.org/officeDocument/2006/relationships/tags" Target="../tags/tag298.xml"/><Relationship Id="rId6" Type="http://schemas.openxmlformats.org/officeDocument/2006/relationships/tags" Target="../tags/tag297.xml"/><Relationship Id="rId5" Type="http://schemas.openxmlformats.org/officeDocument/2006/relationships/tags" Target="../tags/tag296.xml"/><Relationship Id="rId4" Type="http://schemas.openxmlformats.org/officeDocument/2006/relationships/tags" Target="../tags/tag295.xml"/><Relationship Id="rId3" Type="http://schemas.openxmlformats.org/officeDocument/2006/relationships/tags" Target="../tags/tag294.xml"/><Relationship Id="rId27" Type="http://schemas.openxmlformats.org/officeDocument/2006/relationships/slideLayout" Target="../slideLayouts/slideLayout24.xml"/><Relationship Id="rId26" Type="http://schemas.openxmlformats.org/officeDocument/2006/relationships/tags" Target="../tags/tag314.xml"/><Relationship Id="rId25" Type="http://schemas.openxmlformats.org/officeDocument/2006/relationships/image" Target="../media/image8.png"/><Relationship Id="rId24" Type="http://schemas.openxmlformats.org/officeDocument/2006/relationships/tags" Target="../tags/tag313.xml"/><Relationship Id="rId23" Type="http://schemas.openxmlformats.org/officeDocument/2006/relationships/tags" Target="../tags/tag312.xml"/><Relationship Id="rId22" Type="http://schemas.openxmlformats.org/officeDocument/2006/relationships/tags" Target="../tags/tag311.xml"/><Relationship Id="rId21" Type="http://schemas.openxmlformats.org/officeDocument/2006/relationships/tags" Target="../tags/tag310.xml"/><Relationship Id="rId20" Type="http://schemas.openxmlformats.org/officeDocument/2006/relationships/tags" Target="../tags/tag309.xml"/><Relationship Id="rId2" Type="http://schemas.openxmlformats.org/officeDocument/2006/relationships/tags" Target="../tags/tag293.xml"/><Relationship Id="rId19" Type="http://schemas.openxmlformats.org/officeDocument/2006/relationships/tags" Target="../tags/tag308.xml"/><Relationship Id="rId18" Type="http://schemas.openxmlformats.org/officeDocument/2006/relationships/tags" Target="../tags/tag307.xml"/><Relationship Id="rId17" Type="http://schemas.openxmlformats.org/officeDocument/2006/relationships/tags" Target="../tags/tag306.xml"/><Relationship Id="rId16" Type="http://schemas.openxmlformats.org/officeDocument/2006/relationships/tags" Target="../tags/tag305.xml"/><Relationship Id="rId15" Type="http://schemas.openxmlformats.org/officeDocument/2006/relationships/tags" Target="../tags/tag304.xml"/><Relationship Id="rId14" Type="http://schemas.openxmlformats.org/officeDocument/2006/relationships/tags" Target="../tags/tag303.xml"/><Relationship Id="rId13" Type="http://schemas.openxmlformats.org/officeDocument/2006/relationships/tags" Target="../tags/tag302.xml"/><Relationship Id="rId12" Type="http://schemas.openxmlformats.org/officeDocument/2006/relationships/image" Target="../media/image14.png"/><Relationship Id="rId11" Type="http://schemas.openxmlformats.org/officeDocument/2006/relationships/tags" Target="../tags/tag301.xml"/><Relationship Id="rId10" Type="http://schemas.openxmlformats.org/officeDocument/2006/relationships/image" Target="../media/image13.png"/><Relationship Id="rId1" Type="http://schemas.openxmlformats.org/officeDocument/2006/relationships/tags" Target="../tags/tag292.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320.xml"/><Relationship Id="rId6" Type="http://schemas.openxmlformats.org/officeDocument/2006/relationships/image" Target="../media/image8.png"/><Relationship Id="rId5" Type="http://schemas.openxmlformats.org/officeDocument/2006/relationships/tags" Target="../tags/tag319.xml"/><Relationship Id="rId4" Type="http://schemas.openxmlformats.org/officeDocument/2006/relationships/tags" Target="../tags/tag318.xml"/><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tags" Target="../tags/tag315.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4.xml"/><Relationship Id="rId5" Type="http://schemas.openxmlformats.org/officeDocument/2006/relationships/tags" Target="../tags/tag324.xml"/><Relationship Id="rId4" Type="http://schemas.openxmlformats.org/officeDocument/2006/relationships/image" Target="../media/image8.png"/><Relationship Id="rId3" Type="http://schemas.openxmlformats.org/officeDocument/2006/relationships/tags" Target="../tags/tag323.xml"/><Relationship Id="rId2" Type="http://schemas.openxmlformats.org/officeDocument/2006/relationships/tags" Target="../tags/tag322.xml"/><Relationship Id="rId1" Type="http://schemas.openxmlformats.org/officeDocument/2006/relationships/tags" Target="../tags/tag321.xml"/></Relationships>
</file>

<file path=ppt/slides/_rels/slide25.xml.rels><?xml version="1.0" encoding="UTF-8" standalone="yes"?>
<Relationships xmlns="http://schemas.openxmlformats.org/package/2006/relationships"><Relationship Id="rId9" Type="http://schemas.openxmlformats.org/officeDocument/2006/relationships/tags" Target="../tags/tag329.xml"/><Relationship Id="rId8" Type="http://schemas.openxmlformats.org/officeDocument/2006/relationships/image" Target="../media/image8.png"/><Relationship Id="rId7" Type="http://schemas.openxmlformats.org/officeDocument/2006/relationships/image" Target="../media/image16.jpeg"/><Relationship Id="rId6" Type="http://schemas.openxmlformats.org/officeDocument/2006/relationships/image" Target="../media/image2.jpeg"/><Relationship Id="rId5" Type="http://schemas.openxmlformats.org/officeDocument/2006/relationships/image" Target="../media/image15.png"/><Relationship Id="rId4" Type="http://schemas.openxmlformats.org/officeDocument/2006/relationships/tags" Target="../tags/tag328.xml"/><Relationship Id="rId3" Type="http://schemas.openxmlformats.org/officeDocument/2006/relationships/tags" Target="../tags/tag327.xml"/><Relationship Id="rId2" Type="http://schemas.openxmlformats.org/officeDocument/2006/relationships/tags" Target="../tags/tag326.xml"/><Relationship Id="rId11" Type="http://schemas.openxmlformats.org/officeDocument/2006/relationships/notesSlide" Target="../notesSlides/notesSlide17.xml"/><Relationship Id="rId10" Type="http://schemas.openxmlformats.org/officeDocument/2006/relationships/slideLayout" Target="../slideLayouts/slideLayout24.xml"/><Relationship Id="rId1" Type="http://schemas.openxmlformats.org/officeDocument/2006/relationships/tags" Target="../tags/tag325.xml"/></Relationships>
</file>

<file path=ppt/slides/_rels/slide26.xml.rels><?xml version="1.0" encoding="UTF-8" standalone="yes"?>
<Relationships xmlns="http://schemas.openxmlformats.org/package/2006/relationships"><Relationship Id="rId9" Type="http://schemas.openxmlformats.org/officeDocument/2006/relationships/tags" Target="../tags/tag338.xml"/><Relationship Id="rId8" Type="http://schemas.openxmlformats.org/officeDocument/2006/relationships/tags" Target="../tags/tag337.xml"/><Relationship Id="rId7" Type="http://schemas.openxmlformats.org/officeDocument/2006/relationships/tags" Target="../tags/tag336.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tags" Target="../tags/tag332.xml"/><Relationship Id="rId2" Type="http://schemas.openxmlformats.org/officeDocument/2006/relationships/tags" Target="../tags/tag331.xml"/><Relationship Id="rId12" Type="http://schemas.openxmlformats.org/officeDocument/2006/relationships/slideLayout" Target="../slideLayouts/slideLayout24.xml"/><Relationship Id="rId11" Type="http://schemas.openxmlformats.org/officeDocument/2006/relationships/tags" Target="../tags/tag339.xml"/><Relationship Id="rId10" Type="http://schemas.openxmlformats.org/officeDocument/2006/relationships/image" Target="../media/image8.png"/><Relationship Id="rId1" Type="http://schemas.openxmlformats.org/officeDocument/2006/relationships/tags" Target="../tags/tag330.xml"/></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24.xml"/><Relationship Id="rId6" Type="http://schemas.openxmlformats.org/officeDocument/2006/relationships/tags" Target="../tags/tag344.xml"/><Relationship Id="rId5" Type="http://schemas.openxmlformats.org/officeDocument/2006/relationships/image" Target="../media/image8.png"/><Relationship Id="rId4" Type="http://schemas.openxmlformats.org/officeDocument/2006/relationships/tags" Target="../tags/tag343.xml"/><Relationship Id="rId3" Type="http://schemas.openxmlformats.org/officeDocument/2006/relationships/tags" Target="../tags/tag342.xml"/><Relationship Id="rId2" Type="http://schemas.openxmlformats.org/officeDocument/2006/relationships/tags" Target="../tags/tag341.xml"/><Relationship Id="rId1" Type="http://schemas.openxmlformats.org/officeDocument/2006/relationships/tags" Target="../tags/tag340.xml"/></Relationships>
</file>

<file path=ppt/slides/_rels/slide28.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352.xml"/><Relationship Id="rId7" Type="http://schemas.openxmlformats.org/officeDocument/2006/relationships/tags" Target="../tags/tag351.xml"/><Relationship Id="rId6" Type="http://schemas.openxmlformats.org/officeDocument/2006/relationships/tags" Target="../tags/tag350.xml"/><Relationship Id="rId5" Type="http://schemas.openxmlformats.org/officeDocument/2006/relationships/tags" Target="../tags/tag349.xml"/><Relationship Id="rId4" Type="http://schemas.openxmlformats.org/officeDocument/2006/relationships/tags" Target="../tags/tag348.xml"/><Relationship Id="rId3" Type="http://schemas.openxmlformats.org/officeDocument/2006/relationships/tags" Target="../tags/tag347.xml"/><Relationship Id="rId2" Type="http://schemas.openxmlformats.org/officeDocument/2006/relationships/tags" Target="../tags/tag346.xml"/><Relationship Id="rId12" Type="http://schemas.openxmlformats.org/officeDocument/2006/relationships/notesSlide" Target="../notesSlides/notesSlide18.xml"/><Relationship Id="rId11" Type="http://schemas.openxmlformats.org/officeDocument/2006/relationships/slideLayout" Target="../slideLayouts/slideLayout24.xml"/><Relationship Id="rId10" Type="http://schemas.openxmlformats.org/officeDocument/2006/relationships/tags" Target="../tags/tag353.xml"/><Relationship Id="rId1" Type="http://schemas.openxmlformats.org/officeDocument/2006/relationships/tags" Target="../tags/tag345.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tags" Target="../tags/tag357.xml"/><Relationship Id="rId4" Type="http://schemas.openxmlformats.org/officeDocument/2006/relationships/image" Target="../media/image8.png"/><Relationship Id="rId3" Type="http://schemas.openxmlformats.org/officeDocument/2006/relationships/tags" Target="../tags/tag356.xml"/><Relationship Id="rId2" Type="http://schemas.openxmlformats.org/officeDocument/2006/relationships/tags" Target="../tags/tag355.xml"/><Relationship Id="rId1" Type="http://schemas.openxmlformats.org/officeDocument/2006/relationships/tags" Target="../tags/tag354.xml"/></Relationships>
</file>

<file path=ppt/slides/_rels/slide30.xml.rels><?xml version="1.0" encoding="UTF-8" standalone="yes"?>
<Relationships xmlns="http://schemas.openxmlformats.org/package/2006/relationships"><Relationship Id="rId9" Type="http://schemas.openxmlformats.org/officeDocument/2006/relationships/tags" Target="../tags/tag366.xml"/><Relationship Id="rId8" Type="http://schemas.openxmlformats.org/officeDocument/2006/relationships/tags" Target="../tags/tag365.xml"/><Relationship Id="rId7" Type="http://schemas.openxmlformats.org/officeDocument/2006/relationships/tags" Target="../tags/tag364.xml"/><Relationship Id="rId6" Type="http://schemas.openxmlformats.org/officeDocument/2006/relationships/tags" Target="../tags/tag363.xml"/><Relationship Id="rId5" Type="http://schemas.openxmlformats.org/officeDocument/2006/relationships/tags" Target="../tags/tag362.xml"/><Relationship Id="rId4" Type="http://schemas.openxmlformats.org/officeDocument/2006/relationships/tags" Target="../tags/tag361.xml"/><Relationship Id="rId3" Type="http://schemas.openxmlformats.org/officeDocument/2006/relationships/tags" Target="../tags/tag360.xml"/><Relationship Id="rId25" Type="http://schemas.openxmlformats.org/officeDocument/2006/relationships/notesSlide" Target="../notesSlides/notesSlide19.xml"/><Relationship Id="rId24" Type="http://schemas.openxmlformats.org/officeDocument/2006/relationships/slideLayout" Target="../slideLayouts/slideLayout24.xml"/><Relationship Id="rId23" Type="http://schemas.openxmlformats.org/officeDocument/2006/relationships/tags" Target="../tags/tag379.xml"/><Relationship Id="rId22" Type="http://schemas.openxmlformats.org/officeDocument/2006/relationships/image" Target="../media/image8.png"/><Relationship Id="rId21" Type="http://schemas.openxmlformats.org/officeDocument/2006/relationships/tags" Target="../tags/tag378.xml"/><Relationship Id="rId20" Type="http://schemas.openxmlformats.org/officeDocument/2006/relationships/tags" Target="../tags/tag377.xml"/><Relationship Id="rId2" Type="http://schemas.openxmlformats.org/officeDocument/2006/relationships/tags" Target="../tags/tag359.xml"/><Relationship Id="rId19" Type="http://schemas.openxmlformats.org/officeDocument/2006/relationships/tags" Target="../tags/tag376.xml"/><Relationship Id="rId18" Type="http://schemas.openxmlformats.org/officeDocument/2006/relationships/tags" Target="../tags/tag375.xml"/><Relationship Id="rId17" Type="http://schemas.openxmlformats.org/officeDocument/2006/relationships/tags" Target="../tags/tag374.xml"/><Relationship Id="rId16" Type="http://schemas.openxmlformats.org/officeDocument/2006/relationships/tags" Target="../tags/tag373.xml"/><Relationship Id="rId15" Type="http://schemas.openxmlformats.org/officeDocument/2006/relationships/tags" Target="../tags/tag372.xml"/><Relationship Id="rId14" Type="http://schemas.openxmlformats.org/officeDocument/2006/relationships/tags" Target="../tags/tag371.xml"/><Relationship Id="rId13" Type="http://schemas.openxmlformats.org/officeDocument/2006/relationships/tags" Target="../tags/tag370.xml"/><Relationship Id="rId12" Type="http://schemas.openxmlformats.org/officeDocument/2006/relationships/tags" Target="../tags/tag369.xml"/><Relationship Id="rId11" Type="http://schemas.openxmlformats.org/officeDocument/2006/relationships/tags" Target="../tags/tag368.xml"/><Relationship Id="rId10" Type="http://schemas.openxmlformats.org/officeDocument/2006/relationships/tags" Target="../tags/tag367.xml"/><Relationship Id="rId1" Type="http://schemas.openxmlformats.org/officeDocument/2006/relationships/tags" Target="../tags/tag358.xml"/></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4.xml"/><Relationship Id="rId5" Type="http://schemas.openxmlformats.org/officeDocument/2006/relationships/tags" Target="../tags/tag383.xml"/><Relationship Id="rId4" Type="http://schemas.openxmlformats.org/officeDocument/2006/relationships/tags" Target="../tags/tag382.xml"/><Relationship Id="rId3" Type="http://schemas.openxmlformats.org/officeDocument/2006/relationships/tags" Target="../tags/tag381.xml"/><Relationship Id="rId2" Type="http://schemas.openxmlformats.org/officeDocument/2006/relationships/image" Target="../media/image8.png"/><Relationship Id="rId1" Type="http://schemas.openxmlformats.org/officeDocument/2006/relationships/tags" Target="../tags/tag380.xml"/></Relationships>
</file>

<file path=ppt/slides/_rels/slide32.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391.xml"/><Relationship Id="rId7" Type="http://schemas.openxmlformats.org/officeDocument/2006/relationships/tags" Target="../tags/tag390.xml"/><Relationship Id="rId6" Type="http://schemas.openxmlformats.org/officeDocument/2006/relationships/tags" Target="../tags/tag389.xml"/><Relationship Id="rId5" Type="http://schemas.openxmlformats.org/officeDocument/2006/relationships/tags" Target="../tags/tag388.xml"/><Relationship Id="rId4" Type="http://schemas.openxmlformats.org/officeDocument/2006/relationships/tags" Target="../tags/tag387.xml"/><Relationship Id="rId3" Type="http://schemas.openxmlformats.org/officeDocument/2006/relationships/tags" Target="../tags/tag386.xml"/><Relationship Id="rId2" Type="http://schemas.openxmlformats.org/officeDocument/2006/relationships/tags" Target="../tags/tag385.xml"/><Relationship Id="rId12" Type="http://schemas.openxmlformats.org/officeDocument/2006/relationships/notesSlide" Target="../notesSlides/notesSlide21.xml"/><Relationship Id="rId11" Type="http://schemas.openxmlformats.org/officeDocument/2006/relationships/slideLayout" Target="../slideLayouts/slideLayout24.xml"/><Relationship Id="rId10" Type="http://schemas.openxmlformats.org/officeDocument/2006/relationships/tags" Target="../tags/tag392.xml"/><Relationship Id="rId1" Type="http://schemas.openxmlformats.org/officeDocument/2006/relationships/tags" Target="../tags/tag384.xml"/></Relationships>
</file>

<file path=ppt/slides/_rels/slide33.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tags" Target="../tags/tag400.xml"/><Relationship Id="rId7" Type="http://schemas.openxmlformats.org/officeDocument/2006/relationships/tags" Target="../tags/tag399.xml"/><Relationship Id="rId6" Type="http://schemas.openxmlformats.org/officeDocument/2006/relationships/tags" Target="../tags/tag398.xml"/><Relationship Id="rId5" Type="http://schemas.openxmlformats.org/officeDocument/2006/relationships/tags" Target="../tags/tag397.xml"/><Relationship Id="rId4" Type="http://schemas.openxmlformats.org/officeDocument/2006/relationships/tags" Target="../tags/tag396.xml"/><Relationship Id="rId3" Type="http://schemas.openxmlformats.org/officeDocument/2006/relationships/tags" Target="../tags/tag395.xml"/><Relationship Id="rId2" Type="http://schemas.openxmlformats.org/officeDocument/2006/relationships/tags" Target="../tags/tag394.xml"/><Relationship Id="rId12" Type="http://schemas.openxmlformats.org/officeDocument/2006/relationships/notesSlide" Target="../notesSlides/notesSlide22.xml"/><Relationship Id="rId11" Type="http://schemas.openxmlformats.org/officeDocument/2006/relationships/slideLayout" Target="../slideLayouts/slideLayout24.xml"/><Relationship Id="rId10" Type="http://schemas.openxmlformats.org/officeDocument/2006/relationships/tags" Target="../tags/tag401.xml"/><Relationship Id="rId1" Type="http://schemas.openxmlformats.org/officeDocument/2006/relationships/tags" Target="../tags/tag393.xml"/></Relationships>
</file>

<file path=ppt/slides/_rels/slide34.xml.rels><?xml version="1.0" encoding="UTF-8" standalone="yes"?>
<Relationships xmlns="http://schemas.openxmlformats.org/package/2006/relationships"><Relationship Id="rId8" Type="http://schemas.openxmlformats.org/officeDocument/2006/relationships/slideLayout" Target="../slideLayouts/slideLayout24.xml"/><Relationship Id="rId7" Type="http://schemas.openxmlformats.org/officeDocument/2006/relationships/tags" Target="../tags/tag406.xml"/><Relationship Id="rId6" Type="http://schemas.openxmlformats.org/officeDocument/2006/relationships/image" Target="../media/image8.png"/><Relationship Id="rId5" Type="http://schemas.openxmlformats.org/officeDocument/2006/relationships/image" Target="../media/image17.png"/><Relationship Id="rId4" Type="http://schemas.openxmlformats.org/officeDocument/2006/relationships/tags" Target="../tags/tag405.xml"/><Relationship Id="rId3" Type="http://schemas.openxmlformats.org/officeDocument/2006/relationships/tags" Target="../tags/tag404.xml"/><Relationship Id="rId2" Type="http://schemas.openxmlformats.org/officeDocument/2006/relationships/tags" Target="../tags/tag403.xml"/><Relationship Id="rId1" Type="http://schemas.openxmlformats.org/officeDocument/2006/relationships/tags" Target="../tags/tag402.xml"/></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411.xml"/><Relationship Id="rId7" Type="http://schemas.openxmlformats.org/officeDocument/2006/relationships/image" Target="../media/image19.png"/><Relationship Id="rId6" Type="http://schemas.openxmlformats.org/officeDocument/2006/relationships/image" Target="../media/image8.png"/><Relationship Id="rId5" Type="http://schemas.openxmlformats.org/officeDocument/2006/relationships/image" Target="../media/image18.png"/><Relationship Id="rId4" Type="http://schemas.openxmlformats.org/officeDocument/2006/relationships/tags" Target="../tags/tag410.xml"/><Relationship Id="rId3" Type="http://schemas.openxmlformats.org/officeDocument/2006/relationships/tags" Target="../tags/tag409.xml"/><Relationship Id="rId2" Type="http://schemas.openxmlformats.org/officeDocument/2006/relationships/tags" Target="../tags/tag408.xml"/><Relationship Id="rId10" Type="http://schemas.openxmlformats.org/officeDocument/2006/relationships/notesSlide" Target="../notesSlides/notesSlide23.xml"/><Relationship Id="rId1" Type="http://schemas.openxmlformats.org/officeDocument/2006/relationships/tags" Target="../tags/tag407.xml"/></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417.xml"/><Relationship Id="rId7" Type="http://schemas.openxmlformats.org/officeDocument/2006/relationships/image" Target="../media/image8.png"/><Relationship Id="rId6" Type="http://schemas.openxmlformats.org/officeDocument/2006/relationships/image" Target="../media/image20.png"/><Relationship Id="rId5" Type="http://schemas.openxmlformats.org/officeDocument/2006/relationships/tags" Target="../tags/tag416.xml"/><Relationship Id="rId4" Type="http://schemas.openxmlformats.org/officeDocument/2006/relationships/tags" Target="../tags/tag415.xml"/><Relationship Id="rId3" Type="http://schemas.openxmlformats.org/officeDocument/2006/relationships/tags" Target="../tags/tag414.xml"/><Relationship Id="rId2" Type="http://schemas.openxmlformats.org/officeDocument/2006/relationships/tags" Target="../tags/tag413.xml"/><Relationship Id="rId10" Type="http://schemas.openxmlformats.org/officeDocument/2006/relationships/notesSlide" Target="../notesSlides/notesSlide24.xml"/><Relationship Id="rId1" Type="http://schemas.openxmlformats.org/officeDocument/2006/relationships/tags" Target="../tags/tag412.xml"/></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tags" Target="../tags/tag423.xml"/><Relationship Id="rId7" Type="http://schemas.openxmlformats.org/officeDocument/2006/relationships/image" Target="../media/image8.png"/><Relationship Id="rId6" Type="http://schemas.openxmlformats.org/officeDocument/2006/relationships/image" Target="../media/image21.png"/><Relationship Id="rId5" Type="http://schemas.openxmlformats.org/officeDocument/2006/relationships/tags" Target="../tags/tag422.xml"/><Relationship Id="rId4" Type="http://schemas.openxmlformats.org/officeDocument/2006/relationships/tags" Target="../tags/tag421.xml"/><Relationship Id="rId3" Type="http://schemas.openxmlformats.org/officeDocument/2006/relationships/tags" Target="../tags/tag420.xml"/><Relationship Id="rId2" Type="http://schemas.openxmlformats.org/officeDocument/2006/relationships/tags" Target="../tags/tag419.xml"/><Relationship Id="rId10" Type="http://schemas.openxmlformats.org/officeDocument/2006/relationships/notesSlide" Target="../notesSlides/notesSlide25.xml"/><Relationship Id="rId1" Type="http://schemas.openxmlformats.org/officeDocument/2006/relationships/tags" Target="../tags/tag418.xml"/></Relationships>
</file>

<file path=ppt/slides/_rels/slide38.xml.rels><?xml version="1.0" encoding="UTF-8" standalone="yes"?>
<Relationships xmlns="http://schemas.openxmlformats.org/package/2006/relationships"><Relationship Id="rId9" Type="http://schemas.openxmlformats.org/officeDocument/2006/relationships/tags" Target="../tags/tag432.xml"/><Relationship Id="rId8" Type="http://schemas.openxmlformats.org/officeDocument/2006/relationships/tags" Target="../tags/tag431.xml"/><Relationship Id="rId7" Type="http://schemas.openxmlformats.org/officeDocument/2006/relationships/tags" Target="../tags/tag430.xml"/><Relationship Id="rId6" Type="http://schemas.openxmlformats.org/officeDocument/2006/relationships/tags" Target="../tags/tag429.xml"/><Relationship Id="rId5" Type="http://schemas.openxmlformats.org/officeDocument/2006/relationships/tags" Target="../tags/tag428.xml"/><Relationship Id="rId4" Type="http://schemas.openxmlformats.org/officeDocument/2006/relationships/tags" Target="../tags/tag427.xml"/><Relationship Id="rId3" Type="http://schemas.openxmlformats.org/officeDocument/2006/relationships/tags" Target="../tags/tag426.xml"/><Relationship Id="rId2" Type="http://schemas.openxmlformats.org/officeDocument/2006/relationships/tags" Target="../tags/tag425.xml"/><Relationship Id="rId14" Type="http://schemas.openxmlformats.org/officeDocument/2006/relationships/notesSlide" Target="../notesSlides/notesSlide26.xml"/><Relationship Id="rId13" Type="http://schemas.openxmlformats.org/officeDocument/2006/relationships/slideLayout" Target="../slideLayouts/slideLayout24.xml"/><Relationship Id="rId12" Type="http://schemas.openxmlformats.org/officeDocument/2006/relationships/tags" Target="../tags/tag433.xml"/><Relationship Id="rId11" Type="http://schemas.openxmlformats.org/officeDocument/2006/relationships/image" Target="../media/image8.png"/><Relationship Id="rId10" Type="http://schemas.openxmlformats.org/officeDocument/2006/relationships/image" Target="../media/image22.png"/><Relationship Id="rId1" Type="http://schemas.openxmlformats.org/officeDocument/2006/relationships/tags" Target="../tags/tag424.xml"/></Relationships>
</file>

<file path=ppt/slides/_rels/slide39.xml.rels><?xml version="1.0" encoding="UTF-8" standalone="yes"?>
<Relationships xmlns="http://schemas.openxmlformats.org/package/2006/relationships"><Relationship Id="rId9" Type="http://schemas.openxmlformats.org/officeDocument/2006/relationships/tags" Target="../tags/tag438.xml"/><Relationship Id="rId8" Type="http://schemas.openxmlformats.org/officeDocument/2006/relationships/image" Target="../media/image24.wmf"/><Relationship Id="rId7" Type="http://schemas.openxmlformats.org/officeDocument/2006/relationships/oleObject" Target="../embeddings/oleObject1.bin"/><Relationship Id="rId6" Type="http://schemas.openxmlformats.org/officeDocument/2006/relationships/image" Target="../media/image8.png"/><Relationship Id="rId5" Type="http://schemas.openxmlformats.org/officeDocument/2006/relationships/image" Target="../media/image23.png"/><Relationship Id="rId4" Type="http://schemas.openxmlformats.org/officeDocument/2006/relationships/tags" Target="../tags/tag437.xml"/><Relationship Id="rId3" Type="http://schemas.openxmlformats.org/officeDocument/2006/relationships/tags" Target="../tags/tag436.xml"/><Relationship Id="rId2" Type="http://schemas.openxmlformats.org/officeDocument/2006/relationships/tags" Target="../tags/tag435.xml"/><Relationship Id="rId12" Type="http://schemas.openxmlformats.org/officeDocument/2006/relationships/notesSlide" Target="../notesSlides/notesSlide27.xml"/><Relationship Id="rId11" Type="http://schemas.openxmlformats.org/officeDocument/2006/relationships/vmlDrawing" Target="../drawings/vmlDrawing1.vml"/><Relationship Id="rId10" Type="http://schemas.openxmlformats.org/officeDocument/2006/relationships/slideLayout" Target="../slideLayouts/slideLayout24.xml"/><Relationship Id="rId1" Type="http://schemas.openxmlformats.org/officeDocument/2006/relationships/tags" Target="../tags/tag434.xml"/></Relationships>
</file>

<file path=ppt/slides/_rels/slide40.xml.rels><?xml version="1.0" encoding="UTF-8" standalone="yes"?>
<Relationships xmlns="http://schemas.openxmlformats.org/package/2006/relationships"><Relationship Id="rId9" Type="http://schemas.openxmlformats.org/officeDocument/2006/relationships/notesSlide" Target="../notesSlides/notesSlide28.xml"/><Relationship Id="rId8" Type="http://schemas.openxmlformats.org/officeDocument/2006/relationships/slideLayout" Target="../slideLayouts/slideLayout24.xml"/><Relationship Id="rId7" Type="http://schemas.openxmlformats.org/officeDocument/2006/relationships/tags" Target="../tags/tag443.xml"/><Relationship Id="rId6" Type="http://schemas.openxmlformats.org/officeDocument/2006/relationships/image" Target="../media/image8.png"/><Relationship Id="rId5" Type="http://schemas.openxmlformats.org/officeDocument/2006/relationships/image" Target="../media/image25.png"/><Relationship Id="rId4" Type="http://schemas.openxmlformats.org/officeDocument/2006/relationships/tags" Target="../tags/tag442.xml"/><Relationship Id="rId3" Type="http://schemas.openxmlformats.org/officeDocument/2006/relationships/tags" Target="../tags/tag441.xml"/><Relationship Id="rId2" Type="http://schemas.openxmlformats.org/officeDocument/2006/relationships/tags" Target="../tags/tag440.xml"/><Relationship Id="rId1" Type="http://schemas.openxmlformats.org/officeDocument/2006/relationships/tags" Target="../tags/tag439.xml"/></Relationships>
</file>

<file path=ppt/slides/_rels/slide41.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24.xml"/><Relationship Id="rId7" Type="http://schemas.openxmlformats.org/officeDocument/2006/relationships/tags" Target="../tags/tag447.xml"/><Relationship Id="rId6" Type="http://schemas.openxmlformats.org/officeDocument/2006/relationships/image" Target="../media/image26.wmf"/><Relationship Id="rId5" Type="http://schemas.openxmlformats.org/officeDocument/2006/relationships/oleObject" Target="../embeddings/oleObject2.bin"/><Relationship Id="rId4" Type="http://schemas.openxmlformats.org/officeDocument/2006/relationships/image" Target="../media/image8.png"/><Relationship Id="rId3" Type="http://schemas.openxmlformats.org/officeDocument/2006/relationships/tags" Target="../tags/tag446.xml"/><Relationship Id="rId2" Type="http://schemas.openxmlformats.org/officeDocument/2006/relationships/tags" Target="../tags/tag445.xml"/><Relationship Id="rId10" Type="http://schemas.openxmlformats.org/officeDocument/2006/relationships/notesSlide" Target="../notesSlides/notesSlide29.xml"/><Relationship Id="rId1" Type="http://schemas.openxmlformats.org/officeDocument/2006/relationships/tags" Target="../tags/tag444.xml"/></Relationships>
</file>

<file path=ppt/slides/_rels/slide42.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24.xml"/><Relationship Id="rId6" Type="http://schemas.openxmlformats.org/officeDocument/2006/relationships/tags" Target="../tags/tag452.xml"/><Relationship Id="rId5" Type="http://schemas.openxmlformats.org/officeDocument/2006/relationships/image" Target="../media/image8.png"/><Relationship Id="rId4" Type="http://schemas.openxmlformats.org/officeDocument/2006/relationships/tags" Target="../tags/tag451.xml"/><Relationship Id="rId3" Type="http://schemas.openxmlformats.org/officeDocument/2006/relationships/tags" Target="../tags/tag450.xml"/><Relationship Id="rId2" Type="http://schemas.openxmlformats.org/officeDocument/2006/relationships/tags" Target="../tags/tag449.xml"/><Relationship Id="rId1" Type="http://schemas.openxmlformats.org/officeDocument/2006/relationships/tags" Target="../tags/tag448.xml"/></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4.bin"/><Relationship Id="rId8" Type="http://schemas.openxmlformats.org/officeDocument/2006/relationships/image" Target="../media/image28.wmf"/><Relationship Id="rId7" Type="http://schemas.openxmlformats.org/officeDocument/2006/relationships/oleObject" Target="../embeddings/oleObject3.bin"/><Relationship Id="rId6" Type="http://schemas.openxmlformats.org/officeDocument/2006/relationships/tags" Target="../tags/tag456.xml"/><Relationship Id="rId5" Type="http://schemas.openxmlformats.org/officeDocument/2006/relationships/image" Target="../media/image8.png"/><Relationship Id="rId4" Type="http://schemas.openxmlformats.org/officeDocument/2006/relationships/image" Target="../media/image27.wmf"/><Relationship Id="rId3" Type="http://schemas.openxmlformats.org/officeDocument/2006/relationships/tags" Target="../tags/tag455.xml"/><Relationship Id="rId2" Type="http://schemas.openxmlformats.org/officeDocument/2006/relationships/tags" Target="../tags/tag454.xml"/><Relationship Id="rId16" Type="http://schemas.openxmlformats.org/officeDocument/2006/relationships/notesSlide" Target="../notesSlides/notesSlide31.xml"/><Relationship Id="rId15" Type="http://schemas.openxmlformats.org/officeDocument/2006/relationships/vmlDrawing" Target="../drawings/vmlDrawing3.vml"/><Relationship Id="rId14" Type="http://schemas.openxmlformats.org/officeDocument/2006/relationships/slideLayout" Target="../slideLayouts/slideLayout24.xml"/><Relationship Id="rId13" Type="http://schemas.openxmlformats.org/officeDocument/2006/relationships/tags" Target="../tags/tag457.xml"/><Relationship Id="rId12" Type="http://schemas.openxmlformats.org/officeDocument/2006/relationships/image" Target="../media/image30.wmf"/><Relationship Id="rId11" Type="http://schemas.openxmlformats.org/officeDocument/2006/relationships/oleObject" Target="../embeddings/oleObject5.bin"/><Relationship Id="rId10" Type="http://schemas.openxmlformats.org/officeDocument/2006/relationships/image" Target="../media/image29.wmf"/><Relationship Id="rId1" Type="http://schemas.openxmlformats.org/officeDocument/2006/relationships/tags" Target="../tags/tag453.xml"/></Relationships>
</file>

<file path=ppt/slides/_rels/slide44.xml.rels><?xml version="1.0" encoding="UTF-8" standalone="yes"?>
<Relationships xmlns="http://schemas.openxmlformats.org/package/2006/relationships"><Relationship Id="rId9" Type="http://schemas.openxmlformats.org/officeDocument/2006/relationships/notesSlide" Target="../notesSlides/notesSlide32.xml"/><Relationship Id="rId8" Type="http://schemas.openxmlformats.org/officeDocument/2006/relationships/slideLayout" Target="../slideLayouts/slideLayout24.xml"/><Relationship Id="rId7" Type="http://schemas.openxmlformats.org/officeDocument/2006/relationships/tags" Target="../tags/tag462.xml"/><Relationship Id="rId6" Type="http://schemas.openxmlformats.org/officeDocument/2006/relationships/image" Target="../media/image8.png"/><Relationship Id="rId5" Type="http://schemas.openxmlformats.org/officeDocument/2006/relationships/image" Target="../media/image31.png"/><Relationship Id="rId4" Type="http://schemas.openxmlformats.org/officeDocument/2006/relationships/tags" Target="../tags/tag461.xml"/><Relationship Id="rId3" Type="http://schemas.openxmlformats.org/officeDocument/2006/relationships/tags" Target="../tags/tag460.xml"/><Relationship Id="rId2" Type="http://schemas.openxmlformats.org/officeDocument/2006/relationships/tags" Target="../tags/tag459.xml"/><Relationship Id="rId1" Type="http://schemas.openxmlformats.org/officeDocument/2006/relationships/tags" Target="../tags/tag458.xml"/></Relationships>
</file>

<file path=ppt/slides/_rels/slide45.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24.xml"/><Relationship Id="rId5" Type="http://schemas.openxmlformats.org/officeDocument/2006/relationships/tags" Target="../tags/tag466.xml"/><Relationship Id="rId4" Type="http://schemas.openxmlformats.org/officeDocument/2006/relationships/image" Target="../media/image8.png"/><Relationship Id="rId3" Type="http://schemas.openxmlformats.org/officeDocument/2006/relationships/tags" Target="../tags/tag465.xml"/><Relationship Id="rId2" Type="http://schemas.openxmlformats.org/officeDocument/2006/relationships/tags" Target="../tags/tag464.xml"/><Relationship Id="rId1" Type="http://schemas.openxmlformats.org/officeDocument/2006/relationships/tags" Target="../tags/tag463.xml"/></Relationships>
</file>

<file path=ppt/slides/_rels/slide46.xml.rels><?xml version="1.0" encoding="UTF-8" standalone="yes"?>
<Relationships xmlns="http://schemas.openxmlformats.org/package/2006/relationships"><Relationship Id="rId9" Type="http://schemas.openxmlformats.org/officeDocument/2006/relationships/notesSlide" Target="../notesSlides/notesSlide34.xml"/><Relationship Id="rId8" Type="http://schemas.openxmlformats.org/officeDocument/2006/relationships/slideLayout" Target="../slideLayouts/slideLayout24.xml"/><Relationship Id="rId7" Type="http://schemas.openxmlformats.org/officeDocument/2006/relationships/tags" Target="../tags/tag472.xml"/><Relationship Id="rId6" Type="http://schemas.openxmlformats.org/officeDocument/2006/relationships/image" Target="../media/image8.png"/><Relationship Id="rId5" Type="http://schemas.openxmlformats.org/officeDocument/2006/relationships/tags" Target="../tags/tag471.xml"/><Relationship Id="rId4" Type="http://schemas.openxmlformats.org/officeDocument/2006/relationships/tags" Target="../tags/tag470.xml"/><Relationship Id="rId3" Type="http://schemas.openxmlformats.org/officeDocument/2006/relationships/tags" Target="../tags/tag469.xml"/><Relationship Id="rId2" Type="http://schemas.openxmlformats.org/officeDocument/2006/relationships/tags" Target="../tags/tag468.xml"/><Relationship Id="rId1" Type="http://schemas.openxmlformats.org/officeDocument/2006/relationships/tags" Target="../tags/tag467.xml"/></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35.xml"/><Relationship Id="rId6" Type="http://schemas.openxmlformats.org/officeDocument/2006/relationships/slideLayout" Target="../slideLayouts/slideLayout24.xml"/><Relationship Id="rId5" Type="http://schemas.openxmlformats.org/officeDocument/2006/relationships/tags" Target="../tags/tag476.xml"/><Relationship Id="rId4" Type="http://schemas.openxmlformats.org/officeDocument/2006/relationships/image" Target="../media/image8.png"/><Relationship Id="rId3" Type="http://schemas.openxmlformats.org/officeDocument/2006/relationships/tags" Target="../tags/tag475.xml"/><Relationship Id="rId2" Type="http://schemas.openxmlformats.org/officeDocument/2006/relationships/tags" Target="../tags/tag474.xml"/><Relationship Id="rId1" Type="http://schemas.openxmlformats.org/officeDocument/2006/relationships/tags" Target="../tags/tag473.xml"/></Relationships>
</file>

<file path=ppt/slides/_rels/slide48.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24.xml"/><Relationship Id="rId5" Type="http://schemas.openxmlformats.org/officeDocument/2006/relationships/tags" Target="../tags/tag480.xml"/><Relationship Id="rId4" Type="http://schemas.openxmlformats.org/officeDocument/2006/relationships/image" Target="../media/image8.png"/><Relationship Id="rId3" Type="http://schemas.openxmlformats.org/officeDocument/2006/relationships/tags" Target="../tags/tag479.xml"/><Relationship Id="rId2" Type="http://schemas.openxmlformats.org/officeDocument/2006/relationships/tags" Target="../tags/tag478.xml"/><Relationship Id="rId1" Type="http://schemas.openxmlformats.org/officeDocument/2006/relationships/tags" Target="../tags/tag477.xml"/></Relationships>
</file>

<file path=ppt/slides/_rels/slide49.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slideLayout" Target="../slideLayouts/slideLayout24.xml"/><Relationship Id="rId6" Type="http://schemas.openxmlformats.org/officeDocument/2006/relationships/tags" Target="../tags/tag484.xml"/><Relationship Id="rId5" Type="http://schemas.openxmlformats.org/officeDocument/2006/relationships/image" Target="../media/image8.png"/><Relationship Id="rId4" Type="http://schemas.openxmlformats.org/officeDocument/2006/relationships/image" Target="../media/image32.wmf"/><Relationship Id="rId3" Type="http://schemas.openxmlformats.org/officeDocument/2006/relationships/tags" Target="../tags/tag483.xml"/><Relationship Id="rId2" Type="http://schemas.openxmlformats.org/officeDocument/2006/relationships/tags" Target="../tags/tag482.xml"/><Relationship Id="rId1" Type="http://schemas.openxmlformats.org/officeDocument/2006/relationships/tags" Target="../tags/tag481.xml"/></Relationships>
</file>

<file path=ppt/slides/_rels/slide50.xml.rels><?xml version="1.0" encoding="UTF-8" standalone="yes"?>
<Relationships xmlns="http://schemas.openxmlformats.org/package/2006/relationships"><Relationship Id="rId9" Type="http://schemas.openxmlformats.org/officeDocument/2006/relationships/tags" Target="../tags/tag491.xml"/><Relationship Id="rId8" Type="http://schemas.openxmlformats.org/officeDocument/2006/relationships/image" Target="../media/image33.png"/><Relationship Id="rId7" Type="http://schemas.openxmlformats.org/officeDocument/2006/relationships/tags" Target="../tags/tag490.xml"/><Relationship Id="rId6" Type="http://schemas.openxmlformats.org/officeDocument/2006/relationships/tags" Target="../tags/tag489.xml"/><Relationship Id="rId5" Type="http://schemas.openxmlformats.org/officeDocument/2006/relationships/image" Target="../media/image8.png"/><Relationship Id="rId4" Type="http://schemas.openxmlformats.org/officeDocument/2006/relationships/tags" Target="../tags/tag488.xml"/><Relationship Id="rId3" Type="http://schemas.openxmlformats.org/officeDocument/2006/relationships/tags" Target="../tags/tag487.xml"/><Relationship Id="rId2" Type="http://schemas.openxmlformats.org/officeDocument/2006/relationships/tags" Target="../tags/tag486.xml"/><Relationship Id="rId11" Type="http://schemas.openxmlformats.org/officeDocument/2006/relationships/notesSlide" Target="../notesSlides/notesSlide38.xml"/><Relationship Id="rId10" Type="http://schemas.openxmlformats.org/officeDocument/2006/relationships/slideLayout" Target="../slideLayouts/slideLayout24.xml"/><Relationship Id="rId1" Type="http://schemas.openxmlformats.org/officeDocument/2006/relationships/tags" Target="../tags/tag485.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49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Object 2103"/>
          <p:cNvSpPr txBox="1"/>
          <p:nvPr>
            <p:custDataLst>
              <p:tags r:id="rId1"/>
            </p:custDataLst>
          </p:nvPr>
        </p:nvSpPr>
        <p:spPr>
          <a:xfrm>
            <a:off x="648970" y="3500755"/>
            <a:ext cx="10798175" cy="445135"/>
          </a:xfrm>
          <a:prstGeom prst="rect">
            <a:avLst/>
          </a:prstGeom>
          <a:ln w="3175">
            <a:miter lim="400000"/>
          </a:ln>
        </p:spPr>
        <p:txBody>
          <a:bodyPr wrap="square" lIns="101600" tIns="38100" rIns="76200" bIns="38100"/>
          <a:lstStyle>
            <a:lvl1pPr algn="ctr">
              <a:defRPr sz="2400" spc="73">
                <a:solidFill>
                  <a:srgbClr val="FFE3B9"/>
                </a:solidFill>
                <a:latin typeface="YouSheBiaoTiHei"/>
                <a:ea typeface="YouSheBiaoTiHei"/>
                <a:cs typeface="YouSheBiaoTiHei"/>
                <a:sym typeface="YouSheBiaoTiHei"/>
              </a:defRPr>
            </a:lvl1pPr>
          </a:lstStyle>
          <a:p>
            <a:pPr marL="0" indent="0" algn="ctr">
              <a:lnSpc>
                <a:spcPct val="100000"/>
              </a:lnSpc>
              <a:spcBef>
                <a:spcPts val="0"/>
              </a:spcBef>
              <a:spcAft>
                <a:spcPts val="0"/>
              </a:spcAft>
              <a:buSzPct val="100000"/>
              <a:buNone/>
            </a:pPr>
            <a:r>
              <a:rPr lang="zh-CN" altLang="en-US" sz="4400" spc="200" dirty="0">
                <a:solidFill>
                  <a:schemeClr val="accent1"/>
                </a:solidFill>
                <a:latin typeface="Arial" panose="020B0604020202020204" pitchFamily="34" charset="0"/>
                <a:ea typeface="微软雅黑" panose="020B0503020204020204" pitchFamily="34" charset="-122"/>
              </a:rPr>
              <a:t>第六讲</a:t>
            </a:r>
            <a:r>
              <a:rPr lang="en-US" altLang="zh-CN" sz="4400" spc="200" dirty="0">
                <a:solidFill>
                  <a:schemeClr val="accent1"/>
                </a:solidFill>
                <a:latin typeface="Arial" panose="020B0604020202020204" pitchFamily="34" charset="0"/>
                <a:ea typeface="微软雅黑" panose="020B0503020204020204" pitchFamily="34" charset="-122"/>
              </a:rPr>
              <a:t> </a:t>
            </a:r>
            <a:r>
              <a:rPr lang="zh-CN" altLang="en-US" sz="4400" spc="200" dirty="0">
                <a:solidFill>
                  <a:schemeClr val="accent1"/>
                </a:solidFill>
                <a:latin typeface="Arial" panose="020B0604020202020204" pitchFamily="34" charset="0"/>
                <a:ea typeface="微软雅黑" panose="020B0503020204020204" pitchFamily="34" charset="-122"/>
                <a:sym typeface="+mn-ea"/>
              </a:rPr>
              <a:t>完全但不完美信息动态博弈</a:t>
            </a:r>
            <a:endParaRPr lang="en-US" altLang="zh-CN" sz="4400" spc="200">
              <a:solidFill>
                <a:schemeClr val="tx1">
                  <a:lumMod val="85000"/>
                  <a:lumOff val="15000"/>
                </a:schemeClr>
              </a:solidFill>
              <a:latin typeface="Arial" panose="020B0604020202020204" pitchFamily="34" charset="0"/>
              <a:ea typeface="微软雅黑" panose="020B0503020204020204" pitchFamily="34" charset="-122"/>
            </a:endParaRPr>
          </a:p>
          <a:p>
            <a:pPr marL="0" indent="0" algn="ctr">
              <a:lnSpc>
                <a:spcPct val="100000"/>
              </a:lnSpc>
              <a:spcBef>
                <a:spcPts val="0"/>
              </a:spcBef>
              <a:spcAft>
                <a:spcPts val="0"/>
              </a:spcAft>
              <a:buSzPct val="100000"/>
              <a:buNone/>
            </a:pPr>
            <a:endParaRPr lang="zh-CN" altLang="en-US" sz="4400" spc="200" dirty="0">
              <a:solidFill>
                <a:schemeClr val="accent1"/>
              </a:solidFill>
              <a:latin typeface="Arial" panose="020B0604020202020204" pitchFamily="34" charset="0"/>
              <a:ea typeface="微软雅黑" panose="020B0503020204020204" pitchFamily="34" charset="-122"/>
            </a:endParaRPr>
          </a:p>
        </p:txBody>
      </p:sp>
      <p:sp>
        <p:nvSpPr>
          <p:cNvPr id="419" name="Object 2105"/>
          <p:cNvSpPr txBox="1"/>
          <p:nvPr>
            <p:custDataLst>
              <p:tags r:id="rId2"/>
            </p:custDataLst>
          </p:nvPr>
        </p:nvSpPr>
        <p:spPr>
          <a:xfrm>
            <a:off x="3175909" y="1268889"/>
            <a:ext cx="5823585" cy="1583690"/>
          </a:xfrm>
          <a:prstGeom prst="rect">
            <a:avLst/>
          </a:prstGeom>
          <a:ln w="3175">
            <a:miter lim="400000"/>
          </a:ln>
        </p:spPr>
        <p:txBody>
          <a:bodyPr lIns="101600" tIns="38100" rIns="63500" bIns="38100" anchor="b" anchorCtr="0">
            <a:normAutofit/>
          </a:bodyPr>
          <a:lstStyle>
            <a:lvl1pPr algn="ctr">
              <a:defRPr sz="12400" spc="372">
                <a:solidFill>
                  <a:srgbClr val="FFFFFF"/>
                </a:solidFill>
                <a:latin typeface="YouSheBiaoTiHei"/>
                <a:ea typeface="YouSheBiaoTiHei"/>
                <a:cs typeface="YouSheBiaoTiHei"/>
                <a:sym typeface="YouSheBiaoTiHei"/>
              </a:defRPr>
            </a:lvl1pPr>
          </a:lstStyle>
          <a:p>
            <a:pPr marL="0" indent="0" algn="ctr">
              <a:lnSpc>
                <a:spcPct val="100000"/>
              </a:lnSpc>
              <a:spcBef>
                <a:spcPts val="0"/>
              </a:spcBef>
              <a:spcAft>
                <a:spcPts val="0"/>
              </a:spcAft>
              <a:buSzPct val="100000"/>
              <a:buNone/>
            </a:pPr>
            <a:r>
              <a:rPr lang="zh-CN" altLang="en-US" sz="7200" spc="300" dirty="0">
                <a:solidFill>
                  <a:schemeClr val="accent1"/>
                </a:solidFill>
                <a:latin typeface="Arial" panose="020B0604020202020204" pitchFamily="34" charset="0"/>
                <a:ea typeface="微软雅黑" panose="020B0503020204020204" pitchFamily="34" charset="-122"/>
              </a:rPr>
              <a:t>博弈论</a:t>
            </a:r>
            <a:endParaRPr lang="zh-CN" altLang="en-US" sz="7200" spc="300" dirty="0">
              <a:solidFill>
                <a:schemeClr val="accent1"/>
              </a:solidFill>
              <a:latin typeface="Arial" panose="020B0604020202020204" pitchFamily="34" charset="0"/>
              <a:ea typeface="微软雅黑" panose="020B0503020204020204" pitchFamily="34" charset="-122"/>
            </a:endParaRPr>
          </a:p>
        </p:txBody>
      </p:sp>
      <p:sp>
        <p:nvSpPr>
          <p:cNvPr id="8" name="object 8"/>
          <p:cNvSpPr txBox="1"/>
          <p:nvPr/>
        </p:nvSpPr>
        <p:spPr>
          <a:xfrm>
            <a:off x="9264015" y="3945890"/>
            <a:ext cx="2673985" cy="2277110"/>
          </a:xfrm>
          <a:prstGeom prst="rect">
            <a:avLst/>
          </a:prstGeom>
        </p:spPr>
        <p:txBody>
          <a:bodyPr vert="horz" wrap="square" lIns="0" tIns="0" rIns="0" bIns="0" rtlCol="0">
            <a:spAutoFit/>
          </a:bodyPr>
          <a:p>
            <a:pPr marL="12700">
              <a:lnSpc>
                <a:spcPct val="100000"/>
              </a:lnSpc>
            </a:pPr>
            <a:r>
              <a:rPr lang="zh-CN" altLang="en-US" sz="4000" b="1" spc="-5" dirty="0">
                <a:solidFill>
                  <a:srgbClr val="33339A"/>
                </a:solidFill>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endParaRPr lang="en-US" altLang="zh-CN" sz="4000" b="1" spc="-5" dirty="0">
              <a:solidFill>
                <a:srgbClr val="33339A"/>
              </a:solidFill>
              <a:effectLst>
                <a:outerShdw blurRad="38100" dist="38100" dir="2700000" algn="tl">
                  <a:srgbClr val="000000">
                    <a:alpha val="43137"/>
                  </a:srgbClr>
                </a:outerShdw>
              </a:effectLst>
              <a:latin typeface="华文新魏" panose="02010800040101010101" pitchFamily="2" charset="-122"/>
              <a:cs typeface="华文中宋" panose="02010600040101010101" charset="-122"/>
            </a:endParaRPr>
          </a:p>
          <a:p>
            <a:pPr marL="12700">
              <a:lnSpc>
                <a:spcPct val="100000"/>
              </a:lnSpc>
            </a:pPr>
            <a:r>
              <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endPar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endParaRPr>
          </a:p>
          <a:p>
            <a:pPr marL="12700">
              <a:lnSpc>
                <a:spcPct val="100000"/>
              </a:lnSpc>
            </a:pPr>
            <a:r>
              <a:rPr lang="en-US" altLang="zh-CN" sz="28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r>
              <a:rPr lang="en-US" altLang="zh-CN" sz="3200" spc="-5" dirty="0">
                <a:effectLst>
                  <a:outerShdw blurRad="38100" dist="38100" dir="2700000" algn="tl">
                    <a:srgbClr val="000000">
                      <a:alpha val="43137"/>
                    </a:srgbClr>
                  </a:outerShdw>
                </a:effectLst>
                <a:latin typeface="华文新魏" panose="02010800040101010101" pitchFamily="2" charset="-122"/>
                <a:cs typeface="华文中宋" panose="02010600040101010101" charset="-122"/>
              </a:rPr>
              <a:t>  </a:t>
            </a: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王梦晨     </a:t>
            </a:r>
            <a:endParaRPr lang="en-US" altLang="zh-CN"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a:p>
            <a:pPr marL="12700">
              <a:lnSpc>
                <a:spcPct val="100000"/>
              </a:lnSpc>
            </a:pP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杭州电子科技大学 </a:t>
            </a:r>
            <a:endParaRPr lang="en-US" altLang="zh-CN"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a:p>
            <a:pPr marL="12700">
              <a:lnSpc>
                <a:spcPct val="100000"/>
              </a:lnSpc>
            </a:pPr>
            <a:r>
              <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rPr>
              <a:t>     经济学院</a:t>
            </a:r>
            <a:endParaRPr lang="zh-CN" altLang="en-US" sz="2400" spc="-5" dirty="0">
              <a:effectLst>
                <a:outerShdw blurRad="38100" dist="38100" dir="2700000" algn="tl">
                  <a:srgbClr val="000000">
                    <a:alpha val="43137"/>
                  </a:srgbClr>
                </a:outerShdw>
              </a:effectLst>
              <a:latin typeface="华文中宋" panose="02010600040101010101" charset="-122"/>
              <a:cs typeface="华文中宋" panose="02010600040101010101" charset="-122"/>
            </a:endParaRPr>
          </a:p>
        </p:txBody>
      </p:sp>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dirty="0"/>
          </a:p>
        </p:txBody>
      </p:sp>
    </p:spTree>
    <p:custDataLst>
      <p:tags r:id="rId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AutoShape 4"/>
          <p:cNvSpPr>
            <a:spLocks noGrp="1" noChangeArrowheads="1"/>
          </p:cNvSpPr>
          <p:nvPr>
            <p:ph type="title"/>
          </p:nvPr>
        </p:nvSpPr>
        <p:spPr>
          <a:xfrm>
            <a:off x="1464310" y="620395"/>
            <a:ext cx="8369300" cy="857250"/>
          </a:xfrm>
        </p:spPr>
        <p:txBody>
          <a:bodyPr/>
          <a:lstStyle/>
          <a:p>
            <a:pPr algn="ctr" eaLnBrk="1" hangingPunct="1">
              <a:buClrTx/>
              <a:buSzTx/>
              <a:buFontTx/>
            </a:pPr>
            <a:r>
              <a:rPr lang="zh-CN" altLang="en-US" sz="3600"/>
              <a:t>第六讲：</a:t>
            </a:r>
            <a:r>
              <a:rPr sz="3600">
                <a:sym typeface="+mn-ea"/>
              </a:rPr>
              <a:t>完全但不完美信息动态博弈</a:t>
            </a:r>
            <a:endParaRPr lang="zh-CN" altLang="en-US" sz="3600"/>
          </a:p>
        </p:txBody>
      </p:sp>
      <p:sp>
        <p:nvSpPr>
          <p:cNvPr id="8195" name="AutoShape 5"/>
          <p:cNvSpPr>
            <a:spLocks noGrp="1" noChangeArrowheads="1"/>
          </p:cNvSpPr>
          <p:nvPr>
            <p:ph type="body" idx="1"/>
          </p:nvPr>
        </p:nvSpPr>
        <p:spPr>
          <a:xfrm>
            <a:off x="3791585" y="1700530"/>
            <a:ext cx="5066030" cy="4389755"/>
          </a:xfrm>
          <a:extLst>
            <a:ext uri="{91240B29-F687-4F45-9708-019B960494DF}">
              <a14:hiddenLine xmlns:a14="http://schemas.microsoft.com/office/drawing/2010/main" w="28575">
                <a:solidFill>
                  <a:schemeClr val="accent1"/>
                </a:solidFill>
                <a:round/>
              </a14:hiddenLine>
            </a:ext>
          </a:extLst>
        </p:spPr>
        <p:txBody>
          <a:bodyPr/>
          <a:lstStyle/>
          <a:p>
            <a:pPr marL="812800" indent="-812800" algn="ctr" eaLnBrk="1" hangingPunct="1">
              <a:lnSpc>
                <a:spcPct val="170000"/>
              </a:lnSpc>
              <a:buFont typeface="Wingdings" panose="05000000000000000000" pitchFamily="2" charset="2"/>
              <a:buNone/>
            </a:pPr>
            <a:r>
              <a:rPr lang="zh-CN" altLang="en-US" sz="2400" dirty="0" smtClean="0">
                <a:solidFill>
                  <a:srgbClr val="0000CC"/>
                </a:solidFill>
              </a:rPr>
              <a:t>主要内容</a:t>
            </a:r>
            <a:endParaRPr lang="zh-CN" altLang="en-US" sz="2400" dirty="0" smtClean="0">
              <a:solidFill>
                <a:srgbClr val="0000CC"/>
              </a:solidFill>
            </a:endParaRPr>
          </a:p>
          <a:p>
            <a:pPr eaLnBrk="1" hangingPunct="1">
              <a:lnSpc>
                <a:spcPct val="170000"/>
              </a:lnSpc>
              <a:buFont typeface="Wingdings" panose="05000000000000000000" charset="0"/>
              <a:buChar char="Ø"/>
            </a:pPr>
            <a:r>
              <a:rPr lang="zh-CN" altLang="en-US" sz="2400" dirty="0" smtClean="0">
                <a:solidFill>
                  <a:schemeClr val="tx1"/>
                </a:solidFill>
              </a:rPr>
              <a:t>不完美信息动态博弈</a:t>
            </a:r>
            <a:endParaRPr lang="zh-CN" altLang="en-US" sz="2400" dirty="0" smtClean="0">
              <a:solidFill>
                <a:schemeClr val="tx1"/>
              </a:solidFill>
            </a:endParaRPr>
          </a:p>
          <a:p>
            <a:pPr algn="l" eaLnBrk="1" hangingPunct="1">
              <a:lnSpc>
                <a:spcPct val="170000"/>
              </a:lnSpc>
              <a:buClrTx/>
              <a:buSzTx/>
              <a:buFont typeface="Wingdings" panose="05000000000000000000" charset="0"/>
              <a:buChar char="Ø"/>
            </a:pPr>
            <a:r>
              <a:rPr lang="zh-CN" altLang="en-US" sz="2400" dirty="0" smtClean="0">
                <a:solidFill>
                  <a:schemeClr val="tx1"/>
                </a:solidFill>
              </a:rPr>
              <a:t>完美贝叶斯均衡</a:t>
            </a:r>
            <a:endParaRPr lang="zh-CN" altLang="en-US" sz="2400" dirty="0" smtClean="0">
              <a:solidFill>
                <a:schemeClr val="tx1"/>
              </a:solidFill>
            </a:endParaRPr>
          </a:p>
          <a:p>
            <a:pPr algn="l" eaLnBrk="1" hangingPunct="1">
              <a:lnSpc>
                <a:spcPct val="170000"/>
              </a:lnSpc>
              <a:buClrTx/>
              <a:buSzTx/>
              <a:buFont typeface="Wingdings" panose="05000000000000000000" charset="0"/>
              <a:buChar char="Ø"/>
            </a:pPr>
            <a:r>
              <a:rPr sz="2400" smtClean="0">
                <a:solidFill>
                  <a:schemeClr val="tx1"/>
                </a:solidFill>
                <a:sym typeface="+mn-ea"/>
              </a:rPr>
              <a:t>单价二手车交易博弈</a:t>
            </a:r>
            <a:endParaRPr sz="2400" smtClean="0">
              <a:solidFill>
                <a:schemeClr val="tx1"/>
              </a:solidFill>
              <a:sym typeface="+mn-ea"/>
            </a:endParaRPr>
          </a:p>
          <a:p>
            <a:pPr algn="l" eaLnBrk="1" hangingPunct="1">
              <a:lnSpc>
                <a:spcPct val="170000"/>
              </a:lnSpc>
              <a:buClrTx/>
              <a:buSzTx/>
              <a:buFont typeface="Wingdings" panose="05000000000000000000" charset="0"/>
              <a:buChar char="Ø"/>
            </a:pPr>
            <a:r>
              <a:rPr sz="2400" smtClean="0">
                <a:solidFill>
                  <a:schemeClr val="tx1"/>
                </a:solidFill>
                <a:sym typeface="+mn-ea"/>
              </a:rPr>
              <a:t>双价二手车交易博弈</a:t>
            </a:r>
            <a:endParaRPr lang="zh-CN" altLang="en-US" sz="2400" smtClean="0">
              <a:solidFill>
                <a:schemeClr val="tx1"/>
              </a:solidFill>
              <a:sym typeface="+mn-ea"/>
            </a:endParaRPr>
          </a:p>
          <a:p>
            <a:pPr algn="l" eaLnBrk="1" hangingPunct="1">
              <a:lnSpc>
                <a:spcPct val="170000"/>
              </a:lnSpc>
              <a:buClrTx/>
              <a:buSzTx/>
              <a:buFont typeface="Wingdings" panose="05000000000000000000" charset="0"/>
              <a:buChar char="Ø"/>
            </a:pPr>
            <a:r>
              <a:rPr lang="zh-CN" altLang="en-US" sz="2400" dirty="0" smtClean="0">
                <a:solidFill>
                  <a:schemeClr val="tx1"/>
                </a:solidFill>
              </a:rPr>
              <a:t>有退款保证</a:t>
            </a:r>
            <a:r>
              <a:rPr lang="zh-CN" altLang="en-US" sz="2400" smtClean="0">
                <a:solidFill>
                  <a:schemeClr val="tx1"/>
                </a:solidFill>
              </a:rPr>
              <a:t>的</a:t>
            </a:r>
            <a:r>
              <a:rPr sz="2400" smtClean="0">
                <a:solidFill>
                  <a:schemeClr val="tx1"/>
                </a:solidFill>
                <a:sym typeface="+mn-ea"/>
              </a:rPr>
              <a:t>双价二手车交易</a:t>
            </a:r>
            <a:endParaRPr lang="zh-CN" altLang="en-US" sz="2400" dirty="0" smtClean="0">
              <a:highlight>
                <a:srgbClr val="FFFF00"/>
              </a:highlight>
            </a:endParaRPr>
          </a:p>
        </p:txBody>
      </p:sp>
      <p:pic>
        <p:nvPicPr>
          <p:cNvPr id="6" name="图片 1" descr="f01494d1831cca2c2d8b5f9021c13ad"/>
          <p:cNvPicPr>
            <a:picLocks noChangeAspect="1"/>
          </p:cNvPicPr>
          <p:nvPr/>
        </p:nvPicPr>
        <p:blipFill>
          <a:blip r:embed="rId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信息不对称问题</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17" name="Title 6"/>
          <p:cNvSpPr txBox="1"/>
          <p:nvPr>
            <p:custDataLst>
              <p:tags r:id="rId3"/>
            </p:custDataLst>
          </p:nvPr>
        </p:nvSpPr>
        <p:spPr>
          <a:xfrm>
            <a:off x="1127125" y="1268730"/>
            <a:ext cx="8345170" cy="392620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购买商品</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企业人事经理雇佣员工</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保险公司销售人员缺乏对投保人健康状况的了解等</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ctr">
              <a:lnSpc>
                <a:spcPct val="130000"/>
              </a:lnSpc>
              <a:spcBef>
                <a:spcPts val="1000"/>
              </a:spcBef>
              <a:spcAft>
                <a:spcPts val="0"/>
              </a:spcAft>
              <a:buSzPct val="100000"/>
              <a:buFont typeface="Arial" panose="020B0604020202020204" pitchFamily="34"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just" fontAlgn="ctr">
              <a:lnSpc>
                <a:spcPct val="130000"/>
              </a:lnSpc>
              <a:spcBef>
                <a:spcPts val="1000"/>
              </a:spcBef>
              <a:spcAft>
                <a:spcPts val="0"/>
              </a:spcAft>
              <a:buSzPct val="100000"/>
              <a:buFont typeface="Arial" panose="020B0604020202020204" pitchFamily="34" charset="0"/>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不完全信息</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博弈方在得益信息方面的不对称。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不完美信息</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博弈进程信息方面的不对称。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不完美信息动态博弈：</a:t>
              </a:r>
              <a:r>
                <a:rPr lang="zh-CN" altLang="en-US" sz="2800" dirty="0">
                  <a:solidFill>
                    <a:schemeClr val="accent1"/>
                  </a:solidFill>
                  <a:sym typeface="+mn-ea"/>
                </a:rPr>
                <a:t>概念</a:t>
              </a:r>
              <a:endParaRPr lang="zh-CN" altLang="en-US" sz="2800" dirty="0">
                <a:solidFill>
                  <a:schemeClr val="accent1"/>
                </a:solidFill>
                <a:sym typeface="+mn-ea"/>
              </a:endParaRPr>
            </a:p>
          </p:txBody>
        </p:sp>
        <p:cxnSp>
          <p:nvCxnSpPr>
            <p:cNvPr id="11" name="直接连接符 10"/>
            <p:cNvCxnSpPr/>
            <p:nvPr>
              <p:custDataLst>
                <p:tags r:id="rId2"/>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12" name="矩形 11"/>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3" name="直接连接符 12"/>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itle 6"/>
          <p:cNvSpPr txBox="1"/>
          <p:nvPr>
            <p:custDataLst>
              <p:tags r:id="rId8"/>
            </p:custDataLst>
          </p:nvPr>
        </p:nvSpPr>
        <p:spPr>
          <a:xfrm>
            <a:off x="2034540" y="1846580"/>
            <a:ext cx="8345170" cy="392620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完全信息：各博弈方对博弈结束时每个博弈方的得益是完全清楚的，如在专卖店买品牌手机。</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完美信息：博弈中后面阶段的博弈方有关于前面阶段博弈进程的充分信息，进程信息。</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完美信息动态博弈：动态博弈中的所有博弈方都有完美信息的博弈，如下象棋。</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完全但不完美信息动态博弈简称</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不完美信息动态博弈。</a:t>
            </a:r>
            <a:endPar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不完美信息动态博弈的基本特征之一是</a:t>
            </a:r>
            <a:r>
              <a:rPr lang="zh-CN" altLang="en-US" sz="2000" spc="10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博弈方之间在信息方面是不对称的</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，如二手车市场。</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不完美信息动态博弈：</a:t>
              </a:r>
              <a:r>
                <a:rPr lang="zh-CN" altLang="en-US" sz="2800" dirty="0">
                  <a:solidFill>
                    <a:schemeClr val="accent1"/>
                  </a:solidFill>
                  <a:sym typeface="+mn-ea"/>
                </a:rPr>
                <a:t>例子</a:t>
              </a:r>
              <a:endParaRPr lang="zh-CN" altLang="en-US" sz="2800" dirty="0">
                <a:solidFill>
                  <a:schemeClr val="accent1"/>
                </a:solidFill>
                <a:sym typeface="+mn-ea"/>
              </a:endParaRPr>
            </a:p>
          </p:txBody>
        </p:sp>
        <p:cxnSp>
          <p:nvCxnSpPr>
            <p:cNvPr id="11" name="直接连接符 10"/>
            <p:cNvCxnSpPr/>
            <p:nvPr>
              <p:custDataLst>
                <p:tags r:id="rId2"/>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17" name="Title 6"/>
          <p:cNvSpPr txBox="1"/>
          <p:nvPr>
            <p:custDataLst>
              <p:tags r:id="rId3"/>
            </p:custDataLst>
          </p:nvPr>
        </p:nvSpPr>
        <p:spPr>
          <a:xfrm>
            <a:off x="839470" y="692785"/>
            <a:ext cx="10360660" cy="373316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二手车问题</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①</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原车主</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)的车子有好、差两种情况（可以分为多种)；</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②</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决定是否卖，分高低两种价格（可以是多种）；</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③买方决定是否购买（此处不可讨价还价)，而双方各种可能的收益是清楚给出的；</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分析：对①、②卖方是清楚的，并且①是早已确定的（客观的)！</a:t>
            </a: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而买方对第一阶段卖方的行为不了解，因此买方具有不完美信息。</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Title 6"/>
          <p:cNvSpPr txBox="1"/>
          <p:nvPr>
            <p:custDataLst>
              <p:tags r:id="rId5"/>
            </p:custDataLst>
          </p:nvPr>
        </p:nvSpPr>
        <p:spPr>
          <a:xfrm>
            <a:off x="839470" y="4425950"/>
            <a:ext cx="10360660" cy="1911350"/>
          </a:xfrm>
          <a:prstGeom prst="rect">
            <a:avLst/>
          </a:prstGeom>
          <a:noFill/>
          <a:ln w="15875">
            <a:solidFill>
              <a:schemeClr val="accent1"/>
            </a:solid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注意：这个例子仅是完全不完美的一种情况。</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比如：在动态博弈中，只要有一个博弈方看不到自己选择前其他某一博弈方的行为就能构成一个不完美信息的动态博弈。</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不完美信息动态博弈：</a:t>
              </a:r>
              <a:r>
                <a:rPr lang="zh-CN" altLang="en-US" sz="2800" dirty="0">
                  <a:solidFill>
                    <a:schemeClr val="accent1"/>
                  </a:solidFill>
                  <a:sym typeface="+mn-ea"/>
                </a:rPr>
                <a:t>例子</a:t>
              </a:r>
              <a:endParaRPr lang="zh-CN" altLang="en-US" sz="2800" dirty="0">
                <a:solidFill>
                  <a:schemeClr val="accent1"/>
                </a:solidFill>
                <a:sym typeface="+mn-ea"/>
              </a:endParaRPr>
            </a:p>
          </p:txBody>
        </p:sp>
        <p:cxnSp>
          <p:nvCxnSpPr>
            <p:cNvPr id="11" name="直接连接符 10"/>
            <p:cNvCxnSpPr/>
            <p:nvPr>
              <p:custDataLst>
                <p:tags r:id="rId2"/>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17" name="Title 6"/>
          <p:cNvSpPr txBox="1"/>
          <p:nvPr>
            <p:custDataLst>
              <p:tags r:id="rId3"/>
            </p:custDataLst>
          </p:nvPr>
        </p:nvSpPr>
        <p:spPr>
          <a:xfrm>
            <a:off x="839470" y="692785"/>
            <a:ext cx="10203180" cy="373316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从这个例子可以看出，在不完美信息情况下的博弈方的最优策略不仅依赖于其他博弈方的策略，</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更依赖于他对其他博弈方情况的判断</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对其他博弈方的各种可能选择出现概率的大小做出判断</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，然后根据该判断</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计算自己各种策略在其他博弈方这种选择的分布下能给自己带来的期望得益</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找出其中最大期望得益对应的策略</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就是己方的最优策略。</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这实际上就是完全但不完美信息动态博弈的标准分析方法。</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 name="组合 1"/>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不完美信息动态博弈：</a:t>
              </a:r>
              <a:r>
                <a:rPr lang="zh-CN" altLang="en-US" sz="2800" dirty="0">
                  <a:solidFill>
                    <a:schemeClr val="accent1"/>
                  </a:solidFill>
                  <a:sym typeface="+mn-ea"/>
                </a:rPr>
                <a:t>表示方法</a:t>
              </a:r>
              <a:endParaRPr lang="zh-CN" altLang="en-US" sz="2800" dirty="0">
                <a:solidFill>
                  <a:schemeClr val="accent1"/>
                </a:solidFill>
                <a:sym typeface="+mn-ea"/>
              </a:endParaRPr>
            </a:p>
          </p:txBody>
        </p:sp>
        <p:cxnSp>
          <p:nvCxnSpPr>
            <p:cNvPr id="11" name="直接连接符 10"/>
            <p:cNvCxnSpPr/>
            <p:nvPr>
              <p:custDataLst>
                <p:tags r:id="rId2"/>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17" name="Title 6"/>
          <p:cNvSpPr txBox="1"/>
          <p:nvPr>
            <p:custDataLst>
              <p:tags r:id="rId3"/>
            </p:custDataLst>
          </p:nvPr>
        </p:nvSpPr>
        <p:spPr>
          <a:xfrm>
            <a:off x="839470" y="692785"/>
            <a:ext cx="10203180" cy="373316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引入</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信息集</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概念后，在不完美信息的动态博弈中，“轮到行为的博弈方对已经行为的博弈方的有些行为不能完全观测”可以用信息集来表示，这样不完美信息动态博弈的表示就不存在任何问题。</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在多结点的信息集，既然无法肯定位于哪一个决策结，就必须分析博弈到达每一个结点的</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概率</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，一个判断就是博弈方可能位于各个结点的概率分布。</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这样的判断又称为</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信念</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单结点的信息集可认为博弈方以概率1到达。</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 name="组合 2"/>
          <p:cNvGrpSpPr/>
          <p:nvPr/>
        </p:nvGrpSpPr>
        <p:grpSpPr>
          <a:xfrm>
            <a:off x="533400" y="152400"/>
            <a:ext cx="11201400" cy="762000"/>
            <a:chOff x="840" y="240"/>
            <a:chExt cx="17640" cy="1200"/>
          </a:xfrm>
        </p:grpSpPr>
        <p:sp>
          <p:nvSpPr>
            <p:cNvPr id="256" name="文本框 6"/>
            <p:cNvSpPr txBox="1"/>
            <p:nvPr>
              <p:custDataLst>
                <p:tags r:id="rId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不完美信息动态博弈：</a:t>
              </a:r>
              <a:r>
                <a:rPr lang="zh-CN" altLang="en-US" sz="2800" dirty="0">
                  <a:solidFill>
                    <a:schemeClr val="accent1"/>
                  </a:solidFill>
                  <a:sym typeface="+mn-ea"/>
                </a:rPr>
                <a:t>表示方法</a:t>
              </a:r>
              <a:endParaRPr lang="zh-CN" altLang="en-US" sz="2800" dirty="0">
                <a:solidFill>
                  <a:schemeClr val="accent1"/>
                </a:solidFill>
                <a:sym typeface="+mn-ea"/>
              </a:endParaRPr>
            </a:p>
          </p:txBody>
        </p:sp>
        <p:cxnSp>
          <p:nvCxnSpPr>
            <p:cNvPr id="4" name="直接连接符 3"/>
            <p:cNvCxnSpPr/>
            <p:nvPr>
              <p:custDataLst>
                <p:tags r:id="rId2"/>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7" name="内容占位符 2"/>
          <p:cNvSpPr>
            <a:spLocks noGrp="1"/>
          </p:cNvSpPr>
          <p:nvPr>
            <p:custDataLst>
              <p:tags r:id="rId3"/>
            </p:custDataLst>
          </p:nvPr>
        </p:nvSpPr>
        <p:spPr>
          <a:xfrm>
            <a:off x="695325" y="1052830"/>
            <a:ext cx="11277600" cy="7893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l">
              <a:buClrTx/>
              <a:buSzTx/>
            </a:pPr>
            <a:r>
              <a:rPr lang="zh-CN" altLang="en-US" sz="2000" b="1" dirty="0">
                <a:solidFill>
                  <a:schemeClr val="dk1"/>
                </a:solidFill>
                <a:latin typeface="微软雅黑" panose="020B0503020204020204" pitchFamily="34" charset="-122"/>
                <a:ea typeface="微软雅黑" panose="020B0503020204020204" pitchFamily="34" charset="-122"/>
                <a:sym typeface="+mn-ea"/>
              </a:rPr>
              <a:t>多结点信息集</a:t>
            </a:r>
            <a:r>
              <a:rPr lang="zh-CN" altLang="en-US" sz="2000" dirty="0">
                <a:solidFill>
                  <a:schemeClr val="dk1"/>
                </a:solidFill>
                <a:latin typeface="微软雅黑" panose="020B0503020204020204" pitchFamily="34" charset="-122"/>
                <a:ea typeface="微软雅黑" panose="020B0503020204020204" pitchFamily="34" charset="-122"/>
                <a:sym typeface="+mn-ea"/>
              </a:rPr>
              <a:t>扩展形博弈：至少存在一个信息集中，含有两个，或两个以上的结点的扩展形博弈。</a:t>
            </a:r>
            <a:endParaRPr lang="zh-CN" altLang="en-US" sz="2000" dirty="0">
              <a:solidFill>
                <a:schemeClr val="dk1"/>
              </a:solidFill>
              <a:latin typeface="微软雅黑" panose="020B0503020204020204" pitchFamily="34" charset="-122"/>
              <a:ea typeface="微软雅黑" panose="020B0503020204020204" pitchFamily="34" charset="-122"/>
              <a:sym typeface="+mn-ea"/>
            </a:endParaRPr>
          </a:p>
        </p:txBody>
      </p:sp>
      <p:grpSp>
        <p:nvGrpSpPr>
          <p:cNvPr id="2" name="组合 1"/>
          <p:cNvGrpSpPr/>
          <p:nvPr/>
        </p:nvGrpSpPr>
        <p:grpSpPr>
          <a:xfrm>
            <a:off x="3791585" y="2225040"/>
            <a:ext cx="4542155" cy="3855720"/>
            <a:chOff x="1093" y="3805"/>
            <a:chExt cx="6641" cy="5613"/>
          </a:xfrm>
        </p:grpSpPr>
        <p:cxnSp>
          <p:nvCxnSpPr>
            <p:cNvPr id="10" name="直接连接符 9"/>
            <p:cNvCxnSpPr/>
            <p:nvPr/>
          </p:nvCxnSpPr>
          <p:spPr>
            <a:xfrm>
              <a:off x="4401" y="4204"/>
              <a:ext cx="1376" cy="2161"/>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003" y="6454"/>
              <a:ext cx="1178" cy="1738"/>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3024" y="4204"/>
              <a:ext cx="1376" cy="2161"/>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4800" y="6411"/>
              <a:ext cx="977" cy="178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sp>
          <p:nvSpPr>
            <p:cNvPr id="14" name="椭圆 13"/>
            <p:cNvSpPr/>
            <p:nvPr>
              <p:custDataLst>
                <p:tags r:id="rId4"/>
              </p:custDataLst>
            </p:nvPr>
          </p:nvSpPr>
          <p:spPr>
            <a:xfrm>
              <a:off x="4001" y="3805"/>
              <a:ext cx="798" cy="798"/>
            </a:xfrm>
            <a:prstGeom prst="ellipse">
              <a:avLst/>
            </a:prstGeom>
            <a:solidFill>
              <a:srgbClr val="7030A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0</a:t>
              </a:r>
              <a:endPar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5" name="直接连接符 14"/>
            <p:cNvCxnSpPr/>
            <p:nvPr/>
          </p:nvCxnSpPr>
          <p:spPr>
            <a:xfrm>
              <a:off x="5776" y="6365"/>
              <a:ext cx="1110" cy="1829"/>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1926" y="6365"/>
              <a:ext cx="1098" cy="1829"/>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5"/>
              </p:custDataLst>
            </p:nvPr>
          </p:nvSpPr>
          <p:spPr>
            <a:xfrm>
              <a:off x="2625" y="6033"/>
              <a:ext cx="3550" cy="798"/>
            </a:xfrm>
            <a:prstGeom prst="ellipse">
              <a:avLst/>
            </a:prstGeom>
            <a:solidFill>
              <a:srgbClr val="D7780B"/>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p:cNvSpPr txBox="1"/>
            <p:nvPr>
              <p:custDataLst>
                <p:tags r:id="rId6"/>
              </p:custDataLst>
            </p:nvPr>
          </p:nvSpPr>
          <p:spPr>
            <a:xfrm>
              <a:off x="1093" y="4769"/>
              <a:ext cx="2555" cy="1192"/>
            </a:xfrm>
            <a:prstGeom prst="rect">
              <a:avLst/>
            </a:prstGeom>
            <a:noFill/>
          </p:spPr>
          <p:txBody>
            <a:bodyPr wrap="square" rtlCol="0">
              <a:normAutofit lnSpcReduction="10000"/>
            </a:bodyPr>
            <a:lstStyle/>
            <a:p>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好天气</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(75%)</a:t>
              </a:r>
              <a:endPar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矩形 18"/>
            <p:cNvSpPr/>
            <p:nvPr>
              <p:custDataLst>
                <p:tags r:id="rId7"/>
              </p:custDataLst>
            </p:nvPr>
          </p:nvSpPr>
          <p:spPr>
            <a:xfrm>
              <a:off x="4978" y="4762"/>
              <a:ext cx="2757" cy="680"/>
            </a:xfrm>
            <a:prstGeom prst="rect">
              <a:avLst/>
            </a:prstGeom>
          </p:spPr>
          <p:txBody>
            <a:bodyPr wrap="none">
              <a:normAutofit/>
            </a:bodyPr>
            <a:lstStyle/>
            <a:p>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坏天气</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(25%)</a:t>
              </a:r>
              <a:endPar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文本框 19"/>
            <p:cNvSpPr txBox="1"/>
            <p:nvPr>
              <p:custDataLst>
                <p:tags r:id="rId8"/>
              </p:custDataLst>
            </p:nvPr>
          </p:nvSpPr>
          <p:spPr>
            <a:xfrm>
              <a:off x="1093" y="8194"/>
              <a:ext cx="1510" cy="1192"/>
            </a:xfrm>
            <a:prstGeom prst="rect">
              <a:avLst/>
            </a:prstGeom>
            <a:noFill/>
          </p:spPr>
          <p:txBody>
            <a:bodyPr wrap="square" rtlCol="0">
              <a:normAutofit lnSpcReduction="10000"/>
            </a:bodyPr>
            <a:lstStyle/>
            <a:p>
              <a:r>
                <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-7000</a:t>
              </a:r>
              <a:endPar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文本框 20"/>
            <p:cNvSpPr txBox="1"/>
            <p:nvPr>
              <p:custDataLst>
                <p:tags r:id="rId9"/>
              </p:custDataLst>
            </p:nvPr>
          </p:nvSpPr>
          <p:spPr>
            <a:xfrm>
              <a:off x="2980" y="8210"/>
              <a:ext cx="1594" cy="1192"/>
            </a:xfrm>
            <a:prstGeom prst="rect">
              <a:avLst/>
            </a:prstGeom>
            <a:noFill/>
          </p:spPr>
          <p:txBody>
            <a:bodyPr wrap="square" rtlCol="0">
              <a:normAutofit lnSpcReduction="10000"/>
            </a:bodyPr>
            <a:lstStyle/>
            <a:p>
              <a:r>
                <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-10000</a:t>
              </a:r>
              <a:endPar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文本框 21"/>
            <p:cNvSpPr txBox="1"/>
            <p:nvPr>
              <p:custDataLst>
                <p:tags r:id="rId10"/>
              </p:custDataLst>
            </p:nvPr>
          </p:nvSpPr>
          <p:spPr>
            <a:xfrm>
              <a:off x="6135" y="8194"/>
              <a:ext cx="1594" cy="1192"/>
            </a:xfrm>
            <a:prstGeom prst="rect">
              <a:avLst/>
            </a:prstGeom>
            <a:noFill/>
          </p:spPr>
          <p:txBody>
            <a:bodyPr wrap="square" rtlCol="0">
              <a:normAutofit lnSpcReduction="10000"/>
            </a:bodyPr>
            <a:lstStyle/>
            <a:p>
              <a:r>
                <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-10000</a:t>
              </a:r>
              <a:endPar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文本框 22"/>
            <p:cNvSpPr txBox="1"/>
            <p:nvPr>
              <p:custDataLst>
                <p:tags r:id="rId11"/>
              </p:custDataLst>
            </p:nvPr>
          </p:nvSpPr>
          <p:spPr>
            <a:xfrm>
              <a:off x="4361" y="8226"/>
              <a:ext cx="1594" cy="1192"/>
            </a:xfrm>
            <a:prstGeom prst="rect">
              <a:avLst/>
            </a:prstGeom>
            <a:noFill/>
          </p:spPr>
          <p:txBody>
            <a:bodyPr wrap="square" rtlCol="0">
              <a:normAutofit lnSpcReduction="10000"/>
            </a:bodyPr>
            <a:lstStyle/>
            <a:p>
              <a:r>
                <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-16000</a:t>
              </a:r>
              <a:endPar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文本框 23"/>
            <p:cNvSpPr txBox="1"/>
            <p:nvPr>
              <p:custDataLst>
                <p:tags r:id="rId12"/>
              </p:custDataLst>
            </p:nvPr>
          </p:nvSpPr>
          <p:spPr>
            <a:xfrm>
              <a:off x="1307" y="6831"/>
              <a:ext cx="1277" cy="680"/>
            </a:xfrm>
            <a:prstGeom prst="rect">
              <a:avLst/>
            </a:prstGeom>
            <a:noFill/>
          </p:spPr>
          <p:txBody>
            <a:bodyPr wrap="square" rtlCol="0">
              <a:normAutofit/>
            </a:bodyPr>
            <a:lstStyle/>
            <a:p>
              <a:r>
                <a:rPr lang="zh-CN" altLang="en-US" dirty="0">
                  <a:solidFill>
                    <a:schemeClr val="dk1"/>
                  </a:solidFill>
                  <a:latin typeface="微软雅黑" panose="020B0503020204020204" pitchFamily="34" charset="-122"/>
                  <a:ea typeface="微软雅黑" panose="020B0503020204020204" pitchFamily="34" charset="-122"/>
                </a:rPr>
                <a:t>水路</a:t>
              </a:r>
              <a:endParaRPr lang="zh-CN" altLang="en-US" dirty="0">
                <a:solidFill>
                  <a:schemeClr val="dk1"/>
                </a:solidFill>
                <a:latin typeface="微软雅黑" panose="020B0503020204020204" pitchFamily="34" charset="-122"/>
                <a:ea typeface="微软雅黑" panose="020B0503020204020204" pitchFamily="34" charset="-122"/>
              </a:endParaRPr>
            </a:p>
          </p:txBody>
        </p:sp>
        <p:sp>
          <p:nvSpPr>
            <p:cNvPr id="25" name="文本框 24"/>
            <p:cNvSpPr txBox="1"/>
            <p:nvPr>
              <p:custDataLst>
                <p:tags r:id="rId13"/>
              </p:custDataLst>
            </p:nvPr>
          </p:nvSpPr>
          <p:spPr>
            <a:xfrm>
              <a:off x="4278" y="6924"/>
              <a:ext cx="1277" cy="680"/>
            </a:xfrm>
            <a:prstGeom prst="rect">
              <a:avLst/>
            </a:prstGeom>
            <a:noFill/>
          </p:spPr>
          <p:txBody>
            <a:bodyPr wrap="square" rtlCol="0">
              <a:normAutofit/>
            </a:bodyPr>
            <a:lstStyle/>
            <a:p>
              <a:r>
                <a:rPr lang="zh-CN" altLang="en-US" dirty="0">
                  <a:solidFill>
                    <a:schemeClr val="dk1"/>
                  </a:solidFill>
                  <a:latin typeface="微软雅黑" panose="020B0503020204020204" pitchFamily="34" charset="-122"/>
                  <a:ea typeface="微软雅黑" panose="020B0503020204020204" pitchFamily="34" charset="-122"/>
                </a:rPr>
                <a:t>水路</a:t>
              </a:r>
              <a:endParaRPr lang="zh-CN" altLang="en-US" dirty="0">
                <a:solidFill>
                  <a:schemeClr val="dk1"/>
                </a:solidFill>
                <a:latin typeface="微软雅黑" panose="020B0503020204020204" pitchFamily="34" charset="-122"/>
                <a:ea typeface="微软雅黑" panose="020B0503020204020204" pitchFamily="34" charset="-122"/>
              </a:endParaRPr>
            </a:p>
          </p:txBody>
        </p:sp>
        <p:sp>
          <p:nvSpPr>
            <p:cNvPr id="26" name="文本框 25"/>
            <p:cNvSpPr txBox="1"/>
            <p:nvPr>
              <p:custDataLst>
                <p:tags r:id="rId14"/>
              </p:custDataLst>
            </p:nvPr>
          </p:nvSpPr>
          <p:spPr>
            <a:xfrm>
              <a:off x="3424" y="6893"/>
              <a:ext cx="1277" cy="680"/>
            </a:xfrm>
            <a:prstGeom prst="rect">
              <a:avLst/>
            </a:prstGeom>
            <a:noFill/>
          </p:spPr>
          <p:txBody>
            <a:bodyPr wrap="square" rtlCol="0">
              <a:normAutofit/>
            </a:bodyPr>
            <a:lstStyle/>
            <a:p>
              <a:r>
                <a:rPr lang="zh-CN" altLang="en-US" dirty="0">
                  <a:solidFill>
                    <a:schemeClr val="dk1"/>
                  </a:solidFill>
                  <a:latin typeface="微软雅黑" panose="020B0503020204020204" pitchFamily="34" charset="-122"/>
                  <a:ea typeface="微软雅黑" panose="020B0503020204020204" pitchFamily="34" charset="-122"/>
                </a:rPr>
                <a:t>陆路</a:t>
              </a:r>
              <a:endParaRPr lang="zh-CN" altLang="en-US" dirty="0">
                <a:solidFill>
                  <a:schemeClr val="dk1"/>
                </a:solidFill>
                <a:latin typeface="微软雅黑" panose="020B0503020204020204" pitchFamily="34" charset="-122"/>
                <a:ea typeface="微软雅黑" panose="020B0503020204020204" pitchFamily="34" charset="-122"/>
              </a:endParaRPr>
            </a:p>
          </p:txBody>
        </p:sp>
        <p:sp>
          <p:nvSpPr>
            <p:cNvPr id="27" name="文本框 26"/>
            <p:cNvSpPr txBox="1"/>
            <p:nvPr>
              <p:custDataLst>
                <p:tags r:id="rId15"/>
              </p:custDataLst>
            </p:nvPr>
          </p:nvSpPr>
          <p:spPr>
            <a:xfrm>
              <a:off x="6236" y="6831"/>
              <a:ext cx="1277" cy="680"/>
            </a:xfrm>
            <a:prstGeom prst="rect">
              <a:avLst/>
            </a:prstGeom>
            <a:noFill/>
          </p:spPr>
          <p:txBody>
            <a:bodyPr wrap="square" rtlCol="0">
              <a:normAutofit/>
            </a:bodyPr>
            <a:lstStyle/>
            <a:p>
              <a:r>
                <a:rPr lang="zh-CN" altLang="en-US" dirty="0">
                  <a:solidFill>
                    <a:schemeClr val="dk1"/>
                  </a:solidFill>
                  <a:latin typeface="微软雅黑" panose="020B0503020204020204" pitchFamily="34" charset="-122"/>
                  <a:ea typeface="微软雅黑" panose="020B0503020204020204" pitchFamily="34" charset="-122"/>
                </a:rPr>
                <a:t>陆路</a:t>
              </a:r>
              <a:endParaRPr lang="zh-CN" altLang="en-US" dirty="0">
                <a:solidFill>
                  <a:schemeClr val="dk1"/>
                </a:solidFill>
                <a:latin typeface="微软雅黑" panose="020B0503020204020204" pitchFamily="34" charset="-122"/>
                <a:ea typeface="微软雅黑" panose="020B0503020204020204" pitchFamily="34" charset="-122"/>
              </a:endParaRPr>
            </a:p>
          </p:txBody>
        </p:sp>
      </p:grpSp>
      <p:pic>
        <p:nvPicPr>
          <p:cNvPr id="6" name="图片 1" descr="f01494d1831cca2c2d8b5f9021c13ad"/>
          <p:cNvPicPr>
            <a:picLocks noChangeAspect="1"/>
          </p:cNvPicPr>
          <p:nvPr/>
        </p:nvPicPr>
        <p:blipFill>
          <a:blip r:embed="rId1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5" name="圆角矩形标注 4"/>
          <p:cNvSpPr/>
          <p:nvPr/>
        </p:nvSpPr>
        <p:spPr>
          <a:xfrm>
            <a:off x="8472170" y="3083560"/>
            <a:ext cx="2030095" cy="751840"/>
          </a:xfrm>
          <a:prstGeom prst="wedgeRoundRectCallout">
            <a:avLst>
              <a:gd name="adj1" fmla="val -120958"/>
              <a:gd name="adj2" fmla="val 81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000" b="1">
                <a:solidFill>
                  <a:schemeClr val="tx1"/>
                </a:solidFill>
              </a:rPr>
              <a:t>多结点信息集</a:t>
            </a:r>
            <a:endParaRPr lang="zh-CN" altLang="en-US" sz="2000" b="1">
              <a:solidFill>
                <a:schemeClr val="tx1"/>
              </a:solidFill>
            </a:endParaRPr>
          </a:p>
        </p:txBody>
      </p:sp>
      <p:sp>
        <p:nvSpPr>
          <p:cNvPr id="8" name="灯片编号占位符 7"/>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Title 6"/>
          <p:cNvSpPr txBox="1"/>
          <p:nvPr>
            <p:custDataLst>
              <p:tags r:id="rId1"/>
            </p:custDataLst>
          </p:nvPr>
        </p:nvSpPr>
        <p:spPr>
          <a:xfrm>
            <a:off x="839470" y="692785"/>
            <a:ext cx="10360660" cy="373316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二手车问题</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原车主</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)的车子有好、差两种情况，卖方决定是否卖，分高低两种价格，买方决定是否购买，而双方各种可能的得益是清楚给出的。</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卖方清楚车子的好差和相应的定价，而买方不清楚，并且车的好坏是早已确定的（客观)</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买方应不应该买车呢？买哪种价格的车呢？</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卖方好车和差车分别应该怎样定价呢？</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4" name="组合 3"/>
          <p:cNvGrpSpPr/>
          <p:nvPr/>
        </p:nvGrpSpPr>
        <p:grpSpPr>
          <a:xfrm>
            <a:off x="533400" y="152400"/>
            <a:ext cx="11201400" cy="762000"/>
            <a:chOff x="840" y="240"/>
            <a:chExt cx="17640" cy="1200"/>
          </a:xfrm>
        </p:grpSpPr>
        <p:sp>
          <p:nvSpPr>
            <p:cNvPr id="5"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不完美信息动态博弈：</a:t>
              </a:r>
              <a:r>
                <a:rPr lang="zh-CN" altLang="en-US" sz="2800" dirty="0">
                  <a:solidFill>
                    <a:schemeClr val="accent1"/>
                  </a:solidFill>
                  <a:sym typeface="+mn-ea"/>
                </a:rPr>
                <a:t>表示方法</a:t>
              </a:r>
              <a:endParaRPr lang="zh-CN" altLang="en-US" sz="2800" dirty="0">
                <a:solidFill>
                  <a:schemeClr val="accent1"/>
                </a:solidFill>
                <a:sym typeface="+mn-ea"/>
              </a:endParaRPr>
            </a:p>
          </p:txBody>
        </p:sp>
        <p:cxnSp>
          <p:nvCxnSpPr>
            <p:cNvPr id="7" name="直接连接符 6"/>
            <p:cNvCxnSpPr/>
            <p:nvPr>
              <p:custDataLst>
                <p:tags r:id="rId4"/>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不完美信息动态博弈：</a:t>
            </a:r>
            <a:r>
              <a:rPr lang="zh-CN" altLang="en-US" sz="2800" dirty="0">
                <a:solidFill>
                  <a:schemeClr val="accent1"/>
                </a:solidFill>
                <a:sym typeface="+mn-ea"/>
              </a:rPr>
              <a:t>表示方法</a:t>
            </a:r>
            <a:endParaRPr lang="zh-CN" altLang="en-US" sz="28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7" name="内容占位符 2"/>
          <p:cNvSpPr>
            <a:spLocks noGrp="1"/>
          </p:cNvSpPr>
          <p:nvPr>
            <p:custDataLst>
              <p:tags r:id="rId3"/>
            </p:custDataLst>
          </p:nvPr>
        </p:nvSpPr>
        <p:spPr>
          <a:xfrm>
            <a:off x="982980" y="2710180"/>
            <a:ext cx="4942840" cy="4263390"/>
          </a:xfrm>
          <a:prstGeom prst="rect">
            <a:avLst/>
          </a:prstGeom>
        </p:spPr>
        <p:txBody>
          <a:bodyPr vert="horz" lIns="91440" tIns="45720" rIns="91440" bIns="45720" rtlCol="0">
            <a:normAutofit fontScale="8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just">
              <a:lnSpc>
                <a:spcPct val="130000"/>
              </a:lnSpc>
              <a:buClrTx/>
              <a:buSzTx/>
            </a:pPr>
            <a:r>
              <a:rPr lang="zh-CN" altLang="en-US" sz="2000" dirty="0">
                <a:solidFill>
                  <a:schemeClr val="dk1"/>
                </a:solidFill>
                <a:latin typeface="微软雅黑" panose="020B0503020204020204" pitchFamily="34" charset="-122"/>
                <a:ea typeface="微软雅黑" panose="020B0503020204020204" pitchFamily="34" charset="-122"/>
                <a:sym typeface="+mn-ea"/>
              </a:rPr>
              <a:t>第一阶段卖方（即博弈方1)对如何使用汽车的选择，共有“好"和“差"两种可能的选择。</a:t>
            </a:r>
            <a:endParaRPr lang="zh-CN" altLang="en-US" sz="2000" dirty="0">
              <a:solidFill>
                <a:schemeClr val="dk1"/>
              </a:solidFill>
              <a:latin typeface="微软雅黑" panose="020B0503020204020204" pitchFamily="34" charset="-122"/>
              <a:ea typeface="微软雅黑" panose="020B0503020204020204" pitchFamily="34" charset="-122"/>
              <a:sym typeface="+mn-ea"/>
            </a:endParaRPr>
          </a:p>
          <a:p>
            <a:pPr lvl="0" algn="just">
              <a:lnSpc>
                <a:spcPct val="130000"/>
              </a:lnSpc>
              <a:buClrTx/>
              <a:buSzTx/>
            </a:pPr>
            <a:r>
              <a:rPr lang="zh-CN" altLang="en-US" sz="2000" dirty="0">
                <a:solidFill>
                  <a:schemeClr val="dk1"/>
                </a:solidFill>
                <a:latin typeface="微软雅黑" panose="020B0503020204020204" pitchFamily="34" charset="-122"/>
                <a:ea typeface="微软雅黑" panose="020B0503020204020204" pitchFamily="34" charset="-122"/>
                <a:sym typeface="+mn-ea"/>
              </a:rPr>
              <a:t>第二阶段如果他选择“不卖”，则不管第一阶段是“好”是“差”，博弈都结束。如果他选择的是“卖”，则博弈进行到第三阶段，轮到买方进行选择。买方是不知道卖方前两阶段的选择究竟是“好—卖”还是“差一卖”，用多结点信息集表示这种信息不完美性</a:t>
            </a:r>
            <a:r>
              <a:rPr lang="zh-CN" altLang="en-US" sz="2000">
                <a:sym typeface="+mn-ea"/>
              </a:rPr>
              <a:t>。</a:t>
            </a:r>
            <a:endParaRPr lang="zh-CN" altLang="en-US" sz="2000">
              <a:sym typeface="+mn-ea"/>
            </a:endParaRPr>
          </a:p>
          <a:p>
            <a:pPr lvl="0" algn="just">
              <a:lnSpc>
                <a:spcPct val="130000"/>
              </a:lnSpc>
              <a:buClrTx/>
              <a:buSzTx/>
            </a:pPr>
            <a:r>
              <a:rPr lang="zh-CN" altLang="en-US" sz="2000" dirty="0">
                <a:solidFill>
                  <a:schemeClr val="dk1"/>
                </a:solidFill>
                <a:latin typeface="微软雅黑" panose="020B0503020204020204" pitchFamily="34" charset="-122"/>
                <a:ea typeface="微软雅黑" panose="020B0503020204020204" pitchFamily="34" charset="-122"/>
                <a:sym typeface="+mn-ea"/>
              </a:rPr>
              <a:t>第三阶段买方不能直接作出针对性的选择，他必须对这个多结点信息集中各结点出现的可能性做出判断。</a:t>
            </a:r>
            <a:endParaRPr lang="zh-CN" altLang="en-US" sz="2000" dirty="0">
              <a:solidFill>
                <a:schemeClr val="dk1"/>
              </a:solidFill>
              <a:latin typeface="微软雅黑" panose="020B0503020204020204" pitchFamily="34" charset="-122"/>
              <a:ea typeface="微软雅黑" panose="020B0503020204020204" pitchFamily="34" charset="-122"/>
              <a:sym typeface="+mn-ea"/>
            </a:endParaRPr>
          </a:p>
          <a:p>
            <a:pPr lvl="0" algn="just">
              <a:lnSpc>
                <a:spcPct val="130000"/>
              </a:lnSpc>
              <a:buClrTx/>
              <a:buSzTx/>
            </a:pPr>
            <a:endParaRPr lang="zh-CN" altLang="en-US" sz="2000" dirty="0">
              <a:solidFill>
                <a:schemeClr val="dk1"/>
              </a:solidFill>
              <a:latin typeface="微软雅黑" panose="020B0503020204020204" pitchFamily="34" charset="-122"/>
              <a:ea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15" name="组合 14"/>
          <p:cNvGrpSpPr/>
          <p:nvPr/>
        </p:nvGrpSpPr>
        <p:grpSpPr>
          <a:xfrm>
            <a:off x="6167755" y="2339340"/>
            <a:ext cx="4108450" cy="3851910"/>
            <a:chOff x="9713" y="3684"/>
            <a:chExt cx="6470" cy="6066"/>
          </a:xfrm>
        </p:grpSpPr>
        <p:cxnSp>
          <p:nvCxnSpPr>
            <p:cNvPr id="31" name="直接连接符 30"/>
            <p:cNvCxnSpPr/>
            <p:nvPr/>
          </p:nvCxnSpPr>
          <p:spPr>
            <a:xfrm>
              <a:off x="12511" y="5803"/>
              <a:ext cx="378" cy="893"/>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9713" y="3684"/>
              <a:ext cx="6470" cy="6067"/>
              <a:chOff x="9713" y="3684"/>
              <a:chExt cx="6470" cy="6067"/>
            </a:xfrm>
          </p:grpSpPr>
          <p:cxnSp>
            <p:nvCxnSpPr>
              <p:cNvPr id="36" name="直接连接符 35"/>
              <p:cNvCxnSpPr/>
              <p:nvPr/>
            </p:nvCxnSpPr>
            <p:spPr>
              <a:xfrm>
                <a:off x="13455" y="7441"/>
                <a:ext cx="837" cy="183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9713" y="3684"/>
                <a:ext cx="6470" cy="6067"/>
                <a:chOff x="9713" y="3684"/>
                <a:chExt cx="6470" cy="6067"/>
              </a:xfrm>
            </p:grpSpPr>
            <p:cxnSp>
              <p:nvCxnSpPr>
                <p:cNvPr id="28" name="直接连接符 27"/>
                <p:cNvCxnSpPr/>
                <p:nvPr/>
              </p:nvCxnSpPr>
              <p:spPr>
                <a:xfrm flipH="1">
                  <a:off x="10393" y="4102"/>
                  <a:ext cx="3183" cy="5153"/>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9713" y="3684"/>
                  <a:ext cx="6470" cy="6067"/>
                  <a:chOff x="9713" y="3684"/>
                  <a:chExt cx="6470" cy="6067"/>
                </a:xfrm>
              </p:grpSpPr>
              <p:cxnSp>
                <p:nvCxnSpPr>
                  <p:cNvPr id="29" name="直接连接符 28"/>
                  <p:cNvCxnSpPr/>
                  <p:nvPr/>
                </p:nvCxnSpPr>
                <p:spPr>
                  <a:xfrm>
                    <a:off x="13576" y="4102"/>
                    <a:ext cx="1571" cy="2626"/>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5" idx="0"/>
                  </p:cNvCxnSpPr>
                  <p:nvPr/>
                </p:nvCxnSpPr>
                <p:spPr>
                  <a:xfrm flipH="1">
                    <a:off x="12703" y="6122"/>
                    <a:ext cx="1427" cy="3098"/>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1527" y="7292"/>
                    <a:ext cx="755" cy="199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8" name="椭圆 37"/>
                  <p:cNvSpPr/>
                  <p:nvPr>
                    <p:custDataLst>
                      <p:tags r:id="rId5"/>
                    </p:custDataLst>
                  </p:nvPr>
                </p:nvSpPr>
                <p:spPr>
                  <a:xfrm>
                    <a:off x="13146" y="3684"/>
                    <a:ext cx="859" cy="859"/>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椭圆 39"/>
                  <p:cNvSpPr/>
                  <p:nvPr>
                    <p:custDataLst>
                      <p:tags r:id="rId6"/>
                    </p:custDataLst>
                  </p:nvPr>
                </p:nvSpPr>
                <p:spPr>
                  <a:xfrm>
                    <a:off x="12054" y="5402"/>
                    <a:ext cx="859" cy="859"/>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椭圆 41"/>
                  <p:cNvSpPr/>
                  <p:nvPr>
                    <p:custDataLst>
                      <p:tags r:id="rId7"/>
                    </p:custDataLst>
                  </p:nvPr>
                </p:nvSpPr>
                <p:spPr>
                  <a:xfrm>
                    <a:off x="14161" y="5354"/>
                    <a:ext cx="859" cy="859"/>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椭圆 42"/>
                  <p:cNvSpPr/>
                  <p:nvPr>
                    <p:custDataLst>
                      <p:tags r:id="rId8"/>
                    </p:custDataLst>
                  </p:nvPr>
                </p:nvSpPr>
                <p:spPr>
                  <a:xfrm>
                    <a:off x="10847" y="6987"/>
                    <a:ext cx="3157" cy="785"/>
                  </a:xfrm>
                  <a:prstGeom prst="ellipse">
                    <a:avLst/>
                  </a:prstGeom>
                  <a:solidFill>
                    <a:schemeClr val="accent5">
                      <a:lumMod val="75000"/>
                    </a:schemeClr>
                  </a:solidFill>
                  <a:ln>
                    <a:solidFill>
                      <a:srgbClr val="B23214"/>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文本框 43"/>
                  <p:cNvSpPr txBox="1"/>
                  <p:nvPr>
                    <p:custDataLst>
                      <p:tags r:id="rId9"/>
                    </p:custDataLst>
                  </p:nvPr>
                </p:nvSpPr>
                <p:spPr>
                  <a:xfrm>
                    <a:off x="12359" y="4408"/>
                    <a:ext cx="787" cy="567"/>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好</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5" name="文本框 44"/>
                  <p:cNvSpPr txBox="1"/>
                  <p:nvPr>
                    <p:custDataLst>
                      <p:tags r:id="rId10"/>
                    </p:custDataLst>
                  </p:nvPr>
                </p:nvSpPr>
                <p:spPr>
                  <a:xfrm>
                    <a:off x="14034" y="4368"/>
                    <a:ext cx="859" cy="567"/>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差</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6" name="文本框 45"/>
                  <p:cNvSpPr txBox="1"/>
                  <p:nvPr>
                    <p:custDataLst>
                      <p:tags r:id="rId11"/>
                    </p:custDataLst>
                  </p:nvPr>
                </p:nvSpPr>
                <p:spPr>
                  <a:xfrm>
                    <a:off x="11440" y="6122"/>
                    <a:ext cx="1073" cy="567"/>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卖</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12"/>
                    </p:custDataLst>
                  </p:nvPr>
                </p:nvSpPr>
                <p:spPr>
                  <a:xfrm>
                    <a:off x="12775" y="5974"/>
                    <a:ext cx="1747" cy="567"/>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不卖    卖</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文本框 47"/>
                  <p:cNvSpPr txBox="1"/>
                  <p:nvPr>
                    <p:custDataLst>
                      <p:tags r:id="rId13"/>
                    </p:custDataLst>
                  </p:nvPr>
                </p:nvSpPr>
                <p:spPr>
                  <a:xfrm>
                    <a:off x="14861" y="5885"/>
                    <a:ext cx="1322" cy="567"/>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不卖</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9" name="文本框 48"/>
                  <p:cNvSpPr txBox="1"/>
                  <p:nvPr>
                    <p:custDataLst>
                      <p:tags r:id="rId14"/>
                    </p:custDataLst>
                  </p:nvPr>
                </p:nvSpPr>
                <p:spPr>
                  <a:xfrm>
                    <a:off x="10424" y="7558"/>
                    <a:ext cx="886" cy="567"/>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买</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50" name="文本框 49"/>
                  <p:cNvSpPr txBox="1"/>
                  <p:nvPr>
                    <p:custDataLst>
                      <p:tags r:id="rId15"/>
                    </p:custDataLst>
                  </p:nvPr>
                </p:nvSpPr>
                <p:spPr>
                  <a:xfrm>
                    <a:off x="11835" y="7943"/>
                    <a:ext cx="1835" cy="567"/>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不买 买</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文本框 50"/>
                  <p:cNvSpPr txBox="1"/>
                  <p:nvPr>
                    <p:custDataLst>
                      <p:tags r:id="rId16"/>
                    </p:custDataLst>
                  </p:nvPr>
                </p:nvSpPr>
                <p:spPr>
                  <a:xfrm>
                    <a:off x="13985" y="7781"/>
                    <a:ext cx="1120" cy="680"/>
                  </a:xfrm>
                  <a:prstGeom prst="rect">
                    <a:avLst/>
                  </a:prstGeom>
                  <a:noFill/>
                </p:spPr>
                <p:txBody>
                  <a:bodyPr wrap="non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不买</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9713" y="9220"/>
                    <a:ext cx="1107" cy="531"/>
                  </a:xfrm>
                  <a:prstGeom prst="rect">
                    <a:avLst/>
                  </a:prstGeom>
                  <a:noFill/>
                </p:spPr>
                <p:txBody>
                  <a:bodyPr wrap="square" rtlCol="0">
                    <a:spAutoFit/>
                  </a:bodyPr>
                  <a:p>
                    <a:r>
                      <a:rPr lang="zh-CN" altLang="en-US" sz="1600"/>
                      <a:t>（</a:t>
                    </a:r>
                    <a:r>
                      <a:rPr lang="en-US" altLang="zh-CN" sz="1600"/>
                      <a:t>2,1</a:t>
                    </a:r>
                    <a:r>
                      <a:rPr lang="zh-CN" altLang="en-US" sz="1600"/>
                      <a:t>）</a:t>
                    </a:r>
                    <a:endParaRPr lang="zh-CN" altLang="en-US" sz="1600"/>
                  </a:p>
                </p:txBody>
              </p:sp>
              <p:sp>
                <p:nvSpPr>
                  <p:cNvPr id="3" name="文本框 2"/>
                  <p:cNvSpPr txBox="1"/>
                  <p:nvPr/>
                </p:nvSpPr>
                <p:spPr>
                  <a:xfrm>
                    <a:off x="11351" y="9220"/>
                    <a:ext cx="1107" cy="531"/>
                  </a:xfrm>
                  <a:prstGeom prst="rect">
                    <a:avLst/>
                  </a:prstGeom>
                  <a:noFill/>
                </p:spPr>
                <p:txBody>
                  <a:bodyPr wrap="square" rtlCol="0">
                    <a:spAutoFit/>
                  </a:bodyPr>
                  <a:p>
                    <a:r>
                      <a:rPr lang="zh-CN" altLang="en-US" sz="1600"/>
                      <a:t>（</a:t>
                    </a:r>
                    <a:r>
                      <a:rPr lang="en-US" altLang="zh-CN" sz="1600"/>
                      <a:t>0</a:t>
                    </a:r>
                    <a:r>
                      <a:rPr lang="en-US" altLang="zh-CN" sz="1600"/>
                      <a:t>,0</a:t>
                    </a:r>
                    <a:r>
                      <a:rPr lang="zh-CN" altLang="en-US" sz="1600"/>
                      <a:t>）</a:t>
                    </a:r>
                    <a:endParaRPr lang="zh-CN" altLang="en-US" sz="1600"/>
                  </a:p>
                </p:txBody>
              </p:sp>
              <p:sp>
                <p:nvSpPr>
                  <p:cNvPr id="5" name="文本框 4"/>
                  <p:cNvSpPr txBox="1"/>
                  <p:nvPr/>
                </p:nvSpPr>
                <p:spPr>
                  <a:xfrm>
                    <a:off x="12094" y="9220"/>
                    <a:ext cx="1217" cy="531"/>
                  </a:xfrm>
                  <a:prstGeom prst="rect">
                    <a:avLst/>
                  </a:prstGeom>
                  <a:noFill/>
                </p:spPr>
                <p:txBody>
                  <a:bodyPr wrap="square" rtlCol="0">
                    <a:spAutoFit/>
                  </a:bodyPr>
                  <a:p>
                    <a:r>
                      <a:rPr lang="zh-CN" altLang="en-US" sz="1600"/>
                      <a:t>（</a:t>
                    </a:r>
                    <a:r>
                      <a:rPr lang="en-US" altLang="zh-CN" sz="1600"/>
                      <a:t>1</a:t>
                    </a:r>
                    <a:r>
                      <a:rPr lang="en-US" altLang="zh-CN" sz="1600"/>
                      <a:t>,-1</a:t>
                    </a:r>
                    <a:r>
                      <a:rPr lang="zh-CN" altLang="en-US" sz="1600"/>
                      <a:t>）</a:t>
                    </a:r>
                    <a:endParaRPr lang="zh-CN" altLang="en-US" sz="1600"/>
                  </a:p>
                </p:txBody>
              </p:sp>
              <p:sp>
                <p:nvSpPr>
                  <p:cNvPr id="8" name="文本框 7"/>
                  <p:cNvSpPr txBox="1"/>
                  <p:nvPr/>
                </p:nvSpPr>
                <p:spPr>
                  <a:xfrm>
                    <a:off x="13855" y="9220"/>
                    <a:ext cx="1217" cy="531"/>
                  </a:xfrm>
                  <a:prstGeom prst="rect">
                    <a:avLst/>
                  </a:prstGeom>
                  <a:noFill/>
                </p:spPr>
                <p:txBody>
                  <a:bodyPr wrap="square" rtlCol="0">
                    <a:spAutoFit/>
                  </a:bodyPr>
                  <a:p>
                    <a:r>
                      <a:rPr lang="zh-CN" altLang="en-US" sz="1600"/>
                      <a:t>（</a:t>
                    </a:r>
                    <a:r>
                      <a:rPr lang="en-US" altLang="zh-CN" sz="1600"/>
                      <a:t>-1</a:t>
                    </a:r>
                    <a:r>
                      <a:rPr lang="en-US" altLang="zh-CN" sz="1600"/>
                      <a:t>,0</a:t>
                    </a:r>
                    <a:r>
                      <a:rPr lang="zh-CN" altLang="en-US" sz="1600"/>
                      <a:t>）</a:t>
                    </a:r>
                    <a:endParaRPr lang="zh-CN" altLang="en-US" sz="1600"/>
                  </a:p>
                </p:txBody>
              </p:sp>
            </p:grpSp>
            <p:sp>
              <p:nvSpPr>
                <p:cNvPr id="9" name="文本框 8"/>
                <p:cNvSpPr txBox="1"/>
                <p:nvPr/>
              </p:nvSpPr>
              <p:spPr>
                <a:xfrm>
                  <a:off x="14551" y="6647"/>
                  <a:ext cx="1107" cy="531"/>
                </a:xfrm>
                <a:prstGeom prst="rect">
                  <a:avLst/>
                </a:prstGeom>
                <a:noFill/>
              </p:spPr>
              <p:txBody>
                <a:bodyPr wrap="square" rtlCol="0">
                  <a:spAutoFit/>
                </a:bodyPr>
                <a:p>
                  <a:r>
                    <a:rPr lang="zh-CN" altLang="en-US" sz="1600"/>
                    <a:t>（</a:t>
                  </a:r>
                  <a:r>
                    <a:rPr lang="en-US" altLang="zh-CN" sz="1600"/>
                    <a:t>0</a:t>
                  </a:r>
                  <a:r>
                    <a:rPr lang="en-US" altLang="zh-CN" sz="1600"/>
                    <a:t>,0</a:t>
                  </a:r>
                  <a:r>
                    <a:rPr lang="zh-CN" altLang="en-US" sz="1600"/>
                    <a:t>）</a:t>
                  </a:r>
                  <a:endParaRPr lang="zh-CN" altLang="en-US" sz="1600"/>
                </a:p>
              </p:txBody>
            </p:sp>
            <p:sp>
              <p:nvSpPr>
                <p:cNvPr id="10" name="文本框 9"/>
                <p:cNvSpPr txBox="1"/>
                <p:nvPr/>
              </p:nvSpPr>
              <p:spPr>
                <a:xfrm>
                  <a:off x="12563" y="6585"/>
                  <a:ext cx="1107" cy="531"/>
                </a:xfrm>
                <a:prstGeom prst="rect">
                  <a:avLst/>
                </a:prstGeom>
                <a:noFill/>
              </p:spPr>
              <p:txBody>
                <a:bodyPr wrap="square" rtlCol="0">
                  <a:spAutoFit/>
                </a:bodyPr>
                <a:p>
                  <a:r>
                    <a:rPr lang="zh-CN" altLang="en-US" sz="1600"/>
                    <a:t>（</a:t>
                  </a:r>
                  <a:r>
                    <a:rPr lang="en-US" altLang="zh-CN" sz="1600"/>
                    <a:t>0</a:t>
                  </a:r>
                  <a:r>
                    <a:rPr lang="en-US" altLang="zh-CN" sz="1600"/>
                    <a:t>,0</a:t>
                  </a:r>
                  <a:r>
                    <a:rPr lang="zh-CN" altLang="en-US" sz="1600"/>
                    <a:t>）</a:t>
                  </a:r>
                  <a:endParaRPr lang="zh-CN" altLang="en-US" sz="1600"/>
                </a:p>
              </p:txBody>
            </p:sp>
          </p:grpSp>
        </p:grpSp>
      </p:grpSp>
      <p:sp>
        <p:nvSpPr>
          <p:cNvPr id="11" name="内容占位符 2"/>
          <p:cNvSpPr>
            <a:spLocks noGrp="1"/>
          </p:cNvSpPr>
          <p:nvPr>
            <p:custDataLst>
              <p:tags r:id="rId17"/>
            </p:custDataLst>
          </p:nvPr>
        </p:nvSpPr>
        <p:spPr>
          <a:xfrm>
            <a:off x="822325" y="1057275"/>
            <a:ext cx="11277600" cy="1510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just">
              <a:lnSpc>
                <a:spcPct val="130000"/>
              </a:lnSpc>
              <a:buClrTx/>
              <a:buSzTx/>
              <a:buFont typeface="Wingdings" panose="05000000000000000000" charset="0"/>
              <a:buChar char="l"/>
            </a:pPr>
            <a:r>
              <a:rPr lang="zh-CN" altLang="en-US" sz="2000" dirty="0">
                <a:solidFill>
                  <a:schemeClr val="dk1"/>
                </a:solidFill>
                <a:latin typeface="微软雅黑" panose="020B0503020204020204" pitchFamily="34" charset="-122"/>
                <a:ea typeface="微软雅黑" panose="020B0503020204020204" pitchFamily="34" charset="-122"/>
                <a:sym typeface="+mn-ea"/>
              </a:rPr>
              <a:t>设车况好时对买方而言该车值3千元，车况差值1千元，卖方要价2千元（可理解为买方想买的档次)。再假设车况差时卖方需要花费1千元才能将车子伪装成使用良好，卖不出去就会白白损失一千元。用净收益（收益减成本）作为卖方的得益，用消费者剩余（价值减价格）作为买方的得益。</a:t>
            </a:r>
            <a:endParaRPr lang="zh-CN" altLang="en-US" sz="2000" dirty="0">
              <a:solidFill>
                <a:schemeClr val="dk1"/>
              </a:solidFill>
              <a:latin typeface="微软雅黑" panose="020B0503020204020204" pitchFamily="34" charset="-122"/>
              <a:ea typeface="微软雅黑" panose="020B0503020204020204" pitchFamily="34" charset="-122"/>
              <a:sym typeface="+mn-ea"/>
            </a:endParaRPr>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Title 6"/>
          <p:cNvSpPr txBox="1"/>
          <p:nvPr>
            <p:custDataLst>
              <p:tags r:id="rId1"/>
            </p:custDataLst>
          </p:nvPr>
        </p:nvSpPr>
        <p:spPr>
          <a:xfrm>
            <a:off x="839470" y="692785"/>
            <a:ext cx="10360660" cy="373316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要让买方决定是否买还必须有进一步的信息或判断（即卖方选卖的前提下车况好、差的概率)。</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a:latin typeface="微软雅黑" panose="020B0503020204020204" pitchFamily="34" charset="-122"/>
                <a:ea typeface="微软雅黑" panose="020B0503020204020204" pitchFamily="34" charset="-122"/>
                <a:cs typeface="微软雅黑" panose="020B0503020204020204" pitchFamily="34" charset="-122"/>
                <a:sym typeface="+mn-ea"/>
              </a:rPr>
              <a:t>要让卖方在车况差的情况下决定是否卖也必须有进一步的信息或判断（即买方会买下的概率究竟有多大)。</a:t>
            </a: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just" fontAlgn="ctr">
              <a:lnSpc>
                <a:spcPct val="130000"/>
              </a:lnSpc>
              <a:spcBef>
                <a:spcPts val="1000"/>
              </a:spcBef>
              <a:spcAft>
                <a:spcPts val="0"/>
              </a:spcAft>
              <a:buSzPct val="100000"/>
              <a:buFont typeface="Wingdings" panose="05000000000000000000" charset="0"/>
              <a:buChar char="l"/>
            </a:pP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4" name="组合 3"/>
          <p:cNvGrpSpPr/>
          <p:nvPr/>
        </p:nvGrpSpPr>
        <p:grpSpPr>
          <a:xfrm>
            <a:off x="533400" y="152400"/>
            <a:ext cx="11201400" cy="762000"/>
            <a:chOff x="840" y="240"/>
            <a:chExt cx="17640" cy="1200"/>
          </a:xfrm>
        </p:grpSpPr>
        <p:sp>
          <p:nvSpPr>
            <p:cNvPr id="5" name="文本框 6"/>
            <p:cNvSpPr txBox="1"/>
            <p:nvPr>
              <p:custDataLst>
                <p:tags r:id="rId3"/>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不完美信息动态博弈：</a:t>
              </a:r>
              <a:r>
                <a:rPr lang="zh-CN" altLang="en-US" sz="2800" dirty="0">
                  <a:solidFill>
                    <a:schemeClr val="accent1"/>
                  </a:solidFill>
                  <a:sym typeface="+mn-ea"/>
                </a:rPr>
                <a:t>表示方法</a:t>
              </a:r>
              <a:endParaRPr lang="zh-CN" altLang="en-US" sz="2800" dirty="0">
                <a:solidFill>
                  <a:schemeClr val="accent1"/>
                </a:solidFill>
                <a:sym typeface="+mn-ea"/>
              </a:endParaRPr>
            </a:p>
          </p:txBody>
        </p:sp>
        <p:cxnSp>
          <p:nvCxnSpPr>
            <p:cNvPr id="7" name="直接连接符 6"/>
            <p:cNvCxnSpPr/>
            <p:nvPr>
              <p:custDataLst>
                <p:tags r:id="rId4"/>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3" name="Title 6"/>
          <p:cNvSpPr txBox="1"/>
          <p:nvPr>
            <p:custDataLst>
              <p:tags r:id="rId5"/>
            </p:custDataLst>
          </p:nvPr>
        </p:nvSpPr>
        <p:spPr>
          <a:xfrm>
            <a:off x="839470" y="3789045"/>
            <a:ext cx="10360660" cy="1911350"/>
          </a:xfrm>
          <a:prstGeom prst="rect">
            <a:avLst/>
          </a:prstGeom>
          <a:noFill/>
          <a:ln w="15875">
            <a:solidFill>
              <a:schemeClr val="accent1"/>
            </a:solid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注意：到最后的得益一定要有一个基本的前提，即有一个选择信息集中两个结点各自达到的概率判断（比如天气好坏，好差的可能性)。</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内容占位符 2"/>
          <p:cNvSpPr>
            <a:spLocks noGrp="1"/>
          </p:cNvSpPr>
          <p:nvPr>
            <p:custDataLst>
              <p:tags r:id="rId1"/>
            </p:custDataLst>
          </p:nvPr>
        </p:nvSpPr>
        <p:spPr>
          <a:xfrm>
            <a:off x="695325" y="1052830"/>
            <a:ext cx="5835650" cy="487235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just">
              <a:lnSpc>
                <a:spcPct val="130000"/>
              </a:lnSpc>
              <a:buClrTx/>
              <a:buSzTx/>
              <a:buFont typeface="Wingdings" panose="05000000000000000000" charset="0"/>
              <a:buChar char="l"/>
            </a:pPr>
            <a:r>
              <a:rPr lang="zh-CN" altLang="en-US" sz="2000" dirty="0">
                <a:solidFill>
                  <a:schemeClr val="dk1"/>
                </a:solidFill>
                <a:latin typeface="微软雅黑" panose="020B0503020204020204" pitchFamily="34" charset="-122"/>
                <a:ea typeface="微软雅黑" panose="020B0503020204020204" pitchFamily="34" charset="-122"/>
                <a:sym typeface="+mn-ea"/>
              </a:rPr>
              <a:t>子博弈定义：</a:t>
            </a:r>
            <a:r>
              <a:rPr lang="zh-CN" altLang="en-US" sz="2000" dirty="0">
                <a:solidFill>
                  <a:schemeClr val="dk1"/>
                </a:solidFill>
                <a:latin typeface="微软雅黑" panose="020B0503020204020204" pitchFamily="34" charset="-122"/>
                <a:ea typeface="微软雅黑" panose="020B0503020204020204" pitchFamily="34" charset="-122"/>
                <a:sym typeface="+mn-ea"/>
              </a:rPr>
              <a:t>由一个动态博弈第一阶段以外的某阶段开始的后续博弈阶段构成的，有初始信息集和进行博弈所需要的全部信息，能够自成一个博弈的原博弈的一部分。</a:t>
            </a:r>
            <a:endParaRPr lang="zh-CN" altLang="en-US" sz="2000" dirty="0">
              <a:solidFill>
                <a:schemeClr val="dk1"/>
              </a:solidFill>
              <a:latin typeface="微软雅黑" panose="020B0503020204020204" pitchFamily="34" charset="-122"/>
              <a:ea typeface="微软雅黑" panose="020B0503020204020204" pitchFamily="34" charset="-122"/>
              <a:sym typeface="+mn-ea"/>
            </a:endParaRPr>
          </a:p>
          <a:p>
            <a:pPr lvl="0" algn="just">
              <a:lnSpc>
                <a:spcPct val="130000"/>
              </a:lnSpc>
              <a:buClrTx/>
              <a:buSzTx/>
            </a:pPr>
            <a:r>
              <a:rPr lang="zh-CN" altLang="en-US" sz="2000" dirty="0">
                <a:solidFill>
                  <a:schemeClr val="dk1"/>
                </a:solidFill>
                <a:latin typeface="微软雅黑" panose="020B0503020204020204" pitchFamily="34" charset="-122"/>
                <a:ea typeface="微软雅黑" panose="020B0503020204020204" pitchFamily="34" charset="-122"/>
                <a:sym typeface="+mn-ea"/>
              </a:rPr>
              <a:t>原博弈本身不会成为原博弈的后续阶段，因此子博弈不能从原博弈的第一个结点开始，即原博弈不是自己的子博弈。</a:t>
            </a:r>
            <a:endParaRPr lang="zh-CN" altLang="en-US" sz="2000" dirty="0">
              <a:solidFill>
                <a:schemeClr val="dk1"/>
              </a:solidFill>
              <a:latin typeface="微软雅黑" panose="020B0503020204020204" pitchFamily="34" charset="-122"/>
              <a:ea typeface="微软雅黑" panose="020B0503020204020204" pitchFamily="34" charset="-122"/>
              <a:sym typeface="+mn-ea"/>
            </a:endParaRPr>
          </a:p>
          <a:p>
            <a:pPr lvl="0" algn="just">
              <a:lnSpc>
                <a:spcPct val="130000"/>
              </a:lnSpc>
              <a:buClrTx/>
              <a:buSzTx/>
            </a:pPr>
            <a:r>
              <a:rPr lang="zh-CN" altLang="en-US" sz="2000" dirty="0">
                <a:solidFill>
                  <a:schemeClr val="dk1"/>
                </a:solidFill>
                <a:latin typeface="微软雅黑" panose="020B0503020204020204" pitchFamily="34" charset="-122"/>
                <a:ea typeface="微软雅黑" panose="020B0503020204020204" pitchFamily="34" charset="-122"/>
                <a:sym typeface="+mn-ea"/>
              </a:rPr>
              <a:t>包含所有初始结点和终点，但不包含不跟在此初始结点之后的结点。</a:t>
            </a:r>
            <a:endParaRPr lang="zh-CN" altLang="en-US" sz="2000" dirty="0">
              <a:solidFill>
                <a:schemeClr val="dk1"/>
              </a:solidFill>
              <a:latin typeface="微软雅黑" panose="020B0503020204020204" pitchFamily="34" charset="-122"/>
              <a:ea typeface="微软雅黑" panose="020B0503020204020204" pitchFamily="34" charset="-122"/>
              <a:sym typeface="+mn-ea"/>
            </a:endParaRPr>
          </a:p>
          <a:p>
            <a:pPr lvl="0" algn="just">
              <a:lnSpc>
                <a:spcPct val="130000"/>
              </a:lnSpc>
              <a:buClrTx/>
              <a:buSzTx/>
            </a:pPr>
            <a:r>
              <a:rPr lang="zh-CN" altLang="en-US" sz="2000" dirty="0">
                <a:solidFill>
                  <a:schemeClr val="dk1"/>
                </a:solidFill>
                <a:latin typeface="微软雅黑" panose="020B0503020204020204" pitchFamily="34" charset="-122"/>
                <a:ea typeface="微软雅黑" panose="020B0503020204020204" pitchFamily="34" charset="-122"/>
                <a:sym typeface="+mn-ea"/>
              </a:rPr>
              <a:t>不分割任何的信息集</a:t>
            </a:r>
            <a:r>
              <a:rPr lang="zh-CN" altLang="en-US" sz="2000" dirty="0">
                <a:solidFill>
                  <a:schemeClr val="dk1"/>
                </a:solidFill>
                <a:latin typeface="微软雅黑" panose="020B0503020204020204" pitchFamily="34" charset="-122"/>
                <a:ea typeface="微软雅黑" panose="020B0503020204020204" pitchFamily="34" charset="-122"/>
                <a:sym typeface="+mn-ea"/>
              </a:rPr>
              <a:t>。</a:t>
            </a:r>
            <a:endParaRPr lang="zh-CN" altLang="en-US" sz="2000" dirty="0">
              <a:solidFill>
                <a:schemeClr val="dk1"/>
              </a:solidFill>
              <a:latin typeface="微软雅黑" panose="020B0503020204020204" pitchFamily="34" charset="-122"/>
              <a:ea typeface="微软雅黑" panose="020B0503020204020204" pitchFamily="34" charset="-122"/>
              <a:sym typeface="+mn-ea"/>
            </a:endParaRPr>
          </a:p>
          <a:p>
            <a:pPr lvl="0" algn="just">
              <a:buClrTx/>
              <a:buSzTx/>
            </a:pPr>
            <a:endParaRPr lang="zh-CN" altLang="en-US" sz="2000" dirty="0">
              <a:solidFill>
                <a:schemeClr val="dk1"/>
              </a:solidFill>
              <a:latin typeface="微软雅黑" panose="020B0503020204020204" pitchFamily="34" charset="-122"/>
              <a:ea typeface="微软雅黑" panose="020B0503020204020204" pitchFamily="34" charset="-122"/>
              <a:sym typeface="+mn-ea"/>
            </a:endParaRPr>
          </a:p>
        </p:txBody>
      </p:sp>
      <p:sp>
        <p:nvSpPr>
          <p:cNvPr id="9" name="矩形 8"/>
          <p:cNvSpPr/>
          <p:nvPr>
            <p:custDataLst>
              <p:tags r:id="rId2"/>
            </p:custDataLst>
          </p:nvPr>
        </p:nvSpPr>
        <p:spPr>
          <a:xfrm>
            <a:off x="7075800" y="2733967"/>
            <a:ext cx="3071777" cy="957654"/>
          </a:xfrm>
          <a:prstGeom prst="rect">
            <a:avLst/>
          </a:prstGeom>
          <a:noFill/>
          <a:ln>
            <a:solidFill>
              <a:schemeClr val="dk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flipH="1">
            <a:off x="7098565" y="1270169"/>
            <a:ext cx="2251473" cy="2273479"/>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9350038" y="1270169"/>
            <a:ext cx="1133704" cy="1277883"/>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8582094" y="2098061"/>
            <a:ext cx="272423" cy="434055"/>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8485721" y="2160286"/>
            <a:ext cx="1557895" cy="1504776"/>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7899898" y="2698302"/>
            <a:ext cx="421914" cy="598723"/>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9395568" y="2775704"/>
            <a:ext cx="330853" cy="524357"/>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5" name="椭圆 34"/>
          <p:cNvSpPr/>
          <p:nvPr>
            <p:custDataLst>
              <p:tags r:id="rId3"/>
            </p:custDataLst>
          </p:nvPr>
        </p:nvSpPr>
        <p:spPr>
          <a:xfrm>
            <a:off x="9040432" y="1066800"/>
            <a:ext cx="619212" cy="417361"/>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椭圆 36"/>
          <p:cNvSpPr/>
          <p:nvPr>
            <p:custDataLst>
              <p:tags r:id="rId4"/>
            </p:custDataLst>
          </p:nvPr>
        </p:nvSpPr>
        <p:spPr>
          <a:xfrm>
            <a:off x="8251999" y="1902281"/>
            <a:ext cx="619212" cy="417361"/>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椭圆 38"/>
          <p:cNvSpPr/>
          <p:nvPr>
            <p:custDataLst>
              <p:tags r:id="rId5"/>
            </p:custDataLst>
          </p:nvPr>
        </p:nvSpPr>
        <p:spPr>
          <a:xfrm>
            <a:off x="9772711" y="1879516"/>
            <a:ext cx="619212" cy="417361"/>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8" name="椭圆 57"/>
          <p:cNvSpPr/>
          <p:nvPr>
            <p:custDataLst>
              <p:tags r:id="rId6"/>
            </p:custDataLst>
          </p:nvPr>
        </p:nvSpPr>
        <p:spPr>
          <a:xfrm>
            <a:off x="7643411" y="2560194"/>
            <a:ext cx="2053416" cy="381696"/>
          </a:xfrm>
          <a:prstGeom prst="ellipse">
            <a:avLst/>
          </a:prstGeom>
          <a:solidFill>
            <a:srgbClr val="B23214">
              <a:alpha val="50196"/>
            </a:srgbClr>
          </a:solidFill>
          <a:ln>
            <a:solidFill>
              <a:srgbClr val="B23214"/>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0000"/>
          </a:bodyP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9" name="文本框 58"/>
          <p:cNvSpPr txBox="1"/>
          <p:nvPr>
            <p:custDataLst>
              <p:tags r:id="rId7"/>
            </p:custDataLst>
          </p:nvPr>
        </p:nvSpPr>
        <p:spPr>
          <a:xfrm>
            <a:off x="8472062" y="1418901"/>
            <a:ext cx="568370"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好</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60" name="文本框 59"/>
          <p:cNvSpPr txBox="1"/>
          <p:nvPr>
            <p:custDataLst>
              <p:tags r:id="rId8"/>
            </p:custDataLst>
          </p:nvPr>
        </p:nvSpPr>
        <p:spPr>
          <a:xfrm>
            <a:off x="9680891" y="1399171"/>
            <a:ext cx="619212"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差</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61" name="文本框 60"/>
          <p:cNvSpPr txBox="1"/>
          <p:nvPr>
            <p:custDataLst>
              <p:tags r:id="rId9"/>
            </p:custDataLst>
          </p:nvPr>
        </p:nvSpPr>
        <p:spPr>
          <a:xfrm>
            <a:off x="7808837" y="2252864"/>
            <a:ext cx="774774"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卖</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62" name="文本框 61"/>
          <p:cNvSpPr txBox="1"/>
          <p:nvPr>
            <p:custDataLst>
              <p:tags r:id="rId10"/>
            </p:custDataLst>
          </p:nvPr>
        </p:nvSpPr>
        <p:spPr>
          <a:xfrm>
            <a:off x="8723237" y="2162562"/>
            <a:ext cx="1260430"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不卖    卖</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3" name="文本框 62"/>
          <p:cNvSpPr txBox="1"/>
          <p:nvPr>
            <p:custDataLst>
              <p:tags r:id="rId11"/>
            </p:custDataLst>
          </p:nvPr>
        </p:nvSpPr>
        <p:spPr>
          <a:xfrm>
            <a:off x="10277338" y="2137521"/>
            <a:ext cx="954618"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不卖</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64" name="文本框 63"/>
          <p:cNvSpPr txBox="1"/>
          <p:nvPr>
            <p:custDataLst>
              <p:tags r:id="rId12"/>
            </p:custDataLst>
          </p:nvPr>
        </p:nvSpPr>
        <p:spPr>
          <a:xfrm>
            <a:off x="7075800" y="2951754"/>
            <a:ext cx="638942"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买</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65" name="文本框 64"/>
          <p:cNvSpPr txBox="1"/>
          <p:nvPr>
            <p:custDataLst>
              <p:tags r:id="rId13"/>
            </p:custDataLst>
          </p:nvPr>
        </p:nvSpPr>
        <p:spPr>
          <a:xfrm>
            <a:off x="8110855" y="2950995"/>
            <a:ext cx="1324173"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不买 买</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6" name="文本框 65"/>
          <p:cNvSpPr txBox="1"/>
          <p:nvPr>
            <p:custDataLst>
              <p:tags r:id="rId14"/>
            </p:custDataLst>
          </p:nvPr>
        </p:nvSpPr>
        <p:spPr>
          <a:xfrm>
            <a:off x="9575413" y="2877388"/>
            <a:ext cx="724690" cy="440126"/>
          </a:xfrm>
          <a:prstGeom prst="rect">
            <a:avLst/>
          </a:prstGeom>
          <a:noFill/>
        </p:spPr>
        <p:txBody>
          <a:bodyPr wrap="non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不买</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7" name="线形标注 1 66"/>
          <p:cNvSpPr/>
          <p:nvPr>
            <p:custDataLst>
              <p:tags r:id="rId15"/>
            </p:custDataLst>
          </p:nvPr>
        </p:nvSpPr>
        <p:spPr>
          <a:xfrm>
            <a:off x="10560256" y="2697891"/>
            <a:ext cx="1463040" cy="423432"/>
          </a:xfrm>
          <a:prstGeom prst="borderCallout1">
            <a:avLst>
              <a:gd name="adj1" fmla="val 70386"/>
              <a:gd name="adj2" fmla="val -187"/>
              <a:gd name="adj3" fmla="val 112500"/>
              <a:gd name="adj4" fmla="val -38333"/>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0000"/>
          </a:bodyPr>
          <a:lstStyle/>
          <a:p>
            <a:pPr algn="ct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3500" dirty="0">
                <a:solidFill>
                  <a:srgbClr val="000000"/>
                </a:solidFill>
                <a:latin typeface="微软雅黑" panose="020B0503020204020204" pitchFamily="34" charset="-122"/>
                <a:ea typeface="微软雅黑" panose="020B0503020204020204" pitchFamily="34" charset="-122"/>
              </a:rPr>
              <a:t>不是子博弈</a:t>
            </a:r>
            <a:endParaRPr lang="zh-CN" altLang="en-US" sz="3500" dirty="0">
              <a:solidFill>
                <a:srgbClr val="000000"/>
              </a:solidFill>
              <a:latin typeface="微软雅黑" panose="020B0503020204020204" pitchFamily="34" charset="-122"/>
              <a:ea typeface="微软雅黑" panose="020B0503020204020204" pitchFamily="34" charset="-122"/>
            </a:endParaRPr>
          </a:p>
          <a:p>
            <a:pPr algn="ctr"/>
            <a:endParaRPr lang="zh-CN" altLang="en-US" sz="3500" dirty="0">
              <a:solidFill>
                <a:srgbClr val="000000"/>
              </a:solidFill>
              <a:latin typeface="微软雅黑" panose="020B0503020204020204" pitchFamily="34" charset="-122"/>
              <a:ea typeface="微软雅黑" panose="020B0503020204020204" pitchFamily="34" charset="-122"/>
            </a:endParaRPr>
          </a:p>
        </p:txBody>
      </p:sp>
      <p:sp>
        <p:nvSpPr>
          <p:cNvPr id="68" name="矩形 67"/>
          <p:cNvSpPr/>
          <p:nvPr>
            <p:custDataLst>
              <p:tags r:id="rId16"/>
            </p:custDataLst>
          </p:nvPr>
        </p:nvSpPr>
        <p:spPr>
          <a:xfrm>
            <a:off x="8439432" y="5501450"/>
            <a:ext cx="1661856" cy="948548"/>
          </a:xfrm>
          <a:prstGeom prst="rect">
            <a:avLst/>
          </a:prstGeom>
          <a:noFill/>
          <a:ln>
            <a:solidFill>
              <a:schemeClr val="dk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latin typeface="微软雅黑" panose="020B0503020204020204" pitchFamily="34" charset="-122"/>
              <a:ea typeface="微软雅黑" panose="020B0503020204020204" pitchFamily="34" charset="-122"/>
            </a:endParaRPr>
          </a:p>
        </p:txBody>
      </p:sp>
      <p:cxnSp>
        <p:nvCxnSpPr>
          <p:cNvPr id="69" name="直接连接符 68"/>
          <p:cNvCxnSpPr/>
          <p:nvPr/>
        </p:nvCxnSpPr>
        <p:spPr>
          <a:xfrm flipH="1">
            <a:off x="7051517" y="4052069"/>
            <a:ext cx="2251473" cy="2250714"/>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9302990" y="4052069"/>
            <a:ext cx="1133704" cy="1265742"/>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8535046" y="4871615"/>
            <a:ext cx="272423" cy="429502"/>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8438673" y="4933080"/>
            <a:ext cx="1557895" cy="1490358"/>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7852850" y="5465785"/>
            <a:ext cx="421914" cy="59341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9348520" y="5543186"/>
            <a:ext cx="330853" cy="519045"/>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75" name="椭圆 74"/>
          <p:cNvSpPr/>
          <p:nvPr>
            <p:custDataLst>
              <p:tags r:id="rId17"/>
            </p:custDataLst>
          </p:nvPr>
        </p:nvSpPr>
        <p:spPr>
          <a:xfrm>
            <a:off x="8993384" y="3850218"/>
            <a:ext cx="619212" cy="413567"/>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6" name="椭圆 75"/>
          <p:cNvSpPr/>
          <p:nvPr>
            <p:custDataLst>
              <p:tags r:id="rId18"/>
            </p:custDataLst>
          </p:nvPr>
        </p:nvSpPr>
        <p:spPr>
          <a:xfrm>
            <a:off x="8204951" y="4678111"/>
            <a:ext cx="619212" cy="413567"/>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7" name="椭圆 76"/>
          <p:cNvSpPr/>
          <p:nvPr>
            <p:custDataLst>
              <p:tags r:id="rId19"/>
            </p:custDataLst>
          </p:nvPr>
        </p:nvSpPr>
        <p:spPr>
          <a:xfrm>
            <a:off x="9725663" y="4654587"/>
            <a:ext cx="619212" cy="413567"/>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8" name="椭圆 77"/>
          <p:cNvSpPr/>
          <p:nvPr>
            <p:custDataLst>
              <p:tags r:id="rId20"/>
            </p:custDataLst>
          </p:nvPr>
        </p:nvSpPr>
        <p:spPr>
          <a:xfrm>
            <a:off x="7596363" y="5329194"/>
            <a:ext cx="2053416" cy="377901"/>
          </a:xfrm>
          <a:prstGeom prst="ellipse">
            <a:avLst/>
          </a:prstGeom>
          <a:solidFill>
            <a:srgbClr val="B23214">
              <a:alpha val="50196"/>
            </a:srgbClr>
          </a:solidFill>
          <a:ln>
            <a:solidFill>
              <a:srgbClr val="B23214"/>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0000"/>
          </a:bodyP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9" name="文本框 78"/>
          <p:cNvSpPr txBox="1"/>
          <p:nvPr>
            <p:custDataLst>
              <p:tags r:id="rId21"/>
            </p:custDataLst>
          </p:nvPr>
        </p:nvSpPr>
        <p:spPr>
          <a:xfrm>
            <a:off x="8425014" y="4198525"/>
            <a:ext cx="568370"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好</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80" name="文本框 79"/>
          <p:cNvSpPr txBox="1"/>
          <p:nvPr>
            <p:custDataLst>
              <p:tags r:id="rId22"/>
            </p:custDataLst>
          </p:nvPr>
        </p:nvSpPr>
        <p:spPr>
          <a:xfrm>
            <a:off x="9633843" y="4179554"/>
            <a:ext cx="619212"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差</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81" name="文本框 80"/>
          <p:cNvSpPr txBox="1"/>
          <p:nvPr>
            <p:custDataLst>
              <p:tags r:id="rId23"/>
            </p:custDataLst>
          </p:nvPr>
        </p:nvSpPr>
        <p:spPr>
          <a:xfrm>
            <a:off x="7761789" y="5024900"/>
            <a:ext cx="774774"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卖</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82" name="文本框 81"/>
          <p:cNvSpPr txBox="1"/>
          <p:nvPr>
            <p:custDataLst>
              <p:tags r:id="rId24"/>
            </p:custDataLst>
          </p:nvPr>
        </p:nvSpPr>
        <p:spPr>
          <a:xfrm>
            <a:off x="8676189" y="4935357"/>
            <a:ext cx="1260430"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不卖    卖</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3" name="文本框 82"/>
          <p:cNvSpPr txBox="1"/>
          <p:nvPr>
            <p:custDataLst>
              <p:tags r:id="rId25"/>
            </p:custDataLst>
          </p:nvPr>
        </p:nvSpPr>
        <p:spPr>
          <a:xfrm>
            <a:off x="10230290" y="4911074"/>
            <a:ext cx="954618"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不卖</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84" name="文本框 83"/>
          <p:cNvSpPr txBox="1"/>
          <p:nvPr>
            <p:custDataLst>
              <p:tags r:id="rId26"/>
            </p:custDataLst>
          </p:nvPr>
        </p:nvSpPr>
        <p:spPr>
          <a:xfrm>
            <a:off x="7028752" y="5716960"/>
            <a:ext cx="638942"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买</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85" name="文本框 84"/>
          <p:cNvSpPr txBox="1"/>
          <p:nvPr>
            <p:custDataLst>
              <p:tags r:id="rId27"/>
            </p:custDataLst>
          </p:nvPr>
        </p:nvSpPr>
        <p:spPr>
          <a:xfrm>
            <a:off x="8063807" y="5716201"/>
            <a:ext cx="1324173" cy="366519"/>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不买 买</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6" name="文本框 85"/>
          <p:cNvSpPr txBox="1"/>
          <p:nvPr>
            <p:custDataLst>
              <p:tags r:id="rId28"/>
            </p:custDataLst>
          </p:nvPr>
        </p:nvSpPr>
        <p:spPr>
          <a:xfrm>
            <a:off x="9528365" y="5643353"/>
            <a:ext cx="724690" cy="440126"/>
          </a:xfrm>
          <a:prstGeom prst="rect">
            <a:avLst/>
          </a:prstGeom>
          <a:noFill/>
        </p:spPr>
        <p:txBody>
          <a:bodyPr wrap="non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不买</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7" name="线形标注 1 86"/>
          <p:cNvSpPr/>
          <p:nvPr>
            <p:custDataLst>
              <p:tags r:id="rId29"/>
            </p:custDataLst>
          </p:nvPr>
        </p:nvSpPr>
        <p:spPr>
          <a:xfrm>
            <a:off x="10437008" y="5553252"/>
            <a:ext cx="1463040" cy="418879"/>
          </a:xfrm>
          <a:prstGeom prst="borderCallout1">
            <a:avLst>
              <a:gd name="adj1" fmla="val 78029"/>
              <a:gd name="adj2" fmla="val -140"/>
              <a:gd name="adj3" fmla="val 95917"/>
              <a:gd name="adj4" fmla="val -35600"/>
            </a:avLst>
          </a:prstGeom>
          <a:noFill/>
          <a:ln>
            <a:solidFill>
              <a:schemeClr val="dk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0000"/>
          </a:bodyPr>
          <a:lstStyle/>
          <a:p>
            <a:pPr algn="ct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zh-CN" altLang="en-US" sz="2800" dirty="0">
                <a:solidFill>
                  <a:srgbClr val="000000"/>
                </a:solidFill>
                <a:latin typeface="微软雅黑" panose="020B0503020204020204" pitchFamily="34" charset="-122"/>
                <a:ea typeface="微软雅黑" panose="020B0503020204020204" pitchFamily="34" charset="-122"/>
              </a:rPr>
              <a:t>不是子博弈</a:t>
            </a:r>
            <a:endParaRPr lang="zh-CN" altLang="en-US" sz="2800" dirty="0">
              <a:solidFill>
                <a:srgbClr val="000000"/>
              </a:solidFill>
              <a:latin typeface="微软雅黑" panose="020B0503020204020204" pitchFamily="34" charset="-122"/>
              <a:ea typeface="微软雅黑" panose="020B0503020204020204" pitchFamily="34" charset="-122"/>
            </a:endParaRPr>
          </a:p>
          <a:p>
            <a:pPr algn="ctr"/>
            <a:endParaRPr lang="zh-CN" altLang="en-US" sz="2800" dirty="0">
              <a:solidFill>
                <a:srgbClr val="000000"/>
              </a:solidFill>
              <a:latin typeface="微软雅黑" panose="020B0503020204020204" pitchFamily="34" charset="-122"/>
              <a:ea typeface="微软雅黑" panose="020B0503020204020204" pitchFamily="34" charset="-122"/>
            </a:endParaRPr>
          </a:p>
        </p:txBody>
      </p:sp>
      <p:pic>
        <p:nvPicPr>
          <p:cNvPr id="6" name="图片 1" descr="f01494d1831cca2c2d8b5f9021c13ad"/>
          <p:cNvPicPr>
            <a:picLocks noChangeAspect="1"/>
          </p:cNvPicPr>
          <p:nvPr/>
        </p:nvPicPr>
        <p:blipFill>
          <a:blip r:embed="rId30">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2" name="组合 1"/>
          <p:cNvGrpSpPr/>
          <p:nvPr/>
        </p:nvGrpSpPr>
        <p:grpSpPr>
          <a:xfrm>
            <a:off x="533400" y="152400"/>
            <a:ext cx="11201400" cy="762000"/>
            <a:chOff x="840" y="240"/>
            <a:chExt cx="17640" cy="1200"/>
          </a:xfrm>
        </p:grpSpPr>
        <p:sp>
          <p:nvSpPr>
            <p:cNvPr id="3" name="文本框 6"/>
            <p:cNvSpPr txBox="1"/>
            <p:nvPr>
              <p:custDataLst>
                <p:tags r:id="rId31"/>
              </p:custDataLst>
            </p:nvPr>
          </p:nvSpPr>
          <p:spPr>
            <a:xfrm>
              <a:off x="1200" y="240"/>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不完美信息动态博弈：</a:t>
              </a:r>
              <a:r>
                <a:rPr lang="zh-CN" altLang="en-US" sz="2800" dirty="0">
                  <a:solidFill>
                    <a:schemeClr val="accent1"/>
                  </a:solidFill>
                  <a:sym typeface="+mn-ea"/>
                </a:rPr>
                <a:t>子博弈</a:t>
              </a:r>
              <a:endParaRPr lang="zh-CN" altLang="en-US" sz="2800" dirty="0">
                <a:solidFill>
                  <a:schemeClr val="accent1"/>
                </a:solidFill>
                <a:sym typeface="+mn-ea"/>
              </a:endParaRPr>
            </a:p>
          </p:txBody>
        </p:sp>
        <p:cxnSp>
          <p:nvCxnSpPr>
            <p:cNvPr id="7" name="直接连接符 6"/>
            <p:cNvCxnSpPr/>
            <p:nvPr>
              <p:custDataLst>
                <p:tags r:id="rId32"/>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8" name="灯片编号占位符 7"/>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3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2" name="Title 6"/>
          <p:cNvSpPr txBox="1"/>
          <p:nvPr>
            <p:custDataLst>
              <p:tags r:id="rId2"/>
            </p:custDataLst>
          </p:nvPr>
        </p:nvSpPr>
        <p:spPr>
          <a:xfrm>
            <a:off x="2997835" y="2188845"/>
            <a:ext cx="687197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完全信息静态博弈</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完全且完美信息动态博弈</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子博弈完美纳什均衡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Wingdings" panose="05000000000000000000" charset="0"/>
              <a:buChar char="Ø"/>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ctr" fontAlgn="ctr">
              <a:lnSpc>
                <a:spcPct val="130000"/>
              </a:lnSpc>
              <a:spcBef>
                <a:spcPts val="1000"/>
              </a:spcBef>
              <a:spcAft>
                <a:spcPts val="0"/>
              </a:spcAft>
              <a:buSzPct val="100000"/>
              <a:buFont typeface="Wingdings" panose="05000000000000000000" charset="0"/>
            </a:pP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理想的均衡必须能够排除任何不可信的威胁或承诺</a:t>
            </a:r>
            <a:endPar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3" name="组合 2"/>
          <p:cNvGrpSpPr/>
          <p:nvPr/>
        </p:nvGrpSpPr>
        <p:grpSpPr>
          <a:xfrm>
            <a:off x="533400" y="188595"/>
            <a:ext cx="11207115" cy="609600"/>
            <a:chOff x="840" y="297"/>
            <a:chExt cx="17649" cy="960"/>
          </a:xfrm>
        </p:grpSpPr>
        <p:sp>
          <p:nvSpPr>
            <p:cNvPr id="2" name="文本框 6"/>
            <p:cNvSpPr txBox="1"/>
            <p:nvPr>
              <p:custDataLst>
                <p:tags r:id="rId4"/>
              </p:custDataLst>
            </p:nvPr>
          </p:nvSpPr>
          <p:spPr>
            <a:xfrm>
              <a:off x="1209" y="297"/>
              <a:ext cx="17280" cy="96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4" name="直接连接符 3"/>
            <p:cNvCxnSpPr/>
            <p:nvPr>
              <p:custDataLst>
                <p:tags r:id="rId5"/>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2" name="Title 6"/>
          <p:cNvSpPr txBox="1"/>
          <p:nvPr>
            <p:custDataLst>
              <p:tags r:id="rId2"/>
            </p:custDataLst>
          </p:nvPr>
        </p:nvSpPr>
        <p:spPr>
          <a:xfrm>
            <a:off x="2997835" y="2188845"/>
            <a:ext cx="687197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在不完美信息动态博弈中纳什均衡和子博弈完美纳什均衡都不能解决问题，需要引进新的均衡概念；</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纳什均衡和子博弈完美纳什均衡分析方法，即反应函数和逆推归纳法等同样也要改进、变化；</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这里要引入完美贝叶斯均衡的概念。</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3">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3" name="组合 2"/>
          <p:cNvGrpSpPr/>
          <p:nvPr/>
        </p:nvGrpSpPr>
        <p:grpSpPr>
          <a:xfrm>
            <a:off x="533400" y="188595"/>
            <a:ext cx="11207115" cy="609600"/>
            <a:chOff x="840" y="297"/>
            <a:chExt cx="17649" cy="960"/>
          </a:xfrm>
        </p:grpSpPr>
        <p:sp>
          <p:nvSpPr>
            <p:cNvPr id="2" name="文本框 6"/>
            <p:cNvSpPr txBox="1"/>
            <p:nvPr>
              <p:custDataLst>
                <p:tags r:id="rId4"/>
              </p:custDataLst>
            </p:nvPr>
          </p:nvSpPr>
          <p:spPr>
            <a:xfrm>
              <a:off x="1209" y="297"/>
              <a:ext cx="17280" cy="96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4" name="直接连接符 3"/>
            <p:cNvCxnSpPr/>
            <p:nvPr>
              <p:custDataLst>
                <p:tags r:id="rId5"/>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5" name="灯片编号占位符 4"/>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513080" y="1557020"/>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3" name="Title 6"/>
          <p:cNvSpPr txBox="1"/>
          <p:nvPr>
            <p:custDataLst>
              <p:tags r:id="rId2"/>
            </p:custDataLst>
          </p:nvPr>
        </p:nvSpPr>
        <p:spPr>
          <a:xfrm>
            <a:off x="1118235" y="1988820"/>
            <a:ext cx="9956165" cy="398462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需有信念</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(Belief，本书译为“判断”)：所有博弈方在每个信息集上需要拥有一个信念。所谓信念就是信息集内各个结点达到的</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概率分布</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。如果单个结点信息集，可</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判断</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达到该结点的概率为</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(R1)。</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遵循序列理性</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：在给定的信念前提下，每个博弈方会根据其他博弈方在该信息集以后的对策选择</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最优策略</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(R2)。</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按照贝叶斯法则</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：博弈方在均衡路径上信息集的信念，是通过</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贝叶斯法则</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与其他博弈方的均衡策略来确定(R3)。博弈方在非均衡路径上信息集的信念，也是通过贝叶斯法则与其他博弈方的均衡策略来确定(R4)。</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3" name="组合 2"/>
          <p:cNvGrpSpPr/>
          <p:nvPr/>
        </p:nvGrpSpPr>
        <p:grpSpPr>
          <a:xfrm>
            <a:off x="533400" y="188595"/>
            <a:ext cx="11207115" cy="609600"/>
            <a:chOff x="840" y="297"/>
            <a:chExt cx="17649" cy="960"/>
          </a:xfrm>
        </p:grpSpPr>
        <p:sp>
          <p:nvSpPr>
            <p:cNvPr id="12" name="文本框 6"/>
            <p:cNvSpPr txBox="1"/>
            <p:nvPr>
              <p:custDataLst>
                <p:tags r:id="rId3"/>
              </p:custDataLst>
            </p:nvPr>
          </p:nvSpPr>
          <p:spPr>
            <a:xfrm>
              <a:off x="1209" y="297"/>
              <a:ext cx="17280" cy="96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2" name="直接连接符 1"/>
            <p:cNvCxnSpPr/>
            <p:nvPr>
              <p:custDataLst>
                <p:tags r:id="rId4"/>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11" name="副标题"/>
          <p:cNvSpPr txBox="1"/>
          <p:nvPr>
            <p:custDataLst>
              <p:tags r:id="rId5"/>
            </p:custDataLst>
          </p:nvPr>
        </p:nvSpPr>
        <p:spPr>
          <a:xfrm>
            <a:off x="1118241" y="1701172"/>
            <a:ext cx="10972888"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20000"/>
              </a:lnSpc>
              <a:spcBef>
                <a:spcPts val="0"/>
              </a:spcBef>
              <a:spcAft>
                <a:spcPts val="0"/>
              </a:spcAft>
              <a:buSzPct val="100000"/>
              <a:buFont typeface="Wingdings" panose="05000000000000000000" charset="0"/>
              <a:buChar char="Ø"/>
            </a:pPr>
            <a:r>
              <a:rPr lang="zh-CN" altLang="en-US" sz="2200" dirty="0">
                <a:solidFill>
                  <a:schemeClr val="tx1">
                    <a:lumMod val="85000"/>
                    <a:lumOff val="15000"/>
                  </a:schemeClr>
                </a:solidFill>
                <a:sym typeface="+mn-ea"/>
              </a:rPr>
              <a:t>满足以下4个条件的纳什均衡就是完美贝叶斯均衡</a:t>
            </a:r>
            <a:r>
              <a:rPr lang="zh-CN" altLang="en-US" sz="2000" dirty="0">
                <a:solidFill>
                  <a:schemeClr val="tx1">
                    <a:lumMod val="85000"/>
                    <a:lumOff val="15000"/>
                  </a:schemeClr>
                </a:solidFill>
                <a:sym typeface="+mn-ea"/>
              </a:rPr>
              <a:t>。</a:t>
            </a:r>
            <a:endParaRPr lang="zh-CN" altLang="en-US" sz="2000" dirty="0">
              <a:solidFill>
                <a:schemeClr val="tx1">
                  <a:lumMod val="85000"/>
                  <a:lumOff val="15000"/>
                </a:schemeClr>
              </a:solidFill>
              <a:sym typeface="+mn-ea"/>
            </a:endParaRPr>
          </a:p>
        </p:txBody>
      </p:sp>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479425" y="1243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3" name="Title 6"/>
          <p:cNvSpPr txBox="1"/>
          <p:nvPr>
            <p:custDataLst>
              <p:tags r:id="rId2"/>
            </p:custDataLst>
          </p:nvPr>
        </p:nvSpPr>
        <p:spPr>
          <a:xfrm>
            <a:off x="1118235" y="1988820"/>
            <a:ext cx="9956165" cy="248539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序列理性要求与子博弈完美纳什均衡中的子博弈完美性相对应，由此也称这种均衡为“序列均衡”。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子博弈完美纳什均衡是完美贝叶斯均衡的一个特例</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，完美贝叶斯均衡在静态博弈中就是纳什均衡（理性）。</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3" name="组合 2"/>
          <p:cNvGrpSpPr/>
          <p:nvPr/>
        </p:nvGrpSpPr>
        <p:grpSpPr>
          <a:xfrm>
            <a:off x="533400" y="188595"/>
            <a:ext cx="11207115" cy="609600"/>
            <a:chOff x="840" y="297"/>
            <a:chExt cx="17649" cy="960"/>
          </a:xfrm>
        </p:grpSpPr>
        <p:sp>
          <p:nvSpPr>
            <p:cNvPr id="12" name="文本框 6"/>
            <p:cNvSpPr txBox="1"/>
            <p:nvPr>
              <p:custDataLst>
                <p:tags r:id="rId3"/>
              </p:custDataLst>
            </p:nvPr>
          </p:nvSpPr>
          <p:spPr>
            <a:xfrm>
              <a:off x="1209" y="297"/>
              <a:ext cx="17280" cy="96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2" name="直接连接符 1"/>
            <p:cNvCxnSpPr/>
            <p:nvPr>
              <p:custDataLst>
                <p:tags r:id="rId4"/>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11" name="副标题"/>
          <p:cNvSpPr txBox="1"/>
          <p:nvPr>
            <p:custDataLst>
              <p:tags r:id="rId5"/>
            </p:custDataLst>
          </p:nvPr>
        </p:nvSpPr>
        <p:spPr>
          <a:xfrm>
            <a:off x="1118241" y="1701172"/>
            <a:ext cx="10972888"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20000"/>
              </a:lnSpc>
              <a:spcBef>
                <a:spcPts val="0"/>
              </a:spcBef>
              <a:spcAft>
                <a:spcPts val="0"/>
              </a:spcAft>
              <a:buSzPct val="100000"/>
              <a:buFont typeface="Wingdings" panose="05000000000000000000" charset="0"/>
              <a:buChar char="Ø"/>
            </a:pPr>
            <a:r>
              <a:rPr lang="zh-CN" altLang="en-US" sz="2200" dirty="0">
                <a:solidFill>
                  <a:schemeClr val="tx1">
                    <a:lumMod val="85000"/>
                    <a:lumOff val="15000"/>
                  </a:schemeClr>
                </a:solidFill>
                <a:sym typeface="+mn-ea"/>
              </a:rPr>
              <a:t>注意：</a:t>
            </a:r>
            <a:endParaRPr lang="zh-CN" altLang="en-US" sz="2000" dirty="0">
              <a:solidFill>
                <a:schemeClr val="tx1">
                  <a:lumMod val="85000"/>
                  <a:lumOff val="15000"/>
                </a:schemeClr>
              </a:solidFill>
              <a:sym typeface="+mn-ea"/>
            </a:endParaRPr>
          </a:p>
        </p:txBody>
      </p:sp>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itle 6"/>
              <p:cNvSpPr txBox="1"/>
              <p:nvPr>
                <p:custDataLst>
                  <p:tags r:id="rId3"/>
                </p:custDataLst>
              </p:nvPr>
            </p:nvSpPr>
            <p:spPr>
              <a:xfrm>
                <a:off x="839431" y="620647"/>
                <a:ext cx="11277678" cy="5243327"/>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ClrTx/>
                  <a:buSzTx/>
                  <a:buFont typeface="Wingdings" panose="05000000000000000000" charset="0"/>
                  <a:buChar char="Ø"/>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条件概率</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mtClean="0">
                    <a:solidFill>
                      <a:schemeClr val="dk1">
                        <a:lumMod val="75000"/>
                        <a:lumOff val="25000"/>
                      </a:schemeClr>
                    </a:solidFill>
                    <a:latin typeface="Cambria Math" panose="02040503050406030204" pitchFamily="18" charset="0"/>
                    <a:cs typeface="Cambria Math" panose="02040503050406030204" pitchFamily="18" charset="0"/>
                  </a:rPr>
                  <a:t>在事件</a:t>
                </a:r>
                <a:r>
                  <a:rPr lang="en-US" altLang="zh-CN" sz="2000" smtClean="0">
                    <a:solidFill>
                      <a:schemeClr val="dk1">
                        <a:lumMod val="75000"/>
                        <a:lumOff val="25000"/>
                      </a:schemeClr>
                    </a:solidFill>
                    <a:latin typeface="Cambria Math" panose="02040503050406030204" pitchFamily="18" charset="0"/>
                    <a:cs typeface="Cambria Math" panose="02040503050406030204" pitchFamily="18" charset="0"/>
                  </a:rPr>
                  <a:t>A</a:t>
                </a:r>
                <a:r>
                  <a:rPr lang="zh-CN" altLang="en-US" sz="2000" smtClean="0">
                    <a:solidFill>
                      <a:schemeClr val="dk1">
                        <a:lumMod val="75000"/>
                        <a:lumOff val="25000"/>
                      </a:schemeClr>
                    </a:solidFill>
                    <a:latin typeface="Cambria Math" panose="02040503050406030204" pitchFamily="18" charset="0"/>
                    <a:cs typeface="Cambria Math" panose="02040503050406030204" pitchFamily="18" charset="0"/>
                  </a:rPr>
                  <a:t>发生条件下，事件</a:t>
                </a:r>
                <a:r>
                  <a:rPr lang="en-US" altLang="zh-CN" sz="2000" smtClean="0">
                    <a:solidFill>
                      <a:schemeClr val="dk1">
                        <a:lumMod val="75000"/>
                        <a:lumOff val="25000"/>
                      </a:schemeClr>
                    </a:solidFill>
                    <a:latin typeface="Cambria Math" panose="02040503050406030204" pitchFamily="18" charset="0"/>
                    <a:cs typeface="Cambria Math" panose="02040503050406030204" pitchFamily="18" charset="0"/>
                  </a:rPr>
                  <a:t>B</a:t>
                </a:r>
                <a:r>
                  <a:rPr lang="zh-CN" altLang="en-US" sz="2000" smtClean="0">
                    <a:solidFill>
                      <a:schemeClr val="dk1">
                        <a:lumMod val="75000"/>
                        <a:lumOff val="25000"/>
                      </a:schemeClr>
                    </a:solidFill>
                    <a:latin typeface="Cambria Math" panose="02040503050406030204" pitchFamily="18" charset="0"/>
                    <a:cs typeface="Cambria Math" panose="02040503050406030204" pitchFamily="18" charset="0"/>
                  </a:rPr>
                  <a:t>发生的概率</a:t>
                </a:r>
                <a:endParaRPr lang="zh-CN" altLang="en-US" sz="2000" smtClean="0">
                  <a:solidFill>
                    <a:schemeClr val="dk1">
                      <a:lumMod val="75000"/>
                      <a:lumOff val="25000"/>
                    </a:schemeClr>
                  </a:solidFill>
                  <a:latin typeface="Cambria Math" panose="02040503050406030204" pitchFamily="18" charset="0"/>
                  <a:cs typeface="Cambria Math" panose="02040503050406030204" pitchFamily="18" charset="0"/>
                </a:endParaRPr>
              </a:p>
              <a:p>
                <a:pPr marL="0" lvl="1" indent="0" algn="l" fontAlgn="ctr">
                  <a:lnSpc>
                    <a:spcPct val="130000"/>
                  </a:lnSpc>
                  <a:spcBef>
                    <a:spcPts val="1000"/>
                  </a:spcBef>
                  <a:spcAft>
                    <a:spcPts val="0"/>
                  </a:spcAft>
                  <a:buSzPct val="100000"/>
                  <a:buNone/>
                </a:pPr>
                <a14:m>
                  <m:oMathPara xmlns:m="http://schemas.openxmlformats.org/officeDocument/2006/math">
                    <m:oMathParaPr>
                      <m:jc m:val="centerGroup"/>
                    </m:oMathParaPr>
                    <m:oMath xmlns:m="http://schemas.openxmlformats.org/officeDocument/2006/math">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𝐵</m:t>
                          </m:r>
                        </m:e>
                        <m:e>
                          <m:r>
                            <a:rPr lang="en-US" altLang="zh-CN" sz="2000" b="0" i="1" smtClean="0">
                              <a:latin typeface="Cambria Math" panose="02040503050406030204" pitchFamily="18" charset="0"/>
                            </a:rPr>
                            <m:t>𝐴</m:t>
                          </m:r>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𝐴𝐵</m:t>
                              </m:r>
                            </m:e>
                          </m:d>
                        </m:num>
                        <m:den>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cs typeface="Cambria Math" panose="02040503050406030204" pitchFamily="18" charset="0"/>
                                </a:rPr>
                              </m:ctrlPr>
                            </m:dPr>
                            <m:e>
                              <m:r>
                                <a:rPr lang="en-US" altLang="zh-CN" sz="2000" b="0" i="1" smtClean="0">
                                  <a:latin typeface="Cambria Math" panose="02040503050406030204" pitchFamily="18" charset="0"/>
                                  <a:cs typeface="Cambria Math" panose="02040503050406030204" pitchFamily="18" charset="0"/>
                                </a:rPr>
                                <m:t>𝐴</m:t>
                              </m:r>
                            </m:e>
                          </m:d>
                        </m:den>
                      </m:f>
                    </m:oMath>
                  </m:oMathPara>
                </a14:m>
                <a:endParaRPr lang="en-US" altLang="zh-CN" sz="2000" b="0" i="1" smtClean="0">
                  <a:latin typeface="Cambria Math" panose="02040503050406030204" pitchFamily="18" charset="0"/>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变换可得</a:t>
                </a:r>
                <a14:m>
                  <m:oMath xmlns:m="http://schemas.openxmlformats.org/officeDocument/2006/math">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ctrlPr>
                      </m:dPr>
                      <m:e>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𝐴𝐵</m:t>
                        </m:r>
                      </m:e>
                    </m:d>
                    <m:r>
                      <a:rPr lang="en-US" altLang="zh-CN" sz="2000" b="0" i="1" smtClean="0">
                        <a:latin typeface="Cambria Math" panose="02040503050406030204" pitchFamily="18" charset="0"/>
                      </a:rPr>
                      <m:t>=</m:t>
                    </m:r>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𝐵</m:t>
                        </m:r>
                      </m:e>
                      <m:e>
                        <m:r>
                          <a:rPr lang="en-US" altLang="zh-CN" sz="2000" b="0" i="1" smtClean="0">
                            <a:latin typeface="Cambria Math" panose="02040503050406030204" pitchFamily="18" charset="0"/>
                          </a:rPr>
                          <m:t>𝐴</m:t>
                        </m:r>
                      </m:e>
                    </m:d>
                    <m:r>
                      <a:rPr lang="en-US" altLang="zh-CN" sz="2000" i="1" smtClean="0">
                        <a:latin typeface="Cambria Math" panose="02040503050406030204" pitchFamily="18" charset="0"/>
                        <a:cs typeface="Cambria Math" panose="02040503050406030204" pitchFamily="18" charset="0"/>
                      </a:rPr>
                      <m:t>∙</m:t>
                    </m:r>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ctrlPr>
                      </m:dPr>
                      <m:e>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𝐴</m:t>
                        </m:r>
                      </m:e>
                    </m:d>
                    <m:r>
                      <a:rPr lang="en-US" altLang="zh-CN" sz="2000" b="0" i="1" smtClean="0">
                        <a:latin typeface="Cambria Math" panose="02040503050406030204" pitchFamily="18" charset="0"/>
                      </a:rPr>
                      <m:t>=</m:t>
                    </m:r>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𝐴</m:t>
                        </m:r>
                      </m:e>
                      <m:e>
                        <m:r>
                          <a:rPr lang="en-US" altLang="zh-CN" sz="2000" b="0" i="1" smtClean="0">
                            <a:latin typeface="Cambria Math" panose="02040503050406030204" pitchFamily="18" charset="0"/>
                          </a:rPr>
                          <m:t>𝐵</m:t>
                        </m:r>
                      </m:e>
                    </m:d>
                    <m:r>
                      <a:rPr lang="en-US" altLang="zh-CN" sz="2000" i="1" smtClean="0">
                        <a:latin typeface="Cambria Math" panose="02040503050406030204" pitchFamily="18" charset="0"/>
                        <a:cs typeface="Cambria Math" panose="02040503050406030204" pitchFamily="18" charset="0"/>
                      </a:rPr>
                      <m:t>∙</m:t>
                    </m:r>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ctrlPr>
                      </m:dPr>
                      <m:e>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𝐵</m:t>
                        </m:r>
                      </m:e>
                    </m:d>
                  </m:oMath>
                </a14:m>
                <a:endPar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endParaRPr>
              </a:p>
              <a:p>
                <a:pPr marL="342900" lvl="0" indent="-342900" algn="l" fontAlgn="ctr">
                  <a:lnSpc>
                    <a:spcPct val="130000"/>
                  </a:lnSpc>
                  <a:spcBef>
                    <a:spcPts val="1000"/>
                  </a:spcBef>
                  <a:spcAft>
                    <a:spcPts val="0"/>
                  </a:spcAft>
                  <a:buClrTx/>
                  <a:buSzTx/>
                  <a:buFont typeface="Wingdings" panose="05000000000000000000" charset="0"/>
                  <a:buChar char="Ø"/>
                </a:pPr>
                <a:r>
                  <a:rPr lang="zh-CN" altLang="en-US" sz="2000" b="1" spc="100" smtClean="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全概率公式</a:t>
                </a:r>
                <a:endParaRPr lang="zh-CN" altLang="en-US" sz="2000" b="1" spc="100" smtClean="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b="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事件</a:t>
                </a:r>
                <a:r>
                  <a:rPr lang="en-US" altLang="zh-CN" sz="2000" b="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b="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仅当</a:t>
                </a:r>
                <a:r>
                  <a:rPr lang="zh-CN" altLang="en-US" sz="2000" b="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互不相容事件</a:t>
                </a:r>
                <a:r>
                  <a:rPr lang="en-US" altLang="zh-CN" sz="2000" b="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b="0" baseline="-25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b="0" baseline="-25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b="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000" b="0" baseline="-25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b="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中任何一件出现时才可能会出现，则</a:t>
                </a:r>
                <a:endParaRPr lang="zh-CN" altLang="en-US" sz="2000" b="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0" lvl="1" indent="0" algn="l" fontAlgn="ctr">
                  <a:lnSpc>
                    <a:spcPct val="130000"/>
                  </a:lnSpc>
                  <a:spcBef>
                    <a:spcPts val="1000"/>
                  </a:spcBef>
                  <a:spcAft>
                    <a:spcPts val="0"/>
                  </a:spcAft>
                  <a:buSzPct val="10000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ctrlPr>
                        </m:dPr>
                        <m:e>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𝐵</m:t>
                          </m:r>
                        </m:e>
                      </m:d>
                      <m:r>
                        <a:rPr lang="en-US" altLang="zh-CN" sz="2000" b="0" i="1" smtClean="0">
                          <a:latin typeface="Cambria Math" panose="02040503050406030204" pitchFamily="18" charset="0"/>
                        </a:rPr>
                        <m:t>=</m:t>
                      </m:r>
                      <m:nary>
                        <m:naryPr>
                          <m:chr m:val="∑"/>
                          <m:limLoc m:val="undOvr"/>
                          <m:ctrlPr>
                            <a:rPr lang="en-US" altLang="zh-CN" sz="2000" b="0" i="1" smtClean="0">
                              <a:latin typeface="Cambria Math" panose="02040503050406030204" pitchFamily="18" charset="0"/>
                              <a:cs typeface="Cambria Math" panose="02040503050406030204" pitchFamily="18" charset="0"/>
                            </a:rPr>
                          </m:ctrlPr>
                        </m:naryPr>
                        <m:sub>
                          <m:r>
                            <a:rPr lang="en-US" altLang="zh-CN" sz="2000" b="0" i="1" smtClean="0">
                              <a:latin typeface="Cambria Math" panose="02040503050406030204" pitchFamily="18" charset="0"/>
                              <a:cs typeface="Cambria Math" panose="02040503050406030204" pitchFamily="18" charset="0"/>
                            </a:rPr>
                            <m:t>𝑖</m:t>
                          </m:r>
                          <m:r>
                            <a:rPr lang="en-US" altLang="zh-CN" sz="2000" b="0" i="1" smtClean="0">
                              <a:latin typeface="Cambria Math" panose="02040503050406030204" pitchFamily="18" charset="0"/>
                              <a:cs typeface="Cambria Math" panose="02040503050406030204" pitchFamily="18" charset="0"/>
                            </a:rPr>
                            <m:t>=</m:t>
                          </m:r>
                          <m:r>
                            <a:rPr lang="en-US" altLang="zh-CN" sz="2000" b="0" i="1" smtClean="0">
                              <a:latin typeface="Cambria Math" panose="02040503050406030204" pitchFamily="18" charset="0"/>
                              <a:cs typeface="Cambria Math" panose="02040503050406030204" pitchFamily="18" charset="0"/>
                            </a:rPr>
                            <m:t>1</m:t>
                          </m:r>
                        </m:sub>
                        <m:sup>
                          <m:r>
                            <a:rPr lang="en-US" altLang="zh-CN" sz="2000" b="0" i="1" smtClean="0">
                              <a:latin typeface="Cambria Math" panose="02040503050406030204" pitchFamily="18" charset="0"/>
                              <a:cs typeface="Cambria Math" panose="02040503050406030204" pitchFamily="18" charset="0"/>
                            </a:rPr>
                            <m:t>𝑛</m:t>
                          </m:r>
                        </m:sup>
                        <m:e>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ctrlPr>
                            </m:dPr>
                            <m:e>
                              <m:sSub>
                                <m:sSubPr>
                                  <m:ctrlP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ctrlPr>
                                </m:sSubPr>
                                <m:e>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𝐴</m:t>
                                  </m:r>
                                </m:e>
                                <m:sub>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𝑖</m:t>
                                  </m:r>
                                </m:sub>
                              </m:sSub>
                            </m:e>
                          </m:d>
                          <m:r>
                            <a:rPr lang="en-US" altLang="zh-CN" sz="2000" i="1" smtClean="0">
                              <a:latin typeface="Cambria Math" panose="02040503050406030204" pitchFamily="18" charset="0"/>
                              <a:cs typeface="Cambria Math" panose="02040503050406030204" pitchFamily="18" charset="0"/>
                            </a:rPr>
                            <m:t>∙</m:t>
                          </m:r>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𝐵</m:t>
                              </m:r>
                            </m:e>
                            <m:e>
                              <m:sSub>
                                <m:sSubPr>
                                  <m:ctrlPr>
                                    <a:rPr lang="en-US" altLang="zh-CN" sz="2000" b="0" i="1" smtClean="0">
                                      <a:latin typeface="Cambria Math" panose="02040503050406030204" pitchFamily="18" charset="0"/>
                                      <a:cs typeface="Cambria Math" panose="02040503050406030204" pitchFamily="18" charset="0"/>
                                    </a:rPr>
                                  </m:ctrlPr>
                                </m:sSubPr>
                                <m:e>
                                  <m:r>
                                    <a:rPr lang="en-US" altLang="zh-CN" sz="2000" b="0" i="1" smtClean="0">
                                      <a:latin typeface="Cambria Math" panose="02040503050406030204" pitchFamily="18" charset="0"/>
                                      <a:cs typeface="Cambria Math" panose="02040503050406030204" pitchFamily="18" charset="0"/>
                                    </a:rPr>
                                    <m:t>𝐴</m:t>
                                  </m:r>
                                </m:e>
                                <m:sub>
                                  <m:r>
                                    <a:rPr lang="en-US" altLang="zh-CN" sz="2000" b="0" i="1" smtClean="0">
                                      <a:latin typeface="Cambria Math" panose="02040503050406030204" pitchFamily="18" charset="0"/>
                                      <a:cs typeface="Cambria Math" panose="02040503050406030204" pitchFamily="18" charset="0"/>
                                    </a:rPr>
                                    <m:t>𝑖</m:t>
                                  </m:r>
                                </m:sub>
                              </m:sSub>
                            </m:e>
                          </m:d>
                        </m:e>
                      </m:nary>
                    </m:oMath>
                  </m:oMathPara>
                </a14:m>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30250" lvl="2" indent="-222250" algn="l" fontAlgn="ctr">
                  <a:lnSpc>
                    <a:spcPct val="130000"/>
                  </a:lnSpc>
                  <a:spcBef>
                    <a:spcPts val="0"/>
                  </a:spcBef>
                  <a:spcAft>
                    <a:spcPts val="0"/>
                  </a:spcAft>
                  <a:buSzPct val="100000"/>
                  <a:buFont typeface="Arial" panose="020B0604020202020204" pitchFamily="34" charset="0"/>
                  <a:buChar char="●"/>
                </a:pP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1" name="Title 6"/>
              <p:cNvSpPr txBox="1">
                <a:spLocks noRot="1" noChangeAspect="1" noMove="1" noResize="1" noEditPoints="1" noAdjustHandles="1" noChangeArrowheads="1" noChangeShapeType="1" noTextEdit="1"/>
              </p:cNvSpPr>
              <p:nvPr>
                <p:custDataLst>
                  <p:tags r:id="rId4"/>
                </p:custDataLst>
              </p:nvPr>
            </p:nvSpPr>
            <p:spPr>
              <a:xfrm>
                <a:off x="839431" y="620647"/>
                <a:ext cx="11277678" cy="5243327"/>
              </a:xfrm>
              <a:prstGeom prst="rect">
                <a:avLst/>
              </a:prstGeom>
              <a:blipFill rotWithShape="1">
                <a:blip r:embed="rId5"/>
                <a:stretch>
                  <a:fillRect l="-5" t="-5" b="7"/>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itle 6"/>
              <p:cNvSpPr txBox="1"/>
              <p:nvPr>
                <p:custDataLst>
                  <p:tags r:id="rId3"/>
                </p:custDataLst>
              </p:nvPr>
            </p:nvSpPr>
            <p:spPr>
              <a:xfrm>
                <a:off x="911225" y="762000"/>
                <a:ext cx="9434830" cy="3304540"/>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贝叶斯法则</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贝叶斯公式</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Arial" panose="020B0604020202020204" pitchFamily="34" charset="0"/>
                  <a:buChar char="•"/>
                </a:pPr>
                <a:r>
                  <a:rPr lang="zh-CN" altLang="en-US" sz="2000" b="0" smtClean="0">
                    <a:solidFill>
                      <a:schemeClr val="dk1">
                        <a:lumMod val="75000"/>
                        <a:lumOff val="25000"/>
                      </a:schemeClr>
                    </a:solidFill>
                    <a:latin typeface="Cambria Math" panose="02040503050406030204" pitchFamily="18" charset="0"/>
                    <a:cs typeface="Cambria Math" panose="02040503050406030204" pitchFamily="18" charset="0"/>
                  </a:rPr>
                  <a:t>给定互不相容事件</a:t>
                </a:r>
                <a:r>
                  <a:rPr lang="en-US" altLang="zh-CN"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en-US" altLang="zh-CN" sz="2000" baseline="-25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en-US" altLang="zh-CN" sz="2000" baseline="-25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en-US" altLang="zh-CN" sz="2000" baseline="-25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zh-CN" altLang="en-US"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en-US" altLang="zh-CN" sz="2000" baseline="-25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i</a:t>
                </a:r>
                <a:r>
                  <a:rPr lang="zh-CN" altLang="en-US"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为全集，则对事件</a:t>
                </a:r>
                <a:r>
                  <a:rPr lang="en-US" altLang="zh-CN"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2000" smtClean="0">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有</a:t>
                </a:r>
                <a14:m>
                  <m:oMath xmlns:m="http://schemas.openxmlformats.org/officeDocument/2006/math">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ctrlPr>
                      </m:dPr>
                      <m:e>
                        <m:sSub>
                          <m:sSubPr>
                            <m:ctrlP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ctrlPr>
                          </m:sSubPr>
                          <m:e>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𝐴</m:t>
                            </m:r>
                          </m:e>
                          <m:sub>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𝑖</m:t>
                            </m:r>
                          </m:sub>
                        </m:sSub>
                      </m:e>
                    </m:d>
                    <m:r>
                      <a:rPr lang="en-US" altLang="zh-CN" sz="2000" i="1" smtClean="0">
                        <a:latin typeface="Cambria Math" panose="02040503050406030204" pitchFamily="18" charset="0"/>
                        <a:cs typeface="Cambria Math" panose="02040503050406030204" pitchFamily="18" charset="0"/>
                      </a:rPr>
                      <m:t>≠</m:t>
                    </m:r>
                    <m:r>
                      <a:rPr lang="en-US" altLang="zh-CN" sz="2000" i="1" smtClean="0">
                        <a:latin typeface="Cambria Math" panose="02040503050406030204" pitchFamily="18" charset="0"/>
                        <a:cs typeface="Cambria Math" panose="02040503050406030204" pitchFamily="18" charset="0"/>
                      </a:rPr>
                      <m:t>0</m:t>
                    </m:r>
                  </m:oMath>
                </a14:m>
                <a:endPar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endParaRPr>
              </a:p>
              <a:p>
                <a:pPr lvl="1" indent="0" algn="l" fontAlgn="ctr">
                  <a:lnSpc>
                    <a:spcPct val="130000"/>
                  </a:lnSpc>
                  <a:spcBef>
                    <a:spcPts val="1000"/>
                  </a:spcBef>
                  <a:spcAft>
                    <a:spcPts val="0"/>
                  </a:spcAft>
                  <a:buSzPct val="100000"/>
                  <a:buFont typeface="Arial" panose="020B0604020202020204" pitchFamily="34" charset="0"/>
                  <a:buNone/>
                </a:pPr>
                <a:r>
                  <a:rPr lang="en-US" altLang="zh-CN" sz="2000" smtClean="0">
                    <a:solidFill>
                      <a:schemeClr val="dk1">
                        <a:lumMod val="75000"/>
                        <a:lumOff val="25000"/>
                      </a:schemeClr>
                    </a:solidFill>
                    <a:latin typeface="Cambria Math" panose="02040503050406030204" pitchFamily="18" charset="0"/>
                    <a:cs typeface="Cambria Math" panose="02040503050406030204" pitchFamily="18" charset="0"/>
                  </a:rPr>
                  <a:t>       </a:t>
                </a:r>
                <a14:m>
                  <m:oMath xmlns:m="http://schemas.openxmlformats.org/officeDocument/2006/math">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𝑖</m:t>
                            </m:r>
                          </m:sub>
                        </m:sSub>
                      </m:e>
                      <m:e>
                        <m:r>
                          <a:rPr lang="en-US" altLang="zh-CN" sz="2000" b="0" i="1" smtClean="0">
                            <a:latin typeface="Cambria Math" panose="02040503050406030204" pitchFamily="18" charset="0"/>
                          </a:rPr>
                          <m:t>𝐵</m:t>
                        </m:r>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𝐵</m:t>
                                </m:r>
                              </m:e>
                            </m:d>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𝑖</m:t>
                                </m:r>
                              </m:sub>
                            </m:sSub>
                          </m:e>
                        </m:d>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𝑖</m:t>
                                </m:r>
                              </m:sub>
                            </m:sSub>
                          </m:e>
                        </m:d>
                      </m:num>
                      <m:den>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𝐵</m:t>
                                    </m:r>
                                  </m:e>
                                </m:d>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𝑗</m:t>
                                    </m:r>
                                  </m:sub>
                                </m:sSub>
                              </m:e>
                            </m:d>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𝑗</m:t>
                                    </m:r>
                                  </m:sub>
                                </m:sSub>
                              </m:e>
                            </m:d>
                          </m:e>
                        </m:nary>
                      </m:den>
                    </m:f>
                  </m:oMath>
                </a14:m>
                <a:r>
                  <a:rPr lang="zh-CN" altLang="en-US" sz="2000" dirty="0">
                    <a:sym typeface="+mn-ea"/>
                  </a:rPr>
                  <a:t>，其中，</a:t>
                </a:r>
                <a14:m>
                  <m:oMath xmlns:m="http://schemas.openxmlformats.org/officeDocument/2006/math">
                    <m:nary>
                      <m:naryPr>
                        <m:chr m:val="⋃"/>
                        <m:ctrlPr>
                          <a:rPr lang="zh-CN" altLang="en-US" sz="200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m:rPr>
                            <m:sty m:val="p"/>
                          </m:rPr>
                          <a:rPr lang="el-GR" altLang="zh-CN" sz="2000" b="0" i="1" smtClean="0">
                            <a:latin typeface="Cambria Math" panose="02040503050406030204" pitchFamily="18" charset="0"/>
                            <a:ea typeface="Cambria Math" panose="02040503050406030204" pitchFamily="18" charset="0"/>
                          </a:rPr>
                          <m:t>Ω</m:t>
                        </m:r>
                      </m:e>
                    </m:nary>
                  </m:oMath>
                </a14:m>
                <a:r>
                  <a:rPr lang="zh-CN" altLang="en-US" sz="2000" dirty="0">
                    <a:sym typeface="+mn-ea"/>
                  </a:rPr>
                  <a:t>，</a:t>
                </a:r>
                <a14:m>
                  <m:oMath xmlns:m="http://schemas.openxmlformats.org/officeDocument/2006/math">
                    <m:sSub>
                      <m:sSubPr>
                        <m:ctrlPr>
                          <a:rPr lang="en-US" altLang="zh-CN" sz="2000" i="1" dirty="0" smtClean="0">
                            <a:latin typeface="Cambria Math" panose="02040503050406030204" pitchFamily="18" charset="0"/>
                          </a:rPr>
                        </m:ctrlPr>
                      </m:sSubPr>
                      <m:e>
                        <m:r>
                          <a:rPr lang="en-US" altLang="zh-CN" sz="2000" b="0" i="1" dirty="0" smtClean="0">
                            <a:latin typeface="Cambria Math" panose="02040503050406030204" pitchFamily="18" charset="0"/>
                          </a:rPr>
                          <m:t>𝐴</m:t>
                        </m:r>
                      </m:e>
                      <m:sub>
                        <m:r>
                          <a:rPr lang="en-US" altLang="zh-CN" sz="2000" b="0" i="1" dirty="0" smtClean="0">
                            <a:latin typeface="Cambria Math" panose="02040503050406030204" pitchFamily="18" charset="0"/>
                          </a:rPr>
                          <m:t>𝑖</m:t>
                        </m:r>
                      </m:sub>
                    </m:sSub>
                    <m:sSub>
                      <m:sSubPr>
                        <m:ctrlPr>
                          <a:rPr lang="en-US" altLang="zh-CN" sz="2000" i="1" dirty="0" smtClean="0">
                            <a:latin typeface="Cambria Math" panose="02040503050406030204" pitchFamily="18" charset="0"/>
                          </a:rPr>
                        </m:ctrlPr>
                      </m:sSubPr>
                      <m:e>
                        <m:r>
                          <a:rPr lang="en-US" altLang="zh-CN" sz="2000" b="0" i="1" dirty="0" smtClean="0">
                            <a:latin typeface="Cambria Math" panose="02040503050406030204" pitchFamily="18" charset="0"/>
                          </a:rPr>
                          <m:t>𝐴</m:t>
                        </m:r>
                      </m:e>
                      <m:sub>
                        <m:r>
                          <a:rPr lang="en-US" altLang="zh-CN" sz="2000" b="0" i="1" dirty="0" smtClean="0">
                            <a:latin typeface="Cambria Math" panose="02040503050406030204" pitchFamily="18" charset="0"/>
                          </a:rPr>
                          <m:t>𝑗</m:t>
                        </m:r>
                      </m:sub>
                    </m:sSub>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m:t>
                    </m:r>
                  </m:oMath>
                </a14:m>
                <a:r>
                  <a:rPr lang="zh-CN" altLang="en-US" sz="2000" dirty="0">
                    <a:sym typeface="+mn-ea"/>
                  </a:rPr>
                  <a:t>。</a:t>
                </a:r>
                <a:endParaRPr lang="zh-CN" altLang="en-US" sz="2000" dirty="0">
                  <a:sym typeface="+mn-ea"/>
                </a:endParaRPr>
              </a:p>
              <a:p>
                <a:pPr marL="577850" lvl="1" indent="0" algn="l" fontAlgn="ctr">
                  <a:lnSpc>
                    <a:spcPct val="130000"/>
                  </a:lnSpc>
                  <a:spcBef>
                    <a:spcPts val="1000"/>
                  </a:spcBef>
                  <a:spcAft>
                    <a:spcPts val="0"/>
                  </a:spcAft>
                  <a:buSzPct val="100000"/>
                  <a:buFont typeface="Arial" panose="020B0604020202020204" pitchFamily="34" charset="0"/>
                  <a:buNone/>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30250" lvl="2" indent="-222250" algn="l" fontAlgn="ctr">
                  <a:lnSpc>
                    <a:spcPct val="130000"/>
                  </a:lnSpc>
                  <a:spcBef>
                    <a:spcPts val="0"/>
                  </a:spcBef>
                  <a:spcAft>
                    <a:spcPts val="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1" name="Title 6"/>
              <p:cNvSpPr txBox="1">
                <a:spLocks noRot="1" noChangeAspect="1" noMove="1" noResize="1" noEditPoints="1" noAdjustHandles="1" noChangeArrowheads="1" noChangeShapeType="1" noTextEdit="1"/>
              </p:cNvSpPr>
              <p:nvPr>
                <p:custDataLst>
                  <p:tags r:id="rId4"/>
                </p:custDataLst>
              </p:nvPr>
            </p:nvSpPr>
            <p:spPr>
              <a:xfrm>
                <a:off x="911225" y="762000"/>
                <a:ext cx="9434830" cy="3304540"/>
              </a:xfrm>
              <a:prstGeom prst="rect">
                <a:avLst/>
              </a:prstGeom>
              <a:blipFill rotWithShape="1">
                <a:blip r:embed="rId5"/>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itle 6"/>
              <p:cNvSpPr txBox="1"/>
              <p:nvPr>
                <p:custDataLst>
                  <p:tags r:id="rId3"/>
                </p:custDataLst>
              </p:nvPr>
            </p:nvSpPr>
            <p:spPr>
              <a:xfrm>
                <a:off x="839431" y="1124837"/>
                <a:ext cx="11277678" cy="5243327"/>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关于定义中的名词解释之一</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贝叶斯法则</a:t>
                </a:r>
                <a14:m>
                  <m:oMath xmlns:m="http://schemas.openxmlformats.org/officeDocument/2006/math">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m:t>
                    </m:r>
                    <m:r>
                      <a:rPr lang="en-US" altLang="zh-CN" sz="2000" b="0" i="1" smtClean="0">
                        <a:solidFill>
                          <a:schemeClr val="dk1">
                            <a:lumMod val="75000"/>
                            <a:lumOff val="25000"/>
                          </a:schemeClr>
                        </a:solidFill>
                        <a:latin typeface="Cambria Math" panose="02040503050406030204" pitchFamily="18" charset="0"/>
                        <a:cs typeface="Cambria Math" panose="02040503050406030204" pitchFamily="18" charset="0"/>
                      </a:rPr>
                      <m:t>𝑃</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𝑖</m:t>
                            </m:r>
                          </m:sub>
                        </m:sSub>
                      </m:e>
                      <m:e>
                        <m:r>
                          <a:rPr lang="en-US" altLang="zh-CN" sz="2000" b="0" i="1" smtClean="0">
                            <a:latin typeface="Cambria Math" panose="02040503050406030204" pitchFamily="18" charset="0"/>
                          </a:rPr>
                          <m:t>𝐵</m:t>
                        </m:r>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𝐵</m:t>
                                </m:r>
                              </m:e>
                            </m:d>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𝑖</m:t>
                                </m:r>
                              </m:sub>
                            </m:sSub>
                          </m:e>
                        </m:d>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𝑖</m:t>
                                </m:r>
                              </m:sub>
                            </m:sSub>
                          </m:e>
                        </m:d>
                      </m:num>
                      <m:den>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𝐵</m:t>
                                    </m:r>
                                  </m:e>
                                </m:d>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𝑗</m:t>
                                    </m:r>
                                  </m:sub>
                                </m:sSub>
                              </m:e>
                            </m:d>
                            <m:r>
                              <a:rPr lang="en-US" altLang="zh-CN" sz="2000" b="0" i="1" smtClean="0">
                                <a:latin typeface="Cambria Math" panose="02040503050406030204" pitchFamily="18" charset="0"/>
                              </a:rPr>
                              <m:t>𝑃</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𝑗</m:t>
                                    </m:r>
                                  </m:sub>
                                </m:sSub>
                              </m:e>
                            </m:d>
                          </m:e>
                        </m:nary>
                      </m:den>
                    </m:f>
                  </m:oMath>
                </a14:m>
                <a:r>
                  <a:rPr lang="zh-CN" altLang="en-US" sz="2000" dirty="0">
                    <a:sym typeface="+mn-ea"/>
                  </a:rPr>
                  <a:t>，其中，</a:t>
                </a:r>
                <a14:m>
                  <m:oMath xmlns:m="http://schemas.openxmlformats.org/officeDocument/2006/math">
                    <m:nary>
                      <m:naryPr>
                        <m:chr m:val="⋃"/>
                        <m:ctrlPr>
                          <a:rPr lang="zh-CN" altLang="en-US" sz="200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𝑗</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m:rPr>
                            <m:sty m:val="p"/>
                          </m:rPr>
                          <a:rPr lang="el-GR" altLang="zh-CN" sz="2000" b="0" i="1" smtClean="0">
                            <a:latin typeface="Cambria Math" panose="02040503050406030204" pitchFamily="18" charset="0"/>
                            <a:ea typeface="Cambria Math" panose="02040503050406030204" pitchFamily="18" charset="0"/>
                          </a:rPr>
                          <m:t>Ω</m:t>
                        </m:r>
                      </m:e>
                    </m:nary>
                  </m:oMath>
                </a14:m>
                <a:r>
                  <a:rPr lang="zh-CN" altLang="en-US" sz="2000" dirty="0">
                    <a:sym typeface="+mn-ea"/>
                  </a:rPr>
                  <a:t>，</a:t>
                </a:r>
                <a14:m>
                  <m:oMath xmlns:m="http://schemas.openxmlformats.org/officeDocument/2006/math">
                    <m:sSub>
                      <m:sSubPr>
                        <m:ctrlPr>
                          <a:rPr lang="en-US" altLang="zh-CN" sz="2000" i="1" dirty="0" smtClean="0">
                            <a:latin typeface="Cambria Math" panose="02040503050406030204" pitchFamily="18" charset="0"/>
                          </a:rPr>
                        </m:ctrlPr>
                      </m:sSubPr>
                      <m:e>
                        <m:r>
                          <a:rPr lang="en-US" altLang="zh-CN" sz="2000" b="0" i="1" dirty="0" smtClean="0">
                            <a:latin typeface="Cambria Math" panose="02040503050406030204" pitchFamily="18" charset="0"/>
                          </a:rPr>
                          <m:t>𝐴</m:t>
                        </m:r>
                      </m:e>
                      <m:sub>
                        <m:r>
                          <a:rPr lang="en-US" altLang="zh-CN" sz="2000" b="0" i="1" dirty="0" smtClean="0">
                            <a:latin typeface="Cambria Math" panose="02040503050406030204" pitchFamily="18" charset="0"/>
                          </a:rPr>
                          <m:t>𝑖</m:t>
                        </m:r>
                      </m:sub>
                    </m:sSub>
                    <m:sSub>
                      <m:sSubPr>
                        <m:ctrlPr>
                          <a:rPr lang="en-US" altLang="zh-CN" sz="2000" i="1" dirty="0" smtClean="0">
                            <a:latin typeface="Cambria Math" panose="02040503050406030204" pitchFamily="18" charset="0"/>
                          </a:rPr>
                        </m:ctrlPr>
                      </m:sSubPr>
                      <m:e>
                        <m:r>
                          <a:rPr lang="en-US" altLang="zh-CN" sz="2000" b="0" i="1" dirty="0" smtClean="0">
                            <a:latin typeface="Cambria Math" panose="02040503050406030204" pitchFamily="18" charset="0"/>
                          </a:rPr>
                          <m:t>𝐴</m:t>
                        </m:r>
                      </m:e>
                      <m:sub>
                        <m:r>
                          <a:rPr lang="en-US" altLang="zh-CN" sz="2000" b="0" i="1" dirty="0" smtClean="0">
                            <a:latin typeface="Cambria Math" panose="02040503050406030204" pitchFamily="18" charset="0"/>
                          </a:rPr>
                          <m:t>𝑗</m:t>
                        </m:r>
                      </m:sub>
                    </m:sSub>
                    <m:r>
                      <a:rPr lang="en-US" altLang="zh-CN" sz="2000" b="0" i="1" dirty="0" smtClean="0">
                        <a:latin typeface="Cambria Math" panose="02040503050406030204" pitchFamily="18" charset="0"/>
                      </a:rPr>
                      <m:t>=</m:t>
                    </m:r>
                    <m:r>
                      <a:rPr lang="en-US" altLang="zh-CN" sz="2000" b="0" i="1" dirty="0" smtClean="0">
                        <a:latin typeface="Cambria Math" panose="02040503050406030204" pitchFamily="18" charset="0"/>
                        <a:ea typeface="Cambria Math" panose="02040503050406030204" pitchFamily="18" charset="0"/>
                      </a:rPr>
                      <m:t>∅</m:t>
                    </m:r>
                  </m:oMath>
                </a14:m>
                <a:r>
                  <a:rPr lang="zh-CN" altLang="en-US" sz="2000" dirty="0">
                    <a:sym typeface="+mn-ea"/>
                  </a:rPr>
                  <a:t>。</a:t>
                </a:r>
                <a:endParaRPr lang="zh-CN" altLang="en-US" sz="2000" dirty="0">
                  <a:sym typeface="+mn-ea"/>
                </a:endParaRPr>
              </a:p>
              <a:p>
                <a:pPr marL="800100" lvl="1" indent="-342900" algn="l" fontAlgn="ctr">
                  <a:lnSpc>
                    <a:spcPct val="130000"/>
                  </a:lnSpc>
                  <a:spcBef>
                    <a:spcPts val="1000"/>
                  </a:spcBef>
                  <a:spcAft>
                    <a:spcPts val="0"/>
                  </a:spcAft>
                  <a:buSzPct val="100000"/>
                  <a:buFont typeface="Wingdings" panose="05000000000000000000" charset="0"/>
                  <a:buChar char="l"/>
                </a:pPr>
                <a:r>
                  <a:rPr lang="zh-CN" altLang="en-US" sz="2000" dirty="0">
                    <a:sym typeface="+mn-ea"/>
                  </a:rPr>
                  <a:t>在二手车交易中</a:t>
                </a:r>
                <a:endParaRPr lang="zh-CN" altLang="en-US" sz="2000" dirty="0">
                  <a:sym typeface="+mn-ea"/>
                </a:endParaRPr>
              </a:p>
              <a:p>
                <a:pPr marL="730250" lvl="2" indent="-222250" algn="l" fontAlgn="ctr">
                  <a:lnSpc>
                    <a:spcPct val="130000"/>
                  </a:lnSpc>
                  <a:spcBef>
                    <a:spcPts val="1000"/>
                  </a:spcBef>
                  <a:spcAft>
                    <a:spcPts val="0"/>
                  </a:spcAft>
                  <a:buSzPct val="100000"/>
                  <a:buFont typeface="Arial" panose="020B0604020202020204" pitchFamily="34" charset="0"/>
                  <a:buChar char="●"/>
                </a:pPr>
                <a:r>
                  <a:rPr lang="zh-CN" altLang="en-US" sz="2000" dirty="0">
                    <a:solidFill>
                      <a:schemeClr val="tx1"/>
                    </a:solidFill>
                    <a:sym typeface="+mn-ea"/>
                  </a:rPr>
                  <a:t>当买方在卖方卖的情况下需要做出</a:t>
                </a:r>
                <a:r>
                  <a:rPr lang="en-US" altLang="zh-CN" sz="2000" dirty="0">
                    <a:solidFill>
                      <a:schemeClr val="tx1"/>
                    </a:solidFill>
                    <a:sym typeface="+mn-ea"/>
                  </a:rPr>
                  <a:t>“</a:t>
                </a:r>
                <a:r>
                  <a:rPr lang="zh-CN" altLang="en-US" sz="2000" dirty="0">
                    <a:solidFill>
                      <a:schemeClr val="tx1"/>
                    </a:solidFill>
                    <a:sym typeface="+mn-ea"/>
                  </a:rPr>
                  <a:t>判断</a:t>
                </a:r>
                <a:r>
                  <a:rPr lang="en-US" altLang="zh-CN" sz="2000" dirty="0">
                    <a:solidFill>
                      <a:schemeClr val="tx1"/>
                    </a:solidFill>
                    <a:sym typeface="+mn-ea"/>
                  </a:rPr>
                  <a:t>”</a:t>
                </a:r>
                <a:endParaRPr lang="en-US" altLang="zh-CN" sz="2000" dirty="0">
                  <a:solidFill>
                    <a:schemeClr val="tx1"/>
                  </a:solidFill>
                  <a:sym typeface="+mn-ea"/>
                </a:endParaRPr>
              </a:p>
              <a:p>
                <a:pPr marL="1308100" lvl="3" indent="-342900" algn="l" fontAlgn="ctr">
                  <a:lnSpc>
                    <a:spcPct val="130000"/>
                  </a:lnSpc>
                  <a:spcBef>
                    <a:spcPts val="1000"/>
                  </a:spcBef>
                  <a:spcAft>
                    <a:spcPts val="0"/>
                  </a:spcAft>
                  <a:buSzPct val="100000"/>
                  <a:buFont typeface="Arial" panose="020B0604020202020204" pitchFamily="34" charset="0"/>
                  <a:buChar char="•"/>
                </a:pPr>
                <a:r>
                  <a:rPr lang="en-US" altLang="zh-CN" sz="2000" dirty="0">
                    <a:solidFill>
                      <a:schemeClr val="tx1"/>
                    </a:solidFill>
                    <a:sym typeface="+mn-ea"/>
                  </a:rPr>
                  <a:t>——</a:t>
                </a:r>
                <a:r>
                  <a:rPr lang="zh-CN" altLang="en-US" sz="2000" dirty="0">
                    <a:solidFill>
                      <a:schemeClr val="tx1"/>
                    </a:solidFill>
                    <a:sym typeface="+mn-ea"/>
                  </a:rPr>
                  <a:t>车况是好还是差，概率各多少？</a:t>
                </a:r>
                <a14:m>
                  <m:oMath xmlns:m="http://schemas.openxmlformats.org/officeDocument/2006/math">
                    <m:r>
                      <a:rPr lang="en-US" altLang="zh-CN" sz="2000" b="0" i="1" smtClean="0">
                        <a:solidFill>
                          <a:schemeClr val="tx1"/>
                        </a:solidFill>
                        <a:latin typeface="Cambria Math" panose="02040503050406030204" pitchFamily="18" charset="0"/>
                        <a:cs typeface="Cambria Math" panose="02040503050406030204" pitchFamily="18" charset="0"/>
                      </a:rPr>
                      <m:t> </m:t>
                    </m:r>
                    <m:r>
                      <a:rPr lang="en-US" altLang="zh-CN" sz="2000" b="0" i="1" smtClean="0">
                        <a:solidFill>
                          <a:schemeClr val="tx1"/>
                        </a:solidFill>
                        <a:latin typeface="Cambria Math" panose="02040503050406030204" pitchFamily="18" charset="0"/>
                        <a:cs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𝑔</m:t>
                            </m:r>
                          </m:e>
                        </m:d>
                        <m:r>
                          <a:rPr lang="en-US" altLang="zh-CN" sz="2000" b="0" i="1" smtClean="0">
                            <a:latin typeface="Cambria Math" panose="02040503050406030204" pitchFamily="18" charset="0"/>
                          </a:rPr>
                          <m:t>𝑠</m:t>
                        </m:r>
                      </m:e>
                    </m:d>
                  </m:oMath>
                </a14:m>
                <a:r>
                  <a:rPr lang="zh-CN" altLang="en-US" sz="2000" smtClean="0">
                    <a:latin typeface="Cambria Math" panose="02040503050406030204" pitchFamily="18" charset="0"/>
                  </a:rPr>
                  <a:t>、</a:t>
                </a:r>
                <a14:m>
                  <m:oMath xmlns:m="http://schemas.openxmlformats.org/officeDocument/2006/math">
                    <m:r>
                      <a:rPr lang="en-US" altLang="zh-CN" sz="2000" b="0" i="1" smtClean="0">
                        <a:solidFill>
                          <a:schemeClr val="tx1"/>
                        </a:solidFill>
                        <a:latin typeface="Cambria Math" panose="02040503050406030204" pitchFamily="18" charset="0"/>
                        <a:cs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𝑏</m:t>
                            </m:r>
                          </m:e>
                        </m:d>
                        <m:r>
                          <a:rPr lang="en-US" altLang="zh-CN" sz="2000" b="0" i="1" smtClean="0">
                            <a:latin typeface="Cambria Math" panose="02040503050406030204" pitchFamily="18" charset="0"/>
                          </a:rPr>
                          <m:t>𝑠</m:t>
                        </m:r>
                      </m:e>
                    </m:d>
                  </m:oMath>
                </a14:m>
                <a:endParaRPr lang="en-US" altLang="zh-CN" sz="2000" b="0" i="1" smtClean="0">
                  <a:latin typeface="Cambria Math" panose="02040503050406030204" pitchFamily="18" charset="0"/>
                </a:endParaRPr>
              </a:p>
              <a:p>
                <a:pPr marL="1308100" lvl="3" indent="-342900" algn="l" fontAlgn="ctr">
                  <a:lnSpc>
                    <a:spcPct val="130000"/>
                  </a:lnSpc>
                  <a:spcBef>
                    <a:spcPts val="1000"/>
                  </a:spcBef>
                  <a:spcAft>
                    <a:spcPts val="0"/>
                  </a:spcAft>
                  <a:buSzPct val="100000"/>
                  <a:buFont typeface="Arial" panose="020B0604020202020204" pitchFamily="34" charset="0"/>
                  <a:buChar char="•"/>
                </a:pPr>
                <a:r>
                  <a:rPr lang="zh-CN" altLang="en-US" sz="2000" dirty="0">
                    <a:solidFill>
                      <a:schemeClr val="tx1"/>
                    </a:solidFill>
                    <a:sym typeface="+mn-ea"/>
                  </a:rPr>
                  <a:t>一般有</a:t>
                </a:r>
                <a14:m>
                  <m:oMath xmlns:m="http://schemas.openxmlformats.org/officeDocument/2006/math">
                    <m:r>
                      <a:rPr lang="en-US" altLang="zh-CN" sz="2000" b="0" i="1" smtClean="0">
                        <a:solidFill>
                          <a:schemeClr val="tx1"/>
                        </a:solidFill>
                        <a:latin typeface="Cambria Math" panose="02040503050406030204" pitchFamily="18" charset="0"/>
                        <a:cs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𝑔</m:t>
                            </m:r>
                          </m:e>
                        </m:d>
                        <m:r>
                          <a:rPr lang="en-US" altLang="zh-CN" sz="2000" b="0" i="1" smtClean="0">
                            <a:latin typeface="Cambria Math" panose="02040503050406030204" pitchFamily="18" charset="0"/>
                          </a:rPr>
                          <m:t>𝑠</m:t>
                        </m:r>
                      </m:e>
                    </m:d>
                  </m:oMath>
                </a14:m>
                <a:r>
                  <a:rPr lang="en-US" altLang="zh-CN" sz="2000" smtClean="0">
                    <a:latin typeface="Cambria Math" panose="02040503050406030204" pitchFamily="18" charset="0"/>
                    <a:sym typeface="+mn-ea"/>
                  </a:rPr>
                  <a:t>+</a:t>
                </a:r>
                <a14:m>
                  <m:oMath xmlns:m="http://schemas.openxmlformats.org/officeDocument/2006/math">
                    <m:r>
                      <a:rPr lang="en-US" altLang="zh-CN" sz="2000" b="0" i="1" smtClean="0">
                        <a:solidFill>
                          <a:schemeClr val="tx1"/>
                        </a:solidFill>
                        <a:latin typeface="Cambria Math" panose="02040503050406030204" pitchFamily="18" charset="0"/>
                        <a:cs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𝑏</m:t>
                            </m:r>
                          </m:e>
                        </m:d>
                        <m:r>
                          <a:rPr lang="en-US" altLang="zh-CN" sz="2000" b="0" i="1" smtClean="0">
                            <a:latin typeface="Cambria Math" panose="02040503050406030204" pitchFamily="18" charset="0"/>
                          </a:rPr>
                          <m:t>𝑠</m:t>
                        </m:r>
                      </m:e>
                    </m:d>
                  </m:oMath>
                </a14:m>
                <a:r>
                  <a:rPr lang="en-US" altLang="zh-CN" sz="2000" dirty="0">
                    <a:solidFill>
                      <a:schemeClr val="tx1"/>
                    </a:solidFill>
                    <a:sym typeface="+mn-ea"/>
                  </a:rPr>
                  <a:t>=1</a:t>
                </a:r>
                <a:endParaRPr lang="en-US" altLang="zh-CN" sz="2000" dirty="0">
                  <a:solidFill>
                    <a:schemeClr val="tx1"/>
                  </a:solidFill>
                  <a:sym typeface="+mn-ea"/>
                </a:endParaRPr>
              </a:p>
              <a:p>
                <a:pPr marL="730250" lvl="2" indent="-222250" algn="l" fontAlgn="ctr">
                  <a:lnSpc>
                    <a:spcPct val="130000"/>
                  </a:lnSpc>
                  <a:spcBef>
                    <a:spcPts val="1000"/>
                  </a:spcBef>
                  <a:spcAft>
                    <a:spcPts val="0"/>
                  </a:spcAft>
                  <a:buSzPct val="100000"/>
                  <a:buFont typeface="Arial" panose="020B0604020202020204" pitchFamily="34" charset="0"/>
                  <a:buChar char="●"/>
                </a:pPr>
                <a:r>
                  <a:rPr lang="zh-CN" altLang="en-US" sz="2000" smtClean="0">
                    <a:latin typeface="Cambria Math" panose="02040503050406030204" pitchFamily="18" charset="0"/>
                  </a:rPr>
                  <a:t>用</a:t>
                </a:r>
                <a14:m>
                  <m:oMath xmlns:m="http://schemas.openxmlformats.org/officeDocument/2006/math">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𝑔</m:t>
                        </m:r>
                      </m:e>
                    </m:d>
                  </m:oMath>
                </a14:m>
                <a:r>
                  <a:rPr lang="zh-CN" altLang="en-US" sz="2000" smtClean="0">
                    <a:latin typeface="Cambria Math" panose="02040503050406030204" pitchFamily="18" charset="0"/>
                  </a:rPr>
                  <a:t>和</a:t>
                </a:r>
                <a14:m>
                  <m:oMath xmlns:m="http://schemas.openxmlformats.org/officeDocument/2006/math">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𝑏</m:t>
                        </m:r>
                      </m:e>
                    </m:d>
                  </m:oMath>
                </a14:m>
                <a:r>
                  <a:rPr lang="zh-CN" altLang="en-US" sz="2000" smtClean="0">
                    <a:latin typeface="Cambria Math" panose="02040503050406030204" pitchFamily="18" charset="0"/>
                  </a:rPr>
                  <a:t>来表示卖方使用车子情况好、差的概率，通常可以通过经验调查、实证研究得到。</a:t>
                </a:r>
                <a:endParaRPr lang="zh-CN" altLang="en-US" sz="2000" smtClean="0">
                  <a:latin typeface="Cambria Math" panose="02040503050406030204" pitchFamily="18" charset="0"/>
                </a:endParaRPr>
              </a:p>
              <a:p>
                <a:pPr marL="730250" lvl="2" indent="-222250" algn="l" fontAlgn="ctr">
                  <a:lnSpc>
                    <a:spcPct val="130000"/>
                  </a:lnSpc>
                  <a:spcBef>
                    <a:spcPts val="1000"/>
                  </a:spcBef>
                  <a:spcAft>
                    <a:spcPts val="0"/>
                  </a:spcAft>
                  <a:buSzPct val="100000"/>
                  <a:buFont typeface="Arial" panose="020B0604020202020204" pitchFamily="34" charset="0"/>
                  <a:buChar char="●"/>
                </a:pPr>
                <a:r>
                  <a:rPr lang="zh-CN" altLang="en-US" sz="2000" smtClean="0">
                    <a:latin typeface="Cambria Math" panose="02040503050406030204" pitchFamily="18" charset="0"/>
                  </a:rPr>
                  <a:t>用</a:t>
                </a:r>
                <a14:m>
                  <m:oMath xmlns:m="http://schemas.openxmlformats.org/officeDocument/2006/math">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𝑠</m:t>
                            </m:r>
                          </m:e>
                        </m:d>
                        <m:r>
                          <a:rPr lang="en-US" altLang="zh-CN" sz="2000" b="0" i="1" smtClean="0">
                            <a:latin typeface="Cambria Math" panose="02040503050406030204" pitchFamily="18" charset="0"/>
                          </a:rPr>
                          <m:t>𝑔</m:t>
                        </m:r>
                      </m:e>
                    </m:d>
                  </m:oMath>
                </a14:m>
                <a:r>
                  <a:rPr lang="zh-CN" altLang="en-US" sz="2000" smtClean="0">
                    <a:latin typeface="Cambria Math" panose="02040503050406030204" pitchFamily="18" charset="0"/>
                  </a:rPr>
                  <a:t>和</a:t>
                </a:r>
                <a14:m>
                  <m:oMath xmlns:m="http://schemas.openxmlformats.org/officeDocument/2006/math">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𝑠</m:t>
                            </m:r>
                          </m:e>
                        </m:d>
                        <m:r>
                          <a:rPr lang="en-US" altLang="zh-CN" sz="2000" b="0" i="1" smtClean="0">
                            <a:latin typeface="Cambria Math" panose="02040503050406030204" pitchFamily="18" charset="0"/>
                          </a:rPr>
                          <m:t>𝑏</m:t>
                        </m:r>
                      </m:e>
                    </m:d>
                  </m:oMath>
                </a14:m>
                <a:r>
                  <a:rPr lang="zh-CN" altLang="en-US" sz="2000" smtClean="0">
                    <a:latin typeface="Cambria Math" panose="02040503050406030204" pitchFamily="18" charset="0"/>
                  </a:rPr>
                  <a:t>表示卖方车况好、差时选择卖的概率。</a:t>
                </a:r>
                <a:endParaRPr lang="zh-CN" altLang="en-US" sz="2000" smtClean="0">
                  <a:latin typeface="Cambria Math" panose="02040503050406030204" pitchFamily="18" charset="0"/>
                </a:endParaRPr>
              </a:p>
              <a:p>
                <a:pPr marL="730250" lvl="2" indent="-222250" algn="l" fontAlgn="ctr">
                  <a:lnSpc>
                    <a:spcPct val="130000"/>
                  </a:lnSpc>
                  <a:spcBef>
                    <a:spcPts val="1000"/>
                  </a:spcBef>
                  <a:spcAft>
                    <a:spcPts val="0"/>
                  </a:spcAft>
                  <a:buSzPct val="100000"/>
                  <a:buFont typeface="Arial" panose="020B0604020202020204" pitchFamily="34" charset="0"/>
                  <a:buChar char="●"/>
                </a:pPr>
                <a:r>
                  <a:rPr lang="zh-CN" altLang="en-US" sz="2000" smtClean="0">
                    <a:latin typeface="Cambria Math" panose="02040503050406030204" pitchFamily="18" charset="0"/>
                  </a:rPr>
                  <a:t>根据贝叶斯法则有：</a:t>
                </a:r>
                <a14:m>
                  <m:oMath xmlns:m="http://schemas.openxmlformats.org/officeDocument/2006/math">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𝑔</m:t>
                            </m:r>
                          </m:e>
                        </m:d>
                        <m:r>
                          <a:rPr lang="en-US" altLang="zh-CN" sz="2000" b="0" i="1" smtClean="0">
                            <a:latin typeface="Cambria Math" panose="02040503050406030204" pitchFamily="18" charset="0"/>
                          </a:rPr>
                          <m:t>𝑠</m:t>
                        </m:r>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𝑔</m:t>
                            </m:r>
                          </m:e>
                        </m:d>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𝑠</m:t>
                                </m:r>
                              </m:e>
                            </m:d>
                            <m:r>
                              <a:rPr lang="en-US" altLang="zh-CN" sz="2000" b="0" i="1" smtClean="0">
                                <a:latin typeface="Cambria Math" panose="02040503050406030204" pitchFamily="18" charset="0"/>
                              </a:rPr>
                              <m:t>𝑔</m:t>
                            </m:r>
                          </m:e>
                        </m:d>
                      </m:num>
                      <m:den>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𝑠</m:t>
                                </m:r>
                              </m:e>
                            </m:d>
                            <m:r>
                              <a:rPr lang="en-US" altLang="zh-CN" sz="2000" i="1">
                                <a:latin typeface="Cambria Math" panose="02040503050406030204" pitchFamily="18" charset="0"/>
                              </a:rPr>
                              <m:t>𝑔</m:t>
                            </m:r>
                          </m:e>
                        </m:d>
                        <m:r>
                          <a:rPr lang="en-US" altLang="zh-CN" sz="2000" b="0" i="1" smtClean="0">
                            <a:latin typeface="Cambria Math" panose="02040503050406030204" pitchFamily="18" charset="0"/>
                          </a:rPr>
                          <m:t>+</m:t>
                        </m:r>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r>
                              <a:rPr lang="en-US" altLang="zh-CN" sz="2000" b="0" i="1" smtClean="0">
                                <a:latin typeface="Cambria Math" panose="02040503050406030204" pitchFamily="18" charset="0"/>
                              </a:rPr>
                              <m:t>𝑏</m:t>
                            </m:r>
                          </m:e>
                        </m:d>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𝑠</m:t>
                                </m:r>
                              </m:e>
                            </m:d>
                            <m:r>
                              <a:rPr lang="en-US" altLang="zh-CN" sz="2000" b="0" i="1" smtClean="0">
                                <a:latin typeface="Cambria Math" panose="02040503050406030204" pitchFamily="18" charset="0"/>
                              </a:rPr>
                              <m:t>𝑏</m:t>
                            </m:r>
                          </m:e>
                        </m:d>
                      </m:den>
                    </m:f>
                  </m:oMath>
                </a14:m>
                <a:r>
                  <a:rPr lang="zh-CN" altLang="en-US" sz="2000" smtClean="0">
                    <a:latin typeface="Cambria Math" panose="02040503050406030204" pitchFamily="18" charset="0"/>
                  </a:rPr>
                  <a:t>（买方需要的</a:t>
                </a:r>
                <a:r>
                  <a:rPr lang="en-US" altLang="zh-CN" sz="2000" smtClean="0">
                    <a:latin typeface="Cambria Math" panose="02040503050406030204" pitchFamily="18" charset="0"/>
                  </a:rPr>
                  <a:t>“</a:t>
                </a:r>
                <a:r>
                  <a:rPr lang="zh-CN" altLang="en-US" sz="2000" smtClean="0">
                    <a:latin typeface="Cambria Math" panose="02040503050406030204" pitchFamily="18" charset="0"/>
                  </a:rPr>
                  <a:t>判断</a:t>
                </a:r>
                <a:r>
                  <a:rPr lang="en-US" altLang="zh-CN" sz="2000" smtClean="0">
                    <a:latin typeface="Cambria Math" panose="02040503050406030204" pitchFamily="18" charset="0"/>
                  </a:rPr>
                  <a:t>”</a:t>
                </a:r>
                <a:r>
                  <a:rPr lang="zh-CN" altLang="en-US" sz="2000" smtClean="0">
                    <a:latin typeface="Cambria Math" panose="02040503050406030204" pitchFamily="18" charset="0"/>
                  </a:rPr>
                  <a:t>）</a:t>
                </a:r>
                <a:endParaRPr lang="zh-CN" altLang="en-US" sz="2000" smtClean="0">
                  <a:latin typeface="Cambria Math" panose="02040503050406030204" pitchFamily="18" charset="0"/>
                </a:endParaRPr>
              </a:p>
              <a:p>
                <a:pPr marL="730250" lvl="2" indent="-222250" algn="l" fontAlgn="ctr">
                  <a:lnSpc>
                    <a:spcPct val="130000"/>
                  </a:lnSpc>
                  <a:spcBef>
                    <a:spcPts val="1000"/>
                  </a:spcBef>
                  <a:spcAft>
                    <a:spcPts val="0"/>
                  </a:spcAft>
                  <a:buSzPct val="100000"/>
                  <a:buFont typeface="Arial" panose="020B0604020202020204" pitchFamily="34" charset="0"/>
                  <a:buChar char="●"/>
                </a:pPr>
                <a:r>
                  <a:rPr lang="zh-CN" altLang="en-US" sz="2000" smtClean="0">
                    <a:latin typeface="Cambria Math" panose="02040503050406030204" pitchFamily="18" charset="0"/>
                  </a:rPr>
                  <a:t>再由</a:t>
                </a:r>
                <a14:m>
                  <m:oMath xmlns:m="http://schemas.openxmlformats.org/officeDocument/2006/math">
                    <m:r>
                      <a:rPr lang="en-US" altLang="zh-CN" sz="2000" b="0" i="1" smtClean="0">
                        <a:solidFill>
                          <a:schemeClr val="tx1"/>
                        </a:solidFill>
                        <a:latin typeface="Cambria Math" panose="02040503050406030204" pitchFamily="18" charset="0"/>
                        <a:cs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𝑏</m:t>
                            </m:r>
                          </m:e>
                        </m:d>
                        <m:r>
                          <a:rPr lang="en-US" altLang="zh-CN" sz="2000" b="0" i="1" smtClean="0">
                            <a:latin typeface="Cambria Math" panose="02040503050406030204" pitchFamily="18" charset="0"/>
                          </a:rPr>
                          <m:t>𝑠</m:t>
                        </m:r>
                      </m:e>
                    </m:d>
                    <m:r>
                      <a:rPr lang="en-US" altLang="zh-CN" sz="2000" i="1" smtClean="0">
                        <a:latin typeface="Cambria Math" panose="02040503050406030204" pitchFamily="18" charset="0"/>
                        <a:cs typeface="Cambria Math" panose="02040503050406030204" pitchFamily="18" charset="0"/>
                      </a:rPr>
                      <m:t>=</m:t>
                    </m:r>
                    <m:r>
                      <a:rPr lang="en-US" altLang="zh-CN" sz="2000" i="1" smtClean="0">
                        <a:latin typeface="Cambria Math" panose="02040503050406030204" pitchFamily="18" charset="0"/>
                        <a:cs typeface="Cambria Math" panose="02040503050406030204" pitchFamily="18" charset="0"/>
                      </a:rPr>
                      <m:t>1</m:t>
                    </m:r>
                    <m:r>
                      <a:rPr lang="en-US" altLang="zh-CN" sz="2000" i="1" smtClean="0">
                        <a:latin typeface="Cambria Math" panose="02040503050406030204" pitchFamily="18" charset="0"/>
                        <a:cs typeface="Cambria Math" panose="02040503050406030204" pitchFamily="18" charset="0"/>
                      </a:rPr>
                      <m:t>−</m:t>
                    </m:r>
                    <m:r>
                      <a:rPr lang="en-US" altLang="zh-CN" sz="2000" b="0" i="1" smtClean="0">
                        <a:solidFill>
                          <a:schemeClr val="tx1"/>
                        </a:solidFill>
                        <a:latin typeface="Cambria Math" panose="02040503050406030204" pitchFamily="18" charset="0"/>
                        <a:cs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𝑔</m:t>
                            </m:r>
                          </m:e>
                        </m:d>
                        <m:r>
                          <a:rPr lang="en-US" altLang="zh-CN" sz="2000" b="0" i="1" smtClean="0">
                            <a:latin typeface="Cambria Math" panose="02040503050406030204" pitchFamily="18" charset="0"/>
                          </a:rPr>
                          <m:t>𝑠</m:t>
                        </m:r>
                      </m:e>
                    </m:d>
                  </m:oMath>
                </a14:m>
                <a:r>
                  <a:rPr lang="zh-CN" altLang="en-US" sz="2000" smtClean="0">
                    <a:latin typeface="Cambria Math" panose="02040503050406030204" pitchFamily="18" charset="0"/>
                  </a:rPr>
                  <a:t>求</a:t>
                </a:r>
                <a14:m>
                  <m:oMath xmlns:m="http://schemas.openxmlformats.org/officeDocument/2006/math">
                    <m:r>
                      <a:rPr lang="en-US" altLang="zh-CN" sz="2000" b="0" i="1" smtClean="0">
                        <a:solidFill>
                          <a:schemeClr val="tx1"/>
                        </a:solidFill>
                        <a:latin typeface="Cambria Math" panose="02040503050406030204" pitchFamily="18" charset="0"/>
                        <a:cs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𝑏</m:t>
                            </m:r>
                          </m:e>
                        </m:d>
                        <m:r>
                          <a:rPr lang="en-US" altLang="zh-CN" sz="2000" b="0" i="1" smtClean="0">
                            <a:latin typeface="Cambria Math" panose="02040503050406030204" pitchFamily="18" charset="0"/>
                          </a:rPr>
                          <m:t>𝑠</m:t>
                        </m:r>
                      </m:e>
                    </m:d>
                  </m:oMath>
                </a14:m>
                <a:r>
                  <a:rPr lang="zh-CN" altLang="en-US" sz="2000" smtClean="0">
                    <a:latin typeface="Cambria Math" panose="02040503050406030204" pitchFamily="18" charset="0"/>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30250" lvl="2" indent="-222250" algn="l" fontAlgn="ctr">
                  <a:lnSpc>
                    <a:spcPct val="130000"/>
                  </a:lnSpc>
                  <a:spcBef>
                    <a:spcPts val="0"/>
                  </a:spcBef>
                  <a:spcAft>
                    <a:spcPts val="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1" name="Title 6"/>
              <p:cNvSpPr txBox="1">
                <a:spLocks noRot="1" noChangeAspect="1" noMove="1" noResize="1" noEditPoints="1" noAdjustHandles="1" noChangeArrowheads="1" noChangeShapeType="1" noTextEdit="1"/>
              </p:cNvSpPr>
              <p:nvPr>
                <p:custDataLst>
                  <p:tags r:id="rId4"/>
                </p:custDataLst>
              </p:nvPr>
            </p:nvSpPr>
            <p:spPr>
              <a:xfrm>
                <a:off x="839431" y="1124837"/>
                <a:ext cx="11277678" cy="5243327"/>
              </a:xfrm>
              <a:prstGeom prst="rect">
                <a:avLst/>
              </a:prstGeom>
              <a:blipFill rotWithShape="1">
                <a:blip r:embed="rId5"/>
                <a:stretch>
                  <a:fillRect l="-5" t="-828" r="-1464" b="-828"/>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itle 6"/>
              <p:cNvSpPr txBox="1"/>
              <p:nvPr>
                <p:custDataLst>
                  <p:tags r:id="rId3"/>
                </p:custDataLst>
              </p:nvPr>
            </p:nvSpPr>
            <p:spPr>
              <a:xfrm>
                <a:off x="911225" y="557530"/>
                <a:ext cx="11277600" cy="427164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Ø"/>
                </a:pPr>
                <a:r>
                  <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关于定义中的名词解释之一</a:t>
                </a:r>
                <a:endParaRPr lang="zh-CN" altLang="en-US" sz="22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𝑔</m:t>
                            </m:r>
                          </m:e>
                        </m:d>
                        <m:r>
                          <a:rPr lang="en-US" altLang="zh-CN" sz="2000" b="0" i="1" smtClean="0">
                            <a:latin typeface="Cambria Math" panose="02040503050406030204" pitchFamily="18" charset="0"/>
                          </a:rPr>
                          <m:t>𝑠</m:t>
                        </m:r>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𝑔</m:t>
                            </m:r>
                          </m:e>
                        </m:d>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𝑠</m:t>
                                </m:r>
                              </m:e>
                            </m:d>
                            <m:r>
                              <a:rPr lang="en-US" altLang="zh-CN" sz="2000" b="0" i="1" smtClean="0">
                                <a:latin typeface="Cambria Math" panose="02040503050406030204" pitchFamily="18" charset="0"/>
                              </a:rPr>
                              <m:t>𝑔</m:t>
                            </m:r>
                          </m:e>
                        </m:d>
                      </m:num>
                      <m:den>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𝑠</m:t>
                                </m:r>
                              </m:e>
                            </m:d>
                            <m:r>
                              <a:rPr lang="en-US" altLang="zh-CN" sz="2000" i="1">
                                <a:latin typeface="Cambria Math" panose="02040503050406030204" pitchFamily="18" charset="0"/>
                              </a:rPr>
                              <m:t>𝑔</m:t>
                            </m:r>
                          </m:e>
                        </m:d>
                        <m:r>
                          <a:rPr lang="en-US" altLang="zh-CN" sz="2000" b="0" i="1" smtClean="0">
                            <a:latin typeface="Cambria Math" panose="02040503050406030204" pitchFamily="18" charset="0"/>
                          </a:rPr>
                          <m:t>+</m:t>
                        </m:r>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r>
                              <a:rPr lang="en-US" altLang="zh-CN" sz="2000" b="0" i="1" smtClean="0">
                                <a:latin typeface="Cambria Math" panose="02040503050406030204" pitchFamily="18" charset="0"/>
                              </a:rPr>
                              <m:t>𝑏</m:t>
                            </m:r>
                          </m:e>
                        </m:d>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𝑠</m:t>
                                </m:r>
                              </m:e>
                            </m:d>
                            <m:r>
                              <a:rPr lang="en-US" altLang="zh-CN" sz="2000" b="0" i="1" smtClean="0">
                                <a:latin typeface="Cambria Math" panose="02040503050406030204" pitchFamily="18" charset="0"/>
                              </a:rPr>
                              <m:t>𝑏</m:t>
                            </m:r>
                          </m:e>
                        </m:d>
                      </m:den>
                    </m:f>
                  </m:oMath>
                </a14:m>
                <a:endParaRPr lang="en-US" altLang="zh-CN" sz="2000" b="0" i="1" smtClean="0">
                  <a:latin typeface="Cambria Math" panose="02040503050406030204" pitchFamily="18" charset="0"/>
                </a:endParaRPr>
              </a:p>
              <a:p>
                <a:pPr marL="800100" lvl="1" indent="-342900" algn="l" fontAlgn="ctr">
                  <a:lnSpc>
                    <a:spcPct val="130000"/>
                  </a:lnSpc>
                  <a:spcBef>
                    <a:spcPts val="1000"/>
                  </a:spcBef>
                  <a:spcAft>
                    <a:spcPts val="0"/>
                  </a:spcAft>
                  <a:buSzPct val="100000"/>
                  <a:buFont typeface="Wingdings" panose="05000000000000000000" charset="0"/>
                  <a:buChar char="l"/>
                </a:pPr>
                <a:r>
                  <a:rPr lang="zh-CN" altLang="en-US" sz="2000" dirty="0">
                    <a:sym typeface="+mn-ea"/>
                  </a:rPr>
                  <a:t>如果，</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𝑠</m:t>
                            </m:r>
                          </m:e>
                        </m:d>
                        <m:r>
                          <a:rPr lang="en-US" altLang="zh-CN" sz="2000" i="1">
                            <a:latin typeface="Cambria Math" panose="02040503050406030204" pitchFamily="18" charset="0"/>
                          </a:rPr>
                          <m:t>𝑔</m:t>
                        </m:r>
                      </m:e>
                    </m:d>
                    <m:r>
                      <a:rPr lang="en-US" altLang="zh-CN" sz="2000" i="1" smtClean="0">
                        <a:latin typeface="Cambria Math" panose="02040503050406030204" pitchFamily="18" charset="0"/>
                      </a:rPr>
                      <m:t>=</m:t>
                    </m:r>
                    <m:r>
                      <a:rPr lang="en-US" altLang="zh-CN" sz="2000" i="1">
                        <a:latin typeface="Cambria Math" panose="02040503050406030204" pitchFamily="18" charset="0"/>
                      </a:rPr>
                      <m:t>1</m:t>
                    </m:r>
                  </m:oMath>
                </a14:m>
                <a:r>
                  <a:rPr lang="zh-CN" altLang="en-US" sz="2000" dirty="0">
                    <a:sym typeface="+mn-ea"/>
                  </a:rPr>
                  <a:t>，</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𝑠</m:t>
                            </m:r>
                          </m:e>
                        </m:d>
                        <m:r>
                          <a:rPr lang="en-US" altLang="zh-CN" sz="2000" i="1">
                            <a:latin typeface="Cambria Math" panose="02040503050406030204" pitchFamily="18" charset="0"/>
                          </a:rPr>
                          <m:t>𝑏</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oMath>
                </a14:m>
                <a:r>
                  <a:rPr lang="zh-CN" altLang="en-US" sz="2000" dirty="0">
                    <a:sym typeface="+mn-ea"/>
                  </a:rPr>
                  <a:t>，</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i="1" smtClean="0">
                        <a:latin typeface="Cambria Math" panose="02040503050406030204" pitchFamily="18" charset="0"/>
                      </a:rPr>
                      <m:t>=</m:t>
                    </m:r>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𝑏</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oMath>
                </a14:m>
                <a:endParaRPr lang="en-US" altLang="zh-CN" sz="2000" b="0" i="1" smtClean="0">
                  <a:latin typeface="Cambria Math" panose="02040503050406030204" pitchFamily="18" charset="0"/>
                </a:endParaRPr>
              </a:p>
              <a:p>
                <a:pPr marL="800100" lvl="1" indent="-342900" algn="l" fontAlgn="ctr">
                  <a:lnSpc>
                    <a:spcPct val="130000"/>
                  </a:lnSpc>
                  <a:spcBef>
                    <a:spcPts val="1000"/>
                  </a:spcBef>
                  <a:spcAft>
                    <a:spcPts val="0"/>
                  </a:spcAft>
                  <a:buSzPct val="100000"/>
                  <a:buFont typeface="Wingdings" panose="05000000000000000000" charset="0"/>
                  <a:buChar char="l"/>
                </a:pP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i="1">
                            <a:latin typeface="Cambria Math" panose="02040503050406030204" pitchFamily="18" charset="0"/>
                          </a:rPr>
                          <m:t>𝑠</m:t>
                        </m:r>
                      </m:e>
                    </m:d>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𝑠</m:t>
                                </m:r>
                              </m:e>
                            </m:d>
                            <m:r>
                              <a:rPr lang="en-US" altLang="zh-CN" sz="2000" i="1">
                                <a:latin typeface="Cambria Math" panose="02040503050406030204" pitchFamily="18" charset="0"/>
                              </a:rPr>
                              <m:t>𝑔</m:t>
                            </m:r>
                          </m:e>
                        </m:d>
                      </m:num>
                      <m:den>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𝑠</m:t>
                                </m:r>
                              </m:e>
                            </m:d>
                            <m:r>
                              <a:rPr lang="en-US" altLang="zh-CN" sz="2000" i="1">
                                <a:latin typeface="Cambria Math" panose="02040503050406030204" pitchFamily="18" charset="0"/>
                              </a:rPr>
                              <m:t>𝑔</m:t>
                            </m:r>
                          </m:e>
                        </m:d>
                        <m:r>
                          <a:rPr lang="en-US" altLang="zh-CN" sz="2000" i="1">
                            <a:latin typeface="Cambria Math" panose="02040503050406030204" pitchFamily="18" charset="0"/>
                          </a:rPr>
                          <m:t>+</m:t>
                        </m:r>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𝑏</m:t>
                            </m:r>
                          </m:e>
                        </m:d>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𝑠</m:t>
                                </m:r>
                              </m:e>
                            </m:d>
                            <m:r>
                              <a:rPr lang="en-US" altLang="zh-CN" sz="2000" i="1">
                                <a:latin typeface="Cambria Math" panose="02040503050406030204" pitchFamily="18" charset="0"/>
                              </a:rPr>
                              <m:t>𝑏</m:t>
                            </m:r>
                          </m:e>
                        </m:d>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1</m:t>
                        </m:r>
                      </m:num>
                      <m:den>
                        <m:r>
                          <a:rPr lang="en-US" altLang="zh-CN" sz="2000" b="0" i="1" smtClean="0">
                            <a:latin typeface="Cambria Math" panose="02040503050406030204" pitchFamily="18" charset="0"/>
                          </a:rPr>
                          <m:t>0</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5</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1</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5</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5</m:t>
                        </m:r>
                      </m:den>
                    </m:f>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2</m:t>
                        </m:r>
                      </m:num>
                      <m:den>
                        <m:r>
                          <a:rPr lang="en-US" altLang="zh-CN" sz="2000" b="0" i="1" smtClean="0">
                            <a:latin typeface="Cambria Math" panose="02040503050406030204" pitchFamily="18" charset="0"/>
                          </a:rPr>
                          <m:t>3</m:t>
                        </m:r>
                      </m:den>
                    </m:f>
                  </m:oMath>
                </a14:m>
                <a:endParaRPr lang="en-US" altLang="zh-CN" sz="2000" b="0" i="1" smtClean="0">
                  <a:latin typeface="Cambria Math" panose="02040503050406030204" pitchFamily="18" charset="0"/>
                </a:endParaRPr>
              </a:p>
              <a:p>
                <a:pPr marL="800100" lvl="1" indent="-342900" algn="l" fontAlgn="ctr">
                  <a:lnSpc>
                    <a:spcPct val="130000"/>
                  </a:lnSpc>
                  <a:spcBef>
                    <a:spcPts val="1000"/>
                  </a:spcBef>
                  <a:spcAft>
                    <a:spcPts val="0"/>
                  </a:spcAft>
                  <a:buSzPct val="100000"/>
                  <a:buFont typeface="Wingdings" panose="05000000000000000000" charset="0"/>
                  <a:buChar char="l"/>
                </a:pPr>
                <a:r>
                  <a:rPr lang="zh-CN" altLang="en-US" sz="2000" b="0" smtClean="0">
                    <a:latin typeface="Cambria Math" panose="02040503050406030204" pitchFamily="18" charset="0"/>
                  </a:rPr>
                  <a:t>这是买方对卖方所卖车是好车概率的判断。</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30250" lvl="2" indent="-222250" algn="l" fontAlgn="ctr">
                  <a:lnSpc>
                    <a:spcPct val="130000"/>
                  </a:lnSpc>
                  <a:spcBef>
                    <a:spcPts val="0"/>
                  </a:spcBef>
                  <a:spcAft>
                    <a:spcPts val="0"/>
                  </a:spcAft>
                  <a:buSzPct val="100000"/>
                  <a:buFont typeface="Arial" panose="020B0604020202020204" pitchFamily="34" charset="0"/>
                  <a:buChar char="●"/>
                </a:pP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1" name="Title 6"/>
              <p:cNvSpPr txBox="1">
                <a:spLocks noRot="1" noChangeAspect="1" noMove="1" noResize="1" noEditPoints="1" noAdjustHandles="1" noChangeArrowheads="1" noChangeShapeType="1" noTextEdit="1"/>
              </p:cNvSpPr>
              <p:nvPr>
                <p:custDataLst>
                  <p:tags r:id="rId4"/>
                </p:custDataLst>
              </p:nvPr>
            </p:nvSpPr>
            <p:spPr>
              <a:xfrm>
                <a:off x="911225" y="557530"/>
                <a:ext cx="11277600" cy="4271645"/>
              </a:xfrm>
              <a:prstGeom prst="rect">
                <a:avLst/>
              </a:prstGeom>
              <a:blipFill rotWithShape="1">
                <a:blip r:embed="rId5"/>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grpSp>
        <p:nvGrpSpPr>
          <p:cNvPr id="15" name="组合 14"/>
          <p:cNvGrpSpPr/>
          <p:nvPr/>
        </p:nvGrpSpPr>
        <p:grpSpPr>
          <a:xfrm>
            <a:off x="7823835" y="2420620"/>
            <a:ext cx="4108450" cy="3851910"/>
            <a:chOff x="9713" y="3684"/>
            <a:chExt cx="6470" cy="6066"/>
          </a:xfrm>
        </p:grpSpPr>
        <p:cxnSp>
          <p:nvCxnSpPr>
            <p:cNvPr id="31" name="直接连接符 30"/>
            <p:cNvCxnSpPr/>
            <p:nvPr/>
          </p:nvCxnSpPr>
          <p:spPr>
            <a:xfrm>
              <a:off x="12511" y="5803"/>
              <a:ext cx="378" cy="893"/>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9713" y="3684"/>
              <a:ext cx="6470" cy="6067"/>
              <a:chOff x="9713" y="3684"/>
              <a:chExt cx="6470" cy="6067"/>
            </a:xfrm>
          </p:grpSpPr>
          <p:cxnSp>
            <p:nvCxnSpPr>
              <p:cNvPr id="36" name="直接连接符 35"/>
              <p:cNvCxnSpPr/>
              <p:nvPr/>
            </p:nvCxnSpPr>
            <p:spPr>
              <a:xfrm>
                <a:off x="13455" y="7441"/>
                <a:ext cx="837" cy="183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9713" y="3684"/>
                <a:ext cx="6470" cy="6067"/>
                <a:chOff x="9713" y="3684"/>
                <a:chExt cx="6470" cy="6067"/>
              </a:xfrm>
            </p:grpSpPr>
            <p:cxnSp>
              <p:nvCxnSpPr>
                <p:cNvPr id="28" name="直接连接符 27"/>
                <p:cNvCxnSpPr/>
                <p:nvPr/>
              </p:nvCxnSpPr>
              <p:spPr>
                <a:xfrm flipH="1">
                  <a:off x="10393" y="4102"/>
                  <a:ext cx="3183" cy="5153"/>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9713" y="3684"/>
                  <a:ext cx="6470" cy="6067"/>
                  <a:chOff x="9713" y="3684"/>
                  <a:chExt cx="6470" cy="6067"/>
                </a:xfrm>
              </p:grpSpPr>
              <p:cxnSp>
                <p:nvCxnSpPr>
                  <p:cNvPr id="29" name="直接连接符 28"/>
                  <p:cNvCxnSpPr/>
                  <p:nvPr/>
                </p:nvCxnSpPr>
                <p:spPr>
                  <a:xfrm>
                    <a:off x="13576" y="4102"/>
                    <a:ext cx="1571" cy="2626"/>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5" idx="0"/>
                  </p:cNvCxnSpPr>
                  <p:nvPr/>
                </p:nvCxnSpPr>
                <p:spPr>
                  <a:xfrm flipH="1">
                    <a:off x="12703" y="6122"/>
                    <a:ext cx="1427" cy="3098"/>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1527" y="7292"/>
                    <a:ext cx="755" cy="1992"/>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8" name="椭圆 37"/>
                  <p:cNvSpPr/>
                  <p:nvPr>
                    <p:custDataLst>
                      <p:tags r:id="rId7"/>
                    </p:custDataLst>
                  </p:nvPr>
                </p:nvSpPr>
                <p:spPr>
                  <a:xfrm>
                    <a:off x="13146" y="3684"/>
                    <a:ext cx="859" cy="859"/>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椭圆 39"/>
                  <p:cNvSpPr/>
                  <p:nvPr>
                    <p:custDataLst>
                      <p:tags r:id="rId8"/>
                    </p:custDataLst>
                  </p:nvPr>
                </p:nvSpPr>
                <p:spPr>
                  <a:xfrm>
                    <a:off x="12054" y="5402"/>
                    <a:ext cx="859" cy="859"/>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椭圆 41"/>
                  <p:cNvSpPr/>
                  <p:nvPr>
                    <p:custDataLst>
                      <p:tags r:id="rId9"/>
                    </p:custDataLst>
                  </p:nvPr>
                </p:nvSpPr>
                <p:spPr>
                  <a:xfrm>
                    <a:off x="14161" y="5354"/>
                    <a:ext cx="859" cy="859"/>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椭圆 42"/>
                  <p:cNvSpPr/>
                  <p:nvPr>
                    <p:custDataLst>
                      <p:tags r:id="rId10"/>
                    </p:custDataLst>
                  </p:nvPr>
                </p:nvSpPr>
                <p:spPr>
                  <a:xfrm>
                    <a:off x="10847" y="6987"/>
                    <a:ext cx="3157" cy="785"/>
                  </a:xfrm>
                  <a:prstGeom prst="ellipse">
                    <a:avLst/>
                  </a:prstGeom>
                  <a:solidFill>
                    <a:schemeClr val="accent5">
                      <a:lumMod val="75000"/>
                    </a:schemeClr>
                  </a:solidFill>
                  <a:ln>
                    <a:solidFill>
                      <a:srgbClr val="B23214"/>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文本框 43"/>
                  <p:cNvSpPr txBox="1"/>
                  <p:nvPr>
                    <p:custDataLst>
                      <p:tags r:id="rId11"/>
                    </p:custDataLst>
                  </p:nvPr>
                </p:nvSpPr>
                <p:spPr>
                  <a:xfrm>
                    <a:off x="12359" y="4408"/>
                    <a:ext cx="787" cy="567"/>
                  </a:xfrm>
                  <a:prstGeom prst="rect">
                    <a:avLst/>
                  </a:prstGeom>
                  <a:noFill/>
                </p:spPr>
                <p:txBody>
                  <a:bodyPr wrap="square" rtlCol="0">
                    <a:normAutofit/>
                  </a:bodyPr>
                  <a:p>
                    <a:r>
                      <a:rPr lang="zh-CN" altLang="en-US" sz="1400" dirty="0">
                        <a:solidFill>
                          <a:schemeClr val="dk1"/>
                        </a:solidFill>
                        <a:latin typeface="微软雅黑" panose="020B0503020204020204" pitchFamily="34" charset="-122"/>
                        <a:ea typeface="微软雅黑" panose="020B0503020204020204" pitchFamily="34" charset="-122"/>
                      </a:rPr>
                      <a:t>好</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5" name="文本框 44"/>
                  <p:cNvSpPr txBox="1"/>
                  <p:nvPr>
                    <p:custDataLst>
                      <p:tags r:id="rId12"/>
                    </p:custDataLst>
                  </p:nvPr>
                </p:nvSpPr>
                <p:spPr>
                  <a:xfrm>
                    <a:off x="14034" y="4368"/>
                    <a:ext cx="859" cy="567"/>
                  </a:xfrm>
                  <a:prstGeom prst="rect">
                    <a:avLst/>
                  </a:prstGeom>
                  <a:noFill/>
                </p:spPr>
                <p:txBody>
                  <a:bodyPr wrap="square" rtlCol="0">
                    <a:normAutofit/>
                  </a:bodyPr>
                  <a:p>
                    <a:r>
                      <a:rPr lang="zh-CN" altLang="en-US" sz="1400" dirty="0">
                        <a:solidFill>
                          <a:schemeClr val="dk1"/>
                        </a:solidFill>
                        <a:latin typeface="微软雅黑" panose="020B0503020204020204" pitchFamily="34" charset="-122"/>
                        <a:ea typeface="微软雅黑" panose="020B0503020204020204" pitchFamily="34" charset="-122"/>
                      </a:rPr>
                      <a:t>差</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6" name="文本框 45"/>
                  <p:cNvSpPr txBox="1"/>
                  <p:nvPr>
                    <p:custDataLst>
                      <p:tags r:id="rId13"/>
                    </p:custDataLst>
                  </p:nvPr>
                </p:nvSpPr>
                <p:spPr>
                  <a:xfrm>
                    <a:off x="11440" y="6122"/>
                    <a:ext cx="1073" cy="567"/>
                  </a:xfrm>
                  <a:prstGeom prst="rect">
                    <a:avLst/>
                  </a:prstGeom>
                  <a:noFill/>
                </p:spPr>
                <p:txBody>
                  <a:bodyPr wrap="square" rtlCol="0">
                    <a:normAutofit/>
                  </a:bodyPr>
                  <a:p>
                    <a:r>
                      <a:rPr lang="zh-CN" altLang="en-US" sz="1400" dirty="0">
                        <a:solidFill>
                          <a:schemeClr val="dk1"/>
                        </a:solidFill>
                        <a:latin typeface="微软雅黑" panose="020B0503020204020204" pitchFamily="34" charset="-122"/>
                        <a:ea typeface="微软雅黑" panose="020B0503020204020204" pitchFamily="34" charset="-122"/>
                      </a:rPr>
                      <a:t>卖</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14"/>
                    </p:custDataLst>
                  </p:nvPr>
                </p:nvSpPr>
                <p:spPr>
                  <a:xfrm>
                    <a:off x="12775" y="5974"/>
                    <a:ext cx="1747" cy="567"/>
                  </a:xfrm>
                  <a:prstGeom prst="rect">
                    <a:avLst/>
                  </a:prstGeom>
                  <a:noFill/>
                </p:spPr>
                <p:txBody>
                  <a:bodyPr wrap="square" rtlCol="0">
                    <a:normAutofit/>
                  </a:bodyPr>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不卖    卖</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文本框 47"/>
                  <p:cNvSpPr txBox="1"/>
                  <p:nvPr>
                    <p:custDataLst>
                      <p:tags r:id="rId15"/>
                    </p:custDataLst>
                  </p:nvPr>
                </p:nvSpPr>
                <p:spPr>
                  <a:xfrm>
                    <a:off x="14861" y="5885"/>
                    <a:ext cx="1322" cy="567"/>
                  </a:xfrm>
                  <a:prstGeom prst="rect">
                    <a:avLst/>
                  </a:prstGeom>
                  <a:noFill/>
                </p:spPr>
                <p:txBody>
                  <a:bodyPr wrap="square" rtlCol="0">
                    <a:normAutofit/>
                  </a:bodyPr>
                  <a:p>
                    <a:r>
                      <a:rPr lang="zh-CN" altLang="en-US" sz="1400" dirty="0">
                        <a:solidFill>
                          <a:schemeClr val="dk1"/>
                        </a:solidFill>
                        <a:latin typeface="微软雅黑" panose="020B0503020204020204" pitchFamily="34" charset="-122"/>
                        <a:ea typeface="微软雅黑" panose="020B0503020204020204" pitchFamily="34" charset="-122"/>
                      </a:rPr>
                      <a:t>不卖</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9" name="文本框 48"/>
                  <p:cNvSpPr txBox="1"/>
                  <p:nvPr>
                    <p:custDataLst>
                      <p:tags r:id="rId16"/>
                    </p:custDataLst>
                  </p:nvPr>
                </p:nvSpPr>
                <p:spPr>
                  <a:xfrm>
                    <a:off x="10424" y="7558"/>
                    <a:ext cx="886" cy="567"/>
                  </a:xfrm>
                  <a:prstGeom prst="rect">
                    <a:avLst/>
                  </a:prstGeom>
                  <a:noFill/>
                </p:spPr>
                <p:txBody>
                  <a:bodyPr wrap="square" rtlCol="0">
                    <a:normAutofit/>
                  </a:bodyPr>
                  <a:p>
                    <a:r>
                      <a:rPr lang="zh-CN" altLang="en-US" sz="1400" dirty="0">
                        <a:solidFill>
                          <a:schemeClr val="dk1"/>
                        </a:solidFill>
                        <a:latin typeface="微软雅黑" panose="020B0503020204020204" pitchFamily="34" charset="-122"/>
                        <a:ea typeface="微软雅黑" panose="020B0503020204020204" pitchFamily="34" charset="-122"/>
                      </a:rPr>
                      <a:t>买</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50" name="文本框 49"/>
                  <p:cNvSpPr txBox="1"/>
                  <p:nvPr>
                    <p:custDataLst>
                      <p:tags r:id="rId17"/>
                    </p:custDataLst>
                  </p:nvPr>
                </p:nvSpPr>
                <p:spPr>
                  <a:xfrm>
                    <a:off x="11835" y="7943"/>
                    <a:ext cx="1835" cy="567"/>
                  </a:xfrm>
                  <a:prstGeom prst="rect">
                    <a:avLst/>
                  </a:prstGeom>
                  <a:noFill/>
                </p:spPr>
                <p:txBody>
                  <a:bodyPr wrap="square" rtlCol="0">
                    <a:normAutofit/>
                  </a:bodyPr>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不买 买</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文本框 50"/>
                  <p:cNvSpPr txBox="1"/>
                  <p:nvPr>
                    <p:custDataLst>
                      <p:tags r:id="rId18"/>
                    </p:custDataLst>
                  </p:nvPr>
                </p:nvSpPr>
                <p:spPr>
                  <a:xfrm>
                    <a:off x="13985" y="7781"/>
                    <a:ext cx="1120" cy="680"/>
                  </a:xfrm>
                  <a:prstGeom prst="rect">
                    <a:avLst/>
                  </a:prstGeom>
                  <a:noFill/>
                </p:spPr>
                <p:txBody>
                  <a:bodyPr wrap="none" rtlCol="0">
                    <a:normAutofit/>
                  </a:bodyPr>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不买</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9713" y="9220"/>
                    <a:ext cx="1107" cy="531"/>
                  </a:xfrm>
                  <a:prstGeom prst="rect">
                    <a:avLst/>
                  </a:prstGeom>
                  <a:noFill/>
                </p:spPr>
                <p:txBody>
                  <a:bodyPr wrap="square" rtlCol="0">
                    <a:spAutoFit/>
                  </a:bodyPr>
                  <a:p>
                    <a:r>
                      <a:rPr lang="zh-CN" altLang="en-US" sz="1600"/>
                      <a:t>（</a:t>
                    </a:r>
                    <a:r>
                      <a:rPr lang="en-US" altLang="zh-CN" sz="1600"/>
                      <a:t>2,1</a:t>
                    </a:r>
                    <a:r>
                      <a:rPr lang="zh-CN" altLang="en-US" sz="1600"/>
                      <a:t>）</a:t>
                    </a:r>
                    <a:endParaRPr lang="zh-CN" altLang="en-US" sz="1600"/>
                  </a:p>
                </p:txBody>
              </p:sp>
              <p:sp>
                <p:nvSpPr>
                  <p:cNvPr id="3" name="文本框 2"/>
                  <p:cNvSpPr txBox="1"/>
                  <p:nvPr/>
                </p:nvSpPr>
                <p:spPr>
                  <a:xfrm>
                    <a:off x="11351" y="9220"/>
                    <a:ext cx="1107" cy="531"/>
                  </a:xfrm>
                  <a:prstGeom prst="rect">
                    <a:avLst/>
                  </a:prstGeom>
                  <a:noFill/>
                </p:spPr>
                <p:txBody>
                  <a:bodyPr wrap="square" rtlCol="0">
                    <a:spAutoFit/>
                  </a:bodyPr>
                  <a:p>
                    <a:r>
                      <a:rPr lang="zh-CN" altLang="en-US" sz="1600"/>
                      <a:t>（</a:t>
                    </a:r>
                    <a:r>
                      <a:rPr lang="en-US" altLang="zh-CN" sz="1600"/>
                      <a:t>0</a:t>
                    </a:r>
                    <a:r>
                      <a:rPr lang="en-US" altLang="zh-CN" sz="1600"/>
                      <a:t>,0</a:t>
                    </a:r>
                    <a:r>
                      <a:rPr lang="zh-CN" altLang="en-US" sz="1600"/>
                      <a:t>）</a:t>
                    </a:r>
                    <a:endParaRPr lang="zh-CN" altLang="en-US" sz="1600"/>
                  </a:p>
                </p:txBody>
              </p:sp>
              <p:sp>
                <p:nvSpPr>
                  <p:cNvPr id="5" name="文本框 4"/>
                  <p:cNvSpPr txBox="1"/>
                  <p:nvPr/>
                </p:nvSpPr>
                <p:spPr>
                  <a:xfrm>
                    <a:off x="12094" y="9220"/>
                    <a:ext cx="1217" cy="531"/>
                  </a:xfrm>
                  <a:prstGeom prst="rect">
                    <a:avLst/>
                  </a:prstGeom>
                  <a:noFill/>
                </p:spPr>
                <p:txBody>
                  <a:bodyPr wrap="square" rtlCol="0">
                    <a:spAutoFit/>
                  </a:bodyPr>
                  <a:p>
                    <a:r>
                      <a:rPr lang="zh-CN" altLang="en-US" sz="1600"/>
                      <a:t>（</a:t>
                    </a:r>
                    <a:r>
                      <a:rPr lang="en-US" altLang="zh-CN" sz="1600"/>
                      <a:t>1</a:t>
                    </a:r>
                    <a:r>
                      <a:rPr lang="en-US" altLang="zh-CN" sz="1600"/>
                      <a:t>,-1</a:t>
                    </a:r>
                    <a:r>
                      <a:rPr lang="zh-CN" altLang="en-US" sz="1600"/>
                      <a:t>）</a:t>
                    </a:r>
                    <a:endParaRPr lang="zh-CN" altLang="en-US" sz="1600"/>
                  </a:p>
                </p:txBody>
              </p:sp>
              <p:sp>
                <p:nvSpPr>
                  <p:cNvPr id="4" name="文本框 3"/>
                  <p:cNvSpPr txBox="1"/>
                  <p:nvPr/>
                </p:nvSpPr>
                <p:spPr>
                  <a:xfrm>
                    <a:off x="13855" y="9220"/>
                    <a:ext cx="1217" cy="531"/>
                  </a:xfrm>
                  <a:prstGeom prst="rect">
                    <a:avLst/>
                  </a:prstGeom>
                  <a:noFill/>
                </p:spPr>
                <p:txBody>
                  <a:bodyPr wrap="square" rtlCol="0">
                    <a:spAutoFit/>
                  </a:bodyPr>
                  <a:p>
                    <a:r>
                      <a:rPr lang="zh-CN" altLang="en-US" sz="1600"/>
                      <a:t>（</a:t>
                    </a:r>
                    <a:r>
                      <a:rPr lang="en-US" altLang="zh-CN" sz="1600"/>
                      <a:t>-1</a:t>
                    </a:r>
                    <a:r>
                      <a:rPr lang="en-US" altLang="zh-CN" sz="1600"/>
                      <a:t>,0</a:t>
                    </a:r>
                    <a:r>
                      <a:rPr lang="zh-CN" altLang="en-US" sz="1600"/>
                      <a:t>）</a:t>
                    </a:r>
                    <a:endParaRPr lang="zh-CN" altLang="en-US" sz="1600"/>
                  </a:p>
                </p:txBody>
              </p:sp>
            </p:grpSp>
            <p:sp>
              <p:nvSpPr>
                <p:cNvPr id="9" name="文本框 8"/>
                <p:cNvSpPr txBox="1"/>
                <p:nvPr/>
              </p:nvSpPr>
              <p:spPr>
                <a:xfrm>
                  <a:off x="14551" y="6647"/>
                  <a:ext cx="1107" cy="531"/>
                </a:xfrm>
                <a:prstGeom prst="rect">
                  <a:avLst/>
                </a:prstGeom>
                <a:noFill/>
              </p:spPr>
              <p:txBody>
                <a:bodyPr wrap="square" rtlCol="0">
                  <a:spAutoFit/>
                </a:bodyPr>
                <a:p>
                  <a:r>
                    <a:rPr lang="zh-CN" altLang="en-US" sz="1600"/>
                    <a:t>（</a:t>
                  </a:r>
                  <a:r>
                    <a:rPr lang="en-US" altLang="zh-CN" sz="1600"/>
                    <a:t>0</a:t>
                  </a:r>
                  <a:r>
                    <a:rPr lang="en-US" altLang="zh-CN" sz="1600"/>
                    <a:t>,0</a:t>
                  </a:r>
                  <a:r>
                    <a:rPr lang="zh-CN" altLang="en-US" sz="1600"/>
                    <a:t>）</a:t>
                  </a:r>
                  <a:endParaRPr lang="zh-CN" altLang="en-US" sz="1600"/>
                </a:p>
              </p:txBody>
            </p:sp>
            <p:sp>
              <p:nvSpPr>
                <p:cNvPr id="10" name="文本框 9"/>
                <p:cNvSpPr txBox="1"/>
                <p:nvPr/>
              </p:nvSpPr>
              <p:spPr>
                <a:xfrm>
                  <a:off x="12563" y="6585"/>
                  <a:ext cx="1107" cy="531"/>
                </a:xfrm>
                <a:prstGeom prst="rect">
                  <a:avLst/>
                </a:prstGeom>
                <a:noFill/>
              </p:spPr>
              <p:txBody>
                <a:bodyPr wrap="square" rtlCol="0">
                  <a:spAutoFit/>
                </a:bodyPr>
                <a:p>
                  <a:r>
                    <a:rPr lang="zh-CN" altLang="en-US" sz="1600"/>
                    <a:t>（</a:t>
                  </a:r>
                  <a:r>
                    <a:rPr lang="en-US" altLang="zh-CN" sz="1600"/>
                    <a:t>0</a:t>
                  </a:r>
                  <a:r>
                    <a:rPr lang="en-US" altLang="zh-CN" sz="1600"/>
                    <a:t>,0</a:t>
                  </a:r>
                  <a:r>
                    <a:rPr lang="zh-CN" altLang="en-US" sz="1600"/>
                    <a:t>）</a:t>
                  </a:r>
                  <a:endParaRPr lang="zh-CN" altLang="en-US" sz="1600"/>
                </a:p>
              </p:txBody>
            </p:sp>
          </p:grpSp>
        </p:grpSp>
      </p:grpSp>
      <p:sp>
        <p:nvSpPr>
          <p:cNvPr id="7" name="灯片编号占位符 6"/>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文本框 6"/>
          <p:cNvSpPr txBox="1"/>
          <p:nvPr>
            <p:custDataLst>
              <p:tags r:id="rId1"/>
            </p:custDataLst>
          </p:nvPr>
        </p:nvSpPr>
        <p:spPr>
          <a:xfrm>
            <a:off x="767086" y="188597"/>
            <a:ext cx="10972888"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sp>
        <p:nvSpPr>
          <p:cNvPr id="10" name="矩形 9"/>
          <p:cNvSpPr/>
          <p:nvPr userDrawn="1">
            <p:custDataLst>
              <p:tags r:id="rId2"/>
            </p:custDataLst>
          </p:nvPr>
        </p:nvSpPr>
        <p:spPr>
          <a:xfrm>
            <a:off x="457200" y="18535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2" name="Title 6"/>
          <p:cNvSpPr txBox="1"/>
          <p:nvPr>
            <p:custDataLst>
              <p:tags r:id="rId3"/>
            </p:custDataLst>
          </p:nvPr>
        </p:nvSpPr>
        <p:spPr>
          <a:xfrm>
            <a:off x="2787015" y="2417445"/>
            <a:ext cx="743775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在均衡路径上的信息集——如果博弈按照均衡策略进行，则该信息集会以正的概率达到。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不在均衡路径上的信息集——博弈按均衡策略进行时绝对不可能达到，或者达到的概率为0。</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 name="直接连接符 1"/>
          <p:cNvCxnSpPr/>
          <p:nvPr>
            <p:custDataLst>
              <p:tags r:id="rId4"/>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8" name="副标题"/>
          <p:cNvSpPr txBox="1"/>
          <p:nvPr>
            <p:custDataLst>
              <p:tags r:id="rId5"/>
            </p:custDataLst>
          </p:nvPr>
        </p:nvSpPr>
        <p:spPr>
          <a:xfrm>
            <a:off x="2711456" y="2564772"/>
            <a:ext cx="10972888"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342900" indent="-342900" algn="l">
              <a:lnSpc>
                <a:spcPct val="120000"/>
              </a:lnSpc>
              <a:spcBef>
                <a:spcPts val="0"/>
              </a:spcBef>
              <a:spcAft>
                <a:spcPts val="0"/>
              </a:spcAft>
              <a:buSzPct val="100000"/>
              <a:buFont typeface="Wingdings" panose="05000000000000000000" charset="0"/>
              <a:buChar char="Ø"/>
            </a:pPr>
            <a:r>
              <a:rPr lang="zh-CN" altLang="en-US" sz="2200" dirty="0">
                <a:solidFill>
                  <a:schemeClr val="tx1">
                    <a:lumMod val="85000"/>
                    <a:lumOff val="15000"/>
                  </a:schemeClr>
                </a:solidFill>
                <a:sym typeface="+mn-ea"/>
              </a:rPr>
              <a:t>关于定义中的名词解释之二</a:t>
            </a:r>
            <a:endParaRPr lang="zh-CN" altLang="en-US" sz="2200" dirty="0">
              <a:solidFill>
                <a:schemeClr val="tx1">
                  <a:lumMod val="85000"/>
                  <a:lumOff val="15000"/>
                </a:schemeClr>
              </a:solidFill>
              <a:sym typeface="+mn-ea"/>
            </a:endParaRPr>
          </a:p>
        </p:txBody>
      </p:sp>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5" name="内容占位符 2"/>
          <p:cNvSpPr>
            <a:spLocks noGrp="1"/>
          </p:cNvSpPr>
          <p:nvPr>
            <p:custDataLst>
              <p:tags r:id="rId3"/>
            </p:custDataLst>
          </p:nvPr>
        </p:nvSpPr>
        <p:spPr>
          <a:xfrm>
            <a:off x="762277" y="980261"/>
            <a:ext cx="11277554" cy="49977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285750" lvl="0" indent="-285750" algn="l" defTabSz="913765" fontAlgn="ctr">
              <a:lnSpc>
                <a:spcPct val="130000"/>
              </a:lnSpc>
              <a:spcAft>
                <a:spcPts val="0"/>
              </a:spcAft>
              <a:buClrTx/>
              <a:buSzTx/>
              <a:buFont typeface="Wingdings" panose="05000000000000000000" charset="0"/>
              <a:buChar char="Ø"/>
            </a:pPr>
            <a:r>
              <a:rPr lang="zh-CN" altLang="en-US" sz="2200" b="1" spc="100" dirty="0" smtClean="0">
                <a:ln w="3175">
                  <a:noFill/>
                  <a:prstDash val="dash"/>
                </a:ln>
                <a:solidFill>
                  <a:schemeClr val="dk1">
                    <a:lumMod val="75000"/>
                    <a:lumOff val="25000"/>
                  </a:schemeClr>
                </a:solidFill>
                <a:effectLst/>
                <a:uFillTx/>
                <a:latin typeface="微软雅黑" panose="020B0503020204020204" pitchFamily="34" charset="-122"/>
                <a:ea typeface="微软雅黑" panose="020B0503020204020204" pitchFamily="34" charset="-122"/>
                <a:cs typeface="微软雅黑" panose="020B0503020204020204" pitchFamily="34" charset="-122"/>
                <a:sym typeface="+mn-ea"/>
              </a:rPr>
              <a:t>例子1——扩展形</a:t>
            </a:r>
            <a:endParaRPr lang="zh-CN" altLang="en-US" sz="2200" b="1" spc="100" dirty="0" smtClean="0">
              <a:ln w="3175">
                <a:noFill/>
                <a:prstDash val="dash"/>
              </a:ln>
              <a:solidFill>
                <a:schemeClr val="dk1">
                  <a:lumMod val="75000"/>
                  <a:lumOff val="25000"/>
                </a:schemeClr>
              </a:solidFill>
              <a:effectLst/>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1" name="直接连接符 10"/>
          <p:cNvCxnSpPr/>
          <p:nvPr>
            <p:custDataLst>
              <p:tags r:id="rId4"/>
            </p:custDataLst>
          </p:nvPr>
        </p:nvCxnSpPr>
        <p:spPr>
          <a:xfrm>
            <a:off x="5567325" y="2025994"/>
            <a:ext cx="3462983" cy="0"/>
          </a:xfrm>
          <a:prstGeom prst="line">
            <a:avLst/>
          </a:prstGeom>
          <a:ln w="2857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5567325" y="2025994"/>
            <a:ext cx="3462983" cy="3716245"/>
          </a:xfrm>
          <a:prstGeom prst="line">
            <a:avLst/>
          </a:prstGeom>
          <a:ln w="2857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flipH="1">
            <a:off x="2104342" y="2025994"/>
            <a:ext cx="3462983" cy="3716245"/>
          </a:xfrm>
          <a:prstGeom prst="line">
            <a:avLst/>
          </a:prstGeom>
          <a:ln w="2857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7"/>
            </p:custDataLst>
          </p:nvPr>
        </p:nvCxnSpPr>
        <p:spPr>
          <a:xfrm>
            <a:off x="3371396" y="4391012"/>
            <a:ext cx="1351226" cy="1351226"/>
          </a:xfrm>
          <a:prstGeom prst="line">
            <a:avLst/>
          </a:prstGeom>
          <a:ln w="28575">
            <a:solidFill>
              <a:schemeClr val="dk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8"/>
            </p:custDataLst>
          </p:nvPr>
        </p:nvCxnSpPr>
        <p:spPr>
          <a:xfrm flipH="1">
            <a:off x="6622831" y="4391012"/>
            <a:ext cx="1140423" cy="1351226"/>
          </a:xfrm>
          <a:prstGeom prst="line">
            <a:avLst/>
          </a:prstGeom>
          <a:ln w="28575">
            <a:solidFill>
              <a:schemeClr val="dk1"/>
            </a:solidFill>
          </a:ln>
        </p:spPr>
        <p:style>
          <a:lnRef idx="1">
            <a:schemeClr val="accent1"/>
          </a:lnRef>
          <a:fillRef idx="0">
            <a:schemeClr val="accent1"/>
          </a:fillRef>
          <a:effectRef idx="0">
            <a:schemeClr val="accent1"/>
          </a:effectRef>
          <a:fontRef idx="minor">
            <a:schemeClr val="tx1"/>
          </a:fontRef>
        </p:style>
      </p:cxnSp>
      <p:sp>
        <p:nvSpPr>
          <p:cNvPr id="16" name="椭圆 15"/>
          <p:cNvSpPr/>
          <p:nvPr>
            <p:custDataLst>
              <p:tags r:id="rId9"/>
            </p:custDataLst>
          </p:nvPr>
        </p:nvSpPr>
        <p:spPr>
          <a:xfrm>
            <a:off x="5284268" y="1748151"/>
            <a:ext cx="555686" cy="555686"/>
          </a:xfrm>
          <a:prstGeom prst="ellipse">
            <a:avLst/>
          </a:prstGeom>
          <a:blipFill dpi="0" rotWithShape="1">
            <a:blip r:embed="rId10">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椭圆 16"/>
          <p:cNvSpPr/>
          <p:nvPr>
            <p:custDataLst>
              <p:tags r:id="rId11"/>
            </p:custDataLst>
          </p:nvPr>
        </p:nvSpPr>
        <p:spPr>
          <a:xfrm>
            <a:off x="3112920" y="4137751"/>
            <a:ext cx="4899126" cy="464810"/>
          </a:xfrm>
          <a:prstGeom prst="ellipse">
            <a:avLst/>
          </a:prstGeom>
          <a:blipFill dpi="0" rotWithShape="1">
            <a:blip r:embed="rId12">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0000"/>
          </a:bodyP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文本框 18"/>
          <p:cNvSpPr txBox="1"/>
          <p:nvPr>
            <p:custDataLst>
              <p:tags r:id="rId13"/>
            </p:custDataLst>
          </p:nvPr>
        </p:nvSpPr>
        <p:spPr>
          <a:xfrm>
            <a:off x="9030308" y="1828599"/>
            <a:ext cx="1267054" cy="432035"/>
          </a:xfrm>
          <a:prstGeom prst="rect">
            <a:avLst/>
          </a:prstGeom>
          <a:noFill/>
        </p:spPr>
        <p:txBody>
          <a:bodyPr wrap="square" rtlCol="0">
            <a:normAutofit/>
          </a:bodyPr>
          <a:lstStyle/>
          <a:p>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custDataLst>
              <p:tags r:id="rId14"/>
            </p:custDataLst>
          </p:nvPr>
        </p:nvSpPr>
        <p:spPr>
          <a:xfrm>
            <a:off x="4280159" y="5698290"/>
            <a:ext cx="1267054" cy="432035"/>
          </a:xfrm>
          <a:prstGeom prst="rect">
            <a:avLst/>
          </a:prstGeom>
          <a:noFill/>
        </p:spPr>
        <p:txBody>
          <a:bodyPr wrap="square" rtlCol="0">
            <a:normAutofit/>
          </a:bodyPr>
          <a:lstStyle/>
          <a:p>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21"/>
          <p:cNvSpPr txBox="1"/>
          <p:nvPr>
            <p:custDataLst>
              <p:tags r:id="rId15"/>
            </p:custDataLst>
          </p:nvPr>
        </p:nvSpPr>
        <p:spPr>
          <a:xfrm>
            <a:off x="6143868" y="5716168"/>
            <a:ext cx="1267054" cy="432035"/>
          </a:xfrm>
          <a:prstGeom prst="rect">
            <a:avLst/>
          </a:prstGeom>
          <a:noFill/>
        </p:spPr>
        <p:txBody>
          <a:bodyPr wrap="square" rtlCol="0">
            <a:normAutofit/>
          </a:bodyPr>
          <a:lstStyle/>
          <a:p>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文本框 22"/>
          <p:cNvSpPr txBox="1"/>
          <p:nvPr>
            <p:custDataLst>
              <p:tags r:id="rId16"/>
            </p:custDataLst>
          </p:nvPr>
        </p:nvSpPr>
        <p:spPr>
          <a:xfrm>
            <a:off x="8648181" y="5689352"/>
            <a:ext cx="1267054" cy="432035"/>
          </a:xfrm>
          <a:prstGeom prst="rect">
            <a:avLst/>
          </a:prstGeom>
          <a:noFill/>
        </p:spPr>
        <p:txBody>
          <a:bodyPr wrap="square" rtlCol="0">
            <a:normAutofit/>
          </a:bodyPr>
          <a:lstStyle/>
          <a:p>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文本框 25"/>
          <p:cNvSpPr txBox="1"/>
          <p:nvPr>
            <p:custDataLst>
              <p:tags r:id="rId17"/>
            </p:custDataLst>
          </p:nvPr>
        </p:nvSpPr>
        <p:spPr>
          <a:xfrm>
            <a:off x="1576217" y="5742239"/>
            <a:ext cx="1267054" cy="432035"/>
          </a:xfrm>
          <a:prstGeom prst="rect">
            <a:avLst/>
          </a:prstGeom>
          <a:noFill/>
        </p:spPr>
        <p:txBody>
          <a:bodyPr wrap="square" rtlCol="0">
            <a:normAutofit/>
          </a:bodyPr>
          <a:lstStyle/>
          <a:p>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文本框 31"/>
          <p:cNvSpPr txBox="1"/>
          <p:nvPr>
            <p:custDataLst>
              <p:tags r:id="rId18"/>
            </p:custDataLst>
          </p:nvPr>
        </p:nvSpPr>
        <p:spPr>
          <a:xfrm>
            <a:off x="6982612" y="1573847"/>
            <a:ext cx="697215" cy="432035"/>
          </a:xfrm>
          <a:prstGeom prst="rect">
            <a:avLst/>
          </a:prstGeom>
          <a:noFill/>
        </p:spPr>
        <p:txBody>
          <a:bodyPr wrap="square" rtlCol="0">
            <a:normAutofit/>
          </a:bodyPr>
          <a:lstStyle/>
          <a:p>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R</a:t>
            </a:r>
            <a:endPar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文本框 33"/>
          <p:cNvSpPr txBox="1"/>
          <p:nvPr>
            <p:custDataLst>
              <p:tags r:id="rId19"/>
            </p:custDataLst>
          </p:nvPr>
        </p:nvSpPr>
        <p:spPr>
          <a:xfrm>
            <a:off x="2400063" y="4716528"/>
            <a:ext cx="697215" cy="432035"/>
          </a:xfrm>
          <a:prstGeom prst="rect">
            <a:avLst/>
          </a:prstGeom>
          <a:noFill/>
        </p:spPr>
        <p:txBody>
          <a:bodyPr wrap="square" rtlCol="0">
            <a:normAutofit/>
          </a:bodyPr>
          <a:lstStyle/>
          <a:p>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U</a:t>
            </a:r>
            <a:endPar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文本框 40"/>
          <p:cNvSpPr txBox="1"/>
          <p:nvPr>
            <p:custDataLst>
              <p:tags r:id="rId20"/>
            </p:custDataLst>
          </p:nvPr>
        </p:nvSpPr>
        <p:spPr>
          <a:xfrm>
            <a:off x="4110325" y="4788782"/>
            <a:ext cx="697215" cy="432035"/>
          </a:xfrm>
          <a:prstGeom prst="rect">
            <a:avLst/>
          </a:prstGeom>
          <a:noFill/>
        </p:spPr>
        <p:txBody>
          <a:bodyPr wrap="square" rtlCol="0">
            <a:normAutofit/>
          </a:bodyPr>
          <a:lstStyle/>
          <a:p>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D</a:t>
            </a:r>
            <a:endPar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文本框 41"/>
          <p:cNvSpPr txBox="1"/>
          <p:nvPr>
            <p:custDataLst>
              <p:tags r:id="rId21"/>
            </p:custDataLst>
          </p:nvPr>
        </p:nvSpPr>
        <p:spPr>
          <a:xfrm>
            <a:off x="6794155" y="4756007"/>
            <a:ext cx="697215" cy="432035"/>
          </a:xfrm>
          <a:prstGeom prst="rect">
            <a:avLst/>
          </a:prstGeom>
          <a:noFill/>
        </p:spPr>
        <p:txBody>
          <a:bodyPr wrap="square" rtlCol="0">
            <a:normAutofit/>
          </a:bodyPr>
          <a:lstStyle/>
          <a:p>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U</a:t>
            </a:r>
            <a:endPar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p:cNvSpPr txBox="1"/>
          <p:nvPr>
            <p:custDataLst>
              <p:tags r:id="rId22"/>
            </p:custDataLst>
          </p:nvPr>
        </p:nvSpPr>
        <p:spPr>
          <a:xfrm>
            <a:off x="8418755" y="4778354"/>
            <a:ext cx="697215" cy="432035"/>
          </a:xfrm>
          <a:prstGeom prst="rect">
            <a:avLst/>
          </a:prstGeom>
          <a:noFill/>
        </p:spPr>
        <p:txBody>
          <a:bodyPr wrap="square" rtlCol="0">
            <a:normAutofit/>
          </a:bodyPr>
          <a:lstStyle/>
          <a:p>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D</a:t>
            </a:r>
            <a:endPar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文本框 43"/>
          <p:cNvSpPr txBox="1"/>
          <p:nvPr>
            <p:custDataLst>
              <p:tags r:id="rId23"/>
            </p:custDataLst>
          </p:nvPr>
        </p:nvSpPr>
        <p:spPr>
          <a:xfrm>
            <a:off x="3920378" y="2722464"/>
            <a:ext cx="697215" cy="432035"/>
          </a:xfrm>
          <a:prstGeom prst="rect">
            <a:avLst/>
          </a:prstGeom>
          <a:noFill/>
        </p:spPr>
        <p:txBody>
          <a:bodyPr wrap="square" rtlCol="0">
            <a:normAutofit/>
          </a:bodyPr>
          <a:lstStyle/>
          <a:p>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L</a:t>
            </a:r>
            <a:r>
              <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p</a:t>
            </a:r>
            <a:r>
              <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5" name="文本框 44"/>
          <p:cNvSpPr txBox="1"/>
          <p:nvPr>
            <p:custDataLst>
              <p:tags r:id="rId24"/>
            </p:custDataLst>
          </p:nvPr>
        </p:nvSpPr>
        <p:spPr>
          <a:xfrm>
            <a:off x="6644433" y="2761943"/>
            <a:ext cx="1190331" cy="432035"/>
          </a:xfrm>
          <a:prstGeom prst="rect">
            <a:avLst/>
          </a:prstGeom>
          <a:noFill/>
        </p:spPr>
        <p:txBody>
          <a:bodyPr wrap="square" rtlCol="0">
            <a:normAutofit/>
          </a:bodyPr>
          <a:lstStyle/>
          <a:p>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M</a:t>
            </a:r>
            <a:r>
              <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(1−</a:t>
            </a:r>
            <a:r>
              <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p</a:t>
            </a:r>
            <a:r>
              <a:rPr lang="en-US" altLang="zh-CN"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图片 1" descr="f01494d1831cca2c2d8b5f9021c13ad"/>
          <p:cNvPicPr>
            <a:picLocks noChangeAspect="1"/>
          </p:cNvPicPr>
          <p:nvPr/>
        </p:nvPicPr>
        <p:blipFill>
          <a:blip r:embed="rId2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2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5" name="Title 6"/>
          <p:cNvSpPr txBox="1"/>
          <p:nvPr>
            <p:custDataLst>
              <p:tags r:id="rId3"/>
            </p:custDataLst>
          </p:nvPr>
        </p:nvSpPr>
        <p:spPr>
          <a:xfrm>
            <a:off x="911225" y="836930"/>
            <a:ext cx="5495925" cy="8001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ClrTx/>
              <a:buSzTx/>
              <a:buFont typeface="Wingdings" panose="05000000000000000000" charset="0"/>
              <a:buChar char="Ø"/>
            </a:pPr>
            <a:r>
              <a:rPr lang="zh-CN" altLang="en-US" sz="2200" b="1" spc="10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例子1——战略形</a:t>
            </a:r>
            <a:endParaRPr lang="zh-CN" altLang="en-US" sz="2200" b="1" spc="10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6" name="表格 15"/>
          <p:cNvGraphicFramePr>
            <a:graphicFrameLocks noGrp="1"/>
          </p:cNvGraphicFramePr>
          <p:nvPr>
            <p:custDataLst>
              <p:tags r:id="rId4"/>
            </p:custDataLst>
          </p:nvPr>
        </p:nvGraphicFramePr>
        <p:xfrm>
          <a:off x="1271270" y="1556385"/>
          <a:ext cx="3911600" cy="3143885"/>
        </p:xfrm>
        <a:graphic>
          <a:graphicData uri="http://schemas.openxmlformats.org/drawingml/2006/table">
            <a:tbl>
              <a:tblPr firstRow="1" bandRow="1">
                <a:tableStyleId>{2D5ABB26-0587-4C30-8999-92F81FD0307C}</a:tableStyleId>
              </a:tblPr>
              <a:tblGrid>
                <a:gridCol w="728345"/>
                <a:gridCol w="727710"/>
                <a:gridCol w="1223645"/>
                <a:gridCol w="1231900"/>
              </a:tblGrid>
              <a:tr h="657225">
                <a:tc>
                  <a:txBody>
                    <a:bodyPr/>
                    <a:p>
                      <a:pPr indent="0" algn="ctr">
                        <a:lnSpc>
                          <a:spcPct val="120000"/>
                        </a:lnSpc>
                        <a:spcBef>
                          <a:spcPts val="0"/>
                        </a:spcBef>
                        <a:spcAft>
                          <a:spcPts val="0"/>
                        </a:spcAft>
                      </a:pPr>
                      <a:endParaRPr lang="zh-CN" altLang="en-US" sz="1600" b="1" spc="120">
                        <a:solidFill>
                          <a:schemeClr val="tx1"/>
                        </a:solidFill>
                        <a:latin typeface="微软雅黑" panose="020B0503020204020204" pitchFamily="34" charset="-122"/>
                        <a:ea typeface="微软雅黑" panose="020B0503020204020204" pitchFamily="34" charset="-122"/>
                      </a:endParaRPr>
                    </a:p>
                  </a:txBody>
                  <a:tcPr marL="127000" marR="127000" marT="107950" marB="107950" anchor="ctr">
                    <a:lnL>
                      <a:noFill/>
                    </a:lnL>
                    <a:lnR w="19050">
                      <a:solidFill>
                        <a:srgbClr val="FFFFFF"/>
                      </a:solidFill>
                      <a:prstDash val="solid"/>
                    </a:lnR>
                    <a:lnT>
                      <a:noFill/>
                    </a:lnT>
                    <a:lnB w="19050">
                      <a:solidFill>
                        <a:srgbClr val="FFFFFF"/>
                      </a:solidFill>
                      <a:prstDash val="solid"/>
                    </a:lnB>
                    <a:noFill/>
                  </a:tcPr>
                </a:tc>
                <a:tc>
                  <a:txBody>
                    <a:bodyPr/>
                    <a:p>
                      <a:pPr indent="0" algn="ctr">
                        <a:lnSpc>
                          <a:spcPct val="120000"/>
                        </a:lnSpc>
                        <a:spcBef>
                          <a:spcPts val="0"/>
                        </a:spcBef>
                        <a:spcAft>
                          <a:spcPts val="0"/>
                        </a:spcAft>
                      </a:pPr>
                      <a:endParaRPr lang="zh-CN" altLang="en-US" sz="1600" b="1" spc="120">
                        <a:solidFill>
                          <a:schemeClr val="tx1"/>
                        </a:solidFill>
                        <a:latin typeface="微软雅黑" panose="020B0503020204020204" pitchFamily="34" charset="-122"/>
                        <a:ea typeface="微软雅黑" panose="020B0503020204020204" pitchFamily="34" charset="-122"/>
                      </a:endParaRPr>
                    </a:p>
                  </a:txBody>
                  <a:tcPr marL="127000" marR="127000" marT="107950" marB="107950" anchor="ctr">
                    <a:lnL w="19050">
                      <a:solidFill>
                        <a:srgbClr val="FFFFFF"/>
                      </a:solidFill>
                      <a:prstDash val="solid"/>
                    </a:lnL>
                    <a:lnR w="19050">
                      <a:solidFill>
                        <a:srgbClr val="FFFFFF"/>
                      </a:solidFill>
                      <a:prstDash val="solid"/>
                    </a:lnR>
                    <a:lnT>
                      <a:noFill/>
                    </a:lnT>
                    <a:lnB w="19050">
                      <a:solidFill>
                        <a:srgbClr val="FFFFFF"/>
                      </a:solidFill>
                      <a:prstDash val="solid"/>
                    </a:lnB>
                    <a:noFill/>
                  </a:tcPr>
                </a:tc>
                <a:tc gridSpan="2">
                  <a:txBody>
                    <a:bodyPr/>
                    <a:p>
                      <a:pPr indent="0" algn="ctr">
                        <a:lnSpc>
                          <a:spcPct val="120000"/>
                        </a:lnSpc>
                        <a:spcBef>
                          <a:spcPts val="0"/>
                        </a:spcBef>
                        <a:spcAft>
                          <a:spcPts val="0"/>
                        </a:spcAft>
                      </a:pPr>
                      <a:r>
                        <a:rPr lang="en-US" altLang="zh-CN" sz="2000" b="1" spc="120">
                          <a:solidFill>
                            <a:srgbClr val="404040"/>
                          </a:solidFill>
                          <a:latin typeface="微软雅黑" panose="020B0503020204020204" pitchFamily="34" charset="-122"/>
                          <a:ea typeface="微软雅黑" panose="020B0503020204020204" pitchFamily="34" charset="-122"/>
                        </a:rPr>
                        <a:t>2</a:t>
                      </a:r>
                      <a:endParaRPr lang="en-US" altLang="zh-CN" sz="2000" b="1" spc="120">
                        <a:solidFill>
                          <a:srgbClr val="404040"/>
                        </a:solidFill>
                        <a:latin typeface="微软雅黑" panose="020B0503020204020204" pitchFamily="34" charset="-122"/>
                        <a:ea typeface="微软雅黑" panose="020B0503020204020204" pitchFamily="34" charset="-122"/>
                      </a:endParaRPr>
                    </a:p>
                  </a:txBody>
                  <a:tcPr marL="127000" marR="127000" marT="107950" marB="107950" anchor="ctr">
                    <a:lnL w="19050">
                      <a:solidFill>
                        <a:srgbClr val="FFFFFF"/>
                      </a:solidFill>
                      <a:prstDash val="solid"/>
                    </a:lnL>
                    <a:lnR>
                      <a:noFill/>
                    </a:lnR>
                    <a:lnT>
                      <a:noFill/>
                    </a:lnT>
                    <a:lnB w="19050">
                      <a:solidFill>
                        <a:srgbClr val="FFFFFF"/>
                      </a:solidFill>
                      <a:prstDash val="solid"/>
                    </a:lnB>
                    <a:noFill/>
                  </a:tcPr>
                </a:tc>
                <a:tc hMerge="1">
                  <a:tcPr>
                    <a:lnR>
                      <a:noFill/>
                    </a:lnR>
                    <a:lnT>
                      <a:noFill/>
                    </a:lnT>
                    <a:lnB w="19050">
                      <a:solidFill>
                        <a:srgbClr val="FFFFFF"/>
                      </a:solidFill>
                      <a:prstDash val="solid"/>
                    </a:lnB>
                  </a:tcPr>
                </a:tc>
              </a:tr>
              <a:tr h="656590">
                <a:tc>
                  <a:txBody>
                    <a:bodyPr/>
                    <a:p>
                      <a:pPr indent="0" algn="ctr">
                        <a:lnSpc>
                          <a:spcPct val="120000"/>
                        </a:lnSpc>
                        <a:spcBef>
                          <a:spcPts val="0"/>
                        </a:spcBef>
                        <a:spcAft>
                          <a:spcPts val="0"/>
                        </a:spcAft>
                      </a:pPr>
                      <a:endParaRPr lang="zh-CN" altLang="en-US" sz="1600" b="1" spc="120">
                        <a:solidFill>
                          <a:schemeClr val="tx1"/>
                        </a:solidFill>
                        <a:latin typeface="微软雅黑" panose="020B0503020204020204" pitchFamily="34" charset="-122"/>
                        <a:ea typeface="微软雅黑" panose="020B0503020204020204" pitchFamily="34" charset="-122"/>
                      </a:endParaRPr>
                    </a:p>
                  </a:txBody>
                  <a:tcPr marL="127000" marR="127000" marT="107950" marB="107950" anchor="ctr">
                    <a:lnL>
                      <a:noFill/>
                    </a:lnL>
                    <a:lnR w="19050">
                      <a:solidFill>
                        <a:srgbClr val="FFFFFF"/>
                      </a:solidFill>
                      <a:prstDash val="solid"/>
                    </a:lnR>
                    <a:lnT w="19050">
                      <a:solidFill>
                        <a:srgbClr val="FFFFFF"/>
                      </a:solidFill>
                      <a:prstDash val="solid"/>
                    </a:lnT>
                    <a:lnB>
                      <a:noFill/>
                    </a:lnB>
                    <a:noFill/>
                  </a:tcPr>
                </a:tc>
                <a:tc>
                  <a:txBody>
                    <a:bodyPr/>
                    <a:p>
                      <a:pPr indent="0" algn="ctr">
                        <a:lnSpc>
                          <a:spcPct val="120000"/>
                        </a:lnSpc>
                        <a:spcBef>
                          <a:spcPts val="0"/>
                        </a:spcBef>
                        <a:spcAft>
                          <a:spcPts val="0"/>
                        </a:spcAft>
                      </a:pPr>
                      <a:endParaRPr lang="zh-CN" altLang="en-US" sz="1600" b="1" spc="120">
                        <a:solidFill>
                          <a:schemeClr val="tx1"/>
                        </a:solidFill>
                        <a:latin typeface="微软雅黑" panose="020B0503020204020204" pitchFamily="34" charset="-122"/>
                        <a:ea typeface="微软雅黑" panose="020B0503020204020204" pitchFamily="34" charset="-122"/>
                      </a:endParaRPr>
                    </a:p>
                  </a:txBody>
                  <a:tcPr marL="127000" marR="127000" marT="107950" marB="107950" anchor="ctr">
                    <a:lnL w="19050">
                      <a:solidFill>
                        <a:srgbClr val="FFFFFF"/>
                      </a:solidFill>
                      <a:prstDash val="solid"/>
                    </a:lnL>
                    <a:lnR w="19050">
                      <a:solidFill>
                        <a:srgbClr val="FFFFFF"/>
                      </a:solidFill>
                      <a:prstDash val="solid"/>
                    </a:lnR>
                    <a:lnT w="19050">
                      <a:solidFill>
                        <a:srgbClr val="FFFFFF"/>
                      </a:solidFill>
                      <a:prstDash val="solid"/>
                    </a:lnT>
                    <a:lnB>
                      <a:noFill/>
                    </a:lnB>
                    <a:noFill/>
                  </a:tcPr>
                </a:tc>
                <a:tc>
                  <a:txBody>
                    <a:bodyPr/>
                    <a:p>
                      <a:pPr indent="0" algn="ctr">
                        <a:lnSpc>
                          <a:spcPct val="120000"/>
                        </a:lnSpc>
                        <a:spcBef>
                          <a:spcPts val="0"/>
                        </a:spcBef>
                        <a:spcAft>
                          <a:spcPts val="0"/>
                        </a:spcAft>
                      </a:pPr>
                      <a:r>
                        <a:rPr lang="en-US" altLang="zh-CN" sz="1800" b="1" spc="120">
                          <a:solidFill>
                            <a:schemeClr val="tx1"/>
                          </a:solidFill>
                          <a:latin typeface="微软雅黑" panose="020B0503020204020204" pitchFamily="34" charset="-122"/>
                          <a:ea typeface="微软雅黑" panose="020B0503020204020204" pitchFamily="34" charset="-122"/>
                        </a:rPr>
                        <a:t>U</a:t>
                      </a:r>
                      <a:endParaRPr lang="en-US" altLang="zh-CN" sz="1800" b="1" spc="120">
                        <a:solidFill>
                          <a:schemeClr val="tx1"/>
                        </a:solidFill>
                        <a:latin typeface="微软雅黑" panose="020B0503020204020204" pitchFamily="34" charset="-122"/>
                        <a:ea typeface="微软雅黑" panose="020B0503020204020204" pitchFamily="34" charset="-122"/>
                      </a:endParaRPr>
                    </a:p>
                  </a:txBody>
                  <a:tcPr marL="127000" marR="127000" marT="107950" marB="107950" anchor="ctr">
                    <a:lnL w="19050">
                      <a:solidFill>
                        <a:srgbClr val="FFFFFF"/>
                      </a:solidFill>
                      <a:prstDash val="solid"/>
                    </a:lnL>
                    <a:lnR w="19050">
                      <a:solidFill>
                        <a:srgbClr val="FFFFFF"/>
                      </a:solidFill>
                      <a:prstDash val="solid"/>
                    </a:lnR>
                    <a:lnT w="19050">
                      <a:solidFill>
                        <a:srgbClr val="FFFFFF"/>
                      </a:solidFill>
                      <a:prstDash val="solid"/>
                    </a:lnT>
                    <a:lnB w="12700">
                      <a:solidFill>
                        <a:schemeClr val="tx1"/>
                      </a:solidFill>
                      <a:prstDash val="solid"/>
                    </a:lnB>
                    <a:noFill/>
                  </a:tcPr>
                </a:tc>
                <a:tc>
                  <a:txBody>
                    <a:bodyPr/>
                    <a:p>
                      <a:pPr indent="0" algn="ctr">
                        <a:lnSpc>
                          <a:spcPct val="120000"/>
                        </a:lnSpc>
                        <a:spcBef>
                          <a:spcPts val="0"/>
                        </a:spcBef>
                        <a:spcAft>
                          <a:spcPts val="0"/>
                        </a:spcAft>
                      </a:pPr>
                      <a:r>
                        <a:rPr lang="en-US" altLang="zh-CN" sz="1800" b="1" spc="120">
                          <a:solidFill>
                            <a:schemeClr val="tx1"/>
                          </a:solidFill>
                          <a:latin typeface="微软雅黑" panose="020B0503020204020204" pitchFamily="34" charset="-122"/>
                          <a:ea typeface="微软雅黑" panose="020B0503020204020204" pitchFamily="34" charset="-122"/>
                        </a:rPr>
                        <a:t>D</a:t>
                      </a:r>
                      <a:endParaRPr lang="en-US" altLang="zh-CN" sz="1800" b="1" spc="120">
                        <a:solidFill>
                          <a:schemeClr val="tx1"/>
                        </a:solidFill>
                        <a:latin typeface="微软雅黑" panose="020B0503020204020204" pitchFamily="34" charset="-122"/>
                        <a:ea typeface="微软雅黑" panose="020B0503020204020204" pitchFamily="34" charset="-122"/>
                      </a:endParaRPr>
                    </a:p>
                  </a:txBody>
                  <a:tcPr marL="127000" marR="127000" marT="107950" marB="107950" anchor="ctr">
                    <a:lnL w="19050">
                      <a:solidFill>
                        <a:srgbClr val="FFFFFF"/>
                      </a:solidFill>
                      <a:prstDash val="solid"/>
                    </a:lnL>
                    <a:lnR>
                      <a:noFill/>
                    </a:lnR>
                    <a:lnT w="19050">
                      <a:solidFill>
                        <a:srgbClr val="FFFFFF"/>
                      </a:solidFill>
                      <a:prstDash val="solid"/>
                    </a:lnT>
                    <a:lnB w="12700">
                      <a:solidFill>
                        <a:schemeClr val="tx1"/>
                      </a:solidFill>
                      <a:prstDash val="solid"/>
                    </a:lnB>
                    <a:noFill/>
                  </a:tcPr>
                </a:tc>
              </a:tr>
              <a:tr h="610235">
                <a:tc rowSpan="3">
                  <a:txBody>
                    <a:bodyPr/>
                    <a:p>
                      <a:pPr indent="0" algn="ctr">
                        <a:lnSpc>
                          <a:spcPct val="120000"/>
                        </a:lnSpc>
                        <a:spcBef>
                          <a:spcPts val="0"/>
                        </a:spcBef>
                        <a:spcAft>
                          <a:spcPts val="0"/>
                        </a:spcAft>
                      </a:pPr>
                      <a:r>
                        <a:rPr lang="en-US" altLang="zh-CN" sz="2000" b="1" spc="120">
                          <a:solidFill>
                            <a:srgbClr val="404040"/>
                          </a:solidFill>
                          <a:latin typeface="微软雅黑" panose="020B0503020204020204" pitchFamily="34" charset="-122"/>
                          <a:ea typeface="微软雅黑" panose="020B0503020204020204" pitchFamily="34" charset="-122"/>
                        </a:rPr>
                        <a:t>1</a:t>
                      </a:r>
                      <a:endParaRPr lang="en-US" altLang="zh-CN" sz="2000" b="1" spc="120">
                        <a:solidFill>
                          <a:srgbClr val="404040"/>
                        </a:solidFill>
                        <a:latin typeface="微软雅黑" panose="020B0503020204020204" pitchFamily="34" charset="-122"/>
                        <a:ea typeface="微软雅黑" panose="020B0503020204020204" pitchFamily="34" charset="-122"/>
                      </a:endParaRPr>
                    </a:p>
                  </a:txBody>
                  <a:tcPr marL="127000" marR="127000" marT="107950" marB="107950" vert="wordArtVertRtl" anchor="ctr">
                    <a:lnL>
                      <a:noFill/>
                    </a:lnL>
                    <a:lnR>
                      <a:noFill/>
                    </a:lnR>
                    <a:lnT>
                      <a:noFill/>
                    </a:lnT>
                    <a:lnB>
                      <a:noFill/>
                    </a:lnB>
                    <a:solidFill>
                      <a:srgbClr val="FFFFFF"/>
                    </a:solidFill>
                  </a:tcPr>
                </a:tc>
                <a:tc>
                  <a:txBody>
                    <a:bodyPr/>
                    <a:p>
                      <a:pPr algn="ctr">
                        <a:lnSpc>
                          <a:spcPct val="120000"/>
                        </a:lnSpc>
                        <a:spcBef>
                          <a:spcPts val="0"/>
                        </a:spcBef>
                        <a:spcAft>
                          <a:spcPts val="0"/>
                        </a:spcAft>
                        <a:buClrTx/>
                        <a:buSzTx/>
                        <a:buFontTx/>
                      </a:pPr>
                      <a:r>
                        <a:rPr lang="en-US" altLang="zh-CN" sz="1800" b="1" spc="120">
                          <a:latin typeface="微软雅黑" panose="020B0503020204020204" pitchFamily="34" charset="-122"/>
                          <a:ea typeface="微软雅黑" panose="020B0503020204020204" pitchFamily="34" charset="-122"/>
                        </a:rPr>
                        <a:t>R</a:t>
                      </a:r>
                      <a:endParaRPr lang="en-US" altLang="zh-CN" sz="1800" b="1" spc="120">
                        <a:latin typeface="微软雅黑" panose="020B0503020204020204" pitchFamily="34" charset="-122"/>
                        <a:ea typeface="微软雅黑" panose="020B0503020204020204" pitchFamily="34" charset="-122"/>
                      </a:endParaRPr>
                    </a:p>
                  </a:txBody>
                  <a:tcPr marL="127000" marR="127000" marT="107950" marB="107950" anchor="ctr">
                    <a:lnL>
                      <a:noFill/>
                    </a:lnL>
                    <a:lnR w="12700">
                      <a:solidFill>
                        <a:schemeClr val="tx1"/>
                      </a:solidFill>
                      <a:prstDash val="solid"/>
                    </a:lnR>
                    <a:lnT>
                      <a:noFill/>
                    </a:lnT>
                    <a:lnB>
                      <a:noFill/>
                    </a:lnB>
                    <a:solidFill>
                      <a:srgbClr val="FFFFFF"/>
                    </a:solidFill>
                  </a:tcPr>
                </a:tc>
                <a:tc>
                  <a:txBody>
                    <a:bodyPr/>
                    <a:p>
                      <a:pPr indent="0" algn="ctr">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0" marR="127000" marT="107950" marB="107950" anchor="ctr">
                    <a:lnL w="12700">
                      <a:solidFill>
                        <a:schemeClr val="tx1"/>
                      </a:solidFill>
                      <a:prstDash val="solid"/>
                    </a:lnL>
                    <a:lnR w="6350">
                      <a:solidFill>
                        <a:srgbClr val="D9D9D9"/>
                      </a:solidFill>
                      <a:prstDash val="dash"/>
                    </a:lnR>
                    <a:lnT w="12700">
                      <a:solidFill>
                        <a:schemeClr val="tx1"/>
                      </a:solidFill>
                      <a:prstDash val="solid"/>
                    </a:lnT>
                    <a:lnB w="6350">
                      <a:solidFill>
                        <a:srgbClr val="D9D9D9"/>
                      </a:solidFill>
                      <a:prstDash val="dash"/>
                    </a:lnB>
                    <a:solidFill>
                      <a:srgbClr val="FFFFFF"/>
                    </a:solidFill>
                  </a:tcPr>
                </a:tc>
                <a:tc>
                  <a:txBody>
                    <a:bodyPr/>
                    <a:p>
                      <a:pPr indent="0" algn="ctr">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3</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0" marR="127000" marT="107950" marB="107950" anchor="ctr">
                    <a:lnL w="6350">
                      <a:solidFill>
                        <a:srgbClr val="D9D9D9"/>
                      </a:solidFill>
                      <a:prstDash val="dash"/>
                    </a:lnL>
                    <a:lnR w="12700">
                      <a:solidFill>
                        <a:schemeClr val="tx1"/>
                      </a:solidFill>
                      <a:prstDash val="solid"/>
                    </a:lnR>
                    <a:lnT w="12700">
                      <a:solidFill>
                        <a:schemeClr val="tx1"/>
                      </a:solidFill>
                      <a:prstDash val="solid"/>
                    </a:lnT>
                    <a:lnB w="6350">
                      <a:solidFill>
                        <a:srgbClr val="D9D9D9"/>
                      </a:solidFill>
                      <a:prstDash val="dash"/>
                    </a:lnB>
                    <a:solidFill>
                      <a:srgbClr val="FFFFFF"/>
                    </a:solidFill>
                  </a:tcPr>
                </a:tc>
              </a:tr>
              <a:tr h="609600">
                <a:tc vMerge="1">
                  <a:tcPr>
                    <a:lnL>
                      <a:noFill/>
                    </a:lnL>
                    <a:lnR>
                      <a:noFill/>
                    </a:lnR>
                  </a:tcPr>
                </a:tc>
                <a:tc>
                  <a:txBody>
                    <a:bodyPr/>
                    <a:p>
                      <a:pPr algn="ctr">
                        <a:lnSpc>
                          <a:spcPct val="120000"/>
                        </a:lnSpc>
                        <a:spcBef>
                          <a:spcPts val="0"/>
                        </a:spcBef>
                        <a:spcAft>
                          <a:spcPts val="0"/>
                        </a:spcAft>
                        <a:buClrTx/>
                        <a:buSzTx/>
                        <a:buFontTx/>
                      </a:pPr>
                      <a:r>
                        <a:rPr lang="en-US" altLang="zh-CN" sz="1800" b="1" spc="120">
                          <a:latin typeface="微软雅黑" panose="020B0503020204020204" pitchFamily="34" charset="-122"/>
                          <a:ea typeface="微软雅黑" panose="020B0503020204020204" pitchFamily="34" charset="-122"/>
                        </a:rPr>
                        <a:t>M</a:t>
                      </a:r>
                      <a:endParaRPr lang="en-US" altLang="zh-CN" sz="1800" b="1" spc="120">
                        <a:latin typeface="微软雅黑" panose="020B0503020204020204" pitchFamily="34" charset="-122"/>
                        <a:ea typeface="微软雅黑" panose="020B0503020204020204" pitchFamily="34" charset="-122"/>
                      </a:endParaRPr>
                    </a:p>
                  </a:txBody>
                  <a:tcPr marL="127000" marR="127000" marT="107950" marB="107950" anchor="ctr">
                    <a:lnL>
                      <a:noFill/>
                    </a:lnL>
                    <a:lnR w="12700">
                      <a:solidFill>
                        <a:schemeClr val="tx1"/>
                      </a:solidFill>
                      <a:prstDash val="solid"/>
                    </a:lnR>
                    <a:lnT>
                      <a:noFill/>
                    </a:lnT>
                    <a:lnB>
                      <a:noFill/>
                    </a:lnB>
                    <a:solidFill>
                      <a:srgbClr val="FFFFFF"/>
                    </a:solidFill>
                  </a:tcPr>
                </a:tc>
                <a:tc>
                  <a:txBody>
                    <a:bodyPr/>
                    <a:p>
                      <a:pPr indent="0" algn="ctr">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0" marR="127000" marT="107950" marB="107950" anchor="ctr">
                    <a:lnL w="12700">
                      <a:solidFill>
                        <a:schemeClr val="tx1"/>
                      </a:solidFill>
                      <a:prstDash val="solid"/>
                    </a:lnL>
                    <a:lnR w="6350">
                      <a:solidFill>
                        <a:srgbClr val="D9D9D9"/>
                      </a:solidFill>
                      <a:prstDash val="dash"/>
                    </a:lnR>
                    <a:lnT w="6350">
                      <a:solidFill>
                        <a:srgbClr val="D9D9D9"/>
                      </a:solidFill>
                      <a:prstDash val="dash"/>
                    </a:lnT>
                    <a:lnB w="6350">
                      <a:solidFill>
                        <a:srgbClr val="D9D9D9"/>
                      </a:solidFill>
                      <a:prstDash val="dash"/>
                    </a:lnB>
                    <a:solidFill>
                      <a:srgbClr val="FFFFFF"/>
                    </a:solidFill>
                  </a:tcPr>
                </a:tc>
                <a:tc>
                  <a:txBody>
                    <a:bodyPr/>
                    <a:p>
                      <a:pPr indent="0" algn="ctr">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0" marR="127000" marT="107950" marB="107950" anchor="ctr">
                    <a:lnL w="6350">
                      <a:solidFill>
                        <a:srgbClr val="D9D9D9"/>
                      </a:solidFill>
                      <a:prstDash val="dash"/>
                    </a:lnL>
                    <a:lnR w="12700">
                      <a:solidFill>
                        <a:schemeClr val="tx1"/>
                      </a:solidFill>
                      <a:prstDash val="solid"/>
                    </a:lnR>
                    <a:lnT w="6350">
                      <a:solidFill>
                        <a:srgbClr val="D9D9D9"/>
                      </a:solidFill>
                      <a:prstDash val="dash"/>
                    </a:lnT>
                    <a:lnB w="6350">
                      <a:solidFill>
                        <a:srgbClr val="D9D9D9"/>
                      </a:solidFill>
                      <a:prstDash val="dash"/>
                    </a:lnB>
                    <a:solidFill>
                      <a:srgbClr val="FFFFFF"/>
                    </a:solidFill>
                  </a:tcPr>
                </a:tc>
              </a:tr>
              <a:tr h="610235">
                <a:tc vMerge="1">
                  <a:tcPr>
                    <a:lnL>
                      <a:noFill/>
                    </a:lnL>
                    <a:lnR>
                      <a:noFill/>
                    </a:lnR>
                    <a:lnB>
                      <a:noFill/>
                    </a:lnB>
                  </a:tcPr>
                </a:tc>
                <a:tc>
                  <a:txBody>
                    <a:bodyPr/>
                    <a:p>
                      <a:pPr algn="ctr">
                        <a:lnSpc>
                          <a:spcPct val="120000"/>
                        </a:lnSpc>
                        <a:spcBef>
                          <a:spcPts val="0"/>
                        </a:spcBef>
                        <a:spcAft>
                          <a:spcPts val="0"/>
                        </a:spcAft>
                        <a:buClrTx/>
                        <a:buSzTx/>
                        <a:buFontTx/>
                      </a:pPr>
                      <a:r>
                        <a:rPr lang="en-US" altLang="zh-CN" sz="1800" b="1" spc="120">
                          <a:latin typeface="微软雅黑" panose="020B0503020204020204" pitchFamily="34" charset="-122"/>
                          <a:ea typeface="微软雅黑" panose="020B0503020204020204" pitchFamily="34" charset="-122"/>
                        </a:rPr>
                        <a:t>L</a:t>
                      </a:r>
                      <a:endParaRPr lang="en-US" altLang="zh-CN" sz="1800" b="1" spc="120">
                        <a:latin typeface="微软雅黑" panose="020B0503020204020204" pitchFamily="34" charset="-122"/>
                        <a:ea typeface="微软雅黑" panose="020B0503020204020204" pitchFamily="34" charset="-122"/>
                      </a:endParaRPr>
                    </a:p>
                  </a:txBody>
                  <a:tcPr marL="127000" marR="127000" marT="107950" marB="107950" anchor="ctr">
                    <a:lnL>
                      <a:noFill/>
                    </a:lnL>
                    <a:lnR w="12700">
                      <a:solidFill>
                        <a:schemeClr val="tx1"/>
                      </a:solidFill>
                      <a:prstDash val="solid"/>
                    </a:lnR>
                    <a:lnT>
                      <a:noFill/>
                    </a:lnT>
                    <a:lnB>
                      <a:noFill/>
                    </a:lnB>
                    <a:solidFill>
                      <a:srgbClr val="FFFFFF"/>
                    </a:solidFill>
                  </a:tcPr>
                </a:tc>
                <a:tc>
                  <a:txBody>
                    <a:bodyPr/>
                    <a:p>
                      <a:pPr indent="0" algn="ctr">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0" marR="127000" marT="107950" marB="107950" anchor="ctr">
                    <a:lnL w="12700">
                      <a:solidFill>
                        <a:schemeClr val="tx1"/>
                      </a:solidFill>
                      <a:prstDash val="solid"/>
                    </a:lnL>
                    <a:lnR w="6350">
                      <a:solidFill>
                        <a:srgbClr val="D9D9D9"/>
                      </a:solidFill>
                      <a:prstDash val="dash"/>
                    </a:lnR>
                    <a:lnT w="6350">
                      <a:solidFill>
                        <a:srgbClr val="D9D9D9"/>
                      </a:solidFill>
                      <a:prstDash val="dash"/>
                    </a:lnT>
                    <a:lnB w="12700">
                      <a:solidFill>
                        <a:schemeClr val="tx1"/>
                      </a:solidFill>
                      <a:prstDash val="solid"/>
                    </a:lnB>
                    <a:solidFill>
                      <a:srgbClr val="FFFFFF"/>
                    </a:solidFill>
                  </a:tcPr>
                </a:tc>
                <a:tc>
                  <a:txBody>
                    <a:bodyPr/>
                    <a:p>
                      <a:pPr indent="0" algn="ctr">
                        <a:lnSpc>
                          <a:spcPct val="120000"/>
                        </a:lnSpc>
                        <a:spcBef>
                          <a:spcPts val="0"/>
                        </a:spcBef>
                        <a:spcAft>
                          <a:spcPts val="0"/>
                        </a:spcAft>
                      </a:pP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0" marR="127000" marT="107950" marB="107950" anchor="ctr">
                    <a:lnL w="6350">
                      <a:solidFill>
                        <a:srgbClr val="D9D9D9"/>
                      </a:solidFill>
                      <a:prstDash val="dash"/>
                    </a:lnL>
                    <a:lnR w="12700">
                      <a:solidFill>
                        <a:schemeClr val="tx1"/>
                      </a:solidFill>
                      <a:prstDash val="solid"/>
                    </a:lnR>
                    <a:lnT w="6350">
                      <a:solidFill>
                        <a:srgbClr val="D9D9D9"/>
                      </a:solidFill>
                      <a:prstDash val="dash"/>
                    </a:lnT>
                    <a:lnB w="12700">
                      <a:solidFill>
                        <a:schemeClr val="tx1"/>
                      </a:solidFill>
                      <a:prstDash val="solid"/>
                    </a:lnB>
                    <a:lnTlToBr w="12700" cmpd="sng">
                      <a:noFill/>
                      <a:prstDash val="solid"/>
                    </a:lnTlToBr>
                    <a:lnBlToTr w="12700" cmpd="sng">
                      <a:noFill/>
                      <a:prstDash val="solid"/>
                    </a:lnBlToTr>
                    <a:solidFill>
                      <a:srgbClr val="FFFFFF"/>
                    </a:solidFill>
                  </a:tcPr>
                </a:tc>
              </a:tr>
            </a:tbl>
          </a:graphicData>
        </a:graphic>
      </p:graphicFrame>
      <p:sp>
        <p:nvSpPr>
          <p:cNvPr id="2" name="Title 6"/>
          <p:cNvSpPr txBox="1"/>
          <p:nvPr>
            <p:custDataLst>
              <p:tags r:id="rId5"/>
            </p:custDataLst>
          </p:nvPr>
        </p:nvSpPr>
        <p:spPr>
          <a:xfrm>
            <a:off x="911225" y="4923155"/>
            <a:ext cx="5495925" cy="12414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纳什均衡：(L，U)和(R，D)</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4" name="Title 6"/>
          <p:cNvSpPr txBox="1"/>
          <p:nvPr>
            <p:custDataLst>
              <p:tags r:id="rId3"/>
            </p:custDataLst>
          </p:nvPr>
        </p:nvSpPr>
        <p:spPr>
          <a:xfrm>
            <a:off x="839470" y="476885"/>
            <a:ext cx="10750550" cy="48063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例子1——根据定义进行精炼</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下面来证明(L，U；p=1)是完美贝叶斯均衡(注意， p=1是一个信念，在完美贝叶斯均衡中要注明，即策略组和信念)。</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在上面博弈矩阵中，与R和L比较，对于博弈方1来说，M是一个劣策略，或弱策略，应该剔除。所以，博弈方1选择(1，0)，即p=1的信念是合理的(即满足了R1)。</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 (1，0)的信念下，博弈方2的最优选择</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是U。根据贝叶斯法则计算，博弈方1选择L的得益(=2)优于选择R (=1) (即满足了R2和R3)。</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在第一阶段选择</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在第二阶段选择</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U”</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的多结点信息集在均衡路径上，不存在不在均衡路径上的信息集，自然满足了R4。</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而由于不满足R2， (R，D ；p=0)被精炼掉。</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8"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2" name="标题 1"/>
          <p:cNvSpPr>
            <a:spLocks noGrp="1"/>
          </p:cNvSpPr>
          <p:nvPr>
            <p:ph type="title" idx="4294967295"/>
          </p:nvPr>
        </p:nvSpPr>
        <p:spPr>
          <a:xfrm>
            <a:off x="677146" y="44568"/>
            <a:ext cx="9613861" cy="1080938"/>
          </a:xfr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华文新魏" panose="02010800040101010101" pitchFamily="2" charset="-122"/>
                <a:ea typeface="华文新魏" panose="02010800040101010101" pitchFamily="2" charset="-122"/>
                <a:cs typeface="+mj-cs"/>
              </a:defRPr>
            </a:lvl1pPr>
          </a:lstStyle>
          <a:p>
            <a:pPr lvl="0" algn="l">
              <a:buClrTx/>
              <a:buSzTx/>
              <a:buFontTx/>
            </a:pPr>
            <a:r>
              <a:rPr lang="zh-CN" altLang="en-US" sz="3200" b="1" dirty="0">
                <a:solidFill>
                  <a:schemeClr val="accent1"/>
                </a:solidFill>
                <a:latin typeface="微软雅黑" panose="020B0503020204020204" pitchFamily="34" charset="-122"/>
                <a:ea typeface="微软雅黑" panose="020B0503020204020204" pitchFamily="34" charset="-122"/>
                <a:sym typeface="+mn-ea"/>
              </a:rPr>
              <a:t>完美贝叶斯均衡</a:t>
            </a:r>
            <a:endParaRPr lang="zh-CN" altLang="en-US" sz="3200" b="1" dirty="0">
              <a:solidFill>
                <a:schemeClr val="accent1"/>
              </a:solidFill>
              <a:latin typeface="微软雅黑" panose="020B0503020204020204" pitchFamily="34" charset="-122"/>
              <a:ea typeface="微软雅黑" panose="020B0503020204020204" pitchFamily="34" charset="-122"/>
              <a:sym typeface="+mn-ea"/>
            </a:endParaRPr>
          </a:p>
        </p:txBody>
      </p:sp>
      <p:sp>
        <p:nvSpPr>
          <p:cNvPr id="3" name="内容占位符 2"/>
          <p:cNvSpPr>
            <a:spLocks noGrp="1"/>
          </p:cNvSpPr>
          <p:nvPr>
            <p:ph idx="4294967295"/>
            <p:custDataLst>
              <p:tags r:id="rId3"/>
            </p:custDataLst>
          </p:nvPr>
        </p:nvSpPr>
        <p:spPr>
          <a:xfrm>
            <a:off x="839470" y="1100455"/>
            <a:ext cx="9613900" cy="897890"/>
          </a:xfr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285750" lvl="0" indent="-285750" algn="l" defTabSz="913765" fontAlgn="ctr">
              <a:lnSpc>
                <a:spcPct val="130000"/>
              </a:lnSpc>
              <a:spcAft>
                <a:spcPts val="0"/>
              </a:spcAft>
              <a:buClrTx/>
              <a:buSzTx/>
              <a:buFont typeface="Wingdings" panose="05000000000000000000" charset="0"/>
              <a:buChar char="Ø"/>
            </a:pPr>
            <a:r>
              <a:rPr lang="zh-CN" altLang="en-US" sz="2200" b="1" spc="100" dirty="0" smtClean="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例子2——扩展形</a:t>
            </a:r>
            <a:endParaRPr lang="zh-CN" altLang="en-US" sz="2200" b="1" spc="100" dirty="0" smtClean="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buClrTx/>
              <a:buSzTx/>
            </a:pPr>
            <a:endParaRPr lang="zh-CN" altLang="en-US" sz="2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3" name="直接连接符 12"/>
          <p:cNvCxnSpPr/>
          <p:nvPr>
            <p:custDataLst>
              <p:tags r:id="rId4"/>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2999740" y="1844675"/>
            <a:ext cx="5880735" cy="4055438"/>
            <a:chOff x="2863138" y="2852936"/>
            <a:chExt cx="5248226" cy="3400385"/>
          </a:xfrm>
        </p:grpSpPr>
        <p:grpSp>
          <p:nvGrpSpPr>
            <p:cNvPr id="34" name="组合 33"/>
            <p:cNvGrpSpPr/>
            <p:nvPr/>
          </p:nvGrpSpPr>
          <p:grpSpPr>
            <a:xfrm>
              <a:off x="2863138" y="2852936"/>
              <a:ext cx="5248226" cy="3400385"/>
              <a:chOff x="2389241" y="2863472"/>
              <a:chExt cx="5248226" cy="3400385"/>
            </a:xfrm>
          </p:grpSpPr>
          <p:sp>
            <p:nvSpPr>
              <p:cNvPr id="35" name="文本框 34"/>
              <p:cNvSpPr txBox="1"/>
              <p:nvPr/>
            </p:nvSpPr>
            <p:spPr>
              <a:xfrm>
                <a:off x="6403709" y="4208394"/>
                <a:ext cx="1233758" cy="308810"/>
              </a:xfrm>
              <a:prstGeom prst="rect">
                <a:avLst/>
              </a:prstGeom>
              <a:noFill/>
            </p:spPr>
            <p:txBody>
              <a:bodyPr wrap="square" rtlCol="0">
                <a:spAutoFit/>
              </a:bodyPr>
              <a:p>
                <a:r>
                  <a:rPr lang="en-US" altLang="zh-CN" dirty="0"/>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0</a:t>
                </a:r>
                <a:r>
                  <a:rPr lang="en-US" altLang="zh-CN" dirty="0"/>
                  <a:t>)</a:t>
                </a:r>
                <a:endParaRPr lang="zh-CN" altLang="en-US" dirty="0"/>
              </a:p>
            </p:txBody>
          </p:sp>
          <p:sp>
            <p:nvSpPr>
              <p:cNvPr id="36" name="文本框 35"/>
              <p:cNvSpPr txBox="1"/>
              <p:nvPr/>
            </p:nvSpPr>
            <p:spPr>
              <a:xfrm>
                <a:off x="5783695" y="5939988"/>
                <a:ext cx="1233758" cy="308810"/>
              </a:xfrm>
              <a:prstGeom prst="rect">
                <a:avLst/>
              </a:prstGeom>
              <a:noFill/>
            </p:spPr>
            <p:txBody>
              <a:bodyPr wrap="square" rtlCol="0">
                <a:spAutoFit/>
              </a:bodyPr>
              <a:p>
                <a:r>
                  <a:rPr lang="en-US" altLang="zh-CN" dirty="0"/>
                  <a:t>(</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en-US" altLang="zh-CN" dirty="0"/>
                  <a:t>)</a:t>
                </a:r>
                <a:endParaRPr lang="zh-CN" altLang="en-US" dirty="0"/>
              </a:p>
            </p:txBody>
          </p:sp>
          <p:grpSp>
            <p:nvGrpSpPr>
              <p:cNvPr id="37" name="组合 36"/>
              <p:cNvGrpSpPr/>
              <p:nvPr/>
            </p:nvGrpSpPr>
            <p:grpSpPr>
              <a:xfrm>
                <a:off x="2389241" y="2863472"/>
                <a:ext cx="4564150" cy="3400385"/>
                <a:chOff x="2389241" y="2863472"/>
                <a:chExt cx="4564150" cy="3400385"/>
              </a:xfrm>
            </p:grpSpPr>
            <p:grpSp>
              <p:nvGrpSpPr>
                <p:cNvPr id="38" name="组合 37"/>
                <p:cNvGrpSpPr/>
                <p:nvPr/>
              </p:nvGrpSpPr>
              <p:grpSpPr>
                <a:xfrm>
                  <a:off x="2999656" y="2863472"/>
                  <a:ext cx="3953735" cy="3156669"/>
                  <a:chOff x="2639616" y="2759994"/>
                  <a:chExt cx="3953735" cy="3156669"/>
                </a:xfrm>
              </p:grpSpPr>
              <p:grpSp>
                <p:nvGrpSpPr>
                  <p:cNvPr id="39" name="组合 38"/>
                  <p:cNvGrpSpPr/>
                  <p:nvPr/>
                </p:nvGrpSpPr>
                <p:grpSpPr>
                  <a:xfrm>
                    <a:off x="2639616" y="2966951"/>
                    <a:ext cx="3953735" cy="2949712"/>
                    <a:chOff x="2423592" y="3068960"/>
                    <a:chExt cx="3953735" cy="2949712"/>
                  </a:xfrm>
                </p:grpSpPr>
                <p:cxnSp>
                  <p:nvCxnSpPr>
                    <p:cNvPr id="40" name="直接连接符 39"/>
                    <p:cNvCxnSpPr/>
                    <p:nvPr/>
                  </p:nvCxnSpPr>
                  <p:spPr>
                    <a:xfrm flipH="1">
                      <a:off x="2423592" y="3068960"/>
                      <a:ext cx="2736304" cy="28803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5159896" y="3068960"/>
                      <a:ext cx="1217431" cy="11521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4073071" y="4221088"/>
                      <a:ext cx="1695540" cy="17281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3053639" y="5304991"/>
                      <a:ext cx="696981" cy="7136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487321" y="5323085"/>
                      <a:ext cx="665871" cy="695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6" name="椭圆 65"/>
                  <p:cNvSpPr/>
                  <p:nvPr/>
                </p:nvSpPr>
                <p:spPr>
                  <a:xfrm>
                    <a:off x="5136865" y="2759994"/>
                    <a:ext cx="504056" cy="504056"/>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p:txBody>
              </p:sp>
              <p:sp>
                <p:nvSpPr>
                  <p:cNvPr id="67" name="椭圆 66"/>
                  <p:cNvSpPr/>
                  <p:nvPr/>
                </p:nvSpPr>
                <p:spPr>
                  <a:xfrm>
                    <a:off x="4037067" y="3903055"/>
                    <a:ext cx="504056" cy="504056"/>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latin typeface="Times New Roman" panose="02020603050405020304" pitchFamily="18" charset="0"/>
                        <a:cs typeface="Times New Roman" panose="02020603050405020304" pitchFamily="18" charset="0"/>
                      </a:rPr>
                      <a:t>2</a:t>
                    </a:r>
                    <a:endParaRPr lang="zh-CN" altLang="en-US" dirty="0">
                      <a:latin typeface="Times New Roman" panose="02020603050405020304" pitchFamily="18" charset="0"/>
                      <a:cs typeface="Times New Roman" panose="02020603050405020304" pitchFamily="18" charset="0"/>
                    </a:endParaRPr>
                  </a:p>
                </p:txBody>
              </p:sp>
              <p:sp>
                <p:nvSpPr>
                  <p:cNvPr id="68" name="椭圆 67"/>
                  <p:cNvSpPr/>
                  <p:nvPr/>
                </p:nvSpPr>
                <p:spPr>
                  <a:xfrm>
                    <a:off x="2990002" y="4932006"/>
                    <a:ext cx="2637946" cy="541951"/>
                  </a:xfrm>
                  <a:prstGeom prst="ellipse">
                    <a:avLst/>
                  </a:prstGeom>
                  <a:blipFill dpi="0" rotWithShape="1">
                    <a:blip r:embed="rId7">
                      <a:extLst>
                        <a:ext uri="{28A0092B-C50C-407E-A947-70E740481C1C}">
                          <a14:useLocalDpi xmlns:a14="http://schemas.microsoft.com/office/drawing/2010/main" val="0"/>
                        </a:ext>
                      </a:extLst>
                    </a:blip>
                    <a:srcRect/>
                    <a:stretch>
                      <a:fillRect/>
                    </a:stretch>
                  </a:blip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p:txBody>
              </p:sp>
            </p:grpSp>
            <p:sp>
              <p:nvSpPr>
                <p:cNvPr id="69" name="文本框 68"/>
                <p:cNvSpPr txBox="1"/>
                <p:nvPr/>
              </p:nvSpPr>
              <p:spPr>
                <a:xfrm>
                  <a:off x="3638106" y="5939988"/>
                  <a:ext cx="1233758" cy="308810"/>
                </a:xfrm>
                <a:prstGeom prst="rect">
                  <a:avLst/>
                </a:prstGeom>
                <a:noFill/>
              </p:spPr>
              <p:txBody>
                <a:bodyPr wrap="square" rtlCol="0">
                  <a:spAutoFit/>
                </a:bodyPr>
                <a:p>
                  <a:r>
                    <a:rPr lang="en-US" altLang="zh-CN" dirty="0"/>
                    <a:t>(</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3</a:t>
                  </a:r>
                  <a:r>
                    <a:rPr lang="en-US" altLang="zh-CN" dirty="0"/>
                    <a:t>)</a:t>
                  </a:r>
                  <a:endParaRPr lang="zh-CN" altLang="en-US" dirty="0"/>
                </a:p>
              </p:txBody>
            </p:sp>
            <p:sp>
              <p:nvSpPr>
                <p:cNvPr id="70" name="文本框 69"/>
                <p:cNvSpPr txBox="1"/>
                <p:nvPr/>
              </p:nvSpPr>
              <p:spPr>
                <a:xfrm>
                  <a:off x="4654788" y="5955047"/>
                  <a:ext cx="1233758" cy="308810"/>
                </a:xfrm>
                <a:prstGeom prst="rect">
                  <a:avLst/>
                </a:prstGeom>
                <a:noFill/>
              </p:spPr>
              <p:txBody>
                <a:bodyPr wrap="square" rtlCol="0">
                  <a:spAutoFit/>
                </a:bodyPr>
                <a:p>
                  <a:r>
                    <a:rPr lang="en-US" altLang="zh-CN" dirty="0"/>
                    <a:t>(</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en-US" altLang="zh-CN" dirty="0"/>
                    <a:t>)</a:t>
                  </a:r>
                  <a:endParaRPr lang="zh-CN" altLang="en-US" dirty="0"/>
                </a:p>
              </p:txBody>
            </p:sp>
            <p:sp>
              <p:nvSpPr>
                <p:cNvPr id="71" name="文本框 70"/>
                <p:cNvSpPr txBox="1"/>
                <p:nvPr/>
              </p:nvSpPr>
              <p:spPr>
                <a:xfrm>
                  <a:off x="2389241" y="5955047"/>
                  <a:ext cx="1233758" cy="308810"/>
                </a:xfrm>
                <a:prstGeom prst="rect">
                  <a:avLst/>
                </a:prstGeom>
                <a:noFill/>
              </p:spPr>
              <p:txBody>
                <a:bodyPr wrap="square" rtlCol="0">
                  <a:spAutoFit/>
                </a:bodyPr>
                <a:p>
                  <a:r>
                    <a:rPr lang="en-US" altLang="zh-CN" dirty="0"/>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en-US" altLang="zh-CN" dirty="0"/>
                    <a:t>)</a:t>
                  </a:r>
                  <a:endParaRPr lang="zh-CN" altLang="en-US" dirty="0"/>
                </a:p>
              </p:txBody>
            </p:sp>
          </p:grpSp>
        </p:grpSp>
        <p:sp>
          <p:nvSpPr>
            <p:cNvPr id="72" name="文本框 71"/>
            <p:cNvSpPr txBox="1"/>
            <p:nvPr/>
          </p:nvSpPr>
          <p:spPr>
            <a:xfrm>
              <a:off x="6757542" y="3275692"/>
              <a:ext cx="634602" cy="308810"/>
            </a:xfrm>
            <a:prstGeom prst="rect">
              <a:avLst/>
            </a:prstGeom>
            <a:noFill/>
          </p:spPr>
          <p:txBody>
            <a:bodyPr wrap="square" rtlCol="0">
              <a:spAutoFit/>
            </a:bodyPr>
            <a:p>
              <a:r>
                <a:rPr lang="en-US" altLang="zh-CN" i="1" dirty="0">
                  <a:latin typeface="Times New Roman" panose="02020603050405020304" pitchFamily="18" charset="0"/>
                  <a:cs typeface="Times New Roman" panose="02020603050405020304" pitchFamily="18" charset="0"/>
                </a:rPr>
                <a:t>B</a:t>
              </a:r>
              <a:endParaRPr lang="zh-CN" altLang="en-US" i="1" dirty="0">
                <a:latin typeface="Times New Roman" panose="02020603050405020304" pitchFamily="18" charset="0"/>
                <a:cs typeface="Times New Roman" panose="02020603050405020304" pitchFamily="18" charset="0"/>
              </a:endParaRPr>
            </a:p>
          </p:txBody>
        </p:sp>
        <p:sp>
          <p:nvSpPr>
            <p:cNvPr id="73" name="文本框 72"/>
            <p:cNvSpPr txBox="1"/>
            <p:nvPr/>
          </p:nvSpPr>
          <p:spPr>
            <a:xfrm>
              <a:off x="4007768" y="4509120"/>
              <a:ext cx="657213" cy="308810"/>
            </a:xfrm>
            <a:prstGeom prst="rect">
              <a:avLst/>
            </a:prstGeom>
            <a:noFill/>
          </p:spPr>
          <p:txBody>
            <a:bodyPr wrap="square" rtlCol="0">
              <a:spAutoFit/>
            </a:bodyPr>
            <a:p>
              <a:r>
                <a:rPr lang="en-US" altLang="zh-CN" i="1" dirty="0">
                  <a:latin typeface="Times New Roman" panose="02020603050405020304" pitchFamily="18" charset="0"/>
                  <a:cs typeface="Times New Roman" panose="02020603050405020304" pitchFamily="18" charset="0"/>
                </a:rPr>
                <a:t>L</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a:t>
              </a:r>
              <a:endParaRPr lang="zh-CN" altLang="en-US" i="1" dirty="0">
                <a:latin typeface="Times New Roman" panose="02020603050405020304" pitchFamily="18" charset="0"/>
                <a:cs typeface="Times New Roman" panose="02020603050405020304" pitchFamily="18" charset="0"/>
              </a:endParaRPr>
            </a:p>
          </p:txBody>
        </p:sp>
        <p:sp>
          <p:nvSpPr>
            <p:cNvPr id="74" name="文本框 73"/>
            <p:cNvSpPr txBox="1"/>
            <p:nvPr/>
          </p:nvSpPr>
          <p:spPr>
            <a:xfrm>
              <a:off x="5652504" y="4482352"/>
              <a:ext cx="974751" cy="308810"/>
            </a:xfrm>
            <a:prstGeom prst="rect">
              <a:avLst/>
            </a:prstGeom>
            <a:noFill/>
          </p:spPr>
          <p:txBody>
            <a:bodyPr wrap="square" rtlCol="0">
              <a:spAutoFit/>
            </a:bodyPr>
            <a:p>
              <a:r>
                <a:rPr lang="en-US" altLang="zh-CN" i="1"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a:t>
              </a:r>
              <a:endParaRPr lang="zh-CN" altLang="en-US" i="1" dirty="0">
                <a:latin typeface="Times New Roman" panose="02020603050405020304" pitchFamily="18" charset="0"/>
                <a:cs typeface="Times New Roman" panose="02020603050405020304" pitchFamily="18" charset="0"/>
              </a:endParaRPr>
            </a:p>
          </p:txBody>
        </p:sp>
        <p:sp>
          <p:nvSpPr>
            <p:cNvPr id="75" name="文本框 74"/>
            <p:cNvSpPr txBox="1"/>
            <p:nvPr/>
          </p:nvSpPr>
          <p:spPr>
            <a:xfrm>
              <a:off x="5479121" y="3275692"/>
              <a:ext cx="616879" cy="308810"/>
            </a:xfrm>
            <a:prstGeom prst="rect">
              <a:avLst/>
            </a:prstGeom>
            <a:noFill/>
          </p:spPr>
          <p:txBody>
            <a:bodyPr wrap="square" rtlCol="0">
              <a:spAutoFit/>
            </a:bodyPr>
            <a:p>
              <a:r>
                <a:rPr lang="en-US" altLang="zh-CN" i="1" dirty="0">
                  <a:latin typeface="Times New Roman" panose="02020603050405020304" pitchFamily="18" charset="0"/>
                  <a:cs typeface="Times New Roman" panose="02020603050405020304" pitchFamily="18" charset="0"/>
                </a:rPr>
                <a:t>F</a:t>
              </a:r>
              <a:endParaRPr lang="zh-CN" altLang="en-US" i="1" dirty="0">
                <a:latin typeface="Times New Roman" panose="02020603050405020304" pitchFamily="18" charset="0"/>
                <a:cs typeface="Times New Roman" panose="02020603050405020304" pitchFamily="18" charset="0"/>
              </a:endParaRPr>
            </a:p>
          </p:txBody>
        </p:sp>
        <p:sp>
          <p:nvSpPr>
            <p:cNvPr id="76" name="文本框 75"/>
            <p:cNvSpPr txBox="1"/>
            <p:nvPr/>
          </p:nvSpPr>
          <p:spPr>
            <a:xfrm>
              <a:off x="3402608" y="5445224"/>
              <a:ext cx="616879" cy="308810"/>
            </a:xfrm>
            <a:prstGeom prst="rect">
              <a:avLst/>
            </a:prstGeom>
            <a:noFill/>
          </p:spPr>
          <p:txBody>
            <a:bodyPr wrap="square" rtlCol="0">
              <a:spAutoFit/>
            </a:bodyPr>
            <a:p>
              <a:r>
                <a:rPr lang="en-US" altLang="zh-CN" i="1" dirty="0">
                  <a:latin typeface="Times New Roman" panose="02020603050405020304" pitchFamily="18" charset="0"/>
                  <a:cs typeface="Times New Roman" panose="02020603050405020304" pitchFamily="18" charset="0"/>
                </a:rPr>
                <a:t>U</a:t>
              </a:r>
              <a:endParaRPr lang="zh-CN" altLang="en-US" i="1"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4549434" y="5497969"/>
              <a:ext cx="616879" cy="308810"/>
            </a:xfrm>
            <a:prstGeom prst="rect">
              <a:avLst/>
            </a:prstGeom>
            <a:noFill/>
          </p:spPr>
          <p:txBody>
            <a:bodyPr wrap="square" rtlCol="0">
              <a:spAutoFit/>
            </a:bodyPr>
            <a:p>
              <a:r>
                <a:rPr lang="en-US" altLang="zh-CN" i="1" dirty="0">
                  <a:latin typeface="Times New Roman" panose="02020603050405020304" pitchFamily="18" charset="0"/>
                  <a:cs typeface="Times New Roman" panose="02020603050405020304" pitchFamily="18" charset="0"/>
                </a:rPr>
                <a:t>D</a:t>
              </a:r>
              <a:endParaRPr lang="zh-CN" altLang="en-US" i="1" dirty="0">
                <a:latin typeface="Times New Roman" panose="02020603050405020304" pitchFamily="18" charset="0"/>
                <a:cs typeface="Times New Roman" panose="02020603050405020304" pitchFamily="18" charset="0"/>
              </a:endParaRPr>
            </a:p>
          </p:txBody>
        </p:sp>
        <p:sp>
          <p:nvSpPr>
            <p:cNvPr id="78" name="文本框 77"/>
            <p:cNvSpPr txBox="1"/>
            <p:nvPr/>
          </p:nvSpPr>
          <p:spPr>
            <a:xfrm>
              <a:off x="5479121" y="5507940"/>
              <a:ext cx="616879" cy="308810"/>
            </a:xfrm>
            <a:prstGeom prst="rect">
              <a:avLst/>
            </a:prstGeom>
            <a:noFill/>
          </p:spPr>
          <p:txBody>
            <a:bodyPr wrap="square" rtlCol="0">
              <a:spAutoFit/>
            </a:bodyPr>
            <a:p>
              <a:r>
                <a:rPr lang="en-US" altLang="zh-CN" i="1" dirty="0">
                  <a:latin typeface="Times New Roman" panose="02020603050405020304" pitchFamily="18" charset="0"/>
                  <a:cs typeface="Times New Roman" panose="02020603050405020304" pitchFamily="18" charset="0"/>
                </a:rPr>
                <a:t>U</a:t>
              </a:r>
              <a:endParaRPr lang="zh-CN" altLang="en-US" i="1" dirty="0">
                <a:latin typeface="Times New Roman" panose="02020603050405020304" pitchFamily="18" charset="0"/>
                <a:cs typeface="Times New Roman" panose="02020603050405020304" pitchFamily="18" charset="0"/>
              </a:endParaRPr>
            </a:p>
          </p:txBody>
        </p:sp>
        <p:sp>
          <p:nvSpPr>
            <p:cNvPr id="79" name="文本框 78"/>
            <p:cNvSpPr txBox="1"/>
            <p:nvPr/>
          </p:nvSpPr>
          <p:spPr>
            <a:xfrm>
              <a:off x="6622869" y="5507940"/>
              <a:ext cx="554253" cy="308810"/>
            </a:xfrm>
            <a:prstGeom prst="rect">
              <a:avLst/>
            </a:prstGeom>
            <a:noFill/>
          </p:spPr>
          <p:txBody>
            <a:bodyPr wrap="square" rtlCol="0">
              <a:spAutoFit/>
            </a:bodyPr>
            <a:p>
              <a:r>
                <a:rPr lang="en-US" altLang="zh-CN" i="1" dirty="0">
                  <a:latin typeface="Times New Roman" panose="02020603050405020304" pitchFamily="18" charset="0"/>
                  <a:cs typeface="Times New Roman" panose="02020603050405020304" pitchFamily="18" charset="0"/>
                </a:rPr>
                <a:t>D</a:t>
              </a:r>
              <a:endParaRPr lang="zh-CN" altLang="en-US" i="1" dirty="0">
                <a:latin typeface="Times New Roman" panose="02020603050405020304" pitchFamily="18" charset="0"/>
                <a:cs typeface="Times New Roman" panose="02020603050405020304" pitchFamily="18" charset="0"/>
              </a:endParaRPr>
            </a:p>
          </p:txBody>
        </p:sp>
      </p:grpSp>
      <p:pic>
        <p:nvPicPr>
          <p:cNvPr id="6" name="图片 1" descr="f01494d1831cca2c2d8b5f9021c13ad"/>
          <p:cNvPicPr>
            <a:picLocks noChangeAspect="1"/>
          </p:cNvPicPr>
          <p:nvPr/>
        </p:nvPicPr>
        <p:blipFill>
          <a:blip r:embed="rId8">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4" name="灯片编号占位符 3"/>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26" name="AutoShape 3"/>
          <p:cNvSpPr>
            <a:spLocks noChangeAspect="1" noChangeArrowheads="1" noTextEdit="1"/>
          </p:cNvSpPr>
          <p:nvPr>
            <p:custDataLst>
              <p:tags r:id="rId3"/>
            </p:custDataLst>
          </p:nvPr>
        </p:nvSpPr>
        <p:spPr bwMode="auto">
          <a:xfrm>
            <a:off x="1678209" y="1860149"/>
            <a:ext cx="592777" cy="54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chemeClr val="dk1"/>
              </a:solidFill>
              <a:latin typeface="微软雅黑" panose="020B0503020204020204" pitchFamily="34" charset="-122"/>
              <a:ea typeface="微软雅黑" panose="020B0503020204020204" pitchFamily="34" charset="-122"/>
            </a:endParaRPr>
          </a:p>
        </p:txBody>
      </p:sp>
      <p:sp>
        <p:nvSpPr>
          <p:cNvPr id="14" name="Title 6"/>
          <p:cNvSpPr txBox="1"/>
          <p:nvPr>
            <p:custDataLst>
              <p:tags r:id="rId4"/>
            </p:custDataLst>
          </p:nvPr>
        </p:nvSpPr>
        <p:spPr>
          <a:xfrm>
            <a:off x="839470" y="836930"/>
            <a:ext cx="3402330" cy="61595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Ø"/>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例子2——战略形</a:t>
            </a:r>
            <a:endParaRPr lang="zh-CN" altLang="en-US" sz="18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Title 6"/>
          <p:cNvSpPr txBox="1"/>
          <p:nvPr>
            <p:custDataLst>
              <p:tags r:id="rId5"/>
            </p:custDataLst>
          </p:nvPr>
        </p:nvSpPr>
        <p:spPr>
          <a:xfrm>
            <a:off x="839470" y="5463540"/>
            <a:ext cx="7715885" cy="88709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纳什均衡：(B，L，U)、(B，R，U)、(F，L，D)和(B，R，D)</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 name="表格 2"/>
          <p:cNvGraphicFramePr>
            <a:graphicFrameLocks noGrp="1"/>
          </p:cNvGraphicFramePr>
          <p:nvPr>
            <p:custDataLst>
              <p:tags r:id="rId6"/>
            </p:custDataLst>
          </p:nvPr>
        </p:nvGraphicFramePr>
        <p:xfrm>
          <a:off x="335280" y="1628775"/>
          <a:ext cx="5549265" cy="2545715"/>
        </p:xfrm>
        <a:graphic>
          <a:graphicData uri="http://schemas.openxmlformats.org/drawingml/2006/table">
            <a:tbl>
              <a:tblPr firstRow="1" bandRow="1">
                <a:tableStyleId>{2D5ABB26-0587-4C30-8999-92F81FD0307C}</a:tableStyleId>
              </a:tblPr>
              <a:tblGrid>
                <a:gridCol w="1243330"/>
                <a:gridCol w="1417955"/>
                <a:gridCol w="1479550"/>
                <a:gridCol w="1408430"/>
              </a:tblGrid>
              <a:tr h="64071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40080">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L</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R</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F</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80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80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0, 1,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p>
                      <a:pPr marR="0" lvl="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B</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80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4" name="Title 6"/>
          <p:cNvSpPr txBox="1"/>
          <p:nvPr>
            <p:custDataLst>
              <p:tags r:id="rId7"/>
            </p:custDataLst>
          </p:nvPr>
        </p:nvSpPr>
        <p:spPr>
          <a:xfrm>
            <a:off x="2855595" y="4293235"/>
            <a:ext cx="717550" cy="39306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3-U</a:t>
            </a:r>
            <a:endPar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5" name="表格 4"/>
          <p:cNvGraphicFramePr>
            <a:graphicFrameLocks noGrp="1"/>
          </p:cNvGraphicFramePr>
          <p:nvPr>
            <p:custDataLst>
              <p:tags r:id="rId8"/>
            </p:custDataLst>
          </p:nvPr>
        </p:nvGraphicFramePr>
        <p:xfrm>
          <a:off x="6096000" y="1628775"/>
          <a:ext cx="5549265" cy="2545715"/>
        </p:xfrm>
        <a:graphic>
          <a:graphicData uri="http://schemas.openxmlformats.org/drawingml/2006/table">
            <a:tbl>
              <a:tblPr firstRow="1" bandRow="1">
                <a:tableStyleId>{2D5ABB26-0587-4C30-8999-92F81FD0307C}</a:tableStyleId>
              </a:tblPr>
              <a:tblGrid>
                <a:gridCol w="1243330"/>
                <a:gridCol w="1417955"/>
                <a:gridCol w="1479550"/>
                <a:gridCol w="1408430"/>
              </a:tblGrid>
              <a:tr h="640715">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gridSpan="2">
                  <a:txBody>
                    <a:bodyPr/>
                    <a:p>
                      <a:pPr marR="0" lvl="0" algn="ctr" defTabSz="914400" rtl="0" eaLnBrk="1" fontAlgn="auto" latinLnBrk="0" hangingPunct="1">
                        <a:lnSpc>
                          <a:spcPct val="120000"/>
                        </a:lnSpc>
                        <a:spcBef>
                          <a:spcPts val="0"/>
                        </a:spcBef>
                        <a:spcAft>
                          <a:spcPts val="0"/>
                        </a:spcAft>
                        <a:buClrTx/>
                        <a:buSzTx/>
                        <a:buFontTx/>
                        <a:buNone/>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2</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hMerge="1">
                  <a:tcPr>
                    <a:lnR>
                      <a:noFill/>
                    </a:lnR>
                    <a:lnT>
                      <a:noFill/>
                    </a:lnT>
                    <a:lnB>
                      <a:noFill/>
                    </a:lnB>
                  </a:tcPr>
                </a:tc>
              </a:tr>
              <a:tr h="640080">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indent="0" algn="ctr">
                        <a:lnSpc>
                          <a:spcPct val="120000"/>
                        </a:lnSpc>
                        <a:spcBef>
                          <a:spcPts val="0"/>
                        </a:spcBef>
                        <a:spcAft>
                          <a:spcPts val="0"/>
                        </a:spcAft>
                      </a:pPr>
                      <a:endParaRPr lang="zh-CN" altLang="en-US" sz="1900" b="1" spc="130">
                        <a:solidFill>
                          <a:srgbClr val="577CCE"/>
                        </a:solidFill>
                        <a:latin typeface="微软雅黑" panose="020B0503020204020204" pitchFamily="34" charset="-122"/>
                        <a:ea typeface="微软雅黑" panose="020B0503020204020204" pitchFamily="34" charset="-122"/>
                      </a:endParaRPr>
                    </a:p>
                  </a:txBody>
                  <a:tcPr marL="215900" marR="215900" marT="133350" marB="133350" anchor="ctr">
                    <a:lnL>
                      <a:noFill/>
                    </a:lnL>
                    <a:lnR>
                      <a:noFill/>
                    </a:lnR>
                    <a:lnT>
                      <a:noFill/>
                    </a:lnT>
                    <a:lnB>
                      <a:noFill/>
                    </a:lnB>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L</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R</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w="9525">
                      <a:solidFill>
                        <a:srgbClr val="577CCE"/>
                      </a:solidFill>
                      <a:prstDash val="sysDash"/>
                    </a:lnB>
                    <a:solidFill>
                      <a:srgbClr val="FFFFFF"/>
                    </a:solidFill>
                  </a:tcPr>
                </a:tc>
              </a:tr>
              <a:tr h="632460">
                <a:tc rowSpan="2">
                  <a:txBody>
                    <a:bodyPr/>
                    <a:p>
                      <a:pPr algn="ctr">
                        <a:lnSpc>
                          <a:spcPct val="120000"/>
                        </a:lnSpc>
                        <a:spcBef>
                          <a:spcPts val="0"/>
                        </a:spcBef>
                        <a:spcAft>
                          <a:spcPts val="0"/>
                        </a:spcAft>
                        <a:buClrTx/>
                        <a:buSzTx/>
                        <a:buFontTx/>
                        <a:defRPr/>
                      </a:pPr>
                      <a:r>
                        <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1</a:t>
                      </a:r>
                      <a:endParaRPr lang="zh-CN" altLang="en-US"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a:noFill/>
                    </a:lnR>
                    <a:lnT>
                      <a:noFill/>
                    </a:lnT>
                    <a:lnB>
                      <a:noFill/>
                    </a:lnB>
                    <a:lnTlToBr>
                      <a:noFill/>
                    </a:lnTlToBr>
                    <a:lnBlToTr>
                      <a:noFill/>
                    </a:lnBlToTr>
                    <a:solidFill>
                      <a:srgbClr val="FFFFFF"/>
                    </a:solidFill>
                  </a:tcPr>
                </a:tc>
                <a:tc>
                  <a:txBody>
                    <a:bodyPr/>
                    <a:p>
                      <a:pPr marR="0" lvl="0" indent="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F</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80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80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0, 1, </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r h="632460">
                <a:tc vMerge="1">
                  <a:tcPr>
                    <a:lnL>
                      <a:noFill/>
                    </a:lnL>
                    <a:lnR>
                      <a:noFill/>
                    </a:lnR>
                    <a:lnB>
                      <a:noFill/>
                    </a:lnB>
                  </a:tcPr>
                </a:tc>
                <a:tc>
                  <a:txBody>
                    <a:bodyPr/>
                    <a:p>
                      <a:pPr marR="0" lvl="0" algn="ctr" defTabSz="914400" rtl="0" eaLnBrk="1" fontAlgn="auto" latinLnBrk="0" hangingPunct="1">
                        <a:lnSpc>
                          <a:spcPct val="120000"/>
                        </a:lnSpc>
                        <a:spcBef>
                          <a:spcPts val="0"/>
                        </a:spcBef>
                        <a:spcAft>
                          <a:spcPts val="0"/>
                        </a:spcAft>
                        <a:buClrTx/>
                        <a:buSzTx/>
                        <a:buFontTx/>
                        <a:buNone/>
                        <a:defRPr/>
                      </a:pPr>
                      <a:r>
                        <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rPr>
                        <a:t>B</a:t>
                      </a:r>
                      <a:endParaRPr lang="en-US" altLang="zh-CN" sz="2000" b="1" spc="130">
                        <a:solidFill>
                          <a:srgbClr val="577CCE"/>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a:noFill/>
                    </a:lnL>
                    <a:lnR w="9525">
                      <a:solidFill>
                        <a:srgbClr val="577CCE"/>
                      </a:solidFill>
                      <a:prstDash val="sysDash"/>
                    </a:lnR>
                    <a:lnT>
                      <a:noFill/>
                    </a:lnT>
                    <a:lnB>
                      <a:noFill/>
                    </a:lnB>
                    <a:solidFill>
                      <a:srgbClr val="FFFFFF"/>
                    </a:solidFill>
                  </a:tcPr>
                </a:tc>
                <a:tc>
                  <a:txBody>
                    <a:bodyPr/>
                    <a:p>
                      <a:pPr indent="0" algn="ctr">
                        <a:lnSpc>
                          <a:spcPct val="120000"/>
                        </a:lnSpc>
                        <a:spcBef>
                          <a:spcPts val="0"/>
                        </a:spcBef>
                        <a:spcAft>
                          <a:spcPts val="0"/>
                        </a:spcAft>
                      </a:pP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80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c>
                  <a:txBody>
                    <a:bodyPr/>
                    <a:p>
                      <a:pPr indent="0" algn="ctr">
                        <a:lnSpc>
                          <a:spcPct val="120000"/>
                        </a:lnSpc>
                        <a:spcBef>
                          <a:spcPts val="0"/>
                        </a:spcBef>
                        <a:spcAft>
                          <a:spcPts val="0"/>
                        </a:spcAft>
                      </a:pP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800" b="0"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800" b="0" u="sng" spc="13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txBody>
                  <a:tcPr marL="215900" marR="215900" marT="133350" marB="133350" anchor="ctr">
                    <a:lnL w="9525">
                      <a:solidFill>
                        <a:srgbClr val="577CCE"/>
                      </a:solidFill>
                      <a:prstDash val="sysDash"/>
                    </a:lnL>
                    <a:lnR w="9525">
                      <a:solidFill>
                        <a:srgbClr val="577CCE"/>
                      </a:solidFill>
                      <a:prstDash val="sysDash"/>
                    </a:lnR>
                    <a:lnT w="9525">
                      <a:solidFill>
                        <a:srgbClr val="577CCE"/>
                      </a:solidFill>
                      <a:prstDash val="sysDash"/>
                    </a:lnT>
                    <a:lnB w="9525">
                      <a:solidFill>
                        <a:srgbClr val="577CCE"/>
                      </a:solidFill>
                      <a:prstDash val="sysDash"/>
                    </a:lnB>
                    <a:solidFill>
                      <a:srgbClr val="FFFFFF"/>
                    </a:solidFill>
                  </a:tcPr>
                </a:tc>
              </a:tr>
            </a:tbl>
          </a:graphicData>
        </a:graphic>
      </p:graphicFrame>
      <p:sp>
        <p:nvSpPr>
          <p:cNvPr id="6" name="Title 6"/>
          <p:cNvSpPr txBox="1"/>
          <p:nvPr>
            <p:custDataLst>
              <p:tags r:id="rId9"/>
            </p:custDataLst>
          </p:nvPr>
        </p:nvSpPr>
        <p:spPr>
          <a:xfrm>
            <a:off x="9840595" y="4293235"/>
            <a:ext cx="717550" cy="39306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indent="0" algn="l" fontAlgn="ctr">
              <a:lnSpc>
                <a:spcPct val="130000"/>
              </a:lnSpc>
              <a:spcBef>
                <a:spcPts val="1000"/>
              </a:spcBef>
              <a:spcAft>
                <a:spcPts val="0"/>
              </a:spcAft>
              <a:buSzPct val="100000"/>
              <a:buFont typeface="Wingdings" panose="05000000000000000000" charset="0"/>
            </a:pP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3-D</a:t>
            </a:r>
            <a:endPar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7" name="图片 1" descr="f01494d1831cca2c2d8b5f9021c13ad"/>
          <p:cNvPicPr>
            <a:picLocks noChangeAspect="1"/>
          </p:cNvPicPr>
          <p:nvPr/>
        </p:nvPicPr>
        <p:blipFill>
          <a:blip r:embed="rId10">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8" name="灯片编号占位符 7"/>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8" name="直接连接符 7"/>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0" name="矩形 9"/>
          <p:cNvSpPr/>
          <p:nvPr userDrawn="1">
            <p:custDataLst>
              <p:tags r:id="rId3"/>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1" name="Title 6"/>
          <p:cNvSpPr txBox="1"/>
          <p:nvPr>
            <p:custDataLst>
              <p:tags r:id="rId4"/>
            </p:custDataLst>
          </p:nvPr>
        </p:nvSpPr>
        <p:spPr>
          <a:xfrm>
            <a:off x="1559560" y="1772920"/>
            <a:ext cx="9403080" cy="354647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SzPct val="100000"/>
              <a:buFont typeface="Wingdings" panose="05000000000000000000" charset="0"/>
              <a:buChar char="Ø"/>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例子2——根据定义进行精炼</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下面来证明(F，L，D；p=1)是完美贝叶斯均衡。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由于博弈方1和2选择时所对应的信息集均为单结点，信念p自然为1。这里我们重点分析博弈方3的信息集赋予信念的过程。倘若博弈方1选择了F，对于博弈方2来说，R是劣策略，因而，</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博弈方2会取p=1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。在此信念下，</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博弈方3的最优选择是D</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。且因与其他3个均衡相比，此均衡会给博弈方1带来更多的得益，此均衡满足上述4个要求，故(F，L，D；p=1)是完美贝叶斯均衡。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完美贝叶斯均衡</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2" name="矩形 11"/>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3" name="直接连接符 12"/>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itle 6"/>
          <p:cNvSpPr txBox="1"/>
          <p:nvPr>
            <p:custDataLst>
              <p:tags r:id="rId8"/>
            </p:custDataLst>
          </p:nvPr>
        </p:nvSpPr>
        <p:spPr>
          <a:xfrm>
            <a:off x="2135505" y="1544320"/>
            <a:ext cx="8105140" cy="452755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Ø"/>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例子2——根据定义进行精炼</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下面来证明(B，L，U；p=0)不是完美贝叶斯均衡。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Arial" panose="020B0604020202020204" pitchFamily="34" charset="0"/>
              <a:buChar char="•"/>
            </a:pP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如果，博弈方3的信念是p=0，肯定会选择U，那么，博弈方2就会选择L，此时，博弈方1就会选择B，这个均衡是符合R</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要求，但是， p=0与博弈方2选择L矛盾，即不符合R</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至于(B，R，U；p)和(B，R，D；p)这类均衡，因R对于博弈方2是弱劣策略，故不符合R</a:t>
            </a:r>
            <a:r>
              <a:rPr lang="zh-CN" altLang="en-US" sz="2000" spc="100" baseline="-250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所以， (F，L，D；p=1)是唯一完美贝叶斯均衡</a:t>
            </a:r>
            <a:r>
              <a:rPr lang="zh-CN" altLang="en-US" sz="18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b="1">
                <a:sym typeface="+mn-ea"/>
              </a:rPr>
              <a:t>完美贝叶斯均衡的均衡不仅由博弈方的策略组合而成，还必须包括合理的</a:t>
            </a:r>
            <a:r>
              <a:rPr altLang="zh-CN" sz="2000" b="1">
                <a:sym typeface="+mn-ea"/>
              </a:rPr>
              <a:t>“</a:t>
            </a:r>
            <a:r>
              <a:rPr lang="zh-CN" altLang="en-US" sz="2000" b="1">
                <a:sym typeface="+mn-ea"/>
              </a:rPr>
              <a:t>判断</a:t>
            </a:r>
            <a:r>
              <a:rPr altLang="zh-CN" sz="2000" b="1">
                <a:sym typeface="+mn-ea"/>
              </a:rPr>
              <a:t>”</a:t>
            </a:r>
            <a:r>
              <a:rPr lang="zh-CN" altLang="en-US" sz="2000" b="1">
                <a:sym typeface="+mn-ea"/>
              </a:rPr>
              <a:t>。</a:t>
            </a:r>
            <a:endPar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3200" dirty="0">
                <a:solidFill>
                  <a:schemeClr val="accent1"/>
                </a:solidFill>
                <a:sym typeface="+mn-ea"/>
              </a:rPr>
              <a:t>  </a:t>
            </a:r>
            <a:r>
              <a:rPr lang="zh-CN" altLang="en-US" sz="3200" dirty="0">
                <a:solidFill>
                  <a:schemeClr val="accent1"/>
                </a:solidFill>
                <a:sym typeface="+mn-ea"/>
              </a:rPr>
              <a:t>二手车交易</a:t>
            </a:r>
            <a:endParaRPr lang="zh-CN" altLang="en-US" sz="32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9" name="Title 6"/>
          <p:cNvSpPr txBox="1"/>
          <p:nvPr>
            <p:custDataLst>
              <p:tags r:id="rId3"/>
            </p:custDataLst>
          </p:nvPr>
        </p:nvSpPr>
        <p:spPr>
          <a:xfrm>
            <a:off x="771525" y="762000"/>
            <a:ext cx="10365105" cy="258699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ClrTx/>
              <a:buSzTx/>
              <a:buFont typeface="Wingdings" panose="05000000000000000000" charset="0"/>
              <a:buChar char="n"/>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二手车交易模型很有代表性，且有丰富的变形</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ClrTx/>
              <a:buSzTx/>
              <a:buFont typeface="Wingdings" panose="05000000000000000000" charset="0"/>
              <a:buChar char="n"/>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由交易方式、规则的不同构成不同的博弈模型</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ClrTx/>
              <a:buSzTx/>
              <a:buFont typeface="Wingdings" panose="05000000000000000000" charset="0"/>
              <a:buChar char="n"/>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例如：价格允许有选择性，买方允许讨价还价，在买方买后发觉受骗时向卖方追究责任、索取赔偿等会使模型有很大的差异，从而使决策和结果也有很大的不同</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3" name="文本框 2"/>
          <p:cNvSpPr txBox="1"/>
          <p:nvPr/>
        </p:nvSpPr>
        <p:spPr>
          <a:xfrm>
            <a:off x="4151630" y="4364990"/>
            <a:ext cx="3938270" cy="1529715"/>
          </a:xfrm>
          <a:prstGeom prst="rect">
            <a:avLst/>
          </a:prstGeom>
          <a:noFill/>
          <a:ln w="25400">
            <a:solidFill>
              <a:schemeClr val="accent1"/>
            </a:solidFill>
            <a:prstDash val="dash"/>
          </a:ln>
        </p:spPr>
        <p:txBody>
          <a:bodyPr wrap="square" rtlCol="0" anchor="t">
            <a:spAutoFit/>
          </a:bodyPr>
          <a:p>
            <a:pPr algn="just">
              <a:lnSpc>
                <a:spcPct val="130000"/>
              </a:lnSpc>
            </a:pPr>
            <a:r>
              <a:rPr lang="zh-CN" altLang="en-US">
                <a:latin typeface="微软雅黑" panose="020B0503020204020204" pitchFamily="34" charset="-122"/>
                <a:ea typeface="微软雅黑" panose="020B0503020204020204" pitchFamily="34" charset="-122"/>
              </a:rPr>
              <a:t>主要讨论的三种类型：</a:t>
            </a:r>
            <a:endParaRPr lang="zh-CN" altLang="en-US">
              <a:latin typeface="微软雅黑" panose="020B0503020204020204" pitchFamily="34" charset="-122"/>
              <a:ea typeface="微软雅黑" panose="020B0503020204020204" pitchFamily="34" charset="-122"/>
            </a:endParaRPr>
          </a:p>
          <a:p>
            <a:pPr algn="just">
              <a:lnSpc>
                <a:spcPct val="130000"/>
              </a:lnSpc>
            </a:pPr>
            <a:r>
              <a:rPr lang="zh-CN" altLang="en-US">
                <a:latin typeface="微软雅黑" panose="020B0503020204020204" pitchFamily="34" charset="-122"/>
                <a:ea typeface="微软雅黑" panose="020B0503020204020204" pitchFamily="34" charset="-122"/>
              </a:rPr>
              <a:t>单价二手车交易博弈</a:t>
            </a:r>
            <a:endParaRPr lang="zh-CN" altLang="en-US">
              <a:latin typeface="微软雅黑" panose="020B0503020204020204" pitchFamily="34" charset="-122"/>
              <a:ea typeface="微软雅黑" panose="020B0503020204020204" pitchFamily="34" charset="-122"/>
            </a:endParaRPr>
          </a:p>
          <a:p>
            <a:pPr algn="just">
              <a:lnSpc>
                <a:spcPct val="130000"/>
              </a:lnSpc>
            </a:pPr>
            <a:r>
              <a:rPr lang="zh-CN" altLang="en-US">
                <a:latin typeface="微软雅黑" panose="020B0503020204020204" pitchFamily="34" charset="-122"/>
                <a:ea typeface="微软雅黑" panose="020B0503020204020204" pitchFamily="34" charset="-122"/>
              </a:rPr>
              <a:t>双价</a:t>
            </a:r>
            <a:r>
              <a:rPr lang="zh-CN" altLang="en-US">
                <a:latin typeface="微软雅黑" panose="020B0503020204020204" pitchFamily="34" charset="-122"/>
                <a:ea typeface="微软雅黑" panose="020B0503020204020204" pitchFamily="34" charset="-122"/>
                <a:sym typeface="+mn-ea"/>
              </a:rPr>
              <a:t>二手车交易博弈</a:t>
            </a:r>
            <a:endParaRPr lang="zh-CN" altLang="en-US">
              <a:latin typeface="微软雅黑" panose="020B0503020204020204" pitchFamily="34" charset="-122"/>
              <a:ea typeface="微软雅黑" panose="020B0503020204020204" pitchFamily="34" charset="-122"/>
            </a:endParaRPr>
          </a:p>
          <a:p>
            <a:pPr algn="just">
              <a:lnSpc>
                <a:spcPct val="130000"/>
              </a:lnSpc>
            </a:pPr>
            <a:r>
              <a:rPr lang="zh-CN" altLang="en-US">
                <a:latin typeface="微软雅黑" panose="020B0503020204020204" pitchFamily="34" charset="-122"/>
                <a:ea typeface="微软雅黑" panose="020B0503020204020204" pitchFamily="34" charset="-122"/>
              </a:rPr>
              <a:t>有退款保证的双价</a:t>
            </a:r>
            <a:r>
              <a:rPr lang="zh-CN" altLang="en-US">
                <a:latin typeface="微软雅黑" panose="020B0503020204020204" pitchFamily="34" charset="-122"/>
                <a:ea typeface="微软雅黑" panose="020B0503020204020204" pitchFamily="34" charset="-122"/>
                <a:sym typeface="+mn-ea"/>
              </a:rPr>
              <a:t>二手车交易博弈</a:t>
            </a:r>
            <a:endParaRPr lang="zh-CN" altLang="en-US">
              <a:latin typeface="微软雅黑" panose="020B0503020204020204" pitchFamily="34" charset="-122"/>
              <a:ea typeface="微软雅黑" panose="020B0503020204020204" pitchFamily="34" charset="-122"/>
            </a:endParaRPr>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组合 6"/>
          <p:cNvGrpSpPr/>
          <p:nvPr/>
        </p:nvGrpSpPr>
        <p:grpSpPr>
          <a:xfrm>
            <a:off x="533404" y="147955"/>
            <a:ext cx="11206564" cy="762006"/>
            <a:chOff x="840" y="233"/>
            <a:chExt cx="17648" cy="1200"/>
          </a:xfrm>
        </p:grpSpPr>
        <p:sp>
          <p:nvSpPr>
            <p:cNvPr id="256" name="文本框 6"/>
            <p:cNvSpPr txBox="1"/>
            <p:nvPr>
              <p:custDataLst>
                <p:tags r:id="rId1"/>
              </p:custDataLst>
            </p:nvPr>
          </p:nvSpPr>
          <p:spPr>
            <a:xfrm>
              <a:off x="1208" y="233"/>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endParaRPr lang="zh-CN" altLang="en-US" sz="3200" dirty="0">
                <a:solidFill>
                  <a:schemeClr val="accent1"/>
                </a:solidFill>
                <a:sym typeface="+mn-ea"/>
              </a:endParaRPr>
            </a:p>
          </p:txBody>
        </p:sp>
        <p:cxnSp>
          <p:nvCxnSpPr>
            <p:cNvPr id="4" name="直接连接符 3"/>
            <p:cNvCxnSpPr/>
            <p:nvPr>
              <p:custDataLst>
                <p:tags r:id="rId2"/>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
        <p:nvSpPr>
          <p:cNvPr id="5" name="内容占位符 2"/>
          <p:cNvSpPr>
            <a:spLocks noGrp="1"/>
          </p:cNvSpPr>
          <p:nvPr>
            <p:custDataLst>
              <p:tags r:id="rId3"/>
            </p:custDataLst>
          </p:nvPr>
        </p:nvSpPr>
        <p:spPr>
          <a:xfrm>
            <a:off x="695325" y="1052830"/>
            <a:ext cx="3808095" cy="5435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华文行楷" panose="02010800040101010101" pitchFamily="2" charset="-122"/>
                <a:ea typeface="华文行楷" panose="02010800040101010101"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华文行楷" panose="02010800040101010101" pitchFamily="2" charset="-122"/>
                <a:ea typeface="华文行楷" panose="02010800040101010101" pitchFamily="2"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华文行楷" panose="02010800040101010101" pitchFamily="2" charset="-122"/>
                <a:ea typeface="华文行楷" panose="02010800040101010101" pitchFamily="2"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华文行楷" panose="02010800040101010101" pitchFamily="2" charset="-122"/>
                <a:ea typeface="华文行楷" panose="020108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lvl="0" algn="l">
              <a:buClrTx/>
              <a:buSzTx/>
              <a:buFont typeface="Wingdings" panose="05000000000000000000" charset="0"/>
              <a:buChar char="n"/>
            </a:pPr>
            <a:r>
              <a:rPr lang="zh-CN" altLang="en-US" sz="2000" b="1" dirty="0">
                <a:solidFill>
                  <a:schemeClr val="dk1"/>
                </a:solidFill>
                <a:latin typeface="微软雅黑" panose="020B0503020204020204" pitchFamily="34" charset="-122"/>
                <a:ea typeface="微软雅黑" panose="020B0503020204020204" pitchFamily="34" charset="-122"/>
                <a:sym typeface="+mn-ea"/>
              </a:rPr>
              <a:t>二手车交易博弈扩展形</a:t>
            </a:r>
            <a:endParaRPr lang="zh-CN" altLang="en-US" sz="2000" b="1" dirty="0">
              <a:solidFill>
                <a:schemeClr val="dk1"/>
              </a:solidFill>
              <a:latin typeface="微软雅黑" panose="020B0503020204020204" pitchFamily="34" charset="-122"/>
              <a:ea typeface="微软雅黑" panose="020B0503020204020204" pitchFamily="34" charset="-122"/>
              <a:sym typeface="+mn-ea"/>
            </a:endParaRPr>
          </a:p>
        </p:txBody>
      </p:sp>
      <p:cxnSp>
        <p:nvCxnSpPr>
          <p:cNvPr id="32" name="直接连接符 31"/>
          <p:cNvCxnSpPr/>
          <p:nvPr/>
        </p:nvCxnSpPr>
        <p:spPr>
          <a:xfrm flipH="1">
            <a:off x="1745306" y="2455049"/>
            <a:ext cx="2659249" cy="3290169"/>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4404555" y="2455049"/>
            <a:ext cx="1313237" cy="1786241"/>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3515160" y="3611860"/>
            <a:ext cx="315832" cy="607083"/>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3403426" y="3699012"/>
            <a:ext cx="1804118" cy="2103563"/>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2724834" y="4450603"/>
            <a:ext cx="488646" cy="83725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4457442" y="4559357"/>
            <a:ext cx="383617" cy="73297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8" name="椭圆 37"/>
          <p:cNvSpPr/>
          <p:nvPr>
            <p:custDataLst>
              <p:tags r:id="rId4"/>
            </p:custDataLst>
          </p:nvPr>
        </p:nvSpPr>
        <p:spPr>
          <a:xfrm>
            <a:off x="4046264" y="2170502"/>
            <a:ext cx="717327" cy="583992"/>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椭圆 38"/>
          <p:cNvSpPr/>
          <p:nvPr>
            <p:custDataLst>
              <p:tags r:id="rId5"/>
            </p:custDataLst>
          </p:nvPr>
        </p:nvSpPr>
        <p:spPr>
          <a:xfrm>
            <a:off x="3133032" y="3338486"/>
            <a:ext cx="717327" cy="583992"/>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椭圆 39"/>
          <p:cNvSpPr/>
          <p:nvPr>
            <p:custDataLst>
              <p:tags r:id="rId6"/>
            </p:custDataLst>
          </p:nvPr>
        </p:nvSpPr>
        <p:spPr>
          <a:xfrm>
            <a:off x="4894692" y="3306456"/>
            <a:ext cx="717327" cy="583992"/>
          </a:xfrm>
          <a:prstGeom prst="ellipse">
            <a:avLst/>
          </a:prstGeom>
          <a:solidFill>
            <a:srgbClr val="92D050"/>
          </a:solidFill>
          <a:ln>
            <a:solidFill>
              <a:schemeClr val="accent1">
                <a:shade val="50000"/>
              </a:schemeClr>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dirty="0">
              <a:solidFill>
                <a:schemeClr val="dk1">
                  <a:lumMod val="85000"/>
                  <a:lumOff val="1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椭圆 40"/>
          <p:cNvSpPr/>
          <p:nvPr>
            <p:custDataLst>
              <p:tags r:id="rId7"/>
            </p:custDataLst>
          </p:nvPr>
        </p:nvSpPr>
        <p:spPr>
          <a:xfrm>
            <a:off x="2427623" y="4257678"/>
            <a:ext cx="2379171" cy="533340"/>
          </a:xfrm>
          <a:prstGeom prst="ellipse">
            <a:avLst/>
          </a:prstGeom>
          <a:solidFill>
            <a:schemeClr val="accent5">
              <a:lumMod val="75000"/>
            </a:schemeClr>
          </a:solidFill>
          <a:ln>
            <a:solidFill>
              <a:srgbClr val="B23214"/>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r>
              <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dirty="0">
              <a:solidFill>
                <a:schemeClr val="lt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文本框 41"/>
          <p:cNvSpPr txBox="1"/>
          <p:nvPr>
            <p:custDataLst>
              <p:tags r:id="rId8"/>
            </p:custDataLst>
          </p:nvPr>
        </p:nvSpPr>
        <p:spPr>
          <a:xfrm>
            <a:off x="3387784" y="2662873"/>
            <a:ext cx="657736" cy="359781"/>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好</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3" name="文本框 42"/>
          <p:cNvSpPr txBox="1"/>
          <p:nvPr>
            <p:custDataLst>
              <p:tags r:id="rId9"/>
            </p:custDataLst>
          </p:nvPr>
        </p:nvSpPr>
        <p:spPr>
          <a:xfrm>
            <a:off x="4788173" y="2635312"/>
            <a:ext cx="717327" cy="359781"/>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差</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4" name="文本框 43"/>
          <p:cNvSpPr txBox="1"/>
          <p:nvPr>
            <p:custDataLst>
              <p:tags r:id="rId10"/>
            </p:custDataLst>
          </p:nvPr>
        </p:nvSpPr>
        <p:spPr>
          <a:xfrm>
            <a:off x="2619060" y="3828622"/>
            <a:ext cx="897590" cy="359781"/>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卖</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5" name="文本框 44"/>
          <p:cNvSpPr txBox="1"/>
          <p:nvPr>
            <p:custDataLst>
              <p:tags r:id="rId11"/>
            </p:custDataLst>
          </p:nvPr>
        </p:nvSpPr>
        <p:spPr>
          <a:xfrm>
            <a:off x="3678290" y="3702736"/>
            <a:ext cx="1460725" cy="359781"/>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不卖         卖</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 name="文本框 45"/>
          <p:cNvSpPr txBox="1"/>
          <p:nvPr>
            <p:custDataLst>
              <p:tags r:id="rId12"/>
            </p:custDataLst>
          </p:nvPr>
        </p:nvSpPr>
        <p:spPr>
          <a:xfrm>
            <a:off x="5479428" y="3667726"/>
            <a:ext cx="1105413" cy="359781"/>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不卖</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7" name="文本框 46"/>
          <p:cNvSpPr txBox="1"/>
          <p:nvPr>
            <p:custDataLst>
              <p:tags r:id="rId13"/>
            </p:custDataLst>
          </p:nvPr>
        </p:nvSpPr>
        <p:spPr>
          <a:xfrm>
            <a:off x="1769888" y="4805170"/>
            <a:ext cx="739674" cy="359781"/>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rPr>
              <a:t>买</a:t>
            </a:r>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48" name="文本框 47"/>
          <p:cNvSpPr txBox="1"/>
          <p:nvPr>
            <p:custDataLst>
              <p:tags r:id="rId14"/>
            </p:custDataLst>
          </p:nvPr>
        </p:nvSpPr>
        <p:spPr>
          <a:xfrm>
            <a:off x="2969157" y="4804425"/>
            <a:ext cx="1533724" cy="359781"/>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不买     买</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文本框 48"/>
          <p:cNvSpPr txBox="1"/>
          <p:nvPr>
            <p:custDataLst>
              <p:tags r:id="rId15"/>
            </p:custDataLst>
          </p:nvPr>
        </p:nvSpPr>
        <p:spPr>
          <a:xfrm>
            <a:off x="4666011" y="4700886"/>
            <a:ext cx="711368" cy="432035"/>
          </a:xfrm>
          <a:prstGeom prst="rect">
            <a:avLst/>
          </a:prstGeom>
          <a:noFill/>
        </p:spPr>
        <p:txBody>
          <a:bodyPr wrap="non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不买</a:t>
            </a: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文本框 49"/>
          <p:cNvSpPr txBox="1"/>
          <p:nvPr>
            <p:custDataLst>
              <p:tags r:id="rId16"/>
            </p:custDataLst>
          </p:nvPr>
        </p:nvSpPr>
        <p:spPr>
          <a:xfrm>
            <a:off x="3804176" y="3951529"/>
            <a:ext cx="1033904" cy="359781"/>
          </a:xfrm>
          <a:prstGeom prst="rect">
            <a:avLst/>
          </a:prstGeom>
          <a:noFill/>
        </p:spPr>
        <p:txBody>
          <a:bodyPr wrap="square" rtlCol="0">
            <a:normAutofit/>
          </a:bodyPr>
          <a:lstStyle/>
          <a:p>
            <a:r>
              <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文本框 50"/>
          <p:cNvSpPr txBox="1"/>
          <p:nvPr>
            <p:custDataLst>
              <p:tags r:id="rId17"/>
            </p:custDataLst>
          </p:nvPr>
        </p:nvSpPr>
        <p:spPr>
          <a:xfrm>
            <a:off x="5363226" y="4203301"/>
            <a:ext cx="1033904" cy="359781"/>
          </a:xfrm>
          <a:prstGeom prst="rect">
            <a:avLst/>
          </a:prstGeom>
          <a:noFill/>
        </p:spPr>
        <p:txBody>
          <a:bodyPr wrap="square" rtlCol="0">
            <a:normAutofit/>
          </a:bodyPr>
          <a:lstStyle/>
          <a:p>
            <a:r>
              <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文本框 51"/>
          <p:cNvSpPr txBox="1"/>
          <p:nvPr>
            <p:custDataLst>
              <p:tags r:id="rId18"/>
            </p:custDataLst>
          </p:nvPr>
        </p:nvSpPr>
        <p:spPr>
          <a:xfrm>
            <a:off x="2803792" y="5232736"/>
            <a:ext cx="1033904" cy="359781"/>
          </a:xfrm>
          <a:prstGeom prst="rect">
            <a:avLst/>
          </a:prstGeom>
          <a:noFill/>
        </p:spPr>
        <p:txBody>
          <a:bodyPr wrap="square" rtlCol="0">
            <a:normAutofit/>
          </a:bodyPr>
          <a:lstStyle/>
          <a:p>
            <a:r>
              <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文本框 52"/>
          <p:cNvSpPr txBox="1"/>
          <p:nvPr>
            <p:custDataLst>
              <p:tags r:id="rId19"/>
            </p:custDataLst>
          </p:nvPr>
        </p:nvSpPr>
        <p:spPr>
          <a:xfrm>
            <a:off x="1322955" y="5745218"/>
            <a:ext cx="1371338" cy="359781"/>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文本框 53"/>
          <p:cNvSpPr txBox="1"/>
          <p:nvPr>
            <p:custDataLst>
              <p:tags r:id="rId20"/>
            </p:custDataLst>
          </p:nvPr>
        </p:nvSpPr>
        <p:spPr>
          <a:xfrm>
            <a:off x="2931168" y="5760116"/>
            <a:ext cx="1371338" cy="359781"/>
          </a:xfrm>
          <a:prstGeom prst="rect">
            <a:avLst/>
          </a:prstGeom>
          <a:noFill/>
        </p:spPr>
        <p:txBody>
          <a:bodyPr wrap="square" rtlCol="0">
            <a:normAutofit/>
          </a:bodyPr>
          <a:lstStyle/>
          <a:p>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5" name="文本框 54"/>
          <p:cNvSpPr txBox="1"/>
          <p:nvPr>
            <p:custDataLst>
              <p:tags r:id="rId21"/>
            </p:custDataLst>
          </p:nvPr>
        </p:nvSpPr>
        <p:spPr>
          <a:xfrm>
            <a:off x="4471595" y="5287112"/>
            <a:ext cx="1033904" cy="359781"/>
          </a:xfrm>
          <a:prstGeom prst="rect">
            <a:avLst/>
          </a:prstGeom>
          <a:noFill/>
        </p:spPr>
        <p:txBody>
          <a:bodyPr wrap="square" rtlCol="0">
            <a:normAutofit/>
          </a:bodyPr>
          <a:lstStyle/>
          <a:p>
            <a:r>
              <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altLang="zh-CN" sz="1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1" descr="f01494d1831cca2c2d8b5f9021c13ad"/>
          <p:cNvPicPr>
            <a:picLocks noChangeAspect="1"/>
          </p:cNvPicPr>
          <p:nvPr/>
        </p:nvPicPr>
        <p:blipFill>
          <a:blip r:embed="rId2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3" name="文本框 2"/>
          <p:cNvSpPr txBox="1"/>
          <p:nvPr/>
        </p:nvSpPr>
        <p:spPr>
          <a:xfrm>
            <a:off x="6675755" y="2170430"/>
            <a:ext cx="4943475" cy="3080385"/>
          </a:xfrm>
          <a:prstGeom prst="rect">
            <a:avLst/>
          </a:prstGeom>
          <a:noFill/>
        </p:spPr>
        <p:txBody>
          <a:bodyPr wrap="square" rtlCol="0" anchor="t">
            <a:spAutoFit/>
          </a:bodyPr>
          <a:p>
            <a:pPr marL="285750" indent="-285750" algn="just">
              <a:lnSpc>
                <a:spcPct val="120000"/>
              </a:lnSpc>
              <a:buFont typeface="Wingdings" panose="05000000000000000000" charset="0"/>
              <a:buChar char="n"/>
            </a:pPr>
            <a:r>
              <a:rPr lang="zh-CN" altLang="en-US"/>
              <a:t>假设：</a:t>
            </a:r>
            <a:endParaRPr lang="zh-CN" altLang="en-US"/>
          </a:p>
          <a:p>
            <a:pPr marL="742950" lvl="1" indent="-285750" algn="just">
              <a:lnSpc>
                <a:spcPct val="120000"/>
              </a:lnSpc>
              <a:buFont typeface="Arial" panose="020B0604020202020204" pitchFamily="34" charset="0"/>
              <a:buChar char="•"/>
            </a:pPr>
            <a:r>
              <a:rPr lang="zh-CN" altLang="en-US">
                <a:solidFill>
                  <a:schemeClr val="tx1"/>
                </a:solidFill>
              </a:rPr>
              <a:t>二手车有好、差两种情况，对买方来讲价值分别为V和W(V&gt;W)；</a:t>
            </a:r>
            <a:endParaRPr lang="zh-CN" altLang="en-US">
              <a:solidFill>
                <a:schemeClr val="tx1"/>
              </a:solidFill>
            </a:endParaRPr>
          </a:p>
          <a:p>
            <a:pPr marL="742950" lvl="1" indent="-285750" algn="just">
              <a:lnSpc>
                <a:spcPct val="120000"/>
              </a:lnSpc>
              <a:buFont typeface="Arial" panose="020B0604020202020204" pitchFamily="34" charset="0"/>
              <a:buChar char="•"/>
            </a:pPr>
            <a:r>
              <a:rPr lang="zh-CN" altLang="en-US"/>
              <a:t>买方要买的是好车，并不想买差车。因此卖方要想卖出车子，不管车况好坏，只有都当作好车卖，所以只有一种价格P。这也意味着车况差时卖方必须花一定的费用进行伪装才有希望骗过买方，伪装成本为C。</a:t>
            </a:r>
            <a:endParaRPr lang="zh-CN" altLang="en-US"/>
          </a:p>
        </p:txBody>
      </p:sp>
    </p:spTree>
    <p:custDataLst>
      <p:tags r:id="rId2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Title 6"/>
          <p:cNvSpPr txBox="1"/>
          <p:nvPr>
            <p:custDataLst>
              <p:tags r:id="rId1"/>
            </p:custDataLst>
          </p:nvPr>
        </p:nvSpPr>
        <p:spPr>
          <a:xfrm>
            <a:off x="771525" y="762000"/>
            <a:ext cx="10365105" cy="40132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just" fontAlgn="ctr">
              <a:lnSpc>
                <a:spcPct val="130000"/>
              </a:lnSpc>
              <a:spcBef>
                <a:spcPts val="1000"/>
              </a:spcBef>
              <a:spcAft>
                <a:spcPts val="0"/>
              </a:spcAft>
              <a:buClrTx/>
              <a:buSzTx/>
              <a:buFont typeface="Wingdings" panose="05000000000000000000" charset="0"/>
              <a:buChar char="n"/>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若车价大于伪装费用（</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P&gt;C</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)，车况好时对买方来说价值大于价格，而车况差时价值小于价格(</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V&gt;P&gt;W</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)，则：</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ClrTx/>
              <a:buSzTx/>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车况好时成交：对双方都有利；</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ClrTx/>
              <a:buSzTx/>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车况差时成交：则卖方得利，买方损失；</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ClrTx/>
              <a:buSzTx/>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车况好时未成交：虽然没有损失，但丧失了得益机会；</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just" fontAlgn="ctr">
              <a:lnSpc>
                <a:spcPct val="130000"/>
              </a:lnSpc>
              <a:spcBef>
                <a:spcPts val="1000"/>
              </a:spcBef>
              <a:spcAft>
                <a:spcPts val="0"/>
              </a:spcAft>
              <a:buClrTx/>
              <a:buSzTx/>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车况差时若卖方伪装且未成交：损失伪装费用，买方没有损失</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ClrTx/>
              <a:buSzTx/>
              <a:buFont typeface="Wingdings" panose="05000000000000000000" charset="0"/>
              <a:buChar char="n"/>
            </a:pP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车况的好坏直接影响到买卖双方的策略选择</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2">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pSp>
        <p:nvGrpSpPr>
          <p:cNvPr id="7" name="组合 6"/>
          <p:cNvGrpSpPr/>
          <p:nvPr/>
        </p:nvGrpSpPr>
        <p:grpSpPr>
          <a:xfrm>
            <a:off x="533404" y="147955"/>
            <a:ext cx="11206564" cy="762006"/>
            <a:chOff x="840" y="233"/>
            <a:chExt cx="17648" cy="1200"/>
          </a:xfrm>
        </p:grpSpPr>
        <p:sp>
          <p:nvSpPr>
            <p:cNvPr id="4" name="文本框 6"/>
            <p:cNvSpPr txBox="1"/>
            <p:nvPr>
              <p:custDataLst>
                <p:tags r:id="rId3"/>
              </p:custDataLst>
            </p:nvPr>
          </p:nvSpPr>
          <p:spPr>
            <a:xfrm>
              <a:off x="1208" y="233"/>
              <a:ext cx="17280" cy="12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endParaRPr lang="zh-CN" altLang="en-US" sz="3200" dirty="0">
                <a:solidFill>
                  <a:schemeClr val="accent1"/>
                </a:solidFill>
                <a:sym typeface="+mn-ea"/>
              </a:endParaRPr>
            </a:p>
          </p:txBody>
        </p:sp>
        <p:cxnSp>
          <p:nvCxnSpPr>
            <p:cNvPr id="5" name="直接连接符 4"/>
            <p:cNvCxnSpPr/>
            <p:nvPr>
              <p:custDataLst>
                <p:tags r:id="rId4"/>
              </p:custDataLst>
            </p:nvPr>
          </p:nvCxnSpPr>
          <p:spPr>
            <a:xfrm>
              <a:off x="840" y="480"/>
              <a:ext cx="0" cy="720"/>
            </a:xfrm>
            <a:prstGeom prst="line">
              <a:avLst/>
            </a:prstGeom>
            <a:ln w="101600"/>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文本框 6"/>
          <p:cNvSpPr txBox="1"/>
          <p:nvPr>
            <p:custDataLst>
              <p:tags r:id="rId1"/>
            </p:custDataLst>
          </p:nvPr>
        </p:nvSpPr>
        <p:spPr>
          <a:xfrm>
            <a:off x="767086" y="188597"/>
            <a:ext cx="10972888"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r>
              <a:rPr lang="zh-CN" altLang="en-US" sz="2800" dirty="0">
                <a:solidFill>
                  <a:schemeClr val="accent1"/>
                </a:solidFill>
                <a:sym typeface="+mn-ea"/>
              </a:rPr>
              <a:t>市场类型</a:t>
            </a:r>
            <a:endParaRPr lang="zh-CN" altLang="en-US" sz="2800" dirty="0">
              <a:solidFill>
                <a:schemeClr val="accent1"/>
              </a:solidFill>
              <a:sym typeface="+mn-ea"/>
            </a:endParaRPr>
          </a:p>
        </p:txBody>
      </p:sp>
      <p:sp>
        <p:nvSpPr>
          <p:cNvPr id="11" name="矩形 10"/>
          <p:cNvSpPr/>
          <p:nvPr>
            <p:custDataLst>
              <p:tags r:id="rId2"/>
            </p:custDataLst>
          </p:nvPr>
        </p:nvSpPr>
        <p:spPr>
          <a:xfrm>
            <a:off x="1659255" y="1668780"/>
            <a:ext cx="8629015" cy="462280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2" name="直接连接符 11"/>
          <p:cNvCxnSpPr/>
          <p:nvPr>
            <p:custDataLst>
              <p:tags r:id="rId3"/>
            </p:custDataLst>
          </p:nvPr>
        </p:nvCxnSpPr>
        <p:spPr>
          <a:xfrm>
            <a:off x="1991394" y="1484437"/>
            <a:ext cx="376138" cy="376138"/>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4"/>
            </p:custDataLst>
          </p:nvPr>
        </p:nvCxnSpPr>
        <p:spPr>
          <a:xfrm>
            <a:off x="1775582" y="1484528"/>
            <a:ext cx="376138" cy="376138"/>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custDataLst>
              <p:tags r:id="rId5"/>
            </p:custDataLst>
          </p:nvPr>
        </p:nvCxnSpPr>
        <p:spPr>
          <a:xfrm>
            <a:off x="9933597" y="6111912"/>
            <a:ext cx="376138" cy="376138"/>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6"/>
            </p:custDataLst>
          </p:nvPr>
        </p:nvCxnSpPr>
        <p:spPr>
          <a:xfrm>
            <a:off x="9795889" y="6176773"/>
            <a:ext cx="376138" cy="376138"/>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Title 6"/>
          <p:cNvSpPr txBox="1"/>
          <p:nvPr>
            <p:custDataLst>
              <p:tags r:id="rId7"/>
            </p:custDataLst>
          </p:nvPr>
        </p:nvSpPr>
        <p:spPr>
          <a:xfrm>
            <a:off x="1836420" y="1750695"/>
            <a:ext cx="8376920" cy="452691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ClrTx/>
              <a:buSzTx/>
              <a:buFont typeface="Wingdings" panose="05000000000000000000" charset="0"/>
              <a:buChar char="n"/>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基本假设</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altLang="zh-CN" sz="18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P&gt;C</a:t>
            </a:r>
            <a:endParaRPr lang="en-US"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altLang="zh-CN" sz="18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V&gt;P&gt;W</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n"/>
            </a:pPr>
            <a:r>
              <a:rPr lang="zh-CN" altLang="en-US" sz="18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市场完全失败：</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市场上所有的卖方，无论商品好坏，都选择不卖（相当于无市场）(合并均衡)。</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n"/>
            </a:pPr>
            <a:r>
              <a:rPr lang="zh-CN" altLang="en-US" sz="18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市场完全成功：</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质量好的商品的卖方将商品投放市场，质量差的商品的卖方不敢将商品投放市场，买方买下所有商品实现利益(分开均衡) 。</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n"/>
            </a:pPr>
            <a:r>
              <a:rPr lang="zh-CN" altLang="en-US" sz="18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市场部分成功：</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所有的卖方，无论商品好坏，都将商品投放市场，而买方也不管好坏商品都买进(合并均衡)。</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n"/>
            </a:pPr>
            <a:r>
              <a:rPr lang="zh-CN" altLang="en-US" sz="18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市场接近失败：</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所有好商品的卖方都将商品投放市场，而只有部分“差”商品的卖方将商品投放市场，同时买方以一定的概率随机决定是否买进(混成均衡)。</a:t>
            </a:r>
            <a:endParaRPr lang="zh-CN" altLang="en-US" sz="16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2" name="直接连接符 1"/>
          <p:cNvCxnSpPr/>
          <p:nvPr>
            <p:custDataLst>
              <p:tags r:id="rId8"/>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r>
              <a:rPr lang="zh-CN" altLang="en-US" sz="2800" dirty="0">
                <a:solidFill>
                  <a:schemeClr val="accent1"/>
                </a:solidFill>
                <a:sym typeface="+mn-ea"/>
              </a:rPr>
              <a:t>均衡类型</a:t>
            </a:r>
            <a:endParaRPr lang="zh-CN" altLang="en-US" sz="2800" dirty="0">
              <a:solidFill>
                <a:schemeClr val="accent1"/>
              </a:solidFill>
              <a:sym typeface="+mn-ea"/>
            </a:endParaRPr>
          </a:p>
        </p:txBody>
      </p:sp>
      <p:cxnSp>
        <p:nvCxnSpPr>
          <p:cNvPr id="13" name="直接连接符 12"/>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4" name="矩形 13"/>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5" name="直接连接符 14"/>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itle 6"/>
          <p:cNvSpPr txBox="1"/>
          <p:nvPr>
            <p:custDataLst>
              <p:tags r:id="rId8"/>
            </p:custDataLst>
          </p:nvPr>
        </p:nvSpPr>
        <p:spPr>
          <a:xfrm>
            <a:off x="1808480" y="1481455"/>
            <a:ext cx="8495665" cy="4654550"/>
          </a:xfrm>
          <a:prstGeom prst="rect">
            <a:avLst/>
          </a:prstGeom>
          <a:noFill/>
          <a:ln w="3175">
            <a:noFill/>
            <a:prstDash val="dash"/>
          </a:ln>
        </p:spPr>
        <p:txBody>
          <a:bodyPr wrap="square" lIns="63500" tIns="25400" rIns="63500" bIns="2540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ClrTx/>
              <a:buSzTx/>
              <a:buFont typeface="Wingdings" panose="05000000000000000000" charset="0"/>
              <a:buChar char="n"/>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均衡类型</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en-US" altLang="zh-CN"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合并均衡：</a:t>
            </a:r>
            <a:r>
              <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不同情境选择一样策略的均衡</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。如拥有不同品质商品的卖方采取相同行为。在这种均衡中，完美信息博弈方的行为不会透露任何有用的信息。</a:t>
            </a:r>
            <a:endPar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en-US" altLang="zh-CN"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分开均衡：</a:t>
            </a:r>
            <a:r>
              <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不同情境选择不一样策略的均衡</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。如拥有商品质量不同的卖方会采取不同的策略。在这种均衡中，卖方的行为完全反映他商品的质量，能给不完美信息博弈方的</a:t>
            </a:r>
            <a:r>
              <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判断</a:t>
            </a:r>
            <a:r>
              <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提供充分的依据，</a:t>
            </a:r>
            <a:endPar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en-US" altLang="zh-CN"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混成均衡：</a:t>
            </a:r>
            <a:r>
              <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某种情境中，一部分选择与另一种情境相同的策略，另一部分选择与另一种情境不同的策略的均衡。</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在这种均衡中，卖方的行为会给买方提供一定的信息，但又不足以让买方得出肯定的</a:t>
            </a:r>
            <a:r>
              <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判断</a:t>
            </a:r>
            <a:r>
              <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，只能得到一个概率分布的</a:t>
            </a:r>
            <a:r>
              <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判断</a:t>
            </a:r>
            <a:r>
              <a:rPr lang="en-US" altLang="zh-CN"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9">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0"/>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endParaRPr lang="zh-CN" altLang="en-US" sz="3200" dirty="0">
              <a:solidFill>
                <a:schemeClr val="accent1"/>
              </a:solidFill>
              <a:sym typeface="+mn-ea"/>
            </a:endParaRPr>
          </a:p>
        </p:txBody>
      </p:sp>
      <p:cxnSp>
        <p:nvCxnSpPr>
          <p:cNvPr id="18" name="直接连接符 17"/>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Title 6"/>
              <p:cNvSpPr txBox="1"/>
              <p:nvPr>
                <p:custDataLst>
                  <p:tags r:id="rId3"/>
                </p:custDataLst>
              </p:nvPr>
            </p:nvSpPr>
            <p:spPr>
              <a:xfrm>
                <a:off x="982941" y="764404"/>
                <a:ext cx="11277678" cy="456719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ClrTx/>
                  <a:buSzTx/>
                  <a:buFont typeface="Wingdings" panose="05000000000000000000" charset="0"/>
                  <a:buChar char="n"/>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市场部分成功的合并均衡</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差车概率很小；</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买到差车损失不大（W接近于V）；</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伪装费用较小，P&gt;&gt;C。</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完美贝叶斯均衡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卖方选择卖，不管车子好差；</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买方选择买，只要卖方卖；</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买方的信念是</a:t>
                </a:r>
                <a14:m>
                  <m:oMath xmlns:m="http://schemas.openxmlformats.org/officeDocument/2006/math">
                    <m:r>
                      <a:rPr lang="en-US" altLang="zh-CN" sz="2000" b="0" i="1" smtClean="0">
                        <a:latin typeface="Cambria Math" panose="02040503050406030204" pitchFamily="18" charset="0"/>
                      </a:rPr>
                      <m:t>𝑝</m:t>
                    </m:r>
                    <m:d>
                      <m:dPr>
                        <m:ctrlPr>
                          <a:rPr lang="en-US" altLang="zh-CN" sz="2000" b="0" i="1" smtClean="0">
                            <a:latin typeface="Cambria Math" panose="02040503050406030204" pitchFamily="18" charset="0"/>
                          </a:rPr>
                        </m:ctrlPr>
                      </m:dPr>
                      <m:e>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𝑔</m:t>
                            </m:r>
                          </m:e>
                        </m:d>
                        <m:r>
                          <a:rPr lang="en-US" altLang="zh-CN" sz="2000" b="0" i="1" smtClean="0">
                            <a:latin typeface="Cambria Math" panose="02040503050406030204" pitchFamily="18" charset="0"/>
                          </a:rPr>
                          <m:t>𝑠</m:t>
                        </m:r>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𝑔</m:t>
                        </m:r>
                      </m:sub>
                    </m:sSub>
                  </m:oMath>
                </a14:m>
                <a:r>
                  <a:rPr lang="zh-CN" altLang="en-US" sz="2000" dirty="0">
                    <a:sym typeface="+mn-ea"/>
                  </a:rPr>
                  <a:t>，</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b="0" i="1" smtClean="0">
                                <a:latin typeface="Cambria Math" panose="02040503050406030204" pitchFamily="18" charset="0"/>
                              </a:rPr>
                              <m:t>𝑏</m:t>
                            </m:r>
                          </m:e>
                        </m:d>
                        <m:r>
                          <a:rPr lang="en-US" altLang="zh-CN" sz="2000" i="1">
                            <a:latin typeface="Cambria Math" panose="02040503050406030204" pitchFamily="18" charset="0"/>
                          </a:rPr>
                          <m:t>𝑠</m:t>
                        </m:r>
                      </m:e>
                    </m:d>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b="0" i="1" smtClean="0">
                            <a:latin typeface="Cambria Math" panose="02040503050406030204" pitchFamily="18" charset="0"/>
                          </a:rPr>
                          <m:t>𝑏</m:t>
                        </m:r>
                      </m:sub>
                    </m:sSub>
                    <m:r>
                      <a:rPr lang="zh-CN" altLang="en-US" sz="2000" i="1" smtClean="0">
                        <a:latin typeface="Cambria Math" panose="02040503050406030204" pitchFamily="18" charset="0"/>
                      </a:rPr>
                      <m:t>。</m:t>
                    </m:r>
                  </m:oMath>
                </a14:m>
                <a:endParaRPr lang="zh-CN" altLang="en-US"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9" name="Title 6"/>
              <p:cNvSpPr txBox="1">
                <a:spLocks noRot="1" noChangeAspect="1" noMove="1" noResize="1" noEditPoints="1" noAdjustHandles="1" noChangeArrowheads="1" noChangeShapeType="1" noTextEdit="1"/>
              </p:cNvSpPr>
              <p:nvPr>
                <p:custDataLst>
                  <p:tags r:id="rId4"/>
                </p:custDataLst>
              </p:nvPr>
            </p:nvSpPr>
            <p:spPr>
              <a:xfrm>
                <a:off x="982941" y="764404"/>
                <a:ext cx="11277678" cy="4567193"/>
              </a:xfrm>
              <a:prstGeom prst="rect">
                <a:avLst/>
              </a:prstGeom>
              <a:blipFill rotWithShape="1">
                <a:blip r:embed="rId5"/>
                <a:stretch>
                  <a:fillRect l="-5" t="-11" b="3"/>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endParaRPr lang="zh-CN" altLang="en-US" sz="3200" dirty="0">
              <a:solidFill>
                <a:schemeClr val="accent1"/>
              </a:solidFill>
              <a:sym typeface="+mn-ea"/>
            </a:endParaRPr>
          </a:p>
        </p:txBody>
      </p:sp>
      <p:cxnSp>
        <p:nvCxnSpPr>
          <p:cNvPr id="18" name="直接连接符 17"/>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Title 6"/>
              <p:cNvSpPr txBox="1"/>
              <p:nvPr>
                <p:custDataLst>
                  <p:tags r:id="rId3"/>
                </p:custDataLst>
              </p:nvPr>
            </p:nvSpPr>
            <p:spPr>
              <a:xfrm>
                <a:off x="767080" y="762000"/>
                <a:ext cx="10838815" cy="482155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ClrTx/>
                  <a:buSzTx/>
                  <a:buFont typeface="Wingdings" panose="05000000000000000000" charset="0"/>
                  <a:buChar char="n"/>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市场部分成功的合并均衡</a:t>
                </a: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证明完美贝叶斯均衡（逆推归纳法）</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选择买的期望得益为</a:t>
                </a:r>
                <a14:m>
                  <m:oMath xmlns:m="http://schemas.openxmlformats.org/officeDocument/2006/math">
                    <m:sSub>
                      <m:sSubPr>
                        <m:ctrlPr>
                          <a:rPr lang="en-US" altLang="zh-CN" sz="2000" b="0" i="1" smtClean="0">
                            <a:latin typeface="Cambria Math" panose="02040503050406030204" pitchFamily="18" charset="0"/>
                            <a:cs typeface="Cambria Math" panose="02040503050406030204" pitchFamily="18" charset="0"/>
                          </a:rPr>
                        </m:ctrlPr>
                      </m:sSubPr>
                      <m:e>
                        <m:r>
                          <a:rPr lang="en-US" altLang="zh-CN" sz="2000" b="0" i="1" smtClean="0">
                            <a:latin typeface="Cambria Math" panose="02040503050406030204" pitchFamily="18" charset="0"/>
                            <a:cs typeface="Cambria Math" panose="02040503050406030204" pitchFamily="18" charset="0"/>
                          </a:rPr>
                          <m:t>𝑝</m:t>
                        </m:r>
                      </m:e>
                      <m:sub>
                        <m:r>
                          <a:rPr lang="en-US" altLang="zh-CN" sz="2000" b="0" i="1" smtClean="0">
                            <a:latin typeface="Cambria Math" panose="02040503050406030204" pitchFamily="18" charset="0"/>
                            <a:cs typeface="Cambria Math" panose="02040503050406030204" pitchFamily="18" charset="0"/>
                          </a:rPr>
                          <m:t>𝑔</m:t>
                        </m:r>
                      </m:sub>
                    </m:sSub>
                    <m:d>
                      <m:dPr>
                        <m:ctrlPr>
                          <a:rPr lang="en-US" altLang="zh-CN" sz="2000" b="0" i="1" smtClean="0">
                            <a:latin typeface="Cambria Math" panose="02040503050406030204" pitchFamily="18" charset="0"/>
                            <a:cs typeface="Times New Roman" panose="02020603050405020304" pitchFamily="18" charset="0"/>
                          </a:rPr>
                        </m:ctrlPr>
                      </m:dPr>
                      <m:e>
                        <m:r>
                          <a:rPr lang="en-US" altLang="zh-CN" sz="2000" b="0" i="1" smtClean="0">
                            <a:latin typeface="Cambria Math" panose="02040503050406030204" pitchFamily="18" charset="0"/>
                            <a:cs typeface="Times New Roman" panose="02020603050405020304" pitchFamily="18" charset="0"/>
                          </a:rPr>
                          <m:t>𝑉</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𝑃</m:t>
                        </m:r>
                      </m:e>
                    </m:d>
                    <m:r>
                      <a:rPr lang="en-US" altLang="zh-CN" sz="2000" b="0" i="1" smtClean="0">
                        <a:latin typeface="Cambria Math" panose="02040503050406030204" pitchFamily="18" charset="0"/>
                        <a:cs typeface="Times New Roman" panose="02020603050405020304" pitchFamily="18" charset="0"/>
                      </a:rPr>
                      <m:t>+</m:t>
                    </m:r>
                    <m:sSub>
                      <m:sSubPr>
                        <m:ctrlPr>
                          <a:rPr lang="en-US" altLang="zh-CN" sz="2000" b="0" i="1" smtClean="0">
                            <a:latin typeface="Cambria Math" panose="02040503050406030204" pitchFamily="18" charset="0"/>
                            <a:cs typeface="Cambria Math" panose="02040503050406030204" pitchFamily="18" charset="0"/>
                          </a:rPr>
                        </m:ctrlPr>
                      </m:sSubPr>
                      <m:e>
                        <m:r>
                          <a:rPr lang="en-US" altLang="zh-CN" sz="2000" b="0" i="1" smtClean="0">
                            <a:latin typeface="Cambria Math" panose="02040503050406030204" pitchFamily="18" charset="0"/>
                            <a:cs typeface="Cambria Math" panose="02040503050406030204" pitchFamily="18" charset="0"/>
                          </a:rPr>
                          <m:t>𝑝</m:t>
                        </m:r>
                      </m:e>
                      <m:sub>
                        <m:r>
                          <a:rPr lang="en-US" altLang="zh-CN" sz="2000" b="0" i="1" smtClean="0">
                            <a:latin typeface="Cambria Math" panose="02040503050406030204" pitchFamily="18" charset="0"/>
                            <a:cs typeface="Cambria Math" panose="02040503050406030204" pitchFamily="18" charset="0"/>
                          </a:rPr>
                          <m:t>𝑏</m:t>
                        </m:r>
                      </m:sub>
                    </m:sSub>
                    <m:d>
                      <m:dPr>
                        <m:ctrlPr>
                          <a:rPr lang="en-US" altLang="zh-CN" sz="2000" b="0" i="1" smtClean="0">
                            <a:latin typeface="Cambria Math" panose="02040503050406030204" pitchFamily="18" charset="0"/>
                            <a:cs typeface="Times New Roman" panose="02020603050405020304" pitchFamily="18" charset="0"/>
                          </a:rPr>
                        </m:ctrlPr>
                      </m:dPr>
                      <m:e>
                        <m:r>
                          <a:rPr lang="en-US" altLang="zh-CN" sz="2000" b="0" i="1" smtClean="0">
                            <a:latin typeface="Cambria Math" panose="02040503050406030204" pitchFamily="18" charset="0"/>
                            <a:cs typeface="Times New Roman" panose="02020603050405020304" pitchFamily="18" charset="0"/>
                          </a:rPr>
                          <m:t>𝑊</m:t>
                        </m:r>
                        <m:r>
                          <a:rPr lang="en-US" altLang="zh-CN" sz="2000" b="0" i="1" smtClean="0">
                            <a:latin typeface="Cambria Math" panose="02040503050406030204" pitchFamily="18" charset="0"/>
                            <a:cs typeface="Times New Roman" panose="02020603050405020304" pitchFamily="18" charset="0"/>
                          </a:rPr>
                          <m:t>−</m:t>
                        </m:r>
                        <m:r>
                          <a:rPr lang="en-US" altLang="zh-CN" sz="2000" b="0" i="1" smtClean="0">
                            <a:latin typeface="Cambria Math" panose="02040503050406030204" pitchFamily="18" charset="0"/>
                            <a:cs typeface="Times New Roman" panose="02020603050405020304" pitchFamily="18" charset="0"/>
                          </a:rPr>
                          <m:t>𝑃</m:t>
                        </m:r>
                      </m:e>
                    </m:d>
                    <m:r>
                      <a:rPr lang="en-US" altLang="zh-CN" sz="2000" b="0" i="1" smtClean="0">
                        <a:latin typeface="Cambria Math" panose="02040503050406030204" pitchFamily="18" charset="0"/>
                        <a:cs typeface="Times New Roman" panose="02020603050405020304" pitchFamily="18" charset="0"/>
                      </a:rPr>
                      <m:t>，</m:t>
                    </m:r>
                  </m:oMath>
                </a14:m>
                <a:r>
                  <a:rPr altLang="zh-CN" sz="20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V&gt;P&gt;W</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14:m>
                  <m:oMath xmlns:m="http://schemas.openxmlformats.org/officeDocument/2006/math">
                    <m:r>
                      <a:rPr lang="en-US" altLang="zh-CN" sz="2000" b="0" i="1" smtClean="0">
                        <a:latin typeface="Cambria Math" panose="02040503050406030204" pitchFamily="18" charset="0"/>
                        <a:cs typeface="Times New Roman" panose="02020603050405020304" pitchFamily="18" charset="0"/>
                      </a:rPr>
                      <m:t>𝑝</m:t>
                    </m:r>
                    <m:d>
                      <m:dPr>
                        <m:ctrlPr>
                          <a:rPr lang="en-US" altLang="zh-CN" sz="2000" b="0" i="1" smtClean="0">
                            <a:latin typeface="Cambria Math" panose="02040503050406030204" pitchFamily="18" charset="0"/>
                            <a:cs typeface="Cambria Math" panose="02040503050406030204" pitchFamily="18" charset="0"/>
                          </a:rPr>
                        </m:ctrlPr>
                      </m:dPr>
                      <m:e>
                        <m:r>
                          <a:rPr lang="en-US" altLang="zh-CN" sz="2000" b="0" i="1" smtClean="0">
                            <a:latin typeface="Cambria Math" panose="02040503050406030204" pitchFamily="18" charset="0"/>
                            <a:cs typeface="Cambria Math" panose="02040503050406030204" pitchFamily="18" charset="0"/>
                          </a:rPr>
                          <m:t>𝑏</m:t>
                        </m:r>
                      </m:e>
                    </m:d>
                  </m:oMath>
                </a14:m>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很小，可以认为该期望值为正值。如果买方选择不买，则他的得益为0。因此买方选择买能实现较大的期望得益，只要卖方卖，轮到他选择时必然会选择买。</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清楚买方的判断和决策思路，因此知道选择卖一定能卖出去。如果车子是好的，则选择卖的得益为P(注意：前面已经分析出了买方一定会买)，大于选择不卖的得益0，当然会选择卖（卖方选择卖这个最优策略符合</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2）；如果车子是差的，则选择卖的得益为P</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C，根据假设，P</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C&gt;0，因此他还是选择卖。总之，</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不管卖方的商品是好是差，卖都是他唯一合理的选择。</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双方的均衡策略与买方的信念</a:t>
                </a:r>
                <a14:m>
                  <m:oMath xmlns:m="http://schemas.openxmlformats.org/officeDocument/2006/math">
                    <m:r>
                      <a:rPr lang="en-US" altLang="zh-CN" sz="2000" b="1" i="1" smtClean="0">
                        <a:latin typeface="Cambria Math" panose="02040503050406030204" pitchFamily="18" charset="0"/>
                      </a:rPr>
                      <m:t>𝒑</m:t>
                    </m:r>
                    <m:d>
                      <m:dPr>
                        <m:ctrlPr>
                          <a:rPr lang="en-US" altLang="zh-CN" sz="2000" b="1" i="1" smtClean="0">
                            <a:latin typeface="Cambria Math" panose="02040503050406030204" pitchFamily="18" charset="0"/>
                          </a:rPr>
                        </m:ctrlPr>
                      </m:dPr>
                      <m:e>
                        <m:d>
                          <m:dPr>
                            <m:begChr m:val=""/>
                            <m:endChr m:val="|"/>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𝒈</m:t>
                            </m:r>
                          </m:e>
                        </m:d>
                        <m:r>
                          <a:rPr lang="en-US" altLang="zh-CN" sz="2000" b="1" i="1" smtClean="0">
                            <a:latin typeface="Cambria Math" panose="02040503050406030204" pitchFamily="18" charset="0"/>
                          </a:rPr>
                          <m:t>𝒔</m:t>
                        </m:r>
                      </m:e>
                    </m:d>
                    <m:r>
                      <a:rPr lang="en-US" altLang="zh-CN" sz="2000" b="1" i="1" smtClean="0">
                        <a:latin typeface="Cambria Math" panose="02040503050406030204" pitchFamily="18" charset="0"/>
                      </a:rPr>
                      <m:t>=</m:t>
                    </m:r>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𝒑</m:t>
                        </m:r>
                      </m:e>
                      <m:sub>
                        <m:r>
                          <a:rPr lang="en-US" altLang="zh-CN" sz="2000" b="1" i="1" smtClean="0">
                            <a:latin typeface="Cambria Math" panose="02040503050406030204" pitchFamily="18" charset="0"/>
                          </a:rPr>
                          <m:t>𝒈</m:t>
                        </m:r>
                      </m:sub>
                    </m:sSub>
                  </m:oMath>
                </a14:m>
                <a:r>
                  <a:rPr lang="zh-CN" altLang="en-US" sz="2000" b="1" dirty="0">
                    <a:sym typeface="+mn-ea"/>
                  </a:rPr>
                  <a:t>，</a:t>
                </a:r>
                <a14:m>
                  <m:oMath xmlns:m="http://schemas.openxmlformats.org/officeDocument/2006/math">
                    <m:r>
                      <a:rPr lang="en-US" altLang="zh-CN" sz="2000" b="1" i="1">
                        <a:latin typeface="Cambria Math" panose="02040503050406030204" pitchFamily="18" charset="0"/>
                      </a:rPr>
                      <m:t>𝒑</m:t>
                    </m:r>
                    <m:d>
                      <m:dPr>
                        <m:ctrlPr>
                          <a:rPr lang="en-US" altLang="zh-CN" sz="2000" b="1" i="1">
                            <a:latin typeface="Cambria Math" panose="02040503050406030204" pitchFamily="18" charset="0"/>
                          </a:rPr>
                        </m:ctrlPr>
                      </m:dPr>
                      <m:e>
                        <m:d>
                          <m:dPr>
                            <m:begChr m:val=""/>
                            <m:endChr m:val="|"/>
                            <m:ctrlPr>
                              <a:rPr lang="en-US" altLang="zh-CN" sz="2000" b="1" i="1">
                                <a:latin typeface="Cambria Math" panose="02040503050406030204" pitchFamily="18" charset="0"/>
                              </a:rPr>
                            </m:ctrlPr>
                          </m:dPr>
                          <m:e>
                            <m:r>
                              <a:rPr lang="en-US" altLang="zh-CN" sz="2000" b="1" i="1" smtClean="0">
                                <a:latin typeface="Cambria Math" panose="02040503050406030204" pitchFamily="18" charset="0"/>
                              </a:rPr>
                              <m:t>𝒃</m:t>
                            </m:r>
                          </m:e>
                        </m:d>
                        <m:r>
                          <a:rPr lang="en-US" altLang="zh-CN" sz="2000" b="1" i="1">
                            <a:latin typeface="Cambria Math" panose="02040503050406030204" pitchFamily="18" charset="0"/>
                          </a:rPr>
                          <m:t>𝒔</m:t>
                        </m:r>
                      </m:e>
                    </m:d>
                    <m:r>
                      <a:rPr lang="en-US" altLang="zh-CN" sz="2000" b="1" i="1">
                        <a:latin typeface="Cambria Math" panose="02040503050406030204" pitchFamily="18" charset="0"/>
                      </a:rPr>
                      <m:t>=</m:t>
                    </m:r>
                    <m:sSub>
                      <m:sSubPr>
                        <m:ctrlPr>
                          <a:rPr lang="en-US" altLang="zh-CN" sz="2000" b="1" i="1">
                            <a:latin typeface="Cambria Math" panose="02040503050406030204" pitchFamily="18" charset="0"/>
                          </a:rPr>
                        </m:ctrlPr>
                      </m:sSubPr>
                      <m:e>
                        <m:r>
                          <a:rPr lang="en-US" altLang="zh-CN" sz="2000" b="1" i="1">
                            <a:latin typeface="Cambria Math" panose="02040503050406030204" pitchFamily="18" charset="0"/>
                          </a:rPr>
                          <m:t>𝒑</m:t>
                        </m:r>
                      </m:e>
                      <m:sub>
                        <m:r>
                          <a:rPr lang="en-US" altLang="zh-CN" sz="2000" b="1" i="1" smtClean="0">
                            <a:latin typeface="Cambria Math" panose="02040503050406030204" pitchFamily="18" charset="0"/>
                          </a:rPr>
                          <m:t>𝒃</m:t>
                        </m:r>
                      </m:sub>
                    </m:sSub>
                  </m:oMath>
                </a14:m>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相符合。</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在这个均衡策略组合下，不存在不在均衡路径上需要判断的信息集（</a:t>
                </a: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R4</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just" fontAlgn="ctr">
                  <a:lnSpc>
                    <a:spcPct val="130000"/>
                  </a:lnSpc>
                  <a:spcBef>
                    <a:spcPts val="0"/>
                  </a:spcBef>
                  <a:spcAft>
                    <a:spcPts val="0"/>
                  </a:spcAft>
                  <a:buSzPct val="100000"/>
                  <a:buFont typeface="Arial" panose="020B0604020202020204" pitchFamily="34" charset="0"/>
                  <a:buChar char="○"/>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两个主要约束：</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9" name="Title 6"/>
              <p:cNvSpPr txBox="1">
                <a:spLocks noRot="1" noChangeAspect="1" noMove="1" noResize="1" noEditPoints="1" noAdjustHandles="1" noChangeArrowheads="1" noChangeShapeType="1" noTextEdit="1"/>
              </p:cNvSpPr>
              <p:nvPr>
                <p:custDataLst>
                  <p:tags r:id="rId4"/>
                </p:custDataLst>
              </p:nvPr>
            </p:nvSpPr>
            <p:spPr>
              <a:xfrm>
                <a:off x="767080" y="762000"/>
                <a:ext cx="10838815" cy="4821555"/>
              </a:xfrm>
              <a:prstGeom prst="rect">
                <a:avLst/>
              </a:prstGeom>
              <a:blipFill rotWithShape="1">
                <a:blip r:embed="rId5"/>
                <a:stretch>
                  <a:fillRect r="-129"/>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3" name="圆角矩形标注 2"/>
          <p:cNvSpPr/>
          <p:nvPr/>
        </p:nvSpPr>
        <p:spPr>
          <a:xfrm>
            <a:off x="6671945" y="304800"/>
            <a:ext cx="2125980" cy="1027430"/>
          </a:xfrm>
          <a:prstGeom prst="wedgeRoundRectCallout">
            <a:avLst>
              <a:gd name="adj1" fmla="val -118160"/>
              <a:gd name="adj2" fmla="val 55129"/>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p>
            <a:pPr algn="just"/>
            <a:r>
              <a:rPr lang="zh-CN" alt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逆推归纳法的依据：</a:t>
            </a:r>
            <a:r>
              <a:rPr lang="en-US" altLang="zh-C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理性选择；</a:t>
            </a:r>
            <a:r>
              <a:rPr lang="en-US" altLang="zh-C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最优性原理</a:t>
            </a:r>
            <a:endParaRPr lang="zh-CN" alt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mc:Choice xmlns:a14="http://schemas.microsoft.com/office/drawing/2010/main" Requires="a14">
          <p:sp>
            <p:nvSpPr>
              <p:cNvPr id="5" name="文本框 4"/>
              <p:cNvSpPr txBox="1"/>
              <p:nvPr/>
            </p:nvSpPr>
            <p:spPr>
              <a:xfrm>
                <a:off x="3094990" y="5505450"/>
                <a:ext cx="6101080" cy="901700"/>
              </a:xfrm>
              <a:prstGeom prst="rect">
                <a:avLst/>
              </a:prstGeom>
              <a:noFill/>
              <a:ln w="25400">
                <a:solidFill>
                  <a:schemeClr val="accent1"/>
                </a:solidFill>
                <a:prstDash val="sysDash"/>
              </a:ln>
            </p:spPr>
            <p:txBody>
              <a:bodyPr wrap="square" rtlCol="0">
                <a:spAutoFit/>
              </a:bodyPr>
              <a:p>
                <a:pPr algn="just">
                  <a:lnSpc>
                    <a:spcPct val="140000"/>
                  </a:lnSpc>
                </a:pPr>
                <a14:m>
                  <m:oMath xmlns:m="http://schemas.openxmlformats.org/officeDocument/2006/math">
                    <m:r>
                      <a:rPr lang="en-US" altLang="zh-CN" b="1" i="1" smtClean="0">
                        <a:latin typeface="Cambria Math" panose="02040503050406030204" pitchFamily="18" charset="0"/>
                        <a:cs typeface="Times New Roman" panose="02020603050405020304" pitchFamily="18" charset="0"/>
                      </a:rPr>
                      <m:t>𝒑</m:t>
                    </m:r>
                    <m:r>
                      <a:rPr lang="en-US" altLang="zh-CN" b="1" i="1" smtClean="0">
                        <a:latin typeface="Cambria Math" panose="02040503050406030204" pitchFamily="18" charset="0"/>
                        <a:cs typeface="Cambria Math" panose="02040503050406030204" pitchFamily="18" charset="0"/>
                      </a:rPr>
                      <m:t>&gt;</m:t>
                    </m:r>
                    <m:r>
                      <a:rPr lang="en-US" altLang="zh-CN" b="1" i="1" smtClean="0">
                        <a:latin typeface="Cambria Math" panose="02040503050406030204" pitchFamily="18" charset="0"/>
                        <a:cs typeface="Cambria Math" panose="02040503050406030204" pitchFamily="18" charset="0"/>
                      </a:rPr>
                      <m:t>𝒄</m:t>
                    </m:r>
                    <m:r>
                      <a:rPr lang="en-US" altLang="zh-CN" b="1" i="1" smtClean="0">
                        <a:latin typeface="Cambria Math" panose="02040503050406030204" pitchFamily="18" charset="0"/>
                        <a:cs typeface="Cambria Math" panose="02040503050406030204" pitchFamily="18" charset="0"/>
                      </a:rPr>
                      <m:t>⇒</m:t>
                    </m:r>
                  </m:oMath>
                </a14:m>
                <a:r>
                  <a:rPr lang="en-US" altLang="zh-CN" b="1" i="1" smtClean="0">
                    <a:latin typeface="Cambria Math" panose="02040503050406030204" pitchFamily="18" charset="0"/>
                    <a:cs typeface="Cambria Math" panose="02040503050406030204" pitchFamily="18" charset="0"/>
                  </a:rPr>
                  <a:t> </a:t>
                </a:r>
                <a:r>
                  <a:rPr lang="zh-CN" altLang="en-US" b="1" smtClean="0">
                    <a:latin typeface="Cambria Math" panose="02040503050406030204" pitchFamily="18" charset="0"/>
                    <a:cs typeface="Cambria Math" panose="02040503050406030204" pitchFamily="18" charset="0"/>
                  </a:rPr>
                  <a:t>卖方决定卖（不管好差）</a:t>
                </a:r>
                <a:endParaRPr lang="en-US" altLang="zh-CN" b="1" i="1" smtClean="0">
                  <a:latin typeface="Cambria Math" panose="02040503050406030204" pitchFamily="18" charset="0"/>
                  <a:cs typeface="Cambria Math" panose="02040503050406030204" pitchFamily="18" charset="0"/>
                </a:endParaRPr>
              </a:p>
              <a:p>
                <a:pPr algn="just">
                  <a:lnSpc>
                    <a:spcPct val="140000"/>
                  </a:lnSpc>
                </a:pPr>
                <a14:m>
                  <m:oMath xmlns:m="http://schemas.openxmlformats.org/officeDocument/2006/math">
                    <m:sSub>
                      <m:sSubPr>
                        <m:ctrlPr>
                          <a:rPr lang="en-US" altLang="zh-CN" b="1" i="1" smtClean="0">
                            <a:latin typeface="Cambria Math" panose="02040503050406030204" pitchFamily="18" charset="0"/>
                            <a:cs typeface="Cambria Math" panose="02040503050406030204" pitchFamily="18" charset="0"/>
                          </a:rPr>
                        </m:ctrlPr>
                      </m:sSubPr>
                      <m:e>
                        <m:r>
                          <a:rPr lang="en-US" altLang="zh-CN" b="1" i="1" smtClean="0">
                            <a:latin typeface="Cambria Math" panose="02040503050406030204" pitchFamily="18" charset="0"/>
                            <a:cs typeface="Cambria Math" panose="02040503050406030204" pitchFamily="18" charset="0"/>
                          </a:rPr>
                          <m:t>𝒑</m:t>
                        </m:r>
                      </m:e>
                      <m:sub>
                        <m:r>
                          <a:rPr lang="en-US" altLang="zh-CN" b="1" i="1" smtClean="0">
                            <a:latin typeface="Cambria Math" panose="02040503050406030204" pitchFamily="18" charset="0"/>
                            <a:cs typeface="Cambria Math" panose="02040503050406030204" pitchFamily="18" charset="0"/>
                          </a:rPr>
                          <m:t>𝒈</m:t>
                        </m:r>
                      </m:sub>
                    </m:sSub>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𝑽</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𝑷</m:t>
                        </m:r>
                      </m:e>
                    </m:d>
                    <m:r>
                      <a:rPr lang="en-US" altLang="zh-CN" b="1" i="1" smtClean="0">
                        <a:latin typeface="Cambria Math" panose="02040503050406030204" pitchFamily="18" charset="0"/>
                        <a:cs typeface="Times New Roman" panose="02020603050405020304" pitchFamily="18" charset="0"/>
                      </a:rPr>
                      <m:t>+</m:t>
                    </m:r>
                    <m:sSub>
                      <m:sSubPr>
                        <m:ctrlPr>
                          <a:rPr lang="en-US" altLang="zh-CN" b="1" i="1" smtClean="0">
                            <a:latin typeface="Cambria Math" panose="02040503050406030204" pitchFamily="18" charset="0"/>
                            <a:cs typeface="Cambria Math" panose="02040503050406030204" pitchFamily="18" charset="0"/>
                          </a:rPr>
                        </m:ctrlPr>
                      </m:sSubPr>
                      <m:e>
                        <m:r>
                          <a:rPr lang="en-US" altLang="zh-CN" b="1" i="1" smtClean="0">
                            <a:latin typeface="Cambria Math" panose="02040503050406030204" pitchFamily="18" charset="0"/>
                            <a:cs typeface="Cambria Math" panose="02040503050406030204" pitchFamily="18" charset="0"/>
                          </a:rPr>
                          <m:t>𝒑</m:t>
                        </m:r>
                      </m:e>
                      <m:sub>
                        <m:r>
                          <a:rPr lang="en-US" altLang="zh-CN" b="1" i="1" smtClean="0">
                            <a:latin typeface="Cambria Math" panose="02040503050406030204" pitchFamily="18" charset="0"/>
                            <a:cs typeface="Cambria Math" panose="02040503050406030204" pitchFamily="18" charset="0"/>
                          </a:rPr>
                          <m:t>𝒃</m:t>
                        </m:r>
                      </m:sub>
                    </m:sSub>
                    <m:d>
                      <m:dPr>
                        <m:ctrlPr>
                          <a:rPr lang="en-US" altLang="zh-CN" b="1" i="1" smtClean="0">
                            <a:latin typeface="Cambria Math" panose="02040503050406030204" pitchFamily="18" charset="0"/>
                            <a:cs typeface="Times New Roman" panose="02020603050405020304" pitchFamily="18" charset="0"/>
                          </a:rPr>
                        </m:ctrlPr>
                      </m:dPr>
                      <m:e>
                        <m:r>
                          <a:rPr lang="en-US" altLang="zh-CN" b="1" i="1" smtClean="0">
                            <a:latin typeface="Cambria Math" panose="02040503050406030204" pitchFamily="18" charset="0"/>
                            <a:cs typeface="Times New Roman" panose="02020603050405020304" pitchFamily="18" charset="0"/>
                          </a:rPr>
                          <m:t>𝑾</m:t>
                        </m:r>
                        <m:r>
                          <a:rPr lang="en-US" altLang="zh-CN" b="1" i="1" smtClean="0">
                            <a:latin typeface="Cambria Math" panose="02040503050406030204" pitchFamily="18" charset="0"/>
                            <a:cs typeface="Times New Roman" panose="02020603050405020304" pitchFamily="18" charset="0"/>
                          </a:rPr>
                          <m:t>−</m:t>
                        </m:r>
                        <m:r>
                          <a:rPr lang="en-US" altLang="zh-CN" b="1" i="1" smtClean="0">
                            <a:latin typeface="Cambria Math" panose="02040503050406030204" pitchFamily="18" charset="0"/>
                            <a:cs typeface="Times New Roman" panose="02020603050405020304" pitchFamily="18" charset="0"/>
                          </a:rPr>
                          <m:t>𝑷</m:t>
                        </m:r>
                      </m:e>
                    </m:d>
                    <m:r>
                      <a:rPr lang="en-US" altLang="zh-CN" b="1" i="1" smtClean="0">
                        <a:latin typeface="Cambria Math" panose="02040503050406030204" pitchFamily="18" charset="0"/>
                        <a:cs typeface="Cambria Math" panose="02040503050406030204" pitchFamily="18" charset="0"/>
                      </a:rPr>
                      <m:t>&gt;</m:t>
                    </m:r>
                    <m:r>
                      <a:rPr lang="en-US" altLang="zh-CN" b="1" i="1" smtClean="0">
                        <a:latin typeface="Cambria Math" panose="02040503050406030204" pitchFamily="18" charset="0"/>
                        <a:cs typeface="Cambria Math" panose="02040503050406030204" pitchFamily="18" charset="0"/>
                      </a:rPr>
                      <m:t>𝟎</m:t>
                    </m:r>
                    <m:r>
                      <a:rPr lang="en-US" altLang="zh-CN" b="1" i="1" smtClean="0">
                        <a:latin typeface="Cambria Math" panose="02040503050406030204" pitchFamily="18" charset="0"/>
                        <a:cs typeface="Cambria Math" panose="02040503050406030204" pitchFamily="18" charset="0"/>
                      </a:rPr>
                      <m:t>⇒</m:t>
                    </m:r>
                  </m:oMath>
                </a14:m>
                <a:r>
                  <a:rPr lang="en-US" altLang="zh-CN" b="1" i="1" smtClean="0">
                    <a:latin typeface="Cambria Math" panose="02040503050406030204" pitchFamily="18" charset="0"/>
                    <a:cs typeface="Cambria Math" panose="02040503050406030204" pitchFamily="18" charset="0"/>
                  </a:rPr>
                  <a:t> </a:t>
                </a:r>
                <a:r>
                  <a:rPr lang="zh-CN" altLang="en-US" b="1" smtClean="0">
                    <a:latin typeface="Cambria Math" panose="02040503050406030204" pitchFamily="18" charset="0"/>
                    <a:cs typeface="Cambria Math" panose="02040503050406030204" pitchFamily="18" charset="0"/>
                  </a:rPr>
                  <a:t>买方决定买（不管好差）</a:t>
                </a:r>
                <a:endParaRPr lang="zh-CN" altLang="en-US" b="1"/>
              </a:p>
            </p:txBody>
          </p:sp>
        </mc:Choice>
        <mc:Fallback>
          <p:sp>
            <p:nvSpPr>
              <p:cNvPr id="5" name="文本框 4"/>
              <p:cNvSpPr txBox="1">
                <a:spLocks noRot="1" noChangeAspect="1" noMove="1" noResize="1" noEditPoints="1" noAdjustHandles="1" noChangeArrowheads="1" noChangeShapeType="1" noTextEdit="1"/>
              </p:cNvSpPr>
              <p:nvPr/>
            </p:nvSpPr>
            <p:spPr>
              <a:xfrm>
                <a:off x="3094990" y="5505450"/>
                <a:ext cx="6101080" cy="901700"/>
              </a:xfrm>
              <a:prstGeom prst="rect">
                <a:avLst/>
              </a:prstGeom>
              <a:blipFill rotWithShape="1">
                <a:blip r:embed="rId7"/>
                <a:stretch>
                  <a:fillRect l="-208" t="-1408" r="-208" b="-1408"/>
                </a:stretch>
              </a:blipFill>
              <a:ln w="25400">
                <a:solidFill>
                  <a:schemeClr val="accent1"/>
                </a:solidFill>
                <a:prstDash val="sysDash"/>
              </a:ln>
            </p:spPr>
            <p:txBody>
              <a:bodyPr/>
              <a:lstStyle/>
              <a:p>
                <a:r>
                  <a:rPr lang="zh-CN" altLang="en-US">
                    <a:noFill/>
                  </a:rPr>
                  <a:t> </a:t>
                </a:r>
              </a:p>
            </p:txBody>
          </p:sp>
        </mc:Fallback>
      </mc:AlternateContent>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endParaRPr lang="zh-CN" altLang="en-US" sz="3200" dirty="0">
              <a:solidFill>
                <a:schemeClr val="accent1"/>
              </a:solidFill>
              <a:sym typeface="+mn-ea"/>
            </a:endParaRPr>
          </a:p>
        </p:txBody>
      </p:sp>
      <p:cxnSp>
        <p:nvCxnSpPr>
          <p:cNvPr id="14" name="直接连接符 13"/>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5" name="矩形 14"/>
          <p:cNvSpPr/>
          <p:nvPr userDrawn="1">
            <p:custDataLst>
              <p:tags r:id="rId3"/>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mc:Choice xmlns:a14="http://schemas.microsoft.com/office/drawing/2010/main" Requires="a14">
          <p:sp>
            <p:nvSpPr>
              <p:cNvPr id="16" name="Title 6"/>
              <p:cNvSpPr txBox="1"/>
              <p:nvPr>
                <p:custDataLst>
                  <p:tags r:id="rId4"/>
                </p:custDataLst>
              </p:nvPr>
            </p:nvSpPr>
            <p:spPr>
              <a:xfrm>
                <a:off x="2886210" y="2036709"/>
                <a:ext cx="6425930" cy="3546581"/>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ClrTx/>
                  <a:buSzTx/>
                  <a:buFont typeface="Wingdings" panose="05000000000000000000" charset="0"/>
                  <a:buChar char="n"/>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市场完全成功的分开均衡</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P&lt;C</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完美贝叶斯均衡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卖方在车好时卖，车差时不卖；</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买方选买，只要卖方卖；</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买方的信念是</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i="1">
                            <a:latin typeface="Cambria Math" panose="02040503050406030204" pitchFamily="18" charset="0"/>
                          </a:rPr>
                          <m:t>𝑠</m:t>
                        </m:r>
                      </m:e>
                    </m:d>
                    <m:r>
                      <a:rPr lang="en-US" altLang="zh-CN" sz="2000" i="1">
                        <a:latin typeface="Cambria Math" panose="02040503050406030204" pitchFamily="18" charset="0"/>
                      </a:rPr>
                      <m:t>=</m:t>
                    </m:r>
                    <m:r>
                      <a:rPr lang="en-US" altLang="zh-CN" sz="2000" i="1" smtClean="0">
                        <a:latin typeface="Cambria Math" panose="02040503050406030204" pitchFamily="18" charset="0"/>
                      </a:rPr>
                      <m:t>1</m:t>
                    </m:r>
                  </m:oMath>
                </a14:m>
                <a:r>
                  <a:rPr lang="zh-CN" altLang="en-US" sz="2000" dirty="0">
                    <a:sym typeface="+mn-ea"/>
                  </a:rPr>
                  <a:t>，</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𝑏</m:t>
                            </m:r>
                          </m:e>
                        </m:d>
                        <m:r>
                          <a:rPr lang="en-US" altLang="zh-CN" sz="2000" i="1">
                            <a:latin typeface="Cambria Math" panose="02040503050406030204" pitchFamily="18" charset="0"/>
                          </a:rPr>
                          <m:t>𝑠</m:t>
                        </m:r>
                      </m:e>
                    </m:d>
                    <m:r>
                      <a:rPr lang="en-US" altLang="zh-CN" sz="2000" i="1">
                        <a:latin typeface="Cambria Math" panose="02040503050406030204" pitchFamily="18" charset="0"/>
                      </a:rPr>
                      <m:t>=</m:t>
                    </m:r>
                    <m:r>
                      <a:rPr lang="en-US" altLang="zh-CN" sz="2000" i="1">
                        <a:latin typeface="Cambria Math" panose="02040503050406030204" pitchFamily="18" charset="0"/>
                      </a:rPr>
                      <m:t>0</m:t>
                    </m:r>
                  </m:oMath>
                </a14:m>
                <a:r>
                  <a:rPr lang="zh-CN" altLang="en-US" sz="2000" dirty="0">
                    <a:sym typeface="+mn-ea"/>
                  </a:rPr>
                  <a:t>。</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6" name="Title 6"/>
              <p:cNvSpPr txBox="1">
                <a:spLocks noRot="1" noChangeAspect="1" noMove="1" noResize="1" noEditPoints="1" noAdjustHandles="1" noChangeArrowheads="1" noChangeShapeType="1" noTextEdit="1"/>
              </p:cNvSpPr>
              <p:nvPr>
                <p:custDataLst>
                  <p:tags r:id="rId5"/>
                </p:custDataLst>
              </p:nvPr>
            </p:nvSpPr>
            <p:spPr>
              <a:xfrm>
                <a:off x="2886210" y="2036709"/>
                <a:ext cx="6425930" cy="3546581"/>
              </a:xfrm>
              <a:prstGeom prst="rect">
                <a:avLst/>
              </a:prstGeom>
              <a:blipFill rotWithShape="1">
                <a:blip r:embed="rId6"/>
                <a:stretch>
                  <a:fillRect l="-2" t="-7" r="8" b="10"/>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endParaRPr lang="zh-CN" altLang="en-US" sz="3200" dirty="0">
              <a:solidFill>
                <a:schemeClr val="accent1"/>
              </a:solidFill>
              <a:sym typeface="+mn-ea"/>
            </a:endParaRPr>
          </a:p>
        </p:txBody>
      </p:sp>
      <p:cxnSp>
        <p:nvCxnSpPr>
          <p:cNvPr id="15" name="直接连接符 14"/>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6" name="矩形 15"/>
          <p:cNvSpPr/>
          <p:nvPr userDrawn="1">
            <p:custDataLst>
              <p:tags r:id="rId3"/>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mc:Choice xmlns:a14="http://schemas.microsoft.com/office/drawing/2010/main" Requires="a14">
          <p:sp>
            <p:nvSpPr>
              <p:cNvPr id="17" name="Title 6"/>
              <p:cNvSpPr txBox="1"/>
              <p:nvPr>
                <p:custDataLst>
                  <p:tags r:id="rId4"/>
                </p:custDataLst>
              </p:nvPr>
            </p:nvSpPr>
            <p:spPr>
              <a:xfrm>
                <a:off x="2997811" y="2036709"/>
                <a:ext cx="6202727" cy="3546581"/>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ClrTx/>
                  <a:buSzTx/>
                  <a:buFont typeface="Wingdings" panose="05000000000000000000" charset="0"/>
                  <a:buChar char="n"/>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市场完全失败的合并均衡</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W＜P</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完美贝叶斯均衡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卖方选择不卖</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买方选择不买</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买方的信念是</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i="1">
                            <a:latin typeface="Cambria Math" panose="02040503050406030204" pitchFamily="18" charset="0"/>
                          </a:rPr>
                          <m:t>𝑠</m:t>
                        </m:r>
                      </m:e>
                    </m:d>
                    <m:r>
                      <a:rPr lang="en-US" altLang="zh-CN" sz="2000" i="1">
                        <a:latin typeface="Cambria Math" panose="02040503050406030204" pitchFamily="18" charset="0"/>
                      </a:rPr>
                      <m:t>=</m:t>
                    </m:r>
                    <m:r>
                      <a:rPr lang="en-US" altLang="zh-CN" sz="2000" i="1">
                        <a:latin typeface="Cambria Math" panose="02040503050406030204" pitchFamily="18" charset="0"/>
                      </a:rPr>
                      <m:t>0</m:t>
                    </m:r>
                  </m:oMath>
                </a14:m>
                <a:r>
                  <a:rPr lang="zh-CN" altLang="en-US" sz="2000" dirty="0">
                    <a:sym typeface="+mn-ea"/>
                  </a:rPr>
                  <a:t>，</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𝑏</m:t>
                            </m:r>
                          </m:e>
                        </m:d>
                        <m:r>
                          <a:rPr lang="en-US" altLang="zh-CN" sz="2000" i="1">
                            <a:latin typeface="Cambria Math" panose="02040503050406030204" pitchFamily="18" charset="0"/>
                          </a:rPr>
                          <m:t>𝑠</m:t>
                        </m:r>
                      </m:e>
                    </m:d>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oMath>
                </a14:m>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7" name="Title 6"/>
              <p:cNvSpPr txBox="1">
                <a:spLocks noRot="1" noChangeAspect="1" noMove="1" noResize="1" noEditPoints="1" noAdjustHandles="1" noChangeArrowheads="1" noChangeShapeType="1" noTextEdit="1"/>
              </p:cNvSpPr>
              <p:nvPr>
                <p:custDataLst>
                  <p:tags r:id="rId5"/>
                </p:custDataLst>
              </p:nvPr>
            </p:nvSpPr>
            <p:spPr>
              <a:xfrm>
                <a:off x="2997811" y="2036709"/>
                <a:ext cx="6202727" cy="3546581"/>
              </a:xfrm>
              <a:prstGeom prst="rect">
                <a:avLst/>
              </a:prstGeom>
              <a:blipFill rotWithShape="1">
                <a:blip r:embed="rId6"/>
                <a:stretch>
                  <a:fillRect l="-10" t="-7" b="10"/>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7">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8"/>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endParaRPr lang="zh-CN" altLang="en-US" sz="3200" dirty="0">
              <a:solidFill>
                <a:schemeClr val="accent1"/>
              </a:solidFill>
              <a:sym typeface="+mn-ea"/>
            </a:endParaRPr>
          </a:p>
        </p:txBody>
      </p:sp>
      <p:cxnSp>
        <p:nvCxnSpPr>
          <p:cNvPr id="15" name="直接连接符 14"/>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6" name="矩形 15"/>
          <p:cNvSpPr/>
          <p:nvPr>
            <p:custDataLst>
              <p:tags r:id="rId3"/>
            </p:custDataLst>
          </p:nvPr>
        </p:nvSpPr>
        <p:spPr>
          <a:xfrm>
            <a:off x="1501679" y="1351895"/>
            <a:ext cx="9170721" cy="4915684"/>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a:solidFill>
                <a:schemeClr val="lt1"/>
              </a:solidFill>
              <a:latin typeface="微软雅黑" panose="020B0503020204020204" pitchFamily="34" charset="-122"/>
              <a:ea typeface="微软雅黑" panose="020B0503020204020204" pitchFamily="34" charset="-122"/>
              <a:cs typeface="+mn-ea"/>
              <a:sym typeface="+mn-lt"/>
            </a:endParaRPr>
          </a:p>
        </p:txBody>
      </p:sp>
      <p:cxnSp>
        <p:nvCxnSpPr>
          <p:cNvPr id="17" name="直接连接符 16"/>
          <p:cNvCxnSpPr/>
          <p:nvPr>
            <p:custDataLst>
              <p:tags r:id="rId4"/>
            </p:custDataLst>
          </p:nvPr>
        </p:nvCxnSpPr>
        <p:spPr>
          <a:xfrm>
            <a:off x="1651903" y="1066589"/>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5"/>
            </p:custDataLst>
          </p:nvPr>
        </p:nvCxnSpPr>
        <p:spPr>
          <a:xfrm>
            <a:off x="1501677" y="1137347"/>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6"/>
            </p:custDataLst>
          </p:nvPr>
        </p:nvCxnSpPr>
        <p:spPr>
          <a:xfrm>
            <a:off x="10285644" y="6071795"/>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7"/>
            </p:custDataLst>
          </p:nvPr>
        </p:nvCxnSpPr>
        <p:spPr>
          <a:xfrm>
            <a:off x="10135418" y="6142553"/>
            <a:ext cx="410332" cy="410332"/>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1" name="Title 6"/>
              <p:cNvSpPr txBox="1"/>
              <p:nvPr>
                <p:custDataLst>
                  <p:tags r:id="rId8"/>
                </p:custDataLst>
              </p:nvPr>
            </p:nvSpPr>
            <p:spPr>
              <a:xfrm>
                <a:off x="2279492" y="1565429"/>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n"/>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混合策略完美贝叶斯均衡（市场接近失败的均衡）</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100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P&gt;C;</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sSub>
                      <m:sSubPr>
                        <m:ctrlPr>
                          <a:rPr lang="en-US" altLang="zh-CN" sz="2000" i="1" smtClean="0">
                            <a:latin typeface="Cambria Math" panose="02040503050406030204" pitchFamily="18" charset="0"/>
                            <a:cs typeface="Cambria Math" panose="02040503050406030204" pitchFamily="18" charset="0"/>
                          </a:rPr>
                        </m:ctrlPr>
                      </m:sSubPr>
                      <m:e>
                        <m:r>
                          <a:rPr lang="en-US" altLang="zh-CN" sz="2000" i="1" smtClean="0">
                            <a:latin typeface="Cambria Math" panose="02040503050406030204" pitchFamily="18" charset="0"/>
                            <a:cs typeface="Cambria Math" panose="02040503050406030204" pitchFamily="18" charset="0"/>
                          </a:rPr>
                          <m:t>𝑝</m:t>
                        </m:r>
                      </m:e>
                      <m:sub>
                        <m:r>
                          <a:rPr lang="en-US" altLang="zh-CN" sz="2000" i="1" smtClean="0">
                            <a:latin typeface="Cambria Math" panose="02040503050406030204" pitchFamily="18" charset="0"/>
                            <a:cs typeface="Cambria Math" panose="02040503050406030204" pitchFamily="18" charset="0"/>
                          </a:rPr>
                          <m:t>𝑔</m:t>
                        </m:r>
                      </m:sub>
                    </m:sSub>
                    <m:d>
                      <m:dPr>
                        <m:ctrlPr>
                          <a:rPr lang="en-US" altLang="zh-CN" sz="2000" i="1" smtClean="0">
                            <a:latin typeface="Cambria Math" panose="02040503050406030204" pitchFamily="18" charset="0"/>
                            <a:cs typeface="Times New Roman" panose="02020603050405020304" pitchFamily="18" charset="0"/>
                          </a:rPr>
                        </m:ctrlPr>
                      </m:dPr>
                      <m:e>
                        <m:r>
                          <a:rPr lang="en-US" altLang="zh-CN" sz="2000" i="1" smtClean="0">
                            <a:latin typeface="Cambria Math" panose="02040503050406030204" pitchFamily="18" charset="0"/>
                            <a:cs typeface="Times New Roman" panose="02020603050405020304" pitchFamily="18" charset="0"/>
                          </a:rPr>
                          <m:t>𝑉</m:t>
                        </m:r>
                        <m:r>
                          <a:rPr lang="en-US" altLang="zh-CN" sz="2000" i="1" smtClean="0">
                            <a:latin typeface="Cambria Math" panose="02040503050406030204" pitchFamily="18" charset="0"/>
                            <a:cs typeface="Times New Roman" panose="02020603050405020304" pitchFamily="18" charset="0"/>
                          </a:rPr>
                          <m:t>−</m:t>
                        </m:r>
                        <m:r>
                          <a:rPr lang="en-US" altLang="zh-CN" sz="2000" i="1" smtClean="0">
                            <a:latin typeface="Cambria Math" panose="02040503050406030204" pitchFamily="18" charset="0"/>
                            <a:cs typeface="Times New Roman" panose="02020603050405020304" pitchFamily="18" charset="0"/>
                          </a:rPr>
                          <m:t>𝑃</m:t>
                        </m:r>
                      </m:e>
                    </m:d>
                    <m:r>
                      <a:rPr lang="en-US" altLang="zh-CN" sz="2000" i="1" smtClean="0">
                        <a:latin typeface="Cambria Math" panose="02040503050406030204" pitchFamily="18" charset="0"/>
                        <a:cs typeface="Times New Roman" panose="02020603050405020304" pitchFamily="18" charset="0"/>
                      </a:rPr>
                      <m:t>+</m:t>
                    </m:r>
                    <m:sSub>
                      <m:sSubPr>
                        <m:ctrlPr>
                          <a:rPr lang="en-US" altLang="zh-CN" sz="2000" i="1" smtClean="0">
                            <a:latin typeface="Cambria Math" panose="02040503050406030204" pitchFamily="18" charset="0"/>
                            <a:cs typeface="Cambria Math" panose="02040503050406030204" pitchFamily="18" charset="0"/>
                          </a:rPr>
                        </m:ctrlPr>
                      </m:sSubPr>
                      <m:e>
                        <m:r>
                          <a:rPr lang="en-US" altLang="zh-CN" sz="2000" i="1" smtClean="0">
                            <a:latin typeface="Cambria Math" panose="02040503050406030204" pitchFamily="18" charset="0"/>
                            <a:cs typeface="Cambria Math" panose="02040503050406030204" pitchFamily="18" charset="0"/>
                          </a:rPr>
                          <m:t>𝑝</m:t>
                        </m:r>
                      </m:e>
                      <m:sub>
                        <m:r>
                          <a:rPr lang="en-US" altLang="zh-CN" sz="2000" i="1" smtClean="0">
                            <a:latin typeface="Cambria Math" panose="02040503050406030204" pitchFamily="18" charset="0"/>
                            <a:cs typeface="Cambria Math" panose="02040503050406030204" pitchFamily="18" charset="0"/>
                          </a:rPr>
                          <m:t>𝑏</m:t>
                        </m:r>
                      </m:sub>
                    </m:sSub>
                    <m:d>
                      <m:dPr>
                        <m:ctrlPr>
                          <a:rPr lang="en-US" altLang="zh-CN" sz="2000" i="1" smtClean="0">
                            <a:latin typeface="Cambria Math" panose="02040503050406030204" pitchFamily="18" charset="0"/>
                            <a:cs typeface="Times New Roman" panose="02020603050405020304" pitchFamily="18" charset="0"/>
                          </a:rPr>
                        </m:ctrlPr>
                      </m:dPr>
                      <m:e>
                        <m:r>
                          <a:rPr lang="en-US" altLang="zh-CN" sz="2000" i="1" smtClean="0">
                            <a:latin typeface="Cambria Math" panose="02040503050406030204" pitchFamily="18" charset="0"/>
                            <a:cs typeface="Times New Roman" panose="02020603050405020304" pitchFamily="18" charset="0"/>
                          </a:rPr>
                          <m:t>𝑊</m:t>
                        </m:r>
                        <m:r>
                          <a:rPr lang="en-US" altLang="zh-CN" sz="2000" i="1" smtClean="0">
                            <a:latin typeface="Cambria Math" panose="02040503050406030204" pitchFamily="18" charset="0"/>
                            <a:cs typeface="Times New Roman" panose="02020603050405020304" pitchFamily="18" charset="0"/>
                          </a:rPr>
                          <m:t>−</m:t>
                        </m:r>
                        <m:r>
                          <a:rPr lang="en-US" altLang="zh-CN" sz="2000" i="1" smtClean="0">
                            <a:latin typeface="Cambria Math" panose="02040503050406030204" pitchFamily="18" charset="0"/>
                            <a:cs typeface="Times New Roman" panose="02020603050405020304" pitchFamily="18" charset="0"/>
                          </a:rPr>
                          <m:t>𝑃</m:t>
                        </m:r>
                      </m:e>
                    </m:d>
                    <m:r>
                      <a:rPr lang="en-US" altLang="zh-CN" sz="2000" i="1" smtClean="0">
                        <a:latin typeface="Cambria Math" panose="02040503050406030204" pitchFamily="18" charset="0"/>
                        <a:cs typeface="Cambria Math" panose="02040503050406030204" pitchFamily="18" charset="0"/>
                      </a:rPr>
                      <m:t>&lt;</m:t>
                    </m:r>
                    <m:r>
                      <a:rPr lang="en-US" altLang="zh-CN" sz="2000" i="1" smtClean="0">
                        <a:latin typeface="Cambria Math" panose="02040503050406030204" pitchFamily="18" charset="0"/>
                        <a:cs typeface="Cambria Math" panose="02040503050406030204" pitchFamily="18" charset="0"/>
                      </a:rPr>
                      <m:t>0</m:t>
                    </m:r>
                  </m:oMath>
                </a14:m>
                <a:endParaRPr lang="en-US" altLang="zh-CN" sz="2000" b="0" i="1" spc="100" dirty="0" smtClean="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Cambria Math" panose="02040503050406030204" pitchFamily="18" charset="0"/>
                    <a:sym typeface="+mn-ea"/>
                  </a:rPr>
                  <a:t>完美贝叶斯均衡</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Cambria Math" panose="02040503050406030204" pitchFamily="18" charset="0"/>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Cambria Math" panose="02040503050406030204" pitchFamily="18" charset="0"/>
                    <a:sym typeface="+mn-ea"/>
                  </a:rPr>
                  <a:t>差车的卖方以一定的概率选择卖，好车</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的卖方一定选择卖；</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dirty="0">
                    <a:solidFill>
                      <a:schemeClr val="dk1">
                        <a:lumMod val="75000"/>
                        <a:lumOff val="25000"/>
                      </a:schemeClr>
                    </a:solidFill>
                    <a:latin typeface="Times New Roman" panose="02020603050405020304" pitchFamily="18" charset="0"/>
                    <a:cs typeface="Times New Roman" panose="02020603050405020304" pitchFamily="18" charset="0"/>
                    <a:sym typeface="+mn-ea"/>
                  </a:rPr>
                  <a:t>买方以一定的概率选择买。</a:t>
                </a:r>
                <a:endParaRPr lang="zh-CN" altLang="en-US" sz="2000" dirty="0">
                  <a:solidFill>
                    <a:schemeClr val="dk1">
                      <a:lumMod val="75000"/>
                      <a:lumOff val="25000"/>
                    </a:schemeClr>
                  </a:solidFill>
                  <a:latin typeface="Times New Roman" panose="02020603050405020304" pitchFamily="18" charset="0"/>
                  <a:cs typeface="Times New Roman" panose="02020603050405020304" pitchFamily="18" charset="0"/>
                  <a:sym typeface="+mn-ea"/>
                </a:endParaRPr>
              </a:p>
            </p:txBody>
          </p:sp>
        </mc:Choice>
        <mc:Fallback>
          <p:sp>
            <p:nvSpPr>
              <p:cNvPr id="21" name="Title 6"/>
              <p:cNvSpPr txBox="1">
                <a:spLocks noRot="1" noChangeAspect="1" noMove="1" noResize="1" noEditPoints="1" noAdjustHandles="1" noChangeArrowheads="1" noChangeShapeType="1" noTextEdit="1"/>
              </p:cNvSpPr>
              <p:nvPr>
                <p:custDataLst>
                  <p:tags r:id="rId9"/>
                </p:custDataLst>
              </p:nvPr>
            </p:nvSpPr>
            <p:spPr>
              <a:xfrm>
                <a:off x="2279492" y="1565429"/>
                <a:ext cx="8105392" cy="3926039"/>
              </a:xfrm>
              <a:prstGeom prst="rect">
                <a:avLst/>
              </a:prstGeom>
              <a:blipFill rotWithShape="1">
                <a:blip r:embed="rId10"/>
                <a:stretch>
                  <a:fillRect l="-6" t="-4" r="1" b="16"/>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11">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12"/>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Title 6"/>
              <p:cNvSpPr txBox="1"/>
              <p:nvPr>
                <p:custDataLst>
                  <p:tags r:id="rId3"/>
                </p:custDataLst>
              </p:nvPr>
            </p:nvSpPr>
            <p:spPr>
              <a:xfrm>
                <a:off x="839312" y="692939"/>
                <a:ext cx="8105392" cy="3926039"/>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n"/>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市场接近失败的数字例子：</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假设：V=3000，W=0，P=2000，C=1000，</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𝑝</m:t>
                        </m:r>
                      </m:e>
                      <m:sub>
                        <m:r>
                          <a:rPr lang="en-US" altLang="zh-CN" sz="2000" b="0" i="1" smtClean="0">
                            <a:latin typeface="Cambria Math" panose="02040503050406030204" pitchFamily="18" charset="0"/>
                          </a:rPr>
                          <m:t>𝑔</m:t>
                        </m:r>
                      </m:sub>
                    </m:sSub>
                  </m:oMath>
                </a14:m>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𝑝</m:t>
                        </m:r>
                      </m:e>
                      <m:sub>
                        <m:r>
                          <a:rPr lang="en-US" altLang="zh-CN" sz="2000" b="0" i="1" smtClean="0">
                            <a:latin typeface="Cambria Math" panose="02040503050406030204" pitchFamily="18" charset="0"/>
                          </a:rPr>
                          <m:t>𝑏</m:t>
                        </m:r>
                      </m:sub>
                    </m:sSub>
                  </m:oMath>
                </a14:m>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=0.5</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完美贝叶斯均衡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卖方在车好时选卖，车差时以0.5概率随机选择卖或不卖</a:t>
                </a:r>
                <a:endPar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买方以0.5概率随机选择买或不买</a:t>
                </a:r>
                <a:endPar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买方的信念是</a:t>
                </a:r>
                <a14:m>
                  <m:oMath xmlns:m="http://schemas.openxmlformats.org/officeDocument/2006/math">
                    <m:r>
                      <a:rPr lang="en-US" altLang="zh-CN" sz="2000" i="1">
                        <a:latin typeface="Cambria Math" panose="02040503050406030204" pitchFamily="18" charset="0"/>
                        <a:ea typeface="微软雅黑" panose="020B0503020204020204" pitchFamily="34" charset="-122"/>
                        <a:cs typeface="Cambria Math" panose="02040503050406030204" pitchFamily="18" charset="0"/>
                      </a:rPr>
                      <m:t>𝑝</m:t>
                    </m:r>
                    <m:d>
                      <m:dPr>
                        <m:ctrlPr>
                          <a:rPr lang="en-US" altLang="zh-CN" sz="2000" i="1">
                            <a:latin typeface="Cambria Math" panose="02040503050406030204" pitchFamily="18" charset="0"/>
                            <a:ea typeface="微软雅黑" panose="020B0503020204020204" pitchFamily="34" charset="-122"/>
                            <a:cs typeface="Cambria Math" panose="02040503050406030204" pitchFamily="18" charset="0"/>
                          </a:rPr>
                        </m:ctrlPr>
                      </m:dPr>
                      <m:e>
                        <m:d>
                          <m:dPr>
                            <m:begChr m:val=""/>
                            <m:endChr m:val="|"/>
                            <m:ctrlPr>
                              <a:rPr lang="en-US" altLang="zh-CN" sz="2000" i="1">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000" i="1">
                                <a:latin typeface="Cambria Math" panose="02040503050406030204" pitchFamily="18" charset="0"/>
                                <a:ea typeface="微软雅黑" panose="020B0503020204020204" pitchFamily="34" charset="-122"/>
                                <a:cs typeface="Cambria Math" panose="02040503050406030204" pitchFamily="18" charset="0"/>
                              </a:rPr>
                              <m:t>𝑔</m:t>
                            </m:r>
                          </m:e>
                        </m:d>
                        <m:r>
                          <a:rPr lang="en-US" altLang="zh-CN" sz="2000" i="1">
                            <a:latin typeface="Cambria Math" panose="02040503050406030204" pitchFamily="18" charset="0"/>
                            <a:ea typeface="微软雅黑" panose="020B0503020204020204" pitchFamily="34" charset="-122"/>
                            <a:cs typeface="Cambria Math" panose="02040503050406030204" pitchFamily="18" charset="0"/>
                          </a:rPr>
                          <m:t>𝑠</m:t>
                        </m:r>
                      </m:e>
                    </m:d>
                    <m:r>
                      <a:rPr lang="en-US" altLang="zh-CN" sz="2000" i="1">
                        <a:latin typeface="Cambria Math" panose="02040503050406030204" pitchFamily="18" charset="0"/>
                        <a:ea typeface="MS Mincho" panose="02020609040205080304" charset="-128"/>
                        <a:cs typeface="Cambria Math" panose="02040503050406030204" pitchFamily="18" charset="0"/>
                      </a:rPr>
                      <m:t>=</m:t>
                    </m:r>
                    <m:f>
                      <m:fPr>
                        <m:ctrlPr>
                          <a:rPr lang="en-US" altLang="zh-CN" sz="2000" i="1" smtClean="0">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2000" i="1">
                            <a:latin typeface="Cambria Math" panose="02040503050406030204" pitchFamily="18" charset="0"/>
                            <a:ea typeface="MS Mincho" panose="02020609040205080304" charset="-128"/>
                            <a:cs typeface="Cambria Math" panose="02040503050406030204" pitchFamily="18" charset="0"/>
                          </a:rPr>
                          <m:t>2</m:t>
                        </m:r>
                      </m:num>
                      <m:den>
                        <m:r>
                          <a:rPr lang="en-US" altLang="zh-CN" sz="2000" i="1">
                            <a:latin typeface="Cambria Math" panose="02040503050406030204" pitchFamily="18" charset="0"/>
                            <a:ea typeface="MS Mincho" panose="02020609040205080304" charset="-128"/>
                            <a:cs typeface="Cambria Math" panose="02040503050406030204" pitchFamily="18" charset="0"/>
                          </a:rPr>
                          <m:t>3</m:t>
                        </m:r>
                      </m:den>
                    </m:f>
                  </m:oMath>
                </a14:m>
                <a:r>
                  <a:rPr lang="zh-CN" altLang="en-US" sz="2000" dirty="0">
                    <a:latin typeface="Arial" panose="020B0604020202020204" pitchFamily="34" charset="0"/>
                    <a:ea typeface="微软雅黑" panose="020B0503020204020204" pitchFamily="34" charset="-122"/>
                    <a:cs typeface="Arial" panose="020B0604020202020204" pitchFamily="34" charset="0"/>
                    <a:sym typeface="+mn-ea"/>
                  </a:rPr>
                  <a:t>，</a:t>
                </a:r>
                <a14:m>
                  <m:oMath xmlns:m="http://schemas.openxmlformats.org/officeDocument/2006/math">
                    <m:r>
                      <a:rPr lang="en-US" altLang="zh-CN" sz="2000" i="1">
                        <a:latin typeface="Cambria Math" panose="02040503050406030204" pitchFamily="18" charset="0"/>
                        <a:ea typeface="微软雅黑" panose="020B0503020204020204" pitchFamily="34" charset="-122"/>
                        <a:cs typeface="Cambria Math" panose="02040503050406030204" pitchFamily="18" charset="0"/>
                      </a:rPr>
                      <m:t>𝑝</m:t>
                    </m:r>
                    <m:d>
                      <m:dPr>
                        <m:ctrlPr>
                          <a:rPr lang="en-US" altLang="zh-CN" sz="2000" i="1">
                            <a:latin typeface="Cambria Math" panose="02040503050406030204" pitchFamily="18" charset="0"/>
                            <a:ea typeface="微软雅黑" panose="020B0503020204020204" pitchFamily="34" charset="-122"/>
                            <a:cs typeface="Cambria Math" panose="02040503050406030204" pitchFamily="18" charset="0"/>
                          </a:rPr>
                        </m:ctrlPr>
                      </m:dPr>
                      <m:e>
                        <m:d>
                          <m:dPr>
                            <m:begChr m:val=""/>
                            <m:endChr m:val="|"/>
                            <m:ctrlPr>
                              <a:rPr lang="en-US" altLang="zh-CN" sz="2000" i="1">
                                <a:latin typeface="Cambria Math" panose="02040503050406030204" pitchFamily="18" charset="0"/>
                                <a:ea typeface="微软雅黑" panose="020B0503020204020204" pitchFamily="34" charset="-122"/>
                                <a:cs typeface="Cambria Math" panose="02040503050406030204" pitchFamily="18" charset="0"/>
                              </a:rPr>
                            </m:ctrlPr>
                          </m:dPr>
                          <m:e>
                            <m:r>
                              <a:rPr lang="en-US" altLang="zh-CN" sz="2000" i="1">
                                <a:latin typeface="Cambria Math" panose="02040503050406030204" pitchFamily="18" charset="0"/>
                                <a:ea typeface="微软雅黑" panose="020B0503020204020204" pitchFamily="34" charset="-122"/>
                                <a:cs typeface="Cambria Math" panose="02040503050406030204" pitchFamily="18" charset="0"/>
                              </a:rPr>
                              <m:t>𝑏</m:t>
                            </m:r>
                          </m:e>
                        </m:d>
                        <m:r>
                          <a:rPr lang="en-US" altLang="zh-CN" sz="2000" i="1">
                            <a:latin typeface="Cambria Math" panose="02040503050406030204" pitchFamily="18" charset="0"/>
                            <a:ea typeface="微软雅黑" panose="020B0503020204020204" pitchFamily="34" charset="-122"/>
                            <a:cs typeface="Cambria Math" panose="02040503050406030204" pitchFamily="18" charset="0"/>
                          </a:rPr>
                          <m:t>𝑠</m:t>
                        </m:r>
                      </m:e>
                    </m:d>
                    <m:r>
                      <a:rPr lang="en-US" altLang="zh-CN" sz="2000" i="1">
                        <a:latin typeface="Cambria Math" panose="02040503050406030204" pitchFamily="18" charset="0"/>
                        <a:ea typeface="MS Mincho" panose="02020609040205080304" charset="-128"/>
                        <a:cs typeface="Cambria Math" panose="02040503050406030204" pitchFamily="18" charset="0"/>
                      </a:rPr>
                      <m:t>=</m:t>
                    </m:r>
                    <m:f>
                      <m:fPr>
                        <m:ctrlPr>
                          <a:rPr lang="en-US" altLang="zh-CN" sz="2000" i="1" smtClean="0">
                            <a:latin typeface="Cambria Math" panose="02040503050406030204" pitchFamily="18" charset="0"/>
                            <a:ea typeface="微软雅黑" panose="020B0503020204020204" pitchFamily="34" charset="-122"/>
                            <a:cs typeface="Cambria Math" panose="02040503050406030204" pitchFamily="18" charset="0"/>
                          </a:rPr>
                        </m:ctrlPr>
                      </m:fPr>
                      <m:num>
                        <m:r>
                          <a:rPr lang="en-US" altLang="zh-CN" sz="2000" i="1">
                            <a:latin typeface="Cambria Math" panose="02040503050406030204" pitchFamily="18" charset="0"/>
                            <a:ea typeface="MS Mincho" panose="02020609040205080304" charset="-128"/>
                            <a:cs typeface="Cambria Math" panose="02040503050406030204" pitchFamily="18" charset="0"/>
                          </a:rPr>
                          <m:t>1</m:t>
                        </m:r>
                      </m:num>
                      <m:den>
                        <m:r>
                          <a:rPr lang="en-US" altLang="zh-CN" sz="2000" i="1">
                            <a:latin typeface="Cambria Math" panose="02040503050406030204" pitchFamily="18" charset="0"/>
                            <a:ea typeface="MS Mincho" panose="02020609040205080304" charset="-128"/>
                            <a:cs typeface="Cambria Math" panose="02040503050406030204" pitchFamily="18" charset="0"/>
                          </a:rPr>
                          <m:t>3</m:t>
                        </m:r>
                      </m:den>
                    </m:f>
                  </m:oMath>
                </a14:m>
                <a:r>
                  <a:rPr lang="en-US" altLang="zh-CN"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rPr>
                  <a:t>  </a:t>
                </a:r>
                <a:endParaRPr lang="en-US" altLang="zh-CN" sz="2000" spc="100" dirty="0">
                  <a:ln w="3175">
                    <a:noFill/>
                    <a:prstDash val="dash"/>
                  </a:ln>
                  <a:solidFill>
                    <a:schemeClr val="dk1">
                      <a:lumMod val="75000"/>
                      <a:lumOff val="25000"/>
                    </a:schemeClr>
                  </a:solidFill>
                  <a:latin typeface="Arial" panose="020B0604020202020204" pitchFamily="34" charset="0"/>
                  <a:ea typeface="微软雅黑" panose="020B0503020204020204" pitchFamily="34" charset="-122"/>
                  <a:cs typeface="Arial" panose="020B0604020202020204" pitchFamily="34" charset="0"/>
                  <a:sym typeface="+mn-ea"/>
                </a:endParaRPr>
              </a:p>
            </p:txBody>
          </p:sp>
        </mc:Choice>
        <mc:Fallback>
          <p:sp>
            <p:nvSpPr>
              <p:cNvPr id="17" name="Title 6"/>
              <p:cNvSpPr txBox="1">
                <a:spLocks noRot="1" noChangeAspect="1" noMove="1" noResize="1" noEditPoints="1" noAdjustHandles="1" noChangeArrowheads="1" noChangeShapeType="1" noTextEdit="1"/>
              </p:cNvSpPr>
              <p:nvPr>
                <p:custDataLst>
                  <p:tags r:id="rId4"/>
                </p:custDataLst>
              </p:nvPr>
            </p:nvSpPr>
            <p:spPr>
              <a:xfrm>
                <a:off x="839312" y="692939"/>
                <a:ext cx="8105392" cy="3926039"/>
              </a:xfrm>
              <a:prstGeom prst="rect">
                <a:avLst/>
              </a:prstGeom>
              <a:blipFill rotWithShape="1">
                <a:blip r:embed="rId5"/>
                <a:stretch>
                  <a:fillRect l="-6" t="-4" r="1" b="16"/>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graphicFrame>
        <p:nvGraphicFramePr>
          <p:cNvPr id="78853" name="对象 78852"/>
          <p:cNvGraphicFramePr/>
          <p:nvPr/>
        </p:nvGraphicFramePr>
        <p:xfrm>
          <a:off x="5375593" y="923608"/>
          <a:ext cx="5945505" cy="778510"/>
        </p:xfrm>
        <a:graphic>
          <a:graphicData uri="http://schemas.openxmlformats.org/presentationml/2006/ole">
            <mc:AlternateContent xmlns:mc="http://schemas.openxmlformats.org/markup-compatibility/2006">
              <mc:Choice xmlns:v="urn:schemas-microsoft-com:vml" Requires="v">
                <p:oleObj spid="_x0000_s3101" name="" r:id="rId7" imgW="3111500" imgH="431800" progId="Equation.DSMT4">
                  <p:embed/>
                </p:oleObj>
              </mc:Choice>
              <mc:Fallback>
                <p:oleObj name="" r:id="rId7" imgW="3111500" imgH="431800" progId="Equation.DSMT4">
                  <p:embed/>
                  <p:pic>
                    <p:nvPicPr>
                      <p:cNvPr id="0" name="图片 3100"/>
                      <p:cNvPicPr/>
                      <p:nvPr/>
                    </p:nvPicPr>
                    <p:blipFill>
                      <a:blip r:embed="rId8"/>
                      <a:stretch>
                        <a:fillRect/>
                      </a:stretch>
                    </p:blipFill>
                    <p:spPr>
                      <a:xfrm>
                        <a:off x="5375593" y="923608"/>
                        <a:ext cx="5945505" cy="778510"/>
                      </a:xfrm>
                      <a:prstGeom prst="rect">
                        <a:avLst/>
                      </a:prstGeom>
                      <a:solidFill>
                        <a:schemeClr val="bg1">
                          <a:lumMod val="95000"/>
                        </a:schemeClr>
                      </a:solidFill>
                      <a:ln w="38100">
                        <a:noFill/>
                        <a:miter/>
                      </a:ln>
                    </p:spPr>
                  </p:pic>
                </p:oleObj>
              </mc:Fallback>
            </mc:AlternateContent>
          </a:graphicData>
        </a:graphic>
      </p:graphicFrame>
      <p:sp>
        <p:nvSpPr>
          <p:cNvPr id="3" name="爆炸形 1 2"/>
          <p:cNvSpPr/>
          <p:nvPr/>
        </p:nvSpPr>
        <p:spPr>
          <a:xfrm>
            <a:off x="3863975" y="4509135"/>
            <a:ext cx="4248150" cy="1584325"/>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a:t>如何证明？</a:t>
            </a:r>
            <a:endParaRPr lang="zh-CN" altLang="en-US" sz="2400" b="1"/>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endParaRPr lang="zh-CN" altLang="en-US" sz="3200" dirty="0">
              <a:solidFill>
                <a:schemeClr val="accent1"/>
              </a:solidFill>
              <a:sym typeface="+mn-ea"/>
            </a:endParaRPr>
          </a:p>
        </p:txBody>
      </p:sp>
      <p:cxnSp>
        <p:nvCxnSpPr>
          <p:cNvPr id="11" name="直接连接符 10"/>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Title 6"/>
              <p:cNvSpPr txBox="1"/>
              <p:nvPr>
                <p:custDataLst>
                  <p:tags r:id="rId3"/>
                </p:custDataLst>
              </p:nvPr>
            </p:nvSpPr>
            <p:spPr>
              <a:xfrm>
                <a:off x="839470" y="1052830"/>
                <a:ext cx="10044430" cy="556069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n"/>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市场接近失败的数字例子：</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just">
                  <a:lnSpc>
                    <a:spcPct val="120000"/>
                  </a:lnSpc>
                  <a:buFont typeface="Arial" panose="020B0604020202020204" pitchFamily="34" charset="0"/>
                  <a:buChar char="•"/>
                </a:pPr>
                <a:r>
                  <a:rPr lang="zh-CN" altLang="en-US" sz="18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检查买方的信念</a:t>
                </a:r>
                <a:r>
                  <a:rPr lang="zh-CN" altLang="en-US" sz="1800">
                    <a:solidFill>
                      <a:srgbClr val="FF0000"/>
                    </a:solidFill>
                    <a:latin typeface="宋体" panose="02010600030101010101" pitchFamily="2" charset="-122"/>
                    <a:sym typeface="+mn-ea"/>
                  </a:rPr>
                  <a:t>是否符合卖方的策略和贝叶斯法则</a:t>
                </a:r>
                <a:endParaRPr lang="zh-CN" altLang="en-US" sz="1800">
                  <a:solidFill>
                    <a:srgbClr val="FF0000"/>
                  </a:solidFill>
                  <a:latin typeface="宋体" panose="02010600030101010101" pitchFamily="2"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r>
                      <a:rPr lang="en-US" altLang="zh-CN" sz="1800" i="1">
                        <a:latin typeface="Cambria Math" panose="02040503050406030204" pitchFamily="18" charset="0"/>
                      </a:rPr>
                      <m:t>𝑝</m:t>
                    </m:r>
                    <m:d>
                      <m:dPr>
                        <m:ctrlPr>
                          <a:rPr lang="en-US" altLang="zh-CN" sz="1800" i="1">
                            <a:latin typeface="Cambria Math" panose="02040503050406030204" pitchFamily="18" charset="0"/>
                          </a:rPr>
                        </m:ctrlPr>
                      </m:dPr>
                      <m:e>
                        <m:d>
                          <m:dPr>
                            <m:begChr m:val=""/>
                            <m:endChr m:val="|"/>
                            <m:ctrlPr>
                              <a:rPr lang="en-US" altLang="zh-CN" sz="1800" i="1">
                                <a:latin typeface="Cambria Math" panose="02040503050406030204" pitchFamily="18" charset="0"/>
                              </a:rPr>
                            </m:ctrlPr>
                          </m:dPr>
                          <m:e>
                            <m:r>
                              <a:rPr lang="en-US" altLang="zh-CN" sz="1800" i="1">
                                <a:latin typeface="Cambria Math" panose="02040503050406030204" pitchFamily="18" charset="0"/>
                              </a:rPr>
                              <m:t>𝑠</m:t>
                            </m:r>
                          </m:e>
                        </m:d>
                        <m:r>
                          <a:rPr lang="en-US" altLang="zh-CN" sz="1800" i="1">
                            <a:latin typeface="Cambria Math" panose="02040503050406030204" pitchFamily="18" charset="0"/>
                          </a:rPr>
                          <m:t>𝑔</m:t>
                        </m:r>
                      </m:e>
                    </m:d>
                    <m:r>
                      <a:rPr lang="en-US" altLang="zh-CN" sz="1800" i="1" smtClean="0">
                        <a:latin typeface="Cambria Math" panose="02040503050406030204" pitchFamily="18" charset="0"/>
                      </a:rPr>
                      <m:t>=</m:t>
                    </m:r>
                    <m:r>
                      <a:rPr lang="en-US" altLang="zh-CN" sz="1800" i="1">
                        <a:latin typeface="Cambria Math" panose="02040503050406030204" pitchFamily="18" charset="0"/>
                      </a:rPr>
                      <m:t>1</m:t>
                    </m:r>
                  </m:oMath>
                </a14:m>
                <a:r>
                  <a:rPr lang="zh-CN" altLang="en-US" sz="1800" dirty="0">
                    <a:sym typeface="+mn-ea"/>
                  </a:rPr>
                  <a:t>，</a:t>
                </a:r>
                <a:r>
                  <a:rPr lang="en-US" altLang="zh-CN" sz="1800" dirty="0">
                    <a:sym typeface="+mn-ea"/>
                  </a:rPr>
                  <a:t> </a:t>
                </a:r>
                <a14:m>
                  <m:oMath xmlns:m="http://schemas.openxmlformats.org/officeDocument/2006/math">
                    <m:r>
                      <a:rPr lang="en-US" altLang="zh-CN" sz="1800" i="1">
                        <a:latin typeface="Cambria Math" panose="02040503050406030204" pitchFamily="18" charset="0"/>
                      </a:rPr>
                      <m:t>𝑝</m:t>
                    </m:r>
                    <m:d>
                      <m:dPr>
                        <m:ctrlPr>
                          <a:rPr lang="en-US" altLang="zh-CN" sz="1800" i="1">
                            <a:latin typeface="Cambria Math" panose="02040503050406030204" pitchFamily="18" charset="0"/>
                          </a:rPr>
                        </m:ctrlPr>
                      </m:dPr>
                      <m:e>
                        <m:d>
                          <m:dPr>
                            <m:begChr m:val=""/>
                            <m:endChr m:val="|"/>
                            <m:ctrlPr>
                              <a:rPr lang="en-US" altLang="zh-CN" sz="1800" i="1">
                                <a:latin typeface="Cambria Math" panose="02040503050406030204" pitchFamily="18" charset="0"/>
                              </a:rPr>
                            </m:ctrlPr>
                          </m:dPr>
                          <m:e>
                            <m:r>
                              <a:rPr lang="en-US" altLang="zh-CN" sz="1800" i="1">
                                <a:latin typeface="Cambria Math" panose="02040503050406030204" pitchFamily="18" charset="0"/>
                              </a:rPr>
                              <m:t>𝑠</m:t>
                            </m:r>
                          </m:e>
                        </m:d>
                        <m:r>
                          <a:rPr lang="en-US" altLang="zh-CN" sz="1800" i="1">
                            <a:latin typeface="Cambria Math" panose="02040503050406030204" pitchFamily="18" charset="0"/>
                          </a:rPr>
                          <m:t>𝑏</m:t>
                        </m:r>
                      </m:e>
                    </m:d>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0</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5</m:t>
                    </m:r>
                  </m:oMath>
                </a14:m>
                <a:r>
                  <a:rPr lang="zh-CN" altLang="en-US" sz="1800" dirty="0">
                    <a:sym typeface="+mn-ea"/>
                  </a:rPr>
                  <a:t>，</a:t>
                </a:r>
                <a14:m>
                  <m:oMath xmlns:m="http://schemas.openxmlformats.org/officeDocument/2006/math">
                    <m:r>
                      <a:rPr lang="en-US" altLang="zh-CN" sz="1800" i="1">
                        <a:latin typeface="Cambria Math" panose="02040503050406030204" pitchFamily="18" charset="0"/>
                      </a:rPr>
                      <m:t>𝑝</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𝑔</m:t>
                        </m:r>
                      </m:e>
                    </m:d>
                    <m:r>
                      <a:rPr lang="en-US" altLang="zh-CN" sz="1800" i="1" smtClean="0">
                        <a:latin typeface="Cambria Math" panose="02040503050406030204" pitchFamily="18" charset="0"/>
                      </a:rPr>
                      <m:t>=</m:t>
                    </m:r>
                    <m:r>
                      <a:rPr lang="en-US" altLang="zh-CN" sz="1800" i="1">
                        <a:latin typeface="Cambria Math" panose="02040503050406030204" pitchFamily="18" charset="0"/>
                      </a:rPr>
                      <m:t>𝑝</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𝑏</m:t>
                        </m:r>
                      </m:e>
                    </m:d>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0</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5</m:t>
                    </m:r>
                  </m:oMath>
                </a14:m>
                <a:endParaRPr lang="en-US" altLang="zh-CN" sz="1800" b="0" i="1" smtClean="0">
                  <a:latin typeface="Cambria Math" panose="02040503050406030204" pitchFamily="18" charset="0"/>
                </a:endParaRPr>
              </a:p>
              <a:p>
                <a:pPr marL="508000" lvl="1" indent="-222250" algn="l"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r>
                      <a:rPr lang="en-US" altLang="zh-CN" sz="1800" i="1">
                        <a:latin typeface="Cambria Math" panose="02040503050406030204" pitchFamily="18" charset="0"/>
                      </a:rPr>
                      <m:t>𝑝</m:t>
                    </m:r>
                    <m:d>
                      <m:dPr>
                        <m:ctrlPr>
                          <a:rPr lang="en-US" altLang="zh-CN" sz="1800" i="1">
                            <a:latin typeface="Cambria Math" panose="02040503050406030204" pitchFamily="18" charset="0"/>
                          </a:rPr>
                        </m:ctrlPr>
                      </m:dPr>
                      <m:e>
                        <m:d>
                          <m:dPr>
                            <m:begChr m:val=""/>
                            <m:endChr m:val="|"/>
                            <m:ctrlPr>
                              <a:rPr lang="en-US" altLang="zh-CN" sz="1800" i="1">
                                <a:latin typeface="Cambria Math" panose="02040503050406030204" pitchFamily="18" charset="0"/>
                              </a:rPr>
                            </m:ctrlPr>
                          </m:dPr>
                          <m:e>
                            <m:r>
                              <a:rPr lang="en-US" altLang="zh-CN" sz="1800" i="1">
                                <a:latin typeface="Cambria Math" panose="02040503050406030204" pitchFamily="18" charset="0"/>
                              </a:rPr>
                              <m:t>𝑔</m:t>
                            </m:r>
                          </m:e>
                        </m:d>
                        <m:r>
                          <a:rPr lang="en-US" altLang="zh-CN" sz="1800" i="1">
                            <a:latin typeface="Cambria Math" panose="02040503050406030204" pitchFamily="18" charset="0"/>
                          </a:rPr>
                          <m:t>𝑠</m:t>
                        </m:r>
                      </m:e>
                    </m:d>
                    <m:r>
                      <a:rPr lang="en-US" altLang="zh-CN" sz="1800" i="1">
                        <a:latin typeface="Cambria Math" panose="02040503050406030204" pitchFamily="18" charset="0"/>
                      </a:rPr>
                      <m:t>=</m:t>
                    </m:r>
                    <m:f>
                      <m:fPr>
                        <m:ctrlPr>
                          <a:rPr lang="en-US" altLang="zh-CN" sz="1800" i="1">
                            <a:latin typeface="Cambria Math" panose="02040503050406030204" pitchFamily="18" charset="0"/>
                          </a:rPr>
                        </m:ctrlPr>
                      </m:fPr>
                      <m:num>
                        <m:r>
                          <a:rPr lang="en-US" altLang="zh-CN" sz="1800" i="1">
                            <a:latin typeface="Cambria Math" panose="02040503050406030204" pitchFamily="18" charset="0"/>
                          </a:rPr>
                          <m:t>𝑝</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𝑔</m:t>
                            </m:r>
                          </m:e>
                        </m:d>
                        <m:r>
                          <a:rPr lang="en-US" altLang="zh-CN" sz="1800" i="1">
                            <a:latin typeface="Cambria Math" panose="02040503050406030204" pitchFamily="18" charset="0"/>
                          </a:rPr>
                          <m:t>𝑝</m:t>
                        </m:r>
                        <m:d>
                          <m:dPr>
                            <m:ctrlPr>
                              <a:rPr lang="en-US" altLang="zh-CN" sz="1800" i="1">
                                <a:latin typeface="Cambria Math" panose="02040503050406030204" pitchFamily="18" charset="0"/>
                              </a:rPr>
                            </m:ctrlPr>
                          </m:dPr>
                          <m:e>
                            <m:d>
                              <m:dPr>
                                <m:begChr m:val=""/>
                                <m:endChr m:val="|"/>
                                <m:ctrlPr>
                                  <a:rPr lang="en-US" altLang="zh-CN" sz="1800" i="1">
                                    <a:latin typeface="Cambria Math" panose="02040503050406030204" pitchFamily="18" charset="0"/>
                                  </a:rPr>
                                </m:ctrlPr>
                              </m:dPr>
                              <m:e>
                                <m:r>
                                  <a:rPr lang="en-US" altLang="zh-CN" sz="1800" i="1">
                                    <a:latin typeface="Cambria Math" panose="02040503050406030204" pitchFamily="18" charset="0"/>
                                  </a:rPr>
                                  <m:t>𝑠</m:t>
                                </m:r>
                              </m:e>
                            </m:d>
                            <m:r>
                              <a:rPr lang="en-US" altLang="zh-CN" sz="1800" i="1">
                                <a:latin typeface="Cambria Math" panose="02040503050406030204" pitchFamily="18" charset="0"/>
                              </a:rPr>
                              <m:t>𝑔</m:t>
                            </m:r>
                          </m:e>
                        </m:d>
                      </m:num>
                      <m:den>
                        <m:r>
                          <a:rPr lang="en-US" altLang="zh-CN" sz="1800" i="1">
                            <a:latin typeface="Cambria Math" panose="02040503050406030204" pitchFamily="18" charset="0"/>
                          </a:rPr>
                          <m:t>𝑝</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𝑔</m:t>
                            </m:r>
                          </m:e>
                        </m:d>
                        <m:r>
                          <a:rPr lang="en-US" altLang="zh-CN" sz="1800" i="1">
                            <a:latin typeface="Cambria Math" panose="02040503050406030204" pitchFamily="18" charset="0"/>
                          </a:rPr>
                          <m:t>𝑝</m:t>
                        </m:r>
                        <m:d>
                          <m:dPr>
                            <m:ctrlPr>
                              <a:rPr lang="en-US" altLang="zh-CN" sz="1800" i="1">
                                <a:latin typeface="Cambria Math" panose="02040503050406030204" pitchFamily="18" charset="0"/>
                              </a:rPr>
                            </m:ctrlPr>
                          </m:dPr>
                          <m:e>
                            <m:d>
                              <m:dPr>
                                <m:begChr m:val=""/>
                                <m:endChr m:val="|"/>
                                <m:ctrlPr>
                                  <a:rPr lang="en-US" altLang="zh-CN" sz="1800" i="1">
                                    <a:latin typeface="Cambria Math" panose="02040503050406030204" pitchFamily="18" charset="0"/>
                                  </a:rPr>
                                </m:ctrlPr>
                              </m:dPr>
                              <m:e>
                                <m:r>
                                  <a:rPr lang="en-US" altLang="zh-CN" sz="1800" i="1">
                                    <a:latin typeface="Cambria Math" panose="02040503050406030204" pitchFamily="18" charset="0"/>
                                  </a:rPr>
                                  <m:t>𝑠</m:t>
                                </m:r>
                              </m:e>
                            </m:d>
                            <m:r>
                              <a:rPr lang="en-US" altLang="zh-CN" sz="1800" i="1">
                                <a:latin typeface="Cambria Math" panose="02040503050406030204" pitchFamily="18" charset="0"/>
                              </a:rPr>
                              <m:t>𝑔</m:t>
                            </m:r>
                          </m:e>
                        </m:d>
                        <m:r>
                          <a:rPr lang="en-US" altLang="zh-CN" sz="1800" i="1">
                            <a:latin typeface="Cambria Math" panose="02040503050406030204" pitchFamily="18" charset="0"/>
                          </a:rPr>
                          <m:t>+</m:t>
                        </m:r>
                        <m:r>
                          <a:rPr lang="en-US" altLang="zh-CN" sz="1800" i="1">
                            <a:latin typeface="Cambria Math" panose="02040503050406030204" pitchFamily="18" charset="0"/>
                          </a:rPr>
                          <m:t>𝑝</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𝑏</m:t>
                            </m:r>
                          </m:e>
                        </m:d>
                        <m:r>
                          <a:rPr lang="en-US" altLang="zh-CN" sz="1800" i="1">
                            <a:latin typeface="Cambria Math" panose="02040503050406030204" pitchFamily="18" charset="0"/>
                          </a:rPr>
                          <m:t>𝑝</m:t>
                        </m:r>
                        <m:d>
                          <m:dPr>
                            <m:ctrlPr>
                              <a:rPr lang="en-US" altLang="zh-CN" sz="1800" i="1">
                                <a:latin typeface="Cambria Math" panose="02040503050406030204" pitchFamily="18" charset="0"/>
                              </a:rPr>
                            </m:ctrlPr>
                          </m:dPr>
                          <m:e>
                            <m:d>
                              <m:dPr>
                                <m:begChr m:val=""/>
                                <m:endChr m:val="|"/>
                                <m:ctrlPr>
                                  <a:rPr lang="en-US" altLang="zh-CN" sz="1800" i="1">
                                    <a:latin typeface="Cambria Math" panose="02040503050406030204" pitchFamily="18" charset="0"/>
                                  </a:rPr>
                                </m:ctrlPr>
                              </m:dPr>
                              <m:e>
                                <m:r>
                                  <a:rPr lang="en-US" altLang="zh-CN" sz="1800" i="1">
                                    <a:latin typeface="Cambria Math" panose="02040503050406030204" pitchFamily="18" charset="0"/>
                                  </a:rPr>
                                  <m:t>𝑠</m:t>
                                </m:r>
                              </m:e>
                            </m:d>
                            <m:r>
                              <a:rPr lang="en-US" altLang="zh-CN" sz="1800" i="1">
                                <a:latin typeface="Cambria Math" panose="02040503050406030204" pitchFamily="18" charset="0"/>
                              </a:rPr>
                              <m:t>𝑏</m:t>
                            </m:r>
                          </m:e>
                        </m:d>
                      </m:den>
                    </m:f>
                    <m:r>
                      <a:rPr lang="en-US" altLang="zh-CN" sz="1800" b="0" i="1" smtClean="0">
                        <a:latin typeface="Cambria Math" panose="02040503050406030204" pitchFamily="18" charset="0"/>
                      </a:rPr>
                      <m:t>=</m:t>
                    </m:r>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0</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5</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1</m:t>
                        </m:r>
                      </m:num>
                      <m:den>
                        <m:r>
                          <a:rPr lang="en-US" altLang="zh-CN" sz="1800" b="0" i="1" smtClean="0">
                            <a:latin typeface="Cambria Math" panose="02040503050406030204" pitchFamily="18" charset="0"/>
                          </a:rPr>
                          <m:t>0</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5</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1</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0</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5</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0</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5</m:t>
                        </m:r>
                      </m:den>
                    </m:f>
                    <m:r>
                      <a:rPr lang="en-US" altLang="zh-CN" sz="1800" b="0" i="1" smtClean="0">
                        <a:latin typeface="Cambria Math" panose="02040503050406030204" pitchFamily="18" charset="0"/>
                      </a:rPr>
                      <m:t>=</m:t>
                    </m:r>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2</m:t>
                        </m:r>
                      </m:num>
                      <m:den>
                        <m:r>
                          <a:rPr lang="en-US" altLang="zh-CN" sz="1800" b="0" i="1" smtClean="0">
                            <a:latin typeface="Cambria Math" panose="02040503050406030204" pitchFamily="18" charset="0"/>
                          </a:rPr>
                          <m:t>3</m:t>
                        </m:r>
                      </m:den>
                    </m:f>
                  </m:oMath>
                </a14:m>
                <a:endParaRPr lang="en-US" altLang="zh-CN" sz="1800" b="0" i="1" smtClean="0">
                  <a:latin typeface="Cambria Math" panose="02040503050406030204" pitchFamily="18" charset="0"/>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sz="18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与买方的信念完全一致。</a:t>
                </a:r>
                <a:endParaRPr lang="zh-CN" sz="18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just">
                  <a:lnSpc>
                    <a:spcPct val="120000"/>
                  </a:lnSpc>
                  <a:spcBef>
                    <a:spcPts val="0"/>
                  </a:spcBef>
                  <a:buClrTx/>
                  <a:buSzTx/>
                  <a:buFont typeface="Arial" panose="020B0604020202020204" pitchFamily="34" charset="0"/>
                  <a:buChar char="•"/>
                </a:pPr>
                <a:r>
                  <a:rPr lang="zh-CN" altLang="en-US" sz="18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双方的策略是否序列理性</a:t>
                </a:r>
                <a:endParaRPr lang="zh-CN" altLang="en-US" sz="18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14:m>
                  <m:oMath xmlns:m="http://schemas.openxmlformats.org/officeDocument/2006/math">
                    <m:r>
                      <a:rPr lang="en-US" altLang="zh-CN" sz="1800" b="0" i="1" smtClean="0">
                        <a:latin typeface="Cambria Math" panose="02040503050406030204" pitchFamily="18" charset="0"/>
                        <a:cs typeface="Times New Roman" panose="02020603050405020304" pitchFamily="18" charset="0"/>
                      </a:rPr>
                      <m:t>𝑝</m:t>
                    </m:r>
                    <m:d>
                      <m:dPr>
                        <m:ctrlPr>
                          <a:rPr lang="en-US" altLang="zh-CN" sz="1800" b="0" i="1" smtClean="0">
                            <a:latin typeface="Cambria Math" panose="02040503050406030204" pitchFamily="18" charset="0"/>
                            <a:cs typeface="Times New Roman" panose="02020603050405020304" pitchFamily="18" charset="0"/>
                          </a:rPr>
                        </m:ctrlPr>
                      </m:dPr>
                      <m:e>
                        <m:r>
                          <a:rPr lang="en-US" altLang="zh-CN" sz="1800" b="0" i="1" smtClean="0">
                            <a:latin typeface="Cambria Math" panose="02040503050406030204" pitchFamily="18" charset="0"/>
                            <a:cs typeface="Times New Roman" panose="02020603050405020304" pitchFamily="18" charset="0"/>
                          </a:rPr>
                          <m:t>𝑔</m:t>
                        </m:r>
                      </m:e>
                      <m:e>
                        <m:r>
                          <a:rPr lang="en-US" altLang="zh-CN" sz="1800" b="0" i="1" smtClean="0">
                            <a:latin typeface="Cambria Math" panose="02040503050406030204" pitchFamily="18" charset="0"/>
                            <a:cs typeface="Times New Roman" panose="02020603050405020304" pitchFamily="18" charset="0"/>
                          </a:rPr>
                          <m:t>𝑠</m:t>
                        </m:r>
                      </m:e>
                    </m:d>
                    <m:d>
                      <m:dPr>
                        <m:ctrlPr>
                          <a:rPr lang="en-US" altLang="zh-CN" sz="1800" b="0" i="1" smtClean="0">
                            <a:latin typeface="Cambria Math" panose="02040503050406030204" pitchFamily="18" charset="0"/>
                            <a:cs typeface="Times New Roman" panose="02020603050405020304" pitchFamily="18" charset="0"/>
                          </a:rPr>
                        </m:ctrlPr>
                      </m:dPr>
                      <m:e>
                        <m:r>
                          <a:rPr lang="en-US" altLang="zh-CN" sz="1800" b="0" i="1" smtClean="0">
                            <a:latin typeface="Cambria Math" panose="02040503050406030204" pitchFamily="18" charset="0"/>
                            <a:cs typeface="Times New Roman" panose="02020603050405020304" pitchFamily="18" charset="0"/>
                          </a:rPr>
                          <m:t>𝑉</m:t>
                        </m:r>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𝑃</m:t>
                        </m:r>
                      </m:e>
                    </m:d>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𝑝</m:t>
                    </m:r>
                    <m:d>
                      <m:dPr>
                        <m:ctrlPr>
                          <a:rPr lang="en-US" altLang="zh-CN" sz="1800" b="0" i="1" smtClean="0">
                            <a:latin typeface="Cambria Math" panose="02040503050406030204" pitchFamily="18" charset="0"/>
                            <a:cs typeface="Times New Roman" panose="02020603050405020304" pitchFamily="18" charset="0"/>
                          </a:rPr>
                        </m:ctrlPr>
                      </m:dPr>
                      <m:e>
                        <m:r>
                          <a:rPr lang="en-US" altLang="zh-CN" sz="1800" b="0" i="1" smtClean="0">
                            <a:latin typeface="Cambria Math" panose="02040503050406030204" pitchFamily="18" charset="0"/>
                            <a:cs typeface="Times New Roman" panose="02020603050405020304" pitchFamily="18" charset="0"/>
                          </a:rPr>
                          <m:t>𝑏</m:t>
                        </m:r>
                      </m:e>
                      <m:e>
                        <m:r>
                          <a:rPr lang="en-US" altLang="zh-CN" sz="1800" b="0" i="1" smtClean="0">
                            <a:latin typeface="Cambria Math" panose="02040503050406030204" pitchFamily="18" charset="0"/>
                            <a:cs typeface="Times New Roman" panose="02020603050405020304" pitchFamily="18" charset="0"/>
                          </a:rPr>
                          <m:t>𝑠</m:t>
                        </m:r>
                      </m:e>
                    </m:d>
                    <m:d>
                      <m:dPr>
                        <m:ctrlPr>
                          <a:rPr lang="en-US" altLang="zh-CN" sz="1800" b="0" i="1" smtClean="0">
                            <a:latin typeface="Cambria Math" panose="02040503050406030204" pitchFamily="18" charset="0"/>
                            <a:cs typeface="Times New Roman" panose="02020603050405020304" pitchFamily="18" charset="0"/>
                          </a:rPr>
                        </m:ctrlPr>
                      </m:dPr>
                      <m:e>
                        <m:r>
                          <a:rPr lang="en-US" altLang="zh-CN" sz="1800" b="0" i="1" smtClean="0">
                            <a:latin typeface="Cambria Math" panose="02040503050406030204" pitchFamily="18" charset="0"/>
                            <a:cs typeface="Times New Roman" panose="02020603050405020304" pitchFamily="18" charset="0"/>
                          </a:rPr>
                          <m:t>𝑊</m:t>
                        </m:r>
                        <m:r>
                          <a:rPr lang="en-US" altLang="zh-CN" sz="1800" b="0" i="1" smtClean="0">
                            <a:latin typeface="Cambria Math" panose="02040503050406030204" pitchFamily="18" charset="0"/>
                            <a:cs typeface="Times New Roman" panose="02020603050405020304" pitchFamily="18" charset="0"/>
                          </a:rPr>
                          <m:t>−</m:t>
                        </m:r>
                        <m:r>
                          <a:rPr lang="en-US" altLang="zh-CN" sz="1800" b="0" i="1" smtClean="0">
                            <a:latin typeface="Cambria Math" panose="02040503050406030204" pitchFamily="18" charset="0"/>
                            <a:cs typeface="Times New Roman" panose="02020603050405020304" pitchFamily="18" charset="0"/>
                          </a:rPr>
                          <m:t>𝑃</m:t>
                        </m:r>
                      </m:e>
                    </m:d>
                    <m:r>
                      <a:rPr lang="en-US" altLang="zh-CN" sz="1800" b="0" i="1" smtClean="0">
                        <a:latin typeface="Cambria Math" panose="02040503050406030204"/>
                        <a:ea typeface="Cambria Math" panose="02040503050406030204" pitchFamily="18" charset="0"/>
                        <a:cs typeface="Times New Roman" panose="02020603050405020304" pitchFamily="18" charset="0"/>
                      </a:rPr>
                      <m:t>=</m:t>
                    </m:r>
                    <m:f>
                      <m:fPr>
                        <m:ctrlPr>
                          <a:rPr lang="en-US" altLang="zh-CN" sz="1800" b="0" i="1" smtClean="0">
                            <a:latin typeface="Cambria Math" panose="02040503050406030204" pitchFamily="18" charset="0"/>
                            <a:ea typeface="Cambria Math" panose="02040503050406030204" pitchFamily="18" charset="0"/>
                            <a:cs typeface="Cambria Math" panose="02040503050406030204" pitchFamily="18" charset="0"/>
                          </a:rPr>
                        </m:ctrlPr>
                      </m:fPr>
                      <m:num>
                        <m:r>
                          <a:rPr lang="en-US" altLang="zh-CN" sz="1800" b="0" i="1" smtClean="0">
                            <a:latin typeface="Cambria Math" panose="02040503050406030204" pitchFamily="18" charset="0"/>
                            <a:ea typeface="Cambria Math" panose="02040503050406030204" pitchFamily="18" charset="0"/>
                            <a:cs typeface="Cambria Math" panose="02040503050406030204" pitchFamily="18" charset="0"/>
                          </a:rPr>
                          <m:t>2</m:t>
                        </m:r>
                      </m:num>
                      <m:den>
                        <m:r>
                          <a:rPr lang="en-US" altLang="zh-CN" sz="1800" b="0" i="1" smtClean="0">
                            <a:latin typeface="Cambria Math" panose="02040503050406030204" pitchFamily="18" charset="0"/>
                            <a:ea typeface="Cambria Math" panose="02040503050406030204" pitchFamily="18" charset="0"/>
                            <a:cs typeface="Cambria Math" panose="02040503050406030204" pitchFamily="18" charset="0"/>
                          </a:rPr>
                          <m:t>3</m:t>
                        </m:r>
                      </m:den>
                    </m:f>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1000</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m:t>
                    </m:r>
                    <m:f>
                      <m:fPr>
                        <m:ctrlP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ctrlPr>
                      </m:fPr>
                      <m:num>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1</m:t>
                        </m:r>
                      </m:num>
                      <m:den>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3</m:t>
                        </m:r>
                      </m:den>
                    </m:f>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m:t>
                    </m:r>
                    <m:d>
                      <m:dPr>
                        <m:ctrlP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ctrlPr>
                      </m:dPr>
                      <m:e>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2000</m:t>
                        </m:r>
                      </m:e>
                    </m:d>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0</m:t>
                    </m:r>
                  </m:oMath>
                </a14:m>
                <a:endParaRPr lang="en-US" altLang="zh-CN" sz="1800" i="1" smtClean="0">
                  <a:latin typeface="Cambria Math" panose="02040503050406030204" pitchFamily="18" charset="0"/>
                  <a:ea typeface="Cambria Math" panose="02040503050406030204" pitchFamily="18" charset="0"/>
                  <a:cs typeface="Cambria Math" panose="02040503050406030204" pitchFamily="18" charset="0"/>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1800" dirty="0">
                    <a:latin typeface="宋体" panose="02010600030101010101" pitchFamily="2" charset="-122"/>
                    <a:sym typeface="+mn-ea"/>
                  </a:rPr>
                  <a:t>与选不买的得益相同，因此买方的混合策略通过了序列理性要求的检验。</a:t>
                </a:r>
                <a:endParaRPr lang="zh-CN" altLang="en-US" sz="1800" dirty="0">
                  <a:latin typeface="宋体" panose="02010600030101010101" pitchFamily="2" charset="-122"/>
                  <a:sym typeface="+mn-ea"/>
                </a:endParaRPr>
              </a:p>
              <a:p>
                <a:pPr marL="342900" lvl="0" indent="-342900" algn="just">
                  <a:lnSpc>
                    <a:spcPct val="120000"/>
                  </a:lnSpc>
                  <a:spcBef>
                    <a:spcPts val="0"/>
                  </a:spcBef>
                  <a:buClrTx/>
                  <a:buSzTx/>
                  <a:buFont typeface="Arial" panose="020B0604020202020204" pitchFamily="34" charset="0"/>
                  <a:buChar char="•"/>
                </a:pPr>
                <a:r>
                  <a:rPr lang="zh-CN" altLang="en-US" sz="18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车好时卖方的选择</a:t>
                </a:r>
                <a:endParaRPr lang="zh-CN" altLang="en-US" sz="18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sz="18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卖方选择卖的期望得益</a:t>
                </a:r>
                <a14:m>
                  <m:oMath xmlns:m="http://schemas.openxmlformats.org/officeDocument/2006/math">
                    <m:r>
                      <a:rPr lang="en-US" altLang="zh-CN" sz="1800" b="0" i="1" smtClean="0">
                        <a:latin typeface="Cambria Math" panose="02040503050406030204" pitchFamily="18" charset="0"/>
                        <a:ea typeface="Cambria Math" panose="02040503050406030204" pitchFamily="18" charset="0"/>
                        <a:cs typeface="Cambria Math" panose="02040503050406030204" pitchFamily="18" charset="0"/>
                      </a:rPr>
                      <m:t>0</m:t>
                    </m:r>
                    <m:r>
                      <a:rPr lang="en-US" altLang="zh-CN" sz="1800" b="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cs typeface="Cambria Math" panose="02040503050406030204" pitchFamily="18" charset="0"/>
                      </a:rPr>
                      <m:t>5</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2000</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0</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5</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0</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1000</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&gt;</m:t>
                    </m:r>
                    <m:r>
                      <a:rPr lang="en-US" altLang="zh-CN" sz="1800" i="1" smtClean="0">
                        <a:latin typeface="Cambria Math" panose="02040503050406030204" pitchFamily="18" charset="0"/>
                        <a:ea typeface="Cambria Math" panose="02040503050406030204" pitchFamily="18" charset="0"/>
                        <a:cs typeface="Cambria Math" panose="02040503050406030204" pitchFamily="18" charset="0"/>
                      </a:rPr>
                      <m:t>0</m:t>
                    </m:r>
                  </m:oMath>
                </a14:m>
                <a:endParaRPr lang="en-US" altLang="zh-CN" sz="1800" i="1" smtClean="0">
                  <a:latin typeface="Cambria Math" panose="02040503050406030204" pitchFamily="18" charset="0"/>
                  <a:ea typeface="Cambria Math" panose="02040503050406030204" pitchFamily="18" charset="0"/>
                  <a:cs typeface="Cambria Math" panose="02040503050406030204" pitchFamily="18" charset="0"/>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1800" smtClean="0">
                    <a:latin typeface="微软雅黑" panose="020B0503020204020204" pitchFamily="34" charset="-122"/>
                    <a:ea typeface="微软雅黑" panose="020B0503020204020204" pitchFamily="34" charset="-122"/>
                    <a:cs typeface="Cambria Math" panose="02040503050406030204" pitchFamily="18" charset="0"/>
                  </a:rPr>
                  <a:t>比不卖的期望得益大得多，卖是唯一选择。</a:t>
                </a:r>
                <a:endParaRPr lang="zh-CN" altLang="en-US" sz="1800" smtClean="0">
                  <a:latin typeface="微软雅黑" panose="020B0503020204020204" pitchFamily="34" charset="-122"/>
                  <a:ea typeface="微软雅黑" panose="020B0503020204020204" pitchFamily="34" charset="-122"/>
                  <a:cs typeface="Cambria Math" panose="02040503050406030204" pitchFamily="18" charset="0"/>
                </a:endParaRPr>
              </a:p>
              <a:p>
                <a:pPr marL="342900" lvl="0" indent="-342900" algn="just">
                  <a:lnSpc>
                    <a:spcPct val="120000"/>
                  </a:lnSpc>
                  <a:spcBef>
                    <a:spcPts val="0"/>
                  </a:spcBef>
                  <a:buClrTx/>
                  <a:buSzTx/>
                  <a:buFont typeface="Arial" panose="020B0604020202020204" pitchFamily="34" charset="0"/>
                  <a:buChar char="•"/>
                </a:pPr>
                <a:r>
                  <a:rPr lang="zh-CN" altLang="en-US" sz="18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车差时卖方的选择</a:t>
                </a:r>
                <a:endParaRPr lang="zh-CN" altLang="en-US" sz="18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卖方伪装后选择卖的期望得益</a:t>
                </a:r>
                <a14:m>
                  <m:oMath xmlns:m="http://schemas.openxmlformats.org/officeDocument/2006/math">
                    <m:r>
                      <a:rPr lang="en-US" altLang="zh-CN" b="0" i="1" smtClean="0">
                        <a:latin typeface="Cambria Math" panose="02040503050406030204" pitchFamily="18" charset="0"/>
                        <a:ea typeface="Cambria Math" panose="02040503050406030204" pitchFamily="18" charset="0"/>
                        <a:cs typeface="Cambria Math" panose="02040503050406030204" pitchFamily="18" charset="0"/>
                      </a:rPr>
                      <m:t>0</m:t>
                    </m:r>
                    <m:r>
                      <a:rPr lang="en-US" altLang="zh-CN" b="0"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cs typeface="Cambria Math" panose="02040503050406030204" pitchFamily="18" charset="0"/>
                      </a:rPr>
                      <m:t>5</m:t>
                    </m:r>
                    <m:r>
                      <a:rPr lang="en-US" altLang="zh-CN"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cs typeface="Cambria Math" panose="02040503050406030204" pitchFamily="18" charset="0"/>
                      </a:rPr>
                      <m:t>1</m:t>
                    </m:r>
                    <m:r>
                      <a:rPr lang="en-US" altLang="zh-CN" i="1" smtClean="0">
                        <a:latin typeface="Cambria Math" panose="02040503050406030204" pitchFamily="18" charset="0"/>
                        <a:ea typeface="Cambria Math" panose="02040503050406030204" pitchFamily="18" charset="0"/>
                        <a:cs typeface="Cambria Math" panose="02040503050406030204" pitchFamily="18" charset="0"/>
                      </a:rPr>
                      <m:t>000</m:t>
                    </m:r>
                    <m:r>
                      <a:rPr lang="en-US" altLang="zh-CN"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cs typeface="Cambria Math" panose="02040503050406030204" pitchFamily="18" charset="0"/>
                      </a:rPr>
                      <m:t>0</m:t>
                    </m:r>
                    <m:r>
                      <a:rPr lang="en-US" altLang="zh-CN"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cs typeface="Cambria Math" panose="02040503050406030204" pitchFamily="18" charset="0"/>
                      </a:rPr>
                      <m:t>5</m:t>
                    </m:r>
                    <m:r>
                      <a:rPr lang="en-US" altLang="zh-CN" i="1" smtClean="0">
                        <a:latin typeface="Cambria Math" panose="02040503050406030204" pitchFamily="18" charset="0"/>
                        <a:ea typeface="Cambria Math" panose="02040503050406030204" pitchFamily="18" charset="0"/>
                        <a:cs typeface="Cambria Math" panose="02040503050406030204" pitchFamily="18" charset="0"/>
                      </a:rPr>
                      <m:t>×</m:t>
                    </m:r>
                    <m:d>
                      <m:dPr>
                        <m:ctrlPr>
                          <a:rPr lang="en-US" altLang="zh-CN" i="1" smtClean="0">
                            <a:latin typeface="Cambria Math" panose="02040503050406030204" pitchFamily="18" charset="0"/>
                            <a:ea typeface="Cambria Math" panose="02040503050406030204" pitchFamily="18" charset="0"/>
                            <a:cs typeface="Cambria Math" panose="02040503050406030204" pitchFamily="18" charset="0"/>
                          </a:rPr>
                        </m:ctrlPr>
                      </m:dPr>
                      <m:e>
                        <m:r>
                          <a:rPr lang="en-US" altLang="zh-CN"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cs typeface="Cambria Math" panose="02040503050406030204" pitchFamily="18" charset="0"/>
                          </a:rPr>
                          <m:t>1000</m:t>
                        </m:r>
                      </m:e>
                    </m:d>
                    <m:r>
                      <a:rPr lang="en-US" altLang="zh-CN" i="1" smtClean="0">
                        <a:latin typeface="Cambria Math" panose="02040503050406030204" pitchFamily="18" charset="0"/>
                        <a:ea typeface="Cambria Math" panose="02040503050406030204" pitchFamily="18" charset="0"/>
                        <a:cs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cs typeface="Cambria Math" panose="02040503050406030204" pitchFamily="18" charset="0"/>
                      </a:rPr>
                      <m:t>0</m:t>
                    </m:r>
                  </m:oMath>
                </a14:m>
                <a:endParaRPr lang="en-US" altLang="zh-CN" i="1" smtClean="0">
                  <a:latin typeface="Cambria Math" panose="02040503050406030204" pitchFamily="18" charset="0"/>
                  <a:ea typeface="Cambria Math" panose="02040503050406030204" pitchFamily="18" charset="0"/>
                  <a:cs typeface="Cambria Math" panose="02040503050406030204" pitchFamily="18" charset="0"/>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1800" dirty="0">
                    <a:latin typeface="宋体" panose="02010600030101010101" pitchFamily="2" charset="-122"/>
                    <a:sym typeface="+mn-ea"/>
                  </a:rPr>
                  <a:t>与选择不卖的得益是相同的，因此他的混合策略也通过了序列理性的检验。</a:t>
                </a:r>
                <a:endParaRPr lang="zh-CN" altLang="en-US" sz="1800"/>
              </a:p>
              <a:p>
                <a:pPr marL="508000" lvl="1" indent="-222250" algn="l" fontAlgn="ctr">
                  <a:lnSpc>
                    <a:spcPct val="130000"/>
                  </a:lnSpc>
                  <a:spcBef>
                    <a:spcPts val="0"/>
                  </a:spcBef>
                  <a:spcAft>
                    <a:spcPts val="0"/>
                  </a:spcAft>
                  <a:buSzPct val="100000"/>
                  <a:buFont typeface="Arial" panose="020B0604020202020204" pitchFamily="34" charset="0"/>
                  <a:buChar char="○"/>
                </a:pPr>
                <a:endParaRPr lang="zh-CN"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508000" lvl="1" indent="-222250" algn="l" fontAlgn="ctr">
                  <a:lnSpc>
                    <a:spcPct val="130000"/>
                  </a:lnSpc>
                  <a:spcBef>
                    <a:spcPts val="0"/>
                  </a:spcBef>
                  <a:spcAft>
                    <a:spcPts val="0"/>
                  </a:spcAft>
                  <a:buSzPct val="100000"/>
                  <a:buFont typeface="Arial" panose="020B0604020202020204" pitchFamily="34" charset="0"/>
                  <a:buChar char="○"/>
                </a:pPr>
                <a:endParaRPr lang="zh-CN"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7" name="Title 6"/>
              <p:cNvSpPr txBox="1">
                <a:spLocks noRot="1" noChangeAspect="1" noMove="1" noResize="1" noEditPoints="1" noAdjustHandles="1" noChangeArrowheads="1" noChangeShapeType="1" noTextEdit="1"/>
              </p:cNvSpPr>
              <p:nvPr>
                <p:custDataLst>
                  <p:tags r:id="rId4"/>
                </p:custDataLst>
              </p:nvPr>
            </p:nvSpPr>
            <p:spPr>
              <a:xfrm>
                <a:off x="839470" y="1052830"/>
                <a:ext cx="10044430" cy="5560695"/>
              </a:xfrm>
              <a:prstGeom prst="rect">
                <a:avLst/>
              </a:prstGeom>
              <a:blipFill rotWithShape="1">
                <a:blip r:embed="rId5"/>
                <a:stretch>
                  <a:fillRect t="-320" b="-331"/>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单价二手车交易博弈</a:t>
            </a:r>
            <a:endParaRPr lang="zh-CN" altLang="en-US" sz="3200" dirty="0">
              <a:solidFill>
                <a:schemeClr val="accent1"/>
              </a:solidFill>
              <a:sym typeface="+mn-ea"/>
            </a:endParaRPr>
          </a:p>
        </p:txBody>
      </p:sp>
      <p:cxnSp>
        <p:nvCxnSpPr>
          <p:cNvPr id="4" name="直接连接符 3"/>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839470" y="836930"/>
            <a:ext cx="2552700" cy="67754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n"/>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市场类型归纳</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84995" name="文本占位符 84994"/>
          <p:cNvSpPr>
            <a:spLocks noGrp="1"/>
          </p:cNvSpPr>
          <p:nvPr/>
        </p:nvSpPr>
        <p:spPr>
          <a:xfrm>
            <a:off x="449580" y="1551940"/>
            <a:ext cx="8370570" cy="490156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l"/>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tx1"/>
              </a:buClr>
              <a:buSzPct val="90000"/>
              <a:buFontTx/>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accent1"/>
              </a:buClr>
              <a:buSzPct val="60000"/>
              <a:buFont typeface="Wingdings" panose="05000000000000000000" pitchFamily="2" charset="2"/>
              <a:buChar char="l"/>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tx1"/>
              </a:buClr>
              <a:buSzTx/>
              <a:buFontTx/>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Tx/>
              <a:buFontTx/>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Tx/>
              <a:buFontTx/>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Tx/>
              <a:buFontTx/>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Tx/>
              <a:buFontTx/>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Tx/>
              <a:buFontTx/>
              <a:buChar char="•"/>
              <a:defRPr sz="2000" b="0" i="0" u="none" kern="1200" baseline="0">
                <a:solidFill>
                  <a:schemeClr val="tx1"/>
                </a:solidFill>
                <a:latin typeface="+mn-lt"/>
                <a:ea typeface="+mn-ea"/>
                <a:cs typeface="+mn-cs"/>
              </a:defRPr>
            </a:lvl9pPr>
          </a:lstStyle>
          <a:p>
            <a:pPr>
              <a:buNone/>
            </a:pPr>
            <a:r>
              <a:rPr lang="en-US" altLang="zh-CN" sz="2800" dirty="0">
                <a:latin typeface="宋体" panose="02010600030101010101" pitchFamily="2" charset="-122"/>
              </a:rPr>
              <a:t>    </a:t>
            </a:r>
            <a:r>
              <a:rPr lang="zh-CN" altLang="en-US" sz="2800" dirty="0"/>
              <a:t> </a:t>
            </a:r>
            <a:endParaRPr lang="zh-CN" altLang="en-US" sz="2800" dirty="0"/>
          </a:p>
          <a:p>
            <a:pPr>
              <a:buNone/>
            </a:pPr>
            <a:endParaRPr lang="zh-CN" altLang="en-US" sz="2800" dirty="0"/>
          </a:p>
          <a:p>
            <a:pPr>
              <a:buNone/>
            </a:pPr>
            <a:endParaRPr lang="zh-CN" altLang="en-US" sz="2800" dirty="0"/>
          </a:p>
          <a:p>
            <a:pPr>
              <a:buNone/>
            </a:pPr>
            <a:r>
              <a:rPr lang="zh-CN" altLang="en-US" sz="2800" dirty="0"/>
              <a:t>                       </a:t>
            </a:r>
            <a:endParaRPr lang="zh-CN" altLang="en-US" sz="2800"/>
          </a:p>
          <a:p>
            <a:pPr>
              <a:buNone/>
            </a:pPr>
            <a:endParaRPr lang="zh-CN" altLang="en-US" sz="2800"/>
          </a:p>
          <a:p>
            <a:pPr>
              <a:buNone/>
            </a:pPr>
            <a:endParaRPr lang="zh-CN" altLang="en-US" sz="2800"/>
          </a:p>
          <a:p>
            <a:pPr>
              <a:buNone/>
            </a:pPr>
            <a:endParaRPr lang="zh-CN" altLang="en-US" sz="2800" dirty="0"/>
          </a:p>
          <a:p>
            <a:pPr>
              <a:buNone/>
            </a:pPr>
            <a:endParaRPr lang="zh-CN" altLang="en-US" sz="2800" dirty="0"/>
          </a:p>
          <a:p>
            <a:pPr>
              <a:buNone/>
            </a:pPr>
            <a:r>
              <a:rPr lang="zh-CN" altLang="en-US" sz="2800"/>
              <a:t>                    </a:t>
            </a:r>
            <a:r>
              <a:rPr lang="zh-CN" altLang="en-US" sz="2800" dirty="0"/>
              <a:t>       </a:t>
            </a:r>
            <a:r>
              <a:rPr lang="zh-CN" altLang="en-US" sz="2800"/>
              <a:t> </a:t>
            </a:r>
            <a:r>
              <a:rPr lang="en-US" altLang="zh-CN" sz="2800"/>
              <a:t> </a:t>
            </a:r>
            <a:endParaRPr lang="en-US" altLang="zh-CN" sz="2800"/>
          </a:p>
          <a:p>
            <a:pPr>
              <a:buNone/>
            </a:pPr>
            <a:r>
              <a:rPr lang="en-US" altLang="zh-CN" sz="2800"/>
              <a:t>                             </a:t>
            </a:r>
            <a:r>
              <a:rPr lang="zh-CN" altLang="en-US" sz="1800"/>
              <a:t>图</a:t>
            </a:r>
            <a:r>
              <a:rPr lang="en-US" altLang="zh-CN" sz="1800"/>
              <a:t> </a:t>
            </a:r>
            <a:r>
              <a:rPr lang="zh-CN" altLang="en-US" sz="1800" dirty="0"/>
              <a:t>单一价格二手车交易的解</a:t>
            </a:r>
            <a:r>
              <a:rPr lang="zh-CN" altLang="en-US" sz="2800" dirty="0"/>
              <a:t> </a:t>
            </a:r>
            <a:endParaRPr lang="zh-CN" altLang="en-US" sz="2800" dirty="0"/>
          </a:p>
        </p:txBody>
      </p:sp>
      <p:graphicFrame>
        <p:nvGraphicFramePr>
          <p:cNvPr id="85000" name="对象 84999"/>
          <p:cNvGraphicFramePr/>
          <p:nvPr/>
        </p:nvGraphicFramePr>
        <p:xfrm>
          <a:off x="1066800" y="2420938"/>
          <a:ext cx="2133600" cy="411162"/>
        </p:xfrm>
        <a:graphic>
          <a:graphicData uri="http://schemas.openxmlformats.org/presentationml/2006/ole">
            <mc:AlternateContent xmlns:mc="http://schemas.openxmlformats.org/markup-compatibility/2006">
              <mc:Choice xmlns:v="urn:schemas-microsoft-com:vml" Requires="v">
                <p:oleObj spid="_x0000_s3078" name="" r:id="rId5" imgW="1421765" imgH="241300" progId="Equation.DSMT4">
                  <p:embed/>
                </p:oleObj>
              </mc:Choice>
              <mc:Fallback>
                <p:oleObj name="" r:id="rId5" imgW="1421765" imgH="241300" progId="Equation.DSMT4">
                  <p:embed/>
                  <p:pic>
                    <p:nvPicPr>
                      <p:cNvPr id="0" name="图片 3077"/>
                      <p:cNvPicPr/>
                      <p:nvPr/>
                    </p:nvPicPr>
                    <p:blipFill>
                      <a:blip r:embed="rId6"/>
                      <a:stretch>
                        <a:fillRect/>
                      </a:stretch>
                    </p:blipFill>
                    <p:spPr>
                      <a:xfrm>
                        <a:off x="1066800" y="2420938"/>
                        <a:ext cx="2133600" cy="411162"/>
                      </a:xfrm>
                      <a:prstGeom prst="rect">
                        <a:avLst/>
                      </a:prstGeom>
                      <a:solidFill>
                        <a:schemeClr val="bg1">
                          <a:lumMod val="85000"/>
                        </a:schemeClr>
                      </a:solidFill>
                      <a:ln w="38100">
                        <a:noFill/>
                        <a:miter/>
                      </a:ln>
                    </p:spPr>
                  </p:pic>
                </p:oleObj>
              </mc:Fallback>
            </mc:AlternateContent>
          </a:graphicData>
        </a:graphic>
      </p:graphicFrame>
      <p:grpSp>
        <p:nvGrpSpPr>
          <p:cNvPr id="85014" name="组合 85013"/>
          <p:cNvGrpSpPr/>
          <p:nvPr/>
        </p:nvGrpSpPr>
        <p:grpSpPr>
          <a:xfrm>
            <a:off x="3352800" y="2492375"/>
            <a:ext cx="3962400" cy="2819400"/>
            <a:chOff x="2112" y="1776"/>
            <a:chExt cx="2496" cy="1776"/>
          </a:xfrm>
        </p:grpSpPr>
        <p:sp>
          <p:nvSpPr>
            <p:cNvPr id="84997" name="直接连接符 84996"/>
            <p:cNvSpPr/>
            <p:nvPr/>
          </p:nvSpPr>
          <p:spPr>
            <a:xfrm>
              <a:off x="2112" y="2664"/>
              <a:ext cx="2137" cy="0"/>
            </a:xfrm>
            <a:prstGeom prst="line">
              <a:avLst/>
            </a:prstGeom>
            <a:ln w="9525" cap="flat" cmpd="sng">
              <a:solidFill>
                <a:schemeClr val="tx1"/>
              </a:solidFill>
              <a:prstDash val="solid"/>
              <a:headEnd type="none" w="med" len="med"/>
              <a:tailEnd type="triangle" w="med" len="med"/>
            </a:ln>
          </p:spPr>
        </p:sp>
        <p:sp>
          <p:nvSpPr>
            <p:cNvPr id="84998" name="直接连接符 84997"/>
            <p:cNvSpPr/>
            <p:nvPr/>
          </p:nvSpPr>
          <p:spPr>
            <a:xfrm flipV="1">
              <a:off x="2112" y="1776"/>
              <a:ext cx="0" cy="1732"/>
            </a:xfrm>
            <a:prstGeom prst="line">
              <a:avLst/>
            </a:prstGeom>
            <a:ln w="9525" cap="flat" cmpd="sng">
              <a:solidFill>
                <a:schemeClr val="tx1"/>
              </a:solidFill>
              <a:prstDash val="solid"/>
              <a:headEnd type="none" w="med" len="med"/>
              <a:tailEnd type="triangle" w="med" len="med"/>
            </a:ln>
          </p:spPr>
        </p:sp>
        <p:sp>
          <p:nvSpPr>
            <p:cNvPr id="84999" name="直接连接符 84998"/>
            <p:cNvSpPr/>
            <p:nvPr/>
          </p:nvSpPr>
          <p:spPr>
            <a:xfrm>
              <a:off x="3158" y="1865"/>
              <a:ext cx="0" cy="1598"/>
            </a:xfrm>
            <a:prstGeom prst="line">
              <a:avLst/>
            </a:prstGeom>
            <a:ln w="9525" cap="flat" cmpd="sng">
              <a:solidFill>
                <a:schemeClr val="tx1"/>
              </a:solidFill>
              <a:prstDash val="dash"/>
              <a:headEnd type="none" w="med" len="med"/>
              <a:tailEnd type="none" w="med" len="med"/>
            </a:ln>
          </p:spPr>
        </p:sp>
        <p:sp>
          <p:nvSpPr>
            <p:cNvPr id="85001" name="矩形 85000"/>
            <p:cNvSpPr/>
            <p:nvPr/>
          </p:nvSpPr>
          <p:spPr>
            <a:xfrm>
              <a:off x="2339" y="1820"/>
              <a:ext cx="592" cy="755"/>
            </a:xfrm>
            <a:prstGeom prst="rect">
              <a:avLst/>
            </a:prstGeom>
            <a:noFill/>
            <a:ln w="9525">
              <a:noFill/>
            </a:ln>
          </p:spPr>
          <p:txBody>
            <a:bodyPr wrap="none" anchor="ctr" anchorCtr="0"/>
            <a:p>
              <a:pPr algn="ctr">
                <a:lnSpc>
                  <a:spcPct val="100000"/>
                </a:lnSpc>
                <a:spcBef>
                  <a:spcPct val="0"/>
                </a:spcBef>
              </a:pPr>
              <a:r>
                <a:rPr lang="zh-CN" altLang="en-US" b="0" dirty="0">
                  <a:solidFill>
                    <a:schemeClr val="tx1"/>
                  </a:solidFill>
                  <a:latin typeface="宋体" panose="02010600030101010101" pitchFamily="2" charset="-122"/>
                </a:rPr>
                <a:t>市场</a:t>
              </a:r>
              <a:endParaRPr lang="zh-CN" altLang="en-US" b="0" dirty="0">
                <a:solidFill>
                  <a:schemeClr val="tx1"/>
                </a:solidFill>
                <a:latin typeface="宋体" panose="02010600030101010101" pitchFamily="2" charset="-122"/>
              </a:endParaRPr>
            </a:p>
            <a:p>
              <a:pPr algn="ctr">
                <a:lnSpc>
                  <a:spcPct val="100000"/>
                </a:lnSpc>
                <a:spcBef>
                  <a:spcPct val="0"/>
                </a:spcBef>
              </a:pPr>
              <a:r>
                <a:rPr lang="zh-CN" altLang="en-US" b="0" dirty="0">
                  <a:solidFill>
                    <a:schemeClr val="tx1"/>
                  </a:solidFill>
                  <a:latin typeface="宋体" panose="02010600030101010101" pitchFamily="2" charset="-122"/>
                </a:rPr>
                <a:t>部分</a:t>
              </a:r>
              <a:endParaRPr lang="zh-CN" altLang="en-US" b="0" dirty="0">
                <a:solidFill>
                  <a:schemeClr val="tx1"/>
                </a:solidFill>
                <a:latin typeface="宋体" panose="02010600030101010101" pitchFamily="2" charset="-122"/>
              </a:endParaRPr>
            </a:p>
            <a:p>
              <a:pPr algn="ctr">
                <a:lnSpc>
                  <a:spcPct val="100000"/>
                </a:lnSpc>
                <a:spcBef>
                  <a:spcPct val="0"/>
                </a:spcBef>
              </a:pPr>
              <a:r>
                <a:rPr lang="zh-CN" altLang="en-US" b="0" dirty="0">
                  <a:solidFill>
                    <a:schemeClr val="tx1"/>
                  </a:solidFill>
                  <a:latin typeface="宋体" panose="02010600030101010101" pitchFamily="2" charset="-122"/>
                </a:rPr>
                <a:t>成功</a:t>
              </a:r>
              <a:endParaRPr lang="zh-CN" altLang="en-US" b="0">
                <a:solidFill>
                  <a:schemeClr val="tx1"/>
                </a:solidFill>
                <a:latin typeface="宋体" panose="02010600030101010101" pitchFamily="2" charset="-122"/>
              </a:endParaRPr>
            </a:p>
          </p:txBody>
        </p:sp>
        <p:sp>
          <p:nvSpPr>
            <p:cNvPr id="85002" name="矩形 85001"/>
            <p:cNvSpPr/>
            <p:nvPr/>
          </p:nvSpPr>
          <p:spPr>
            <a:xfrm>
              <a:off x="3431" y="1820"/>
              <a:ext cx="727" cy="755"/>
            </a:xfrm>
            <a:prstGeom prst="rect">
              <a:avLst/>
            </a:prstGeom>
            <a:noFill/>
            <a:ln w="9525">
              <a:noFill/>
            </a:ln>
          </p:spPr>
          <p:txBody>
            <a:bodyPr wrap="none" anchor="ctr" anchorCtr="0"/>
            <a:p>
              <a:pPr algn="ctr">
                <a:lnSpc>
                  <a:spcPct val="100000"/>
                </a:lnSpc>
                <a:spcBef>
                  <a:spcPct val="0"/>
                </a:spcBef>
              </a:pPr>
              <a:r>
                <a:rPr lang="zh-CN" altLang="en-US" b="0" dirty="0">
                  <a:solidFill>
                    <a:schemeClr val="tx1"/>
                  </a:solidFill>
                  <a:latin typeface="宋体" panose="02010600030101010101" pitchFamily="2" charset="-122"/>
                </a:rPr>
                <a:t>市场</a:t>
              </a:r>
              <a:endParaRPr lang="zh-CN" altLang="en-US" b="0" dirty="0">
                <a:solidFill>
                  <a:schemeClr val="tx1"/>
                </a:solidFill>
                <a:latin typeface="宋体" panose="02010600030101010101" pitchFamily="2" charset="-122"/>
              </a:endParaRPr>
            </a:p>
            <a:p>
              <a:pPr algn="ctr">
                <a:lnSpc>
                  <a:spcPct val="100000"/>
                </a:lnSpc>
                <a:spcBef>
                  <a:spcPct val="0"/>
                </a:spcBef>
              </a:pPr>
              <a:r>
                <a:rPr lang="zh-CN" altLang="en-US" b="0" dirty="0">
                  <a:solidFill>
                    <a:schemeClr val="tx1"/>
                  </a:solidFill>
                  <a:latin typeface="宋体" panose="02010600030101010101" pitchFamily="2" charset="-122"/>
                </a:rPr>
                <a:t>完全</a:t>
              </a:r>
              <a:endParaRPr lang="zh-CN" altLang="en-US" b="0" dirty="0">
                <a:solidFill>
                  <a:schemeClr val="tx1"/>
                </a:solidFill>
                <a:latin typeface="宋体" panose="02010600030101010101" pitchFamily="2" charset="-122"/>
              </a:endParaRPr>
            </a:p>
            <a:p>
              <a:pPr algn="ctr">
                <a:lnSpc>
                  <a:spcPct val="100000"/>
                </a:lnSpc>
                <a:spcBef>
                  <a:spcPct val="0"/>
                </a:spcBef>
              </a:pPr>
              <a:r>
                <a:rPr lang="zh-CN" altLang="en-US" b="0" dirty="0">
                  <a:solidFill>
                    <a:schemeClr val="tx1"/>
                  </a:solidFill>
                  <a:latin typeface="宋体" panose="02010600030101010101" pitchFamily="2" charset="-122"/>
                </a:rPr>
                <a:t>成功</a:t>
              </a:r>
              <a:endParaRPr lang="zh-CN" altLang="en-US" b="0">
                <a:solidFill>
                  <a:schemeClr val="tx1"/>
                </a:solidFill>
                <a:latin typeface="宋体" panose="02010600030101010101" pitchFamily="2" charset="-122"/>
              </a:endParaRPr>
            </a:p>
          </p:txBody>
        </p:sp>
        <p:sp>
          <p:nvSpPr>
            <p:cNvPr id="85003" name="矩形 85002"/>
            <p:cNvSpPr/>
            <p:nvPr/>
          </p:nvSpPr>
          <p:spPr>
            <a:xfrm>
              <a:off x="3431" y="2664"/>
              <a:ext cx="727" cy="888"/>
            </a:xfrm>
            <a:prstGeom prst="rect">
              <a:avLst/>
            </a:prstGeom>
            <a:noFill/>
            <a:ln w="9525">
              <a:noFill/>
            </a:ln>
          </p:spPr>
          <p:txBody>
            <a:bodyPr wrap="none" anchor="ctr" anchorCtr="0"/>
            <a:p>
              <a:pPr algn="ctr">
                <a:lnSpc>
                  <a:spcPct val="100000"/>
                </a:lnSpc>
                <a:spcBef>
                  <a:spcPct val="0"/>
                </a:spcBef>
              </a:pPr>
              <a:r>
                <a:rPr lang="zh-CN" altLang="en-US" b="0" dirty="0">
                  <a:solidFill>
                    <a:schemeClr val="tx1"/>
                  </a:solidFill>
                  <a:latin typeface="宋体" panose="02010600030101010101" pitchFamily="2" charset="-122"/>
                </a:rPr>
                <a:t>市场</a:t>
              </a:r>
              <a:endParaRPr lang="zh-CN" altLang="en-US" b="0" dirty="0">
                <a:solidFill>
                  <a:schemeClr val="tx1"/>
                </a:solidFill>
                <a:latin typeface="宋体" panose="02010600030101010101" pitchFamily="2" charset="-122"/>
              </a:endParaRPr>
            </a:p>
            <a:p>
              <a:pPr algn="ctr">
                <a:lnSpc>
                  <a:spcPct val="100000"/>
                </a:lnSpc>
                <a:spcBef>
                  <a:spcPct val="0"/>
                </a:spcBef>
              </a:pPr>
              <a:r>
                <a:rPr lang="zh-CN" altLang="en-US" b="0" dirty="0">
                  <a:solidFill>
                    <a:schemeClr val="tx1"/>
                  </a:solidFill>
                  <a:latin typeface="宋体" panose="02010600030101010101" pitchFamily="2" charset="-122"/>
                </a:rPr>
                <a:t>完全</a:t>
              </a:r>
              <a:endParaRPr lang="zh-CN" altLang="en-US" b="0" dirty="0">
                <a:solidFill>
                  <a:schemeClr val="tx1"/>
                </a:solidFill>
                <a:latin typeface="宋体" panose="02010600030101010101" pitchFamily="2" charset="-122"/>
              </a:endParaRPr>
            </a:p>
            <a:p>
              <a:pPr algn="ctr">
                <a:lnSpc>
                  <a:spcPct val="100000"/>
                </a:lnSpc>
                <a:spcBef>
                  <a:spcPct val="0"/>
                </a:spcBef>
              </a:pPr>
              <a:r>
                <a:rPr lang="zh-CN" altLang="en-US" b="0" dirty="0">
                  <a:solidFill>
                    <a:schemeClr val="tx1"/>
                  </a:solidFill>
                  <a:latin typeface="宋体" panose="02010600030101010101" pitchFamily="2" charset="-122"/>
                </a:rPr>
                <a:t>成功</a:t>
              </a:r>
              <a:endParaRPr lang="zh-CN" altLang="en-US" b="0">
                <a:solidFill>
                  <a:schemeClr val="tx1"/>
                </a:solidFill>
                <a:latin typeface="宋体" panose="02010600030101010101" pitchFamily="2" charset="-122"/>
              </a:endParaRPr>
            </a:p>
          </p:txBody>
        </p:sp>
        <p:sp>
          <p:nvSpPr>
            <p:cNvPr id="85004" name="矩形 85003"/>
            <p:cNvSpPr/>
            <p:nvPr/>
          </p:nvSpPr>
          <p:spPr>
            <a:xfrm>
              <a:off x="2339" y="2708"/>
              <a:ext cx="682" cy="800"/>
            </a:xfrm>
            <a:prstGeom prst="rect">
              <a:avLst/>
            </a:prstGeom>
            <a:noFill/>
            <a:ln w="9525">
              <a:noFill/>
            </a:ln>
          </p:spPr>
          <p:txBody>
            <a:bodyPr wrap="none" anchor="ctr" anchorCtr="0"/>
            <a:p>
              <a:pPr algn="ctr">
                <a:lnSpc>
                  <a:spcPct val="100000"/>
                </a:lnSpc>
                <a:spcBef>
                  <a:spcPct val="0"/>
                </a:spcBef>
              </a:pPr>
              <a:r>
                <a:rPr lang="zh-CN" altLang="en-US" b="0" dirty="0">
                  <a:solidFill>
                    <a:schemeClr val="tx1"/>
                  </a:solidFill>
                  <a:latin typeface="宋体" panose="02010600030101010101" pitchFamily="2" charset="-122"/>
                </a:rPr>
                <a:t>市场接近</a:t>
              </a:r>
              <a:endParaRPr lang="zh-CN" altLang="en-US" b="0" dirty="0">
                <a:solidFill>
                  <a:schemeClr val="tx1"/>
                </a:solidFill>
                <a:latin typeface="宋体" panose="02010600030101010101" pitchFamily="2" charset="-122"/>
              </a:endParaRPr>
            </a:p>
            <a:p>
              <a:pPr algn="ctr">
                <a:lnSpc>
                  <a:spcPct val="100000"/>
                </a:lnSpc>
                <a:spcBef>
                  <a:spcPct val="0"/>
                </a:spcBef>
              </a:pPr>
              <a:r>
                <a:rPr lang="zh-CN" altLang="en-US" b="0" dirty="0">
                  <a:solidFill>
                    <a:schemeClr val="tx1"/>
                  </a:solidFill>
                  <a:latin typeface="宋体" panose="02010600030101010101" pitchFamily="2" charset="-122"/>
                </a:rPr>
                <a:t>失败或完</a:t>
              </a:r>
              <a:endParaRPr lang="zh-CN" altLang="en-US" b="0" dirty="0">
                <a:solidFill>
                  <a:schemeClr val="tx1"/>
                </a:solidFill>
                <a:latin typeface="宋体" panose="02010600030101010101" pitchFamily="2" charset="-122"/>
              </a:endParaRPr>
            </a:p>
            <a:p>
              <a:pPr algn="ctr">
                <a:lnSpc>
                  <a:spcPct val="100000"/>
                </a:lnSpc>
                <a:spcBef>
                  <a:spcPct val="0"/>
                </a:spcBef>
              </a:pPr>
              <a:r>
                <a:rPr lang="zh-CN" altLang="en-US" b="0" dirty="0">
                  <a:solidFill>
                    <a:schemeClr val="tx1"/>
                  </a:solidFill>
                  <a:latin typeface="宋体" panose="02010600030101010101" pitchFamily="2" charset="-122"/>
                </a:rPr>
                <a:t>全失败</a:t>
              </a:r>
              <a:endParaRPr lang="zh-CN" altLang="en-US" b="0">
                <a:solidFill>
                  <a:schemeClr val="tx1"/>
                </a:solidFill>
                <a:latin typeface="宋体" panose="02010600030101010101" pitchFamily="2" charset="-122"/>
              </a:endParaRPr>
            </a:p>
          </p:txBody>
        </p:sp>
        <p:sp>
          <p:nvSpPr>
            <p:cNvPr id="85005" name="矩形 85004"/>
            <p:cNvSpPr/>
            <p:nvPr/>
          </p:nvSpPr>
          <p:spPr>
            <a:xfrm>
              <a:off x="4072" y="2501"/>
              <a:ext cx="536" cy="571"/>
            </a:xfrm>
            <a:prstGeom prst="rect">
              <a:avLst/>
            </a:prstGeom>
            <a:noFill/>
            <a:ln w="9525">
              <a:noFill/>
            </a:ln>
          </p:spPr>
          <p:txBody>
            <a:bodyPr wrap="none" anchor="ctr" anchorCtr="0"/>
            <a:p>
              <a:pPr algn="ctr">
                <a:lnSpc>
                  <a:spcPct val="100000"/>
                </a:lnSpc>
                <a:spcBef>
                  <a:spcPct val="0"/>
                </a:spcBef>
              </a:pPr>
              <a:r>
                <a:rPr lang="en-US" altLang="zh-CN" sz="2800" b="0">
                  <a:solidFill>
                    <a:schemeClr val="tx1"/>
                  </a:solidFill>
                  <a:latin typeface="宋体" panose="02010600030101010101" pitchFamily="2" charset="-122"/>
                </a:rPr>
                <a:t>C</a:t>
              </a:r>
              <a:endParaRPr lang="en-US" altLang="zh-CN" sz="2800" b="0">
                <a:solidFill>
                  <a:schemeClr val="tx1"/>
                </a:solidFill>
                <a:latin typeface="宋体" panose="02010600030101010101" pitchFamily="2" charset="-122"/>
              </a:endParaRPr>
            </a:p>
          </p:txBody>
        </p:sp>
      </p:grpSp>
      <p:sp>
        <p:nvSpPr>
          <p:cNvPr id="85012" name="矩形 85011"/>
          <p:cNvSpPr/>
          <p:nvPr/>
        </p:nvSpPr>
        <p:spPr>
          <a:xfrm>
            <a:off x="4787900" y="3581400"/>
            <a:ext cx="850900" cy="906463"/>
          </a:xfrm>
          <a:prstGeom prst="rect">
            <a:avLst/>
          </a:prstGeom>
          <a:noFill/>
          <a:ln w="9525">
            <a:noFill/>
          </a:ln>
        </p:spPr>
        <p:txBody>
          <a:bodyPr wrap="none" anchor="ctr" anchorCtr="0"/>
          <a:p>
            <a:pPr algn="ctr">
              <a:lnSpc>
                <a:spcPct val="100000"/>
              </a:lnSpc>
              <a:spcBef>
                <a:spcPct val="0"/>
              </a:spcBef>
            </a:pPr>
            <a:r>
              <a:rPr lang="en-US" altLang="zh-CN" sz="2800" b="0">
                <a:solidFill>
                  <a:schemeClr val="tx1"/>
                </a:solidFill>
                <a:latin typeface="宋体" panose="02010600030101010101" pitchFamily="2" charset="-122"/>
              </a:rPr>
              <a:t>P</a:t>
            </a:r>
            <a:endParaRPr lang="en-US" altLang="zh-CN" sz="2800" b="0">
              <a:solidFill>
                <a:schemeClr val="tx1"/>
              </a:solidFill>
              <a:latin typeface="宋体" panose="02010600030101010101" pitchFamily="2" charset="-122"/>
            </a:endParaRPr>
          </a:p>
        </p:txBody>
      </p:sp>
      <p:sp>
        <p:nvSpPr>
          <p:cNvPr id="85013" name="矩形 85012"/>
          <p:cNvSpPr/>
          <p:nvPr/>
        </p:nvSpPr>
        <p:spPr>
          <a:xfrm>
            <a:off x="2895600" y="3581400"/>
            <a:ext cx="533400" cy="677863"/>
          </a:xfrm>
          <a:prstGeom prst="rect">
            <a:avLst/>
          </a:prstGeom>
          <a:noFill/>
          <a:ln w="9525">
            <a:noFill/>
          </a:ln>
        </p:spPr>
        <p:txBody>
          <a:bodyPr wrap="none" anchor="ctr" anchorCtr="0"/>
          <a:p>
            <a:pPr algn="ctr">
              <a:lnSpc>
                <a:spcPct val="100000"/>
              </a:lnSpc>
              <a:spcBef>
                <a:spcPct val="0"/>
              </a:spcBef>
            </a:pPr>
            <a:r>
              <a:rPr lang="en-US" altLang="zh-CN" sz="2800" b="0">
                <a:solidFill>
                  <a:schemeClr val="tx1"/>
                </a:solidFill>
                <a:latin typeface="宋体" panose="02010600030101010101" pitchFamily="2" charset="-122"/>
              </a:rPr>
              <a:t>0</a:t>
            </a:r>
            <a:endParaRPr lang="en-US" altLang="zh-CN" sz="2800" b="0">
              <a:solidFill>
                <a:schemeClr val="tx1"/>
              </a:solidFill>
              <a:latin typeface="宋体" panose="02010600030101010101" pitchFamily="2" charset="-122"/>
            </a:endParaRPr>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双价二手车交易博弈</a:t>
            </a:r>
            <a:endParaRPr lang="zh-CN" altLang="en-US" sz="3200" dirty="0">
              <a:solidFill>
                <a:schemeClr val="accent1"/>
              </a:solidFill>
              <a:sym typeface="+mn-ea"/>
            </a:endParaRPr>
          </a:p>
        </p:txBody>
      </p:sp>
      <p:cxnSp>
        <p:nvCxnSpPr>
          <p:cNvPr id="12" name="直接连接符 11"/>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3" name="矩形 12"/>
          <p:cNvSpPr/>
          <p:nvPr userDrawn="1">
            <p:custDataLst>
              <p:tags r:id="rId3"/>
            </p:custDataLst>
          </p:nvPr>
        </p:nvSpPr>
        <p:spPr>
          <a:xfrm>
            <a:off x="460375" y="1624965"/>
            <a:ext cx="11277600" cy="43700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4" name="Title 6"/>
          <p:cNvSpPr txBox="1"/>
          <p:nvPr>
            <p:custDataLst>
              <p:tags r:id="rId4"/>
            </p:custDataLst>
          </p:nvPr>
        </p:nvSpPr>
        <p:spPr>
          <a:xfrm>
            <a:off x="2997835" y="2188845"/>
            <a:ext cx="6654165" cy="324231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价格不变——价格可变（过渡）</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两种价格、离散价格、连续价格（越来越具有一般性）</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价格透露的信息</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市场的分化、发育，高端、低端市场的形成</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just"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本模型可以揭示市场发展和演变的 一些过程和规律，以及建立市场秩序的条件和方法等。</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双价二手车交易博弈</a:t>
            </a:r>
            <a:endParaRPr lang="zh-CN" altLang="en-US" sz="3200" dirty="0">
              <a:solidFill>
                <a:schemeClr val="accent1"/>
              </a:solidFill>
              <a:sym typeface="+mn-ea"/>
            </a:endParaRPr>
          </a:p>
        </p:txBody>
      </p:sp>
      <p:cxnSp>
        <p:nvCxnSpPr>
          <p:cNvPr id="5" name="直接连接符 4"/>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762155" y="762005"/>
            <a:ext cx="9425424" cy="70338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l"/>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双价二手车交易博弈扩展形</a:t>
            </a: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Picture 55"/>
          <p:cNvPicPr>
            <a:picLocks noChangeAspect="1" noChangeArrowheads="1"/>
          </p:cNvPicPr>
          <p:nvPr/>
        </p:nvPicPr>
        <p:blipFill rotWithShape="1">
          <a:blip r:embed="rId4">
            <a:extLst>
              <a:ext uri="{28A0092B-C50C-407E-A947-70E740481C1C}">
                <a14:useLocalDpi xmlns:a14="http://schemas.microsoft.com/office/drawing/2010/main" val="0"/>
              </a:ext>
            </a:extLst>
          </a:blip>
          <a:srcRect l="6000" t="6455" r="3001" b="9823"/>
          <a:stretch>
            <a:fillRect/>
          </a:stretch>
        </p:blipFill>
        <p:spPr bwMode="auto">
          <a:xfrm>
            <a:off x="479425" y="2565400"/>
            <a:ext cx="7798435"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
        <p:nvSpPr>
          <p:cNvPr id="14" name="Title 6"/>
          <p:cNvSpPr txBox="1"/>
          <p:nvPr>
            <p:custDataLst>
              <p:tags r:id="rId6"/>
            </p:custDataLst>
          </p:nvPr>
        </p:nvSpPr>
        <p:spPr>
          <a:xfrm>
            <a:off x="1127760" y="1341120"/>
            <a:ext cx="10440035" cy="109220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indent="-285750" algn="just">
              <a:lnSpc>
                <a:spcPct val="120000"/>
              </a:lnSpc>
              <a:buFont typeface="Arial" panose="020B0604020202020204" pitchFamily="34" charset="0"/>
              <a:buChar char="•"/>
            </a:pPr>
            <a:r>
              <a:rPr lang="zh-CN" altLang="en-US" sz="2000">
                <a:latin typeface="宋体" panose="02010600030101010101" pitchFamily="2" charset="-122"/>
                <a:sym typeface="+mn-ea"/>
              </a:rPr>
              <a:t>假设车况有好、差两种情况；卖方的选择是卖高价</a:t>
            </a:r>
            <a:r>
              <a:rPr altLang="zh-CN" sz="2000" i="1" dirty="0" err="1">
                <a:latin typeface="Times New Roman" panose="02020603050405020304" pitchFamily="18" charset="0"/>
                <a:cs typeface="Times New Roman" panose="02020603050405020304" pitchFamily="18" charset="0"/>
                <a:sym typeface="+mn-ea"/>
              </a:rPr>
              <a:t>P</a:t>
            </a:r>
            <a:r>
              <a:rPr altLang="zh-CN" sz="2000" i="1" baseline="-25000" dirty="0" err="1">
                <a:latin typeface="Times New Roman" panose="02020603050405020304" pitchFamily="18" charset="0"/>
                <a:cs typeface="Times New Roman" panose="02020603050405020304" pitchFamily="18" charset="0"/>
                <a:sym typeface="+mn-ea"/>
              </a:rPr>
              <a:t>h</a:t>
            </a:r>
            <a:r>
              <a:rPr lang="zh-CN" altLang="en-US" sz="2000">
                <a:latin typeface="宋体" panose="02010600030101010101" pitchFamily="2" charset="-122"/>
                <a:sym typeface="+mn-ea"/>
              </a:rPr>
              <a:t>和低价</a:t>
            </a:r>
            <a:r>
              <a:rPr altLang="zh-CN" sz="2000" i="1">
                <a:latin typeface="Times New Roman" panose="02020603050405020304" pitchFamily="18" charset="0"/>
                <a:cs typeface="Times New Roman" panose="02020603050405020304" pitchFamily="18" charset="0"/>
                <a:sym typeface="+mn-ea"/>
              </a:rPr>
              <a:t>P</a:t>
            </a:r>
            <a:r>
              <a:rPr altLang="zh-CN" sz="2000" i="1" baseline="-25000">
                <a:latin typeface="Times New Roman" panose="02020603050405020304" pitchFamily="18" charset="0"/>
                <a:cs typeface="Times New Roman" panose="02020603050405020304" pitchFamily="18" charset="0"/>
                <a:sym typeface="+mn-ea"/>
              </a:rPr>
              <a:t>l</a:t>
            </a:r>
            <a:r>
              <a:rPr lang="zh-CN" altLang="en-US" sz="2000">
                <a:latin typeface="宋体" panose="02010600030101010101" pitchFamily="2" charset="-122"/>
                <a:sym typeface="+mn-ea"/>
              </a:rPr>
              <a:t>，现在</a:t>
            </a:r>
            <a:r>
              <a:rPr lang="zh-CN" altLang="en-US" sz="2000" b="1">
                <a:solidFill>
                  <a:schemeClr val="tx1"/>
                </a:solidFill>
                <a:latin typeface="宋体" panose="02010600030101010101" pitchFamily="2" charset="-122"/>
                <a:sym typeface="+mn-ea"/>
              </a:rPr>
              <a:t>卖方不仅在车况好时可选择卖高价或低价，在车况差时同样也可以选高、低两种价格</a:t>
            </a:r>
            <a:r>
              <a:rPr lang="zh-CN" altLang="en-US" sz="2000">
                <a:latin typeface="宋体" panose="02010600030101010101" pitchFamily="2" charset="-122"/>
                <a:sym typeface="+mn-ea"/>
              </a:rPr>
              <a:t>；</a:t>
            </a:r>
            <a:r>
              <a:rPr lang="zh-CN" altLang="en-US" sz="2000">
                <a:latin typeface="宋体" panose="02010600030101010101" pitchFamily="2" charset="-122"/>
                <a:sym typeface="+mn-ea"/>
              </a:rPr>
              <a:t>再</a:t>
            </a:r>
            <a:r>
              <a:rPr lang="zh-CN" altLang="en-US" sz="2000" b="1">
                <a:latin typeface="宋体" panose="02010600030101010101" pitchFamily="2" charset="-122"/>
                <a:sym typeface="+mn-ea"/>
              </a:rPr>
              <a:t>假设只有车况差而卖方又想卖高价时才需要对车子进行伪装</a:t>
            </a:r>
            <a:r>
              <a:rPr lang="zh-CN" altLang="en-US" sz="2000">
                <a:latin typeface="宋体" panose="02010600030101010101" pitchFamily="2" charset="-122"/>
                <a:sym typeface="+mn-ea"/>
              </a:rPr>
              <a:t>，从而有费用</a:t>
            </a:r>
            <a:r>
              <a:rPr altLang="zh-CN" sz="2000">
                <a:sym typeface="+mn-ea"/>
              </a:rPr>
              <a:t>C</a:t>
            </a:r>
            <a:r>
              <a:rPr lang="zh-CN" altLang="en-US" sz="2000">
                <a:latin typeface="宋体" panose="02010600030101010101" pitchFamily="2" charset="-122"/>
                <a:sym typeface="+mn-ea"/>
              </a:rPr>
              <a:t>。其他方面与单价模型相同。</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05828" name="对象 205827"/>
          <p:cNvGraphicFramePr/>
          <p:nvPr/>
        </p:nvGraphicFramePr>
        <p:xfrm>
          <a:off x="8472805" y="2781300"/>
          <a:ext cx="863600" cy="358775"/>
        </p:xfrm>
        <a:graphic>
          <a:graphicData uri="http://schemas.openxmlformats.org/presentationml/2006/ole">
            <mc:AlternateContent xmlns:mc="http://schemas.openxmlformats.org/markup-compatibility/2006">
              <mc:Choice xmlns:v="urn:schemas-microsoft-com:vml" Requires="v">
                <p:oleObj spid="_x0000_s3130" name="" r:id="rId7" imgW="431165" imgH="177800" progId="Equation.DSMT4">
                  <p:embed/>
                </p:oleObj>
              </mc:Choice>
              <mc:Fallback>
                <p:oleObj name="" r:id="rId7" imgW="431165" imgH="177800" progId="Equation.DSMT4">
                  <p:embed/>
                  <p:pic>
                    <p:nvPicPr>
                      <p:cNvPr id="0" name="图片 3129"/>
                      <p:cNvPicPr/>
                      <p:nvPr/>
                    </p:nvPicPr>
                    <p:blipFill>
                      <a:blip r:embed="rId8"/>
                      <a:stretch>
                        <a:fillRect/>
                      </a:stretch>
                    </p:blipFill>
                    <p:spPr>
                      <a:xfrm>
                        <a:off x="8472805" y="2781300"/>
                        <a:ext cx="863600" cy="358775"/>
                      </a:xfrm>
                      <a:prstGeom prst="rect">
                        <a:avLst/>
                      </a:prstGeom>
                      <a:solidFill>
                        <a:schemeClr val="bg1">
                          <a:lumMod val="85000"/>
                        </a:schemeClr>
                      </a:solidFill>
                      <a:ln w="38100">
                        <a:noFill/>
                        <a:miter/>
                      </a:ln>
                    </p:spPr>
                  </p:pic>
                </p:oleObj>
              </mc:Fallback>
            </mc:AlternateContent>
          </a:graphicData>
        </a:graphic>
      </p:graphicFrame>
      <p:graphicFrame>
        <p:nvGraphicFramePr>
          <p:cNvPr id="205829" name="对象 205828"/>
          <p:cNvGraphicFramePr/>
          <p:nvPr/>
        </p:nvGraphicFramePr>
        <p:xfrm>
          <a:off x="8472805" y="3488055"/>
          <a:ext cx="909638" cy="366713"/>
        </p:xfrm>
        <a:graphic>
          <a:graphicData uri="http://schemas.openxmlformats.org/presentationml/2006/ole">
            <mc:AlternateContent xmlns:mc="http://schemas.openxmlformats.org/markup-compatibility/2006">
              <mc:Choice xmlns:v="urn:schemas-microsoft-com:vml" Requires="v">
                <p:oleObj spid="_x0000_s3128" name="" r:id="rId9" imgW="444500" imgH="228600" progId="Equation.3">
                  <p:embed/>
                </p:oleObj>
              </mc:Choice>
              <mc:Fallback>
                <p:oleObj name="" r:id="rId9" imgW="444500" imgH="228600" progId="Equation.3">
                  <p:embed/>
                  <p:pic>
                    <p:nvPicPr>
                      <p:cNvPr id="0" name="图片 3127"/>
                      <p:cNvPicPr/>
                      <p:nvPr/>
                    </p:nvPicPr>
                    <p:blipFill>
                      <a:blip r:embed="rId10"/>
                      <a:stretch>
                        <a:fillRect/>
                      </a:stretch>
                    </p:blipFill>
                    <p:spPr>
                      <a:xfrm>
                        <a:off x="8472805" y="3488055"/>
                        <a:ext cx="909638" cy="366713"/>
                      </a:xfrm>
                      <a:prstGeom prst="rect">
                        <a:avLst/>
                      </a:prstGeom>
                      <a:solidFill>
                        <a:schemeClr val="bg1">
                          <a:lumMod val="85000"/>
                        </a:schemeClr>
                      </a:solidFill>
                      <a:ln w="38100">
                        <a:noFill/>
                        <a:miter/>
                      </a:ln>
                    </p:spPr>
                  </p:pic>
                </p:oleObj>
              </mc:Fallback>
            </mc:AlternateContent>
          </a:graphicData>
        </a:graphic>
      </p:graphicFrame>
      <p:graphicFrame>
        <p:nvGraphicFramePr>
          <p:cNvPr id="205830" name="对象 205829"/>
          <p:cNvGraphicFramePr/>
          <p:nvPr/>
        </p:nvGraphicFramePr>
        <p:xfrm>
          <a:off x="8472805" y="4202748"/>
          <a:ext cx="3175000" cy="461962"/>
        </p:xfrm>
        <a:graphic>
          <a:graphicData uri="http://schemas.openxmlformats.org/presentationml/2006/ole">
            <mc:AlternateContent xmlns:mc="http://schemas.openxmlformats.org/markup-compatibility/2006">
              <mc:Choice xmlns:v="urn:schemas-microsoft-com:vml" Requires="v">
                <p:oleObj spid="_x0000_s3126" name="" r:id="rId11" imgW="1739900" imgH="228600" progId="Equation.3">
                  <p:embed/>
                </p:oleObj>
              </mc:Choice>
              <mc:Fallback>
                <p:oleObj name="" r:id="rId11" imgW="1739900" imgH="228600" progId="Equation.3">
                  <p:embed/>
                  <p:pic>
                    <p:nvPicPr>
                      <p:cNvPr id="0" name="图片 3125"/>
                      <p:cNvPicPr/>
                      <p:nvPr/>
                    </p:nvPicPr>
                    <p:blipFill>
                      <a:blip r:embed="rId12"/>
                      <a:stretch>
                        <a:fillRect/>
                      </a:stretch>
                    </p:blipFill>
                    <p:spPr>
                      <a:xfrm>
                        <a:off x="8472805" y="4202748"/>
                        <a:ext cx="3175000" cy="461962"/>
                      </a:xfrm>
                      <a:prstGeom prst="rect">
                        <a:avLst/>
                      </a:prstGeom>
                      <a:solidFill>
                        <a:schemeClr val="bg1">
                          <a:lumMod val="85000"/>
                        </a:schemeClr>
                      </a:solidFill>
                      <a:ln w="38100">
                        <a:noFill/>
                        <a:miter/>
                      </a:ln>
                    </p:spPr>
                  </p:pic>
                </p:oleObj>
              </mc:Fallback>
            </mc:AlternateContent>
          </a:graphicData>
        </a:graphic>
      </p:graphicFrame>
    </p:spTree>
    <p:custDataLst>
      <p:tags r:id="rId13"/>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双价二手车交易博弈</a:t>
            </a:r>
            <a:endParaRPr lang="zh-CN" altLang="en-US" sz="3200" dirty="0">
              <a:solidFill>
                <a:schemeClr val="accent1"/>
              </a:solidFill>
              <a:sym typeface="+mn-ea"/>
            </a:endParaRPr>
          </a:p>
        </p:txBody>
      </p:sp>
      <p:cxnSp>
        <p:nvCxnSpPr>
          <p:cNvPr id="17" name="直接连接符 16"/>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Title 6"/>
              <p:cNvSpPr txBox="1"/>
              <p:nvPr>
                <p:custDataLst>
                  <p:tags r:id="rId3"/>
                </p:custDataLst>
              </p:nvPr>
            </p:nvSpPr>
            <p:spPr>
              <a:xfrm>
                <a:off x="839470" y="548640"/>
                <a:ext cx="11277600" cy="42138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市场完全成功的完美贝叶斯均衡</a:t>
                </a: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条件</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50900" lvl="2" indent="-342900" algn="l" fontAlgn="ctr">
                  <a:lnSpc>
                    <a:spcPct val="130000"/>
                  </a:lnSpc>
                  <a:spcBef>
                    <a:spcPts val="1000"/>
                  </a:spcBef>
                  <a:spcAft>
                    <a:spcPts val="0"/>
                  </a:spcAft>
                  <a:buSzPct val="100000"/>
                  <a:buFont typeface="Wingdings" panose="05000000000000000000" charset="0"/>
                  <a:buChar char="ü"/>
                </a:pPr>
                <a:r>
                  <a:rPr lang="en-US" altLang="zh-CN" sz="2000" i="1" dirty="0">
                    <a:solidFill>
                      <a:schemeClr val="dk1">
                        <a:lumMod val="75000"/>
                        <a:lumOff val="25000"/>
                      </a:schemeClr>
                    </a:solidFill>
                    <a:latin typeface="Times New Roman" panose="02020603050405020304" pitchFamily="18" charset="0"/>
                    <a:cs typeface="Times New Roman" panose="02020603050405020304" pitchFamily="18" charset="0"/>
                    <a:sym typeface="+mn-ea"/>
                  </a:rPr>
                  <a:t>C</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P</a:t>
                </a:r>
                <a:r>
                  <a:rPr lang="en-US" altLang="zh-CN" sz="2000" i="1" baseline="-25000" dirty="0" err="1">
                    <a:latin typeface="Times New Roman" panose="02020603050405020304" pitchFamily="18" charset="0"/>
                    <a:cs typeface="Times New Roman" panose="02020603050405020304" pitchFamily="18" charset="0"/>
                    <a:sym typeface="+mn-ea"/>
                  </a:rPr>
                  <a:t>h</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i="1" baseline="-25000" dirty="0">
                    <a:latin typeface="Times New Roman" panose="02020603050405020304" pitchFamily="18" charset="0"/>
                    <a:cs typeface="Times New Roman" panose="02020603050405020304" pitchFamily="18" charset="0"/>
                    <a:sym typeface="+mn-ea"/>
                  </a:rPr>
                  <a:t>l</a:t>
                </a:r>
                <a:endParaRPr lang="en-US" altLang="zh-CN" sz="2000" i="1" baseline="-25000" dirty="0">
                  <a:latin typeface="Times New Roman" panose="02020603050405020304" pitchFamily="18" charset="0"/>
                  <a:cs typeface="Times New Roman" panose="02020603050405020304" pitchFamily="18" charset="0"/>
                  <a:sym typeface="+mn-ea"/>
                </a:endParaRPr>
              </a:p>
              <a:p>
                <a:pPr marL="742950" lvl="1" indent="-285750" algn="l" fontAlgn="ctr">
                  <a:lnSpc>
                    <a:spcPct val="130000"/>
                  </a:lnSpc>
                  <a:spcBef>
                    <a:spcPts val="1000"/>
                  </a:spcBef>
                  <a:spcAft>
                    <a:spcPts val="0"/>
                  </a:spcAft>
                  <a:buClrTx/>
                  <a:buSzTx/>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完美贝叶斯均衡</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50900" lvl="2" indent="-342900" algn="just" fontAlgn="ctr">
                  <a:lnSpc>
                    <a:spcPct val="150000"/>
                  </a:lnSpc>
                  <a:spcBef>
                    <a:spcPts val="0"/>
                  </a:spcBef>
                  <a:spcAft>
                    <a:spcPts val="0"/>
                  </a:spcAft>
                  <a:buSzPct val="100000"/>
                  <a:buFont typeface="Wingdings" panose="05000000000000000000" charset="0"/>
                  <a:buChar char="ü"/>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卖方在车好时要高价，车差时要低价</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50900" lvl="2" indent="-342900" algn="just" fontAlgn="ctr">
                  <a:lnSpc>
                    <a:spcPct val="150000"/>
                  </a:lnSpc>
                  <a:spcBef>
                    <a:spcPts val="0"/>
                  </a:spcBef>
                  <a:spcAft>
                    <a:spcPts val="0"/>
                  </a:spcAft>
                  <a:buSzPct val="100000"/>
                  <a:buFont typeface="Wingdings" panose="05000000000000000000" charset="0"/>
                  <a:buChar char="ü"/>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买方在卖方要高价、要低价时都买</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50900" lvl="2" indent="-342900" algn="just" fontAlgn="ctr">
                  <a:lnSpc>
                    <a:spcPct val="150000"/>
                  </a:lnSpc>
                  <a:spcBef>
                    <a:spcPts val="0"/>
                  </a:spcBef>
                  <a:spcAft>
                    <a:spcPts val="0"/>
                  </a:spcAft>
                  <a:buSzPct val="100000"/>
                  <a:buFont typeface="Wingdings" panose="05000000000000000000" charset="0"/>
                  <a:buChar char="ü"/>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买方的信念是</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b="0" i="1" smtClean="0">
                            <a:latin typeface="Cambria Math" panose="02040503050406030204" pitchFamily="18" charset="0"/>
                          </a:rPr>
                          <m:t>ℎ</m:t>
                        </m:r>
                      </m:e>
                    </m:d>
                    <m:r>
                      <a:rPr lang="en-US" altLang="zh-CN" sz="2000" i="1">
                        <a:latin typeface="Cambria Math" panose="02040503050406030204" pitchFamily="18" charset="0"/>
                      </a:rPr>
                      <m:t>=</m:t>
                    </m:r>
                    <m:r>
                      <a:rPr lang="en-US" altLang="zh-CN" sz="2000" b="0" i="0" smtClean="0">
                        <a:latin typeface="Cambria Math" panose="02040503050406030204" pitchFamily="18" charset="0"/>
                      </a:rPr>
                      <m:t>1</m:t>
                    </m:r>
                  </m:oMath>
                </a14:m>
                <a:r>
                  <a:rPr lang="zh-CN" altLang="en-US" sz="2000" dirty="0">
                    <a:sym typeface="+mn-ea"/>
                  </a:rPr>
                  <a:t>，</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𝑏</m:t>
                            </m:r>
                          </m:e>
                        </m:d>
                        <m:r>
                          <a:rPr lang="en-US" altLang="zh-CN" sz="2000" b="0" i="1" smtClean="0">
                            <a:latin typeface="Cambria Math" panose="02040503050406030204" pitchFamily="18" charset="0"/>
                          </a:rPr>
                          <m:t>ℎ</m:t>
                        </m:r>
                      </m:e>
                    </m:d>
                    <m:r>
                      <a:rPr lang="en-US" altLang="zh-CN" sz="2000" i="1">
                        <a:latin typeface="Cambria Math" panose="02040503050406030204" pitchFamily="18" charset="0"/>
                      </a:rPr>
                      <m:t>=</m:t>
                    </m:r>
                    <m:r>
                      <a:rPr lang="en-US" altLang="zh-CN" sz="2000" b="0" i="0" smtClean="0">
                        <a:latin typeface="Cambria Math" panose="02040503050406030204" pitchFamily="18" charset="0"/>
                      </a:rPr>
                      <m:t>0</m:t>
                    </m:r>
                    <m:r>
                      <a:rPr lang="zh-CN" altLang="en-US" sz="2000" dirty="0">
                        <a:latin typeface="Cambria Math" panose="02040503050406030204" pitchFamily="18" charset="0"/>
                        <a:sym typeface="+mn-ea"/>
                      </a:rPr>
                      <m:t>，</m:t>
                    </m:r>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b="0" i="1" smtClean="0">
                            <a:latin typeface="Cambria Math" panose="02040503050406030204" pitchFamily="18" charset="0"/>
                          </a:rPr>
                          <m:t>𝑙</m:t>
                        </m:r>
                      </m:e>
                    </m:d>
                    <m:r>
                      <a:rPr lang="en-US" altLang="zh-CN" sz="2000" i="1">
                        <a:latin typeface="Cambria Math" panose="02040503050406030204" pitchFamily="18" charset="0"/>
                      </a:rPr>
                      <m:t>=</m:t>
                    </m:r>
                    <m:r>
                      <a:rPr lang="en-US" altLang="zh-CN" sz="2000" b="0" i="1" smtClean="0">
                        <a:latin typeface="Cambria Math" panose="02040503050406030204" pitchFamily="18" charset="0"/>
                      </a:rPr>
                      <m:t>0</m:t>
                    </m:r>
                    <m:r>
                      <a:rPr lang="zh-CN" altLang="en-US" sz="2000" dirty="0">
                        <a:latin typeface="Cambria Math" panose="02040503050406030204" pitchFamily="18" charset="0"/>
                        <a:sym typeface="+mn-ea"/>
                      </a:rPr>
                      <m:t>，</m:t>
                    </m:r>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𝑏</m:t>
                            </m:r>
                          </m:e>
                        </m:d>
                        <m:r>
                          <a:rPr lang="en-US" altLang="zh-CN" sz="2000" b="0" i="1" smtClean="0">
                            <a:latin typeface="Cambria Math" panose="02040503050406030204" pitchFamily="18" charset="0"/>
                          </a:rPr>
                          <m:t>𝑙</m:t>
                        </m:r>
                      </m:e>
                    </m:d>
                    <m:r>
                      <a:rPr lang="en-US" altLang="zh-CN" sz="2000" i="1">
                        <a:latin typeface="Cambria Math" panose="02040503050406030204" pitchFamily="18" charset="0"/>
                      </a:rPr>
                      <m:t>=</m:t>
                    </m:r>
                    <m:r>
                      <a:rPr lang="en-US" altLang="zh-CN" sz="2000" b="0" i="1" smtClean="0">
                        <a:latin typeface="Cambria Math" panose="02040503050406030204" pitchFamily="18" charset="0"/>
                      </a:rPr>
                      <m:t>1</m:t>
                    </m:r>
                    <m:r>
                      <a:rPr lang="zh-CN" altLang="en-US" sz="2000" i="1">
                        <a:latin typeface="Cambria Math" panose="02040503050406030204" pitchFamily="18" charset="0"/>
                      </a:rPr>
                      <m:t>。</m:t>
                    </m:r>
                  </m:oMath>
                </a14:m>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8" name="Title 6"/>
              <p:cNvSpPr txBox="1">
                <a:spLocks noRot="1" noChangeAspect="1" noMove="1" noResize="1" noEditPoints="1" noAdjustHandles="1" noChangeArrowheads="1" noChangeShapeType="1" noTextEdit="1"/>
              </p:cNvSpPr>
              <p:nvPr>
                <p:custDataLst>
                  <p:tags r:id="rId4"/>
                </p:custDataLst>
              </p:nvPr>
            </p:nvSpPr>
            <p:spPr>
              <a:xfrm>
                <a:off x="839470" y="548640"/>
                <a:ext cx="11277600" cy="4213860"/>
              </a:xfrm>
              <a:prstGeom prst="rect">
                <a:avLst/>
              </a:prstGeom>
              <a:blipFill rotWithShape="1">
                <a:blip r:embed="rId5"/>
                <a:stretch>
                  <a:fillRect/>
                </a:stretch>
              </a:blipFill>
              <a:ln w="3175">
                <a:noFill/>
                <a:prstDash val="dash"/>
              </a:ln>
            </p:spPr>
            <p:txBody>
              <a:bodyPr/>
              <a:lstStyle/>
              <a:p>
                <a:r>
                  <a:rPr lang="zh-CN" altLang="en-US">
                    <a:noFill/>
                  </a:rPr>
                  <a:t> </a:t>
                </a:r>
              </a:p>
            </p:txBody>
          </p:sp>
        </mc:Fallback>
      </mc:AlternateContent>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双价二手车交易博弈</a:t>
            </a:r>
            <a:endParaRPr lang="zh-CN" altLang="en-US" sz="3200" dirty="0">
              <a:solidFill>
                <a:schemeClr val="accent1"/>
              </a:solidFill>
              <a:sym typeface="+mn-ea"/>
            </a:endParaRPr>
          </a:p>
        </p:txBody>
      </p:sp>
      <p:cxnSp>
        <p:nvCxnSpPr>
          <p:cNvPr id="17" name="直接连接符 16"/>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8" name="Title 6"/>
          <p:cNvSpPr txBox="1"/>
          <p:nvPr>
            <p:custDataLst>
              <p:tags r:id="rId3"/>
            </p:custDataLst>
          </p:nvPr>
        </p:nvSpPr>
        <p:spPr>
          <a:xfrm>
            <a:off x="762000" y="620395"/>
            <a:ext cx="11277600" cy="47650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市场完全成功的完美贝叶斯均衡（证明）</a:t>
            </a: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50900" lvl="2" indent="-342900" algn="l" fontAlgn="ctr">
              <a:lnSpc>
                <a:spcPct val="130000"/>
              </a:lnSpc>
              <a:spcBef>
                <a:spcPts val="1000"/>
              </a:spcBef>
              <a:spcAft>
                <a:spcPts val="0"/>
              </a:spcAft>
              <a:buSzPct val="100000"/>
              <a:buFont typeface="Wingdings" panose="05000000000000000000" charset="0"/>
              <a:buChar char="ü"/>
            </a:pPr>
            <a:r>
              <a:rPr lang="zh-CN" altLang="en-US" sz="2000" dirty="0">
                <a:latin typeface="Times New Roman" panose="02020603050405020304" pitchFamily="18" charset="0"/>
                <a:cs typeface="Times New Roman" panose="02020603050405020304" pitchFamily="18" charset="0"/>
                <a:sym typeface="+mn-ea"/>
              </a:rPr>
              <a:t>如果卖方要高价，买的期望得益为：</a:t>
            </a:r>
            <a:r>
              <a:rPr lang="en-US" altLang="zh-CN" sz="2000" i="1" dirty="0">
                <a:latin typeface="Times New Roman" panose="02020603050405020304" pitchFamily="18" charset="0"/>
                <a:cs typeface="Times New Roman" panose="02020603050405020304" pitchFamily="18" charset="0"/>
                <a:sym typeface="+mn-ea"/>
              </a:rPr>
              <a:t>p</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g</a:t>
            </a:r>
            <a:r>
              <a:rPr lang="en-US" altLang="zh-CN" sz="2000" dirty="0" err="1">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h</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V</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P</a:t>
            </a:r>
            <a:r>
              <a:rPr lang="en-US" altLang="zh-CN" sz="2000" i="1" baseline="-25000" dirty="0" err="1">
                <a:latin typeface="Times New Roman" panose="02020603050405020304" pitchFamily="18" charset="0"/>
                <a:cs typeface="Times New Roman" panose="02020603050405020304" pitchFamily="18" charset="0"/>
                <a:sym typeface="+mn-ea"/>
              </a:rPr>
              <a:t>h</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b</a:t>
            </a:r>
            <a:r>
              <a:rPr lang="en-US" altLang="zh-CN" sz="2000" dirty="0" err="1">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h</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W</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P</a:t>
            </a:r>
            <a:r>
              <a:rPr lang="en-US" altLang="zh-CN" sz="2000" i="1" baseline="-25000" dirty="0" err="1">
                <a:latin typeface="Times New Roman" panose="02020603050405020304" pitchFamily="18" charset="0"/>
                <a:cs typeface="Times New Roman" panose="02020603050405020304" pitchFamily="18" charset="0"/>
                <a:sym typeface="+mn-ea"/>
              </a:rPr>
              <a:t>h</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V</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P</a:t>
            </a:r>
            <a:r>
              <a:rPr lang="en-US" altLang="zh-CN" sz="2000" i="1" baseline="-25000" dirty="0" err="1">
                <a:latin typeface="Times New Roman" panose="02020603050405020304" pitchFamily="18" charset="0"/>
                <a:cs typeface="Times New Roman" panose="02020603050405020304" pitchFamily="18" charset="0"/>
                <a:sym typeface="+mn-ea"/>
              </a:rPr>
              <a:t>h</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0</a:t>
            </a:r>
            <a:endParaRPr lang="en-US" altLang="zh-CN" sz="2000" dirty="0">
              <a:latin typeface="Times New Roman" panose="02020603050405020304" pitchFamily="18" charset="0"/>
              <a:cs typeface="Times New Roman" panose="02020603050405020304" pitchFamily="18" charset="0"/>
              <a:sym typeface="+mn-ea"/>
            </a:endParaRPr>
          </a:p>
          <a:p>
            <a:pPr marL="850900" lvl="2" indent="-342900" algn="l" fontAlgn="ctr">
              <a:lnSpc>
                <a:spcPct val="130000"/>
              </a:lnSpc>
              <a:spcBef>
                <a:spcPts val="1000"/>
              </a:spcBef>
              <a:spcAft>
                <a:spcPts val="0"/>
              </a:spcAft>
              <a:buSzPct val="100000"/>
              <a:buFont typeface="Wingdings" panose="05000000000000000000" charset="0"/>
              <a:buChar char="ü"/>
            </a:pPr>
            <a:r>
              <a:rPr lang="zh-CN" altLang="en-US" sz="2000" dirty="0">
                <a:latin typeface="Times New Roman" panose="02020603050405020304" pitchFamily="18" charset="0"/>
                <a:cs typeface="Times New Roman" panose="02020603050405020304" pitchFamily="18" charset="0"/>
                <a:sym typeface="+mn-ea"/>
              </a:rPr>
              <a:t>如果卖方要低价，买的期望得益为：</a:t>
            </a:r>
            <a:r>
              <a:rPr lang="en-US" altLang="zh-CN" sz="2000" i="1" dirty="0">
                <a:latin typeface="Times New Roman" panose="02020603050405020304" pitchFamily="18" charset="0"/>
                <a:cs typeface="Times New Roman" panose="02020603050405020304" pitchFamily="18" charset="0"/>
                <a:sym typeface="+mn-ea"/>
              </a:rPr>
              <a:t>p</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g</a:t>
            </a:r>
            <a:r>
              <a:rPr lang="en-US" altLang="zh-CN" sz="2000" dirty="0" err="1">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l</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V</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i="1" baseline="-25000" dirty="0">
                <a:latin typeface="Times New Roman" panose="02020603050405020304" pitchFamily="18" charset="0"/>
                <a:cs typeface="Times New Roman" panose="02020603050405020304" pitchFamily="18" charset="0"/>
                <a:sym typeface="+mn-ea"/>
              </a:rPr>
              <a:t>l</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b</a:t>
            </a:r>
            <a:r>
              <a:rPr lang="en-US" altLang="zh-CN" sz="2000" dirty="0" err="1">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l</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W</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i="1" baseline="-25000" dirty="0">
                <a:latin typeface="Times New Roman" panose="02020603050405020304" pitchFamily="18" charset="0"/>
                <a:cs typeface="Times New Roman" panose="02020603050405020304" pitchFamily="18" charset="0"/>
                <a:sym typeface="+mn-ea"/>
              </a:rPr>
              <a:t>l</a:t>
            </a:r>
            <a:r>
              <a:rPr lang="en-US" altLang="zh-CN"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W</a:t>
            </a:r>
            <a:r>
              <a:rPr lang="zh-CN" altLang="en-US" sz="2000"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i="1" baseline="-25000" dirty="0">
                <a:latin typeface="Times New Roman" panose="02020603050405020304" pitchFamily="18" charset="0"/>
                <a:cs typeface="Times New Roman" panose="02020603050405020304" pitchFamily="18" charset="0"/>
                <a:sym typeface="+mn-ea"/>
              </a:rPr>
              <a:t>l</a:t>
            </a:r>
            <a:r>
              <a:rPr lang="zh-CN" altLang="en-US" sz="2000" dirty="0">
                <a:latin typeface="Times New Roman" panose="02020603050405020304" pitchFamily="18" charset="0"/>
                <a:cs typeface="Times New Roman" panose="02020603050405020304" pitchFamily="18" charset="0"/>
                <a:sym typeface="+mn-ea"/>
              </a:rPr>
              <a:t>＞</a:t>
            </a:r>
            <a:r>
              <a:rPr lang="en-US" altLang="zh-CN" sz="2000" dirty="0">
                <a:latin typeface="Times New Roman" panose="02020603050405020304" pitchFamily="18" charset="0"/>
                <a:cs typeface="Times New Roman" panose="02020603050405020304" pitchFamily="18" charset="0"/>
                <a:sym typeface="+mn-ea"/>
              </a:rPr>
              <a:t>0</a:t>
            </a:r>
            <a:endParaRPr lang="en-US" altLang="zh-CN" sz="2000" dirty="0">
              <a:latin typeface="Times New Roman" panose="02020603050405020304" pitchFamily="18" charset="0"/>
              <a:cs typeface="Times New Roman" panose="02020603050405020304" pitchFamily="18" charset="0"/>
              <a:sym typeface="+mn-ea"/>
            </a:endParaRPr>
          </a:p>
          <a:p>
            <a:pPr marL="850900" lvl="2" indent="-342900" algn="l" fontAlgn="ctr">
              <a:lnSpc>
                <a:spcPct val="130000"/>
              </a:lnSpc>
              <a:spcBef>
                <a:spcPts val="1000"/>
              </a:spcBef>
              <a:spcAft>
                <a:spcPts val="0"/>
              </a:spcAft>
              <a:buSzPct val="100000"/>
              <a:buFont typeface="Wingdings" panose="05000000000000000000" charset="0"/>
              <a:buChar char="ü"/>
            </a:pPr>
            <a:r>
              <a:rPr lang="zh-CN" altLang="en-US" sz="2000" dirty="0">
                <a:latin typeface="Times New Roman" panose="02020603050405020304" pitchFamily="18" charset="0"/>
                <a:cs typeface="Times New Roman" panose="02020603050405020304" pitchFamily="18" charset="0"/>
                <a:sym typeface="+mn-ea"/>
              </a:rPr>
              <a:t>两种情况下不买的得益都是</a:t>
            </a:r>
            <a:r>
              <a:rPr lang="en-US" altLang="zh-CN" sz="2000" dirty="0">
                <a:latin typeface="Times New Roman" panose="02020603050405020304" pitchFamily="18" charset="0"/>
                <a:cs typeface="Times New Roman" panose="02020603050405020304" pitchFamily="18" charset="0"/>
                <a:sym typeface="+mn-ea"/>
              </a:rPr>
              <a:t>0</a:t>
            </a:r>
            <a:r>
              <a:rPr lang="zh-CN" altLang="en-US" sz="2000" dirty="0">
                <a:latin typeface="Times New Roman" panose="02020603050405020304" pitchFamily="18" charset="0"/>
                <a:cs typeface="Times New Roman" panose="02020603050405020304" pitchFamily="18" charset="0"/>
                <a:sym typeface="+mn-ea"/>
              </a:rPr>
              <a:t>，因此买是相对于不买的绝对上策。</a:t>
            </a:r>
            <a:endParaRPr lang="zh-CN" altLang="en-US" sz="2000" dirty="0">
              <a:latin typeface="Times New Roman" panose="02020603050405020304" pitchFamily="18" charset="0"/>
              <a:cs typeface="Times New Roman" panose="02020603050405020304" pitchFamily="18" charset="0"/>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b="1" dirty="0">
                <a:solidFill>
                  <a:schemeClr val="tx1"/>
                </a:solidFill>
                <a:latin typeface="Times New Roman" panose="02020603050405020304" pitchFamily="18" charset="0"/>
                <a:cs typeface="Times New Roman" panose="02020603050405020304" pitchFamily="18" charset="0"/>
                <a:sym typeface="+mn-ea"/>
              </a:rPr>
              <a:t>卖方：</a:t>
            </a:r>
            <a:endParaRPr lang="zh-CN" altLang="en-US" sz="2000" b="1" dirty="0">
              <a:solidFill>
                <a:schemeClr val="tx1"/>
              </a:solidFill>
              <a:latin typeface="Times New Roman" panose="02020603050405020304" pitchFamily="18" charset="0"/>
              <a:cs typeface="Times New Roman" panose="02020603050405020304" pitchFamily="18" charset="0"/>
              <a:sym typeface="+mn-ea"/>
            </a:endParaRPr>
          </a:p>
          <a:p>
            <a:pPr marL="850900" lvl="2" indent="-342900" algn="l" fontAlgn="ctr">
              <a:lnSpc>
                <a:spcPct val="130000"/>
              </a:lnSpc>
              <a:spcBef>
                <a:spcPts val="1000"/>
              </a:spcBef>
              <a:spcAft>
                <a:spcPts val="0"/>
              </a:spcAft>
              <a:buSzPct val="100000"/>
              <a:buFont typeface="Wingdings" panose="05000000000000000000" charset="0"/>
              <a:buChar char="ü"/>
            </a:pPr>
            <a:r>
              <a:rPr lang="zh-CN" altLang="en-US" sz="2000" dirty="0">
                <a:solidFill>
                  <a:schemeClr val="tx1"/>
                </a:solidFill>
                <a:latin typeface="Times New Roman" panose="02020603050405020304" pitchFamily="18" charset="0"/>
                <a:cs typeface="Times New Roman" panose="02020603050405020304" pitchFamily="18" charset="0"/>
                <a:sym typeface="+mn-ea"/>
              </a:rPr>
              <a:t>给定买方的的策略，车好时，</a:t>
            </a:r>
            <a:r>
              <a:rPr lang="en-US" altLang="zh-CN" sz="2000" i="1" dirty="0" err="1">
                <a:latin typeface="Times New Roman" panose="02020603050405020304" pitchFamily="18" charset="0"/>
                <a:cs typeface="Times New Roman" panose="02020603050405020304" pitchFamily="18" charset="0"/>
                <a:sym typeface="+mn-ea"/>
              </a:rPr>
              <a:t>P</a:t>
            </a:r>
            <a:r>
              <a:rPr lang="en-US" altLang="zh-CN" sz="2000" i="1" baseline="-25000" dirty="0" err="1">
                <a:latin typeface="Times New Roman" panose="02020603050405020304" pitchFamily="18" charset="0"/>
                <a:cs typeface="Times New Roman" panose="02020603050405020304" pitchFamily="18" charset="0"/>
                <a:sym typeface="+mn-ea"/>
              </a:rPr>
              <a:t>h</a:t>
            </a:r>
            <a:r>
              <a:rPr lang="zh-CN" altLang="en-US" sz="2000" i="1" dirty="0" err="1">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P</a:t>
            </a:r>
            <a:r>
              <a:rPr lang="en-US" altLang="zh-CN" sz="2000" i="1" baseline="-25000" dirty="0">
                <a:latin typeface="Times New Roman" panose="02020603050405020304" pitchFamily="18" charset="0"/>
                <a:cs typeface="Times New Roman" panose="02020603050405020304" pitchFamily="18" charset="0"/>
                <a:sym typeface="+mn-ea"/>
              </a:rPr>
              <a:t>l</a:t>
            </a:r>
            <a:r>
              <a:rPr lang="zh-CN" altLang="en-US" sz="2000" dirty="0">
                <a:latin typeface="Times New Roman" panose="02020603050405020304" pitchFamily="18" charset="0"/>
                <a:cs typeface="Times New Roman" panose="02020603050405020304" pitchFamily="18" charset="0"/>
                <a:sym typeface="+mn-ea"/>
              </a:rPr>
              <a:t>，要高价；车差时，</a:t>
            </a:r>
            <a:r>
              <a:rPr lang="en-US" altLang="zh-CN" sz="2000" i="1" dirty="0">
                <a:latin typeface="Times New Roman" panose="02020603050405020304" pitchFamily="18" charset="0"/>
                <a:cs typeface="Times New Roman" panose="02020603050405020304" pitchFamily="18" charset="0"/>
                <a:sym typeface="+mn-ea"/>
              </a:rPr>
              <a:t>P</a:t>
            </a:r>
            <a:r>
              <a:rPr lang="en-US" altLang="zh-CN" sz="2000" i="1" baseline="-25000" dirty="0">
                <a:latin typeface="Times New Roman" panose="02020603050405020304" pitchFamily="18" charset="0"/>
                <a:cs typeface="Times New Roman" panose="02020603050405020304" pitchFamily="18" charset="0"/>
                <a:sym typeface="+mn-ea"/>
              </a:rPr>
              <a:t>l</a:t>
            </a:r>
            <a:r>
              <a:rPr lang="zh-CN" altLang="en-US" sz="2000" i="1" dirty="0">
                <a:latin typeface="Times New Roman" panose="02020603050405020304" pitchFamily="18" charset="0"/>
                <a:cs typeface="Times New Roman" panose="02020603050405020304" pitchFamily="18" charset="0"/>
                <a:sym typeface="+mn-ea"/>
              </a:rPr>
              <a:t>＞</a:t>
            </a:r>
            <a:r>
              <a:rPr lang="en-US" altLang="zh-CN" sz="2000" i="1" dirty="0">
                <a:latin typeface="Times New Roman" panose="02020603050405020304" pitchFamily="18" charset="0"/>
                <a:cs typeface="Times New Roman" panose="02020603050405020304" pitchFamily="18" charset="0"/>
                <a:sym typeface="+mn-ea"/>
              </a:rPr>
              <a:t>0</a:t>
            </a:r>
            <a:r>
              <a:rPr lang="zh-CN" altLang="en-US" sz="2000" i="1" dirty="0">
                <a:latin typeface="Times New Roman" panose="02020603050405020304" pitchFamily="18" charset="0"/>
                <a:cs typeface="Times New Roman" panose="02020603050405020304" pitchFamily="18" charset="0"/>
                <a:sym typeface="+mn-ea"/>
              </a:rPr>
              <a:t>＞</a:t>
            </a:r>
            <a:r>
              <a:rPr lang="en-US" altLang="zh-CN" sz="2000" i="1" dirty="0" err="1">
                <a:latin typeface="Times New Roman" panose="02020603050405020304" pitchFamily="18" charset="0"/>
                <a:cs typeface="Times New Roman" panose="02020603050405020304" pitchFamily="18" charset="0"/>
                <a:sym typeface="+mn-ea"/>
              </a:rPr>
              <a:t>P</a:t>
            </a:r>
            <a:r>
              <a:rPr lang="en-US" altLang="zh-CN" sz="2000" i="1" baseline="-25000" dirty="0" err="1">
                <a:latin typeface="Times New Roman" panose="02020603050405020304" pitchFamily="18" charset="0"/>
                <a:cs typeface="Times New Roman" panose="02020603050405020304" pitchFamily="18" charset="0"/>
                <a:sym typeface="+mn-ea"/>
              </a:rPr>
              <a:t>h</a:t>
            </a:r>
            <a:r>
              <a:rPr lang="en-US" altLang="zh-CN" sz="2000" i="1" dirty="0" err="1">
                <a:latin typeface="Times New Roman" panose="02020603050405020304" pitchFamily="18" charset="0"/>
                <a:cs typeface="Times New Roman" panose="02020603050405020304" pitchFamily="18" charset="0"/>
                <a:sym typeface="+mn-ea"/>
              </a:rPr>
              <a:t>-C</a:t>
            </a:r>
            <a:r>
              <a:rPr lang="zh-CN" altLang="en-US" sz="2000" dirty="0" err="1">
                <a:latin typeface="Times New Roman" panose="02020603050405020304" pitchFamily="18" charset="0"/>
                <a:cs typeface="Times New Roman" panose="02020603050405020304" pitchFamily="18" charset="0"/>
                <a:sym typeface="+mn-ea"/>
              </a:rPr>
              <a:t>，要低价。即车好卖高价，车差卖低价，是唯一的序列理性策略。</a:t>
            </a:r>
            <a:endParaRPr lang="zh-CN" altLang="en-US" sz="2000" dirty="0" err="1">
              <a:solidFill>
                <a:schemeClr val="tx1"/>
              </a:solidFill>
              <a:latin typeface="Times New Roman" panose="02020603050405020304" pitchFamily="18" charset="0"/>
              <a:cs typeface="Times New Roman" panose="02020603050405020304" pitchFamily="18" charset="0"/>
              <a:sym typeface="+mn-ea"/>
            </a:endParaRPr>
          </a:p>
        </p:txBody>
      </p:sp>
      <p:pic>
        <p:nvPicPr>
          <p:cNvPr id="6"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文本框 6"/>
          <p:cNvSpPr txBox="1"/>
          <p:nvPr>
            <p:custDataLst>
              <p:tags r:id="rId1"/>
            </p:custDataLst>
          </p:nvPr>
        </p:nvSpPr>
        <p:spPr>
          <a:xfrm>
            <a:off x="767721" y="152402"/>
            <a:ext cx="10972888"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双价二手车交易博弈</a:t>
            </a:r>
            <a:endParaRPr lang="zh-CN" altLang="en-US" sz="3200" dirty="0">
              <a:solidFill>
                <a:schemeClr val="accent1"/>
              </a:solidFill>
              <a:sym typeface="+mn-ea"/>
            </a:endParaRPr>
          </a:p>
        </p:txBody>
      </p:sp>
      <p:sp>
        <p:nvSpPr>
          <p:cNvPr id="12" name="矩形 11"/>
          <p:cNvSpPr/>
          <p:nvPr userDrawn="1">
            <p:custDataLst>
              <p:tags r:id="rId2"/>
            </p:custDataLst>
          </p:nvPr>
        </p:nvSpPr>
        <p:spPr>
          <a:xfrm>
            <a:off x="457200" y="1002665"/>
            <a:ext cx="11277600" cy="5220970"/>
          </a:xfrm>
          <a:prstGeom prst="rect">
            <a:avLst/>
          </a:prstGeom>
          <a:solidFill>
            <a:schemeClr val="dk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chemeClr val="lt1"/>
              </a:solidFill>
              <a:latin typeface="微软雅黑" panose="020B0503020204020204" pitchFamily="34" charset="-122"/>
              <a:ea typeface="微软雅黑" panose="020B0503020204020204" pitchFamily="34" charset="-122"/>
              <a:sym typeface="+mn-ea"/>
            </a:endParaRPr>
          </a:p>
        </p:txBody>
      </p:sp>
      <p:sp>
        <p:nvSpPr>
          <p:cNvPr id="15" name="Title 6"/>
          <p:cNvSpPr txBox="1"/>
          <p:nvPr>
            <p:custDataLst>
              <p:tags r:id="rId3"/>
            </p:custDataLst>
          </p:nvPr>
        </p:nvSpPr>
        <p:spPr>
          <a:xfrm>
            <a:off x="1887220" y="1413510"/>
            <a:ext cx="8989695" cy="4413885"/>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市场部分成功</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altLang="zh-CN" sz="2000" i="1">
                <a:solidFill>
                  <a:schemeClr val="dk1">
                    <a:lumMod val="75000"/>
                    <a:lumOff val="25000"/>
                  </a:schemeClr>
                </a:solidFill>
                <a:latin typeface="Times New Roman" panose="02020603050405020304" pitchFamily="18" charset="0"/>
                <a:sym typeface="+mn-ea"/>
              </a:rPr>
              <a:t>C</a:t>
            </a:r>
            <a:r>
              <a:rPr altLang="zh-CN" sz="2000">
                <a:latin typeface="Times New Roman" panose="02020603050405020304" pitchFamily="18" charset="0"/>
                <a:sym typeface="+mn-ea"/>
              </a:rPr>
              <a:t>&lt;</a:t>
            </a:r>
            <a:r>
              <a:rPr altLang="zh-CN" sz="2000" i="1" dirty="0" err="1">
                <a:latin typeface="Times New Roman" panose="02020603050405020304" pitchFamily="18" charset="0"/>
                <a:sym typeface="+mn-ea"/>
              </a:rPr>
              <a:t>P</a:t>
            </a:r>
            <a:r>
              <a:rPr altLang="zh-CN" sz="2000" i="1" baseline="-25000" dirty="0" err="1">
                <a:latin typeface="Times New Roman" panose="02020603050405020304" pitchFamily="18" charset="0"/>
                <a:sym typeface="+mn-ea"/>
              </a:rPr>
              <a:t>h</a:t>
            </a:r>
            <a:r>
              <a:rPr lang="zh-CN" altLang="en-US" sz="2000">
                <a:latin typeface="Times New Roman" panose="02020603050405020304" pitchFamily="18" charset="0"/>
                <a:sym typeface="+mn-ea"/>
              </a:rPr>
              <a:t>－</a:t>
            </a:r>
            <a:r>
              <a:rPr altLang="zh-CN" sz="2000" i="1">
                <a:latin typeface="Times New Roman" panose="02020603050405020304" pitchFamily="18" charset="0"/>
                <a:sym typeface="+mn-ea"/>
              </a:rPr>
              <a:t>P</a:t>
            </a:r>
            <a:r>
              <a:rPr altLang="zh-CN" sz="2000" i="1" baseline="-25000">
                <a:latin typeface="Times New Roman" panose="02020603050405020304" pitchFamily="18" charset="0"/>
                <a:sym typeface="+mn-ea"/>
              </a:rPr>
              <a:t>l</a:t>
            </a:r>
            <a:r>
              <a:rPr lang="zh-CN" altLang="en-US" sz="2000">
                <a:latin typeface="Times New Roman" panose="02020603050405020304" pitchFamily="18" charset="0"/>
                <a:sym typeface="+mn-ea"/>
              </a:rPr>
              <a:t>，</a:t>
            </a:r>
            <a:r>
              <a:rPr altLang="zh-CN" sz="2000" i="1" dirty="0" err="1">
                <a:latin typeface="Times New Roman" panose="02020603050405020304" pitchFamily="18" charset="0"/>
                <a:sym typeface="+mn-ea"/>
              </a:rPr>
              <a:t>p</a:t>
            </a:r>
            <a:r>
              <a:rPr altLang="zh-CN" sz="2000" i="1" baseline="-25000" dirty="0" err="1">
                <a:latin typeface="Times New Roman" panose="02020603050405020304" pitchFamily="18" charset="0"/>
                <a:sym typeface="+mn-ea"/>
              </a:rPr>
              <a:t>g</a:t>
            </a:r>
            <a:r>
              <a:rPr lang="zh-CN" altLang="en-US" sz="2000">
                <a:latin typeface="Times New Roman" panose="02020603050405020304" pitchFamily="18" charset="0"/>
                <a:sym typeface="+mn-ea"/>
              </a:rPr>
              <a:t>（</a:t>
            </a:r>
            <a:r>
              <a:rPr altLang="zh-CN" sz="2000" i="1">
                <a:latin typeface="Times New Roman" panose="02020603050405020304" pitchFamily="18" charset="0"/>
                <a:sym typeface="+mn-ea"/>
              </a:rPr>
              <a:t>V</a:t>
            </a:r>
            <a:r>
              <a:rPr lang="zh-CN" altLang="zh-CN" sz="2000">
                <a:latin typeface="Times New Roman" panose="02020603050405020304" pitchFamily="18" charset="0"/>
                <a:sym typeface="+mn-ea"/>
              </a:rPr>
              <a:t>－</a:t>
            </a:r>
            <a:r>
              <a:rPr lang="zh-CN" altLang="en-US" sz="2000" i="1">
                <a:latin typeface="Times New Roman" panose="02020603050405020304" pitchFamily="18" charset="0"/>
                <a:sym typeface="+mn-ea"/>
              </a:rPr>
              <a:t>P</a:t>
            </a:r>
            <a:r>
              <a:rPr altLang="zh-CN" sz="2000" i="1" baseline="-25000">
                <a:latin typeface="Times New Roman" panose="02020603050405020304" pitchFamily="18" charset="0"/>
                <a:sym typeface="+mn-ea"/>
              </a:rPr>
              <a:t>h</a:t>
            </a:r>
            <a:r>
              <a:rPr lang="zh-CN" altLang="en-US" sz="2000">
                <a:latin typeface="Times New Roman" panose="02020603050405020304" pitchFamily="18" charset="0"/>
                <a:sym typeface="+mn-ea"/>
              </a:rPr>
              <a:t>）＋</a:t>
            </a:r>
            <a:r>
              <a:rPr altLang="zh-CN" sz="2000" i="1" dirty="0" err="1">
                <a:latin typeface="Times New Roman" panose="02020603050405020304" pitchFamily="18" charset="0"/>
                <a:sym typeface="+mn-ea"/>
              </a:rPr>
              <a:t>p</a:t>
            </a:r>
            <a:r>
              <a:rPr altLang="zh-CN" sz="2000" i="1" baseline="-25000" dirty="0" err="1">
                <a:latin typeface="Times New Roman" panose="02020603050405020304" pitchFamily="18" charset="0"/>
                <a:sym typeface="+mn-ea"/>
              </a:rPr>
              <a:t>b</a:t>
            </a:r>
            <a:r>
              <a:rPr lang="zh-CN" altLang="en-US" sz="2000">
                <a:latin typeface="Times New Roman" panose="02020603050405020304" pitchFamily="18" charset="0"/>
                <a:sym typeface="+mn-ea"/>
              </a:rPr>
              <a:t>（</a:t>
            </a:r>
            <a:r>
              <a:rPr altLang="zh-CN" sz="2000" i="1">
                <a:latin typeface="Times New Roman" panose="02020603050405020304" pitchFamily="18" charset="0"/>
                <a:sym typeface="+mn-ea"/>
              </a:rPr>
              <a:t>W</a:t>
            </a:r>
            <a:r>
              <a:rPr lang="zh-CN" altLang="zh-CN" sz="2000">
                <a:latin typeface="Times New Roman" panose="02020603050405020304" pitchFamily="18" charset="0"/>
                <a:sym typeface="+mn-ea"/>
              </a:rPr>
              <a:t>－</a:t>
            </a:r>
            <a:r>
              <a:rPr lang="zh-CN" altLang="en-US" sz="2000" i="1">
                <a:latin typeface="Times New Roman" panose="02020603050405020304" pitchFamily="18" charset="0"/>
                <a:sym typeface="+mn-ea"/>
              </a:rPr>
              <a:t>P</a:t>
            </a:r>
            <a:r>
              <a:rPr altLang="zh-CN" sz="2000" i="1" baseline="-25000">
                <a:latin typeface="Times New Roman" panose="02020603050405020304" pitchFamily="18" charset="0"/>
                <a:sym typeface="+mn-ea"/>
              </a:rPr>
              <a:t>h</a:t>
            </a:r>
            <a:r>
              <a:rPr lang="zh-CN" altLang="en-US" sz="2000">
                <a:latin typeface="Times New Roman" panose="02020603050405020304" pitchFamily="18" charset="0"/>
                <a:sym typeface="+mn-ea"/>
              </a:rPr>
              <a:t>）</a:t>
            </a:r>
            <a:r>
              <a:rPr altLang="zh-CN" sz="2000">
                <a:latin typeface="Times New Roman" panose="02020603050405020304" pitchFamily="18" charset="0"/>
                <a:sym typeface="+mn-ea"/>
              </a:rPr>
              <a:t>&gt;0</a:t>
            </a:r>
            <a:endParaRPr altLang="zh-CN" sz="2000">
              <a:latin typeface="Times New Roman" panose="02020603050405020304" pitchFamily="18" charset="0"/>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sz="2000">
                <a:latin typeface="Times New Roman" panose="02020603050405020304" pitchFamily="18" charset="0"/>
                <a:sym typeface="+mn-ea"/>
              </a:rPr>
              <a:t>买方还是愿意买一些，只不过优劣混淆。</a:t>
            </a:r>
            <a:endParaRPr lang="en-US" altLang="zh-CN" sz="2000" dirty="0">
              <a:latin typeface="Times New Roman" panose="020206030504050203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市场完全失败</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2000" i="1" dirty="0">
                <a:latin typeface="Times New Roman" panose="02020603050405020304" pitchFamily="18" charset="0"/>
                <a:sym typeface="+mn-ea"/>
              </a:rPr>
              <a:t>C</a:t>
            </a:r>
            <a:r>
              <a:rPr lang="en-US" altLang="zh-CN" sz="2000" dirty="0">
                <a:latin typeface="Times New Roman" panose="02020603050405020304" pitchFamily="18" charset="0"/>
                <a:sym typeface="+mn-ea"/>
              </a:rPr>
              <a:t>&lt;</a:t>
            </a:r>
            <a:r>
              <a:rPr lang="en-US" altLang="zh-CN" sz="2000" i="1" dirty="0" err="1">
                <a:latin typeface="Times New Roman" panose="02020603050405020304" pitchFamily="18" charset="0"/>
                <a:sym typeface="+mn-ea"/>
              </a:rPr>
              <a:t>P</a:t>
            </a:r>
            <a:r>
              <a:rPr lang="en-US" altLang="zh-CN" sz="2000" i="1" baseline="-25000" dirty="0" err="1">
                <a:latin typeface="Times New Roman" panose="02020603050405020304" pitchFamily="18" charset="0"/>
                <a:sym typeface="+mn-ea"/>
              </a:rPr>
              <a:t>h</a:t>
            </a:r>
            <a:r>
              <a:rPr lang="zh-CN" altLang="en-US" sz="2000" dirty="0">
                <a:latin typeface="Times New Roman" panose="02020603050405020304" pitchFamily="18" charset="0"/>
                <a:sym typeface="+mn-ea"/>
              </a:rPr>
              <a:t>－</a:t>
            </a:r>
            <a:r>
              <a:rPr lang="en-US" altLang="zh-CN" sz="2000" i="1" dirty="0">
                <a:latin typeface="Times New Roman" panose="02020603050405020304" pitchFamily="18" charset="0"/>
                <a:sym typeface="+mn-ea"/>
              </a:rPr>
              <a:t>P</a:t>
            </a:r>
            <a:r>
              <a:rPr lang="en-US" altLang="zh-CN" sz="2000" i="1" baseline="-25000" dirty="0">
                <a:latin typeface="Times New Roman" panose="02020603050405020304" pitchFamily="18" charset="0"/>
                <a:sym typeface="+mn-ea"/>
              </a:rPr>
              <a:t>l</a:t>
            </a:r>
            <a:r>
              <a:rPr lang="zh-CN" altLang="en-US" sz="2000" dirty="0">
                <a:latin typeface="Times New Roman" panose="02020603050405020304" pitchFamily="18" charset="0"/>
                <a:sym typeface="+mn-ea"/>
              </a:rPr>
              <a:t>，</a:t>
            </a:r>
            <a:r>
              <a:rPr lang="en-US" altLang="zh-CN" sz="2000" i="1" dirty="0" err="1">
                <a:latin typeface="Times New Roman" panose="02020603050405020304" pitchFamily="18" charset="0"/>
                <a:sym typeface="+mn-ea"/>
              </a:rPr>
              <a:t>p</a:t>
            </a:r>
            <a:r>
              <a:rPr lang="en-US" altLang="zh-CN" sz="2000" i="1" baseline="-25000" dirty="0" err="1">
                <a:latin typeface="Times New Roman" panose="02020603050405020304" pitchFamily="18" charset="0"/>
                <a:sym typeface="+mn-ea"/>
              </a:rPr>
              <a:t>g</a:t>
            </a:r>
            <a:r>
              <a:rPr lang="zh-CN" altLang="en-US" sz="2000" dirty="0">
                <a:latin typeface="Times New Roman" panose="02020603050405020304" pitchFamily="18" charset="0"/>
                <a:sym typeface="+mn-ea"/>
              </a:rPr>
              <a:t>（</a:t>
            </a:r>
            <a:r>
              <a:rPr lang="en-US" altLang="zh-CN" sz="2000" i="1" dirty="0">
                <a:latin typeface="Times New Roman" panose="02020603050405020304" pitchFamily="18" charset="0"/>
                <a:sym typeface="+mn-ea"/>
              </a:rPr>
              <a:t>V</a:t>
            </a:r>
            <a:r>
              <a:rPr lang="zh-CN" altLang="zh-CN" sz="2000" dirty="0">
                <a:latin typeface="Times New Roman" panose="02020603050405020304" pitchFamily="18" charset="0"/>
                <a:sym typeface="+mn-ea"/>
              </a:rPr>
              <a:t>－</a:t>
            </a:r>
            <a:r>
              <a:rPr lang="zh-CN" altLang="en-US" sz="2000" i="1" dirty="0">
                <a:latin typeface="Times New Roman" panose="02020603050405020304" pitchFamily="18" charset="0"/>
                <a:sym typeface="+mn-ea"/>
              </a:rPr>
              <a:t>P</a:t>
            </a:r>
            <a:r>
              <a:rPr lang="en-US" altLang="zh-CN" sz="2000" i="1" baseline="-25000" dirty="0">
                <a:latin typeface="Times New Roman" panose="02020603050405020304" pitchFamily="18" charset="0"/>
                <a:sym typeface="+mn-ea"/>
              </a:rPr>
              <a:t>h</a:t>
            </a:r>
            <a:r>
              <a:rPr lang="zh-CN" altLang="en-US" sz="2000" dirty="0">
                <a:latin typeface="Times New Roman" panose="02020603050405020304" pitchFamily="18" charset="0"/>
                <a:sym typeface="+mn-ea"/>
              </a:rPr>
              <a:t>）＋</a:t>
            </a:r>
            <a:r>
              <a:rPr lang="en-US" altLang="zh-CN" sz="2000" i="1" dirty="0" err="1">
                <a:latin typeface="Times New Roman" panose="02020603050405020304" pitchFamily="18" charset="0"/>
                <a:sym typeface="+mn-ea"/>
              </a:rPr>
              <a:t>p</a:t>
            </a:r>
            <a:r>
              <a:rPr lang="en-US" altLang="zh-CN" sz="2000" i="1" baseline="-25000" dirty="0" err="1">
                <a:latin typeface="Times New Roman" panose="02020603050405020304" pitchFamily="18" charset="0"/>
                <a:sym typeface="+mn-ea"/>
              </a:rPr>
              <a:t>b</a:t>
            </a:r>
            <a:r>
              <a:rPr lang="zh-CN" altLang="en-US" sz="2000" dirty="0">
                <a:latin typeface="Times New Roman" panose="02020603050405020304" pitchFamily="18" charset="0"/>
                <a:sym typeface="+mn-ea"/>
              </a:rPr>
              <a:t>（</a:t>
            </a:r>
            <a:r>
              <a:rPr lang="en-US" altLang="zh-CN" sz="2000" i="1" dirty="0">
                <a:latin typeface="Times New Roman" panose="02020603050405020304" pitchFamily="18" charset="0"/>
                <a:sym typeface="+mn-ea"/>
              </a:rPr>
              <a:t>W</a:t>
            </a:r>
            <a:r>
              <a:rPr lang="zh-CN" altLang="zh-CN" sz="2000" dirty="0">
                <a:latin typeface="Times New Roman" panose="02020603050405020304" pitchFamily="18" charset="0"/>
                <a:sym typeface="+mn-ea"/>
              </a:rPr>
              <a:t>－</a:t>
            </a:r>
            <a:r>
              <a:rPr lang="zh-CN" altLang="en-US" sz="2000" i="1" dirty="0">
                <a:latin typeface="Times New Roman" panose="02020603050405020304" pitchFamily="18" charset="0"/>
                <a:sym typeface="+mn-ea"/>
              </a:rPr>
              <a:t>P</a:t>
            </a:r>
            <a:r>
              <a:rPr lang="en-US" altLang="zh-CN" sz="2000" i="1" baseline="-25000" dirty="0">
                <a:latin typeface="Times New Roman" panose="02020603050405020304" pitchFamily="18" charset="0"/>
                <a:sym typeface="+mn-ea"/>
              </a:rPr>
              <a:t>h</a:t>
            </a:r>
            <a:r>
              <a:rPr lang="zh-CN" altLang="en-US" sz="2000" dirty="0">
                <a:latin typeface="Times New Roman" panose="02020603050405020304" pitchFamily="18" charset="0"/>
                <a:sym typeface="+mn-ea"/>
              </a:rPr>
              <a:t>）</a:t>
            </a:r>
            <a:r>
              <a:rPr lang="en-US" altLang="zh-CN" sz="2000" dirty="0">
                <a:latin typeface="Times New Roman" panose="02020603050405020304" pitchFamily="18" charset="0"/>
                <a:sym typeface="+mn-ea"/>
              </a:rPr>
              <a:t>&lt;0</a:t>
            </a:r>
            <a:endParaRPr lang="en-US" altLang="zh-CN" sz="2000" dirty="0">
              <a:latin typeface="Times New Roman" panose="02020603050405020304" pitchFamily="18" charset="0"/>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dirty="0">
                <a:latin typeface="Times New Roman" panose="02020603050405020304" pitchFamily="18" charset="0"/>
                <a:sym typeface="+mn-ea"/>
              </a:rPr>
              <a:t>买方选择买的期望得益小于</a:t>
            </a:r>
            <a:r>
              <a:rPr lang="en-US" altLang="zh-CN" sz="2000" dirty="0">
                <a:latin typeface="Times New Roman" panose="02020603050405020304" pitchFamily="18" charset="0"/>
                <a:sym typeface="+mn-ea"/>
              </a:rPr>
              <a:t>0</a:t>
            </a:r>
            <a:r>
              <a:rPr lang="zh-CN" altLang="en-US" sz="2000" dirty="0">
                <a:latin typeface="Times New Roman" panose="02020603050405020304" pitchFamily="18" charset="0"/>
                <a:sym typeface="+mn-ea"/>
              </a:rPr>
              <a:t>，卖方卖不出去，</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此时，意味着出现阿克罗夫的</a:t>
            </a:r>
            <a:r>
              <a:rPr lang="en-US" altLang="zh-CN"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柠檬市场</a:t>
            </a:r>
            <a:r>
              <a:rPr lang="en-US" altLang="zh-CN" sz="2000"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（信息不对称——有得骗白不骗）</a:t>
            </a:r>
            <a:r>
              <a:rPr lang="zh-CN" altLang="en-US" sz="2000">
                <a:solidFill>
                  <a:schemeClr val="tx1"/>
                </a:solidFill>
                <a:sym typeface="Wingdings 3" panose="05040102010807070707" pitchFamily="18" charset="2"/>
              </a:rPr>
              <a:t></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价格与质量螺旋式下降</a:t>
            </a:r>
            <a:r>
              <a:rPr lang="zh-CN" altLang="en-US" sz="2000">
                <a:solidFill>
                  <a:schemeClr val="tx1"/>
                </a:solidFill>
                <a:sym typeface="Wingdings 3" panose="05040102010807070707" pitchFamily="18" charset="2"/>
              </a:rPr>
              <a:t></a:t>
            </a: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市场崩溃</a:t>
            </a:r>
            <a:r>
              <a:rPr lang="zh-CN" altLang="en-US" sz="18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由于消费者的信息不完美，不能识别商品质量，因而不愿付高价购买商品，最终引起优质品逐渐被劣质品赶出市场的过程，通常被称为</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“逆向选择”</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zh-CN" altLang="en-US"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劣币驱逐良币</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17" name="直接连接符 16"/>
          <p:cNvCxnSpPr/>
          <p:nvPr>
            <p:custDataLst>
              <p:tags r:id="rId4"/>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3" name="副标题"/>
          <p:cNvSpPr txBox="1"/>
          <p:nvPr>
            <p:custDataLst>
              <p:tags r:id="rId5"/>
            </p:custDataLst>
          </p:nvPr>
        </p:nvSpPr>
        <p:spPr>
          <a:xfrm>
            <a:off x="1918970" y="1052830"/>
            <a:ext cx="2383790" cy="457200"/>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20000"/>
              </a:lnSpc>
              <a:spcBef>
                <a:spcPts val="0"/>
              </a:spcBef>
              <a:spcAft>
                <a:spcPts val="0"/>
              </a:spcAft>
              <a:buSzPct val="100000"/>
            </a:pPr>
            <a:r>
              <a:rPr lang="zh-CN" altLang="en-US" sz="2200" b="1" dirty="0">
                <a:solidFill>
                  <a:schemeClr val="tx1">
                    <a:lumMod val="85000"/>
                    <a:lumOff val="15000"/>
                  </a:schemeClr>
                </a:solidFill>
                <a:sym typeface="+mn-ea"/>
              </a:rPr>
              <a:t>其他均衡</a:t>
            </a:r>
            <a:r>
              <a:rPr lang="zh-CN" altLang="en-US" sz="2000" dirty="0">
                <a:solidFill>
                  <a:schemeClr val="tx1">
                    <a:lumMod val="85000"/>
                    <a:lumOff val="15000"/>
                  </a:schemeClr>
                </a:solidFill>
                <a:sym typeface="+mn-ea"/>
              </a:rPr>
              <a:t>：</a:t>
            </a:r>
            <a:endParaRPr lang="zh-CN" altLang="en-US" sz="2000" dirty="0">
              <a:solidFill>
                <a:schemeClr val="tx1">
                  <a:lumMod val="85000"/>
                  <a:lumOff val="15000"/>
                </a:schemeClr>
              </a:solidFill>
              <a:sym typeface="+mn-ea"/>
            </a:endParaRPr>
          </a:p>
        </p:txBody>
      </p:sp>
      <p:pic>
        <p:nvPicPr>
          <p:cNvPr id="6" name="图片 1" descr="f01494d1831cca2c2d8b5f9021c13ad"/>
          <p:cNvPicPr>
            <a:picLocks noChangeAspect="1"/>
          </p:cNvPicPr>
          <p:nvPr/>
        </p:nvPicPr>
        <p:blipFill>
          <a:blip r:embed="rId6">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2" name="灯片编号占位符 1"/>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7"/>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有退款保证的双价二手车交易</a:t>
            </a:r>
            <a:endParaRPr lang="zh-CN" altLang="en-US" sz="3200" dirty="0">
              <a:solidFill>
                <a:schemeClr val="accent1"/>
              </a:solidFill>
              <a:sym typeface="+mn-ea"/>
            </a:endParaRPr>
          </a:p>
        </p:txBody>
      </p:sp>
      <p:cxnSp>
        <p:nvCxnSpPr>
          <p:cNvPr id="6" name="直接连接符 5"/>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838835" y="980440"/>
            <a:ext cx="10297795" cy="547052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u"/>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减少出现三种低效率均衡，</a:t>
            </a:r>
            <a:r>
              <a:rPr lang="zh-CN" altLang="en-US" sz="2000">
                <a:solidFill>
                  <a:schemeClr val="tx1"/>
                </a:solidFill>
                <a:latin typeface="宋体" panose="02010600030101010101" pitchFamily="2" charset="-122"/>
                <a:sym typeface="+mn-ea"/>
              </a:rPr>
              <a:t>从根本上解决这个问题的有效方法是</a:t>
            </a:r>
            <a:r>
              <a:rPr lang="zh-CN" altLang="en-US" sz="2000" b="1">
                <a:solidFill>
                  <a:schemeClr val="tx1"/>
                </a:solidFill>
                <a:latin typeface="宋体" panose="02010600030101010101" pitchFamily="2" charset="-122"/>
                <a:sym typeface="+mn-ea"/>
              </a:rPr>
              <a:t>消除信息的不完美性。</a:t>
            </a:r>
            <a:endParaRPr lang="zh-CN" altLang="en-US" sz="2000" b="1">
              <a:solidFill>
                <a:schemeClr val="tx1"/>
              </a:solidFill>
              <a:latin typeface="宋体" panose="02010600030101010101" pitchFamily="2" charset="-122"/>
              <a:sym typeface="+mn-ea"/>
            </a:endParaRPr>
          </a:p>
          <a:p>
            <a:pPr marL="800100" lvl="1" indent="-342900" algn="l" fontAlgn="auto">
              <a:lnSpc>
                <a:spcPct val="120000"/>
              </a:lnSpc>
              <a:spcBef>
                <a:spcPts val="0"/>
              </a:spcBef>
              <a:spcAft>
                <a:spcPts val="800"/>
              </a:spcAft>
              <a:buSzPct val="100000"/>
              <a:buFont typeface="Arial" panose="020B0604020202020204" pitchFamily="34" charset="0"/>
              <a:buChar char="•"/>
            </a:pPr>
            <a:r>
              <a:rPr lang="zh-CN" altLang="en-US" dirty="0">
                <a:solidFill>
                  <a:schemeClr val="tx1"/>
                </a:solidFill>
                <a:latin typeface="宋体" panose="02010600030101010101" pitchFamily="2" charset="-122"/>
                <a:sym typeface="+mn-ea"/>
              </a:rPr>
              <a:t>具体就是消费者要对想购买的商品作更多调查，了解其相关知识和生产过程，从而提高识别产品优劣真伪的能力。这也可以理解为提高假冒伪劣厂商伪装成本</a:t>
            </a:r>
            <a:r>
              <a:rPr lang="en-US" altLang="zh-CN">
                <a:solidFill>
                  <a:schemeClr val="tx1"/>
                </a:solidFill>
                <a:sym typeface="+mn-ea"/>
              </a:rPr>
              <a:t>C </a:t>
            </a:r>
            <a:r>
              <a:rPr lang="zh-CN" altLang="en-US" dirty="0">
                <a:solidFill>
                  <a:schemeClr val="tx1"/>
                </a:solidFill>
                <a:latin typeface="宋体" panose="02010600030101010101" pitchFamily="2" charset="-122"/>
                <a:sym typeface="+mn-ea"/>
              </a:rPr>
              <a:t>的方法。</a:t>
            </a:r>
            <a:endParaRPr lang="zh-CN" altLang="en-US" dirty="0">
              <a:solidFill>
                <a:schemeClr val="tx1"/>
              </a:solidFill>
              <a:latin typeface="宋体" panose="02010600030101010101" pitchFamily="2" charset="-122"/>
              <a:sym typeface="+mn-ea"/>
            </a:endParaRPr>
          </a:p>
          <a:p>
            <a:pPr marL="342900" lvl="0" indent="-342900" algn="l" fontAlgn="auto">
              <a:lnSpc>
                <a:spcPct val="120000"/>
              </a:lnSpc>
              <a:spcBef>
                <a:spcPts val="0"/>
              </a:spcBef>
              <a:spcAft>
                <a:spcPts val="800"/>
              </a:spcAft>
              <a:buSzPct val="100000"/>
              <a:buFont typeface="Wingdings" panose="05000000000000000000" charset="0"/>
              <a:buChar char="u"/>
            </a:pPr>
            <a:r>
              <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实现较理想均衡的关键条件：</a:t>
            </a:r>
            <a:endParaRPr lang="zh-CN" altLang="en-US" sz="2000"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auto">
              <a:lnSpc>
                <a:spcPct val="120000"/>
              </a:lnSpc>
              <a:spcBef>
                <a:spcPts val="0"/>
              </a:spcBef>
              <a:spcAft>
                <a:spcPts val="800"/>
              </a:spcAft>
              <a:buSzPct val="100000"/>
              <a:buFont typeface="Arial" panose="020B0604020202020204" pitchFamily="34" charset="0"/>
              <a:buChar char="•"/>
            </a:pPr>
            <a:r>
              <a:rPr lang="zh-CN" altLang="en-US" b="1"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将劣质商品伪装成优质商品的成本</a:t>
            </a:r>
            <a:r>
              <a:rPr lang="en-US" altLang="zh-CN" b="1"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en-US" b="1"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要高。</a:t>
            </a:r>
            <a:endParaRPr lang="zh-CN" altLang="en-US" b="1" spc="100" dirty="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auto">
              <a:lnSpc>
                <a:spcPct val="120000"/>
              </a:lnSpc>
              <a:spcBef>
                <a:spcPts val="0"/>
              </a:spcBef>
              <a:spcAft>
                <a:spcPts val="800"/>
              </a:spcAft>
              <a:buSzPct val="100000"/>
              <a:buFont typeface="Arial" panose="020B0604020202020204" pitchFamily="34" charset="0"/>
              <a:buChar char="•"/>
            </a:pPr>
            <a:r>
              <a:rPr lang="zh-CN" altLang="en-US" b="1" dirty="0">
                <a:solidFill>
                  <a:schemeClr val="tx1"/>
                </a:solidFill>
                <a:latin typeface="宋体" panose="02010600030101010101" pitchFamily="2" charset="-122"/>
                <a:sym typeface="+mn-ea"/>
              </a:rPr>
              <a:t>买方的消费者剩余平均来说大于上当受骗蒙受的损失。</a:t>
            </a:r>
            <a:endParaRPr lang="zh-CN" altLang="en-US" b="1" dirty="0">
              <a:solidFill>
                <a:schemeClr val="tx1"/>
              </a:solidFill>
              <a:latin typeface="宋体" panose="02010600030101010101" pitchFamily="2" charset="-122"/>
              <a:sym typeface="+mn-ea"/>
            </a:endParaRPr>
          </a:p>
          <a:p>
            <a:pPr marL="342900" lvl="0" indent="-342900" algn="l" fontAlgn="auto">
              <a:lnSpc>
                <a:spcPct val="120000"/>
              </a:lnSpc>
              <a:spcBef>
                <a:spcPts val="0"/>
              </a:spcBef>
              <a:spcAft>
                <a:spcPts val="800"/>
              </a:spcAft>
              <a:buSzPct val="100000"/>
              <a:buFont typeface="Wingdings" panose="05000000000000000000" charset="0"/>
              <a:buChar char="u"/>
            </a:pPr>
            <a:r>
              <a:rPr lang="zh-CN" altLang="en-US" sz="2000" spc="100">
                <a:ln w="3175">
                  <a:noFill/>
                  <a:prstDash val="dash"/>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把伪装成本</a:t>
            </a:r>
            <a:r>
              <a:rPr lang="zh-CN" altLang="en-US" sz="2000" spc="10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C理解为卖方的全部代价，既包括交易之前的清洁、整修等包装费用，也包括事后被追究责任或索赔等要付出的代价。</a:t>
            </a:r>
            <a:endParaRPr lang="zh-CN" altLang="en-US" sz="2000" spc="10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lvl="0" indent="-342900" algn="l" fontAlgn="auto">
              <a:lnSpc>
                <a:spcPct val="120000"/>
              </a:lnSpc>
              <a:spcBef>
                <a:spcPts val="0"/>
              </a:spcBef>
              <a:spcAft>
                <a:spcPts val="800"/>
              </a:spcAft>
              <a:buSzPct val="100000"/>
              <a:buFont typeface="Wingdings" panose="05000000000000000000" charset="0"/>
              <a:buChar char="u"/>
            </a:pPr>
            <a:r>
              <a:rPr lang="zh-CN" altLang="en-US" sz="2000" spc="10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调控</a:t>
            </a:r>
            <a:r>
              <a:rPr altLang="zh-CN" sz="2000" spc="10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en-US" sz="2000" spc="10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rPr>
              <a:t>的手段：</a:t>
            </a:r>
            <a:endParaRPr lang="zh-CN" altLang="en-US" sz="2000" spc="100">
              <a:ln w="3175">
                <a:noFill/>
                <a:prstDash val="dash"/>
              </a:ln>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fontAlgn="auto">
              <a:lnSpc>
                <a:spcPct val="120000"/>
              </a:lnSpc>
              <a:spcBef>
                <a:spcPts val="0"/>
              </a:spcBef>
              <a:spcAft>
                <a:spcPts val="800"/>
              </a:spcAft>
              <a:buSzPct val="100000"/>
              <a:buFont typeface="Arial" panose="020B0604020202020204" pitchFamily="34" charset="0"/>
              <a:buChar char="•"/>
            </a:pPr>
            <a:r>
              <a:rPr lang="zh-CN" altLang="en-US">
                <a:latin typeface="宋体" panose="02010600030101010101" pitchFamily="2" charset="-122"/>
                <a:sym typeface="+mn-ea"/>
              </a:rPr>
              <a:t>加大对假冒伪劣行为的惩罚力度，从而提高</a:t>
            </a:r>
            <a:r>
              <a:rPr altLang="zh-CN">
                <a:sym typeface="+mn-ea"/>
              </a:rPr>
              <a:t>C </a:t>
            </a:r>
            <a:r>
              <a:rPr lang="zh-CN" altLang="en-US">
                <a:latin typeface="宋体" panose="02010600030101010101" pitchFamily="2" charset="-122"/>
                <a:sym typeface="+mn-ea"/>
              </a:rPr>
              <a:t>的水平；</a:t>
            </a:r>
            <a:endParaRPr lang="zh-CN" altLang="en-US">
              <a:latin typeface="宋体" panose="02010600030101010101" pitchFamily="2" charset="-122"/>
              <a:sym typeface="+mn-ea"/>
            </a:endParaRPr>
          </a:p>
          <a:p>
            <a:pPr marL="800100" lvl="1" indent="-342900" algn="l" fontAlgn="auto">
              <a:lnSpc>
                <a:spcPct val="120000"/>
              </a:lnSpc>
              <a:spcBef>
                <a:spcPts val="0"/>
              </a:spcBef>
              <a:spcAft>
                <a:spcPts val="800"/>
              </a:spcAft>
              <a:buSzPct val="100000"/>
              <a:buFont typeface="Arial" panose="020B0604020202020204" pitchFamily="34" charset="0"/>
              <a:buChar char="•"/>
            </a:pPr>
            <a:r>
              <a:rPr lang="zh-CN" altLang="en-US">
                <a:latin typeface="宋体" panose="02010600030101010101" pitchFamily="2" charset="-122"/>
                <a:sym typeface="+mn-ea"/>
              </a:rPr>
              <a:t>通过诚实经营的厂商向消费者提供各种质量承诺，实行包退、包换、包赔等制度。</a:t>
            </a:r>
            <a:endParaRPr lang="zh-CN" altLang="en-US" dirty="0">
              <a:latin typeface="宋体" panose="02010600030101010101" pitchFamily="2" charset="-122"/>
            </a:endParaRPr>
          </a:p>
          <a:p>
            <a:pPr marL="342900" lvl="0" indent="-342900" algn="l" fontAlgn="auto">
              <a:lnSpc>
                <a:spcPct val="120000"/>
              </a:lnSpc>
              <a:spcBef>
                <a:spcPts val="0"/>
              </a:spcBef>
              <a:spcAft>
                <a:spcPts val="800"/>
              </a:spcAft>
              <a:buSzPct val="100000"/>
              <a:buFont typeface="Wingdings" panose="05000000000000000000" charset="0"/>
              <a:buChar char="u"/>
            </a:pPr>
            <a:endParaRPr lang="zh-CN" altLang="en-US" spc="100" dirty="0">
              <a:ln w="3175">
                <a:noFill/>
                <a:prstDash val="dash"/>
              </a:ln>
              <a:solidFill>
                <a:schemeClr val="tx1"/>
              </a:solidFill>
              <a:latin typeface="宋体" panose="02010600030101010101" pitchFamily="2" charset="-122"/>
              <a:ea typeface="微软雅黑" panose="020B0503020204020204" pitchFamily="34" charset="-122"/>
              <a:cs typeface="微软雅黑" panose="020B0503020204020204" pitchFamily="34" charset="-122"/>
              <a:sym typeface="+mn-ea"/>
            </a:endParaRPr>
          </a:p>
        </p:txBody>
      </p:sp>
      <p:pic>
        <p:nvPicPr>
          <p:cNvPr id="2"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有退款保证的双价二手车交易</a:t>
            </a:r>
            <a:endParaRPr lang="zh-CN" altLang="en-US" sz="3200" dirty="0">
              <a:solidFill>
                <a:schemeClr val="accent1"/>
              </a:solidFill>
              <a:sym typeface="+mn-ea"/>
            </a:endParaRPr>
          </a:p>
        </p:txBody>
      </p:sp>
      <p:cxnSp>
        <p:nvCxnSpPr>
          <p:cNvPr id="6" name="直接连接符 5"/>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839470" y="692785"/>
            <a:ext cx="10147300" cy="384619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u"/>
            </a:pPr>
            <a:r>
              <a:rPr lang="zh-CN" altLang="en-US" sz="2000" spc="100" dirty="0">
                <a:ln w="3175">
                  <a:noFill/>
                  <a:prstDash val="dash"/>
                </a:ln>
                <a:solidFill>
                  <a:schemeClr val="tx1"/>
                </a:solidFill>
                <a:latin typeface="宋体" panose="02010600030101010101" pitchFamily="2" charset="-122"/>
                <a:ea typeface="微软雅黑" panose="020B0503020204020204" pitchFamily="34" charset="-122"/>
                <a:cs typeface="微软雅黑" panose="020B0503020204020204" pitchFamily="34" charset="-122"/>
                <a:sym typeface="+mn-ea"/>
              </a:rPr>
              <a:t>昂贵的承诺</a:t>
            </a:r>
            <a:endParaRPr lang="zh-CN" altLang="en-US" sz="2000" spc="100" dirty="0">
              <a:ln w="3175">
                <a:noFill/>
                <a:prstDash val="dash"/>
              </a:ln>
              <a:solidFill>
                <a:schemeClr val="tx1"/>
              </a:solidFill>
              <a:latin typeface="宋体" panose="02010600030101010101" pitchFamily="2" charset="-122"/>
              <a:ea typeface="微软雅黑" panose="020B0503020204020204" pitchFamily="34" charset="-122"/>
              <a:cs typeface="微软雅黑" panose="020B0503020204020204" pitchFamily="34" charset="-122"/>
              <a:sym typeface="+mn-ea"/>
            </a:endParaRPr>
          </a:p>
          <a:p>
            <a:pPr marL="914400" lvl="1" indent="-457200" algn="l" fontAlgn="auto">
              <a:lnSpc>
                <a:spcPct val="120000"/>
              </a:lnSpc>
              <a:spcBef>
                <a:spcPts val="0"/>
              </a:spcBef>
              <a:spcAft>
                <a:spcPts val="800"/>
              </a:spcAft>
              <a:buSzPct val="100000"/>
              <a:buFont typeface="Arial" panose="020B0604020202020204" pitchFamily="34" charset="0"/>
              <a:buChar char="•"/>
            </a:pPr>
            <a:r>
              <a:rPr lang="zh-CN" altLang="en-US">
                <a:solidFill>
                  <a:schemeClr val="tx1"/>
                </a:solidFill>
                <a:latin typeface="宋体" panose="02010600030101010101" pitchFamily="2" charset="-122"/>
                <a:sym typeface="+mn-ea"/>
              </a:rPr>
              <a:t>诚实经营的厂商</a:t>
            </a:r>
            <a:r>
              <a:rPr lang="zh-CN" altLang="en-US">
                <a:latin typeface="宋体" panose="02010600030101010101" pitchFamily="2" charset="-122"/>
                <a:sym typeface="+mn-ea"/>
              </a:rPr>
              <a:t>向消费者提供各种形式的质量承诺，包括</a:t>
            </a:r>
            <a:r>
              <a:rPr lang="zh-CN" altLang="en-US" dirty="0">
                <a:latin typeface="宋体" panose="02010600030101010101" pitchFamily="2" charset="-122"/>
                <a:sym typeface="+mn-ea"/>
              </a:rPr>
              <a:t>对销售的商品实行包退、包换、包赔制度，承诺双倍赔偿甚至 “假一罚十” 等，这意味着一旦销售的商品有质量问题，卖方要付出昂贵的代价。</a:t>
            </a:r>
            <a:endParaRPr lang="zh-CN" altLang="en-US" dirty="0">
              <a:latin typeface="宋体" panose="02010600030101010101" pitchFamily="2" charset="-122"/>
              <a:sym typeface="+mn-ea"/>
            </a:endParaRPr>
          </a:p>
          <a:p>
            <a:pPr marL="342900" lvl="0" indent="-342900" algn="l" fontAlgn="auto">
              <a:lnSpc>
                <a:spcPct val="120000"/>
              </a:lnSpc>
              <a:spcBef>
                <a:spcPts val="0"/>
              </a:spcBef>
              <a:spcAft>
                <a:spcPts val="800"/>
              </a:spcAft>
              <a:buSzPct val="100000"/>
              <a:buFont typeface="Wingdings" panose="05000000000000000000" charset="0"/>
              <a:buChar char="u"/>
            </a:pPr>
            <a:r>
              <a:rPr lang="zh-CN" altLang="en-US" sz="2000">
                <a:solidFill>
                  <a:schemeClr val="tx1"/>
                </a:solidFill>
                <a:latin typeface="宋体" panose="02010600030101010101" pitchFamily="2" charset="-122"/>
                <a:sym typeface="+mn-ea"/>
              </a:rPr>
              <a:t>昂贵的承诺能够起到抑制假冒伪劣的作用，原因：</a:t>
            </a:r>
            <a:endParaRPr lang="zh-CN" altLang="en-US" sz="2000">
              <a:solidFill>
                <a:schemeClr val="tx1"/>
              </a:solidFill>
              <a:latin typeface="宋体" panose="02010600030101010101" pitchFamily="2" charset="-122"/>
              <a:sym typeface="+mn-ea"/>
            </a:endParaRPr>
          </a:p>
          <a:p>
            <a:pPr marL="914400" lvl="1" indent="-457200" algn="l" fontAlgn="auto">
              <a:lnSpc>
                <a:spcPct val="120000"/>
              </a:lnSpc>
              <a:spcBef>
                <a:spcPts val="0"/>
              </a:spcBef>
              <a:spcAft>
                <a:spcPts val="800"/>
              </a:spcAft>
              <a:buClrTx/>
              <a:buSzTx/>
              <a:buFont typeface="Arial" panose="020B0604020202020204" pitchFamily="34" charset="0"/>
              <a:buChar char="•"/>
            </a:pPr>
            <a:r>
              <a:rPr lang="zh-CN" altLang="en-US">
                <a:solidFill>
                  <a:schemeClr val="tx1"/>
                </a:solidFill>
                <a:latin typeface="宋体" panose="02010600030101010101" pitchFamily="2" charset="-122"/>
                <a:sym typeface="+mn-ea"/>
              </a:rPr>
              <a:t>它给造假者制造了一个两难困境：如果造假者不</a:t>
            </a:r>
            <a:r>
              <a:rPr lang="zh-CN" altLang="en-US" sz="1800">
                <a:latin typeface="宋体" panose="02010600030101010101" pitchFamily="2" charset="-122"/>
                <a:sym typeface="+mn-ea"/>
              </a:rPr>
              <a:t>敢向消费者提供同样的质量承诺，说明它们的商品质量不高，消费者信息不完美的困难就克服了；如果造假者提供同样的承诺，那么它们将面临更高的赔偿成本，制假总成本C就大大提高了</a:t>
            </a:r>
            <a:endParaRPr lang="zh-CN" altLang="en-US" sz="1800">
              <a:solidFill>
                <a:schemeClr val="tx1"/>
              </a:solidFill>
              <a:latin typeface="宋体" panose="02010600030101010101" pitchFamily="2" charset="-122"/>
              <a:sym typeface="+mn-ea"/>
            </a:endParaRPr>
          </a:p>
        </p:txBody>
      </p:sp>
      <p:pic>
        <p:nvPicPr>
          <p:cNvPr id="2" name="图片 1" descr="f01494d1831cca2c2d8b5f9021c13ad"/>
          <p:cNvPicPr>
            <a:picLocks noChangeAspect="1"/>
          </p:cNvPicPr>
          <p:nvPr/>
        </p:nvPicPr>
        <p:blipFill>
          <a:blip r:embed="rId4">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有退款保证的双价二手车交易</a:t>
            </a:r>
            <a:endParaRPr lang="zh-CN" altLang="en-US" sz="3200" dirty="0">
              <a:solidFill>
                <a:schemeClr val="accent1"/>
              </a:solidFill>
              <a:sym typeface="+mn-ea"/>
            </a:endParaRPr>
          </a:p>
        </p:txBody>
      </p:sp>
      <p:cxnSp>
        <p:nvCxnSpPr>
          <p:cNvPr id="6" name="直接连接符 5"/>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839470" y="980440"/>
            <a:ext cx="10052050" cy="10312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indent="-342900">
              <a:lnSpc>
                <a:spcPct val="110000"/>
              </a:lnSpc>
              <a:buFont typeface="Wingdings" panose="05000000000000000000" charset="0"/>
              <a:buChar char="u"/>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原理：引用退款保证制度提高</a:t>
            </a:r>
            <a:r>
              <a:rPr altLang="zh-CN" sz="2000" i="1">
                <a:latin typeface="Times New Roman" panose="02020603050405020304" pitchFamily="18" charset="0"/>
                <a:sym typeface="+mn-ea"/>
              </a:rPr>
              <a:t>C</a:t>
            </a:r>
            <a:r>
              <a:rPr altLang="zh-CN" sz="2000">
                <a:sym typeface="+mn-ea"/>
              </a:rPr>
              <a:t>（</a:t>
            </a:r>
            <a:r>
              <a:rPr altLang="en-US" sz="2000">
                <a:latin typeface="Times New Roman" panose="02020603050405020304" pitchFamily="18" charset="0"/>
                <a:sym typeface="+mn-ea"/>
              </a:rPr>
              <a:t>＝</a:t>
            </a:r>
            <a:r>
              <a:rPr altLang="zh-CN" sz="2000" i="1">
                <a:latin typeface="Times New Roman" panose="02020603050405020304" pitchFamily="18" charset="0"/>
                <a:sym typeface="+mn-ea"/>
              </a:rPr>
              <a:t>V</a:t>
            </a:r>
            <a:r>
              <a:rPr altLang="en-US" sz="2000">
                <a:latin typeface="Times New Roman" panose="02020603050405020304" pitchFamily="18" charset="0"/>
                <a:sym typeface="+mn-ea"/>
              </a:rPr>
              <a:t>－</a:t>
            </a:r>
            <a:r>
              <a:rPr altLang="zh-CN" sz="2000" i="1">
                <a:latin typeface="Times New Roman" panose="02020603050405020304" pitchFamily="18" charset="0"/>
                <a:sym typeface="+mn-ea"/>
              </a:rPr>
              <a:t>W</a:t>
            </a:r>
            <a:r>
              <a:rPr altLang="zh-CN" sz="2000">
                <a:sym typeface="+mn-ea"/>
              </a:rPr>
              <a:t>）</a:t>
            </a:r>
            <a:r>
              <a:rPr lang="zh-CN" altLang="en-US" sz="2000">
                <a:sym typeface="+mn-ea"/>
              </a:rPr>
              <a:t>，即</a:t>
            </a:r>
            <a:r>
              <a:rPr lang="zh-CN" altLang="en-US" sz="2000">
                <a:latin typeface="宋体" panose="02010600030101010101" pitchFamily="2" charset="-122"/>
                <a:sym typeface="+mn-ea"/>
              </a:rPr>
              <a:t>买方高价买到差车时卖方必须赔偿买方</a:t>
            </a:r>
            <a:r>
              <a:rPr altLang="zh-CN" sz="2000" i="1">
                <a:latin typeface="Times New Roman" panose="02020603050405020304" pitchFamily="18" charset="0"/>
                <a:sym typeface="+mn-ea"/>
              </a:rPr>
              <a:t>V</a:t>
            </a:r>
            <a:r>
              <a:rPr altLang="en-US" sz="2000">
                <a:latin typeface="Times New Roman" panose="02020603050405020304" pitchFamily="18" charset="0"/>
                <a:sym typeface="+mn-ea"/>
              </a:rPr>
              <a:t>－</a:t>
            </a:r>
            <a:r>
              <a:rPr altLang="zh-CN" sz="2000" i="1">
                <a:latin typeface="Times New Roman" panose="02020603050405020304" pitchFamily="18" charset="0"/>
                <a:sym typeface="+mn-ea"/>
              </a:rPr>
              <a:t>W</a:t>
            </a:r>
            <a:r>
              <a:rPr lang="zh-CN" altLang="en-US" sz="2000">
                <a:latin typeface="宋体" panose="02010600030101010101" pitchFamily="2" charset="-122"/>
                <a:sym typeface="+mn-ea"/>
              </a:rPr>
              <a:t>的损失</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b="9035"/>
          <a:stretch>
            <a:fillRect/>
          </a:stretch>
        </p:blipFill>
        <p:spPr bwMode="auto">
          <a:xfrm>
            <a:off x="1847850" y="1988820"/>
            <a:ext cx="8347710" cy="3910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p:spTree>
    <p:custDataLst>
      <p:tags r:id="rId6"/>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56" name="文本框 6"/>
          <p:cNvSpPr txBox="1"/>
          <p:nvPr>
            <p:custDataLst>
              <p:tags r:id="rId1"/>
            </p:custDataLst>
          </p:nvPr>
        </p:nvSpPr>
        <p:spPr>
          <a:xfrm>
            <a:off x="762006" y="152402"/>
            <a:ext cx="10972888" cy="762006"/>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3200" dirty="0">
                <a:solidFill>
                  <a:schemeClr val="accent1"/>
                </a:solidFill>
                <a:sym typeface="+mn-ea"/>
              </a:rPr>
              <a:t>有退款保证的双价二手车交易</a:t>
            </a:r>
            <a:endParaRPr lang="zh-CN" altLang="en-US" sz="3200" dirty="0">
              <a:solidFill>
                <a:schemeClr val="accent1"/>
              </a:solidFill>
              <a:sym typeface="+mn-ea"/>
            </a:endParaRPr>
          </a:p>
        </p:txBody>
      </p:sp>
      <p:cxnSp>
        <p:nvCxnSpPr>
          <p:cNvPr id="6" name="直接连接符 5"/>
          <p:cNvCxnSpPr/>
          <p:nvPr>
            <p:custDataLst>
              <p:tags r:id="rId2"/>
            </p:custDataLst>
          </p:nvPr>
        </p:nvCxnSpPr>
        <p:spPr>
          <a:xfrm>
            <a:off x="533404" y="304800"/>
            <a:ext cx="0" cy="457204"/>
          </a:xfrm>
          <a:prstGeom prst="line">
            <a:avLst/>
          </a:prstGeom>
          <a:ln w="101600"/>
        </p:spPr>
        <p:style>
          <a:lnRef idx="1">
            <a:schemeClr val="accent1"/>
          </a:lnRef>
          <a:fillRef idx="0">
            <a:schemeClr val="accent1"/>
          </a:fillRef>
          <a:effectRef idx="0">
            <a:schemeClr val="accent1"/>
          </a:effectRef>
          <a:fontRef idx="minor">
            <a:schemeClr val="tx1"/>
          </a:fontRef>
        </p:style>
      </p:cxnSp>
      <p:sp>
        <p:nvSpPr>
          <p:cNvPr id="11" name="Title 6"/>
          <p:cNvSpPr txBox="1"/>
          <p:nvPr>
            <p:custDataLst>
              <p:tags r:id="rId3"/>
            </p:custDataLst>
          </p:nvPr>
        </p:nvSpPr>
        <p:spPr>
          <a:xfrm>
            <a:off x="4295775" y="3573145"/>
            <a:ext cx="4164965" cy="1031240"/>
          </a:xfrm>
          <a:prstGeom prst="rect">
            <a:avLst/>
          </a:prstGeom>
          <a:noFill/>
          <a:ln w="25400">
            <a:solidFill>
              <a:schemeClr val="accent1"/>
            </a:solid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indent="-342900">
              <a:lnSpc>
                <a:spcPct val="110000"/>
              </a:lnSpc>
              <a:buFont typeface="Wingdings" panose="05000000000000000000" charset="0"/>
              <a:buChar char="u"/>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条件</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nSpc>
                <a:spcPct val="110000"/>
              </a:lnSpc>
              <a:buFont typeface="Wingdings" panose="05000000000000000000" charset="0"/>
            </a:pPr>
            <a:r>
              <a:rPr altLang="zh-CN" sz="2000" i="1" dirty="0" err="1">
                <a:latin typeface="Times New Roman" panose="02020603050405020304" pitchFamily="18" charset="0"/>
                <a:sym typeface="+mn-ea"/>
              </a:rPr>
              <a:t>P</a:t>
            </a:r>
            <a:r>
              <a:rPr altLang="zh-CN" sz="2000" i="1" baseline="-25000" dirty="0" err="1">
                <a:latin typeface="Times New Roman" panose="02020603050405020304" pitchFamily="18" charset="0"/>
                <a:sym typeface="+mn-ea"/>
              </a:rPr>
              <a:t>h</a:t>
            </a:r>
            <a:r>
              <a:rPr lang="zh-CN" altLang="en-US" sz="2000">
                <a:latin typeface="Times New Roman" panose="02020603050405020304" pitchFamily="18" charset="0"/>
                <a:sym typeface="+mn-ea"/>
              </a:rPr>
              <a:t>＋</a:t>
            </a:r>
            <a:r>
              <a:rPr altLang="zh-CN" sz="2000" i="1">
                <a:latin typeface="Times New Roman" panose="02020603050405020304" pitchFamily="18" charset="0"/>
                <a:sym typeface="+mn-ea"/>
              </a:rPr>
              <a:t>W</a:t>
            </a:r>
            <a:r>
              <a:rPr lang="zh-CN" altLang="en-US" sz="2000">
                <a:latin typeface="Times New Roman" panose="02020603050405020304" pitchFamily="18" charset="0"/>
                <a:sym typeface="+mn-ea"/>
              </a:rPr>
              <a:t>－</a:t>
            </a:r>
            <a:r>
              <a:rPr altLang="zh-CN" sz="2000" i="1">
                <a:latin typeface="Times New Roman" panose="02020603050405020304" pitchFamily="18" charset="0"/>
                <a:sym typeface="+mn-ea"/>
              </a:rPr>
              <a:t>V</a:t>
            </a:r>
            <a:r>
              <a:rPr altLang="zh-CN" sz="2000">
                <a:latin typeface="Times New Roman" panose="02020603050405020304" pitchFamily="18" charset="0"/>
                <a:sym typeface="+mn-ea"/>
              </a:rPr>
              <a:t>&lt;0 </a:t>
            </a:r>
            <a:r>
              <a:rPr lang="zh-CN" altLang="en-US" sz="2000" dirty="0" err="1">
                <a:latin typeface="Times New Roman" panose="02020603050405020304" pitchFamily="18" charset="0"/>
                <a:sym typeface="+mn-ea"/>
              </a:rPr>
              <a:t>或</a:t>
            </a:r>
            <a:r>
              <a:rPr altLang="zh-CN" sz="2000" dirty="0" err="1">
                <a:latin typeface="Times New Roman" panose="02020603050405020304" pitchFamily="18" charset="0"/>
                <a:sym typeface="+mn-ea"/>
              </a:rPr>
              <a:t>  </a:t>
            </a:r>
            <a:r>
              <a:rPr altLang="zh-CN" sz="2000" i="1" dirty="0" err="1">
                <a:latin typeface="Times New Roman" panose="02020603050405020304" pitchFamily="18" charset="0"/>
                <a:sym typeface="+mn-ea"/>
              </a:rPr>
              <a:t>P</a:t>
            </a:r>
            <a:r>
              <a:rPr altLang="zh-CN" sz="2000" i="1" baseline="-25000" dirty="0" err="1">
                <a:latin typeface="Times New Roman" panose="02020603050405020304" pitchFamily="18" charset="0"/>
                <a:sym typeface="+mn-ea"/>
              </a:rPr>
              <a:t>h</a:t>
            </a:r>
            <a:r>
              <a:rPr lang="zh-CN" altLang="en-US" sz="2000">
                <a:latin typeface="Times New Roman" panose="02020603050405020304" pitchFamily="18" charset="0"/>
                <a:sym typeface="+mn-ea"/>
              </a:rPr>
              <a:t>＋</a:t>
            </a:r>
            <a:r>
              <a:rPr altLang="zh-CN" sz="2000" i="1">
                <a:latin typeface="Times New Roman" panose="02020603050405020304" pitchFamily="18" charset="0"/>
                <a:sym typeface="+mn-ea"/>
              </a:rPr>
              <a:t>W</a:t>
            </a:r>
            <a:r>
              <a:rPr lang="zh-CN" altLang="en-US" sz="2000">
                <a:latin typeface="Times New Roman" panose="02020603050405020304" pitchFamily="18" charset="0"/>
                <a:sym typeface="+mn-ea"/>
              </a:rPr>
              <a:t>－</a:t>
            </a:r>
            <a:r>
              <a:rPr altLang="zh-CN" sz="2000" i="1">
                <a:latin typeface="Times New Roman" panose="02020603050405020304" pitchFamily="18" charset="0"/>
                <a:sym typeface="+mn-ea"/>
              </a:rPr>
              <a:t>V</a:t>
            </a:r>
            <a:r>
              <a:rPr altLang="zh-CN" sz="2000">
                <a:latin typeface="Times New Roman" panose="02020603050405020304" pitchFamily="18" charset="0"/>
                <a:sym typeface="+mn-ea"/>
              </a:rPr>
              <a:t>&lt;</a:t>
            </a:r>
            <a:r>
              <a:rPr altLang="zh-CN" sz="2000" i="1">
                <a:latin typeface="Times New Roman" panose="02020603050405020304" pitchFamily="18" charset="0"/>
                <a:sym typeface="+mn-ea"/>
              </a:rPr>
              <a:t>P</a:t>
            </a:r>
            <a:r>
              <a:rPr altLang="zh-CN" sz="2000" i="1" baseline="-25000">
                <a:latin typeface="Times New Roman" panose="02020603050405020304" pitchFamily="18" charset="0"/>
                <a:sym typeface="+mn-ea"/>
              </a:rPr>
              <a:t>l    </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Title 6"/>
          <p:cNvSpPr txBox="1"/>
          <p:nvPr>
            <p:custDataLst>
              <p:tags r:id="rId4"/>
            </p:custDataLst>
          </p:nvPr>
        </p:nvSpPr>
        <p:spPr>
          <a:xfrm>
            <a:off x="838200" y="5156835"/>
            <a:ext cx="9237980" cy="176784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auto">
              <a:lnSpc>
                <a:spcPct val="120000"/>
              </a:lnSpc>
              <a:spcBef>
                <a:spcPts val="0"/>
              </a:spcBef>
              <a:spcAft>
                <a:spcPts val="800"/>
              </a:spcAft>
              <a:buSzPct val="100000"/>
              <a:buFont typeface="Wingdings" panose="05000000000000000000" charset="0"/>
              <a:buChar char="u"/>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当然也可以选择售后保修，（无偿）使用期等手段，如果短期内难易发现次劣的商品，重罚（次1 赔10），来使市场完全成功</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f01494d1831cca2c2d8b5f9021c13ad"/>
          <p:cNvPicPr>
            <a:picLocks noChangeAspect="1"/>
          </p:cNvPicPr>
          <p:nvPr/>
        </p:nvPicPr>
        <p:blipFill>
          <a:blip r:embed="rId5">
            <a:clrChange>
              <a:clrFrom>
                <a:srgbClr val="FFFFFF">
                  <a:alpha val="100000"/>
                </a:srgbClr>
              </a:clrFrom>
              <a:clrTo>
                <a:srgbClr val="FFFFFF">
                  <a:alpha val="100000"/>
                  <a:alpha val="0"/>
                </a:srgbClr>
              </a:clrTo>
            </a:clrChange>
          </a:blip>
          <a:srcRect r="9615"/>
          <a:stretch>
            <a:fillRect/>
          </a:stretch>
        </p:blipFill>
        <p:spPr>
          <a:xfrm>
            <a:off x="11136630" y="44450"/>
            <a:ext cx="1072515" cy="879475"/>
          </a:xfrm>
          <a:prstGeom prst="rect">
            <a:avLst/>
          </a:prstGeom>
        </p:spPr>
      </p:pic>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a:p>
        </p:txBody>
      </p:sp>
      <mc:AlternateContent xmlns:mc="http://schemas.openxmlformats.org/markup-compatibility/2006">
        <mc:Choice xmlns:a14="http://schemas.microsoft.com/office/drawing/2010/main" Requires="a14">
          <p:sp>
            <p:nvSpPr>
              <p:cNvPr id="18" name="Title 6"/>
              <p:cNvSpPr txBox="1"/>
              <p:nvPr>
                <p:custDataLst>
                  <p:tags r:id="rId6"/>
                </p:custDataLst>
              </p:nvPr>
            </p:nvSpPr>
            <p:spPr>
              <a:xfrm>
                <a:off x="839470" y="548640"/>
                <a:ext cx="11277600" cy="272288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30000"/>
                  </a:lnSpc>
                  <a:spcBef>
                    <a:spcPts val="1000"/>
                  </a:spcBef>
                  <a:spcAft>
                    <a:spcPts val="0"/>
                  </a:spcAft>
                  <a:buSzPct val="100000"/>
                  <a:buFont typeface="Wingdings" panose="05000000000000000000" charset="0"/>
                  <a:buChar char="u"/>
                </a:pPr>
                <a:r>
                  <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市场完全成功的完美贝叶斯均衡</a:t>
                </a:r>
                <a:endParaRPr lang="zh-CN" altLang="en-US" sz="22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50900" lvl="2" indent="-342900" algn="just" fontAlgn="ctr">
                  <a:lnSpc>
                    <a:spcPct val="15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卖方在车好时要高价，车差时要低价</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50900" lvl="2" indent="-342900" algn="just" fontAlgn="ctr">
                  <a:lnSpc>
                    <a:spcPct val="15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买方在卖方要高价、要低价时都买</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50900" lvl="2" indent="-342900" algn="just" fontAlgn="ctr">
                  <a:lnSpc>
                    <a:spcPct val="15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买方的信念是</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b="0" i="1" smtClean="0">
                            <a:latin typeface="Cambria Math" panose="02040503050406030204" pitchFamily="18" charset="0"/>
                          </a:rPr>
                          <m:t>ℎ</m:t>
                        </m:r>
                      </m:e>
                    </m:d>
                    <m:r>
                      <a:rPr lang="en-US" altLang="zh-CN" sz="2000" i="1">
                        <a:latin typeface="Cambria Math" panose="02040503050406030204" pitchFamily="18" charset="0"/>
                      </a:rPr>
                      <m:t>=</m:t>
                    </m:r>
                    <m:r>
                      <a:rPr lang="en-US" altLang="zh-CN" sz="2000" b="0" i="0" smtClean="0">
                        <a:latin typeface="Cambria Math" panose="02040503050406030204" pitchFamily="18" charset="0"/>
                      </a:rPr>
                      <m:t>1</m:t>
                    </m:r>
                  </m:oMath>
                </a14:m>
                <a:r>
                  <a:rPr lang="zh-CN" altLang="en-US" sz="2000" dirty="0">
                    <a:sym typeface="+mn-ea"/>
                  </a:rPr>
                  <a:t>，</a:t>
                </a:r>
                <a14:m>
                  <m:oMath xmlns:m="http://schemas.openxmlformats.org/officeDocument/2006/math">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𝑏</m:t>
                            </m:r>
                          </m:e>
                        </m:d>
                        <m:r>
                          <a:rPr lang="en-US" altLang="zh-CN" sz="2000" b="0" i="1" smtClean="0">
                            <a:latin typeface="Cambria Math" panose="02040503050406030204" pitchFamily="18" charset="0"/>
                          </a:rPr>
                          <m:t>ℎ</m:t>
                        </m:r>
                      </m:e>
                    </m:d>
                    <m:r>
                      <a:rPr lang="en-US" altLang="zh-CN" sz="2000" i="1">
                        <a:latin typeface="Cambria Math" panose="02040503050406030204" pitchFamily="18" charset="0"/>
                      </a:rPr>
                      <m:t>=</m:t>
                    </m:r>
                    <m:r>
                      <a:rPr lang="en-US" altLang="zh-CN" sz="2000" b="0" i="0" smtClean="0">
                        <a:latin typeface="Cambria Math" panose="02040503050406030204" pitchFamily="18" charset="0"/>
                      </a:rPr>
                      <m:t>0</m:t>
                    </m:r>
                    <m:r>
                      <a:rPr lang="zh-CN" altLang="en-US" sz="2000" dirty="0">
                        <a:latin typeface="Cambria Math" panose="02040503050406030204" pitchFamily="18" charset="0"/>
                        <a:sym typeface="+mn-ea"/>
                      </a:rPr>
                      <m:t>，</m:t>
                    </m:r>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𝑔</m:t>
                            </m:r>
                          </m:e>
                        </m:d>
                        <m:r>
                          <a:rPr lang="en-US" altLang="zh-CN" sz="2000" b="0" i="1" smtClean="0">
                            <a:latin typeface="Cambria Math" panose="02040503050406030204" pitchFamily="18" charset="0"/>
                          </a:rPr>
                          <m:t>𝑙</m:t>
                        </m:r>
                      </m:e>
                    </m:d>
                    <m:r>
                      <a:rPr lang="en-US" altLang="zh-CN" sz="2000" i="1">
                        <a:latin typeface="Cambria Math" panose="02040503050406030204" pitchFamily="18" charset="0"/>
                      </a:rPr>
                      <m:t>=</m:t>
                    </m:r>
                    <m:r>
                      <a:rPr lang="en-US" altLang="zh-CN" sz="2000" b="0" i="1" smtClean="0">
                        <a:latin typeface="Cambria Math" panose="02040503050406030204" pitchFamily="18" charset="0"/>
                      </a:rPr>
                      <m:t>0</m:t>
                    </m:r>
                    <m:r>
                      <a:rPr lang="zh-CN" altLang="en-US" sz="2000" dirty="0">
                        <a:latin typeface="Cambria Math" panose="02040503050406030204" pitchFamily="18" charset="0"/>
                        <a:sym typeface="+mn-ea"/>
                      </a:rPr>
                      <m:t>，</m:t>
                    </m:r>
                    <m:r>
                      <a:rPr lang="en-US" altLang="zh-CN" sz="2000" i="1">
                        <a:latin typeface="Cambria Math" panose="02040503050406030204" pitchFamily="18" charset="0"/>
                      </a:rPr>
                      <m:t>𝑝</m:t>
                    </m:r>
                    <m:d>
                      <m:dPr>
                        <m:ctrlPr>
                          <a:rPr lang="en-US" altLang="zh-CN" sz="2000" i="1">
                            <a:latin typeface="Cambria Math" panose="02040503050406030204" pitchFamily="18" charset="0"/>
                          </a:rPr>
                        </m:ctrlPr>
                      </m:dPr>
                      <m:e>
                        <m:d>
                          <m:dPr>
                            <m:begChr m:val=""/>
                            <m:endChr m:val="|"/>
                            <m:ctrlPr>
                              <a:rPr lang="en-US" altLang="zh-CN" sz="2000" i="1">
                                <a:latin typeface="Cambria Math" panose="02040503050406030204" pitchFamily="18" charset="0"/>
                              </a:rPr>
                            </m:ctrlPr>
                          </m:dPr>
                          <m:e>
                            <m:r>
                              <a:rPr lang="en-US" altLang="zh-CN" sz="2000" i="1">
                                <a:latin typeface="Cambria Math" panose="02040503050406030204" pitchFamily="18" charset="0"/>
                              </a:rPr>
                              <m:t>𝑏</m:t>
                            </m:r>
                          </m:e>
                        </m:d>
                        <m:r>
                          <a:rPr lang="en-US" altLang="zh-CN" sz="2000" b="0" i="1" smtClean="0">
                            <a:latin typeface="Cambria Math" panose="02040503050406030204" pitchFamily="18" charset="0"/>
                          </a:rPr>
                          <m:t>𝑙</m:t>
                        </m:r>
                      </m:e>
                    </m:d>
                    <m:r>
                      <a:rPr lang="en-US" altLang="zh-CN" sz="2000" i="1">
                        <a:latin typeface="Cambria Math" panose="02040503050406030204" pitchFamily="18" charset="0"/>
                      </a:rPr>
                      <m:t>=</m:t>
                    </m:r>
                    <m:r>
                      <a:rPr lang="en-US" altLang="zh-CN" sz="2000" b="0" i="1" smtClean="0">
                        <a:latin typeface="Cambria Math" panose="02040503050406030204" pitchFamily="18" charset="0"/>
                      </a:rPr>
                      <m:t>1</m:t>
                    </m:r>
                    <m:r>
                      <a:rPr lang="zh-CN" altLang="en-US" sz="2000" i="1">
                        <a:latin typeface="Cambria Math" panose="02040503050406030204" pitchFamily="18" charset="0"/>
                      </a:rPr>
                      <m:t>。</m:t>
                    </m:r>
                  </m:oMath>
                </a14:m>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8" name="Title 6"/>
              <p:cNvSpPr txBox="1">
                <a:spLocks noRot="1" noChangeAspect="1" noMove="1" noResize="1" noEditPoints="1" noAdjustHandles="1" noChangeArrowheads="1" noChangeShapeType="1" noTextEdit="1"/>
              </p:cNvSpPr>
              <p:nvPr>
                <p:custDataLst>
                  <p:tags r:id="rId7"/>
                </p:custDataLst>
              </p:nvPr>
            </p:nvSpPr>
            <p:spPr>
              <a:xfrm>
                <a:off x="839470" y="548640"/>
                <a:ext cx="11277600" cy="2722880"/>
              </a:xfrm>
              <a:prstGeom prst="rect">
                <a:avLst/>
              </a:prstGeom>
              <a:blipFill rotWithShape="1">
                <a:blip r:embed="rId8"/>
                <a:stretch>
                  <a:fillRect/>
                </a:stretch>
              </a:blipFill>
              <a:ln w="3175">
                <a:noFill/>
                <a:prstDash val="dash"/>
              </a:ln>
            </p:spPr>
            <p:txBody>
              <a:bodyPr/>
              <a:lstStyle/>
              <a:p>
                <a:r>
                  <a:rPr lang="zh-CN" altLang="en-US">
                    <a:noFill/>
                  </a:rPr>
                  <a:t> </a:t>
                </a:r>
              </a:p>
            </p:txBody>
          </p:sp>
        </mc:Fallback>
      </mc:AlternateContent>
      <p:sp>
        <p:nvSpPr>
          <p:cNvPr id="5" name="上箭头 4"/>
          <p:cNvSpPr/>
          <p:nvPr/>
        </p:nvSpPr>
        <p:spPr>
          <a:xfrm>
            <a:off x="6108700" y="2996565"/>
            <a:ext cx="279400" cy="503555"/>
          </a:xfrm>
          <a:prstGeom prst="up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9"/>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631039" y="1988957"/>
            <a:ext cx="9144000" cy="1896745"/>
          </a:xfrm>
        </p:spPr>
        <p:txBody>
          <a:bodyPr/>
          <a:p>
            <a:pPr algn="ctr"/>
            <a:r>
              <a:rPr lang="en-US" altLang="zh-CN" sz="9600"/>
              <a:t>THANKS</a:t>
            </a:r>
            <a:endParaRPr lang="zh-CN" altLang="en-US"/>
          </a:p>
        </p:txBody>
      </p:sp>
      <p:sp>
        <p:nvSpPr>
          <p:cNvPr id="3" name="灯片编号占位符 2"/>
          <p:cNvSpPr>
            <a:spLocks noGrp="1"/>
          </p:cNvSpPr>
          <p:nvPr>
            <p:ph type="sldNum" sz="quarter" idx="12"/>
          </p:nvPr>
        </p:nvSpPr>
        <p:spPr/>
        <p:txBody>
          <a:bodyPr/>
          <a:p>
            <a:fld id="{49AE70B2-8BF9-45C0-BB95-33D1B9D3A854}" type="slidenum">
              <a:rPr lang="zh-CN" altLang="en-US" smtClean="0"/>
            </a:fld>
            <a:endParaRPr lang="zh-CN" altLang="en-US" dirty="0"/>
          </a:p>
        </p:txBody>
      </p:sp>
    </p:spTree>
    <p:custDataLst>
      <p:tags r:id="rId1"/>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Requires="p14" p14:dur="10">
        <p15:prstTrans prst="wind"/>
      </p:transition>
    </mc:Choice>
    <mc:Fallback>
      <p:transition>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727ef4be-ad15-4b3a-8f6a-b77894aeca4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f40465d-3405-4c7a-a209-2450002081d7}"/>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PRESET_TEXT" val="单击此处添加副标题"/>
  <p:tag name="KSO_WM_UNIT_NOCLEAR" val="0"/>
  <p:tag name="KSO_WM_UNIT_VALUE" val="25"/>
  <p:tag name="KSO_WM_UNIT_HIGHLIGHT" val="0"/>
  <p:tag name="KSO_WM_UNIT_COMPATIBLE" val="0"/>
  <p:tag name="KSO_WM_UNIT_DIAGRAM_ISNUMVISUAL" val="0"/>
  <p:tag name="KSO_WM_UNIT_DIAGRAM_ISREFERUNIT" val="0"/>
  <p:tag name="KSO_WM_UNIT_TYPE" val="b"/>
  <p:tag name="KSO_WM_UNIT_INDEX" val="1"/>
  <p:tag name="KSO_WM_UNIT_ID" val="diagram20221168_1*b*1"/>
  <p:tag name="KSO_WM_TEMPLATE_CATEGORY" val="diagram"/>
  <p:tag name="KSO_WM_TEMPLATE_INDEX" val="20221168"/>
  <p:tag name="KSO_WM_UNIT_LAYERLEVEL" val="1"/>
  <p:tag name="KSO_WM_TAG_VERSION" val="1.0"/>
  <p:tag name="KSO_WM_BEAUTIFY_FLAG" val="#wm#"/>
  <p:tag name="KSO_WM_UNIT_DEFAULT_FONT" val="20;24;2"/>
  <p:tag name="KSO_WM_UNIT_BLOCK" val="0"/>
  <p:tag name="KSO_WM_UNIT_SM_LIMIT_TYPE" val="2"/>
  <p:tag name="KSO_WM_UNIT_DEC_AREA_ID" val="204cf403550748f2b1b12b510f35b0c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ISCONTENTSTITLE" val="0"/>
  <p:tag name="KSO_WM_UNIT_ISNUMDGMTITLE" val="0"/>
  <p:tag name="KSO_WM_UNIT_PRESET_TEXT" val="添加标题"/>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21168_1*a*1"/>
  <p:tag name="KSO_WM_TEMPLATE_CATEGORY" val="diagram"/>
  <p:tag name="KSO_WM_TEMPLATE_INDEX" val="20221168"/>
  <p:tag name="KSO_WM_UNIT_LAYERLEVEL" val="1"/>
  <p:tag name="KSO_WM_TAG_VERSION" val="1.0"/>
  <p:tag name="KSO_WM_BEAUTIFY_FLAG" val="#wm#"/>
  <p:tag name="KSO_WM_UNIT_DEFAULT_FONT" val="66;96;2"/>
  <p:tag name="KSO_WM_UNIT_BLOCK" val="0"/>
  <p:tag name="KSO_WM_UNIT_SM_LIMIT_TYPE" val="2"/>
  <p:tag name="KSO_WM_UNIT_DEC_AREA_ID" val="f075e2182f8048389128d0f4615d35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3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4&quot;,&quot;maxSize&quot;:{&quot;size1&quot;:22.2},&quot;minSize&quot;:{&quot;size1&quot;:13.5},&quot;normalSize&quot;:{&quot;size1&quot;:13.5},&quot;subLayout&quot;:[{&quot;id&quot;:&quot;2022-08-21T16:04:54&quot;,&quot;margin&quot;:{&quot;bottom&quot;:0.026000002399086952,&quot;left&quot;:2.117000102996826,&quot;right&quot;:1.2699999809265137,&quot;top&quot;:0.4230000078678131},&quot;type&quot;:0},{&quot;id&quot;:&quot;2022-08-21T16:04: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3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13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4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4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4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1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4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4&quot;,&quot;maxSize&quot;:{&quot;size1&quot;:22.2},&quot;minSize&quot;:{&quot;size1&quot;:13.5},&quot;normalSize&quot;:{&quot;size1&quot;:13.5},&quot;subLayout&quot;:[{&quot;id&quot;:&quot;2022-08-21T16:04:54&quot;,&quot;margin&quot;:{&quot;bottom&quot;:0.026000002399086952,&quot;left&quot;:2.117000102996826,&quot;right&quot;:1.2699999809265137,&quot;top&quot;:0.4230000078678131},&quot;type&quot;:0},{&quot;id&quot;:&quot;2022-08-21T16:04: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4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4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4&quot;,&quot;maxSize&quot;:{&quot;size1&quot;:22.2},&quot;minSize&quot;:{&quot;size1&quot;:13.5},&quot;normalSize&quot;:{&quot;size1&quot;:13.5},&quot;subLayout&quot;:[{&quot;id&quot;:&quot;2022-08-21T16:04:54&quot;,&quot;margin&quot;:{&quot;bottom&quot;:0.026000002399086952,&quot;left&quot;:2.117000102996826,&quot;right&quot;:1.2699999809265137,&quot;top&quot;:0.4230000078678131},&quot;type&quot;:0},{&quot;id&quot;:&quot;2022-08-21T16:04: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5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4&quot;,&quot;maxSize&quot;:{&quot;size1&quot;:22.2},&quot;minSize&quot;:{&quot;size1&quot;:13.5},&quot;normalSize&quot;:{&quot;size1&quot;:13.5},&quot;subLayout&quot;:[{&quot;id&quot;:&quot;2022-08-21T16:04:54&quot;,&quot;margin&quot;:{&quot;bottom&quot;:0.026000002399086952,&quot;left&quot;:2.117000102996826,&quot;right&quot;:1.2699999809265137,&quot;top&quot;:0.4230000078678131},&quot;type&quot;:0},{&quot;id&quot;:&quot;2022-08-21T16:04: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5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4&quot;,&quot;maxSize&quot;:{&quot;size1&quot;:22.2},&quot;minSize&quot;:{&quot;size1&quot;:13.5},&quot;normalSize&quot;:{&quot;size1&quot;:13.5},&quot;subLayout&quot;:[{&quot;id&quot;:&quot;2022-08-21T16:04:54&quot;,&quot;margin&quot;:{&quot;bottom&quot;:0.026000002399086952,&quot;left&quot;:2.117000102996826,&quot;right&quot;:1.2699999809265137,&quot;top&quot;:0.4230000078678131},&quot;type&quot;:0},{&quot;id&quot;:&quot;2022-08-21T16:04: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1.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62.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7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3&quot;,&quot;maxSize&quot;:{&quot;size1&quot;:22.2},&quot;minSize&quot;:{&quot;size1&quot;:13.5},&quot;normalSize&quot;:{&quot;size1&quot;:13.5},&quot;subLayout&quot;:[{&quot;id&quot;:&quot;2022-08-21T16:04:53&quot;,&quot;margin&quot;:{&quot;bottom&quot;:0.026000002399086952,&quot;left&quot;:2.117000102996826,&quot;right&quot;:1.2699999809265137,&quot;top&quot;:0.4230000078678131},&quot;type&quot;:0},{&quot;id&quot;:&quot;2022-08-21T16:04: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7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4&quot;,&quot;maxSize&quot;:{&quot;size1&quot;:22.2},&quot;minSize&quot;:{&quot;size1&quot;:13.5},&quot;normalSize&quot;:{&quot;size1&quot;:13.5},&quot;subLayout&quot;:[{&quot;id&quot;:&quot;2022-08-21T16:04:54&quot;,&quot;margin&quot;:{&quot;bottom&quot;:0.026000002399086952,&quot;left&quot;:2.117000102996826,&quot;right&quot;:1.2699999809265137,&quot;top&quot;:0.4230000078678131},&quot;type&quot;:0},{&quot;id&quot;:&quot;2022-08-21T16:04: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8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1.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82.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83.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84.xml><?xml version="1.0" encoding="utf-8"?>
<p:tagLst xmlns:p="http://schemas.openxmlformats.org/presentationml/2006/main">
  <p:tag name="KSO_WM_UNIT_FILL_FORE_SCHEMECOLOR_INDEX_BRIGHTNESS" val="-0.25"/>
  <p:tag name="KSO_WM_UNIT_FILL_FORE_SCHEMECOLOR_INDEX" val="9"/>
  <p:tag name="KSO_WM_UNIT_FILL_TYPE" val="1"/>
  <p:tag name="KSO_WM_UNIT_TEXT_FILL_FORE_SCHEMECOLOR_INDEX_BRIGHTNESS" val="0"/>
  <p:tag name="KSO_WM_UNIT_TEXT_FILL_FORE_SCHEMECOLOR_INDEX" val="2"/>
  <p:tag name="KSO_WM_UNIT_TEXT_FILL_TYPE" val="1"/>
</p:tagLst>
</file>

<file path=ppt/tags/tag1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3&quot;,&quot;maxSize&quot;:{&quot;size1&quot;:22.2},&quot;minSize&quot;:{&quot;size1&quot;:13.5},&quot;normalSize&quot;:{&quot;size1&quot;:13.5},&quot;subLayout&quot;:[{&quot;id&quot;:&quot;2022-08-21T16:04:53&quot;,&quot;margin&quot;:{&quot;bottom&quot;:0.026000002399086952,&quot;left&quot;:2.117000102996826,&quot;right&quot;:1.2699999809265137,&quot;top&quot;:0.4230000078678131},&quot;type&quot;:0},{&quot;id&quot;:&quot;2022-08-21T16:04:5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1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19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19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4&quot;,&quot;maxSize&quot;:{&quot;size1&quot;:22.2},&quot;minSize&quot;:{&quot;size1&quot;:13.5},&quot;normalSize&quot;:{&quot;size1&quot;:13.5},&quot;subLayout&quot;:[{&quot;id&quot;:&quot;2022-08-21T16:04:54&quot;,&quot;margin&quot;:{&quot;bottom&quot;:0.026000002399086952,&quot;left&quot;:2.117000102996826,&quot;right&quot;:1.2699999809265137,&quot;top&quot;:0.4230000078678131},&quot;type&quot;:0},{&quot;id&quot;:&quot;2022-08-21T16:04: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202.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03.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04.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05.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14.xml><?xml version="1.0" encoding="utf-8"?>
<p:tagLst xmlns:p="http://schemas.openxmlformats.org/presentationml/2006/main">
  <p:tag name="KSO_WM_UNIT_LINE_FORE_SCHEMECOLOR_INDEX_BRIGHTNESS" val="0"/>
  <p:tag name="KSO_WM_UNIT_LINE_FORE_SCHEMECOLOR_INDEX" val="13"/>
  <p:tag name="KSO_WM_UNIT_LINE_FILL_TYPE" val="2"/>
  <p:tag name="KSO_WM_UNIT_SMARTLAYOUT_COMPRESS_INFO" val="{&#10;    &quot;id&quot;: &quot;2022-08-21T16:04:56&quot;&#10;}&#10;"/>
</p:tagLst>
</file>

<file path=ppt/tags/tag21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216.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17.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18.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19.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22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28.xml><?xml version="1.0" encoding="utf-8"?>
<p:tagLst xmlns:p="http://schemas.openxmlformats.org/presentationml/2006/main">
  <p:tag name="KSO_WM_UNIT_LINE_FORE_SCHEMECOLOR_INDEX_BRIGHTNESS" val="0"/>
  <p:tag name="KSO_WM_UNIT_LINE_FORE_SCHEMECOLOR_INDEX" val="13"/>
  <p:tag name="KSO_WM_UNIT_LINE_FILL_TYPE" val="2"/>
  <p:tag name="KSO_WM_UNIT_SMARTLAYOUT_COMPRESS_INFO" val="{&#10;    &quot;id&quot;: &quot;2022-08-21T16:04:56&quot;&#10;}&#10;"/>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3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6&quot;,&quot;maxSize&quot;:{&quot;size1&quot;:22.2},&quot;minSize&quot;:{&quot;size1&quot;:13.5},&quot;normalSize&quot;:{&quot;size1&quot;:13.5},&quot;subLayout&quot;:[{&quot;id&quot;:&quot;2022-08-21T16:04:56&quot;,&quot;margin&quot;:{&quot;bottom&quot;:0.026000002399086952,&quot;left&quot;:2.117000102996826,&quot;right&quot;:1.2699999809265137,&quot;top&quot;:0.4230000078678131},&quot;type&quot;:0},{&quot;id&quot;:&quot;2022-08-21T16:04:5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d8df20e39ed64c549853196dce0d805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3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4&quot;,&quot;maxSize&quot;:{&quot;size1&quot;:22.2},&quot;minSize&quot;:{&quot;size1&quot;:13.5},&quot;normalSize&quot;:{&quot;size1&quot;:13.5},&quot;subLayout&quot;:[{&quot;id&quot;:&quot;2022-08-21T16:04:54&quot;,&quot;margin&quot;:{&quot;bottom&quot;:0.026000002399086952,&quot;left&quot;:2.117000102996826,&quot;right&quot;:1.2699999809265137,&quot;top&quot;:0.4230000078678131},&quot;type&quot;:0},{&quot;id&quot;:&quot;2022-08-21T16:04: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d8df20e39ed64c549853196dce0d805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4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4&quot;,&quot;maxSize&quot;:{&quot;size1&quot;:22.2},&quot;minSize&quot;:{&quot;size1&quot;:13.5},&quot;normalSize&quot;:{&quot;size1&quot;:13.5},&quot;subLayout&quot;:[{&quot;id&quot;:&quot;2022-08-21T16:04:54&quot;,&quot;margin&quot;:{&quot;bottom&quot;:0.026000002399086952,&quot;left&quot;:2.117000102996826,&quot;right&quot;:1.2699999809265137,&quot;top&quot;:0.4230000078678131},&quot;type&quot;:0},{&quot;id&quot;:&quot;2022-08-21T16:04:5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d8df20e39ed64c549853196dce0d805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b*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NOCLEAR" val="0"/>
  <p:tag name="KSO_WM_UNIT_VALUE" val="48"/>
  <p:tag name="KSO_WM_UNIT_TYPE" val="b"/>
  <p:tag name="KSO_WM_UNIT_INDEX" val="1"/>
  <p:tag name="KSO_WM_UNIT_BLOCK" val="0"/>
  <p:tag name="KSO_WM_UNIT_SM_LIMIT_TYPE" val="2"/>
  <p:tag name="KSO_WM_UNIT_DEC_AREA_ID" val="f6250ba35f9c4870ab3f5fd2cf038ea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TEXT_FILL_FORE_SCHEMECOLOR_INDEX_BRIGHTNESS" val="0.15"/>
  <p:tag name="KSO_WM_UNIT_TEXT_FILL_FORE_SCHEMECOLOR_INDEX" val="13"/>
  <p:tag name="KSO_WM_UNIT_TEXT_FILL_TYPE" val="1"/>
</p:tagLst>
</file>

<file path=ppt/tags/tag247.xml><?xml version="1.0" encoding="utf-8"?>
<p:tagLst xmlns:p="http://schemas.openxmlformats.org/presentationml/2006/main">
  <p:tag name="KSO_WM_SLIDE_ID" val="diagram20220059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492"/>
  <p:tag name="KSO_WM_SLIDE_POSITION" val="36*24"/>
  <p:tag name="KSO_WM_SLIDE_LAYOUT" val="a_b_d"/>
  <p:tag name="KSO_WM_SLIDE_LAYOUT_CNT" val="1_1_1"/>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8-21T16:04:56&quot;,&quot;maxSize&quot;:{&quot;size1&quot;:31.1},&quot;minSize&quot;:{&quot;size1&quot;:20},&quot;normalSize&quot;:{&quot;size1&quot;:20},&quot;subLayout&quot;:[{&quot;id&quot;:&quot;2022-08-21T16:04:56&quot;,&quot;maxSize&quot;:{&quot;size1&quot;:100},&quot;minSize&quot;:{&quot;size1&quot;:66.7},&quot;normalSize&quot;:{&quot;size1&quot;:66.7},&quot;subLayout&quot;:[{&quot;id&quot;:&quot;2022-08-21T16:04:56&quot;,&quot;margin&quot;:{&quot;bottom&quot;:0.026000002399086952,&quot;left&quot;:2.117000102996826,&quot;right&quot;:1.2699999809265137,&quot;top&quot;:0.847000002861023},&quot;type&quot;:0},{&quot;id&quot;:&quot;2022-08-21T16:04:56&quot;,&quot;margin&quot;:{&quot;bottom&quot;:0,&quot;left&quot;:2.117000102996826,&quot;right&quot;:1.2699999809265137,&quot;top&quot;:0},&quot;type&quot;:0}],&quot;type&quot;:0},{&quot;id&quot;:&quot;2022-08-21T16:04:56&quot;,&quot;margin&quot;:{&quot;bottom&quot;:0.847000002861023,&quot;left&quot;:1.2699999809265137,&quot;right&quot;:1.2699999809265137,&quot;top&quot;:0.3970000147819519},&quot;type&quot;:0}],&quot;type&quot;:0}"/>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d8df20e39ed64c549853196dce0d805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b*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NOCLEAR" val="0"/>
  <p:tag name="KSO_WM_UNIT_VALUE" val="48"/>
  <p:tag name="KSO_WM_UNIT_TYPE" val="b"/>
  <p:tag name="KSO_WM_UNIT_INDEX" val="1"/>
  <p:tag name="KSO_WM_UNIT_BLOCK" val="0"/>
  <p:tag name="KSO_WM_UNIT_SM_LIMIT_TYPE" val="2"/>
  <p:tag name="KSO_WM_UNIT_DEC_AREA_ID" val="f6250ba35f9c4870ab3f5fd2cf038ea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TEXT_FILL_FORE_SCHEMECOLOR_INDEX_BRIGHTNESS" val="0.15"/>
  <p:tag name="KSO_WM_UNIT_TEXT_FILL_FORE_SCHEMECOLOR_INDEX" val="13"/>
  <p:tag name="KSO_WM_UNIT_TEXT_FILL_TYPE" val="1"/>
</p:tagLst>
</file>

<file path=ppt/tags/tag253.xml><?xml version="1.0" encoding="utf-8"?>
<p:tagLst xmlns:p="http://schemas.openxmlformats.org/presentationml/2006/main">
  <p:tag name="KSO_WM_SLIDE_ID" val="diagram20220059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492"/>
  <p:tag name="KSO_WM_SLIDE_POSITION" val="36*24"/>
  <p:tag name="KSO_WM_SLIDE_LAYOUT" val="a_b_d"/>
  <p:tag name="KSO_WM_SLIDE_LAYOUT_CNT" val="1_1_1"/>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8-21T16:04:56&quot;,&quot;maxSize&quot;:{&quot;size1&quot;:31.1},&quot;minSize&quot;:{&quot;size1&quot;:20},&quot;normalSize&quot;:{&quot;size1&quot;:20},&quot;subLayout&quot;:[{&quot;id&quot;:&quot;2022-08-21T16:04:56&quot;,&quot;maxSize&quot;:{&quot;size1&quot;:100},&quot;minSize&quot;:{&quot;size1&quot;:66.7},&quot;normalSize&quot;:{&quot;size1&quot;:66.7},&quot;subLayout&quot;:[{&quot;id&quot;:&quot;2022-08-21T16:04:56&quot;,&quot;margin&quot;:{&quot;bottom&quot;:0.026000002399086952,&quot;left&quot;:2.117000102996826,&quot;right&quot;:1.2699999809265137,&quot;top&quot;:0.847000002861023},&quot;type&quot;:0},{&quot;id&quot;:&quot;2022-08-21T16:04:56&quot;,&quot;margin&quot;:{&quot;bottom&quot;:0,&quot;left&quot;:2.117000102996826,&quot;right&quot;:1.2699999809265137,&quot;top&quot;:0},&quot;type&quot;:0}],&quot;type&quot;:0},{&quot;id&quot;:&quot;2022-08-21T16:04:56&quot;,&quot;margin&quot;:{&quot;bottom&quot;:0.847000002861023,&quot;left&quot;:1.2699999809265137,&quot;right&quot;:1.2699999809265137,&quot;top&quot;:0.3970000147819519},&quot;type&quot;:0}],&quot;type&quot;:0}"/>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2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25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5&quot;,&quot;maxSize&quot;:{&quot;size1&quot;:22.2},&quot;minSize&quot;:{&quot;size1&quot;:13.5},&quot;normalSize&quot;:{&quot;size1&quot;:13.5},&quot;subLayout&quot;:[{&quot;id&quot;:&quot;2022-08-21T16:04:55&quot;,&quot;margin&quot;:{&quot;bottom&quot;:0.026000002399086952,&quot;left&quot;:2.117000102996826,&quot;right&quot;:1.2699999809265137,&quot;top&quot;:0.4230000078678131},&quot;type&quot;:0},{&quot;id&quot;:&quot;2022-08-21T16:04: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2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26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5&quot;,&quot;maxSize&quot;:{&quot;size1&quot;:22.2},&quot;minSize&quot;:{&quot;size1&quot;:13.5},&quot;normalSize&quot;:{&quot;size1&quot;:13.5},&quot;subLayout&quot;:[{&quot;id&quot;:&quot;2022-08-21T16:04:55&quot;,&quot;margin&quot;:{&quot;bottom&quot;:0.026000002399086952,&quot;left&quot;:2.117000102996826,&quot;right&quot;:1.2699999809265137,&quot;top&quot;:0.4230000078678131},&quot;type&quot;:0},{&quot;id&quot;:&quot;2022-08-21T16:04: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2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26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5&quot;,&quot;maxSize&quot;:{&quot;size1&quot;:22.2},&quot;minSize&quot;:{&quot;size1&quot;:13.5},&quot;normalSize&quot;:{&quot;size1&quot;:13.5},&quot;subLayout&quot;:[{&quot;id&quot;:&quot;2022-08-21T16:04:55&quot;,&quot;margin&quot;:{&quot;bottom&quot;:0.026000002399086952,&quot;left&quot;:2.117000102996826,&quot;right&quot;:1.2699999809265137,&quot;top&quot;:0.4230000078678131},&quot;type&quot;:0},{&quot;id&quot;:&quot;2022-08-21T16:04: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7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27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273.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74.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75.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276.xml><?xml version="1.0" encoding="utf-8"?>
<p:tagLst xmlns:p="http://schemas.openxmlformats.org/presentationml/2006/main">
  <p:tag name="KSO_WM_UNIT_FILL_FORE_SCHEMECOLOR_INDEX_BRIGHTNESS" val="-0.25"/>
  <p:tag name="KSO_WM_UNIT_FILL_FORE_SCHEMECOLOR_INDEX" val="9"/>
  <p:tag name="KSO_WM_UNIT_FILL_TYPE" val="1"/>
  <p:tag name="KSO_WM_UNIT_TEXT_FILL_FORE_SCHEMECOLOR_INDEX_BRIGHTNESS" val="0"/>
  <p:tag name="KSO_WM_UNIT_TEXT_FILL_FORE_SCHEMECOLOR_INDEX" val="2"/>
  <p:tag name="KSO_WM_UNIT_TEXT_FILL_TYPE" val="1"/>
</p:tagLst>
</file>

<file path=ppt/tags/tag2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85.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5&quot;,&quot;maxSize&quot;:{&quot;size1&quot;:22.2},&quot;minSize&quot;:{&quot;size1&quot;:13.5},&quot;normalSize&quot;:{&quot;size1&quot;:13.5},&quot;subLayout&quot;:[{&quot;id&quot;:&quot;2022-08-21T16:04:55&quot;,&quot;margin&quot;:{&quot;bottom&quot;:0.026000002399086952,&quot;left&quot;:2.117000102996826,&quot;right&quot;:1.2699999809265137,&quot;top&quot;:0.4230000078678131},&quot;type&quot;:0},{&quot;id&quot;:&quot;2022-08-21T16:04:5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d8df20e39ed64c549853196dce0d805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2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b*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NOCLEAR" val="0"/>
  <p:tag name="KSO_WM_UNIT_VALUE" val="48"/>
  <p:tag name="KSO_WM_UNIT_TYPE" val="b"/>
  <p:tag name="KSO_WM_UNIT_INDEX" val="1"/>
  <p:tag name="KSO_WM_UNIT_BLOCK" val="0"/>
  <p:tag name="KSO_WM_UNIT_SM_LIMIT_TYPE" val="2"/>
  <p:tag name="KSO_WM_UNIT_DEC_AREA_ID" val="f6250ba35f9c4870ab3f5fd2cf038ea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TEXT_FILL_FORE_SCHEMECOLOR_INDEX_BRIGHTNESS" val="0.15"/>
  <p:tag name="KSO_WM_UNIT_TEXT_FILL_FORE_SCHEMECOLOR_INDEX" val="13"/>
  <p:tag name="KSO_WM_UNIT_TEXT_FILL_TYPE" val="1"/>
</p:tagLst>
</file>

<file path=ppt/tags/tag291.xml><?xml version="1.0" encoding="utf-8"?>
<p:tagLst xmlns:p="http://schemas.openxmlformats.org/presentationml/2006/main">
  <p:tag name="KSO_WM_SLIDE_ID" val="diagram20220059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492"/>
  <p:tag name="KSO_WM_SLIDE_POSITION" val="36*24"/>
  <p:tag name="KSO_WM_SLIDE_LAYOUT" val="a_b_d"/>
  <p:tag name="KSO_WM_SLIDE_LAYOUT_CNT" val="1_1_1"/>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8-21T16:04:57&quot;,&quot;maxSize&quot;:{&quot;size1&quot;:31.1},&quot;minSize&quot;:{&quot;size1&quot;:20},&quot;normalSize&quot;:{&quot;size1&quot;:20},&quot;subLayout&quot;:[{&quot;id&quot;:&quot;2022-08-21T16:04:57&quot;,&quot;maxSize&quot;:{&quot;size1&quot;:100},&quot;minSize&quot;:{&quot;size1&quot;:66.7},&quot;normalSize&quot;:{&quot;size1&quot;:66.7},&quot;subLayout&quot;:[{&quot;id&quot;:&quot;2022-08-21T16:04:57&quot;,&quot;margin&quot;:{&quot;bottom&quot;:0.026000002399086952,&quot;left&quot;:2.117000102996826,&quot;right&quot;:1.2699999809265137,&quot;top&quot;:0.847000002861023},&quot;type&quot;:0},{&quot;id&quot;:&quot;2022-08-21T16:04:57&quot;,&quot;margin&quot;:{&quot;bottom&quot;:0,&quot;left&quot;:2.117000102996826,&quot;right&quot;:1.2699999809265137,&quot;top&quot;:0},&quot;type&quot;:0}],&quot;type&quot;:0},{&quot;id&quot;:&quot;2022-08-21T16:04:57&quot;,&quot;margin&quot;:{&quot;bottom&quot;:0.847000002861023,&quot;left&quot;:1.2699999809265137,&quot;right&quot;:1.2699999809265137,&quot;top&quot;:0.3970000147819519},&quot;type&quot;:0}],&quot;type&quot;:0}"/>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2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295.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96.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97.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9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299.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300.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301.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3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1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7&quot;,&quot;maxSize&quot;:{&quot;size1&quot;:22.2},&quot;minSize&quot;:{&quot;size1&quot;:13.5},&quot;normalSize&quot;:{&quot;size1&quot;:13.5},&quot;subLayout&quot;:[{&quot;id&quot;:&quot;2022-08-21T16:04:57&quot;,&quot;margin&quot;:{&quot;bottom&quot;:0.026000002399086952,&quot;left&quot;:2.117000102996826,&quot;right&quot;:1.2699999809265137,&quot;top&quot;:0.4230000078678131},&quot;type&quot;:0},{&quot;id&quot;:&quot;2022-08-21T16:04:57&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318.xml><?xml version="1.0" encoding="utf-8"?>
<p:tagLst xmlns:p="http://schemas.openxmlformats.org/presentationml/2006/main">
  <p:tag name="KSO_WM_BEAUTIFY_FLAG" val="#wm#"/>
  <p:tag name="KSO_WM_UNIT_TYPE" val="β"/>
  <p:tag name="TABLE_SKINIDX" val="1"/>
  <p:tag name="TABLE_COLORIDX" val="c"/>
  <p:tag name="KSO_WM_UNIT_TABLE_BEAUTIFY" val="smartTable{870483b7-d51d-4f60-8713-1d9622e8add8}"/>
  <p:tag name="TABLE_ENDDRAG_ORIGIN_RECT" val="307*247"/>
  <p:tag name="TABLE_ENDDRAG_RECT" val="292*128*308*247"/>
</p:tagLst>
</file>

<file path=ppt/tags/tag31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59_1*f*1"/>
  <p:tag name="KSO_WM_TEMPLATE_CATEGORY" val="diagram"/>
  <p:tag name="KSO_WM_TEMPLATE_INDEX" val="20212959"/>
  <p:tag name="KSO_WM_UNIT_LAYERLEVEL" val="1"/>
  <p:tag name="KSO_WM_TAG_VERSION" val="1.0"/>
  <p:tag name="KSO_WM_BEAUTIFY_FLAG" val="#wm#"/>
  <p:tag name="KSO_WM_UNIT_DEFAULT_FONT" val="14;20;2"/>
  <p:tag name="KSO_WM_UNIT_BLOCK" val="0"/>
  <p:tag name="KSO_WM_UNIT_VALUE" val="230"/>
  <p:tag name="KSO_WM_UNIT_SHOW_EDIT_AREA_INDICATION" val="1"/>
  <p:tag name="KSO_WM_CHIP_GROUPID" val="5e6b05596848fb12bee65ac8"/>
  <p:tag name="KSO_WM_CHIP_XID" val="5e6b05596848fb12bee65aca"/>
  <p:tag name="KSO_WM_UNIT_DEC_AREA_ID" val="a73f4afbbe454fc19397a593b982958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28e2f5a7b644e26ae66fd197146e197"/>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24054ed1e2fb802f5"/>
  <p:tag name="KSO_WM_TEMPLATE_ASSEMBLE_GROUPID" val="60656f124054ed1e2fb802f5"/>
</p:tagLst>
</file>

<file path=ppt/tags/tag32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9&quot;,&quot;maxSize&quot;:{&quot;size1&quot;:22.2},&quot;minSize&quot;:{&quot;size1&quot;:13.5},&quot;normalSize&quot;:{&quot;size1&quot;:13.5},&quot;subLayout&quot;:[{&quot;id&quot;:&quot;2022-08-21T16:04:59&quot;,&quot;margin&quot;:{&quot;bottom&quot;:0.026000002399086952,&quot;left&quot;:2.117000102996826,&quot;right&quot;:1.2699999809265137,&quot;top&quot;:0.4230000078678131},&quot;type&quot;:0},{&quot;id&quot;:&quot;2022-08-21T16:04:59&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2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32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8&quot;,&quot;maxSize&quot;:{&quot;size1&quot;:22.2},&quot;minSize&quot;:{&quot;size1&quot;:13.5},&quot;normalSize&quot;:{&quot;size1&quot;:13.5},&quot;subLayout&quot;:[{&quot;id&quot;:&quot;2022-08-21T16:04:58&quot;,&quot;margin&quot;:{&quot;bottom&quot;:0.026000002399086952,&quot;left&quot;:2.117000102996826,&quot;right&quot;:1.2699999809265137,&quot;top&quot;:0.4230000078678131},&quot;type&quot;:0},{&quot;id&quot;:&quot;2022-08-21T16:04: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727ef4be-ad15-4b3a-8f6a-b77894aeca41}"/>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ef40465d-3405-4c7a-a209-2450002081d7}"/>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29.xml><?xml version="1.0" encoding="utf-8"?>
<p:tagLst xmlns:p="http://schemas.openxmlformats.org/presentationml/2006/main">
  <p:tag name="KSO_WM_SLIDE_BK_DARK_LIGHT" val=""/>
  <p:tag name="KSO_WM_SLIDE_BACKGROUND_TYPE" val="general"/>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2687_1*i*5"/>
  <p:tag name="KSO_WM_TEMPLATE_CATEGORY" val="diagram"/>
  <p:tag name="KSO_WM_TEMPLATE_INDEX" val="20212687"/>
  <p:tag name="KSO_WM_UNIT_LAYERLEVEL" val="1"/>
  <p:tag name="KSO_WM_TAG_VERSION" val="1.0"/>
  <p:tag name="KSO_WM_BEAUTIFY_FLAG" val="#wm#"/>
  <p:tag name="KSO_WM_UNIT_BLOCK" val="0"/>
  <p:tag name="KSO_WM_UNIT_SM_LIMIT_TYPE" val="2"/>
  <p:tag name="KSO_WM_UNIT_DEC_AREA_ID" val="1db9c723d5a24b58ab96c856c0cd4e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CHIP_GROUPID" val="5f71a4e3747e3ea6e293b256"/>
  <p:tag name="KSO_WM_CHIP_XID" val="5f71a4e3747e3ea6e293b257"/>
  <p:tag name="KSO_WM_UNIT_TEXT_FILL_FORE_SCHEMECOLOR_INDEX_BRIGHTNESS" val="0"/>
  <p:tag name="KSO_WM_UNIT_TEXT_FILL_FORE_SCHEMECOLOR_INDEX" val="13"/>
  <p:tag name="KSO_WM_UNIT_TEXT_FILL_TYPE" val="1"/>
  <p:tag name="KSO_WM_UNIT_VALUE" val="4"/>
  <p:tag name="KSO_WM_TEMPLATE_ASSEMBLE_XID" val="60656f654054ed1e2fb80946"/>
  <p:tag name="KSO_WM_TEMPLATE_ASSEMBLE_GROUPID" val="60656f654054ed1e2fb80946"/>
</p:tagLst>
</file>

<file path=ppt/tags/tag3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Lst>
</file>

<file path=ppt/tags/tag3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Lst>
</file>

<file path=ppt/tags/tag335.xml><?xml version="1.0" encoding="utf-8"?>
<p:tagLst xmlns:p="http://schemas.openxmlformats.org/presentationml/2006/main">
  <p:tag name="KSO_WM_BEAUTIFY_FLAG" val="#wm#"/>
  <p:tag name="KSO_WM_UNIT_TYPE" val="β"/>
  <p:tag name="TABLE_SKINIDX" val="2"/>
  <p:tag name="TABLE_COLORIDX" val="c"/>
  <p:tag name="KSO_WM_UNIT_TABLE_BEAUTIFY" val="smartTable{cfc52cf9-75f3-4b59-aa1e-58fd096eabc6}"/>
  <p:tag name="TABLE_ENDDRAG_ORIGIN_RECT" val="436*195"/>
  <p:tag name="TABLE_ENDDRAG_RECT" val="26*128*436*195"/>
</p:tagLst>
</file>

<file path=ppt/tags/tag3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Lst>
</file>

<file path=ppt/tags/tag337.xml><?xml version="1.0" encoding="utf-8"?>
<p:tagLst xmlns:p="http://schemas.openxmlformats.org/presentationml/2006/main">
  <p:tag name="KSO_WM_BEAUTIFY_FLAG" val="#wm#"/>
  <p:tag name="KSO_WM_UNIT_TYPE" val="β"/>
  <p:tag name="TABLE_SKINIDX" val="2"/>
  <p:tag name="TABLE_COLORIDX" val="c"/>
  <p:tag name="KSO_WM_UNIT_TABLE_BEAUTIFY" val="smartTable{eb9ea51e-112c-48e5-a473-d5a90de58bb1}"/>
  <p:tag name="TABLE_ENDDRAG_ORIGIN_RECT" val="436*195"/>
  <p:tag name="TABLE_ENDDRAG_RECT" val="26*128*436*195"/>
</p:tagLst>
</file>

<file path=ppt/tags/tag3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87_1*f*1"/>
  <p:tag name="KSO_WM_TEMPLATE_CATEGORY" val="diagram"/>
  <p:tag name="KSO_WM_TEMPLATE_INDEX" val="20212687"/>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2f65476610884515a783e28ff726962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6b42b278f644c11948fd074fdb9ea30"/>
  <p:tag name="KSO_WM_UNIT_TEXT_FILL_FORE_SCHEMECOLOR_INDEX_BRIGHTNESS" val="0.25"/>
  <p:tag name="KSO_WM_UNIT_TEXT_FILL_FORE_SCHEMECOLOR_INDEX" val="13"/>
  <p:tag name="KSO_WM_UNIT_TEXT_FILL_TYPE" val="1"/>
  <p:tag name="KSO_WM_TEMPLATE_ASSEMBLE_XID" val="60656f654054ed1e2fb80946"/>
  <p:tag name="KSO_WM_TEMPLATE_ASSEMBLE_GROUPID" val="60656f654054ed1e2fb80946"/>
</p:tagLst>
</file>

<file path=ppt/tags/tag33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2&quot;,&quot;maxSize&quot;:{&quot;size1&quot;:22.2},&quot;minSize&quot;:{&quot;size1&quot;:13.5},&quot;normalSize&quot;:{&quot;size1&quot;:13.5},&quot;subLayout&quot;:[{&quot;id&quot;:&quot;2022-08-21T16:05:02&quot;,&quot;margin&quot;:{&quot;bottom&quot;:0.026000002399086952,&quot;left&quot;:2.117000102996826,&quot;right&quot;:1.2699999809265137,&quot;top&quot;:0.4230000078678131},&quot;type&quot;:0},{&quot;id&quot;:&quot;2022-08-21T16:05:0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34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34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4:58&quot;,&quot;maxSize&quot;:{&quot;size1&quot;:22.2},&quot;minSize&quot;:{&quot;size1&quot;:13.5},&quot;normalSize&quot;:{&quot;size1&quot;:13.5},&quot;subLayout&quot;:[{&quot;id&quot;:&quot;2022-08-21T16:04:58&quot;,&quot;margin&quot;:{&quot;bottom&quot;:0.026000002399086952,&quot;left&quot;:2.117000102996826,&quot;right&quot;:1.2699999809265137,&quot;top&quot;:0.4230000078678131},&quot;type&quot;:0},{&quot;id&quot;:&quot;2022-08-21T16:04:58&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4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34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4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5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5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35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2&quot;,&quot;maxSize&quot;:{&quot;size1&quot;:22.2},&quot;minSize&quot;:{&quot;size1&quot;:13.5},&quot;normalSize&quot;:{&quot;size1&quot;:13.5},&quot;subLayout&quot;:[{&quot;id&quot;:&quot;2022-08-21T16:05:02&quot;,&quot;margin&quot;:{&quot;bottom&quot;:0.026000002399086952,&quot;left&quot;:2.117000102996826,&quot;right&quot;:1.2699999809265137,&quot;top&quot;:0.4230000078678131},&quot;type&quot;:0},{&quot;id&quot;:&quot;2022-08-21T16:05:02&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35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3&quot;,&quot;maxSize&quot;:{&quot;size1&quot;:22.2},&quot;minSize&quot;:{&quot;size1&quot;:13.5},&quot;normalSize&quot;:{&quot;size1&quot;:13.5},&quot;subLayout&quot;:[{&quot;id&quot;:&quot;2022-08-21T16:05:03&quot;,&quot;margin&quot;:{&quot;bottom&quot;:0.026000002399086952,&quot;left&quot;:2.117000102996826,&quot;right&quot;:1.2699999809265137,&quot;top&quot;:0.4230000078678131},&quot;type&quot;:0},{&quot;id&quot;:&quot;2022-08-21T16:05:0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1.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362.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363.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364.xml><?xml version="1.0" encoding="utf-8"?>
<p:tagLst xmlns:p="http://schemas.openxmlformats.org/presentationml/2006/main">
  <p:tag name="KSO_WM_UNIT_FILL_FORE_SCHEMECOLOR_INDEX_BRIGHTNESS" val="-0.25"/>
  <p:tag name="KSO_WM_UNIT_FILL_FORE_SCHEMECOLOR_INDEX" val="9"/>
  <p:tag name="KSO_WM_UNIT_FILL_TYPE" val="1"/>
  <p:tag name="KSO_WM_UNIT_TEXT_FILL_FORE_SCHEMECOLOR_INDEX_BRIGHTNESS" val="0"/>
  <p:tag name="KSO_WM_UNIT_TEXT_FILL_FORE_SCHEMECOLOR_INDEX" val="2"/>
  <p:tag name="KSO_WM_UNIT_TEXT_FILL_TYPE" val="1"/>
</p:tagLst>
</file>

<file path=ppt/tags/tag3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379.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3&quot;,&quot;maxSize&quot;:{&quot;size1&quot;:22.2},&quot;minSize&quot;:{&quot;size1&quot;:13.5},&quot;normalSize&quot;:{&quot;size1&quot;:13.5},&quot;subLayout&quot;:[{&quot;id&quot;:&quot;2022-08-21T16:05:03&quot;,&quot;margin&quot;:{&quot;bottom&quot;:0.026000002399086952,&quot;left&quot;:2.117000102996826,&quot;right&quot;:1.2699999809265137,&quot;top&quot;:0.4230000078678131},&quot;type&quot;:0},{&quot;id&quot;:&quot;2022-08-21T16:05:0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8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8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3&quot;,&quot;maxSize&quot;:{&quot;size1&quot;:22.2},&quot;minSize&quot;:{&quot;size1&quot;:13.5},&quot;normalSize&quot;:{&quot;size1&quot;:13.5},&quot;subLayout&quot;:[{&quot;id&quot;:&quot;2022-08-21T16:05:03&quot;,&quot;margin&quot;:{&quot;bottom&quot;:0.026000002399086952,&quot;left&quot;:2.117000102996826,&quot;right&quot;:1.2699999809265137,&quot;top&quot;:0.4230000078678131},&quot;type&quot;:0},{&quot;id&quot;:&quot;2022-08-21T16:05:0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d8df20e39ed64c549853196dce0d805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8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38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8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8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8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9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92.xml><?xml version="1.0" encoding="utf-8"?>
<p:tagLst xmlns:p="http://schemas.openxmlformats.org/presentationml/2006/main">
  <p:tag name="KSO_WM_SLIDE_ID" val="diagram20220059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492"/>
  <p:tag name="KSO_WM_SLIDE_POSITION" val="36*24"/>
  <p:tag name="KSO_WM_SLIDE_LAYOUT" val="a_b_d"/>
  <p:tag name="KSO_WM_SLIDE_LAYOUT_CNT" val="1_1_1"/>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8-21T16:05:04&quot;,&quot;maxSize&quot;:{&quot;size1&quot;:31.1},&quot;minSize&quot;:{&quot;size1&quot;:20},&quot;normalSize&quot;:{&quot;size1&quot;:20},&quot;subLayout&quot;:[{&quot;id&quot;:&quot;2022-08-21T16:05:04&quot;,&quot;maxSize&quot;:{&quot;size1&quot;:100},&quot;minSize&quot;:{&quot;size1&quot;:66.7},&quot;normalSize&quot;:{&quot;size1&quot;:66.7},&quot;subLayout&quot;:[{&quot;id&quot;:&quot;2022-08-21T16:05:04&quot;,&quot;margin&quot;:{&quot;bottom&quot;:0.026000002399086952,&quot;left&quot;:2.117000102996826,&quot;right&quot;:1.2699999809265137,&quot;top&quot;:0.847000002861023},&quot;type&quot;:0},{&quot;id&quot;:&quot;2022-08-21T16:05:04&quot;,&quot;margin&quot;:{&quot;bottom&quot;:0,&quot;left&quot;:2.117000102996826,&quot;right&quot;:1.2699999809265137,&quot;top&quot;:0},&quot;type&quot;:0}],&quot;type&quot;:0},{&quot;id&quot;:&quot;2022-08-21T16:05:04&quot;,&quot;margin&quot;:{&quot;bottom&quot;:0.847000002861023,&quot;left&quot;:1.2699999809265137,&quot;right&quot;:1.2699999809265137,&quot;top&quot;:0.3970000147819519},&quot;type&quot;:0}],&quot;type&quot;:0}"/>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39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39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9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9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39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40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3&quot;,&quot;maxSize&quot;:{&quot;size1&quot;:22.2},&quot;minSize&quot;:{&quot;size1&quot;:13.5},&quot;normalSize&quot;:{&quot;size1&quot;:13.5},&quot;subLayout&quot;:[{&quot;id&quot;:&quot;2022-08-21T16:05:03&quot;,&quot;margin&quot;:{&quot;bottom&quot;:0.026000002399086952,&quot;left&quot;:2.117000102996826,&quot;right&quot;:1.2699999809265137,&quot;top&quot;:0.4230000078678131},&quot;type&quot;:0},{&quot;id&quot;:&quot;2022-08-21T16:05:03&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0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0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0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4&quot;,&quot;maxSize&quot;:{&quot;size1&quot;:22.2},&quot;minSize&quot;:{&quot;size1&quot;:13.5},&quot;normalSize&quot;:{&quot;size1&quot;:13.5},&quot;subLayout&quot;:[{&quot;id&quot;:&quot;2022-08-21T16:05:04&quot;,&quot;margin&quot;:{&quot;bottom&quot;:0.026000002399086952,&quot;left&quot;:2.117000102996826,&quot;right&quot;:1.2699999809265137,&quot;top&quot;:0.4230000078678131},&quot;type&quot;:0},{&quot;id&quot;:&quot;2022-08-21T16:05:0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1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1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4&quot;,&quot;maxSize&quot;:{&quot;size1&quot;:22.2},&quot;minSize&quot;:{&quot;size1&quot;:13.5},&quot;normalSize&quot;:{&quot;size1&quot;:13.5},&quot;subLayout&quot;:[{&quot;id&quot;:&quot;2022-08-21T16:05:04&quot;,&quot;margin&quot;:{&quot;bottom&quot;:0.026000002399086952,&quot;left&quot;:2.117000102996826,&quot;right&quot;:1.2699999809265137,&quot;top&quot;:0.4230000078678131},&quot;type&quot;:0},{&quot;id&quot;:&quot;2022-08-21T16:05:04&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4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1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5&quot;,&quot;maxSize&quot;:{&quot;size1&quot;:22.2},&quot;minSize&quot;:{&quot;size1&quot;:13.5},&quot;normalSize&quot;:{&quot;size1&quot;:13.5},&quot;subLayout&quot;:[{&quot;id&quot;:&quot;2022-08-21T16:05:05&quot;,&quot;margin&quot;:{&quot;bottom&quot;:0.026000002399086952,&quot;left&quot;:2.117000102996826,&quot;right&quot;:1.2699999809265137,&quot;top&quot;:0.4230000078678131},&quot;type&quot;:0},{&quot;id&quot;:&quot;2022-08-21T16:05:0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4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2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6&quot;,&quot;maxSize&quot;:{&quot;size1&quot;:22.2},&quot;minSize&quot;:{&quot;size1&quot;:13.5},&quot;normalSize&quot;:{&quot;size1&quot;:13.5},&quot;subLayout&quot;:[{&quot;id&quot;:&quot;2022-08-21T16:05:06&quot;,&quot;margin&quot;:{&quot;bottom&quot;:0.026000002399086952,&quot;left&quot;:2.117000102996826,&quot;right&quot;:1.2699999809265137,&quot;top&quot;:0.4230000078678131},&quot;type&quot;:0},{&quot;id&quot;:&quot;2022-08-21T16:05:0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2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Lst>
</file>

<file path=ppt/tags/tag42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2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2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3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Lst>
</file>

<file path=ppt/tags/tag43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4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43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5&quot;,&quot;maxSize&quot;:{&quot;size1&quot;:22.2},&quot;minSize&quot;:{&quot;size1&quot;:13.5},&quot;normalSize&quot;:{&quot;size1&quot;:13.5},&quot;subLayout&quot;:[{&quot;id&quot;:&quot;2022-08-21T16:05:05&quot;,&quot;margin&quot;:{&quot;bottom&quot;:0.026000002399086952,&quot;left&quot;:2.117000102996826,&quot;right&quot;:1.2699999809265137,&quot;top&quot;:0.4230000078678131},&quot;type&quot;:0},{&quot;id&quot;:&quot;2022-08-21T16:05:05&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4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438.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6&quot;,&quot;maxSize&quot;:{&quot;size1&quot;:22.2},&quot;minSize&quot;:{&quot;size1&quot;:13.5},&quot;normalSize&quot;:{&quot;size1&quot;:13.5},&quot;subLayout&quot;:[{&quot;id&quot;:&quot;2022-08-21T16:05:06&quot;,&quot;margin&quot;:{&quot;bottom&quot;:0.026000002399086952,&quot;left&quot;:2.117000102996826,&quot;right&quot;:1.2699999809265137,&quot;top&quot;:0.4230000078678131},&quot;type&quot;:0},{&quot;id&quot;:&quot;2022-08-21T16:05:0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4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Lst>
</file>

<file path=ppt/tags/tag443.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6&quot;,&quot;maxSize&quot;:{&quot;size1&quot;:22.2},&quot;minSize&quot;:{&quot;size1&quot;:13.5},&quot;normalSize&quot;:{&quot;size1&quot;:13.5},&quot;subLayout&quot;:[{&quot;id&quot;:&quot;2022-08-21T16:05:06&quot;,&quot;margin&quot;:{&quot;bottom&quot;:0.026000002399086952,&quot;left&quot;:2.117000102996826,&quot;right&quot;:1.2699999809265137,&quot;top&quot;:0.4230000078678131},&quot;type&quot;:0},{&quot;id&quot;:&quot;2022-08-21T16:05:0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2_1*f*1"/>
  <p:tag name="KSO_WM_TEMPLATE_CATEGORY" val="diagram"/>
  <p:tag name="KSO_WM_TEMPLATE_INDEX" val="20217162"/>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599060e93e194705ae6626e197e7456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39a8c031c0a04093a656c951f1459733"/>
  <p:tag name="KSO_WM_UNIT_TEXT_FILL_FORE_SCHEMECOLOR_INDEX_BRIGHTNESS" val="0.25"/>
  <p:tag name="KSO_WM_UNIT_TEXT_FILL_FORE_SCHEMECOLOR_INDEX" val="13"/>
  <p:tag name="KSO_WM_UNIT_TEXT_FILL_TYPE" val="1"/>
  <p:tag name="KSO_WM_TEMPLATE_ASSEMBLE_XID" val="6065706c4054ed1e2fb8150b"/>
  <p:tag name="KSO_WM_TEMPLATE_ASSEMBLE_GROUPID" val="6065706c4054ed1e2fb8150b"/>
</p:tagLst>
</file>

<file path=ppt/tags/tag44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06&quot;,&quot;maxSize&quot;:{&quot;size1&quot;:22.2},&quot;minSize&quot;:{&quot;size1&quot;:13.5},&quot;normalSize&quot;:{&quot;size1&quot;:13.5},&quot;subLayout&quot;:[{&quot;id&quot;:&quot;2022-08-21T16:05:06&quot;,&quot;margin&quot;:{&quot;bottom&quot;:0.026000002399086952,&quot;left&quot;:2.117000102996826,&quot;right&quot;:1.2699999809265137,&quot;top&quot;:0.4230000078678131},&quot;type&quot;:0},{&quot;id&quot;:&quot;2022-08-21T16:05:06&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4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5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10&quot;,&quot;maxSize&quot;:{&quot;size1&quot;:22.2},&quot;minSize&quot;:{&quot;size1&quot;:13.5},&quot;normalSize&quot;:{&quot;size1&quot;:13.5},&quot;subLayout&quot;:[{&quot;id&quot;:&quot;2022-08-21T16:05:10&quot;,&quot;margin&quot;:{&quot;bottom&quot;:0.026000002399086952,&quot;left&quot;:2.117000102996826,&quot;right&quot;:1.2699999809265137,&quot;top&quot;:0.4230000078678131},&quot;type&quot;:0},{&quot;id&quot;:&quot;2022-08-21T16:05:1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707_1*f*1"/>
  <p:tag name="KSO_WM_TEMPLATE_CATEGORY" val="diagram"/>
  <p:tag name="KSO_WM_TEMPLATE_INDEX" val="20212707"/>
  <p:tag name="KSO_WM_UNIT_LAYERLEVEL" val="1"/>
  <p:tag name="KSO_WM_TAG_VERSION" val="1.0"/>
  <p:tag name="KSO_WM_BEAUTIFY_FLAG" val="#wm#"/>
  <p:tag name="KSO_WM_UNIT_DEFAULT_FONT" val="14;20;2"/>
  <p:tag name="KSO_WM_UNIT_BLOCK" val="0"/>
  <p:tag name="KSO_WM_UNIT_VALUE" val="88"/>
  <p:tag name="KSO_WM_UNIT_SHOW_EDIT_AREA_INDICATION" val="1"/>
  <p:tag name="KSO_WM_CHIP_GROUPID" val="5e6b05596848fb12bee65ac8"/>
  <p:tag name="KSO_WM_CHIP_XID" val="5e6b05596848fb12bee65aca"/>
  <p:tag name="KSO_WM_UNIT_DEC_AREA_ID" val="53936eb6b5eb4ea685d3fe38416d5c4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305cabaf632b44e9a0a42cb51e41fd0e"/>
  <p:tag name="KSO_WM_UNIT_TEXT_FILL_FORE_SCHEMECOLOR_INDEX_BRIGHTNESS" val="0.25"/>
  <p:tag name="KSO_WM_UNIT_TEXT_FILL_FORE_SCHEMECOLOR_INDEX" val="13"/>
  <p:tag name="KSO_WM_UNIT_TEXT_FILL_TYPE" val="1"/>
  <p:tag name="KSO_WM_TEMPLATE_ASSEMBLE_XID" val="60656f644054ed1e2fb80938"/>
  <p:tag name="KSO_WM_TEMPLATE_ASSEMBLE_GROUPID" val="60656f644054ed1e2fb80938"/>
</p:tagLst>
</file>

<file path=ppt/tags/tag4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57.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11&quot;,&quot;maxSize&quot;:{&quot;size1&quot;:22.2},&quot;minSize&quot;:{&quot;size1&quot;:13.5},&quot;normalSize&quot;:{&quot;size1&quot;:13.5},&quot;subLayout&quot;:[{&quot;id&quot;:&quot;2022-08-21T16:05:11&quot;,&quot;margin&quot;:{&quot;bottom&quot;:0.026000002399086952,&quot;left&quot;:2.117000102996826,&quot;right&quot;:1.2699999809265137,&quot;top&quot;:0.4230000078678131},&quot;type&quot;:0},{&quot;id&quot;:&quot;2022-08-21T16:05:1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6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62.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10&quot;,&quot;maxSize&quot;:{&quot;size1&quot;:22.2},&quot;minSize&quot;:{&quot;size1&quot;:13.5},&quot;normalSize&quot;:{&quot;size1&quot;:13.5},&quot;subLayout&quot;:[{&quot;id&quot;:&quot;2022-08-21T16:05:10&quot;,&quot;margin&quot;:{&quot;bottom&quot;:0.026000002399086952,&quot;left&quot;:2.117000102996826,&quot;right&quot;:1.2699999809265137,&quot;top&quot;:0.4230000078678131},&quot;type&quot;:0},{&quot;id&quot;:&quot;2022-08-21T16:05:1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6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10&quot;,&quot;maxSize&quot;:{&quot;size1&quot;:22.2},&quot;minSize&quot;:{&quot;size1&quot;:13.5},&quot;normalSize&quot;:{&quot;size1&quot;:13.5},&quot;subLayout&quot;:[{&quot;id&quot;:&quot;2022-08-21T16:05:10&quot;,&quot;margin&quot;:{&quot;bottom&quot;:0.026000002399086952,&quot;left&quot;:2.117000102996826,&quot;right&quot;:1.2699999809265137,&quot;top&quot;:0.4230000078678131},&quot;type&quot;:0},{&quot;id&quot;:&quot;2022-08-21T16:05:10&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d8df20e39ed64c549853196dce0d805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7315_1*i*1"/>
  <p:tag name="KSO_WM_UNIT_LAYERLEVEL" val="1"/>
  <p:tag name="KSO_WM_TAG_VERSION" val="1.0"/>
  <p:tag name="KSO_WM_BEAUTIFY_FLAG" val="#wm#"/>
  <p:tag name="KSO_WM_UNIT_TYPE" val="i"/>
  <p:tag name="KSO_WM_UNIT_INDEX" val="1"/>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7315"/>
  <p:tag name="KSO_WM_UNIT_VALUE" val="901"/>
  <p:tag name="KSO_WM_TEMPLATE_ASSEMBLE_XID" val="6130c4e08b5cc6c91112a571"/>
  <p:tag name="KSO_WM_TEMPLATE_ASSEMBLE_GROUPID" val="6130c4e08b5cc6c91112a571"/>
</p:tagLst>
</file>

<file path=ppt/tags/tag4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2*b*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NOCLEAR" val="0"/>
  <p:tag name="KSO_WM_UNIT_VALUE" val="48"/>
  <p:tag name="KSO_WM_UNIT_TYPE" val="b"/>
  <p:tag name="KSO_WM_UNIT_INDEX" val="1"/>
  <p:tag name="KSO_WM_UNIT_BLOCK" val="0"/>
  <p:tag name="KSO_WM_UNIT_SM_LIMIT_TYPE" val="2"/>
  <p:tag name="KSO_WM_UNIT_DEC_AREA_ID" val="f6250ba35f9c4870ab3f5fd2cf038ea1"/>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TEXT_FILL_FORE_SCHEMECOLOR_INDEX_BRIGHTNESS" val="0.15"/>
  <p:tag name="KSO_WM_UNIT_TEXT_FILL_FORE_SCHEMECOLOR_INDEX" val="13"/>
  <p:tag name="KSO_WM_UNIT_TEXT_FILL_TYPE" val="1"/>
</p:tagLst>
</file>

<file path=ppt/tags/tag472.xml><?xml version="1.0" encoding="utf-8"?>
<p:tagLst xmlns:p="http://schemas.openxmlformats.org/presentationml/2006/main">
  <p:tag name="KSO_WM_SLIDE_ID" val="diagram20220059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492"/>
  <p:tag name="KSO_WM_SLIDE_POSITION" val="36*24"/>
  <p:tag name="KSO_WM_SLIDE_LAYOUT" val="a_b_d"/>
  <p:tag name="KSO_WM_SLIDE_LAYOUT_CNT" val="1_1_1"/>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8-21T16:05:10&quot;,&quot;maxSize&quot;:{&quot;size1&quot;:31.1},&quot;minSize&quot;:{&quot;size1&quot;:20},&quot;normalSize&quot;:{&quot;size1&quot;:20},&quot;subLayout&quot;:[{&quot;id&quot;:&quot;2022-08-21T16:05:10&quot;,&quot;maxSize&quot;:{&quot;size1&quot;:100},&quot;minSize&quot;:{&quot;size1&quot;:66.7},&quot;normalSize&quot;:{&quot;size1&quot;:66.7},&quot;subLayout&quot;:[{&quot;id&quot;:&quot;2022-08-21T16:05:10&quot;,&quot;margin&quot;:{&quot;bottom&quot;:0.026000002399086952,&quot;left&quot;:2.117000102996826,&quot;right&quot;:1.2699999809265137,&quot;top&quot;:0.847000002861023},&quot;type&quot;:0},{&quot;id&quot;:&quot;2022-08-21T16:05:10&quot;,&quot;margin&quot;:{&quot;bottom&quot;:0,&quot;left&quot;:2.117000102996826,&quot;right&quot;:1.2699999809265137,&quot;top&quot;:0},&quot;type&quot;:0}],&quot;type&quot;:0},{&quot;id&quot;:&quot;2022-08-21T16:05:10&quot;,&quot;margin&quot;:{&quot;bottom&quot;:0.847000002861023,&quot;left&quot;:1.2699999809265137,&quot;right&quot;:1.2699999809265137,&quot;top&quot;:0.3970000147819519},&quot;type&quot;:0}],&quot;type&quot;:0}"/>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779_1*f*1"/>
  <p:tag name="KSO_WM_TEMPLATE_CATEGORY" val="diagram"/>
  <p:tag name="KSO_WM_TEMPLATE_INDEX" val="20212779"/>
  <p:tag name="KSO_WM_UNIT_LAYERLEVEL" val="1"/>
  <p:tag name="KSO_WM_TAG_VERSION" val="1.0"/>
  <p:tag name="KSO_WM_BEAUTIFY_FLAG" val="#wm#"/>
  <p:tag name="KSO_WM_UNIT_DEFAULT_FONT" val="14;20;2"/>
  <p:tag name="KSO_WM_UNIT_BLOCK" val="0"/>
  <p:tag name="KSO_WM_UNIT_VALUE" val="152"/>
  <p:tag name="KSO_WM_UNIT_SHOW_EDIT_AREA_INDICATION" val="1"/>
  <p:tag name="KSO_WM_CHIP_GROUPID" val="5e6b05596848fb12bee65ac8"/>
  <p:tag name="KSO_WM_CHIP_XID" val="5e6b05596848fb12bee65aca"/>
  <p:tag name="KSO_WM_UNIT_DEC_AREA_ID" val="a9f3cb13934c4100a37eb63e23669faa"/>
  <p:tag name="KSO_WM_CHIP_FILLAREA_FILL_RULE" val="{&quot;fill_align&quot;:&quot;lm&quot;,&quot;fill_mode&quot;:&quot;full&quot;,&quot;sacle_strategy&quot;:&quot;smart&quot;}"/>
  <p:tag name="KSO_WM_ASSEMBLE_CHIP_INDEX" val="4b8217d9f9ee4888b55d6f3821e44fbf"/>
  <p:tag name="KSO_WM_UNIT_SUPPORT_UNIT_TYPE" val="[&quot;d&quot;]"/>
  <p:tag name="KSO_WM_UNIT_TEXT_FILL_FORE_SCHEMECOLOR_INDEX_BRIGHTNESS" val="0.25"/>
  <p:tag name="KSO_WM_UNIT_TEXT_FILL_FORE_SCHEMECOLOR_INDEX" val="13"/>
  <p:tag name="KSO_WM_UNIT_TEXT_FILL_TYPE" val="1"/>
  <p:tag name="KSO_WM_TEMPLATE_ASSEMBLE_XID" val="60656f424054ed1e2fb8066e"/>
  <p:tag name="KSO_WM_TEMPLATE_ASSEMBLE_GROUPID" val="60656f424054ed1e2fb8066e"/>
</p:tagLst>
</file>

<file path=ppt/tags/tag476.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11&quot;,&quot;maxSize&quot;:{&quot;size1&quot;:22.2},&quot;minSize&quot;:{&quot;size1&quot;:13.5},&quot;normalSize&quot;:{&quot;size1&quot;:13.5},&quot;subLayout&quot;:[{&quot;id&quot;:&quot;2022-08-21T16:05:11&quot;,&quot;margin&quot;:{&quot;bottom&quot;:0.026000002399086952,&quot;left&quot;:2.117000102996826,&quot;right&quot;:1.2699999809265137,&quot;top&quot;:0.4230000078678131},&quot;type&quot;:0},{&quot;id&quot;:&quot;2022-08-21T16:05:1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7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779_1*f*1"/>
  <p:tag name="KSO_WM_TEMPLATE_CATEGORY" val="diagram"/>
  <p:tag name="KSO_WM_TEMPLATE_INDEX" val="20212779"/>
  <p:tag name="KSO_WM_UNIT_LAYERLEVEL" val="1"/>
  <p:tag name="KSO_WM_TAG_VERSION" val="1.0"/>
  <p:tag name="KSO_WM_BEAUTIFY_FLAG" val="#wm#"/>
  <p:tag name="KSO_WM_UNIT_DEFAULT_FONT" val="14;20;2"/>
  <p:tag name="KSO_WM_UNIT_BLOCK" val="0"/>
  <p:tag name="KSO_WM_UNIT_VALUE" val="152"/>
  <p:tag name="KSO_WM_UNIT_SHOW_EDIT_AREA_INDICATION" val="1"/>
  <p:tag name="KSO_WM_CHIP_GROUPID" val="5e6b05596848fb12bee65ac8"/>
  <p:tag name="KSO_WM_CHIP_XID" val="5e6b05596848fb12bee65aca"/>
  <p:tag name="KSO_WM_UNIT_DEC_AREA_ID" val="a9f3cb13934c4100a37eb63e23669faa"/>
  <p:tag name="KSO_WM_CHIP_FILLAREA_FILL_RULE" val="{&quot;fill_align&quot;:&quot;lm&quot;,&quot;fill_mode&quot;:&quot;full&quot;,&quot;sacle_strategy&quot;:&quot;smart&quot;}"/>
  <p:tag name="KSO_WM_ASSEMBLE_CHIP_INDEX" val="4b8217d9f9ee4888b55d6f3821e44fbf"/>
  <p:tag name="KSO_WM_UNIT_SUPPORT_UNIT_TYPE" val="[&quot;d&quot;]"/>
  <p:tag name="KSO_WM_UNIT_TEXT_FILL_FORE_SCHEMECOLOR_INDEX_BRIGHTNESS" val="0.25"/>
  <p:tag name="KSO_WM_UNIT_TEXT_FILL_FORE_SCHEMECOLOR_INDEX" val="13"/>
  <p:tag name="KSO_WM_UNIT_TEXT_FILL_TYPE" val="1"/>
  <p:tag name="KSO_WM_TEMPLATE_ASSEMBLE_XID" val="60656f424054ed1e2fb8066e"/>
  <p:tag name="KSO_WM_TEMPLATE_ASSEMBLE_GROUPID" val="60656f424054ed1e2fb8066e"/>
</p:tagLst>
</file>

<file path=ppt/tags/tag480.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11&quot;,&quot;maxSize&quot;:{&quot;size1&quot;:22.2},&quot;minSize&quot;:{&quot;size1&quot;:13.5},&quot;normalSize&quot;:{&quot;size1&quot;:13.5},&quot;subLayout&quot;:[{&quot;id&quot;:&quot;2022-08-21T16:05:11&quot;,&quot;margin&quot;:{&quot;bottom&quot;:0.026000002399086952,&quot;left&quot;:2.117000102996826,&quot;right&quot;:1.2699999809265137,&quot;top&quot;:0.4230000078678131},&quot;type&quot;:0},{&quot;id&quot;:&quot;2022-08-21T16:05:1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8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779_1*f*1"/>
  <p:tag name="KSO_WM_TEMPLATE_CATEGORY" val="diagram"/>
  <p:tag name="KSO_WM_TEMPLATE_INDEX" val="20212779"/>
  <p:tag name="KSO_WM_UNIT_LAYERLEVEL" val="1"/>
  <p:tag name="KSO_WM_TAG_VERSION" val="1.0"/>
  <p:tag name="KSO_WM_BEAUTIFY_FLAG" val="#wm#"/>
  <p:tag name="KSO_WM_UNIT_DEFAULT_FONT" val="14;20;2"/>
  <p:tag name="KSO_WM_UNIT_BLOCK" val="0"/>
  <p:tag name="KSO_WM_UNIT_VALUE" val="152"/>
  <p:tag name="KSO_WM_UNIT_SHOW_EDIT_AREA_INDICATION" val="1"/>
  <p:tag name="KSO_WM_CHIP_GROUPID" val="5e6b05596848fb12bee65ac8"/>
  <p:tag name="KSO_WM_CHIP_XID" val="5e6b05596848fb12bee65aca"/>
  <p:tag name="KSO_WM_UNIT_DEC_AREA_ID" val="a9f3cb13934c4100a37eb63e23669faa"/>
  <p:tag name="KSO_WM_CHIP_FILLAREA_FILL_RULE" val="{&quot;fill_align&quot;:&quot;lm&quot;,&quot;fill_mode&quot;:&quot;full&quot;,&quot;sacle_strategy&quot;:&quot;smart&quot;}"/>
  <p:tag name="KSO_WM_ASSEMBLE_CHIP_INDEX" val="4b8217d9f9ee4888b55d6f3821e44fbf"/>
  <p:tag name="KSO_WM_UNIT_SUPPORT_UNIT_TYPE" val="[&quot;d&quot;]"/>
  <p:tag name="KSO_WM_UNIT_TEXT_FILL_FORE_SCHEMECOLOR_INDEX_BRIGHTNESS" val="0.25"/>
  <p:tag name="KSO_WM_UNIT_TEXT_FILL_FORE_SCHEMECOLOR_INDEX" val="13"/>
  <p:tag name="KSO_WM_UNIT_TEXT_FILL_TYPE" val="1"/>
  <p:tag name="KSO_WM_TEMPLATE_ASSEMBLE_XID" val="60656f424054ed1e2fb8066e"/>
  <p:tag name="KSO_WM_TEMPLATE_ASSEMBLE_GROUPID" val="60656f424054ed1e2fb8066e"/>
</p:tagLst>
</file>

<file path=ppt/tags/tag484.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11&quot;,&quot;maxSize&quot;:{&quot;size1&quot;:22.2},&quot;minSize&quot;:{&quot;size1&quot;:13.5},&quot;normalSize&quot;:{&quot;size1&quot;:13.5},&quot;subLayout&quot;:[{&quot;id&quot;:&quot;2022-08-21T16:05:11&quot;,&quot;margin&quot;:{&quot;bottom&quot;:0.026000002399086952,&quot;left&quot;:2.117000102996826,&quot;right&quot;:1.2699999809265137,&quot;top&quot;:0.4230000078678131},&quot;type&quot;:0},{&quot;id&quot;:&quot;2022-08-21T16:05:1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a*1"/>
  <p:tag name="KSO_WM_TEMPLATE_CATEGORY" val="diagram"/>
  <p:tag name="KSO_WM_TEMPLATE_INDEX" val="20220059"/>
  <p:tag name="KSO_WM_UNIT_LAYERLEVEL" val="1"/>
  <p:tag name="KSO_WM_TAG_VERSION" val="1.0"/>
  <p:tag name="KSO_WM_BEAUTIFY_FLAG" val="#wm#"/>
  <p:tag name="KSO_WM_UNIT_ISCONTENTSTITLE" val="0"/>
  <p:tag name="KSO_WM_UNIT_ISNUMDGMTITLE" val="0"/>
  <p:tag name="KSO_WM_UNIT_PRESET_TEXT" val="简约上下导航版"/>
  <p:tag name="KSO_WM_UNIT_NOCLEAR" val="0"/>
  <p:tag name="KSO_WM_UNIT_VALUE" val="27"/>
  <p:tag name="KSO_WM_UNIT_TYPE" val="a"/>
  <p:tag name="KSO_WM_UNIT_INDEX" val="1"/>
  <p:tag name="KSO_WM_UNIT_BLOCK" val="0"/>
  <p:tag name="KSO_WM_UNIT_SM_LIMIT_TYPE" val="2"/>
  <p:tag name="KSO_WM_UNIT_DEC_AREA_ID" val="e98b3a31ebe84ee79486e9f4651df9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9_1*i*1"/>
  <p:tag name="KSO_WM_TEMPLATE_CATEGORY" val="diagram"/>
  <p:tag name="KSO_WM_TEMPLATE_INDEX" val="20220059"/>
  <p:tag name="KSO_WM_UNIT_LAYERLEVEL" val="1"/>
  <p:tag name="KSO_WM_TAG_VERSION" val="1.0"/>
  <p:tag name="KSO_WM_BEAUTIFY_FLAG" val="#wm#"/>
  <p:tag name="KSO_WM_UNIT_TYPE" val="i"/>
  <p:tag name="KSO_WM_UNIT_INDEX" val="1"/>
  <p:tag name="KSO_WM_UNIT_BLOCK" val="0"/>
  <p:tag name="KSO_WM_UNIT_SM_LIMIT_TYPE" val="4"/>
  <p:tag name="KSO_WM_UNIT_DEC_AREA_ID" val="676342c3ba794cb88f6857f432bf3175"/>
  <p:tag name="KSO_WM_UNIT_DECORATE_INFO" val="{&quot;ReferentInfo&quot;:{&quot;Id&quot;:&quot;e98b3a31ebe84ee79486e9f4651df90b&quot;,&quot;X&quot;:{&quot;Pos&quot;:0},&quot;Y&quot;:{&quot;Pos&quot;:1}},&quot;DecorateInfoX&quot;:{&quot;Pos&quot;:2,&quot;IsAbs&quot;:true},&quot;DecorateInfoY&quot;:{&quot;Pos&quot;:1,&quot;IsAbs&quot;:true},&quot;DecorateInfoW&quot;:{&quot;IsAbs&quot;:true},&quot;DecorateInfoH&quot;:{&quot;IsAbs&quot;:false},&quot;whChangeMode&quot;:0}"/>
  <p:tag name="KSO_WM_UNIT_LINE_FORE_SCHEMECOLOR_INDEX_BRIGHTNESS" val="0"/>
  <p:tag name="KSO_WM_UNIT_LINE_FORE_SCHEMECOLOR_INDEX" val="5"/>
  <p:tag name="KSO_WM_UNIT_LINE_FILL_TYPE" val="2"/>
</p:tagLst>
</file>

<file path=ppt/tags/tag48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779_1*f*1"/>
  <p:tag name="KSO_WM_TEMPLATE_CATEGORY" val="diagram"/>
  <p:tag name="KSO_WM_TEMPLATE_INDEX" val="20212779"/>
  <p:tag name="KSO_WM_UNIT_LAYERLEVEL" val="1"/>
  <p:tag name="KSO_WM_TAG_VERSION" val="1.0"/>
  <p:tag name="KSO_WM_BEAUTIFY_FLAG" val="#wm#"/>
  <p:tag name="KSO_WM_UNIT_DEFAULT_FONT" val="14;20;2"/>
  <p:tag name="KSO_WM_UNIT_BLOCK" val="0"/>
  <p:tag name="KSO_WM_UNIT_VALUE" val="152"/>
  <p:tag name="KSO_WM_UNIT_SHOW_EDIT_AREA_INDICATION" val="1"/>
  <p:tag name="KSO_WM_CHIP_GROUPID" val="5e6b05596848fb12bee65ac8"/>
  <p:tag name="KSO_WM_CHIP_XID" val="5e6b05596848fb12bee65aca"/>
  <p:tag name="KSO_WM_UNIT_DEC_AREA_ID" val="a9f3cb13934c4100a37eb63e23669faa"/>
  <p:tag name="KSO_WM_CHIP_FILLAREA_FILL_RULE" val="{&quot;fill_align&quot;:&quot;lm&quot;,&quot;fill_mode&quot;:&quot;full&quot;,&quot;sacle_strategy&quot;:&quot;smart&quot;}"/>
  <p:tag name="KSO_WM_ASSEMBLE_CHIP_INDEX" val="4b8217d9f9ee4888b55d6f3821e44fbf"/>
  <p:tag name="KSO_WM_UNIT_SUPPORT_UNIT_TYPE" val="[&quot;d&quot;]"/>
  <p:tag name="KSO_WM_UNIT_TEXT_FILL_FORE_SCHEMECOLOR_INDEX_BRIGHTNESS" val="0.25"/>
  <p:tag name="KSO_WM_UNIT_TEXT_FILL_FORE_SCHEMECOLOR_INDEX" val="13"/>
  <p:tag name="KSO_WM_UNIT_TEXT_FILL_TYPE" val="1"/>
  <p:tag name="KSO_WM_TEMPLATE_ASSEMBLE_XID" val="60656f424054ed1e2fb8066e"/>
  <p:tag name="KSO_WM_TEMPLATE_ASSEMBLE_GROUPID" val="60656f424054ed1e2fb8066e"/>
</p:tagLst>
</file>

<file path=ppt/tags/tag4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2779_1*f*2"/>
  <p:tag name="KSO_WM_TEMPLATE_CATEGORY" val="diagram"/>
  <p:tag name="KSO_WM_TEMPLATE_INDEX" val="20212779"/>
  <p:tag name="KSO_WM_UNIT_LAYERLEVEL" val="1"/>
  <p:tag name="KSO_WM_TAG_VERSION" val="1.0"/>
  <p:tag name="KSO_WM_BEAUTIFY_FLAG" val="#wm#"/>
  <p:tag name="KSO_WM_UNIT_DEFAULT_FONT" val="14;20;2"/>
  <p:tag name="KSO_WM_UNIT_BLOCK" val="0"/>
  <p:tag name="KSO_WM_UNIT_VALUE" val="152"/>
  <p:tag name="KSO_WM_UNIT_SHOW_EDIT_AREA_INDICATION" val="1"/>
  <p:tag name="KSO_WM_CHIP_GROUPID" val="5e6b05596848fb12bee65ac8"/>
  <p:tag name="KSO_WM_CHIP_XID" val="5e6b05596848fb12bee65aca"/>
  <p:tag name="KSO_WM_UNIT_DEC_AREA_ID" val="3e26ec34eb154315a3c07ff4fcce6d14"/>
  <p:tag name="KSO_WM_CHIP_FILLAREA_FILL_RULE" val="{&quot;fill_align&quot;:&quot;lm&quot;,&quot;fill_mode&quot;:&quot;full&quot;,&quot;sacle_strategy&quot;:&quot;smart&quot;}"/>
  <p:tag name="KSO_WM_ASSEMBLE_CHIP_INDEX" val="d451a14337c74662894f391f645aac58"/>
  <p:tag name="KSO_WM_UNIT_SUPPORT_UNIT_TYPE" val="[&quot;d&quot;]"/>
  <p:tag name="KSO_WM_UNIT_TEXT_FILL_FORE_SCHEMECOLOR_INDEX_BRIGHTNESS" val="0.25"/>
  <p:tag name="KSO_WM_UNIT_TEXT_FILL_FORE_SCHEMECOLOR_INDEX" val="13"/>
  <p:tag name="KSO_WM_UNIT_TEXT_FILL_TYPE" val="1"/>
  <p:tag name="KSO_WM_TEMPLATE_ASSEMBLE_XID" val="60656f424054ed1e2fb8066e"/>
  <p:tag name="KSO_WM_TEMPLATE_ASSEMBLE_GROUPID" val="60656f424054ed1e2fb8066e"/>
</p:tagLst>
</file>

<file path=ppt/tags/tag48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9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491.xml><?xml version="1.0" encoding="utf-8"?>
<p:tagLst xmlns:p="http://schemas.openxmlformats.org/presentationml/2006/main">
  <p:tag name="KSO_WM_SLIDE_ID" val="diagram20220059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9"/>
  <p:tag name="KSO_WM_SLIDE_TYPE" val="text"/>
  <p:tag name="KSO_WM_SLIDE_SUBTYPE" val="picTxt"/>
  <p:tag name="KSO_WM_SLIDE_LAYOUTTYPE" val="topbottom"/>
  <p:tag name="KSO_WM_SLIDE_SIZE" val="888*504"/>
  <p:tag name="KSO_WM_SLIDE_POSITION" val="36*12"/>
  <p:tag name="KSO_WM_SLIDE_LAYOUT" val="a_d"/>
  <p:tag name="KSO_WM_SLIDE_LAYOUT_CNT" val="1_1"/>
  <p:tag name="KSO_WM_SLIDE_LAYOUT_INFO" val="{&quot;backgroundInfo&quot;:[{&quot;bottom&quot;:0,&quot;bottomAbs&quot;:false,&quot;left&quot;:0,&quot;leftAbs&quot;:false,&quot;right&quot;:0,&quot;rightAbs&quot;:false,&quot;top&quot;:0,&quot;topAbs&quot;:false,&quot;type&quot;:&quot;general&quot;}],&quot;id&quot;:&quot;2022-08-21T16:05:11&quot;,&quot;maxSize&quot;:{&quot;size1&quot;:22.2},&quot;minSize&quot;:{&quot;size1&quot;:13.5},&quot;normalSize&quot;:{&quot;size1&quot;:13.5},&quot;subLayout&quot;:[{&quot;id&quot;:&quot;2022-08-21T16:05:11&quot;,&quot;margin&quot;:{&quot;bottom&quot;:0.026000002399086952,&quot;left&quot;:2.117000102996826,&quot;right&quot;:1.2699999809265137,&quot;top&quot;:0.4230000078678131},&quot;type&quot;:0},{&quot;id&quot;:&quot;2022-08-21T16:05:11&quot;,&quot;margin&quot;:{&quot;bottom&quot;:0.847000002861023,&quot;left&quot;:1.2790000438690186,&quot;right&quot;:1.2610000371932983,&quot;top&quot;:0.3970000147819519},&quot;type&quot;:0}],&quot;type&quot;:0}"/>
  <p:tag name="KSO_WM_SLIDE_RATIO" val="1.777778"/>
  <p:tag name="KSO_WM_SLIDE_BACKGROUND" val="[&quot;general&quot;]"/>
</p:tagLst>
</file>

<file path=ppt/tags/tag492.xml><?xml version="1.0" encoding="utf-8"?>
<p:tagLst xmlns:p="http://schemas.openxmlformats.org/presentationml/2006/main">
  <p:tag name="KSO_WM_BEAUTIFY_FLAG" val="#wm#"/>
  <p:tag name="KSO_WM_TEMPLATE_CATEGORY" val="diagram"/>
  <p:tag name="KSO_WM_TEMPLATE_INDEX" val="20220059"/>
</p:tagLst>
</file>

<file path=ppt/tags/tag493.xml><?xml version="1.0" encoding="utf-8"?>
<p:tagLst xmlns:p="http://schemas.openxmlformats.org/presentationml/2006/main">
  <p:tag name="COMMONDATA" val="eyJoZGlkIjoiYzgwYTliZDBhMzdlY2M5ZjlmY2FkNGNmZmJjMzljZWMifQ=="/>
  <p:tag name="KSO_WPP_MARK_KEY" val="43890e60-2f5e-4182-9363-2be153c716c6"/>
</p:tagLst>
</file>

<file path=ppt/theme/theme1.xml><?xml version="1.0" encoding="utf-8"?>
<a:theme xmlns:a="http://schemas.openxmlformats.org/drawingml/2006/main" name="柏林">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Berlin">
      <a:majorFont>
        <a:latin typeface="Trebuchet M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博弈论</Template>
  <TotalTime>0</TotalTime>
  <Words>9419</Words>
  <Application>WPS 演示</Application>
  <PresentationFormat>宽屏</PresentationFormat>
  <Paragraphs>910</Paragraphs>
  <Slides>51</Slides>
  <Notes>0</Notes>
  <HiddenSlides>0</HiddenSlides>
  <MMClips>0</MMClips>
  <ScaleCrop>false</ScaleCrop>
  <HeadingPairs>
    <vt:vector size="8" baseType="variant">
      <vt:variant>
        <vt:lpstr>已用的字体</vt:lpstr>
      </vt:variant>
      <vt:variant>
        <vt:i4>24</vt:i4>
      </vt:variant>
      <vt:variant>
        <vt:lpstr>主题</vt:lpstr>
      </vt:variant>
      <vt:variant>
        <vt:i4>2</vt:i4>
      </vt:variant>
      <vt:variant>
        <vt:lpstr>嵌入 OLE 服务器</vt:lpstr>
      </vt:variant>
      <vt:variant>
        <vt:i4>5</vt:i4>
      </vt:variant>
      <vt:variant>
        <vt:lpstr>幻灯片标题</vt:lpstr>
      </vt:variant>
      <vt:variant>
        <vt:i4>51</vt:i4>
      </vt:variant>
    </vt:vector>
  </HeadingPairs>
  <TitlesOfParts>
    <vt:vector size="82" baseType="lpstr">
      <vt:lpstr>Arial</vt:lpstr>
      <vt:lpstr>宋体</vt:lpstr>
      <vt:lpstr>Wingdings</vt:lpstr>
      <vt:lpstr>隶书</vt:lpstr>
      <vt:lpstr>华文彩云</vt:lpstr>
      <vt:lpstr>Wide Latin</vt:lpstr>
      <vt:lpstr>微软雅黑</vt:lpstr>
      <vt:lpstr>华文新魏</vt:lpstr>
      <vt:lpstr>华文行楷</vt:lpstr>
      <vt:lpstr>YouSheBiaoTiHei</vt:lpstr>
      <vt:lpstr>Segoe Print</vt:lpstr>
      <vt:lpstr>华文中宋</vt:lpstr>
      <vt:lpstr>Wingdings</vt:lpstr>
      <vt:lpstr>Segoe UI</vt:lpstr>
      <vt:lpstr>Times New Roman</vt:lpstr>
      <vt:lpstr>Arial Unicode MS</vt:lpstr>
      <vt:lpstr>Calibri</vt:lpstr>
      <vt:lpstr>Cambria Math</vt:lpstr>
      <vt:lpstr>Courier New</vt:lpstr>
      <vt:lpstr>MS Mincho</vt:lpstr>
      <vt:lpstr>Cambria Math</vt:lpstr>
      <vt:lpstr>Wingdings 3</vt:lpstr>
      <vt:lpstr>Trebuchet MS</vt:lpstr>
      <vt:lpstr>MS PGothic</vt:lpstr>
      <vt:lpstr>柏林</vt:lpstr>
      <vt:lpstr>1_Office 主题​​</vt:lpstr>
      <vt:lpstr>Equation.DSMT4</vt:lpstr>
      <vt:lpstr>Equation.DSMT4</vt:lpstr>
      <vt:lpstr>Equation.DSMT4</vt:lpstr>
      <vt:lpstr>Equation.3</vt:lpstr>
      <vt:lpstr>Equation.3</vt:lpstr>
      <vt:lpstr>PowerPoint 演示文稿</vt:lpstr>
      <vt:lpstr>第六讲：完全但不完美信息动态博弈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完美贝叶斯均衡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博弈论</dc:title>
  <dc:creator>anning</dc:creator>
  <cp:lastModifiedBy>夢晨</cp:lastModifiedBy>
  <cp:revision>359</cp:revision>
  <dcterms:created xsi:type="dcterms:W3CDTF">2017-06-11T00:17:00Z</dcterms:created>
  <dcterms:modified xsi:type="dcterms:W3CDTF">2026-05-20T02:46:57Z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7ED7DBC05410455E8BB1998ED6408DD9</vt:lpwstr>
  </property>
  <property fmtid="{D5CDD505-2E9C-101B-9397-08002B2CF9AE}" pid="3" name="KSOProductBuildVer">
    <vt:lpwstr>2052-12.1.0.25865</vt:lpwstr>
  </property>
</Properties>
</file>