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v" ContentType="video/x-ms-wm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heme/theme3.xml" ContentType="application/vnd.openxmlformats-officedocument.them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1.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2.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3.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4.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5.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6.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7.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8.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9.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10.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11.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notesSlides/notesSlide12.xml" ContentType="application/vnd.openxmlformats-officedocument.presentationml.notesSlid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notesSlides/notesSlide13.xml" ContentType="application/vnd.openxmlformats-officedocument.presentationml.notesSlide+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14.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notesSlides/notesSlide15.xml" ContentType="application/vnd.openxmlformats-officedocument.presentationml.notesSlide+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16.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notesSlides/notesSlide17.xml" ContentType="application/vnd.openxmlformats-officedocument.presentationml.notesSlide+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notesSlides/notesSlide18.xml" ContentType="application/vnd.openxmlformats-officedocument.presentationml.notesSlide+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19.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notesSlides/notesSlide20.xml" ContentType="application/vnd.openxmlformats-officedocument.presentationml.notesSlide+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notesSlides/notesSlide21.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notesSlides/notesSlide22.xml" ContentType="application/vnd.openxmlformats-officedocument.presentationml.notesSlide+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notesSlides/notesSlide23.xml" ContentType="application/vnd.openxmlformats-officedocument.presentationml.notesSlide+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notesSlides/notesSlide24.xml" ContentType="application/vnd.openxmlformats-officedocument.presentationml.notesSlide+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notesSlides/notesSlide25.xml" ContentType="application/vnd.openxmlformats-officedocument.presentationml.notesSlide+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26.xml" ContentType="application/vnd.openxmlformats-officedocument.presentationml.notesSlide+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notesSlides/notesSlide27.xml" ContentType="application/vnd.openxmlformats-officedocument.presentationml.notesSlide+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notesSlides/notesSlide28.xml" ContentType="application/vnd.openxmlformats-officedocument.presentationml.notesSlide+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notesSlides/notesSlide29.xml" ContentType="application/vnd.openxmlformats-officedocument.presentationml.notesSlide+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notesSlides/notesSlide30.xml" ContentType="application/vnd.openxmlformats-officedocument.presentationml.notesSlide+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notesSlides/notesSlide31.xml" ContentType="application/vnd.openxmlformats-officedocument.presentationml.notesSlide+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notesSlides/notesSlide32.xml" ContentType="application/vnd.openxmlformats-officedocument.presentationml.notesSlide+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notesSlides/notesSlide33.xml" ContentType="application/vnd.openxmlformats-officedocument.presentationml.notesSlid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notesSlides/notesSlide34.xml" ContentType="application/vnd.openxmlformats-officedocument.presentationml.notesSlide+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notesSlides/notesSlide35.xml" ContentType="application/vnd.openxmlformats-officedocument.presentationml.notesSlide+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notesSlides/notesSlide36.xml" ContentType="application/vnd.openxmlformats-officedocument.presentationml.notesSlide+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notesSlides/notesSlide37.xml" ContentType="application/vnd.openxmlformats-officedocument.presentationml.notesSlide+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notesSlides/notesSlide38.xml" ContentType="application/vnd.openxmlformats-officedocument.presentationml.notesSlide+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notesSlides/notesSlide39.xml" ContentType="application/vnd.openxmlformats-officedocument.presentationml.notesSlide+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notesSlides/notesSlide40.xml" ContentType="application/vnd.openxmlformats-officedocument.presentationml.notesSlide+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notesSlides/notesSlide41.xml" ContentType="application/vnd.openxmlformats-officedocument.presentationml.notesSlide+xml"/>
  <Override PartName="/ppt/tags/tag45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260.xml" ContentType="application/vnd.openxmlformats-officedocument.presentationml.tags+xml"/>
  <Override PartName="/ppt/tags/tag2920.xml" ContentType="application/vnd.openxmlformats-officedocument.presentationml.tags+xml"/>
  <Override PartName="/ppt/tags/tag2960.xml" ContentType="application/vnd.openxmlformats-officedocument.presentationml.tags+xml"/>
  <Override PartName="/ppt/tags/tag3140.xml" ContentType="application/vnd.openxmlformats-officedocument.presentationml.tags+xml"/>
  <Override PartName="/ppt/tags/tag325.xml" ContentType="application/vnd.openxmlformats-officedocument.presentationml.tags+xml"/>
  <Override PartName="/ppt/tags/tag382.xml" ContentType="application/vnd.openxmlformats-officedocument.presentationml.tags+xml"/>
  <Override PartName="/ppt/tags/tag387.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6" r:id="rId2"/>
  </p:sldMasterIdLst>
  <p:notesMasterIdLst>
    <p:notesMasterId r:id="rId60"/>
  </p:notesMasterIdLst>
  <p:sldIdLst>
    <p:sldId id="415" r:id="rId3"/>
    <p:sldId id="416" r:id="rId4"/>
    <p:sldId id="380" r:id="rId5"/>
    <p:sldId id="479" r:id="rId6"/>
    <p:sldId id="478" r:id="rId7"/>
    <p:sldId id="482" r:id="rId8"/>
    <p:sldId id="381" r:id="rId9"/>
    <p:sldId id="382" r:id="rId10"/>
    <p:sldId id="383" r:id="rId11"/>
    <p:sldId id="384" r:id="rId12"/>
    <p:sldId id="483" r:id="rId13"/>
    <p:sldId id="573" r:id="rId14"/>
    <p:sldId id="574" r:id="rId15"/>
    <p:sldId id="575" r:id="rId16"/>
    <p:sldId id="576" r:id="rId17"/>
    <p:sldId id="386" r:id="rId18"/>
    <p:sldId id="387" r:id="rId19"/>
    <p:sldId id="484" r:id="rId20"/>
    <p:sldId id="517" r:id="rId21"/>
    <p:sldId id="544" r:id="rId22"/>
    <p:sldId id="388" r:id="rId23"/>
    <p:sldId id="389" r:id="rId24"/>
    <p:sldId id="453" r:id="rId25"/>
    <p:sldId id="545" r:id="rId26"/>
    <p:sldId id="392" r:id="rId27"/>
    <p:sldId id="393" r:id="rId28"/>
    <p:sldId id="546" r:id="rId29"/>
    <p:sldId id="394" r:id="rId30"/>
    <p:sldId id="395" r:id="rId31"/>
    <p:sldId id="572" r:id="rId32"/>
    <p:sldId id="396" r:id="rId33"/>
    <p:sldId id="610" r:id="rId34"/>
    <p:sldId id="611" r:id="rId35"/>
    <p:sldId id="397" r:id="rId36"/>
    <p:sldId id="614" r:id="rId37"/>
    <p:sldId id="615" r:id="rId38"/>
    <p:sldId id="398" r:id="rId39"/>
    <p:sldId id="616" r:id="rId40"/>
    <p:sldId id="617" r:id="rId41"/>
    <p:sldId id="399" r:id="rId42"/>
    <p:sldId id="618" r:id="rId43"/>
    <p:sldId id="400" r:id="rId44"/>
    <p:sldId id="401" r:id="rId45"/>
    <p:sldId id="403" r:id="rId46"/>
    <p:sldId id="404" r:id="rId47"/>
    <p:sldId id="405" r:id="rId48"/>
    <p:sldId id="406" r:id="rId49"/>
    <p:sldId id="407" r:id="rId50"/>
    <p:sldId id="408" r:id="rId51"/>
    <p:sldId id="409" r:id="rId52"/>
    <p:sldId id="410" r:id="rId53"/>
    <p:sldId id="411" r:id="rId54"/>
    <p:sldId id="412" r:id="rId55"/>
    <p:sldId id="619" r:id="rId56"/>
    <p:sldId id="413" r:id="rId57"/>
    <p:sldId id="620" r:id="rId58"/>
    <p:sldId id="414" r:id="rId59"/>
  </p:sldIdLst>
  <p:sldSz cx="12192000" cy="6858000"/>
  <p:notesSz cx="6858000" cy="9144000"/>
  <p:custDataLst>
    <p:tags r:id="rId6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1" userDrawn="1">
          <p15:clr>
            <a:srgbClr val="A4A3A4"/>
          </p15:clr>
        </p15:guide>
        <p15:guide id="2" pos="38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66D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howGuides="1">
      <p:cViewPr varScale="1">
        <p:scale>
          <a:sx n="99" d="100"/>
          <a:sy n="99" d="100"/>
        </p:scale>
        <p:origin x="504" y="56"/>
      </p:cViewPr>
      <p:guideLst>
        <p:guide orient="horz" pos="2341"/>
        <p:guide pos="3875"/>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tags" Target="tags/tag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ct val="150000"/>
              </a:lnSpc>
              <a:buFont typeface="Wingdings" panose="05000000000000000000" pitchFamily="2" charset="2"/>
              <a:buNone/>
            </a:pP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ct val="150000"/>
              </a:lnSpc>
              <a:buFont typeface="Wingdings" panose="05000000000000000000" pitchFamily="2" charset="2"/>
              <a:buNone/>
            </a:pP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ct val="150000"/>
              </a:lnSpc>
              <a:buFont typeface="Wingdings" panose="05000000000000000000" pitchFamily="2" charset="2"/>
              <a:buNone/>
            </a:pP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ct val="150000"/>
              </a:lnSpc>
              <a:buFont typeface="Wingdings" panose="05000000000000000000" pitchFamily="2" charset="2"/>
              <a:buNone/>
            </a:pP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ct val="150000"/>
              </a:lnSpc>
              <a:buFont typeface="Wingdings" panose="05000000000000000000" pitchFamily="2" charset="2"/>
              <a:buNone/>
            </a:pP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altLang="zh-CN" baseline="30000">
              <a:latin typeface="Times New Roman" panose="02020603050405020304" pitchFamily="18" charset="0"/>
              <a:ea typeface="宋体" panose="02010600030101010101" pitchFamily="2" charset="-122"/>
              <a:cs typeface="Times New Roman" panose="02020603050405020304" pitchFamily="18" charset="0"/>
              <a:sym typeface="+mn-ea"/>
            </a:endParaRPr>
          </a:p>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wmv"/><Relationship Id="rId1" Type="http://schemas.microsoft.com/office/2007/relationships/media" Target="../media/media1.wmv"/><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2.xml"/><Relationship Id="rId5" Type="http://schemas.openxmlformats.org/officeDocument/2006/relationships/tags" Target="../tags/tag25.xml"/><Relationship Id="rId4" Type="http://schemas.openxmlformats.org/officeDocument/2006/relationships/tags" Target="../tags/tag24.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Master" Target="../slideMasters/slideMaster2.xml"/><Relationship Id="rId4" Type="http://schemas.openxmlformats.org/officeDocument/2006/relationships/tags" Target="../tags/tag49.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2.xml"/><Relationship Id="rId5" Type="http://schemas.openxmlformats.org/officeDocument/2006/relationships/tags" Target="../tags/tag63.xml"/><Relationship Id="rId4" Type="http://schemas.openxmlformats.org/officeDocument/2006/relationships/tags" Target="../tags/tag62.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slideMaster" Target="../slideMasters/slideMaster2.xml"/><Relationship Id="rId4" Type="http://schemas.openxmlformats.org/officeDocument/2006/relationships/tags" Target="../tags/tag67.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3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10" Type="http://schemas.openxmlformats.org/officeDocument/2006/relationships/slideMaster" Target="../slideMasters/slideMaster2.xml"/><Relationship Id="rId4" Type="http://schemas.openxmlformats.org/officeDocument/2006/relationships/tags" Target="../tags/tag92.xml"/><Relationship Id="rId9" Type="http://schemas.openxmlformats.org/officeDocument/2006/relationships/tags" Target="../tags/tag97.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10" Type="http://schemas.openxmlformats.org/officeDocument/2006/relationships/slideMaster" Target="../slideMasters/slideMaster2.xml"/><Relationship Id="rId4" Type="http://schemas.openxmlformats.org/officeDocument/2006/relationships/tags" Target="../tags/tag101.xml"/><Relationship Id="rId9" Type="http://schemas.openxmlformats.org/officeDocument/2006/relationships/tags" Target="../tags/tag106.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14.xml"/><Relationship Id="rId3" Type="http://schemas.openxmlformats.org/officeDocument/2006/relationships/tags" Target="../tags/tag109.xml"/><Relationship Id="rId7" Type="http://schemas.openxmlformats.org/officeDocument/2006/relationships/tags" Target="../tags/tag113.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9"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slideMaster" Target="../slideMasters/slideMaster2.xml"/><Relationship Id="rId4" Type="http://schemas.openxmlformats.org/officeDocument/2006/relationships/tags" Target="../tags/tag118.xml"/><Relationship Id="rId9" Type="http://schemas.openxmlformats.org/officeDocument/2006/relationships/tags" Target="../tags/tag123.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26.xml"/><Relationship Id="rId7" Type="http://schemas.openxmlformats.org/officeDocument/2006/relationships/slideMaster" Target="../slideMasters/slideMaster2.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userDrawn="1"/>
        </p:nvSpPr>
        <p:spPr>
          <a:xfrm>
            <a:off x="4151784" y="2590078"/>
            <a:ext cx="4816301" cy="1660332"/>
          </a:xfrm>
          <a:prstGeom prst="rect">
            <a:avLst/>
          </a:prstGeom>
          <a:solidFill>
            <a:schemeClr val="bg1">
              <a:lumMod val="85000"/>
              <a:lumOff val="15000"/>
            </a:schemeClr>
          </a:solidFill>
          <a:ln>
            <a:no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295800" y="2733709"/>
            <a:ext cx="4528656" cy="1373070"/>
          </a:xfrm>
        </p:spPr>
        <p:txBody>
          <a:bodyPr anchor="b">
            <a:noAutofit/>
          </a:bodyPr>
          <a:lstStyle>
            <a:lvl1pPr algn="r">
              <a:defRPr sz="4000">
                <a:latin typeface="隶书" panose="02010509060101010101" pitchFamily="49" charset="-122"/>
                <a:ea typeface="隶书" panose="02010509060101010101" pitchFamily="49" charset="-122"/>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4295800" y="4394039"/>
            <a:ext cx="4528656" cy="1117687"/>
          </a:xfrm>
        </p:spPr>
        <p:txBody>
          <a:bodyPr>
            <a:normAutofit/>
          </a:bodyPr>
          <a:lstStyle>
            <a:lvl1pPr marL="0" indent="0" algn="r">
              <a:buNone/>
              <a:defRPr sz="2800">
                <a:latin typeface="华文彩云" panose="02010800040101010101" pitchFamily="2" charset="-122"/>
                <a:ea typeface="华文彩云" panose="020108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a:xfrm>
            <a:off x="2708691" y="6196856"/>
            <a:ext cx="2743200" cy="365125"/>
          </a:xfrm>
        </p:spPr>
        <p:txBody>
          <a:bodyPr/>
          <a:lstStyle>
            <a:lvl1pPr>
              <a:defRPr sz="1400">
                <a:latin typeface="Wide Latin" panose="020A0A07050505020404" pitchFamily="18" charset="0"/>
              </a:defRPr>
            </a:lvl1pPr>
          </a:lstStyle>
          <a:p>
            <a:fld id="{78ABE3C1-DBE1-495D-B57B-2849774B866A}" type="datetimeFigureOut">
              <a:rPr lang="en-US" smtClean="0"/>
              <a:t>6/8/2026</a:t>
            </a:fld>
            <a:endParaRPr lang="en-US" dirty="0"/>
          </a:p>
        </p:txBody>
      </p:sp>
      <p:sp>
        <p:nvSpPr>
          <p:cNvPr id="17" name="Arc 7"/>
          <p:cNvSpPr/>
          <p:nvPr userDrawn="1"/>
        </p:nvSpPr>
        <p:spPr>
          <a:xfrm>
            <a:off x="-5064224" y="548680"/>
            <a:ext cx="9144000" cy="6172200"/>
          </a:xfrm>
          <a:prstGeom prst="arc">
            <a:avLst>
              <a:gd name="adj1" fmla="val 16769945"/>
              <a:gd name="adj2" fmla="val 4842458"/>
            </a:avLst>
          </a:prstGeom>
          <a:noFill/>
          <a:ln w="25400">
            <a:solidFill>
              <a:schemeClr val="tx1">
                <a:alpha val="50196"/>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8" name="Gears_720x720 (seamless loop)_v3.wmv">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5" cstate="print"/>
          <a:stretch>
            <a:fillRect/>
          </a:stretch>
        </p:blipFill>
        <p:spPr>
          <a:xfrm>
            <a:off x="-3139440" y="0"/>
            <a:ext cx="6858000" cy="6858000"/>
          </a:xfrm>
          <a:prstGeom prst="chord">
            <a:avLst>
              <a:gd name="adj1" fmla="val 15899861"/>
              <a:gd name="adj2" fmla="val 5700170"/>
            </a:avLst>
          </a:prstGeom>
          <a:effectLst>
            <a:outerShdw blurRad="254000" dist="38100" algn="l" rotWithShape="0">
              <a:schemeClr val="tx1">
                <a:alpha val="86000"/>
              </a:schemeClr>
            </a:outerShdw>
          </a:effectLst>
          <a:scene3d>
            <a:camera prst="orthographicFront"/>
            <a:lightRig rig="threePt" dir="t"/>
          </a:scene3d>
          <a:sp3d>
            <a:bevelT/>
          </a:sp3d>
        </p:spPr>
      </p:pic>
      <p:sp>
        <p:nvSpPr>
          <p:cNvPr id="19" name="Arc 8"/>
          <p:cNvSpPr/>
          <p:nvPr userDrawn="1"/>
        </p:nvSpPr>
        <p:spPr>
          <a:xfrm>
            <a:off x="-5801139" y="45720"/>
            <a:ext cx="8686800" cy="6400800"/>
          </a:xfrm>
          <a:prstGeom prst="arc">
            <a:avLst>
              <a:gd name="adj1" fmla="val 16200000"/>
              <a:gd name="adj2" fmla="val 5392005"/>
            </a:avLst>
          </a:prstGeom>
          <a:noFill/>
          <a:ln w="57150">
            <a:gradFill flip="none" rotWithShape="1">
              <a:gsLst>
                <a:gs pos="0">
                  <a:schemeClr val="tx2">
                    <a:lumMod val="20000"/>
                    <a:lumOff val="80000"/>
                    <a:alpha val="30000"/>
                  </a:schemeClr>
                </a:gs>
                <a:gs pos="100000">
                  <a:schemeClr val="accent5">
                    <a:lumMod val="20000"/>
                    <a:lumOff val="80000"/>
                    <a:alpha val="1000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20" name="图片 19"/>
          <p:cNvPicPr>
            <a:picLocks noChangeAspect="1"/>
          </p:cNvPicPr>
          <p:nvPr userDrawn="1"/>
        </p:nvPicPr>
        <p:blipFill>
          <a:blip r:embed="rId6"/>
          <a:stretch>
            <a:fillRect/>
          </a:stretch>
        </p:blipFill>
        <p:spPr>
          <a:xfrm>
            <a:off x="10920536" y="5577880"/>
            <a:ext cx="1143000" cy="1143000"/>
          </a:xfrm>
          <a:prstGeom prst="rect">
            <a:avLst/>
          </a:prstGeom>
          <a:scene3d>
            <a:camera prst="orthographicFront"/>
            <a:lightRig rig="threePt" dir="t"/>
          </a:scene3d>
          <a:sp3d>
            <a:bevelT/>
          </a:sp3d>
        </p:spPr>
      </p:pic>
      <p:grpSp>
        <p:nvGrpSpPr>
          <p:cNvPr id="21" name="Group 174"/>
          <p:cNvGrpSpPr/>
          <p:nvPr userDrawn="1"/>
        </p:nvGrpSpPr>
        <p:grpSpPr>
          <a:xfrm>
            <a:off x="9255345" y="2689662"/>
            <a:ext cx="1521175" cy="1461163"/>
            <a:chOff x="3689350" y="2546350"/>
            <a:chExt cx="1765300" cy="1765300"/>
          </a:xfrm>
          <a:scene3d>
            <a:camera prst="orthographicFront">
              <a:rot lat="0" lon="0" rev="0"/>
            </a:camera>
            <a:lightRig rig="chilly" dir="t">
              <a:rot lat="0" lon="0" rev="18480000"/>
            </a:lightRig>
          </a:scene3d>
        </p:grpSpPr>
        <p:sp>
          <p:nvSpPr>
            <p:cNvPr id="2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8"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9"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0"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1"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2"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3"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80" fill="hold"/>
                                        <p:tgtEl>
                                          <p:spTgt spid="18"/>
                                        </p:tgtEl>
                                      </p:cBhvr>
                                    </p:cmd>
                                  </p:childTnLst>
                                </p:cTn>
                              </p:par>
                              <p:par>
                                <p:cTn id="7" presetID="8" presetClass="emph" presetSubtype="0" fill="hold" nodeType="withEffect">
                                  <p:stCondLst>
                                    <p:cond delay="0"/>
                                  </p:stCondLst>
                                  <p:childTnLst>
                                    <p:animRot by="5400000">
                                      <p:cBhvr>
                                        <p:cTn id="8" dur="4000" fill="hold"/>
                                        <p:tgtEl>
                                          <p:spTgt spid="21"/>
                                        </p:tgtEl>
                                        <p:attrNameLst>
                                          <p:attrName>r</p:attrName>
                                        </p:attrNameLst>
                                      </p:cBhvr>
                                    </p:animRot>
                                  </p:childTnLst>
                                </p:cTn>
                              </p:par>
                              <p:par>
                                <p:cTn id="9" presetID="14" presetClass="entr" presetSubtype="1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randombar(horizontal)">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repeatCount="indefinite" fill="hold" display="0">
                  <p:stCondLst>
                    <p:cond delay="indefinite"/>
                  </p:stCondLst>
                </p:cTn>
                <p:tgtEl>
                  <p:spTgt spid="18"/>
                </p:tgtEl>
              </p:cMediaNode>
            </p:video>
          </p:childTnLst>
        </p:cTn>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6" name="Picture 15"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defRPr sz="4000">
                <a:latin typeface="华文新魏" panose="02010800040101010101" pitchFamily="2" charset="-122"/>
                <a:ea typeface="华文新魏" panose="02010800040101010101" pitchFamily="2" charset="-122"/>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80321" y="2336872"/>
            <a:ext cx="9613861" cy="4260479"/>
          </a:xfrm>
        </p:spPr>
        <p:txBody>
          <a:bodyPr/>
          <a:lstStyle>
            <a:lvl1pPr>
              <a:defRPr sz="2800">
                <a:latin typeface="华文行楷" panose="02010800040101010101" pitchFamily="2" charset="-122"/>
                <a:ea typeface="华文行楷" panose="02010800040101010101" pitchFamily="2" charset="-122"/>
              </a:defRPr>
            </a:lvl1pPr>
            <a:lvl2pPr>
              <a:defRPr sz="2400">
                <a:latin typeface="华文行楷" panose="02010800040101010101" pitchFamily="2" charset="-122"/>
                <a:ea typeface="华文行楷" panose="02010800040101010101" pitchFamily="2" charset="-122"/>
              </a:defRPr>
            </a:lvl2pPr>
            <a:lvl3pPr>
              <a:defRPr sz="2200">
                <a:latin typeface="华文行楷" panose="02010800040101010101" pitchFamily="2" charset="-122"/>
                <a:ea typeface="华文行楷" panose="02010800040101010101" pitchFamily="2" charset="-122"/>
              </a:defRPr>
            </a:lvl3pPr>
            <a:lvl4pPr>
              <a:defRPr sz="2000">
                <a:latin typeface="华文行楷" panose="02010800040101010101" pitchFamily="2" charset="-122"/>
                <a:ea typeface="华文行楷" panose="02010800040101010101" pitchFamily="2" charset="-122"/>
              </a:defRPr>
            </a:lvl4pPr>
            <a:lvl5pPr>
              <a:defRPr sz="2000">
                <a:latin typeface="华文行楷" panose="02010800040101010101" pitchFamily="2" charset="-122"/>
                <a:ea typeface="华文行楷" panose="020108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grpSp>
        <p:nvGrpSpPr>
          <p:cNvPr id="11" name="Group 174"/>
          <p:cNvGrpSpPr/>
          <p:nvPr userDrawn="1"/>
        </p:nvGrpSpPr>
        <p:grpSpPr>
          <a:xfrm>
            <a:off x="10775256" y="719341"/>
            <a:ext cx="1224136" cy="1180181"/>
            <a:chOff x="3689350" y="2546350"/>
            <a:chExt cx="1765300" cy="1765300"/>
          </a:xfrm>
          <a:scene3d>
            <a:camera prst="orthographicFront">
              <a:rot lat="0" lon="0" rev="0"/>
            </a:camera>
            <a:lightRig rig="chilly" dir="t">
              <a:rot lat="0" lon="0" rev="18480000"/>
            </a:lightRig>
          </a:scene3d>
        </p:grpSpPr>
        <p:sp>
          <p:nvSpPr>
            <p:cNvPr id="1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9"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0"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1"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2"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pic>
        <p:nvPicPr>
          <p:cNvPr id="8" name="图片 7"/>
          <p:cNvPicPr>
            <a:picLocks noChangeAspect="1"/>
          </p:cNvPicPr>
          <p:nvPr userDrawn="1"/>
        </p:nvPicPr>
        <p:blipFill>
          <a:blip r:embed="rId3"/>
          <a:stretch>
            <a:fillRect/>
          </a:stretch>
        </p:blipFill>
        <p:spPr>
          <a:xfrm>
            <a:off x="10925908" y="5589240"/>
            <a:ext cx="1143000" cy="1143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5400000">
                                      <p:cBhvr>
                                        <p:cTn id="6" dur="4000" fill="hold"/>
                                        <p:tgtEl>
                                          <p:spTgt spid="11"/>
                                        </p:tgtEl>
                                        <p:attrNameLst>
                                          <p:attrName>r</p:attrName>
                                        </p:attrNameLst>
                                      </p:cBhvr>
                                    </p:animRot>
                                  </p:childTnLst>
                                </p:cTn>
                              </p:par>
                              <p:par>
                                <p:cTn id="7" presetID="6" presetClass="emph" presetSubtype="0" fill="hold" nodeType="withEffect">
                                  <p:stCondLst>
                                    <p:cond delay="0"/>
                                  </p:stCondLst>
                                  <p:childTnLst>
                                    <p:animScale>
                                      <p:cBhvr>
                                        <p:cTn id="8" dur="2000" fill="hold"/>
                                        <p:tgtEl>
                                          <p:spTgt spid="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30578ACC-22D6-47C1-A373-4FD133E34F3C}" type="datetimeFigureOut">
              <a:rPr lang="en-US" dirty="0"/>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80320" y="2336873"/>
            <a:ext cx="4698358" cy="359931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5594123" y="2336873"/>
            <a:ext cx="4700058" cy="359931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80322" y="3030008"/>
            <a:ext cx="4698355" cy="29061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5594123" y="3030008"/>
            <a:ext cx="4700059" cy="29061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6/8/2026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6/8/2026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6/8/2026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685846" y="2336873"/>
            <a:ext cx="5608336" cy="359931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E331444B-B92B-4E27-8C94-BB93EAF5CB18}" type="datetimeFigureOut">
              <a:rPr lang="en-US" dirty="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363EFA5E-FA76-400D-B3DC-F0BA90E6D107}" type="datetimeFigureOut">
              <a:rPr lang="en-US" dirty="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46C117F-5CCF-4837-BE5F-2B92066CAFAF}" type="datetimeFigureOut">
              <a:rPr lang="en-US" dirty="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84EB90BD-B6CE-46B7-997F-7313B992CCDC}" type="datetimeFigureOut">
              <a:rPr lang="en-US" dirty="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hasCustomPrompt="1"/>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4" name="Text Placeholder 3"/>
          <p:cNvSpPr>
            <a:spLocks noGrp="1"/>
          </p:cNvSpPr>
          <p:nvPr>
            <p:ph type="body" sz="half" idx="2" hasCustomPrompt="1"/>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DB9D11F-B188-461D-B23F-39381795C052}" type="datetimeFigureOut">
              <a:rPr lang="en-US" dirty="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2E6D8D9-55A2-4063-B0F3-121F44549695}" type="datetimeFigureOut">
              <a:rPr lang="en-US" dirty="0"/>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zh-CN" altLang="en-US"/>
              <a:t>单击此处编辑母版标题样式</a:t>
            </a:r>
            <a:endParaRPr lang="en-US" dirty="0"/>
          </a:p>
        </p:txBody>
      </p:sp>
      <p:sp>
        <p:nvSpPr>
          <p:cNvPr id="7" name="Text Placeholder 2"/>
          <p:cNvSpPr>
            <a:spLocks noGrp="1"/>
          </p:cNvSpPr>
          <p:nvPr>
            <p:ph type="body" idx="1" hasCustomPrompt="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8" name="Text Placeholder 3"/>
          <p:cNvSpPr>
            <a:spLocks noGrp="1"/>
          </p:cNvSpPr>
          <p:nvPr>
            <p:ph type="body" sz="half" idx="15" hasCustomPrompt="1"/>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9" name="Text Placeholder 4"/>
          <p:cNvSpPr>
            <a:spLocks noGrp="1"/>
          </p:cNvSpPr>
          <p:nvPr>
            <p:ph type="body" sz="quarter" idx="3" hasCustomPrompt="1"/>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 name="Text Placeholder 3"/>
          <p:cNvSpPr>
            <a:spLocks noGrp="1"/>
          </p:cNvSpPr>
          <p:nvPr>
            <p:ph type="body" sz="half" idx="16" hasCustomPrompt="1"/>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1" name="Text Placeholder 4"/>
          <p:cNvSpPr>
            <a:spLocks noGrp="1"/>
          </p:cNvSpPr>
          <p:nvPr>
            <p:ph type="body" sz="quarter" idx="13" hasCustomPrompt="1"/>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2" name="Text Placeholder 3"/>
          <p:cNvSpPr>
            <a:spLocks noGrp="1"/>
          </p:cNvSpPr>
          <p:nvPr>
            <p:ph type="body" sz="half" idx="17" hasCustomPrompt="1"/>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3" name="Date Placeholder 2"/>
          <p:cNvSpPr>
            <a:spLocks noGrp="1"/>
          </p:cNvSpPr>
          <p:nvPr>
            <p:ph type="dt" sz="half" idx="10"/>
          </p:nvPr>
        </p:nvSpPr>
        <p:spPr/>
        <p:txBody>
          <a:bodyPr/>
          <a:lstStyle/>
          <a:p>
            <a:fld id="{D4B24536-994D-4021-A283-9F449C0DB509}" type="datetimeFigureOut">
              <a:rPr lang="en-US" dirty="0"/>
              <a:t>6/8/2026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zh-CN" altLang="en-US"/>
              <a:t>单击此处编辑母版标题样式</a:t>
            </a:r>
            <a:endParaRPr lang="en-US" dirty="0"/>
          </a:p>
        </p:txBody>
      </p:sp>
      <p:sp>
        <p:nvSpPr>
          <p:cNvPr id="19" name="Text Placeholder 2"/>
          <p:cNvSpPr>
            <a:spLocks noGrp="1"/>
          </p:cNvSpPr>
          <p:nvPr>
            <p:ph type="body" idx="1" hasCustomPrompt="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hasCustomPrompt="1"/>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22" name="Text Placeholder 4"/>
          <p:cNvSpPr>
            <a:spLocks noGrp="1"/>
          </p:cNvSpPr>
          <p:nvPr>
            <p:ph type="body" sz="quarter" idx="3" hasCustomPrompt="1"/>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hasCustomPrompt="1"/>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25" name="Text Placeholder 4"/>
          <p:cNvSpPr>
            <a:spLocks noGrp="1"/>
          </p:cNvSpPr>
          <p:nvPr>
            <p:ph type="body" sz="quarter" idx="13" hasCustomPrompt="1"/>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hasCustomPrompt="1"/>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3" name="Date Placeholder 2"/>
          <p:cNvSpPr>
            <a:spLocks noGrp="1"/>
          </p:cNvSpPr>
          <p:nvPr>
            <p:ph type="dt" sz="half" idx="10"/>
          </p:nvPr>
        </p:nvSpPr>
        <p:spPr/>
        <p:txBody>
          <a:bodyPr/>
          <a:lstStyle/>
          <a:p>
            <a:fld id="{3CBBBB78-C96F-47B7-AB17-D852CA960AC9}" type="datetimeFigureOut">
              <a:rPr lang="en-US" dirty="0"/>
              <a:t>6/8/2026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80322" y="609597"/>
            <a:ext cx="8870004" cy="532658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6/8/2026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2026/6/8</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2026/6/8</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2026/6/8</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2026/6/8</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21" Type="http://schemas.openxmlformats.org/officeDocument/2006/relationships/tags" Target="../tags/tag3.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tags" Target="../tags/tag7.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tags" Target="../tags/tag2.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tags" Target="../tags/tag6.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tags" Target="../tags/tag5.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6/8/2026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2026/6/8</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5" Type="http://schemas.openxmlformats.org/officeDocument/2006/relationships/tags" Target="../tags/tag137.xml"/><Relationship Id="rId10" Type="http://schemas.openxmlformats.org/officeDocument/2006/relationships/image" Target="../media/image7.png"/><Relationship Id="rId4" Type="http://schemas.openxmlformats.org/officeDocument/2006/relationships/tags" Target="../tags/tag136.xml"/><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tags" Target="../tags/tag142.xml"/><Relationship Id="rId7" Type="http://schemas.openxmlformats.org/officeDocument/2006/relationships/image" Target="../media/image7.png"/><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notesSlide" Target="../notesSlides/notesSlide3.xml"/><Relationship Id="rId5" Type="http://schemas.openxmlformats.org/officeDocument/2006/relationships/slideLayout" Target="../slideLayouts/slideLayout24.xml"/><Relationship Id="rId4" Type="http://schemas.openxmlformats.org/officeDocument/2006/relationships/tags" Target="../tags/tag143.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146.xml"/><Relationship Id="rId7" Type="http://schemas.openxmlformats.org/officeDocument/2006/relationships/slideLayout" Target="../slideLayouts/slideLayout24.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151.xml"/><Relationship Id="rId1" Type="http://schemas.openxmlformats.org/officeDocument/2006/relationships/tags" Target="../tags/tag150.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tags" Target="../tags/tag154.xml"/><Relationship Id="rId7" Type="http://schemas.openxmlformats.org/officeDocument/2006/relationships/tags" Target="../tags/tag158.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10" Type="http://schemas.openxmlformats.org/officeDocument/2006/relationships/image" Target="../media/image7.png"/><Relationship Id="rId4" Type="http://schemas.openxmlformats.org/officeDocument/2006/relationships/tags" Target="../tags/tag155.xml"/><Relationship Id="rId9" Type="http://schemas.openxmlformats.org/officeDocument/2006/relationships/image" Target="../media/image8.emf"/></Relationships>
</file>

<file path=ppt/slides/_rels/slide8.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image" Target="../media/image7.png"/><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image" Target="../media/image8.emf"/><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notesSlide" Target="../notesSlides/notesSlide5.xml"/><Relationship Id="rId5" Type="http://schemas.openxmlformats.org/officeDocument/2006/relationships/tags" Target="../tags/tag163.xml"/><Relationship Id="rId10" Type="http://schemas.openxmlformats.org/officeDocument/2006/relationships/slideLayout" Target="../slideLayouts/slideLayout24.xml"/><Relationship Id="rId4" Type="http://schemas.openxmlformats.org/officeDocument/2006/relationships/tags" Target="../tags/tag162.xml"/><Relationship Id="rId9" Type="http://schemas.openxmlformats.org/officeDocument/2006/relationships/tags" Target="../tags/tag167.xml"/></Relationships>
</file>

<file path=ppt/slides/_rels/slide9.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tags" Target="../tags/tag180.xml"/><Relationship Id="rId18" Type="http://schemas.openxmlformats.org/officeDocument/2006/relationships/tags" Target="../tags/tag185.xml"/><Relationship Id="rId3" Type="http://schemas.openxmlformats.org/officeDocument/2006/relationships/tags" Target="../tags/tag170.xml"/><Relationship Id="rId21" Type="http://schemas.openxmlformats.org/officeDocument/2006/relationships/tags" Target="../tags/tag188.xml"/><Relationship Id="rId7" Type="http://schemas.openxmlformats.org/officeDocument/2006/relationships/tags" Target="../tags/tag174.xml"/><Relationship Id="rId12" Type="http://schemas.openxmlformats.org/officeDocument/2006/relationships/tags" Target="../tags/tag179.xml"/><Relationship Id="rId17" Type="http://schemas.openxmlformats.org/officeDocument/2006/relationships/tags" Target="../tags/tag184.xml"/><Relationship Id="rId25" Type="http://schemas.openxmlformats.org/officeDocument/2006/relationships/image" Target="../media/image7.png"/><Relationship Id="rId2" Type="http://schemas.openxmlformats.org/officeDocument/2006/relationships/tags" Target="../tags/tag169.xml"/><Relationship Id="rId16" Type="http://schemas.openxmlformats.org/officeDocument/2006/relationships/tags" Target="../tags/tag183.xml"/><Relationship Id="rId20" Type="http://schemas.openxmlformats.org/officeDocument/2006/relationships/tags" Target="../tags/tag187.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tags" Target="../tags/tag178.xml"/><Relationship Id="rId24" Type="http://schemas.openxmlformats.org/officeDocument/2006/relationships/slideLayout" Target="../slideLayouts/slideLayout24.xml"/><Relationship Id="rId5" Type="http://schemas.openxmlformats.org/officeDocument/2006/relationships/tags" Target="../tags/tag172.xml"/><Relationship Id="rId15" Type="http://schemas.openxmlformats.org/officeDocument/2006/relationships/tags" Target="../tags/tag182.xml"/><Relationship Id="rId23" Type="http://schemas.openxmlformats.org/officeDocument/2006/relationships/tags" Target="../tags/tag190.xml"/><Relationship Id="rId10" Type="http://schemas.openxmlformats.org/officeDocument/2006/relationships/tags" Target="../tags/tag177.xml"/><Relationship Id="rId19" Type="http://schemas.openxmlformats.org/officeDocument/2006/relationships/tags" Target="../tags/tag186.xml"/><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tags" Target="../tags/tag181.xml"/><Relationship Id="rId22" Type="http://schemas.openxmlformats.org/officeDocument/2006/relationships/tags" Target="../tags/tag189.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93.xml"/><Relationship Id="rId7" Type="http://schemas.openxmlformats.org/officeDocument/2006/relationships/notesSlide" Target="../notesSlides/notesSlide6.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slideLayout" Target="../slideLayouts/slideLayout24.xml"/><Relationship Id="rId5" Type="http://schemas.openxmlformats.org/officeDocument/2006/relationships/tags" Target="../tags/tag195.xml"/><Relationship Id="rId4" Type="http://schemas.openxmlformats.org/officeDocument/2006/relationships/tags" Target="../tags/tag194.xml"/></Relationships>
</file>

<file path=ppt/slides/_rels/slide11.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image" Target="../media/image7.png"/><Relationship Id="rId5" Type="http://schemas.openxmlformats.org/officeDocument/2006/relationships/notesSlide" Target="../notesSlides/notesSlide7.xml"/><Relationship Id="rId4"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image" Target="../media/image9.jpeg"/><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image" Target="../media/image7.png"/><Relationship Id="rId5" Type="http://schemas.openxmlformats.org/officeDocument/2006/relationships/notesSlide" Target="../notesSlides/notesSlide8.xml"/><Relationship Id="rId4"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tags" Target="../tags/tag204.xml"/><Relationship Id="rId7" Type="http://schemas.openxmlformats.org/officeDocument/2006/relationships/image" Target="../media/image10.emf"/><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image" Target="../media/image7.png"/><Relationship Id="rId5" Type="http://schemas.openxmlformats.org/officeDocument/2006/relationships/notesSlide" Target="../notesSlides/notesSlide9.xml"/><Relationship Id="rId4"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tags" Target="../tags/tag207.xml"/><Relationship Id="rId7" Type="http://schemas.openxmlformats.org/officeDocument/2006/relationships/image" Target="../media/image11.png"/><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7.png"/><Relationship Id="rId5" Type="http://schemas.openxmlformats.org/officeDocument/2006/relationships/notesSlide" Target="../notesSlides/notesSlide10.xml"/><Relationship Id="rId4"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tags" Target="../tags/tag210.xml"/><Relationship Id="rId7" Type="http://schemas.openxmlformats.org/officeDocument/2006/relationships/image" Target="../media/image12.emf"/><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image" Target="../media/image7.png"/><Relationship Id="rId5" Type="http://schemas.openxmlformats.org/officeDocument/2006/relationships/notesSlide" Target="../notesSlides/notesSlide11.xml"/><Relationship Id="rId4"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tags" Target="../tags/tag223.xml"/><Relationship Id="rId18" Type="http://schemas.openxmlformats.org/officeDocument/2006/relationships/tags" Target="../tags/tag228.xml"/><Relationship Id="rId26" Type="http://schemas.openxmlformats.org/officeDocument/2006/relationships/tags" Target="../tags/tag2260.xml"/><Relationship Id="rId3" Type="http://schemas.openxmlformats.org/officeDocument/2006/relationships/tags" Target="../tags/tag213.xml"/><Relationship Id="rId21" Type="http://schemas.openxmlformats.org/officeDocument/2006/relationships/tags" Target="../tags/tag231.xml"/><Relationship Id="rId7" Type="http://schemas.openxmlformats.org/officeDocument/2006/relationships/tags" Target="../tags/tag217.xml"/><Relationship Id="rId12" Type="http://schemas.openxmlformats.org/officeDocument/2006/relationships/tags" Target="../tags/tag222.xml"/><Relationship Id="rId17" Type="http://schemas.openxmlformats.org/officeDocument/2006/relationships/tags" Target="../tags/tag227.xml"/><Relationship Id="rId25" Type="http://schemas.openxmlformats.org/officeDocument/2006/relationships/image" Target="../media/image14.png"/><Relationship Id="rId2" Type="http://schemas.openxmlformats.org/officeDocument/2006/relationships/tags" Target="../tags/tag212.xml"/><Relationship Id="rId16" Type="http://schemas.openxmlformats.org/officeDocument/2006/relationships/tags" Target="../tags/tag226.xml"/><Relationship Id="rId20" Type="http://schemas.openxmlformats.org/officeDocument/2006/relationships/tags" Target="../tags/tag230.xml"/><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24" Type="http://schemas.openxmlformats.org/officeDocument/2006/relationships/image" Target="../media/image13.png"/><Relationship Id="rId5" Type="http://schemas.openxmlformats.org/officeDocument/2006/relationships/tags" Target="../tags/tag215.xml"/><Relationship Id="rId15" Type="http://schemas.openxmlformats.org/officeDocument/2006/relationships/tags" Target="../tags/tag225.xml"/><Relationship Id="rId23" Type="http://schemas.openxmlformats.org/officeDocument/2006/relationships/slideLayout" Target="../slideLayouts/slideLayout24.xml"/><Relationship Id="rId28" Type="http://schemas.openxmlformats.org/officeDocument/2006/relationships/image" Target="../media/image7.png"/><Relationship Id="rId10" Type="http://schemas.openxmlformats.org/officeDocument/2006/relationships/tags" Target="../tags/tag220.xml"/><Relationship Id="rId19" Type="http://schemas.openxmlformats.org/officeDocument/2006/relationships/tags" Target="../tags/tag229.xml"/><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tags" Target="../tags/tag224.xml"/><Relationship Id="rId22" Type="http://schemas.openxmlformats.org/officeDocument/2006/relationships/tags" Target="../tags/tag232.xml"/><Relationship Id="rId27"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tags" Target="../tags/tag235.xml"/><Relationship Id="rId7" Type="http://schemas.openxmlformats.org/officeDocument/2006/relationships/image" Target="../media/image7.png"/><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slideLayout" Target="../slideLayouts/slideLayout24.xml"/><Relationship Id="rId5" Type="http://schemas.openxmlformats.org/officeDocument/2006/relationships/tags" Target="../tags/tag237.xml"/><Relationship Id="rId4" Type="http://schemas.openxmlformats.org/officeDocument/2006/relationships/tags" Target="../tags/tag236.xml"/></Relationships>
</file>

<file path=ppt/slides/_rels/slide18.xml.rels><?xml version="1.0" encoding="UTF-8" standalone="yes"?>
<Relationships xmlns="http://schemas.openxmlformats.org/package/2006/relationships"><Relationship Id="rId8" Type="http://schemas.openxmlformats.org/officeDocument/2006/relationships/tags" Target="../tags/tag245.xml"/><Relationship Id="rId13" Type="http://schemas.openxmlformats.org/officeDocument/2006/relationships/image" Target="../media/image7.png"/><Relationship Id="rId3" Type="http://schemas.openxmlformats.org/officeDocument/2006/relationships/tags" Target="../tags/tag240.xml"/><Relationship Id="rId7" Type="http://schemas.openxmlformats.org/officeDocument/2006/relationships/tags" Target="../tags/tag244.xml"/><Relationship Id="rId12" Type="http://schemas.openxmlformats.org/officeDocument/2006/relationships/image" Target="../media/image15.emf"/><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notesSlide" Target="../notesSlides/notesSlide12.xml"/><Relationship Id="rId5" Type="http://schemas.openxmlformats.org/officeDocument/2006/relationships/tags" Target="../tags/tag242.xml"/><Relationship Id="rId10" Type="http://schemas.openxmlformats.org/officeDocument/2006/relationships/slideLayout" Target="../slideLayouts/slideLayout24.xml"/><Relationship Id="rId4" Type="http://schemas.openxmlformats.org/officeDocument/2006/relationships/tags" Target="../tags/tag241.xml"/><Relationship Id="rId9" Type="http://schemas.openxmlformats.org/officeDocument/2006/relationships/tags" Target="../tags/tag246.xml"/></Relationships>
</file>

<file path=ppt/slides/_rels/slide19.xml.rels><?xml version="1.0" encoding="UTF-8" standalone="yes"?>
<Relationships xmlns="http://schemas.openxmlformats.org/package/2006/relationships"><Relationship Id="rId8" Type="http://schemas.openxmlformats.org/officeDocument/2006/relationships/tags" Target="../tags/tag254.xml"/><Relationship Id="rId3" Type="http://schemas.openxmlformats.org/officeDocument/2006/relationships/tags" Target="../tags/tag249.xml"/><Relationship Id="rId7" Type="http://schemas.openxmlformats.org/officeDocument/2006/relationships/tags" Target="../tags/tag253.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image" Target="../media/image7.png"/><Relationship Id="rId5" Type="http://schemas.openxmlformats.org/officeDocument/2006/relationships/tags" Target="../tags/tag251.xml"/><Relationship Id="rId10" Type="http://schemas.openxmlformats.org/officeDocument/2006/relationships/notesSlide" Target="../notesSlides/notesSlide13.xml"/><Relationship Id="rId4" Type="http://schemas.openxmlformats.org/officeDocument/2006/relationships/tags" Target="../tags/tag250.xml"/><Relationship Id="rId9"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8" Type="http://schemas.openxmlformats.org/officeDocument/2006/relationships/tags" Target="../tags/tag262.xml"/><Relationship Id="rId13" Type="http://schemas.openxmlformats.org/officeDocument/2006/relationships/slideLayout" Target="../slideLayouts/slideLayout24.xml"/><Relationship Id="rId3" Type="http://schemas.openxmlformats.org/officeDocument/2006/relationships/tags" Target="../tags/tag257.xml"/><Relationship Id="rId7" Type="http://schemas.openxmlformats.org/officeDocument/2006/relationships/tags" Target="../tags/tag261.xml"/><Relationship Id="rId12" Type="http://schemas.openxmlformats.org/officeDocument/2006/relationships/tags" Target="../tags/tag266.xml"/><Relationship Id="rId2" Type="http://schemas.openxmlformats.org/officeDocument/2006/relationships/tags" Target="../tags/tag256.xml"/><Relationship Id="rId1" Type="http://schemas.openxmlformats.org/officeDocument/2006/relationships/tags" Target="../tags/tag255.xml"/><Relationship Id="rId6" Type="http://schemas.openxmlformats.org/officeDocument/2006/relationships/tags" Target="../tags/tag260.xml"/><Relationship Id="rId11" Type="http://schemas.openxmlformats.org/officeDocument/2006/relationships/tags" Target="../tags/tag265.xml"/><Relationship Id="rId5" Type="http://schemas.openxmlformats.org/officeDocument/2006/relationships/tags" Target="../tags/tag259.xml"/><Relationship Id="rId10" Type="http://schemas.openxmlformats.org/officeDocument/2006/relationships/tags" Target="../tags/tag264.xml"/><Relationship Id="rId4" Type="http://schemas.openxmlformats.org/officeDocument/2006/relationships/tags" Target="../tags/tag258.xml"/><Relationship Id="rId9" Type="http://schemas.openxmlformats.org/officeDocument/2006/relationships/tags" Target="../tags/tag263.xml"/><Relationship Id="rId14" Type="http://schemas.openxmlformats.org/officeDocument/2006/relationships/image" Target="../media/image7.png"/></Relationships>
</file>

<file path=ppt/slides/_rels/slide21.xml.rels><?xml version="1.0" encoding="UTF-8" standalone="yes"?>
<Relationships xmlns="http://schemas.openxmlformats.org/package/2006/relationships"><Relationship Id="rId8" Type="http://schemas.openxmlformats.org/officeDocument/2006/relationships/tags" Target="../tags/tag274.xml"/><Relationship Id="rId3" Type="http://schemas.openxmlformats.org/officeDocument/2006/relationships/tags" Target="../tags/tag269.xml"/><Relationship Id="rId7" Type="http://schemas.openxmlformats.org/officeDocument/2006/relationships/tags" Target="../tags/tag273.xml"/><Relationship Id="rId12" Type="http://schemas.openxmlformats.org/officeDocument/2006/relationships/image" Target="../media/image7.png"/><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notesSlide" Target="../notesSlides/notesSlide14.xml"/><Relationship Id="rId5" Type="http://schemas.openxmlformats.org/officeDocument/2006/relationships/tags" Target="../tags/tag271.xml"/><Relationship Id="rId10" Type="http://schemas.openxmlformats.org/officeDocument/2006/relationships/slideLayout" Target="../slideLayouts/slideLayout24.xml"/><Relationship Id="rId4" Type="http://schemas.openxmlformats.org/officeDocument/2006/relationships/tags" Target="../tags/tag270.xml"/><Relationship Id="rId9" Type="http://schemas.openxmlformats.org/officeDocument/2006/relationships/tags" Target="../tags/tag275.xml"/></Relationships>
</file>

<file path=ppt/slides/_rels/slide22.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tags" Target="../tags/tag278.xml"/><Relationship Id="rId7" Type="http://schemas.openxmlformats.org/officeDocument/2006/relationships/image" Target="../media/image12.emf"/><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notesSlide" Target="../notesSlides/notesSlide15.xml"/><Relationship Id="rId5" Type="http://schemas.openxmlformats.org/officeDocument/2006/relationships/slideLayout" Target="../slideLayouts/slideLayout24.xml"/><Relationship Id="rId10" Type="http://schemas.openxmlformats.org/officeDocument/2006/relationships/image" Target="../media/image7.png"/><Relationship Id="rId4" Type="http://schemas.openxmlformats.org/officeDocument/2006/relationships/tags" Target="../tags/tag279.xml"/><Relationship Id="rId9" Type="http://schemas.openxmlformats.org/officeDocument/2006/relationships/image" Target="../media/image16.emf"/></Relationships>
</file>

<file path=ppt/slides/_rels/slide23.xml.rels><?xml version="1.0" encoding="UTF-8" standalone="yes"?>
<Relationships xmlns="http://schemas.openxmlformats.org/package/2006/relationships"><Relationship Id="rId3" Type="http://schemas.openxmlformats.org/officeDocument/2006/relationships/tags" Target="../tags/tag282.xml"/><Relationship Id="rId7" Type="http://schemas.openxmlformats.org/officeDocument/2006/relationships/image" Target="../media/image7.png"/><Relationship Id="rId2" Type="http://schemas.openxmlformats.org/officeDocument/2006/relationships/tags" Target="../tags/tag281.xml"/><Relationship Id="rId1" Type="http://schemas.openxmlformats.org/officeDocument/2006/relationships/tags" Target="../tags/tag280.xml"/><Relationship Id="rId6" Type="http://schemas.openxmlformats.org/officeDocument/2006/relationships/image" Target="../media/image17.emf"/><Relationship Id="rId5" Type="http://schemas.openxmlformats.org/officeDocument/2006/relationships/slideLayout" Target="../slideLayouts/slideLayout24.xml"/><Relationship Id="rId4" Type="http://schemas.openxmlformats.org/officeDocument/2006/relationships/tags" Target="../tags/tag283.xml"/></Relationships>
</file>

<file path=ppt/slides/_rels/slide24.xml.rels><?xml version="1.0" encoding="UTF-8" standalone="yes"?>
<Relationships xmlns="http://schemas.openxmlformats.org/package/2006/relationships"><Relationship Id="rId3" Type="http://schemas.openxmlformats.org/officeDocument/2006/relationships/tags" Target="../tags/tag286.xml"/><Relationship Id="rId7" Type="http://schemas.openxmlformats.org/officeDocument/2006/relationships/image" Target="../media/image7.png"/><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notesSlide" Target="../notesSlides/notesSlide16.xml"/><Relationship Id="rId5" Type="http://schemas.openxmlformats.org/officeDocument/2006/relationships/slideLayout" Target="../slideLayouts/slideLayout24.xml"/><Relationship Id="rId4" Type="http://schemas.openxmlformats.org/officeDocument/2006/relationships/tags" Target="../tags/tag287.xml"/></Relationships>
</file>

<file path=ppt/slides/_rels/slide25.xml.rels><?xml version="1.0" encoding="UTF-8" standalone="yes"?>
<Relationships xmlns="http://schemas.openxmlformats.org/package/2006/relationships"><Relationship Id="rId8" Type="http://schemas.openxmlformats.org/officeDocument/2006/relationships/tags" Target="../tags/tag2920.xml"/><Relationship Id="rId3" Type="http://schemas.openxmlformats.org/officeDocument/2006/relationships/tags" Target="../tags/tag290.xml"/><Relationship Id="rId7" Type="http://schemas.openxmlformats.org/officeDocument/2006/relationships/notesSlide" Target="../notesSlides/notesSlide17.xm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slideLayout" Target="../slideLayouts/slideLayout24.xml"/><Relationship Id="rId5" Type="http://schemas.openxmlformats.org/officeDocument/2006/relationships/tags" Target="../tags/tag292.xml"/><Relationship Id="rId10" Type="http://schemas.openxmlformats.org/officeDocument/2006/relationships/image" Target="../media/image7.png"/><Relationship Id="rId4" Type="http://schemas.openxmlformats.org/officeDocument/2006/relationships/tags" Target="../tags/tag291.xml"/><Relationship Id="rId9" Type="http://schemas.openxmlformats.org/officeDocument/2006/relationships/image" Target="../media/image19.png"/></Relationships>
</file>

<file path=ppt/slides/_rels/slide26.xml.rels><?xml version="1.0" encoding="UTF-8" standalone="yes"?>
<Relationships xmlns="http://schemas.openxmlformats.org/package/2006/relationships"><Relationship Id="rId8" Type="http://schemas.openxmlformats.org/officeDocument/2006/relationships/tags" Target="../tags/tag2960.xml"/><Relationship Id="rId3" Type="http://schemas.openxmlformats.org/officeDocument/2006/relationships/tags" Target="../tags/tag295.xml"/><Relationship Id="rId7" Type="http://schemas.openxmlformats.org/officeDocument/2006/relationships/notesSlide" Target="../notesSlides/notesSlide18.xml"/><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slideLayout" Target="../slideLayouts/slideLayout24.xml"/><Relationship Id="rId5" Type="http://schemas.openxmlformats.org/officeDocument/2006/relationships/tags" Target="../tags/tag297.xml"/><Relationship Id="rId10" Type="http://schemas.openxmlformats.org/officeDocument/2006/relationships/image" Target="../media/image7.png"/><Relationship Id="rId4" Type="http://schemas.openxmlformats.org/officeDocument/2006/relationships/tags" Target="../tags/tag296.xml"/><Relationship Id="rId9"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 Id="rId6" Type="http://schemas.openxmlformats.org/officeDocument/2006/relationships/image" Target="../media/image7.png"/><Relationship Id="rId5" Type="http://schemas.openxmlformats.org/officeDocument/2006/relationships/slideLayout" Target="../slideLayouts/slideLayout24.xml"/><Relationship Id="rId4" Type="http://schemas.openxmlformats.org/officeDocument/2006/relationships/tags" Target="../tags/tag301.xml"/></Relationships>
</file>

<file path=ppt/slides/_rels/slide28.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304.xml"/><Relationship Id="rId7" Type="http://schemas.openxmlformats.org/officeDocument/2006/relationships/image" Target="../media/image18.emf"/><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notesSlide" Target="../notesSlides/notesSlide19.xml"/><Relationship Id="rId5" Type="http://schemas.openxmlformats.org/officeDocument/2006/relationships/slideLayout" Target="../slideLayouts/slideLayout24.xml"/><Relationship Id="rId4" Type="http://schemas.openxmlformats.org/officeDocument/2006/relationships/tags" Target="../tags/tag305.xml"/><Relationship Id="rId9" Type="http://schemas.openxmlformats.org/officeDocument/2006/relationships/image" Target="../media/image7.png"/></Relationships>
</file>

<file path=ppt/slides/_rels/slide29.xml.rels><?xml version="1.0" encoding="UTF-8" standalone="yes"?>
<Relationships xmlns="http://schemas.openxmlformats.org/package/2006/relationships"><Relationship Id="rId8" Type="http://schemas.openxmlformats.org/officeDocument/2006/relationships/tags" Target="../tags/tag313.xml"/><Relationship Id="rId13" Type="http://schemas.openxmlformats.org/officeDocument/2006/relationships/image" Target="../media/image23.png"/><Relationship Id="rId3" Type="http://schemas.openxmlformats.org/officeDocument/2006/relationships/tags" Target="../tags/tag308.xml"/><Relationship Id="rId7" Type="http://schemas.openxmlformats.org/officeDocument/2006/relationships/tags" Target="../tags/tag312.xml"/><Relationship Id="rId12" Type="http://schemas.openxmlformats.org/officeDocument/2006/relationships/tags" Target="../tags/tag3140.xml"/><Relationship Id="rId2" Type="http://schemas.openxmlformats.org/officeDocument/2006/relationships/tags" Target="../tags/tag307.xml"/><Relationship Id="rId1" Type="http://schemas.openxmlformats.org/officeDocument/2006/relationships/tags" Target="../tags/tag306.xml"/><Relationship Id="rId6" Type="http://schemas.openxmlformats.org/officeDocument/2006/relationships/tags" Target="../tags/tag311.xml"/><Relationship Id="rId11" Type="http://schemas.openxmlformats.org/officeDocument/2006/relationships/notesSlide" Target="../notesSlides/notesSlide20.xml"/><Relationship Id="rId5" Type="http://schemas.openxmlformats.org/officeDocument/2006/relationships/tags" Target="../tags/tag310.xml"/><Relationship Id="rId10" Type="http://schemas.openxmlformats.org/officeDocument/2006/relationships/slideLayout" Target="../slideLayouts/slideLayout24.xml"/><Relationship Id="rId4" Type="http://schemas.openxmlformats.org/officeDocument/2006/relationships/tags" Target="../tags/tag309.xml"/><Relationship Id="rId9" Type="http://schemas.openxmlformats.org/officeDocument/2006/relationships/tags" Target="../tags/tag314.xml"/><Relationship Id="rId14" Type="http://schemas.openxmlformats.org/officeDocument/2006/relationships/image" Target="../media/image7.png"/></Relationships>
</file>

<file path=ppt/slides/_rels/slide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17.xml"/><Relationship Id="rId7" Type="http://schemas.openxmlformats.org/officeDocument/2006/relationships/notesSlide" Target="../notesSlides/notesSlide21.xml"/><Relationship Id="rId2" Type="http://schemas.openxmlformats.org/officeDocument/2006/relationships/tags" Target="../tags/tag316.xml"/><Relationship Id="rId1" Type="http://schemas.openxmlformats.org/officeDocument/2006/relationships/tags" Target="../tags/tag315.xml"/><Relationship Id="rId6" Type="http://schemas.openxmlformats.org/officeDocument/2006/relationships/slideLayout" Target="../slideLayouts/slideLayout24.xml"/><Relationship Id="rId5" Type="http://schemas.openxmlformats.org/officeDocument/2006/relationships/tags" Target="../tags/tag319.xml"/><Relationship Id="rId4" Type="http://schemas.openxmlformats.org/officeDocument/2006/relationships/tags" Target="../tags/tag318.xml"/></Relationships>
</file>

<file path=ppt/slides/_rels/slide31.xml.rels><?xml version="1.0" encoding="UTF-8" standalone="yes"?>
<Relationships xmlns="http://schemas.openxmlformats.org/package/2006/relationships"><Relationship Id="rId8" Type="http://schemas.openxmlformats.org/officeDocument/2006/relationships/tags" Target="../tags/tag325.xml"/><Relationship Id="rId3" Type="http://schemas.openxmlformats.org/officeDocument/2006/relationships/tags" Target="../tags/tag322.xml"/><Relationship Id="rId7" Type="http://schemas.openxmlformats.org/officeDocument/2006/relationships/notesSlide" Target="../notesSlides/notesSlide22.xml"/><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slideLayout" Target="../slideLayouts/slideLayout24.xml"/><Relationship Id="rId5" Type="http://schemas.openxmlformats.org/officeDocument/2006/relationships/tags" Target="../tags/tag324.xml"/><Relationship Id="rId10" Type="http://schemas.openxmlformats.org/officeDocument/2006/relationships/image" Target="../media/image7.png"/><Relationship Id="rId4" Type="http://schemas.openxmlformats.org/officeDocument/2006/relationships/tags" Target="../tags/tag323.xml"/><Relationship Id="rId9"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tags" Target="../tags/tag328.xml"/><Relationship Id="rId7" Type="http://schemas.openxmlformats.org/officeDocument/2006/relationships/image" Target="../media/image7.png"/><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notesSlide" Target="../notesSlides/notesSlide23.xml"/><Relationship Id="rId5" Type="http://schemas.openxmlformats.org/officeDocument/2006/relationships/slideLayout" Target="../slideLayouts/slideLayout24.xml"/><Relationship Id="rId4" Type="http://schemas.openxmlformats.org/officeDocument/2006/relationships/tags" Target="../tags/tag329.xml"/></Relationships>
</file>

<file path=ppt/slides/_rels/slide3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32.xml"/><Relationship Id="rId7" Type="http://schemas.openxmlformats.org/officeDocument/2006/relationships/image" Target="../media/image20.emf"/><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slideLayout" Target="../slideLayouts/slideLayout24.xml"/><Relationship Id="rId5" Type="http://schemas.openxmlformats.org/officeDocument/2006/relationships/tags" Target="../tags/tag334.xml"/><Relationship Id="rId4" Type="http://schemas.openxmlformats.org/officeDocument/2006/relationships/tags" Target="../tags/tag333.xml"/></Relationships>
</file>

<file path=ppt/slides/_rels/slide3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37.xml"/><Relationship Id="rId7" Type="http://schemas.openxmlformats.org/officeDocument/2006/relationships/image" Target="../media/image20.emf"/><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notesSlide" Target="../notesSlides/notesSlide24.xml"/><Relationship Id="rId5" Type="http://schemas.openxmlformats.org/officeDocument/2006/relationships/slideLayout" Target="../slideLayouts/slideLayout24.xml"/><Relationship Id="rId4" Type="http://schemas.openxmlformats.org/officeDocument/2006/relationships/tags" Target="../tags/tag338.xml"/></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341.xml"/><Relationship Id="rId7" Type="http://schemas.openxmlformats.org/officeDocument/2006/relationships/slideLayout" Target="../slideLayouts/slideLayout24.xml"/><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tags" Target="../tags/tag344.xml"/><Relationship Id="rId5" Type="http://schemas.openxmlformats.org/officeDocument/2006/relationships/tags" Target="../tags/tag343.xml"/><Relationship Id="rId4" Type="http://schemas.openxmlformats.org/officeDocument/2006/relationships/tags" Target="../tags/tag342.xml"/><Relationship Id="rId9" Type="http://schemas.openxmlformats.org/officeDocument/2006/relationships/image" Target="../media/image7.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26.xml"/><Relationship Id="rId3" Type="http://schemas.openxmlformats.org/officeDocument/2006/relationships/tags" Target="../tags/tag347.xml"/><Relationship Id="rId7" Type="http://schemas.openxmlformats.org/officeDocument/2006/relationships/slideLayout" Target="../slideLayouts/slideLayout24.xml"/><Relationship Id="rId2" Type="http://schemas.openxmlformats.org/officeDocument/2006/relationships/tags" Target="../tags/tag346.xml"/><Relationship Id="rId1" Type="http://schemas.openxmlformats.org/officeDocument/2006/relationships/tags" Target="../tags/tag345.xml"/><Relationship Id="rId6" Type="http://schemas.openxmlformats.org/officeDocument/2006/relationships/tags" Target="../tags/tag350.xml"/><Relationship Id="rId5" Type="http://schemas.openxmlformats.org/officeDocument/2006/relationships/tags" Target="../tags/tag349.xml"/><Relationship Id="rId4" Type="http://schemas.openxmlformats.org/officeDocument/2006/relationships/tags" Target="../tags/tag348.xml"/><Relationship Id="rId9" Type="http://schemas.openxmlformats.org/officeDocument/2006/relationships/image" Target="../media/image7.png"/></Relationships>
</file>

<file path=ppt/slides/_rels/slide3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53.xml"/><Relationship Id="rId7" Type="http://schemas.openxmlformats.org/officeDocument/2006/relationships/image" Target="../media/image21.emf"/><Relationship Id="rId2" Type="http://schemas.openxmlformats.org/officeDocument/2006/relationships/tags" Target="../tags/tag352.xml"/><Relationship Id="rId1" Type="http://schemas.openxmlformats.org/officeDocument/2006/relationships/tags" Target="../tags/tag351.xml"/><Relationship Id="rId6" Type="http://schemas.openxmlformats.org/officeDocument/2006/relationships/slideLayout" Target="../slideLayouts/slideLayout24.xml"/><Relationship Id="rId5" Type="http://schemas.openxmlformats.org/officeDocument/2006/relationships/tags" Target="../tags/tag355.xml"/><Relationship Id="rId4" Type="http://schemas.openxmlformats.org/officeDocument/2006/relationships/tags" Target="../tags/tag354.xml"/></Relationships>
</file>

<file path=ppt/slides/_rels/slide38.xml.rels><?xml version="1.0" encoding="UTF-8" standalone="yes"?>
<Relationships xmlns="http://schemas.openxmlformats.org/package/2006/relationships"><Relationship Id="rId3" Type="http://schemas.openxmlformats.org/officeDocument/2006/relationships/tags" Target="../tags/tag358.xml"/><Relationship Id="rId7" Type="http://schemas.openxmlformats.org/officeDocument/2006/relationships/image" Target="../media/image7.png"/><Relationship Id="rId2" Type="http://schemas.openxmlformats.org/officeDocument/2006/relationships/tags" Target="../tags/tag357.xml"/><Relationship Id="rId1" Type="http://schemas.openxmlformats.org/officeDocument/2006/relationships/tags" Target="../tags/tag356.xml"/><Relationship Id="rId6" Type="http://schemas.openxmlformats.org/officeDocument/2006/relationships/notesSlide" Target="../notesSlides/notesSlide27.xml"/><Relationship Id="rId5" Type="http://schemas.openxmlformats.org/officeDocument/2006/relationships/slideLayout" Target="../slideLayouts/slideLayout24.xml"/><Relationship Id="rId4" Type="http://schemas.openxmlformats.org/officeDocument/2006/relationships/tags" Target="../tags/tag359.xml"/></Relationships>
</file>

<file path=ppt/slides/_rels/slide39.xml.rels><?xml version="1.0" encoding="UTF-8" standalone="yes"?>
<Relationships xmlns="http://schemas.openxmlformats.org/package/2006/relationships"><Relationship Id="rId3" Type="http://schemas.openxmlformats.org/officeDocument/2006/relationships/tags" Target="../tags/tag362.xml"/><Relationship Id="rId7" Type="http://schemas.openxmlformats.org/officeDocument/2006/relationships/image" Target="../media/image7.png"/><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notesSlide" Target="../notesSlides/notesSlide28.xml"/><Relationship Id="rId5" Type="http://schemas.openxmlformats.org/officeDocument/2006/relationships/slideLayout" Target="../slideLayouts/slideLayout24.xml"/><Relationship Id="rId4" Type="http://schemas.openxmlformats.org/officeDocument/2006/relationships/tags" Target="../tags/tag363.xml"/></Relationships>
</file>

<file path=ppt/slides/_rels/slide40.xml.rels><?xml version="1.0" encoding="UTF-8" standalone="yes"?>
<Relationships xmlns="http://schemas.openxmlformats.org/package/2006/relationships"><Relationship Id="rId8" Type="http://schemas.openxmlformats.org/officeDocument/2006/relationships/tags" Target="../tags/tag371.xml"/><Relationship Id="rId13" Type="http://schemas.openxmlformats.org/officeDocument/2006/relationships/image" Target="../media/image7.png"/><Relationship Id="rId3" Type="http://schemas.openxmlformats.org/officeDocument/2006/relationships/tags" Target="../tags/tag366.xml"/><Relationship Id="rId7" Type="http://schemas.openxmlformats.org/officeDocument/2006/relationships/tags" Target="../tags/tag370.xml"/><Relationship Id="rId12" Type="http://schemas.openxmlformats.org/officeDocument/2006/relationships/notesSlide" Target="../notesSlides/notesSlide29.xml"/><Relationship Id="rId2" Type="http://schemas.openxmlformats.org/officeDocument/2006/relationships/tags" Target="../tags/tag365.xml"/><Relationship Id="rId1" Type="http://schemas.openxmlformats.org/officeDocument/2006/relationships/tags" Target="../tags/tag364.xml"/><Relationship Id="rId6" Type="http://schemas.openxmlformats.org/officeDocument/2006/relationships/tags" Target="../tags/tag369.xml"/><Relationship Id="rId11" Type="http://schemas.openxmlformats.org/officeDocument/2006/relationships/slideLayout" Target="../slideLayouts/slideLayout24.xml"/><Relationship Id="rId5" Type="http://schemas.openxmlformats.org/officeDocument/2006/relationships/tags" Target="../tags/tag368.xml"/><Relationship Id="rId10" Type="http://schemas.openxmlformats.org/officeDocument/2006/relationships/tags" Target="../tags/tag373.xml"/><Relationship Id="rId4" Type="http://schemas.openxmlformats.org/officeDocument/2006/relationships/tags" Target="../tags/tag367.xml"/><Relationship Id="rId9" Type="http://schemas.openxmlformats.org/officeDocument/2006/relationships/tags" Target="../tags/tag372.xml"/></Relationships>
</file>

<file path=ppt/slides/_rels/slide41.xml.rels><?xml version="1.0" encoding="UTF-8" standalone="yes"?>
<Relationships xmlns="http://schemas.openxmlformats.org/package/2006/relationships"><Relationship Id="rId3" Type="http://schemas.openxmlformats.org/officeDocument/2006/relationships/tags" Target="../tags/tag376.xml"/><Relationship Id="rId7" Type="http://schemas.openxmlformats.org/officeDocument/2006/relationships/image" Target="../media/image7.png"/><Relationship Id="rId2" Type="http://schemas.openxmlformats.org/officeDocument/2006/relationships/tags" Target="../tags/tag375.xml"/><Relationship Id="rId1" Type="http://schemas.openxmlformats.org/officeDocument/2006/relationships/tags" Target="../tags/tag374.xml"/><Relationship Id="rId6" Type="http://schemas.openxmlformats.org/officeDocument/2006/relationships/notesSlide" Target="../notesSlides/notesSlide30.xml"/><Relationship Id="rId5" Type="http://schemas.openxmlformats.org/officeDocument/2006/relationships/slideLayout" Target="../slideLayouts/slideLayout24.xml"/><Relationship Id="rId4" Type="http://schemas.openxmlformats.org/officeDocument/2006/relationships/tags" Target="../tags/tag377.xml"/></Relationships>
</file>

<file path=ppt/slides/_rels/slide4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380.xml"/><Relationship Id="rId7" Type="http://schemas.openxmlformats.org/officeDocument/2006/relationships/tags" Target="../tags/tag382.xml"/><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notesSlide" Target="../notesSlides/notesSlide31.xml"/><Relationship Id="rId5" Type="http://schemas.openxmlformats.org/officeDocument/2006/relationships/slideLayout" Target="../slideLayouts/slideLayout24.xml"/><Relationship Id="rId4" Type="http://schemas.openxmlformats.org/officeDocument/2006/relationships/tags" Target="../tags/tag381.xml"/><Relationship Id="rId9" Type="http://schemas.openxmlformats.org/officeDocument/2006/relationships/image" Target="../media/image7.png"/></Relationships>
</file>

<file path=ppt/slides/_rels/slide4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385.xml"/><Relationship Id="rId7" Type="http://schemas.openxmlformats.org/officeDocument/2006/relationships/tags" Target="../tags/tag387.xml"/><Relationship Id="rId2" Type="http://schemas.openxmlformats.org/officeDocument/2006/relationships/tags" Target="../tags/tag384.xml"/><Relationship Id="rId1" Type="http://schemas.openxmlformats.org/officeDocument/2006/relationships/tags" Target="../tags/tag383.xml"/><Relationship Id="rId6" Type="http://schemas.openxmlformats.org/officeDocument/2006/relationships/notesSlide" Target="../notesSlides/notesSlide32.xml"/><Relationship Id="rId5" Type="http://schemas.openxmlformats.org/officeDocument/2006/relationships/slideLayout" Target="../slideLayouts/slideLayout24.xml"/><Relationship Id="rId4" Type="http://schemas.openxmlformats.org/officeDocument/2006/relationships/tags" Target="../tags/tag386.xml"/><Relationship Id="rId9" Type="http://schemas.openxmlformats.org/officeDocument/2006/relationships/image" Target="../media/image7.png"/></Relationships>
</file>

<file path=ppt/slides/_rels/slide44.xml.rels><?xml version="1.0" encoding="UTF-8" standalone="yes"?>
<Relationships xmlns="http://schemas.openxmlformats.org/package/2006/relationships"><Relationship Id="rId8" Type="http://schemas.openxmlformats.org/officeDocument/2006/relationships/tags" Target="../tags/tag395.xml"/><Relationship Id="rId3" Type="http://schemas.openxmlformats.org/officeDocument/2006/relationships/tags" Target="../tags/tag390.xml"/><Relationship Id="rId7" Type="http://schemas.openxmlformats.org/officeDocument/2006/relationships/tags" Target="../tags/tag394.xml"/><Relationship Id="rId12" Type="http://schemas.openxmlformats.org/officeDocument/2006/relationships/image" Target="../media/image7.png"/><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tags" Target="../tags/tag393.xml"/><Relationship Id="rId11" Type="http://schemas.openxmlformats.org/officeDocument/2006/relationships/notesSlide" Target="../notesSlides/notesSlide33.xml"/><Relationship Id="rId5" Type="http://schemas.openxmlformats.org/officeDocument/2006/relationships/tags" Target="../tags/tag392.xml"/><Relationship Id="rId10" Type="http://schemas.openxmlformats.org/officeDocument/2006/relationships/slideLayout" Target="../slideLayouts/slideLayout24.xml"/><Relationship Id="rId4" Type="http://schemas.openxmlformats.org/officeDocument/2006/relationships/tags" Target="../tags/tag391.xml"/><Relationship Id="rId9" Type="http://schemas.openxmlformats.org/officeDocument/2006/relationships/tags" Target="../tags/tag396.xml"/></Relationships>
</file>

<file path=ppt/slides/_rels/slide45.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tags" Target="../tags/tag399.xml"/><Relationship Id="rId7" Type="http://schemas.openxmlformats.org/officeDocument/2006/relationships/notesSlide" Target="../notesSlides/notesSlide34.xml"/><Relationship Id="rId2" Type="http://schemas.openxmlformats.org/officeDocument/2006/relationships/tags" Target="../tags/tag398.xml"/><Relationship Id="rId1" Type="http://schemas.openxmlformats.org/officeDocument/2006/relationships/tags" Target="../tags/tag397.xml"/><Relationship Id="rId6" Type="http://schemas.openxmlformats.org/officeDocument/2006/relationships/slideLayout" Target="../slideLayouts/slideLayout24.xml"/><Relationship Id="rId5" Type="http://schemas.openxmlformats.org/officeDocument/2006/relationships/tags" Target="../tags/tag401.xml"/><Relationship Id="rId4" Type="http://schemas.openxmlformats.org/officeDocument/2006/relationships/tags" Target="../tags/tag400.xml"/><Relationship Id="rId9"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tags" Target="../tags/tag404.xml"/><Relationship Id="rId7" Type="http://schemas.openxmlformats.org/officeDocument/2006/relationships/image" Target="../media/image7.png"/><Relationship Id="rId2" Type="http://schemas.openxmlformats.org/officeDocument/2006/relationships/tags" Target="../tags/tag403.xml"/><Relationship Id="rId1" Type="http://schemas.openxmlformats.org/officeDocument/2006/relationships/tags" Target="../tags/tag402.xml"/><Relationship Id="rId6" Type="http://schemas.openxmlformats.org/officeDocument/2006/relationships/slideLayout" Target="../slideLayouts/slideLayout24.xml"/><Relationship Id="rId5" Type="http://schemas.openxmlformats.org/officeDocument/2006/relationships/tags" Target="../tags/tag406.xml"/><Relationship Id="rId4" Type="http://schemas.openxmlformats.org/officeDocument/2006/relationships/tags" Target="../tags/tag405.xml"/></Relationships>
</file>

<file path=ppt/slides/_rels/slide4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09.xml"/><Relationship Id="rId7" Type="http://schemas.openxmlformats.org/officeDocument/2006/relationships/notesSlide" Target="../notesSlides/notesSlide35.xml"/><Relationship Id="rId2" Type="http://schemas.openxmlformats.org/officeDocument/2006/relationships/tags" Target="../tags/tag408.xml"/><Relationship Id="rId1" Type="http://schemas.openxmlformats.org/officeDocument/2006/relationships/tags" Target="../tags/tag407.xml"/><Relationship Id="rId6" Type="http://schemas.openxmlformats.org/officeDocument/2006/relationships/slideLayout" Target="../slideLayouts/slideLayout24.xml"/><Relationship Id="rId5" Type="http://schemas.openxmlformats.org/officeDocument/2006/relationships/tags" Target="../tags/tag411.xml"/><Relationship Id="rId4" Type="http://schemas.openxmlformats.org/officeDocument/2006/relationships/tags" Target="../tags/tag410.xml"/></Relationships>
</file>

<file path=ppt/slides/_rels/slide48.xml.rels><?xml version="1.0" encoding="UTF-8" standalone="yes"?>
<Relationships xmlns="http://schemas.openxmlformats.org/package/2006/relationships"><Relationship Id="rId3" Type="http://schemas.openxmlformats.org/officeDocument/2006/relationships/tags" Target="../tags/tag414.xml"/><Relationship Id="rId7" Type="http://schemas.openxmlformats.org/officeDocument/2006/relationships/image" Target="../media/image7.png"/><Relationship Id="rId2" Type="http://schemas.openxmlformats.org/officeDocument/2006/relationships/tags" Target="../tags/tag413.xml"/><Relationship Id="rId1" Type="http://schemas.openxmlformats.org/officeDocument/2006/relationships/tags" Target="../tags/tag412.xml"/><Relationship Id="rId6" Type="http://schemas.openxmlformats.org/officeDocument/2006/relationships/slideLayout" Target="../slideLayouts/slideLayout24.xml"/><Relationship Id="rId5" Type="http://schemas.openxmlformats.org/officeDocument/2006/relationships/tags" Target="../tags/tag416.xml"/><Relationship Id="rId4" Type="http://schemas.openxmlformats.org/officeDocument/2006/relationships/tags" Target="../tags/tag415.xml"/></Relationships>
</file>

<file path=ppt/slides/_rels/slide4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19.xml"/><Relationship Id="rId7" Type="http://schemas.openxmlformats.org/officeDocument/2006/relationships/notesSlide" Target="../notesSlides/notesSlide36.xml"/><Relationship Id="rId2" Type="http://schemas.openxmlformats.org/officeDocument/2006/relationships/tags" Target="../tags/tag418.xml"/><Relationship Id="rId1" Type="http://schemas.openxmlformats.org/officeDocument/2006/relationships/tags" Target="../tags/tag417.xml"/><Relationship Id="rId6" Type="http://schemas.openxmlformats.org/officeDocument/2006/relationships/slideLayout" Target="../slideLayouts/slideLayout24.xml"/><Relationship Id="rId5" Type="http://schemas.openxmlformats.org/officeDocument/2006/relationships/tags" Target="../tags/tag421.xml"/><Relationship Id="rId4" Type="http://schemas.openxmlformats.org/officeDocument/2006/relationships/tags" Target="../tags/tag420.xml"/></Relationships>
</file>

<file path=ppt/slides/_rels/slide50.xml.rels><?xml version="1.0" encoding="UTF-8" standalone="yes"?>
<Relationships xmlns="http://schemas.openxmlformats.org/package/2006/relationships"><Relationship Id="rId8" Type="http://schemas.openxmlformats.org/officeDocument/2006/relationships/notesSlide" Target="../notesSlides/notesSlide37.xml"/><Relationship Id="rId3" Type="http://schemas.openxmlformats.org/officeDocument/2006/relationships/tags" Target="../tags/tag424.xml"/><Relationship Id="rId7" Type="http://schemas.openxmlformats.org/officeDocument/2006/relationships/slideLayout" Target="../slideLayouts/slideLayout24.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5" Type="http://schemas.openxmlformats.org/officeDocument/2006/relationships/tags" Target="../tags/tag426.xml"/><Relationship Id="rId10" Type="http://schemas.openxmlformats.org/officeDocument/2006/relationships/image" Target="../media/image7.png"/><Relationship Id="rId4" Type="http://schemas.openxmlformats.org/officeDocument/2006/relationships/tags" Target="../tags/tag425.xml"/><Relationship Id="rId9" Type="http://schemas.openxmlformats.org/officeDocument/2006/relationships/image" Target="../media/image23.emf"/></Relationships>
</file>

<file path=ppt/slides/_rels/slide5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30.xml"/><Relationship Id="rId7" Type="http://schemas.openxmlformats.org/officeDocument/2006/relationships/image" Target="../media/image24.emf"/><Relationship Id="rId2" Type="http://schemas.openxmlformats.org/officeDocument/2006/relationships/tags" Target="../tags/tag429.xml"/><Relationship Id="rId1" Type="http://schemas.openxmlformats.org/officeDocument/2006/relationships/tags" Target="../tags/tag428.xml"/><Relationship Id="rId6" Type="http://schemas.openxmlformats.org/officeDocument/2006/relationships/notesSlide" Target="../notesSlides/notesSlide38.xml"/><Relationship Id="rId5" Type="http://schemas.openxmlformats.org/officeDocument/2006/relationships/slideLayout" Target="../slideLayouts/slideLayout24.xml"/><Relationship Id="rId4" Type="http://schemas.openxmlformats.org/officeDocument/2006/relationships/tags" Target="../tags/tag431.xml"/></Relationships>
</file>

<file path=ppt/slides/_rels/slide52.xml.rels><?xml version="1.0" encoding="UTF-8" standalone="yes"?>
<Relationships xmlns="http://schemas.openxmlformats.org/package/2006/relationships"><Relationship Id="rId3" Type="http://schemas.openxmlformats.org/officeDocument/2006/relationships/tags" Target="../tags/tag434.xml"/><Relationship Id="rId7" Type="http://schemas.openxmlformats.org/officeDocument/2006/relationships/image" Target="../media/image7.png"/><Relationship Id="rId2" Type="http://schemas.openxmlformats.org/officeDocument/2006/relationships/tags" Target="../tags/tag433.xml"/><Relationship Id="rId1" Type="http://schemas.openxmlformats.org/officeDocument/2006/relationships/tags" Target="../tags/tag432.xml"/><Relationship Id="rId6" Type="http://schemas.openxmlformats.org/officeDocument/2006/relationships/slideLayout" Target="../slideLayouts/slideLayout24.xml"/><Relationship Id="rId5" Type="http://schemas.openxmlformats.org/officeDocument/2006/relationships/tags" Target="../tags/tag436.xml"/><Relationship Id="rId4" Type="http://schemas.openxmlformats.org/officeDocument/2006/relationships/tags" Target="../tags/tag435.xml"/></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39.xml"/><Relationship Id="rId3" Type="http://schemas.openxmlformats.org/officeDocument/2006/relationships/tags" Target="../tags/tag439.xml"/><Relationship Id="rId7" Type="http://schemas.openxmlformats.org/officeDocument/2006/relationships/slideLayout" Target="../slideLayouts/slideLayout24.xml"/><Relationship Id="rId2" Type="http://schemas.openxmlformats.org/officeDocument/2006/relationships/tags" Target="../tags/tag438.xml"/><Relationship Id="rId1" Type="http://schemas.openxmlformats.org/officeDocument/2006/relationships/tags" Target="../tags/tag437.xml"/><Relationship Id="rId6" Type="http://schemas.openxmlformats.org/officeDocument/2006/relationships/tags" Target="../tags/tag442.xml"/><Relationship Id="rId11" Type="http://schemas.openxmlformats.org/officeDocument/2006/relationships/image" Target="../media/image7.png"/><Relationship Id="rId5" Type="http://schemas.openxmlformats.org/officeDocument/2006/relationships/tags" Target="../tags/tag441.xml"/><Relationship Id="rId10" Type="http://schemas.openxmlformats.org/officeDocument/2006/relationships/image" Target="../media/image26.emf"/><Relationship Id="rId4" Type="http://schemas.openxmlformats.org/officeDocument/2006/relationships/tags" Target="../tags/tag440.xml"/><Relationship Id="rId9" Type="http://schemas.openxmlformats.org/officeDocument/2006/relationships/image" Target="../media/image25.emf"/></Relationships>
</file>

<file path=ppt/slides/_rels/slide54.xml.rels><?xml version="1.0" encoding="UTF-8" standalone="yes"?>
<Relationships xmlns="http://schemas.openxmlformats.org/package/2006/relationships"><Relationship Id="rId3" Type="http://schemas.openxmlformats.org/officeDocument/2006/relationships/tags" Target="../tags/tag445.xml"/><Relationship Id="rId7" Type="http://schemas.openxmlformats.org/officeDocument/2006/relationships/image" Target="../media/image7.png"/><Relationship Id="rId2" Type="http://schemas.openxmlformats.org/officeDocument/2006/relationships/tags" Target="../tags/tag444.xml"/><Relationship Id="rId1" Type="http://schemas.openxmlformats.org/officeDocument/2006/relationships/tags" Target="../tags/tag443.xml"/><Relationship Id="rId6" Type="http://schemas.openxmlformats.org/officeDocument/2006/relationships/slideLayout" Target="../slideLayouts/slideLayout24.xml"/><Relationship Id="rId5" Type="http://schemas.openxmlformats.org/officeDocument/2006/relationships/tags" Target="../tags/tag447.xml"/><Relationship Id="rId4" Type="http://schemas.openxmlformats.org/officeDocument/2006/relationships/tags" Target="../tags/tag446.xml"/></Relationships>
</file>

<file path=ppt/slides/_rels/slide55.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tags" Target="../tags/tag450.xml"/><Relationship Id="rId7" Type="http://schemas.openxmlformats.org/officeDocument/2006/relationships/notesSlide" Target="../notesSlides/notesSlide40.xml"/><Relationship Id="rId2" Type="http://schemas.openxmlformats.org/officeDocument/2006/relationships/tags" Target="../tags/tag449.xml"/><Relationship Id="rId1" Type="http://schemas.openxmlformats.org/officeDocument/2006/relationships/tags" Target="../tags/tag448.xml"/><Relationship Id="rId6" Type="http://schemas.openxmlformats.org/officeDocument/2006/relationships/slideLayout" Target="../slideLayouts/slideLayout24.xml"/><Relationship Id="rId5" Type="http://schemas.openxmlformats.org/officeDocument/2006/relationships/tags" Target="../tags/tag452.xml"/><Relationship Id="rId4" Type="http://schemas.openxmlformats.org/officeDocument/2006/relationships/tags" Target="../tags/tag451.xml"/><Relationship Id="rId9" Type="http://schemas.openxmlformats.org/officeDocument/2006/relationships/image" Target="../media/image7.png"/></Relationships>
</file>

<file path=ppt/slides/_rels/slide56.xml.rels><?xml version="1.0" encoding="UTF-8" standalone="yes"?>
<Relationships xmlns="http://schemas.openxmlformats.org/package/2006/relationships"><Relationship Id="rId3" Type="http://schemas.openxmlformats.org/officeDocument/2006/relationships/tags" Target="../tags/tag455.xml"/><Relationship Id="rId7" Type="http://schemas.openxmlformats.org/officeDocument/2006/relationships/image" Target="../media/image7.png"/><Relationship Id="rId2" Type="http://schemas.openxmlformats.org/officeDocument/2006/relationships/tags" Target="../tags/tag454.xml"/><Relationship Id="rId1" Type="http://schemas.openxmlformats.org/officeDocument/2006/relationships/tags" Target="../tags/tag453.xml"/><Relationship Id="rId6" Type="http://schemas.openxmlformats.org/officeDocument/2006/relationships/notesSlide" Target="../notesSlides/notesSlide41.xml"/><Relationship Id="rId5" Type="http://schemas.openxmlformats.org/officeDocument/2006/relationships/slideLayout" Target="../slideLayouts/slideLayout24.xml"/><Relationship Id="rId4" Type="http://schemas.openxmlformats.org/officeDocument/2006/relationships/tags" Target="../tags/tag456.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4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Object 2103"/>
          <p:cNvSpPr txBox="1"/>
          <p:nvPr>
            <p:custDataLst>
              <p:tags r:id="rId2"/>
            </p:custDataLst>
          </p:nvPr>
        </p:nvSpPr>
        <p:spPr>
          <a:xfrm>
            <a:off x="1374140" y="3500755"/>
            <a:ext cx="9497695" cy="434975"/>
          </a:xfrm>
          <a:prstGeom prst="rect">
            <a:avLst/>
          </a:prstGeom>
          <a:ln w="3175">
            <a:miter lim="400000"/>
          </a:ln>
        </p:spPr>
        <p:txBody>
          <a:bodyPr wrap="square" lIns="101600" tIns="38100" rIns="76200" bIns="38100"/>
          <a:lstStyle>
            <a:lvl1pPr algn="ctr">
              <a:defRPr sz="2400" spc="73">
                <a:solidFill>
                  <a:srgbClr val="FFE3B9"/>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4400" spc="200" dirty="0">
                <a:solidFill>
                  <a:schemeClr val="accent1"/>
                </a:solidFill>
                <a:latin typeface="Arial" panose="020B0604020202020204" pitchFamily="34" charset="0"/>
                <a:ea typeface="微软雅黑" panose="020B0503020204020204" pitchFamily="34" charset="-122"/>
              </a:rPr>
              <a:t>第四讲</a:t>
            </a:r>
            <a:r>
              <a:rPr lang="en-US" altLang="zh-CN" sz="4400" spc="200" dirty="0">
                <a:solidFill>
                  <a:schemeClr val="accent1"/>
                </a:solidFill>
                <a:latin typeface="Arial" panose="020B0604020202020204" pitchFamily="34" charset="0"/>
                <a:ea typeface="微软雅黑" panose="020B0503020204020204" pitchFamily="34" charset="-122"/>
              </a:rPr>
              <a:t> </a:t>
            </a:r>
            <a:r>
              <a:rPr lang="zh-CN" altLang="en-US" sz="4400" spc="200" dirty="0">
                <a:solidFill>
                  <a:schemeClr val="accent1"/>
                </a:solidFill>
                <a:latin typeface="Arial" panose="020B0604020202020204" pitchFamily="34" charset="0"/>
                <a:ea typeface="微软雅黑" panose="020B0503020204020204" pitchFamily="34" charset="-122"/>
                <a:sym typeface="+mn-ea"/>
              </a:rPr>
              <a:t>完全且完美信息动态博弈</a:t>
            </a:r>
            <a:endParaRPr lang="zh-CN" altLang="en-US" sz="4400" spc="200" dirty="0">
              <a:solidFill>
                <a:schemeClr val="accent1"/>
              </a:solidFill>
              <a:latin typeface="Arial" panose="020B0604020202020204" pitchFamily="34" charset="0"/>
              <a:ea typeface="微软雅黑" panose="020B0503020204020204" pitchFamily="34" charset="-122"/>
            </a:endParaRPr>
          </a:p>
          <a:p>
            <a:pPr marL="0" indent="0" algn="ctr">
              <a:lnSpc>
                <a:spcPct val="100000"/>
              </a:lnSpc>
              <a:spcBef>
                <a:spcPts val="0"/>
              </a:spcBef>
              <a:spcAft>
                <a:spcPts val="0"/>
              </a:spcAft>
              <a:buSzPct val="100000"/>
              <a:buNone/>
            </a:pPr>
            <a:endParaRPr lang="zh-CN" altLang="en-US" sz="4400" spc="200" dirty="0">
              <a:solidFill>
                <a:schemeClr val="accent1"/>
              </a:solidFill>
              <a:latin typeface="Arial" panose="020B0604020202020204" pitchFamily="34" charset="0"/>
              <a:ea typeface="微软雅黑" panose="020B0503020204020204" pitchFamily="34" charset="-122"/>
            </a:endParaRPr>
          </a:p>
        </p:txBody>
      </p:sp>
      <p:sp>
        <p:nvSpPr>
          <p:cNvPr id="419" name="Object 2105"/>
          <p:cNvSpPr txBox="1"/>
          <p:nvPr>
            <p:custDataLst>
              <p:tags r:id="rId3"/>
            </p:custDataLst>
          </p:nvPr>
        </p:nvSpPr>
        <p:spPr>
          <a:xfrm>
            <a:off x="3175909" y="1268889"/>
            <a:ext cx="5823585" cy="1583690"/>
          </a:xfrm>
          <a:prstGeom prst="rect">
            <a:avLst/>
          </a:prstGeom>
          <a:ln w="3175">
            <a:miter lim="400000"/>
          </a:ln>
        </p:spPr>
        <p:txBody>
          <a:bodyPr lIns="101600" tIns="38100" rIns="63500" bIns="38100" anchor="b" anchorCtr="0">
            <a:normAutofit/>
          </a:bodyPr>
          <a:lstStyle>
            <a:lvl1pPr algn="ctr">
              <a:defRPr sz="12400" spc="372">
                <a:solidFill>
                  <a:srgbClr val="FFFFFF"/>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7200" spc="300" dirty="0">
                <a:solidFill>
                  <a:schemeClr val="accent1"/>
                </a:solidFill>
                <a:latin typeface="Arial" panose="020B0604020202020204" pitchFamily="34" charset="0"/>
                <a:ea typeface="微软雅黑" panose="020B0503020204020204" pitchFamily="34" charset="-122"/>
              </a:rPr>
              <a:t>博弈论</a:t>
            </a:r>
          </a:p>
        </p:txBody>
      </p:sp>
      <p:sp>
        <p:nvSpPr>
          <p:cNvPr id="2" name="灯片编号占位符 1"/>
          <p:cNvSpPr>
            <a:spLocks noGrp="1"/>
          </p:cNvSpPr>
          <p:nvPr>
            <p:ph type="sldNum" sz="quarter" idx="12"/>
          </p:nvPr>
        </p:nvSpPr>
        <p:spPr/>
        <p:txBody>
          <a:bodyPr/>
          <a:lstStyle/>
          <a:p>
            <a:fld id="{49AE70B2-8BF9-45C0-BB95-33D1B9D3A854}" type="slidenum">
              <a:rPr lang="zh-CN" altLang="en-US" smtClean="0"/>
              <a:t>1</a:t>
            </a:fld>
            <a:endParaRPr lang="zh-CN" altLang="en-US" dirty="0"/>
          </a:p>
        </p:txBody>
      </p:sp>
      <p:sp>
        <p:nvSpPr>
          <p:cNvPr id="8" name="object 8"/>
          <p:cNvSpPr txBox="1"/>
          <p:nvPr/>
        </p:nvSpPr>
        <p:spPr>
          <a:xfrm>
            <a:off x="9264015" y="3945890"/>
            <a:ext cx="2673985" cy="2277110"/>
          </a:xfrm>
          <a:prstGeom prst="rect">
            <a:avLst/>
          </a:prstGeom>
        </p:spPr>
        <p:txBody>
          <a:bodyPr vert="horz" wrap="square" lIns="0" tIns="0" rIns="0" bIns="0" rtlCol="0">
            <a:spAutoFit/>
          </a:bodyPr>
          <a:lstStyle/>
          <a:p>
            <a:pPr marL="12700">
              <a:lnSpc>
                <a:spcPct val="100000"/>
              </a:lnSpc>
            </a:pPr>
            <a:r>
              <a:rPr lang="zh-CN" altLang="en-US"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en-US" altLang="zh-CN" sz="32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王梦晨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杭州电子科技大学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     经济学院</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AutoShape 4"/>
          <p:cNvSpPr>
            <a:spLocks noGrp="1" noChangeArrowheads="1"/>
          </p:cNvSpPr>
          <p:nvPr>
            <p:ph type="title"/>
          </p:nvPr>
        </p:nvSpPr>
        <p:spPr>
          <a:xfrm>
            <a:off x="1704340" y="188595"/>
            <a:ext cx="8371205" cy="857250"/>
          </a:xfrm>
        </p:spPr>
        <p:txBody>
          <a:bodyPr/>
          <a:lstStyle/>
          <a:p>
            <a:pPr algn="ctr" eaLnBrk="1" hangingPunct="1">
              <a:buClrTx/>
              <a:buSzTx/>
              <a:buFontTx/>
            </a:pPr>
            <a:r>
              <a:rPr lang="zh-CN" altLang="en-US" sz="3600"/>
              <a:t>第四讲：</a:t>
            </a:r>
            <a:r>
              <a:rPr sz="3600">
                <a:sym typeface="+mn-ea"/>
              </a:rPr>
              <a:t>完全且完美信息动态博弈</a:t>
            </a:r>
            <a:endParaRPr lang="zh-CN" altLang="en-US" sz="3600">
              <a:sym typeface="+mn-ea"/>
            </a:endParaRPr>
          </a:p>
        </p:txBody>
      </p:sp>
      <p:sp>
        <p:nvSpPr>
          <p:cNvPr id="8195" name="AutoShape 5"/>
          <p:cNvSpPr>
            <a:spLocks noGrp="1" noChangeArrowheads="1"/>
          </p:cNvSpPr>
          <p:nvPr>
            <p:ph type="body" idx="1"/>
          </p:nvPr>
        </p:nvSpPr>
        <p:spPr>
          <a:xfrm>
            <a:off x="4008120" y="727710"/>
            <a:ext cx="5553710" cy="5977255"/>
          </a:xfrm>
          <a:extLst>
            <a:ext uri="{91240B29-F687-4F45-9708-019B960494DF}">
              <a14:hiddenLine xmlns:a14="http://schemas.microsoft.com/office/drawing/2010/main" w="28575">
                <a:solidFill>
                  <a:schemeClr val="accent1"/>
                </a:solidFill>
                <a:round/>
              </a14:hiddenLine>
            </a:ext>
          </a:extLst>
        </p:spPr>
        <p:txBody>
          <a:bodyPr/>
          <a:lstStyle/>
          <a:p>
            <a:pPr marL="812800" indent="-812800" algn="l" eaLnBrk="1" hangingPunct="1">
              <a:lnSpc>
                <a:spcPct val="170000"/>
              </a:lnSpc>
              <a:buFont typeface="Wingdings" panose="05000000000000000000" pitchFamily="2" charset="2"/>
              <a:buNone/>
            </a:pPr>
            <a:r>
              <a:rPr lang="en-US" altLang="zh-CN" sz="2400" dirty="0">
                <a:solidFill>
                  <a:srgbClr val="0000CC"/>
                </a:solidFill>
              </a:rPr>
              <a:t>             </a:t>
            </a:r>
            <a:r>
              <a:rPr lang="zh-CN" altLang="en-US" sz="2400" dirty="0">
                <a:solidFill>
                  <a:srgbClr val="0000CC"/>
                </a:solidFill>
              </a:rPr>
              <a:t>主要内容</a:t>
            </a:r>
          </a:p>
          <a:p>
            <a:pPr eaLnBrk="1" hangingPunct="1">
              <a:lnSpc>
                <a:spcPct val="130000"/>
              </a:lnSpc>
              <a:buFont typeface="Wingdings" panose="05000000000000000000" charset="0"/>
              <a:buChar char="Ø"/>
            </a:pPr>
            <a:r>
              <a:rPr lang="zh-CN" altLang="en-US" sz="2400" dirty="0"/>
              <a:t>基本概念</a:t>
            </a:r>
          </a:p>
          <a:p>
            <a:pPr eaLnBrk="1" hangingPunct="1">
              <a:lnSpc>
                <a:spcPct val="130000"/>
              </a:lnSpc>
              <a:buFont typeface="Wingdings" panose="05000000000000000000" charset="0"/>
              <a:buChar char="Ø"/>
            </a:pPr>
            <a:r>
              <a:rPr lang="zh-CN" altLang="en-US" sz="2400" dirty="0"/>
              <a:t>动态博弈的表示</a:t>
            </a:r>
          </a:p>
          <a:p>
            <a:pPr eaLnBrk="1" hangingPunct="1">
              <a:lnSpc>
                <a:spcPct val="130000"/>
              </a:lnSpc>
              <a:buFont typeface="Wingdings" panose="05000000000000000000" charset="0"/>
              <a:buChar char="Ø"/>
            </a:pPr>
            <a:r>
              <a:rPr sz="2400">
                <a:sym typeface="+mn-ea"/>
              </a:rPr>
              <a:t>动态博弈的特性</a:t>
            </a:r>
          </a:p>
          <a:p>
            <a:pPr eaLnBrk="1" hangingPunct="1">
              <a:lnSpc>
                <a:spcPct val="130000"/>
              </a:lnSpc>
              <a:buFont typeface="Wingdings" panose="05000000000000000000" charset="0"/>
              <a:buChar char="Ø"/>
            </a:pPr>
            <a:r>
              <a:rPr sz="2400">
                <a:sym typeface="+mn-ea"/>
              </a:rPr>
              <a:t>纳什均衡的合理性</a:t>
            </a:r>
            <a:endParaRPr lang="zh-CN" altLang="en-US" sz="2400" dirty="0"/>
          </a:p>
          <a:p>
            <a:pPr eaLnBrk="1" hangingPunct="1">
              <a:lnSpc>
                <a:spcPct val="130000"/>
              </a:lnSpc>
              <a:buFont typeface="Wingdings" panose="05000000000000000000" charset="0"/>
              <a:buChar char="Ø"/>
            </a:pPr>
            <a:r>
              <a:rPr lang="zh-CN" altLang="en-US" sz="2400" dirty="0"/>
              <a:t>子博弈和子博弈完美纳什均衡</a:t>
            </a:r>
          </a:p>
          <a:p>
            <a:pPr eaLnBrk="1" hangingPunct="1">
              <a:lnSpc>
                <a:spcPct val="130000"/>
              </a:lnSpc>
              <a:buFont typeface="Wingdings" panose="05000000000000000000" charset="0"/>
              <a:buChar char="Ø"/>
            </a:pPr>
            <a:r>
              <a:rPr lang="zh-CN" altLang="en-US" sz="2400" dirty="0"/>
              <a:t>逆推归纳法</a:t>
            </a:r>
          </a:p>
          <a:p>
            <a:pPr eaLnBrk="1" hangingPunct="1">
              <a:lnSpc>
                <a:spcPct val="130000"/>
              </a:lnSpc>
              <a:buFont typeface="Wingdings" panose="05000000000000000000" charset="0"/>
              <a:buChar char="Ø"/>
            </a:pPr>
            <a:r>
              <a:rPr lang="zh-CN" altLang="en-US" sz="2400" dirty="0"/>
              <a:t>经典的动态博弈模型</a:t>
            </a:r>
          </a:p>
          <a:p>
            <a:pPr eaLnBrk="1" hangingPunct="1">
              <a:lnSpc>
                <a:spcPct val="130000"/>
              </a:lnSpc>
              <a:buFont typeface="Wingdings" panose="05000000000000000000" charset="0"/>
              <a:buChar char="Ø"/>
            </a:pPr>
            <a:r>
              <a:rPr lang="zh-CN" altLang="en-US" sz="2400" dirty="0"/>
              <a:t>有同时选择的动态博弈模型</a:t>
            </a:r>
          </a:p>
          <a:p>
            <a:pPr eaLnBrk="1" hangingPunct="1">
              <a:lnSpc>
                <a:spcPct val="130000"/>
              </a:lnSpc>
              <a:buFont typeface="Wingdings" panose="05000000000000000000" charset="0"/>
              <a:buChar char="Ø"/>
            </a:pPr>
            <a:r>
              <a:rPr lang="zh-CN" altLang="en-US" sz="2400" dirty="0"/>
              <a:t>动态博弈分析的问题和扩展讨论</a:t>
            </a: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2256790" cy="762000"/>
            <a:chOff x="840" y="240"/>
            <a:chExt cx="3554" cy="1200"/>
          </a:xfrm>
        </p:grpSpPr>
        <p:sp>
          <p:nvSpPr>
            <p:cNvPr id="256" name="文本框 6"/>
            <p:cNvSpPr txBox="1"/>
            <p:nvPr>
              <p:custDataLst>
                <p:tags r:id="rId6"/>
              </p:custDataLst>
            </p:nvPr>
          </p:nvSpPr>
          <p:spPr>
            <a:xfrm>
              <a:off x="1200" y="240"/>
              <a:ext cx="3195"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p>
          </p:txBody>
        </p:sp>
        <p:cxnSp>
          <p:nvCxnSpPr>
            <p:cNvPr id="8" name="直接连接符 7"/>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5" name="Title 6"/>
          <p:cNvSpPr txBox="1"/>
          <p:nvPr>
            <p:custDataLst>
              <p:tags r:id="rId2"/>
            </p:custDataLst>
          </p:nvPr>
        </p:nvSpPr>
        <p:spPr>
          <a:xfrm>
            <a:off x="839470" y="908685"/>
            <a:ext cx="10349865" cy="160401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完全且完美信息动态博弈（简称动态博弈）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指的是各博弈方</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先后行动</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，后行动者知道先行动者的具体行动是什么，且各博弈方对博弈中各种策略组合下</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所有博弈方相应的得益都完全了解</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的博弈。</a:t>
            </a: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动态博弈也称</a:t>
            </a: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序列博弈</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Title 6"/>
          <p:cNvSpPr txBox="1"/>
          <p:nvPr>
            <p:custDataLst>
              <p:tags r:id="rId3"/>
            </p:custDataLst>
          </p:nvPr>
        </p:nvSpPr>
        <p:spPr>
          <a:xfrm>
            <a:off x="911860" y="4148455"/>
            <a:ext cx="10411460" cy="20726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1"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阶段：</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动态博弈中一个博弈方的一次选择，</a:t>
            </a:r>
            <a:r>
              <a:rPr lang="zh-CN" altLang="en-US" sz="2000">
                <a:sym typeface="+mn-ea"/>
              </a:rPr>
              <a:t>一个动态博弈至少有两个阶段，</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所以，动态博弈也称</a:t>
            </a: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多阶段博弈</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如象棋、围棋、乒乓等</a:t>
            </a:r>
          </a:p>
        </p:txBody>
      </p:sp>
      <p:grpSp>
        <p:nvGrpSpPr>
          <p:cNvPr id="5" name="组合 4"/>
          <p:cNvGrpSpPr/>
          <p:nvPr/>
        </p:nvGrpSpPr>
        <p:grpSpPr>
          <a:xfrm>
            <a:off x="1848485" y="2653030"/>
            <a:ext cx="5118100" cy="1738630"/>
            <a:chOff x="2910" y="3838"/>
            <a:chExt cx="8060" cy="2738"/>
          </a:xfrm>
        </p:grpSpPr>
        <p:sp>
          <p:nvSpPr>
            <p:cNvPr id="10" name="矩形 9"/>
            <p:cNvSpPr/>
            <p:nvPr>
              <p:custDataLst>
                <p:tags r:id="rId4"/>
              </p:custDataLst>
            </p:nvPr>
          </p:nvSpPr>
          <p:spPr>
            <a:xfrm>
              <a:off x="2910" y="3838"/>
              <a:ext cx="8060" cy="269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4" name="Title 6"/>
            <p:cNvSpPr txBox="1"/>
            <p:nvPr>
              <p:custDataLst>
                <p:tags r:id="rId5"/>
              </p:custDataLst>
            </p:nvPr>
          </p:nvSpPr>
          <p:spPr>
            <a:xfrm>
              <a:off x="3136" y="3926"/>
              <a:ext cx="7607" cy="2651"/>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对得益的完全了解</a:t>
              </a: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对先行博弈过程的完全了解</a:t>
              </a: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各博弈方先后，依次行动</a:t>
              </a:r>
            </a:p>
          </p:txBody>
        </p:sp>
      </p:grpSp>
      <p:sp>
        <p:nvSpPr>
          <p:cNvPr id="7" name="灯片编号占位符 6"/>
          <p:cNvSpPr>
            <a:spLocks noGrp="1"/>
          </p:cNvSpPr>
          <p:nvPr>
            <p:ph type="sldNum" sz="quarter" idx="12"/>
          </p:nvPr>
        </p:nvSpPr>
        <p:spPr/>
        <p:txBody>
          <a:bodyPr/>
          <a:lstStyle/>
          <a:p>
            <a:fld id="{49AE70B2-8BF9-45C0-BB95-33D1B9D3A854}" type="slidenum">
              <a:rPr lang="zh-CN" altLang="en-US" smtClean="0"/>
              <a:t>3</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Title 6"/>
          <p:cNvSpPr txBox="1"/>
          <p:nvPr>
            <p:custDataLst>
              <p:tags r:id="rId2"/>
            </p:custDataLst>
          </p:nvPr>
        </p:nvSpPr>
        <p:spPr>
          <a:xfrm>
            <a:off x="695960" y="923925"/>
            <a:ext cx="10544810" cy="3433445"/>
          </a:xfrm>
          <a:prstGeom prst="rect">
            <a:avLst/>
          </a:prstGeom>
          <a:noFill/>
          <a:ln w="3175">
            <a:noFill/>
            <a:prstDash val="dash"/>
          </a:ln>
        </p:spPr>
        <p:txBody>
          <a:bodyPr wrap="square" lIns="63500" tIns="25400" rIns="63500" bIns="254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indent="-342900" algn="just">
              <a:lnSpc>
                <a:spcPct val="140000"/>
              </a:lnSpc>
              <a:buFont typeface="Wingdings" panose="05000000000000000000" charset="0"/>
              <a:buChar char="l"/>
            </a:pPr>
            <a:r>
              <a:rPr lang="zh-CN" altLang="en-US" sz="2200" b="1">
                <a:latin typeface="微软雅黑" panose="020B0503020204020204" pitchFamily="34" charset="-122"/>
                <a:ea typeface="微软雅黑" panose="020B0503020204020204" pitchFamily="34" charset="-122"/>
                <a:cs typeface="微软雅黑" panose="020B0503020204020204" pitchFamily="34" charset="-122"/>
                <a:sym typeface="+mn-ea"/>
              </a:rPr>
              <a:t>动态博弈的策略</a:t>
            </a:r>
          </a:p>
          <a:p>
            <a:pPr marL="469900" marR="0" lvl="0" indent="-469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lang="zh-CN" sz="2000" spc="0" noProof="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在动态博弈中，博弈方的选择和行为有先后之分，选择有多种，不同阶段的多次行为之间存在内在联系。</a:t>
            </a:r>
            <a:endParaRPr kumimoji="0" 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69900" marR="0" lvl="0" indent="-469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lang="zh-CN" sz="2000" spc="0" noProof="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动态博弈中博弈方选择的不是博弈方在单个阶段的行为，而是在整个博弈中轮到选择的每个阶段，针对前面阶段的各种情况所作的相应选择和行为的</a:t>
            </a:r>
            <a:r>
              <a:rPr lang="zh-CN" sz="2000" b="1" spc="0" noProof="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完整计划</a:t>
            </a:r>
            <a:r>
              <a:rPr lang="zh-CN" sz="2000" spc="0" noProof="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。这种“计划”即是动态博弈的策略。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2256790" cy="762000"/>
            <a:chOff x="840" y="240"/>
            <a:chExt cx="3554" cy="1200"/>
          </a:xfrm>
        </p:grpSpPr>
        <p:sp>
          <p:nvSpPr>
            <p:cNvPr id="256" name="文本框 6"/>
            <p:cNvSpPr txBox="1"/>
            <p:nvPr>
              <p:custDataLst>
                <p:tags r:id="rId3"/>
              </p:custDataLst>
            </p:nvPr>
          </p:nvSpPr>
          <p:spPr>
            <a:xfrm>
              <a:off x="1200" y="240"/>
              <a:ext cx="3195"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p>
          </p:txBody>
        </p:sp>
        <p:cxnSp>
          <p:nvCxnSpPr>
            <p:cNvPr id="4" name="直接连接符 3"/>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386" name="Rectangle 2"/>
          <p:cNvSpPr>
            <a:spLocks noGrp="1"/>
          </p:cNvSpPr>
          <p:nvPr/>
        </p:nvSpPr>
        <p:spPr>
          <a:xfrm>
            <a:off x="695960" y="3808730"/>
            <a:ext cx="8001000" cy="226949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defTabSz="913765" eaLnBrk="1" fontAlgn="auto" hangingPunct="1">
              <a:lnSpc>
                <a:spcPct val="140000"/>
              </a:lnSpc>
              <a:buClrTx/>
              <a:buSzTx/>
              <a:buFont typeface="Wingdings" panose="05000000000000000000" charset="0"/>
              <a:buChar char="l"/>
            </a:pPr>
            <a:r>
              <a:rPr lang="zh-CN" altLang="en-US" sz="2200" spc="-49">
                <a:ln w="3175">
                  <a:noFill/>
                </a:ln>
                <a:effectLst/>
                <a:latin typeface="微软雅黑" panose="020B0503020204020204" pitchFamily="34" charset="-122"/>
                <a:ea typeface="微软雅黑" panose="020B0503020204020204" pitchFamily="34" charset="-122"/>
                <a:cs typeface="微软雅黑" panose="020B0503020204020204" pitchFamily="34" charset="-122"/>
              </a:rPr>
              <a:t>动态博弈的结果</a:t>
            </a:r>
          </a:p>
          <a:p>
            <a:pPr>
              <a:lnSpc>
                <a:spcPct val="12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双方或多方采用的策略组合（均衡）；</a:t>
            </a:r>
          </a:p>
          <a:p>
            <a:pPr>
              <a:lnSpc>
                <a:spcPct val="12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实现的博弈路径；</a:t>
            </a:r>
          </a:p>
          <a:p>
            <a:pPr>
              <a:lnSpc>
                <a:spcPct val="120000"/>
              </a:lnSpc>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各博弈方的得益。</a:t>
            </a:r>
            <a:endParaRPr lang="zh-CN" altLang="zh-CN" sz="2800"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4</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Title 6"/>
          <p:cNvSpPr txBox="1"/>
          <p:nvPr>
            <p:custDataLst>
              <p:tags r:id="rId2"/>
            </p:custDataLst>
          </p:nvPr>
        </p:nvSpPr>
        <p:spPr>
          <a:xfrm>
            <a:off x="623570" y="836930"/>
            <a:ext cx="10616565" cy="3433445"/>
          </a:xfrm>
          <a:prstGeom prst="rect">
            <a:avLst/>
          </a:prstGeom>
          <a:noFill/>
          <a:ln w="3175">
            <a:noFill/>
            <a:prstDash val="dash"/>
          </a:ln>
        </p:spPr>
        <p:txBody>
          <a:bodyPr wrap="square" lIns="63500" tIns="25400" rIns="63500" bIns="254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just">
              <a:lnSpc>
                <a:spcPct val="140000"/>
              </a:lnSpc>
              <a:buFont typeface="Wingdings" panose="05000000000000000000" charset="0"/>
              <a:buChar char="l"/>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动态博弈的扩展式表述：</a:t>
            </a:r>
          </a:p>
          <a:p>
            <a:pPr marL="742950" lvl="1" indent="-285750" algn="just">
              <a:lnSpc>
                <a:spcPct val="140000"/>
              </a:lnSpc>
              <a:buFont typeface="Arial" panose="020B0604020202020204" pitchFamily="34" charset="0"/>
              <a:buChar char="•"/>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动态博弈一般用扩展式表述，这时，策略对应于参与人的相机行动规则，即在什么情况下选择什么行动。</a:t>
            </a:r>
          </a:p>
          <a:p>
            <a:pPr marL="742950" lvl="1" indent="-285750" algn="just">
              <a:lnSpc>
                <a:spcPct val="140000"/>
              </a:lnSpc>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扩展式表述</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可以反映动态博弈中博弈方的</a:t>
            </a:r>
            <a:r>
              <a:rPr lang="zh-CN" altLang="en-US" sz="20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选择次序和博弈阶段</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742950" lvl="1" indent="-285750" algn="just">
              <a:lnSpc>
                <a:spcPct val="140000"/>
              </a:lnSpc>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“博弈树”</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是常见的动态博弈扩展式表述方式，</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所以，动态博弈也称</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扩展形博弈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742950" lvl="1" indent="-285750" algn="just">
              <a:lnSpc>
                <a:spcPct val="140000"/>
              </a:lnSpc>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两种方式不适合用扩展式：一是阶段甚多，或博弈方在一个阶段有多种可选择的行为；二是战略空间具有连续性。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7" name="组合 6"/>
          <p:cNvGrpSpPr/>
          <p:nvPr/>
        </p:nvGrpSpPr>
        <p:grpSpPr>
          <a:xfrm>
            <a:off x="533400" y="152400"/>
            <a:ext cx="5290185" cy="762000"/>
            <a:chOff x="840" y="240"/>
            <a:chExt cx="8331" cy="1200"/>
          </a:xfrm>
        </p:grpSpPr>
        <p:sp>
          <p:nvSpPr>
            <p:cNvPr id="8" name="文本框 6"/>
            <p:cNvSpPr txBox="1"/>
            <p:nvPr>
              <p:custDataLst>
                <p:tags r:id="rId5"/>
              </p:custDataLst>
            </p:nvPr>
          </p:nvSpPr>
          <p:spPr>
            <a:xfrm>
              <a:off x="1200" y="240"/>
              <a:ext cx="7971"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动态博弈的表示</a:t>
              </a:r>
              <a:endParaRPr lang="zh-CN" altLang="en-US" sz="2800" dirty="0">
                <a:solidFill>
                  <a:schemeClr val="accent1"/>
                </a:solidFill>
                <a:sym typeface="+mn-ea"/>
              </a:endParaRPr>
            </a:p>
          </p:txBody>
        </p:sp>
        <p:cxnSp>
          <p:nvCxnSpPr>
            <p:cNvPr id="9" name="直接连接符 8"/>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1685925" y="4148455"/>
            <a:ext cx="9124950" cy="2190750"/>
            <a:chOff x="2682" y="3605"/>
            <a:chExt cx="14370" cy="3450"/>
          </a:xfrm>
        </p:grpSpPr>
        <p:sp>
          <p:nvSpPr>
            <p:cNvPr id="10" name="矩形 9"/>
            <p:cNvSpPr/>
            <p:nvPr>
              <p:custDataLst>
                <p:tags r:id="rId3"/>
              </p:custDataLst>
            </p:nvPr>
          </p:nvSpPr>
          <p:spPr>
            <a:xfrm>
              <a:off x="2682" y="3605"/>
              <a:ext cx="14370" cy="345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sp>
          <p:nvSpPr>
            <p:cNvPr id="11" name="Title 6"/>
            <p:cNvSpPr txBox="1"/>
            <p:nvPr>
              <p:custDataLst>
                <p:tags r:id="rId4"/>
              </p:custDataLst>
            </p:nvPr>
          </p:nvSpPr>
          <p:spPr>
            <a:xfrm>
              <a:off x="3023" y="3724"/>
              <a:ext cx="13441" cy="3027"/>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50000"/>
                </a:lnSpc>
                <a:buFont typeface="Wingdings" panose="05000000000000000000" pitchFamily="2" charset="2"/>
                <a:buChar char="u"/>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博弈的扩展式表述所“扩展”的主要是参与人的策略空间。策略式表述简单地给出参与人有些什么策略可以选择，扩展式表述要给出每个策略的动态描述：谁在什么时候行动，每次行动时有些什么具体行动可供选择，以及知道些什么。</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Font typeface="Wingdings" panose="05000000000000000000" pitchFamily="2" charset="2"/>
                <a:buChar char="u"/>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在扩展式表述中策略对应于参与人的相机行动规则，即什么情况下选择什么行动，而不是简单的、与环境无关的行动选择。</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2" name="灯片编号占位符 1"/>
          <p:cNvSpPr>
            <a:spLocks noGrp="1"/>
          </p:cNvSpPr>
          <p:nvPr>
            <p:ph type="sldNum" sz="quarter" idx="12"/>
          </p:nvPr>
        </p:nvSpPr>
        <p:spPr/>
        <p:txBody>
          <a:bodyPr/>
          <a:lstStyle/>
          <a:p>
            <a:fld id="{49AE70B2-8BF9-45C0-BB95-33D1B9D3A854}" type="slidenum">
              <a:rPr lang="zh-CN" altLang="en-US" smtClean="0"/>
              <a:t>5</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idx="1"/>
          </p:nvPr>
        </p:nvSpPr>
        <p:spPr/>
        <p:txBody>
          <a:bodyPr vert="horz" wrap="square" lIns="91440" tIns="45720" rIns="91440" bIns="45720" anchor="t" anchorCtr="0"/>
          <a:lstStyle/>
          <a:p>
            <a:pPr>
              <a:buFont typeface="Wingdings" panose="05000000000000000000" charset="0"/>
              <a:buChar char="l"/>
            </a:pPr>
            <a:r>
              <a:rPr lang="zh-CN" altLang="en-US" sz="2200" b="1" dirty="0"/>
              <a:t>博弈的扩展式表述包括的要素：</a:t>
            </a:r>
          </a:p>
          <a:p>
            <a:pPr>
              <a:lnSpc>
                <a:spcPct val="150000"/>
              </a:lnSpc>
              <a:buFont typeface="Wingdings" panose="05000000000000000000" pitchFamily="2" charset="2"/>
              <a:buChar char="u"/>
            </a:pPr>
            <a:r>
              <a:rPr lang="zh-CN" altLang="en-US" sz="2000" dirty="0">
                <a:latin typeface="微软雅黑" panose="020B0503020204020204" pitchFamily="34" charset="-122"/>
                <a:cs typeface="微软雅黑" panose="020B0503020204020204" pitchFamily="34" charset="-122"/>
              </a:rPr>
              <a:t>博弈方集合：</a:t>
            </a:r>
            <a:r>
              <a:rPr lang="en-US" altLang="zh-CN" sz="2000" dirty="0">
                <a:latin typeface="Times New Roman" panose="02020603050405020304" pitchFamily="18" charset="0"/>
                <a:cs typeface="Times New Roman" panose="02020603050405020304" pitchFamily="18" charset="0"/>
              </a:rPr>
              <a:t>i=1,2,3…….n</a:t>
            </a:r>
            <a:endParaRPr lang="en-US" altLang="zh-CN" sz="2000" dirty="0">
              <a:latin typeface="微软雅黑" panose="020B0503020204020204" pitchFamily="34" charset="-122"/>
              <a:cs typeface="微软雅黑" panose="020B0503020204020204" pitchFamily="34" charset="-122"/>
            </a:endParaRPr>
          </a:p>
          <a:p>
            <a:pPr>
              <a:lnSpc>
                <a:spcPct val="150000"/>
              </a:lnSpc>
              <a:buFont typeface="Wingdings" panose="05000000000000000000" pitchFamily="2" charset="2"/>
              <a:buChar char="u"/>
            </a:pPr>
            <a:r>
              <a:rPr sz="2000">
                <a:latin typeface="微软雅黑" panose="020B0503020204020204" pitchFamily="34" charset="-122"/>
                <a:cs typeface="微软雅黑" panose="020B0503020204020204" pitchFamily="34" charset="-122"/>
                <a:sym typeface="+mn-ea"/>
              </a:rPr>
              <a:t>博弈方</a:t>
            </a:r>
            <a:r>
              <a:rPr lang="zh-CN" altLang="en-US" sz="2000" dirty="0">
                <a:latin typeface="微软雅黑" panose="020B0503020204020204" pitchFamily="34" charset="-122"/>
                <a:cs typeface="微软雅黑" panose="020B0503020204020204" pitchFamily="34" charset="-122"/>
              </a:rPr>
              <a:t>的行动顺序：谁在什么时候行动</a:t>
            </a:r>
          </a:p>
          <a:p>
            <a:pPr>
              <a:lnSpc>
                <a:spcPct val="150000"/>
              </a:lnSpc>
              <a:buFont typeface="Wingdings" panose="05000000000000000000" pitchFamily="2" charset="2"/>
              <a:buChar char="u"/>
            </a:pPr>
            <a:r>
              <a:rPr lang="zh-CN" altLang="en-US" sz="2000" dirty="0">
                <a:latin typeface="微软雅黑" panose="020B0503020204020204" pitchFamily="34" charset="-122"/>
                <a:cs typeface="微软雅黑" panose="020B0503020204020204" pitchFamily="34" charset="-122"/>
              </a:rPr>
              <a:t>行动空间：在每次行动时参与人有些什么选择。</a:t>
            </a:r>
          </a:p>
          <a:p>
            <a:pPr>
              <a:lnSpc>
                <a:spcPct val="150000"/>
              </a:lnSpc>
              <a:buFont typeface="Wingdings" panose="05000000000000000000" pitchFamily="2" charset="2"/>
              <a:buChar char="u"/>
            </a:pPr>
            <a:r>
              <a:rPr lang="zh-CN" altLang="en-US" sz="2000" dirty="0">
                <a:latin typeface="微软雅黑" panose="020B0503020204020204" pitchFamily="34" charset="-122"/>
                <a:cs typeface="微软雅黑" panose="020B0503020204020204" pitchFamily="34" charset="-122"/>
              </a:rPr>
              <a:t>信息集：在每次行动时，参与人知道些什么。</a:t>
            </a:r>
          </a:p>
          <a:p>
            <a:pPr>
              <a:lnSpc>
                <a:spcPct val="150000"/>
              </a:lnSpc>
              <a:buFont typeface="Wingdings" panose="05000000000000000000" pitchFamily="2" charset="2"/>
              <a:buChar char="u"/>
            </a:pPr>
            <a:r>
              <a:rPr lang="zh-CN" altLang="en-US" sz="2000" dirty="0">
                <a:latin typeface="微软雅黑" panose="020B0503020204020204" pitchFamily="34" charset="-122"/>
                <a:cs typeface="微软雅黑" panose="020B0503020204020204" pitchFamily="34" charset="-122"/>
              </a:rPr>
              <a:t>得益函数：在行动结束后，每个博弈方得到什么（得益是所有行动的函数）</a:t>
            </a:r>
          </a:p>
          <a:p>
            <a:pPr>
              <a:lnSpc>
                <a:spcPct val="150000"/>
              </a:lnSpc>
              <a:buFont typeface="Wingdings" panose="05000000000000000000" pitchFamily="2" charset="2"/>
              <a:buChar char="u"/>
            </a:pPr>
            <a:r>
              <a:rPr lang="zh-CN" altLang="en-US" sz="2000" dirty="0">
                <a:latin typeface="微软雅黑" panose="020B0503020204020204" pitchFamily="34" charset="-122"/>
                <a:cs typeface="微软雅黑" panose="020B0503020204020204" pitchFamily="34" charset="-122"/>
              </a:rPr>
              <a:t>外生事件（即自然的选择）的概率分布。</a:t>
            </a:r>
          </a:p>
        </p:txBody>
      </p:sp>
      <p:grpSp>
        <p:nvGrpSpPr>
          <p:cNvPr id="7" name="组合 6"/>
          <p:cNvGrpSpPr/>
          <p:nvPr/>
        </p:nvGrpSpPr>
        <p:grpSpPr>
          <a:xfrm>
            <a:off x="533400" y="152400"/>
            <a:ext cx="5290185" cy="762000"/>
            <a:chOff x="840" y="240"/>
            <a:chExt cx="8331" cy="1200"/>
          </a:xfrm>
        </p:grpSpPr>
        <p:sp>
          <p:nvSpPr>
            <p:cNvPr id="8" name="文本框 6"/>
            <p:cNvSpPr txBox="1"/>
            <p:nvPr>
              <p:custDataLst>
                <p:tags r:id="rId1"/>
              </p:custDataLst>
            </p:nvPr>
          </p:nvSpPr>
          <p:spPr>
            <a:xfrm>
              <a:off x="1200" y="240"/>
              <a:ext cx="7971"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动态博弈的表示</a:t>
              </a:r>
              <a:endParaRPr lang="zh-CN" altLang="en-US" sz="2800" dirty="0">
                <a:solidFill>
                  <a:schemeClr val="accent1"/>
                </a:solidFill>
                <a:sym typeface="+mn-ea"/>
              </a:endParaRPr>
            </a:p>
          </p:txBody>
        </p:sp>
        <p:cxnSp>
          <p:nvCxnSpPr>
            <p:cNvPr id="9" name="直接连接符 8"/>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fld id="{49AE70B2-8BF9-45C0-BB95-33D1B9D3A854}" type="slidenum">
              <a:rPr lang="zh-CN" altLang="en-US" smtClean="0"/>
              <a:t>6</a:t>
            </a:fld>
            <a:endParaRPr lang="zh-CN" alt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Title 6"/>
          <p:cNvSpPr txBox="1"/>
          <p:nvPr>
            <p:custDataLst>
              <p:tags r:id="rId2"/>
            </p:custDataLst>
          </p:nvPr>
        </p:nvSpPr>
        <p:spPr>
          <a:xfrm>
            <a:off x="623570" y="923925"/>
            <a:ext cx="10409555" cy="109728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由于动态博弈参与者的行动有先后次序，因此可以依次将参与者的行动展开成一个树状图形。此图形被称之博弈树。</a:t>
            </a:r>
          </a:p>
        </p:txBody>
      </p:sp>
      <p:grpSp>
        <p:nvGrpSpPr>
          <p:cNvPr id="2" name="组合 1"/>
          <p:cNvGrpSpPr/>
          <p:nvPr/>
        </p:nvGrpSpPr>
        <p:grpSpPr>
          <a:xfrm>
            <a:off x="2423795" y="2493010"/>
            <a:ext cx="6992620" cy="3556000"/>
            <a:chOff x="1919536" y="3356992"/>
            <a:chExt cx="6390564" cy="3024336"/>
          </a:xfrm>
        </p:grpSpPr>
        <p:pic>
          <p:nvPicPr>
            <p:cNvPr id="4" name="图片 3"/>
            <p:cNvPicPr>
              <a:picLocks noChangeAspect="1"/>
            </p:cNvPicPr>
            <p:nvPr/>
          </p:nvPicPr>
          <p:blipFill rotWithShape="1">
            <a:blip r:embed="rId9"/>
            <a:srcRect t="5478" r="5547"/>
            <a:stretch>
              <a:fillRect/>
            </a:stretch>
          </p:blipFill>
          <p:spPr>
            <a:xfrm>
              <a:off x="1919536" y="3356992"/>
              <a:ext cx="3384376" cy="3024336"/>
            </a:xfrm>
            <a:prstGeom prst="rect">
              <a:avLst/>
            </a:prstGeom>
          </p:spPr>
        </p:pic>
        <p:sp>
          <p:nvSpPr>
            <p:cNvPr id="5" name="标注: 线形 4"/>
            <p:cNvSpPr/>
            <p:nvPr/>
          </p:nvSpPr>
          <p:spPr>
            <a:xfrm>
              <a:off x="5501788" y="3789040"/>
              <a:ext cx="2808312" cy="1008112"/>
            </a:xfrm>
            <a:prstGeom prst="borderCallout1">
              <a:avLst>
                <a:gd name="adj1" fmla="val 18750"/>
                <a:gd name="adj2" fmla="val -8333"/>
                <a:gd name="adj3" fmla="val 119073"/>
                <a:gd name="adj4" fmla="val -43052"/>
              </a:avLst>
            </a:prstGeom>
            <a:solidFill>
              <a:srgbClr val="C00000"/>
            </a:solidFill>
            <a:ln w="28575">
              <a:solidFill>
                <a:srgbClr val="FF0000"/>
              </a:solidFill>
            </a:ln>
            <a:effectLst/>
            <a:scene3d>
              <a:camera prst="perspectiveAbove"/>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latin typeface="微软雅黑" panose="020B0503020204020204" pitchFamily="34" charset="-122"/>
                  <a:ea typeface="微软雅黑" panose="020B0503020204020204" pitchFamily="34" charset="-122"/>
                </a:rPr>
                <a:t>博弈树，下面括号里的数字为得益。</a:t>
              </a:r>
            </a:p>
          </p:txBody>
        </p:sp>
      </p:grpSp>
      <p:pic>
        <p:nvPicPr>
          <p:cNvPr id="3"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7" name="组合 6"/>
          <p:cNvGrpSpPr/>
          <p:nvPr/>
        </p:nvGrpSpPr>
        <p:grpSpPr>
          <a:xfrm>
            <a:off x="533400" y="152400"/>
            <a:ext cx="5290185" cy="762000"/>
            <a:chOff x="840" y="240"/>
            <a:chExt cx="8331" cy="1200"/>
          </a:xfrm>
        </p:grpSpPr>
        <p:sp>
          <p:nvSpPr>
            <p:cNvPr id="8" name="文本框 6"/>
            <p:cNvSpPr txBox="1"/>
            <p:nvPr>
              <p:custDataLst>
                <p:tags r:id="rId6"/>
              </p:custDataLst>
            </p:nvPr>
          </p:nvSpPr>
          <p:spPr>
            <a:xfrm>
              <a:off x="1200" y="240"/>
              <a:ext cx="7971"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动态博弈的表示：</a:t>
              </a:r>
              <a:r>
                <a:rPr lang="zh-CN" altLang="en-US" sz="2800" dirty="0">
                  <a:solidFill>
                    <a:schemeClr val="accent1"/>
                  </a:solidFill>
                  <a:sym typeface="+mn-ea"/>
                </a:rPr>
                <a:t>博弈树</a:t>
              </a:r>
            </a:p>
          </p:txBody>
        </p:sp>
        <p:cxnSp>
          <p:nvCxnSpPr>
            <p:cNvPr id="9" name="直接连接符 8"/>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标注: 线形 5"/>
          <p:cNvSpPr/>
          <p:nvPr>
            <p:custDataLst>
              <p:tags r:id="rId3"/>
            </p:custDataLst>
          </p:nvPr>
        </p:nvSpPr>
        <p:spPr>
          <a:xfrm>
            <a:off x="6960235" y="4653280"/>
            <a:ext cx="1910080" cy="572770"/>
          </a:xfrm>
          <a:prstGeom prst="borderCallout1">
            <a:avLst>
              <a:gd name="adj1" fmla="val 18750"/>
              <a:gd name="adj2" fmla="val -8333"/>
              <a:gd name="adj3" fmla="val 192739"/>
              <a:gd name="adj4" fmla="val -111179"/>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zh-CN" altLang="en-US" dirty="0">
                <a:solidFill>
                  <a:schemeClr val="tx1"/>
                </a:solidFill>
                <a:latin typeface="微软雅黑" panose="020B0503020204020204" pitchFamily="34" charset="-122"/>
                <a:ea typeface="微软雅黑" panose="020B0503020204020204" pitchFamily="34" charset="-122"/>
              </a:rPr>
              <a:t>被仿冒企业的得益</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6" name="标注: 线形 5"/>
          <p:cNvSpPr/>
          <p:nvPr>
            <p:custDataLst>
              <p:tags r:id="rId4"/>
            </p:custDataLst>
          </p:nvPr>
        </p:nvSpPr>
        <p:spPr>
          <a:xfrm flipH="1">
            <a:off x="407670" y="5949315"/>
            <a:ext cx="1661795" cy="568960"/>
          </a:xfrm>
          <a:prstGeom prst="borderCallout1">
            <a:avLst>
              <a:gd name="adj1" fmla="val 18750"/>
              <a:gd name="adj2" fmla="val -8333"/>
              <a:gd name="adj3" fmla="val -19546"/>
              <a:gd name="adj4" fmla="val -143313"/>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zh-CN" altLang="en-US" dirty="0">
                <a:solidFill>
                  <a:schemeClr val="tx1"/>
                </a:solidFill>
                <a:latin typeface="微软雅黑" panose="020B0503020204020204" pitchFamily="34" charset="-122"/>
                <a:ea typeface="微软雅黑" panose="020B0503020204020204" pitchFamily="34" charset="-122"/>
              </a:rPr>
              <a:t>仿冒企业的得益</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10" name="标注: 线形 5"/>
          <p:cNvSpPr/>
          <p:nvPr>
            <p:custDataLst>
              <p:tags r:id="rId5"/>
            </p:custDataLst>
          </p:nvPr>
        </p:nvSpPr>
        <p:spPr>
          <a:xfrm flipH="1">
            <a:off x="822960" y="2679700"/>
            <a:ext cx="1410335" cy="448310"/>
          </a:xfrm>
          <a:prstGeom prst="borderCallout1">
            <a:avLst>
              <a:gd name="adj1" fmla="val 18750"/>
              <a:gd name="adj2" fmla="val -8333"/>
              <a:gd name="adj3" fmla="val 192739"/>
              <a:gd name="adj4" fmla="val -111179"/>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zh-CN" altLang="en-US" dirty="0">
                <a:solidFill>
                  <a:schemeClr val="tx1"/>
                </a:solidFill>
                <a:latin typeface="微软雅黑" panose="020B0503020204020204" pitchFamily="34" charset="-122"/>
                <a:ea typeface="微软雅黑" panose="020B0503020204020204" pitchFamily="34" charset="-122"/>
              </a:rPr>
              <a:t>被仿冒企业</a:t>
            </a: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lstStyle/>
          <a:p>
            <a:fld id="{49AE70B2-8BF9-45C0-BB95-33D1B9D3A854}" type="slidenum">
              <a:rPr lang="zh-CN" altLang="en-US" smtClean="0"/>
              <a:t>7</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17" name="组合 16"/>
          <p:cNvGrpSpPr/>
          <p:nvPr/>
        </p:nvGrpSpPr>
        <p:grpSpPr>
          <a:xfrm>
            <a:off x="3748627" y="3716486"/>
            <a:ext cx="6110196" cy="2956836"/>
            <a:chOff x="4737" y="6000"/>
            <a:chExt cx="8478" cy="3676"/>
          </a:xfrm>
        </p:grpSpPr>
        <p:grpSp>
          <p:nvGrpSpPr>
            <p:cNvPr id="16" name="组合 15"/>
            <p:cNvGrpSpPr/>
            <p:nvPr/>
          </p:nvGrpSpPr>
          <p:grpSpPr>
            <a:xfrm>
              <a:off x="4737" y="6000"/>
              <a:ext cx="7884" cy="3676"/>
              <a:chOff x="4737" y="6000"/>
              <a:chExt cx="7884" cy="3676"/>
            </a:xfrm>
          </p:grpSpPr>
          <p:grpSp>
            <p:nvGrpSpPr>
              <p:cNvPr id="4" name="组合 3"/>
              <p:cNvGrpSpPr/>
              <p:nvPr/>
            </p:nvGrpSpPr>
            <p:grpSpPr>
              <a:xfrm>
                <a:off x="4737" y="6000"/>
                <a:ext cx="6072" cy="3676"/>
                <a:chOff x="4737" y="6000"/>
                <a:chExt cx="6072" cy="3676"/>
              </a:xfrm>
            </p:grpSpPr>
            <p:pic>
              <p:nvPicPr>
                <p:cNvPr id="12" name="图片 11"/>
                <p:cNvPicPr>
                  <a:picLocks noChangeAspect="1"/>
                </p:cNvPicPr>
                <p:nvPr>
                  <p:custDataLst>
                    <p:tags r:id="rId8"/>
                  </p:custDataLst>
                </p:nvPr>
              </p:nvPicPr>
              <p:blipFill rotWithShape="1">
                <a:blip r:embed="rId12"/>
                <a:srcRect t="5478" r="5547"/>
                <a:stretch>
                  <a:fillRect/>
                </a:stretch>
              </p:blipFill>
              <p:spPr>
                <a:xfrm>
                  <a:off x="6695" y="6000"/>
                  <a:ext cx="4114" cy="3676"/>
                </a:xfrm>
                <a:prstGeom prst="rect">
                  <a:avLst/>
                </a:prstGeom>
              </p:spPr>
            </p:pic>
            <p:sp>
              <p:nvSpPr>
                <p:cNvPr id="15" name="标注: 双弯曲线形(带强调线) 8"/>
                <p:cNvSpPr/>
                <p:nvPr>
                  <p:custDataLst>
                    <p:tags r:id="rId9"/>
                  </p:custDataLst>
                </p:nvPr>
              </p:nvSpPr>
              <p:spPr>
                <a:xfrm>
                  <a:off x="4737" y="7675"/>
                  <a:ext cx="805" cy="495"/>
                </a:xfrm>
                <a:prstGeom prst="accentCallout3">
                  <a:avLst>
                    <a:gd name="adj1" fmla="val 18750"/>
                    <a:gd name="adj2" fmla="val -8333"/>
                    <a:gd name="adj3" fmla="val 25919"/>
                    <a:gd name="adj4" fmla="val -46113"/>
                    <a:gd name="adj5" fmla="val 126286"/>
                    <a:gd name="adj6" fmla="val -38752"/>
                    <a:gd name="adj7" fmla="val 215555"/>
                    <a:gd name="adj8" fmla="val 357328"/>
                  </a:avLst>
                </a:prstGeom>
                <a:noFill/>
                <a:ln w="28575">
                  <a:solidFill>
                    <a:srgbClr val="FF0000"/>
                  </a:solid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zh-CN" altLang="en-US" dirty="0">
                      <a:solidFill>
                        <a:schemeClr val="tx1"/>
                      </a:solidFill>
                      <a:latin typeface="微软雅黑" panose="020B0503020204020204" pitchFamily="34" charset="-122"/>
                      <a:ea typeface="微软雅黑" panose="020B0503020204020204" pitchFamily="34" charset="-122"/>
                    </a:rPr>
                    <a:t>枝</a:t>
                  </a:r>
                </a:p>
              </p:txBody>
            </p:sp>
          </p:grpSp>
          <p:sp>
            <p:nvSpPr>
              <p:cNvPr id="13" name="标注: 线形 4"/>
              <p:cNvSpPr/>
              <p:nvPr>
                <p:custDataLst>
                  <p:tags r:id="rId7"/>
                </p:custDataLst>
              </p:nvPr>
            </p:nvSpPr>
            <p:spPr>
              <a:xfrm>
                <a:off x="11304" y="6277"/>
                <a:ext cx="1317" cy="445"/>
              </a:xfrm>
              <a:prstGeom prst="borderCallout1">
                <a:avLst>
                  <a:gd name="adj1" fmla="val 18750"/>
                  <a:gd name="adj2" fmla="val -8333"/>
                  <a:gd name="adj3" fmla="val 315314"/>
                  <a:gd name="adj4" fmla="val -140340"/>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7500" lnSpcReduction="10000"/>
              </a:bodyPr>
              <a:lstStyle/>
              <a:p>
                <a:pPr algn="ctr"/>
                <a:r>
                  <a:rPr lang="zh-CN" altLang="en-US" dirty="0">
                    <a:solidFill>
                      <a:schemeClr val="tx1"/>
                    </a:solidFill>
                    <a:latin typeface="微软雅黑" panose="020B0503020204020204" pitchFamily="34" charset="-122"/>
                    <a:ea typeface="微软雅黑" panose="020B0503020204020204" pitchFamily="34" charset="-122"/>
                  </a:rPr>
                  <a:t>决策结</a:t>
                </a:r>
              </a:p>
            </p:txBody>
          </p:sp>
        </p:grpSp>
        <p:sp>
          <p:nvSpPr>
            <p:cNvPr id="14" name="标注: 线形 5"/>
            <p:cNvSpPr/>
            <p:nvPr>
              <p:custDataLst>
                <p:tags r:id="rId6"/>
              </p:custDataLst>
            </p:nvPr>
          </p:nvSpPr>
          <p:spPr>
            <a:xfrm>
              <a:off x="11792" y="7522"/>
              <a:ext cx="1423" cy="447"/>
            </a:xfrm>
            <a:prstGeom prst="borderCallout1">
              <a:avLst>
                <a:gd name="adj1" fmla="val 18750"/>
                <a:gd name="adj2" fmla="val -8333"/>
                <a:gd name="adj3" fmla="val 192739"/>
                <a:gd name="adj4" fmla="val -111179"/>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7500" lnSpcReduction="10000"/>
            </a:bodyPr>
            <a:lstStyle/>
            <a:p>
              <a:pPr algn="ctr"/>
              <a:r>
                <a:rPr lang="zh-CN" altLang="en-US" dirty="0">
                  <a:solidFill>
                    <a:schemeClr val="tx1"/>
                  </a:solidFill>
                  <a:latin typeface="微软雅黑" panose="020B0503020204020204" pitchFamily="34" charset="-122"/>
                  <a:ea typeface="微软雅黑" panose="020B0503020204020204" pitchFamily="34" charset="-122"/>
                </a:rPr>
                <a:t>终点结</a:t>
              </a:r>
            </a:p>
          </p:txBody>
        </p:sp>
      </p:grpSp>
      <p:sp>
        <p:nvSpPr>
          <p:cNvPr id="8" name="内容占位符 2"/>
          <p:cNvSpPr>
            <a:spLocks noGrp="1"/>
          </p:cNvSpPr>
          <p:nvPr>
            <p:custDataLst>
              <p:tags r:id="rId2"/>
            </p:custDataLst>
          </p:nvPr>
        </p:nvSpPr>
        <p:spPr>
          <a:xfrm>
            <a:off x="762000" y="1391285"/>
            <a:ext cx="11277600" cy="2908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a:lnSpc>
                <a:spcPct val="110000"/>
              </a:lnSpc>
              <a:buClrTx/>
              <a:buSzTx/>
            </a:pPr>
            <a:r>
              <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结</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包括决策结和终点结两类：</a:t>
            </a:r>
          </a:p>
          <a:p>
            <a:pPr lvl="1" algn="l">
              <a:lnSpc>
                <a:spcPct val="110000"/>
              </a:lnSpc>
              <a:buClrTx/>
              <a:buSzTx/>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决策结是博弈方采取行动的起点（空心），图中4个空心圆；</a:t>
            </a:r>
          </a:p>
          <a:p>
            <a:pPr lvl="1" algn="l">
              <a:lnSpc>
                <a:spcPct val="110000"/>
              </a:lnSpc>
              <a:buClrTx/>
              <a:buSzTx/>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终点结是博弈方采取行动的终点（实心），图中5个实心圆。</a:t>
            </a:r>
          </a:p>
          <a:p>
            <a:pPr lvl="0" algn="l">
              <a:lnSpc>
                <a:spcPct val="110000"/>
              </a:lnSpc>
              <a:buClrTx/>
              <a:buSzTx/>
            </a:pPr>
            <a:r>
              <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枝</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是从一个决策结到它的直接后续结的连线，每一个枝代表博弈方的一个行动选择。</a:t>
            </a:r>
          </a:p>
          <a:p>
            <a:pPr marL="685800" lvl="1" indent="-228600" algn="l">
              <a:lnSpc>
                <a:spcPct val="110000"/>
              </a:lnSpc>
              <a:buClrTx/>
              <a:buSzTx/>
              <a:buFont typeface="Arial" panose="020B0604020202020204" pitchFamily="34" charset="0"/>
              <a:buChar char="•"/>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博弈树的“枝”不仅完整地描述了每一个决策结博弈方的行动空间，而且给出了从一个决策结到下一个决策结的路径。</a:t>
            </a:r>
          </a:p>
          <a:p>
            <a:pPr marL="685800" lvl="1" indent="-228600" algn="l">
              <a:lnSpc>
                <a:spcPct val="110000"/>
              </a:lnSpc>
              <a:buClrTx/>
              <a:buSzTx/>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路径：从起始结到终点结由结与枝所组成的系列。</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marL="685800" lvl="1" indent="-228600" algn="l">
              <a:lnSpc>
                <a:spcPct val="110000"/>
              </a:lnSpc>
              <a:buClrTx/>
              <a:buSzTx/>
              <a:buFont typeface="Arial" panose="020B0604020202020204" pitchFamily="34" charset="0"/>
              <a:buChar char="•"/>
            </a:pP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l">
              <a:buClrTx/>
              <a:buSzTx/>
            </a:pP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1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Title 6"/>
          <p:cNvSpPr txBox="1"/>
          <p:nvPr>
            <p:custDataLst>
              <p:tags r:id="rId3"/>
            </p:custDataLst>
          </p:nvPr>
        </p:nvSpPr>
        <p:spPr>
          <a:xfrm>
            <a:off x="623570" y="836930"/>
            <a:ext cx="10409555" cy="49022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博弈树的基本构造</a:t>
            </a:r>
          </a:p>
        </p:txBody>
      </p:sp>
      <p:grpSp>
        <p:nvGrpSpPr>
          <p:cNvPr id="3" name="组合 2"/>
          <p:cNvGrpSpPr/>
          <p:nvPr/>
        </p:nvGrpSpPr>
        <p:grpSpPr>
          <a:xfrm>
            <a:off x="533400" y="152400"/>
            <a:ext cx="5290185" cy="762000"/>
            <a:chOff x="840" y="240"/>
            <a:chExt cx="8331" cy="1200"/>
          </a:xfrm>
        </p:grpSpPr>
        <p:sp>
          <p:nvSpPr>
            <p:cNvPr id="5" name="文本框 6"/>
            <p:cNvSpPr txBox="1"/>
            <p:nvPr>
              <p:custDataLst>
                <p:tags r:id="rId4"/>
              </p:custDataLst>
            </p:nvPr>
          </p:nvSpPr>
          <p:spPr>
            <a:xfrm>
              <a:off x="1200" y="240"/>
              <a:ext cx="7971"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动态博弈的表示：</a:t>
              </a:r>
              <a:r>
                <a:rPr lang="zh-CN" altLang="en-US" sz="2800" dirty="0">
                  <a:solidFill>
                    <a:schemeClr val="accent1"/>
                  </a:solidFill>
                  <a:sym typeface="+mn-ea"/>
                </a:rPr>
                <a:t>博弈树</a:t>
              </a:r>
            </a:p>
          </p:txBody>
        </p:sp>
        <p:cxnSp>
          <p:nvCxnSpPr>
            <p:cNvPr id="9" name="直接连接符 8"/>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灯片编号占位符 6"/>
          <p:cNvSpPr>
            <a:spLocks noGrp="1"/>
          </p:cNvSpPr>
          <p:nvPr>
            <p:ph type="sldNum" sz="quarter" idx="12"/>
          </p:nvPr>
        </p:nvSpPr>
        <p:spPr/>
        <p:txBody>
          <a:bodyPr/>
          <a:lstStyle/>
          <a:p>
            <a:fld id="{49AE70B2-8BF9-45C0-BB95-33D1B9D3A854}" type="slidenum">
              <a:rPr lang="zh-CN" altLang="en-US" smtClean="0"/>
              <a:t>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9"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10"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pitchFamily="34" charset="-122"/>
              <a:ea typeface="微软雅黑" panose="020B0503020204020204" pitchFamily="34" charset="-122"/>
            </a:endParaRPr>
          </a:p>
        </p:txBody>
      </p:sp>
      <p:cxnSp>
        <p:nvCxnSpPr>
          <p:cNvPr id="6" name="直接连接符 5"/>
          <p:cNvCxnSpPr/>
          <p:nvPr>
            <p:custDataLst>
              <p:tags r:id="rId4"/>
            </p:custDataLst>
          </p:nvPr>
        </p:nvCxnSpPr>
        <p:spPr>
          <a:xfrm flipH="1">
            <a:off x="1536700" y="3717290"/>
            <a:ext cx="811530" cy="1064260"/>
          </a:xfrm>
          <a:prstGeom prst="line">
            <a:avLst/>
          </a:prstGeom>
          <a:ln w="28575">
            <a:solidFill>
              <a:schemeClr val="accent2"/>
            </a:solidFill>
          </a:ln>
        </p:spPr>
        <p:style>
          <a:lnRef idx="3">
            <a:schemeClr val="accent2"/>
          </a:lnRef>
          <a:fillRef idx="0">
            <a:schemeClr val="accent2"/>
          </a:fillRef>
          <a:effectRef idx="2">
            <a:schemeClr val="accent2"/>
          </a:effectRef>
          <a:fontRef idx="minor">
            <a:schemeClr val="tx1"/>
          </a:fontRef>
        </p:style>
      </p:cxnSp>
      <p:cxnSp>
        <p:nvCxnSpPr>
          <p:cNvPr id="8" name="直接连接符 7"/>
          <p:cNvCxnSpPr/>
          <p:nvPr>
            <p:custDataLst>
              <p:tags r:id="rId5"/>
            </p:custDataLst>
          </p:nvPr>
        </p:nvCxnSpPr>
        <p:spPr>
          <a:xfrm>
            <a:off x="2347595" y="3717290"/>
            <a:ext cx="811530" cy="1080135"/>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custDataLst>
              <p:tags r:id="rId6"/>
            </p:custDataLst>
          </p:nvPr>
        </p:nvCxnSpPr>
        <p:spPr>
          <a:xfrm flipH="1">
            <a:off x="1056005" y="4797425"/>
            <a:ext cx="480695" cy="1151890"/>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3" name="直接连接符 12"/>
          <p:cNvCxnSpPr/>
          <p:nvPr>
            <p:custDataLst>
              <p:tags r:id="rId7"/>
            </p:custDataLst>
          </p:nvPr>
        </p:nvCxnSpPr>
        <p:spPr>
          <a:xfrm>
            <a:off x="1536700" y="4797425"/>
            <a:ext cx="375285" cy="1151890"/>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9" name="直接连接符 18"/>
          <p:cNvCxnSpPr/>
          <p:nvPr>
            <p:custDataLst>
              <p:tags r:id="rId8"/>
            </p:custDataLst>
          </p:nvPr>
        </p:nvCxnSpPr>
        <p:spPr>
          <a:xfrm flipH="1">
            <a:off x="2783840" y="4797425"/>
            <a:ext cx="375285" cy="1080135"/>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21" name="直接连接符 20"/>
          <p:cNvCxnSpPr/>
          <p:nvPr>
            <p:custDataLst>
              <p:tags r:id="rId9"/>
            </p:custDataLst>
          </p:nvPr>
        </p:nvCxnSpPr>
        <p:spPr>
          <a:xfrm>
            <a:off x="3159125" y="4781550"/>
            <a:ext cx="471805" cy="1096010"/>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sp>
        <p:nvSpPr>
          <p:cNvPr id="28" name="文本框 27"/>
          <p:cNvSpPr txBox="1"/>
          <p:nvPr/>
        </p:nvSpPr>
        <p:spPr>
          <a:xfrm>
            <a:off x="1578610" y="3969385"/>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a:t>
            </a:r>
          </a:p>
        </p:txBody>
      </p:sp>
      <p:sp>
        <p:nvSpPr>
          <p:cNvPr id="29" name="文本框 28"/>
          <p:cNvSpPr txBox="1"/>
          <p:nvPr/>
        </p:nvSpPr>
        <p:spPr>
          <a:xfrm>
            <a:off x="2783840" y="3992245"/>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a:t>
            </a:r>
          </a:p>
        </p:txBody>
      </p:sp>
      <p:sp>
        <p:nvSpPr>
          <p:cNvPr id="30" name="文本框 29"/>
          <p:cNvSpPr txBox="1"/>
          <p:nvPr/>
        </p:nvSpPr>
        <p:spPr>
          <a:xfrm>
            <a:off x="980440" y="5003800"/>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31" name="文本框 30"/>
          <p:cNvSpPr txBox="1"/>
          <p:nvPr/>
        </p:nvSpPr>
        <p:spPr>
          <a:xfrm>
            <a:off x="2654935" y="5003800"/>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32" name="文本框 31"/>
          <p:cNvSpPr txBox="1"/>
          <p:nvPr/>
        </p:nvSpPr>
        <p:spPr>
          <a:xfrm>
            <a:off x="1708785" y="4989830"/>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a:t>
            </a:r>
          </a:p>
        </p:txBody>
      </p:sp>
      <p:sp>
        <p:nvSpPr>
          <p:cNvPr id="33" name="文本框 32"/>
          <p:cNvSpPr txBox="1"/>
          <p:nvPr/>
        </p:nvSpPr>
        <p:spPr>
          <a:xfrm>
            <a:off x="3383280" y="5003165"/>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a:t>
            </a:r>
          </a:p>
        </p:txBody>
      </p:sp>
      <p:sp>
        <p:nvSpPr>
          <p:cNvPr id="35" name="椭圆 34"/>
          <p:cNvSpPr/>
          <p:nvPr>
            <p:custDataLst>
              <p:tags r:id="rId10"/>
            </p:custDataLst>
          </p:nvPr>
        </p:nvSpPr>
        <p:spPr>
          <a:xfrm>
            <a:off x="2919730" y="4601210"/>
            <a:ext cx="504190" cy="504190"/>
          </a:xfrm>
          <a:prstGeom prst="ellipse">
            <a:avLst/>
          </a:prstGeom>
          <a:solidFill>
            <a:schemeClr val="accent3"/>
          </a:solidFill>
          <a:ln>
            <a:solidFill>
              <a:schemeClr val="accent4">
                <a:shade val="50000"/>
              </a:schemeClr>
            </a:solidFill>
          </a:ln>
          <a:scene3d>
            <a:camera prst="orthographicFront"/>
            <a:lightRig rig="threePt" dir="t"/>
          </a:scene3d>
          <a:sp3d>
            <a:bevelT/>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36" name="椭圆 35"/>
          <p:cNvSpPr/>
          <p:nvPr>
            <p:custDataLst>
              <p:tags r:id="rId11"/>
            </p:custDataLst>
          </p:nvPr>
        </p:nvSpPr>
        <p:spPr>
          <a:xfrm>
            <a:off x="1299210" y="4601210"/>
            <a:ext cx="504190" cy="504190"/>
          </a:xfrm>
          <a:prstGeom prst="ellipse">
            <a:avLst/>
          </a:prstGeom>
          <a:solidFill>
            <a:schemeClr val="accent3"/>
          </a:solidFill>
          <a:ln>
            <a:solidFill>
              <a:schemeClr val="accent4">
                <a:shade val="50000"/>
              </a:schemeClr>
            </a:solidFill>
          </a:ln>
          <a:scene3d>
            <a:camera prst="orthographicFront"/>
            <a:lightRig rig="threePt" dir="t"/>
          </a:scene3d>
          <a:sp3d>
            <a:bevelT/>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4" name="椭圆 3"/>
          <p:cNvSpPr/>
          <p:nvPr>
            <p:custDataLst>
              <p:tags r:id="rId12"/>
            </p:custDataLst>
          </p:nvPr>
        </p:nvSpPr>
        <p:spPr>
          <a:xfrm>
            <a:off x="2070100" y="3488055"/>
            <a:ext cx="504190" cy="504190"/>
          </a:xfrm>
          <a:prstGeom prst="ellipse">
            <a:avLst/>
          </a:prstGeom>
          <a:solidFill>
            <a:schemeClr val="accent4"/>
          </a:solidFill>
          <a:ln>
            <a:solidFill>
              <a:schemeClr val="accent4">
                <a:shade val="50000"/>
              </a:schemeClr>
            </a:solidFill>
          </a:ln>
          <a:scene3d>
            <a:camera prst="orthographicFront"/>
            <a:lightRig rig="threePt" dir="t"/>
          </a:scene3d>
          <a:sp3d>
            <a:bevelT/>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1</a:t>
            </a:r>
          </a:p>
        </p:txBody>
      </p:sp>
      <p:cxnSp>
        <p:nvCxnSpPr>
          <p:cNvPr id="47" name="直接连接符 46"/>
          <p:cNvCxnSpPr/>
          <p:nvPr>
            <p:custDataLst>
              <p:tags r:id="rId13"/>
            </p:custDataLst>
          </p:nvPr>
        </p:nvCxnSpPr>
        <p:spPr>
          <a:xfrm flipH="1">
            <a:off x="5855335" y="3693795"/>
            <a:ext cx="811530" cy="1064260"/>
          </a:xfrm>
          <a:prstGeom prst="line">
            <a:avLst/>
          </a:prstGeom>
          <a:ln w="28575">
            <a:solidFill>
              <a:schemeClr val="accent2"/>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custDataLst>
              <p:tags r:id="rId14"/>
            </p:custDataLst>
          </p:nvPr>
        </p:nvCxnSpPr>
        <p:spPr>
          <a:xfrm>
            <a:off x="6666230" y="3693795"/>
            <a:ext cx="811530" cy="1080135"/>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49" name="直接连接符 48"/>
          <p:cNvCxnSpPr/>
          <p:nvPr>
            <p:custDataLst>
              <p:tags r:id="rId15"/>
            </p:custDataLst>
          </p:nvPr>
        </p:nvCxnSpPr>
        <p:spPr>
          <a:xfrm flipH="1">
            <a:off x="5374640" y="4773930"/>
            <a:ext cx="480695" cy="1151890"/>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50" name="直接连接符 49"/>
          <p:cNvCxnSpPr/>
          <p:nvPr>
            <p:custDataLst>
              <p:tags r:id="rId16"/>
            </p:custDataLst>
          </p:nvPr>
        </p:nvCxnSpPr>
        <p:spPr>
          <a:xfrm>
            <a:off x="5855335" y="4773930"/>
            <a:ext cx="375285" cy="1151890"/>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51" name="直接连接符 50"/>
          <p:cNvCxnSpPr/>
          <p:nvPr>
            <p:custDataLst>
              <p:tags r:id="rId17"/>
            </p:custDataLst>
          </p:nvPr>
        </p:nvCxnSpPr>
        <p:spPr>
          <a:xfrm flipH="1">
            <a:off x="7102475" y="4773930"/>
            <a:ext cx="375285" cy="1080135"/>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52" name="直接连接符 51"/>
          <p:cNvCxnSpPr/>
          <p:nvPr>
            <p:custDataLst>
              <p:tags r:id="rId18"/>
            </p:custDataLst>
          </p:nvPr>
        </p:nvCxnSpPr>
        <p:spPr>
          <a:xfrm>
            <a:off x="7477760" y="4758055"/>
            <a:ext cx="471805" cy="1096010"/>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sp>
        <p:nvSpPr>
          <p:cNvPr id="41" name="文本框 40"/>
          <p:cNvSpPr txBox="1"/>
          <p:nvPr/>
        </p:nvSpPr>
        <p:spPr>
          <a:xfrm>
            <a:off x="5897245" y="3945890"/>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a:t>
            </a:r>
          </a:p>
        </p:txBody>
      </p:sp>
      <p:sp>
        <p:nvSpPr>
          <p:cNvPr id="42" name="文本框 41"/>
          <p:cNvSpPr txBox="1"/>
          <p:nvPr/>
        </p:nvSpPr>
        <p:spPr>
          <a:xfrm>
            <a:off x="7102475" y="3968750"/>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a:t>
            </a:r>
          </a:p>
        </p:txBody>
      </p:sp>
      <p:sp>
        <p:nvSpPr>
          <p:cNvPr id="43" name="文本框 42"/>
          <p:cNvSpPr txBox="1"/>
          <p:nvPr/>
        </p:nvSpPr>
        <p:spPr>
          <a:xfrm>
            <a:off x="5299075" y="4980305"/>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44" name="文本框 43"/>
          <p:cNvSpPr txBox="1"/>
          <p:nvPr/>
        </p:nvSpPr>
        <p:spPr>
          <a:xfrm>
            <a:off x="6973570" y="4980305"/>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45" name="文本框 44"/>
          <p:cNvSpPr txBox="1"/>
          <p:nvPr/>
        </p:nvSpPr>
        <p:spPr>
          <a:xfrm>
            <a:off x="6027420" y="4966335"/>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a:t>
            </a:r>
          </a:p>
        </p:txBody>
      </p:sp>
      <p:sp>
        <p:nvSpPr>
          <p:cNvPr id="46" name="文本框 45"/>
          <p:cNvSpPr txBox="1"/>
          <p:nvPr/>
        </p:nvSpPr>
        <p:spPr>
          <a:xfrm>
            <a:off x="7701915" y="4979670"/>
            <a:ext cx="495300" cy="368300"/>
          </a:xfrm>
          <a:prstGeom prst="rect">
            <a:avLst/>
          </a:prstGeom>
          <a:noFill/>
        </p:spPr>
        <p:txBody>
          <a:bodyPr wrap="square" rtlCol="0">
            <a:spAutoFit/>
          </a:bodyPr>
          <a:lstStyle/>
          <a:p>
            <a:r>
              <a:rPr lang="en-US" altLang="zh-CN"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a:t>
            </a:r>
          </a:p>
        </p:txBody>
      </p:sp>
      <p:sp>
        <p:nvSpPr>
          <p:cNvPr id="38" name="椭圆 37"/>
          <p:cNvSpPr/>
          <p:nvPr>
            <p:custDataLst>
              <p:tags r:id="rId19"/>
            </p:custDataLst>
          </p:nvPr>
        </p:nvSpPr>
        <p:spPr>
          <a:xfrm>
            <a:off x="5639435" y="4529455"/>
            <a:ext cx="2105025" cy="504190"/>
          </a:xfrm>
          <a:prstGeom prst="ellipse">
            <a:avLst/>
          </a:prstGeom>
          <a:solidFill>
            <a:schemeClr val="accent3"/>
          </a:solidFill>
          <a:ln>
            <a:solidFill>
              <a:schemeClr val="accent4">
                <a:shade val="50000"/>
              </a:schemeClr>
            </a:solidFill>
          </a:ln>
          <a:scene3d>
            <a:camera prst="orthographicFront"/>
            <a:lightRig rig="threePt" dir="t"/>
          </a:scene3d>
          <a:sp3d>
            <a:bevelT/>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37" name="椭圆 36"/>
          <p:cNvSpPr/>
          <p:nvPr>
            <p:custDataLst>
              <p:tags r:id="rId20"/>
            </p:custDataLst>
          </p:nvPr>
        </p:nvSpPr>
        <p:spPr>
          <a:xfrm>
            <a:off x="6414135" y="3464560"/>
            <a:ext cx="504190" cy="504190"/>
          </a:xfrm>
          <a:prstGeom prst="ellipse">
            <a:avLst/>
          </a:prstGeom>
          <a:solidFill>
            <a:schemeClr val="accent4"/>
          </a:solidFill>
          <a:ln>
            <a:solidFill>
              <a:schemeClr val="accent4">
                <a:shade val="50000"/>
              </a:schemeClr>
            </a:solidFill>
          </a:ln>
          <a:scene3d>
            <a:camera prst="orthographicFront"/>
            <a:lightRig rig="threePt" dir="t"/>
          </a:scene3d>
          <a:sp3d>
            <a:bevelT/>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1</a:t>
            </a:r>
          </a:p>
        </p:txBody>
      </p:sp>
      <p:sp>
        <p:nvSpPr>
          <p:cNvPr id="5" name="内容占位符 2"/>
          <p:cNvSpPr>
            <a:spLocks noGrp="1"/>
          </p:cNvSpPr>
          <p:nvPr>
            <p:custDataLst>
              <p:tags r:id="rId21"/>
            </p:custDataLst>
          </p:nvPr>
        </p:nvSpPr>
        <p:spPr>
          <a:xfrm>
            <a:off x="695960" y="825500"/>
            <a:ext cx="10126980" cy="24917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fontAlgn="auto">
              <a:lnSpc>
                <a:spcPct val="130000"/>
              </a:lnSpc>
              <a:buClrTx/>
              <a:buSzTx/>
            </a:pPr>
            <a:r>
              <a:rPr lang="zh-CN" altLang="en-US" sz="19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信息集</a:t>
            </a:r>
            <a:r>
              <a:rPr lang="zh-CN" altLang="en-US" sz="19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：博弈方决策时所面临的信息来源，可以有1个信息来源（单结点），也可以有多个信息来源（多结点）。</a:t>
            </a:r>
          </a:p>
          <a:p>
            <a:pPr lvl="0" algn="just" fontAlgn="auto">
              <a:lnSpc>
                <a:spcPct val="130000"/>
              </a:lnSpc>
              <a:buClrTx/>
              <a:buSzTx/>
            </a:pPr>
            <a:r>
              <a:rPr lang="zh-CN" altLang="en-US" sz="1900" dirty="0">
                <a:latin typeface="微软雅黑" panose="020B0503020204020204" pitchFamily="34" charset="-122"/>
                <a:ea typeface="微软雅黑" panose="020B0503020204020204" pitchFamily="34" charset="-122"/>
                <a:cs typeface="微软雅黑" panose="020B0503020204020204" pitchFamily="34" charset="-122"/>
                <a:sym typeface="+mn-ea"/>
              </a:rPr>
              <a:t>所有决策结分割成不同的信息集，</a:t>
            </a:r>
            <a:r>
              <a:rPr lang="zh-CN" altLang="en-US" sz="1900" b="1" dirty="0">
                <a:latin typeface="微软雅黑" panose="020B0503020204020204" pitchFamily="34" charset="-122"/>
                <a:ea typeface="微软雅黑" panose="020B0503020204020204" pitchFamily="34" charset="-122"/>
                <a:cs typeface="微软雅黑" panose="020B0503020204020204" pitchFamily="34" charset="-122"/>
                <a:sym typeface="+mn-ea"/>
              </a:rPr>
              <a:t>每一个信息集是决策结集合的一个子集</a:t>
            </a:r>
            <a:r>
              <a:rPr lang="zh-CN" altLang="en-US" sz="1900" dirty="0">
                <a:latin typeface="微软雅黑" panose="020B0503020204020204" pitchFamily="34" charset="-122"/>
                <a:ea typeface="微软雅黑" panose="020B0503020204020204" pitchFamily="34" charset="-122"/>
                <a:cs typeface="微软雅黑" panose="020B0503020204020204" pitchFamily="34" charset="-122"/>
                <a:sym typeface="+mn-ea"/>
              </a:rPr>
              <a:t>，该子集包括所有满足下列条件的决策结：</a:t>
            </a:r>
          </a:p>
          <a:p>
            <a:pPr marL="457200" lvl="1" indent="0" algn="just" fontAlgn="auto">
              <a:lnSpc>
                <a:spcPct val="130000"/>
              </a:lnSpc>
              <a:buClrTx/>
              <a:buSzTx/>
              <a:buFont typeface="Arial" panose="020B0604020202020204" pitchFamily="34" charset="0"/>
              <a:buNone/>
            </a:pPr>
            <a:r>
              <a:rPr lang="en-US" altLang="zh-CN" sz="19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900" dirty="0">
                <a:latin typeface="微软雅黑" panose="020B0503020204020204" pitchFamily="34" charset="-122"/>
                <a:ea typeface="微软雅黑" panose="020B0503020204020204" pitchFamily="34" charset="-122"/>
                <a:cs typeface="微软雅黑" panose="020B0503020204020204" pitchFamily="34" charset="-122"/>
                <a:sym typeface="+mn-ea"/>
              </a:rPr>
              <a:t>每一个决策结都是同一参与人的决策结；</a:t>
            </a:r>
          </a:p>
          <a:p>
            <a:pPr marL="457200" lvl="1" indent="0" algn="just" fontAlgn="auto">
              <a:lnSpc>
                <a:spcPct val="130000"/>
              </a:lnSpc>
              <a:buClrTx/>
              <a:buSzTx/>
              <a:buFont typeface="Arial" panose="020B0604020202020204" pitchFamily="34" charset="0"/>
              <a:buNone/>
            </a:pPr>
            <a:r>
              <a:rPr lang="en-US" altLang="zh-CN" sz="1900" dirty="0">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1900" dirty="0">
                <a:latin typeface="微软雅黑" panose="020B0503020204020204" pitchFamily="34" charset="-122"/>
                <a:ea typeface="微软雅黑" panose="020B0503020204020204" pitchFamily="34" charset="-122"/>
                <a:cs typeface="微软雅黑" panose="020B0503020204020204" pitchFamily="34" charset="-122"/>
                <a:sym typeface="+mn-ea"/>
              </a:rPr>
              <a:t>该参与人知道博弈进入该集合的某个决策结，但不知道自己究竟处于哪一个决策结。</a:t>
            </a:r>
            <a:endParaRPr lang="zh-CN" altLang="en-US" sz="1900" dirty="0">
              <a:latin typeface="微软雅黑" panose="020B0503020204020204" pitchFamily="34" charset="-122"/>
              <a:ea typeface="微软雅黑" panose="020B0503020204020204" pitchFamily="34" charset="-122"/>
              <a:cs typeface="微软雅黑" panose="020B0503020204020204" pitchFamily="34" charset="-122"/>
            </a:endParaRPr>
          </a:p>
          <a:p>
            <a:pPr lvl="0" algn="just" fontAlgn="auto">
              <a:lnSpc>
                <a:spcPct val="130000"/>
              </a:lnSpc>
              <a:buClrTx/>
              <a:buSzTx/>
            </a:pPr>
            <a:endParaRPr lang="zh-CN" altLang="en-US" sz="13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2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33400" y="152400"/>
            <a:ext cx="5290185" cy="762000"/>
            <a:chOff x="840" y="240"/>
            <a:chExt cx="8331" cy="1200"/>
          </a:xfrm>
        </p:grpSpPr>
        <p:sp>
          <p:nvSpPr>
            <p:cNvPr id="12" name="文本框 6"/>
            <p:cNvSpPr txBox="1"/>
            <p:nvPr>
              <p:custDataLst>
                <p:tags r:id="rId22"/>
              </p:custDataLst>
            </p:nvPr>
          </p:nvSpPr>
          <p:spPr>
            <a:xfrm>
              <a:off x="1200" y="240"/>
              <a:ext cx="7971"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动态博弈的表示：</a:t>
              </a:r>
              <a:r>
                <a:rPr lang="zh-CN" altLang="en-US" sz="2800" dirty="0">
                  <a:solidFill>
                    <a:schemeClr val="accent1"/>
                  </a:solidFill>
                  <a:sym typeface="+mn-ea"/>
                </a:rPr>
                <a:t>博弈树</a:t>
              </a:r>
            </a:p>
          </p:txBody>
        </p:sp>
        <p:cxnSp>
          <p:nvCxnSpPr>
            <p:cNvPr id="14" name="直接连接符 13"/>
            <p:cNvCxnSpPr/>
            <p:nvPr>
              <p:custDataLst>
                <p:tags r:id="rId2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灯片编号占位符 6"/>
          <p:cNvSpPr>
            <a:spLocks noGrp="1"/>
          </p:cNvSpPr>
          <p:nvPr>
            <p:ph type="sldNum" sz="quarter" idx="12"/>
          </p:nvPr>
        </p:nvSpPr>
        <p:spPr/>
        <p:txBody>
          <a:bodyPr/>
          <a:lstStyle/>
          <a:p>
            <a:fld id="{49AE70B2-8BF9-45C0-BB95-33D1B9D3A854}" type="slidenum">
              <a:rPr lang="zh-CN" altLang="en-US" smtClean="0"/>
              <a:t>9</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3"/>
            </p:custDataLst>
          </p:nvPr>
        </p:nvSpPr>
        <p:spPr>
          <a:xfrm>
            <a:off x="1055370" y="1988820"/>
            <a:ext cx="1006030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不含有多结信息集的完全</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动态博弈称之完美</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动态博弈（左面的例子）。</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意味着在博弈中，没有任何两个博弈方同时行动，并且所有后行动者能确切地知道前行动者选择什么行动，所有参与人观测到自然的行动。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含有多结信息集的完全</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动态博弈称之不完美</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动态博弈（右面的例子） 。</a:t>
            </a: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33400" y="152400"/>
            <a:ext cx="5290185" cy="762000"/>
            <a:chOff x="840" y="240"/>
            <a:chExt cx="8331" cy="1200"/>
          </a:xfrm>
        </p:grpSpPr>
        <p:sp>
          <p:nvSpPr>
            <p:cNvPr id="12" name="文本框 6"/>
            <p:cNvSpPr txBox="1"/>
            <p:nvPr>
              <p:custDataLst>
                <p:tags r:id="rId4"/>
              </p:custDataLst>
            </p:nvPr>
          </p:nvSpPr>
          <p:spPr>
            <a:xfrm>
              <a:off x="1200" y="240"/>
              <a:ext cx="7971"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动态博弈的表示：</a:t>
              </a:r>
              <a:r>
                <a:rPr lang="zh-CN" altLang="en-US" sz="2800" dirty="0">
                  <a:solidFill>
                    <a:schemeClr val="accent1"/>
                  </a:solidFill>
                  <a:sym typeface="+mn-ea"/>
                </a:rPr>
                <a:t>博弈树</a:t>
              </a:r>
            </a:p>
          </p:txBody>
        </p:sp>
        <p:cxnSp>
          <p:nvCxnSpPr>
            <p:cNvPr id="14" name="直接连接符 1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fld id="{49AE70B2-8BF9-45C0-BB95-33D1B9D3A854}" type="slidenum">
              <a:rPr lang="zh-CN" altLang="en-US" smtClean="0"/>
              <a:t>10</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3291205" cy="762000"/>
            <a:chOff x="840" y="240"/>
            <a:chExt cx="5183" cy="1200"/>
          </a:xfrm>
        </p:grpSpPr>
        <p:sp>
          <p:nvSpPr>
            <p:cNvPr id="256" name="文本框 6"/>
            <p:cNvSpPr txBox="1"/>
            <p:nvPr>
              <p:custDataLst>
                <p:tags r:id="rId2"/>
              </p:custDataLst>
            </p:nvPr>
          </p:nvSpPr>
          <p:spPr>
            <a:xfrm>
              <a:off x="1200" y="240"/>
              <a:ext cx="4823"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动态博弈的特性</a:t>
              </a:r>
            </a:p>
          </p:txBody>
        </p:sp>
        <p:cxnSp>
          <p:nvCxnSpPr>
            <p:cNvPr id="4" name="直接连接符 3"/>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386" name="Rectangle 2"/>
          <p:cNvSpPr>
            <a:spLocks noGrp="1"/>
          </p:cNvSpPr>
          <p:nvPr/>
        </p:nvSpPr>
        <p:spPr>
          <a:xfrm>
            <a:off x="839470" y="1052830"/>
            <a:ext cx="10009505" cy="437515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掌握信息的非对称性：</a:t>
            </a:r>
            <a:r>
              <a:rPr lang="zh-CN" altLang="en-US" sz="2000" b="0" dirty="0">
                <a:latin typeface="微软雅黑" panose="020B0503020204020204" pitchFamily="34" charset="-122"/>
                <a:ea typeface="微软雅黑" panose="020B0503020204020204" pitchFamily="34" charset="-122"/>
              </a:rPr>
              <a:t>先后次序决定动态博弈必然是非对称的。</a:t>
            </a:r>
          </a:p>
          <a:p>
            <a:pPr marL="927100" lvl="1" indent="-342900">
              <a:lnSpc>
                <a:spcPct val="130000"/>
              </a:lnSpc>
              <a:spcBef>
                <a:spcPts val="0"/>
              </a:spcBef>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若先选择、行为的博弈方更有利，称有</a:t>
            </a:r>
            <a:r>
              <a:rPr lang="en-US" altLang="zh-CN" sz="2000" b="0" dirty="0">
                <a:solidFill>
                  <a:schemeClr val="tx1"/>
                </a:solidFill>
                <a:latin typeface="微软雅黑" panose="020B0503020204020204" pitchFamily="34" charset="-122"/>
                <a:ea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rPr>
              <a:t>先行优势</a:t>
            </a:r>
            <a:r>
              <a:rPr lang="en-US" altLang="zh-CN" sz="2000" b="0" dirty="0">
                <a:solidFill>
                  <a:schemeClr val="tx1"/>
                </a:solidFill>
                <a:latin typeface="微软雅黑" panose="020B0503020204020204" pitchFamily="34" charset="-122"/>
                <a:ea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rPr>
              <a:t>；</a:t>
            </a:r>
          </a:p>
          <a:p>
            <a:pPr marL="927100" lvl="1" indent="-342900">
              <a:lnSpc>
                <a:spcPct val="130000"/>
              </a:lnSpc>
              <a:spcBef>
                <a:spcPts val="0"/>
              </a:spcBef>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若先选择、行为的博弈方不如后行动的更有利，称有</a:t>
            </a:r>
            <a:r>
              <a:rPr lang="en-US" altLang="zh-CN" sz="2000" b="0" dirty="0">
                <a:solidFill>
                  <a:schemeClr val="tx1"/>
                </a:solidFill>
                <a:latin typeface="微软雅黑" panose="020B0503020204020204" pitchFamily="34" charset="-122"/>
                <a:ea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rPr>
              <a:t>后行优势</a:t>
            </a:r>
            <a:r>
              <a:rPr lang="en-US" altLang="zh-CN" sz="2000" b="0" dirty="0">
                <a:solidFill>
                  <a:schemeClr val="tx1"/>
                </a:solidFill>
                <a:latin typeface="微软雅黑" panose="020B0503020204020204" pitchFamily="34" charset="-122"/>
                <a:ea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rPr>
              <a:t>。</a:t>
            </a:r>
          </a:p>
          <a:p>
            <a:pPr>
              <a:lnSpc>
                <a:spcPct val="130000"/>
              </a:lnSpc>
              <a:spcBef>
                <a:spcPts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策略选择的相机性：</a:t>
            </a:r>
            <a:r>
              <a:rPr lang="zh-CN" altLang="en-US" sz="2000" b="0" dirty="0">
                <a:latin typeface="微软雅黑" panose="020B0503020204020204" pitchFamily="34" charset="-122"/>
                <a:ea typeface="微软雅黑" panose="020B0503020204020204" pitchFamily="34" charset="-122"/>
              </a:rPr>
              <a:t>博弈方的策略是事先设定的、在博弈相应阶段实施的计划。但这些策略没有强制力，无法阻止博弈方在博弈过程中改变计划。</a:t>
            </a:r>
          </a:p>
          <a:p>
            <a:pPr>
              <a:lnSpc>
                <a:spcPct val="130000"/>
              </a:lnSpc>
              <a:spcBef>
                <a:spcPts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行为选择的可信性：</a:t>
            </a:r>
            <a:r>
              <a:rPr lang="zh-CN" altLang="en-US" sz="2000" b="0" dirty="0">
                <a:latin typeface="微软雅黑" panose="020B0503020204020204" pitchFamily="34" charset="-122"/>
                <a:ea typeface="微软雅黑" panose="020B0503020204020204" pitchFamily="34" charset="-122"/>
              </a:rPr>
              <a:t>相机选择会使博弈方策略设定的行为缺乏</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可信性</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a:t>
            </a:r>
          </a:p>
          <a:p>
            <a:pPr>
              <a:buNone/>
            </a:pPr>
            <a:r>
              <a:rPr lang="zh-CN" altLang="en-US" sz="2000" b="0" dirty="0"/>
              <a:t>    </a:t>
            </a:r>
          </a:p>
          <a:p>
            <a:pPr>
              <a:buNone/>
            </a:pPr>
            <a:endParaRPr lang="zh-CN" altLang="zh-CN" sz="2800"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11</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3291205" cy="762000"/>
            <a:chOff x="840" y="240"/>
            <a:chExt cx="5183" cy="1200"/>
          </a:xfrm>
        </p:grpSpPr>
        <p:sp>
          <p:nvSpPr>
            <p:cNvPr id="256" name="文本框 6"/>
            <p:cNvSpPr txBox="1"/>
            <p:nvPr>
              <p:custDataLst>
                <p:tags r:id="rId2"/>
              </p:custDataLst>
            </p:nvPr>
          </p:nvSpPr>
          <p:spPr>
            <a:xfrm>
              <a:off x="1200" y="240"/>
              <a:ext cx="4823"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动态博弈的特性</a:t>
              </a:r>
            </a:p>
          </p:txBody>
        </p:sp>
        <p:cxnSp>
          <p:nvCxnSpPr>
            <p:cNvPr id="4" name="直接连接符 3"/>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386" name="Rectangle 2"/>
          <p:cNvSpPr>
            <a:spLocks noGrp="1"/>
          </p:cNvSpPr>
          <p:nvPr/>
        </p:nvSpPr>
        <p:spPr>
          <a:xfrm>
            <a:off x="767715" y="1052830"/>
            <a:ext cx="10009505" cy="179832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sym typeface="+mn-ea"/>
              </a:rPr>
              <a:t>一个承诺</a:t>
            </a:r>
            <a:r>
              <a:rPr lang="zh-CN" altLang="en-US" sz="2000" dirty="0">
                <a:latin typeface="微软雅黑" panose="020B0503020204020204" pitchFamily="34" charset="-122"/>
                <a:ea typeface="微软雅黑" panose="020B0503020204020204" pitchFamily="34" charset="-122"/>
              </a:rPr>
              <a:t>可信性问题</a:t>
            </a:r>
          </a:p>
          <a:p>
            <a:pPr>
              <a:lnSpc>
                <a:spcPct val="130000"/>
              </a:lnSpc>
              <a:spcBef>
                <a:spcPts val="0"/>
              </a:spcBef>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rPr>
              <a:t>开金矿博弈</a:t>
            </a:r>
          </a:p>
          <a:p>
            <a:pPr marL="457200" lvl="1" indent="0">
              <a:lnSpc>
                <a:spcPct val="130000"/>
              </a:lnSpc>
              <a:spcBef>
                <a:spcPts val="0"/>
              </a:spcBef>
              <a:buFont typeface="Wingdings" panose="05000000000000000000" charset="0"/>
              <a:buNone/>
            </a:pPr>
            <a:r>
              <a:rPr lang="zh-CN" altLang="en-US" sz="2000" b="0" dirty="0">
                <a:solidFill>
                  <a:schemeClr val="tx1"/>
                </a:solidFill>
                <a:latin typeface="微软雅黑" panose="020B0503020204020204" pitchFamily="34" charset="-122"/>
                <a:ea typeface="微软雅黑" panose="020B0503020204020204" pitchFamily="34" charset="-122"/>
              </a:rPr>
              <a:t>甲去开采一价值4千万元的金矿，缺1</a:t>
            </a:r>
            <a:r>
              <a:rPr lang="zh-CN" altLang="en-US" sz="2000" b="0" dirty="0">
                <a:latin typeface="微软雅黑" panose="020B0503020204020204" pitchFamily="34" charset="-122"/>
                <a:ea typeface="微软雅黑" panose="020B0503020204020204" pitchFamily="34" charset="-122"/>
                <a:sym typeface="+mn-ea"/>
              </a:rPr>
              <a:t>千</a:t>
            </a:r>
            <a:r>
              <a:rPr lang="zh-CN" altLang="en-US" sz="2000" b="0" dirty="0">
                <a:solidFill>
                  <a:schemeClr val="tx1"/>
                </a:solidFill>
                <a:latin typeface="微软雅黑" panose="020B0503020204020204" pitchFamily="34" charset="-122"/>
                <a:ea typeface="微软雅黑" panose="020B0503020204020204" pitchFamily="34" charset="-122"/>
              </a:rPr>
              <a:t>万，乙恰好有1</a:t>
            </a:r>
            <a:r>
              <a:rPr lang="zh-CN" altLang="en-US" sz="2000" b="0" dirty="0">
                <a:latin typeface="微软雅黑" panose="020B0503020204020204" pitchFamily="34" charset="-122"/>
                <a:ea typeface="微软雅黑" panose="020B0503020204020204" pitchFamily="34" charset="-122"/>
                <a:sym typeface="+mn-ea"/>
              </a:rPr>
              <a:t>千</a:t>
            </a:r>
            <a:r>
              <a:rPr lang="zh-CN" altLang="en-US" sz="2000" b="0" dirty="0">
                <a:solidFill>
                  <a:schemeClr val="tx1"/>
                </a:solidFill>
                <a:latin typeface="微软雅黑" panose="020B0503020204020204" pitchFamily="34" charset="-122"/>
                <a:ea typeface="微软雅黑" panose="020B0503020204020204" pitchFamily="34" charset="-122"/>
              </a:rPr>
              <a:t>万</a:t>
            </a:r>
            <a:r>
              <a:rPr lang="zh-CN" altLang="en-US" sz="2000" b="0" dirty="0">
                <a:latin typeface="微软雅黑" panose="020B0503020204020204" pitchFamily="34" charset="-122"/>
                <a:ea typeface="微软雅黑" panose="020B0503020204020204" pitchFamily="34" charset="-122"/>
              </a:rPr>
              <a:t>可以投资。甲向乙借1</a:t>
            </a:r>
            <a:r>
              <a:rPr lang="zh-CN" altLang="en-US" sz="2000" b="0" dirty="0">
                <a:latin typeface="微软雅黑" panose="020B0503020204020204" pitchFamily="34" charset="-122"/>
                <a:ea typeface="微软雅黑" panose="020B0503020204020204" pitchFamily="34" charset="-122"/>
                <a:sym typeface="+mn-ea"/>
              </a:rPr>
              <a:t>千</a:t>
            </a:r>
            <a:r>
              <a:rPr lang="zh-CN" altLang="en-US" sz="2000" b="0" dirty="0">
                <a:latin typeface="微软雅黑" panose="020B0503020204020204" pitchFamily="34" charset="-122"/>
                <a:ea typeface="微软雅黑" panose="020B0503020204020204" pitchFamily="34" charset="-122"/>
              </a:rPr>
              <a:t>万开金矿，并“许诺”成功后与其对半分成。</a:t>
            </a:r>
          </a:p>
          <a:p>
            <a:pPr>
              <a:buNone/>
            </a:pPr>
            <a:r>
              <a:rPr lang="zh-CN" altLang="en-US" sz="2000" b="0" dirty="0"/>
              <a:t>    </a:t>
            </a:r>
          </a:p>
          <a:p>
            <a:pPr>
              <a:buNone/>
            </a:pPr>
            <a:endParaRPr lang="zh-CN" altLang="zh-CN" sz="2800" dirty="0"/>
          </a:p>
        </p:txBody>
      </p:sp>
      <p:sp>
        <p:nvSpPr>
          <p:cNvPr id="5" name="Rectangle 2"/>
          <p:cNvSpPr>
            <a:spLocks noGrp="1"/>
          </p:cNvSpPr>
          <p:nvPr/>
        </p:nvSpPr>
        <p:spPr>
          <a:xfrm>
            <a:off x="840105" y="3357245"/>
            <a:ext cx="5349875" cy="101028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乙是否该借钱给甲呢？</a:t>
            </a:r>
          </a:p>
          <a:p>
            <a:pPr>
              <a:lnSpc>
                <a:spcPct val="130000"/>
              </a:lnSpc>
              <a:spcBef>
                <a:spcPts val="0"/>
              </a:spcBef>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如果乙借钱给甲，甲是否该分钱给乙呢？</a:t>
            </a:r>
          </a:p>
          <a:p>
            <a:pPr>
              <a:buNone/>
            </a:pPr>
            <a:r>
              <a:rPr lang="zh-CN" altLang="en-US" sz="2000" b="0" dirty="0"/>
              <a:t>    </a:t>
            </a:r>
          </a:p>
          <a:p>
            <a:pPr>
              <a:buNone/>
            </a:pPr>
            <a:endParaRPr lang="zh-CN" altLang="zh-CN" sz="2800" dirty="0"/>
          </a:p>
        </p:txBody>
      </p:sp>
      <p:pic>
        <p:nvPicPr>
          <p:cNvPr id="6" name="图片 5" descr="b87570428949c5f20863696726a618ce"/>
          <p:cNvPicPr>
            <a:picLocks noChangeAspect="1"/>
          </p:cNvPicPr>
          <p:nvPr/>
        </p:nvPicPr>
        <p:blipFill>
          <a:blip r:embed="rId7"/>
          <a:stretch>
            <a:fillRect/>
          </a:stretch>
        </p:blipFill>
        <p:spPr>
          <a:xfrm>
            <a:off x="6240145" y="2924810"/>
            <a:ext cx="5307965" cy="3289300"/>
          </a:xfrm>
          <a:prstGeom prst="rect">
            <a:avLst/>
          </a:prstGeom>
        </p:spPr>
      </p:pic>
      <p:sp>
        <p:nvSpPr>
          <p:cNvPr id="7" name="灯片编号占位符 6"/>
          <p:cNvSpPr>
            <a:spLocks noGrp="1"/>
          </p:cNvSpPr>
          <p:nvPr>
            <p:ph type="sldNum" sz="quarter" idx="12"/>
          </p:nvPr>
        </p:nvSpPr>
        <p:spPr/>
        <p:txBody>
          <a:bodyPr/>
          <a:lstStyle/>
          <a:p>
            <a:fld id="{49AE70B2-8BF9-45C0-BB95-33D1B9D3A854}" type="slidenum">
              <a:rPr lang="zh-CN" altLang="en-US" smtClean="0"/>
              <a:t>12</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3291205" cy="762000"/>
            <a:chOff x="840" y="240"/>
            <a:chExt cx="5183" cy="1200"/>
          </a:xfrm>
        </p:grpSpPr>
        <p:sp>
          <p:nvSpPr>
            <p:cNvPr id="256" name="文本框 6"/>
            <p:cNvSpPr txBox="1"/>
            <p:nvPr>
              <p:custDataLst>
                <p:tags r:id="rId2"/>
              </p:custDataLst>
            </p:nvPr>
          </p:nvSpPr>
          <p:spPr>
            <a:xfrm>
              <a:off x="1200" y="240"/>
              <a:ext cx="4823"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动态博弈的特性</a:t>
              </a:r>
            </a:p>
          </p:txBody>
        </p:sp>
        <p:cxnSp>
          <p:nvCxnSpPr>
            <p:cNvPr id="4" name="直接连接符 3"/>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386" name="Rectangle 2"/>
          <p:cNvSpPr>
            <a:spLocks noGrp="1"/>
          </p:cNvSpPr>
          <p:nvPr/>
        </p:nvSpPr>
        <p:spPr>
          <a:xfrm>
            <a:off x="767715" y="1052830"/>
            <a:ext cx="10009505" cy="78549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一个承诺可信性问题</a:t>
            </a:r>
          </a:p>
          <a:p>
            <a:pPr>
              <a:lnSpc>
                <a:spcPct val="130000"/>
              </a:lnSpc>
              <a:spcBef>
                <a:spcPts val="0"/>
              </a:spcBef>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甲的承诺是否可信</a:t>
            </a:r>
            <a:r>
              <a:rPr lang="zh-CN" altLang="en-US" sz="2000" b="0" dirty="0"/>
              <a:t>    </a:t>
            </a:r>
          </a:p>
          <a:p>
            <a:pPr>
              <a:buNone/>
            </a:pPr>
            <a:endParaRPr lang="zh-CN" altLang="zh-CN" sz="2800" dirty="0"/>
          </a:p>
        </p:txBody>
      </p:sp>
      <p:sp>
        <p:nvSpPr>
          <p:cNvPr id="5" name="Rectangle 2"/>
          <p:cNvSpPr>
            <a:spLocks noGrp="1"/>
          </p:cNvSpPr>
          <p:nvPr/>
        </p:nvSpPr>
        <p:spPr>
          <a:xfrm>
            <a:off x="762000" y="2348865"/>
            <a:ext cx="5827395" cy="286893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根据自身利益最大化原则，甲的选择是不分，而乙清楚甲的行为准则，则选择不借。对乙来讲，本博弈中</a:t>
            </a:r>
            <a:r>
              <a:rPr lang="zh-CN" altLang="en-US" sz="2000" b="0" dirty="0">
                <a:solidFill>
                  <a:srgbClr val="FF0000"/>
                </a:solidFill>
                <a:latin typeface="微软雅黑" panose="020B0503020204020204" pitchFamily="34" charset="-122"/>
                <a:ea typeface="微软雅黑" panose="020B0503020204020204" pitchFamily="34" charset="-122"/>
              </a:rPr>
              <a:t>甲有一个不可信的承诺</a:t>
            </a:r>
            <a:r>
              <a:rPr lang="zh-CN" altLang="en-US" sz="2000" b="0" dirty="0">
                <a:latin typeface="微软雅黑" panose="020B0503020204020204" pitchFamily="34" charset="-122"/>
                <a:ea typeface="微软雅黑" panose="020B0503020204020204" pitchFamily="34" charset="-122"/>
              </a:rPr>
              <a:t>。</a:t>
            </a:r>
          </a:p>
          <a:p>
            <a:pPr>
              <a:lnSpc>
                <a:spcPct val="130000"/>
              </a:lnSpc>
              <a:spcBef>
                <a:spcPts val="0"/>
              </a:spcBef>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怎样使甲的承诺变为可信，既让乙能保住本钱，又能有更多的收益呢？关键在于增加一些对甲行为的约束。</a:t>
            </a:r>
          </a:p>
          <a:p>
            <a:pPr>
              <a:buNone/>
            </a:pPr>
            <a:r>
              <a:rPr lang="zh-CN" altLang="en-US" sz="2000" b="0" dirty="0"/>
              <a:t>    </a:t>
            </a:r>
          </a:p>
          <a:p>
            <a:pPr>
              <a:buNone/>
            </a:pPr>
            <a:endParaRPr lang="zh-CN" altLang="zh-CN" sz="2800" dirty="0"/>
          </a:p>
        </p:txBody>
      </p:sp>
      <p:pic>
        <p:nvPicPr>
          <p:cNvPr id="9" name="图片 8"/>
          <p:cNvPicPr>
            <a:picLocks noChangeAspect="1"/>
          </p:cNvPicPr>
          <p:nvPr/>
        </p:nvPicPr>
        <p:blipFill>
          <a:blip r:embed="rId7"/>
          <a:stretch>
            <a:fillRect/>
          </a:stretch>
        </p:blipFill>
        <p:spPr>
          <a:xfrm>
            <a:off x="7319645" y="1412875"/>
            <a:ext cx="3355975" cy="3355340"/>
          </a:xfrm>
          <a:prstGeom prst="rect">
            <a:avLst/>
          </a:prstGeom>
        </p:spPr>
      </p:pic>
      <p:sp>
        <p:nvSpPr>
          <p:cNvPr id="7" name="灯片编号占位符 6"/>
          <p:cNvSpPr>
            <a:spLocks noGrp="1"/>
          </p:cNvSpPr>
          <p:nvPr>
            <p:ph type="sldNum" sz="quarter" idx="12"/>
          </p:nvPr>
        </p:nvSpPr>
        <p:spPr/>
        <p:txBody>
          <a:bodyPr/>
          <a:lstStyle/>
          <a:p>
            <a:fld id="{49AE70B2-8BF9-45C0-BB95-33D1B9D3A854}" type="slidenum">
              <a:rPr lang="zh-CN" altLang="en-US" smtClean="0"/>
              <a:t>13</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3291205" cy="762000"/>
            <a:chOff x="840" y="240"/>
            <a:chExt cx="5183" cy="1200"/>
          </a:xfrm>
        </p:grpSpPr>
        <p:sp>
          <p:nvSpPr>
            <p:cNvPr id="256" name="文本框 6"/>
            <p:cNvSpPr txBox="1"/>
            <p:nvPr>
              <p:custDataLst>
                <p:tags r:id="rId2"/>
              </p:custDataLst>
            </p:nvPr>
          </p:nvSpPr>
          <p:spPr>
            <a:xfrm>
              <a:off x="1200" y="240"/>
              <a:ext cx="4823"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动态博弈的特性</a:t>
              </a:r>
            </a:p>
          </p:txBody>
        </p:sp>
        <p:cxnSp>
          <p:nvCxnSpPr>
            <p:cNvPr id="4" name="直接连接符 3"/>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386" name="Rectangle 2"/>
          <p:cNvSpPr>
            <a:spLocks noGrp="1"/>
          </p:cNvSpPr>
          <p:nvPr/>
        </p:nvSpPr>
        <p:spPr>
          <a:xfrm>
            <a:off x="695960" y="1052830"/>
            <a:ext cx="6249670" cy="277241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一个承诺可信性问题</a:t>
            </a:r>
          </a:p>
          <a:p>
            <a:pPr>
              <a:lnSpc>
                <a:spcPct val="130000"/>
              </a:lnSpc>
              <a:spcBef>
                <a:spcPts val="0"/>
              </a:spcBef>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若乙采取法律手段，</a:t>
            </a:r>
            <a:r>
              <a:rPr lang="zh-CN" altLang="en-US" sz="2000" b="0" dirty="0"/>
              <a:t>即打官司保护自己的利益，则产生了一个新的博弈过程如图所示。在新的博弈中，乙的唯一选择是打官司，对甲来讲，乙打官司的威胁是可信的，是肯定会信守的，他最理智的选择是分。</a:t>
            </a:r>
          </a:p>
          <a:p>
            <a:pPr>
              <a:buNone/>
            </a:pPr>
            <a:endParaRPr lang="zh-CN" altLang="zh-CN" sz="2800" dirty="0"/>
          </a:p>
        </p:txBody>
      </p:sp>
      <p:sp>
        <p:nvSpPr>
          <p:cNvPr id="5" name="Rectangle 2"/>
          <p:cNvSpPr>
            <a:spLocks noGrp="1"/>
          </p:cNvSpPr>
          <p:nvPr/>
        </p:nvSpPr>
        <p:spPr>
          <a:xfrm>
            <a:off x="762000" y="4004945"/>
            <a:ext cx="6318885" cy="275145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spcBef>
                <a:spcPts val="0"/>
              </a:spcBef>
              <a:buFont typeface="Arial" panose="020B0604020202020204" pitchFamily="34" charset="0"/>
              <a:buChar char="•"/>
            </a:pPr>
            <a:r>
              <a:rPr lang="zh-CN" altLang="en-US" sz="2000" dirty="0">
                <a:solidFill>
                  <a:srgbClr val="FF0000"/>
                </a:solidFill>
                <a:sym typeface="+mn-ea"/>
              </a:rPr>
              <a:t>法律保障的开金矿博弈</a:t>
            </a:r>
            <a:r>
              <a:rPr lang="en-US" altLang="zh-CN" sz="2000" dirty="0">
                <a:solidFill>
                  <a:srgbClr val="FF0000"/>
                </a:solidFill>
                <a:sym typeface="+mn-ea"/>
              </a:rPr>
              <a:t>——</a:t>
            </a:r>
            <a:r>
              <a:rPr lang="zh-CN" altLang="en-US" sz="2000" dirty="0">
                <a:solidFill>
                  <a:srgbClr val="FF0000"/>
                </a:solidFill>
                <a:sym typeface="+mn-ea"/>
              </a:rPr>
              <a:t>分钱打官司都可信</a:t>
            </a:r>
          </a:p>
          <a:p>
            <a:pPr algn="just">
              <a:lnSpc>
                <a:spcPct val="130000"/>
              </a:lnSpc>
              <a:spcBef>
                <a:spcPts val="0"/>
              </a:spcBef>
              <a:buFont typeface="Arial" panose="020B0604020202020204" pitchFamily="34" charset="0"/>
              <a:buChar char="•"/>
            </a:pPr>
            <a:r>
              <a:rPr lang="zh-CN" altLang="en-US" sz="2000" b="0" dirty="0">
                <a:sym typeface="+mn-ea"/>
              </a:rPr>
              <a:t>动态博弈的解：乙的策略：第一阶段借，如甲在第二阶段选择不分，则第三阶段选择打；甲的策略：若乙第一阶段借，则他在第二阶段就选择分。</a:t>
            </a:r>
          </a:p>
          <a:p>
            <a:pPr algn="just">
              <a:lnSpc>
                <a:spcPct val="130000"/>
              </a:lnSpc>
              <a:spcBef>
                <a:spcPts val="0"/>
              </a:spcBef>
              <a:buFont typeface="Arial" panose="020B0604020202020204" pitchFamily="34" charset="0"/>
              <a:buChar char="•"/>
            </a:pPr>
            <a:r>
              <a:rPr lang="zh-CN" altLang="en-US" sz="2000" b="0" dirty="0">
                <a:sym typeface="+mn-ea"/>
              </a:rPr>
              <a:t>在双方这样的策略组合下，本博弈的路径是（借，分)，双方得益为（2，2)，实现有效率的理果。    </a:t>
            </a:r>
            <a:r>
              <a:rPr lang="zh-CN" altLang="en-US" sz="2000" b="0" dirty="0"/>
              <a:t>  </a:t>
            </a:r>
          </a:p>
          <a:p>
            <a:pPr>
              <a:buNone/>
            </a:pPr>
            <a:endParaRPr lang="zh-CN" altLang="zh-CN" sz="2800" dirty="0"/>
          </a:p>
        </p:txBody>
      </p:sp>
      <p:pic>
        <p:nvPicPr>
          <p:cNvPr id="7" name="图片 6" descr="WPS图片编辑"/>
          <p:cNvPicPr>
            <a:picLocks noChangeAspect="1"/>
          </p:cNvPicPr>
          <p:nvPr/>
        </p:nvPicPr>
        <p:blipFill>
          <a:blip r:embed="rId7"/>
          <a:stretch>
            <a:fillRect/>
          </a:stretch>
        </p:blipFill>
        <p:spPr>
          <a:xfrm>
            <a:off x="7679690" y="1196975"/>
            <a:ext cx="3549015" cy="4241800"/>
          </a:xfrm>
          <a:prstGeom prst="rect">
            <a:avLst/>
          </a:prstGeom>
        </p:spPr>
      </p:pic>
      <p:sp>
        <p:nvSpPr>
          <p:cNvPr id="8" name="灯片编号占位符 7"/>
          <p:cNvSpPr>
            <a:spLocks noGrp="1"/>
          </p:cNvSpPr>
          <p:nvPr>
            <p:ph type="sldNum" sz="quarter" idx="12"/>
          </p:nvPr>
        </p:nvSpPr>
        <p:spPr/>
        <p:txBody>
          <a:bodyPr/>
          <a:lstStyle/>
          <a:p>
            <a:fld id="{49AE70B2-8BF9-45C0-BB95-33D1B9D3A854}" type="slidenum">
              <a:rPr lang="zh-CN" altLang="en-US" smtClean="0"/>
              <a:t>14</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3"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3291205" cy="762000"/>
            <a:chOff x="840" y="240"/>
            <a:chExt cx="5183" cy="1200"/>
          </a:xfrm>
        </p:grpSpPr>
        <p:sp>
          <p:nvSpPr>
            <p:cNvPr id="256" name="文本框 6"/>
            <p:cNvSpPr txBox="1"/>
            <p:nvPr>
              <p:custDataLst>
                <p:tags r:id="rId2"/>
              </p:custDataLst>
            </p:nvPr>
          </p:nvSpPr>
          <p:spPr>
            <a:xfrm>
              <a:off x="1200" y="240"/>
              <a:ext cx="4823"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动态博弈的特性</a:t>
              </a:r>
            </a:p>
          </p:txBody>
        </p:sp>
        <p:cxnSp>
          <p:nvCxnSpPr>
            <p:cNvPr id="4" name="直接连接符 3"/>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386" name="Rectangle 2"/>
          <p:cNvSpPr>
            <a:spLocks noGrp="1"/>
          </p:cNvSpPr>
          <p:nvPr/>
        </p:nvSpPr>
        <p:spPr>
          <a:xfrm>
            <a:off x="695960" y="1052830"/>
            <a:ext cx="6249670" cy="2772410"/>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一个承诺可信性问题</a:t>
            </a:r>
          </a:p>
          <a:p>
            <a:pPr>
              <a:lnSpc>
                <a:spcPct val="130000"/>
              </a:lnSpc>
              <a:spcBef>
                <a:spcPts val="0"/>
              </a:spcBef>
              <a:buFont typeface="Arial" panose="020B0604020202020204" pitchFamily="34" charset="0"/>
              <a:buChar char="•"/>
            </a:pPr>
            <a:r>
              <a:rPr lang="zh-CN" altLang="en-US" sz="2000" b="0" dirty="0"/>
              <a:t>若乙采取法律手段，但结果是劳民伤财，使自己经济上受损。在新的博弈中，乙的唯一选择是不打官司，对甲来讲，乙打官司的威胁是不可信的，变成</a:t>
            </a:r>
            <a:r>
              <a:rPr lang="en-US" altLang="zh-CN" sz="2000" b="0" dirty="0"/>
              <a:t>“</a:t>
            </a:r>
            <a:r>
              <a:rPr lang="zh-CN" altLang="en-US" sz="2000" b="0" dirty="0"/>
              <a:t>空头威胁</a:t>
            </a:r>
            <a:r>
              <a:rPr lang="en-US" altLang="zh-CN" sz="2000" b="0" dirty="0"/>
              <a:t>”</a:t>
            </a:r>
            <a:r>
              <a:rPr lang="zh-CN" altLang="en-US" sz="2000" b="0" dirty="0"/>
              <a:t>，甲最理智的选择就是不分。</a:t>
            </a:r>
          </a:p>
          <a:p>
            <a:pPr>
              <a:buNone/>
            </a:pPr>
            <a:endParaRPr lang="zh-CN" altLang="zh-CN" sz="2800" dirty="0"/>
          </a:p>
        </p:txBody>
      </p:sp>
      <p:sp>
        <p:nvSpPr>
          <p:cNvPr id="5" name="Rectangle 2"/>
          <p:cNvSpPr>
            <a:spLocks noGrp="1"/>
          </p:cNvSpPr>
          <p:nvPr/>
        </p:nvSpPr>
        <p:spPr>
          <a:xfrm>
            <a:off x="767715" y="4580890"/>
            <a:ext cx="6790690" cy="1233805"/>
          </a:xfrm>
          <a:prstGeom prst="rect">
            <a:avLst/>
          </a:prstGeom>
          <a:noFill/>
          <a:ln w="9525">
            <a:noFill/>
          </a:ln>
        </p:spPr>
        <p:txBody>
          <a:bodyPr vert="horz" wrap="square" lIns="91440" tIns="45720" rIns="91440" bIns="45720" anchor="t"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Verdana" panose="020B0604030504040204" pitchFamily="34" charset="0"/>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Verdana" panose="020B0604030504040204" pitchFamily="34" charset="0"/>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Verdana" panose="020B0604030504040204" pitchFamily="34" charset="0"/>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Arial" panose="020B0604020202020204" pitchFamily="34" charset="0"/>
              <a:buChar char="•"/>
            </a:pPr>
            <a:r>
              <a:rPr lang="zh-CN" altLang="en-US" sz="2000" dirty="0">
                <a:solidFill>
                  <a:srgbClr val="FF0000"/>
                </a:solidFill>
                <a:sym typeface="+mn-ea"/>
              </a:rPr>
              <a:t>法律保障不足的开金矿博弈</a:t>
            </a:r>
            <a:r>
              <a:rPr lang="en-US" altLang="zh-CN" sz="2000" dirty="0">
                <a:solidFill>
                  <a:srgbClr val="FF0000"/>
                </a:solidFill>
                <a:sym typeface="+mn-ea"/>
              </a:rPr>
              <a:t>——</a:t>
            </a:r>
            <a:r>
              <a:rPr lang="zh-CN" altLang="en-US" sz="2000" dirty="0">
                <a:solidFill>
                  <a:srgbClr val="FF0000"/>
                </a:solidFill>
                <a:sym typeface="+mn-ea"/>
              </a:rPr>
              <a:t>分钱打官司都不可信</a:t>
            </a:r>
            <a:r>
              <a:rPr lang="zh-CN" altLang="en-US" sz="2000" b="0" dirty="0">
                <a:sym typeface="+mn-ea"/>
              </a:rPr>
              <a:t>    </a:t>
            </a:r>
            <a:r>
              <a:rPr lang="zh-CN" altLang="en-US" sz="2000" b="0" dirty="0"/>
              <a:t>  </a:t>
            </a:r>
          </a:p>
          <a:p>
            <a:pPr>
              <a:buNone/>
            </a:pPr>
            <a:endParaRPr lang="zh-CN" altLang="zh-CN" sz="2800" dirty="0"/>
          </a:p>
        </p:txBody>
      </p:sp>
      <p:pic>
        <p:nvPicPr>
          <p:cNvPr id="6" name="图片 5"/>
          <p:cNvPicPr>
            <a:picLocks noChangeAspect="1"/>
          </p:cNvPicPr>
          <p:nvPr/>
        </p:nvPicPr>
        <p:blipFill>
          <a:blip r:embed="rId7"/>
          <a:stretch>
            <a:fillRect/>
          </a:stretch>
        </p:blipFill>
        <p:spPr>
          <a:xfrm>
            <a:off x="7895590" y="1564005"/>
            <a:ext cx="3368040" cy="4250690"/>
          </a:xfrm>
          <a:prstGeom prst="rect">
            <a:avLst/>
          </a:prstGeom>
        </p:spPr>
      </p:pic>
      <p:sp>
        <p:nvSpPr>
          <p:cNvPr id="8" name="灯片编号占位符 7"/>
          <p:cNvSpPr>
            <a:spLocks noGrp="1"/>
          </p:cNvSpPr>
          <p:nvPr>
            <p:ph type="sldNum" sz="quarter" idx="12"/>
          </p:nvPr>
        </p:nvSpPr>
        <p:spPr/>
        <p:txBody>
          <a:bodyPr/>
          <a:lstStyle/>
          <a:p>
            <a:fld id="{49AE70B2-8BF9-45C0-BB95-33D1B9D3A854}" type="slidenum">
              <a:rPr lang="zh-CN" altLang="en-US" smtClean="0"/>
              <a:t>15</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8"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10"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16" name="文本框 15"/>
          <p:cNvSpPr txBox="1"/>
          <p:nvPr>
            <p:custDataLst>
              <p:tags r:id="rId4"/>
            </p:custDataLst>
          </p:nvPr>
        </p:nvSpPr>
        <p:spPr>
          <a:xfrm>
            <a:off x="839416" y="3429000"/>
            <a:ext cx="432048" cy="368300"/>
          </a:xfrm>
          <a:prstGeom prst="rect">
            <a:avLst/>
          </a:prstGeom>
          <a:noFill/>
        </p:spPr>
        <p:txBody>
          <a:bodyPr wrap="square" rtlCol="0">
            <a:sp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U</a:t>
            </a:r>
          </a:p>
        </p:txBody>
      </p:sp>
      <p:sp>
        <p:nvSpPr>
          <p:cNvPr id="17" name="文本框 16"/>
          <p:cNvSpPr txBox="1"/>
          <p:nvPr>
            <p:custDataLst>
              <p:tags r:id="rId5"/>
            </p:custDataLst>
          </p:nvPr>
        </p:nvSpPr>
        <p:spPr>
          <a:xfrm>
            <a:off x="1667508" y="4097779"/>
            <a:ext cx="432048" cy="368300"/>
          </a:xfrm>
          <a:prstGeom prst="rect">
            <a:avLst/>
          </a:prstGeom>
          <a:noFill/>
        </p:spPr>
        <p:txBody>
          <a:bodyPr wrap="square" rtlCol="0">
            <a:sp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L</a:t>
            </a:r>
          </a:p>
        </p:txBody>
      </p:sp>
      <p:sp>
        <p:nvSpPr>
          <p:cNvPr id="18" name="文本框 17"/>
          <p:cNvSpPr txBox="1"/>
          <p:nvPr>
            <p:custDataLst>
              <p:tags r:id="rId6"/>
            </p:custDataLst>
          </p:nvPr>
        </p:nvSpPr>
        <p:spPr>
          <a:xfrm>
            <a:off x="2855640" y="4097779"/>
            <a:ext cx="432048" cy="368300"/>
          </a:xfrm>
          <a:prstGeom prst="rect">
            <a:avLst/>
          </a:prstGeom>
          <a:noFill/>
        </p:spPr>
        <p:txBody>
          <a:bodyPr wrap="square" rtlCol="0">
            <a:sp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R</a:t>
            </a:r>
          </a:p>
        </p:txBody>
      </p:sp>
      <p:sp>
        <p:nvSpPr>
          <p:cNvPr id="19" name="文本框 18"/>
          <p:cNvSpPr txBox="1"/>
          <p:nvPr>
            <p:custDataLst>
              <p:tags r:id="rId7"/>
            </p:custDataLst>
          </p:nvPr>
        </p:nvSpPr>
        <p:spPr>
          <a:xfrm>
            <a:off x="2150299" y="3424154"/>
            <a:ext cx="432048" cy="368300"/>
          </a:xfrm>
          <a:prstGeom prst="rect">
            <a:avLst/>
          </a:prstGeom>
          <a:noFill/>
        </p:spPr>
        <p:txBody>
          <a:bodyPr wrap="square" rtlCol="0">
            <a:sp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20" name="文本框 19"/>
          <p:cNvSpPr txBox="1"/>
          <p:nvPr>
            <p:custDataLst>
              <p:tags r:id="rId8"/>
            </p:custDataLst>
          </p:nvPr>
        </p:nvSpPr>
        <p:spPr>
          <a:xfrm>
            <a:off x="623392" y="4028737"/>
            <a:ext cx="771163" cy="368300"/>
          </a:xfrm>
          <a:prstGeom prst="rect">
            <a:avLst/>
          </a:prstGeom>
          <a:noFill/>
        </p:spPr>
        <p:txBody>
          <a:bodyPr wrap="square" rtlCol="0">
            <a:sp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p>
        </p:txBody>
      </p:sp>
      <p:sp>
        <p:nvSpPr>
          <p:cNvPr id="21" name="文本框 20"/>
          <p:cNvSpPr txBox="1"/>
          <p:nvPr>
            <p:custDataLst>
              <p:tags r:id="rId9"/>
            </p:custDataLst>
          </p:nvPr>
        </p:nvSpPr>
        <p:spPr>
          <a:xfrm>
            <a:off x="1357940" y="4621515"/>
            <a:ext cx="771163" cy="368300"/>
          </a:xfrm>
          <a:prstGeom prst="rect">
            <a:avLst/>
          </a:prstGeom>
          <a:noFill/>
        </p:spPr>
        <p:txBody>
          <a:bodyPr wrap="square" rtlCol="0">
            <a:sp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p>
        </p:txBody>
      </p:sp>
      <p:sp>
        <p:nvSpPr>
          <p:cNvPr id="22" name="文本框 21"/>
          <p:cNvSpPr txBox="1"/>
          <p:nvPr>
            <p:custDataLst>
              <p:tags r:id="rId10"/>
            </p:custDataLst>
          </p:nvPr>
        </p:nvSpPr>
        <p:spPr>
          <a:xfrm>
            <a:off x="2639616" y="4624085"/>
            <a:ext cx="771163" cy="368300"/>
          </a:xfrm>
          <a:prstGeom prst="rect">
            <a:avLst/>
          </a:prstGeom>
          <a:noFill/>
        </p:spPr>
        <p:txBody>
          <a:bodyPr wrap="square" rtlCol="0">
            <a:sp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p>
        </p:txBody>
      </p:sp>
      <p:graphicFrame>
        <p:nvGraphicFramePr>
          <p:cNvPr id="23" name="表格 22"/>
          <p:cNvGraphicFramePr>
            <a:graphicFrameLocks noGrp="1"/>
          </p:cNvGraphicFramePr>
          <p:nvPr>
            <p:custDataLst>
              <p:tags r:id="rId11"/>
            </p:custDataLst>
          </p:nvPr>
        </p:nvGraphicFramePr>
        <p:xfrm>
          <a:off x="3607506" y="2792715"/>
          <a:ext cx="6613040" cy="1828800"/>
        </p:xfrm>
        <a:graphic>
          <a:graphicData uri="http://schemas.openxmlformats.org/drawingml/2006/table">
            <a:tbl>
              <a:tblPr firstRow="1" bandRow="1">
                <a:tableStyleId>{2D5ABB26-0587-4C30-8999-92F81FD0307C}</a:tableStyleId>
              </a:tblPr>
              <a:tblGrid>
                <a:gridCol w="1653260">
                  <a:extLst>
                    <a:ext uri="{9D8B030D-6E8A-4147-A177-3AD203B41FA5}">
                      <a16:colId xmlns:a16="http://schemas.microsoft.com/office/drawing/2014/main" val="20000"/>
                    </a:ext>
                  </a:extLst>
                </a:gridCol>
                <a:gridCol w="1653260">
                  <a:extLst>
                    <a:ext uri="{9D8B030D-6E8A-4147-A177-3AD203B41FA5}">
                      <a16:colId xmlns:a16="http://schemas.microsoft.com/office/drawing/2014/main" val="20001"/>
                    </a:ext>
                  </a:extLst>
                </a:gridCol>
                <a:gridCol w="1653260">
                  <a:extLst>
                    <a:ext uri="{9D8B030D-6E8A-4147-A177-3AD203B41FA5}">
                      <a16:colId xmlns:a16="http://schemas.microsoft.com/office/drawing/2014/main" val="20002"/>
                    </a:ext>
                  </a:extLst>
                </a:gridCol>
                <a:gridCol w="1653260">
                  <a:extLst>
                    <a:ext uri="{9D8B030D-6E8A-4147-A177-3AD203B41FA5}">
                      <a16:colId xmlns:a16="http://schemas.microsoft.com/office/drawing/2014/main" val="20003"/>
                    </a:ext>
                  </a:extLst>
                </a:gridCol>
              </a:tblGrid>
              <a:tr h="325717">
                <a:tc>
                  <a:txBody>
                    <a:bodyPr/>
                    <a:lstStyle/>
                    <a:p>
                      <a:pPr algn="ct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lnL>
                      <a:noFill/>
                    </a:lnL>
                    <a:lnR>
                      <a:noFill/>
                    </a:lnR>
                    <a:lnT>
                      <a:noFill/>
                    </a:lnT>
                    <a:lnB>
                      <a:noFill/>
                    </a:lnB>
                    <a:lnTlToBr w="12700" cmpd="sng">
                      <a:noFill/>
                      <a:prstDash val="solid"/>
                    </a:lnTlToBr>
                    <a:lnBlToTr w="12700" cmpd="sng">
                      <a:noFill/>
                      <a:prstDash val="solid"/>
                    </a:lnBlToTr>
                  </a:tcPr>
                </a:tc>
                <a:tc gridSpan="2">
                  <a:txBody>
                    <a:bodyPr/>
                    <a:lstStyle/>
                    <a:p>
                      <a:pPr algn="ct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乙</a:t>
                      </a:r>
                    </a:p>
                  </a:txBody>
                  <a:tcPr>
                    <a:lnL>
                      <a:noFill/>
                    </a:lnL>
                    <a:lnR>
                      <a:noFill/>
                    </a:lnR>
                    <a:lnT>
                      <a:noFill/>
                    </a:lnT>
                    <a:lnB>
                      <a:noFill/>
                    </a:lnB>
                    <a:lnTlToBr w="12700" cmpd="sng">
                      <a:noFill/>
                      <a:prstDash val="solid"/>
                    </a:lnTlToBr>
                    <a:lnBlToTr w="12700" cmpd="sng">
                      <a:noFill/>
                      <a:prstDash val="solid"/>
                    </a:lnBlToTr>
                  </a:tcPr>
                </a:tc>
                <a:tc hMerge="1">
                  <a:txBody>
                    <a:bodyPr/>
                    <a:lstStyle/>
                    <a:p>
                      <a:endParaRPr lang="zh-CN"/>
                    </a:p>
                  </a:txBody>
                  <a:tcPr/>
                </a:tc>
                <a:extLst>
                  <a:ext uri="{0D108BD9-81ED-4DB2-BD59-A6C34878D82A}">
                    <a16:rowId xmlns:a16="http://schemas.microsoft.com/office/drawing/2014/main" val="10000"/>
                  </a:ext>
                </a:extLst>
              </a:tr>
              <a:tr h="325717">
                <a:tc>
                  <a:txBody>
                    <a:bodyPr/>
                    <a:lstStyle/>
                    <a:p>
                      <a:pPr algn="ctr"/>
                      <a:endParaRPr lang="zh-CN" altLang="en-US" sz="2400">
                        <a:latin typeface="微软雅黑" panose="020B0503020204020204" pitchFamily="34" charset="-122"/>
                        <a:ea typeface="微软雅黑" panose="020B0503020204020204" pitchFamily="34" charset="-122"/>
                        <a:cs typeface="Times New Roman" panose="02020603050405020304" pitchFamily="18"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2400" i="1" dirty="0">
                          <a:latin typeface="微软雅黑" panose="020B0503020204020204" pitchFamily="34" charset="-122"/>
                          <a:ea typeface="微软雅黑" panose="020B0503020204020204" pitchFamily="34" charset="-122"/>
                          <a:cs typeface="Times New Roman" panose="02020603050405020304" pitchFamily="18" charset="0"/>
                        </a:rPr>
                        <a:t>L</a:t>
                      </a:r>
                    </a:p>
                  </a:txBody>
                  <a:tcP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400" i="1" dirty="0">
                          <a:latin typeface="微软雅黑" panose="020B0503020204020204" pitchFamily="34" charset="-122"/>
                          <a:ea typeface="微软雅黑" panose="020B0503020204020204" pitchFamily="34" charset="-122"/>
                          <a:cs typeface="Times New Roman" panose="02020603050405020304" pitchFamily="18" charset="0"/>
                        </a:rPr>
                        <a:t>R</a:t>
                      </a:r>
                    </a:p>
                  </a:txBody>
                  <a:tcP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5717">
                <a:tc rowSpan="2">
                  <a:txBody>
                    <a:bodyPr/>
                    <a:lstStyle/>
                    <a:p>
                      <a:pPr algn="ct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甲</a:t>
                      </a:r>
                    </a:p>
                  </a:txBody>
                  <a:tcPr vert="eaVert">
                    <a:lnL>
                      <a:noFill/>
                    </a:lnL>
                    <a:lnR>
                      <a:noFill/>
                    </a:lnR>
                    <a:lnT>
                      <a:noFill/>
                    </a:lnT>
                    <a:lnB>
                      <a:noFill/>
                    </a:lnB>
                    <a:lnTlToBr w="12700" cmpd="sng">
                      <a:noFill/>
                      <a:prstDash val="solid"/>
                    </a:lnTlToBr>
                    <a:lnBlToTr w="12700" cmpd="sng">
                      <a:noFill/>
                      <a:prstDash val="solid"/>
                    </a:lnBlToTr>
                  </a:tcPr>
                </a:tc>
                <a:tc>
                  <a:txBody>
                    <a:bodyPr/>
                    <a:lstStyle/>
                    <a:p>
                      <a:pPr algn="ctr"/>
                      <a:r>
                        <a:rPr lang="en-US" altLang="zh-CN" sz="2400" i="1" dirty="0">
                          <a:latin typeface="微软雅黑" panose="020B0503020204020204" pitchFamily="34" charset="-122"/>
                          <a:ea typeface="微软雅黑" panose="020B0503020204020204" pitchFamily="34" charset="-122"/>
                          <a:cs typeface="Times New Roman" panose="02020603050405020304" pitchFamily="18" charset="0"/>
                        </a:rPr>
                        <a:t>U</a:t>
                      </a:r>
                    </a:p>
                  </a:txBody>
                  <a:tcPr>
                    <a:lnL>
                      <a:noFill/>
                    </a:lnL>
                    <a:lnR w="28575"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CN" sz="2400" i="0" u="none"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i="0" u="none"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0" u="none" dirty="0">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2400" i="0" u="none" dirty="0">
                        <a:latin typeface="微软雅黑" panose="020B0503020204020204" pitchFamily="34" charset="-122"/>
                        <a:ea typeface="微软雅黑" panose="020B0503020204020204" pitchFamily="34" charset="-122"/>
                        <a:cs typeface="微软雅黑" panose="020B0503020204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400" b="1" i="0" u="none"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i="0" u="none"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0" u="none" dirty="0">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2400" b="1" i="0" u="none" dirty="0">
                        <a:latin typeface="微软雅黑" panose="020B0503020204020204" pitchFamily="34" charset="-122"/>
                        <a:ea typeface="微软雅黑" panose="020B0503020204020204" pitchFamily="34" charset="-122"/>
                        <a:cs typeface="微软雅黑" panose="020B0503020204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5717">
                <a:tc vMerge="1">
                  <a:txBody>
                    <a:bodyPr/>
                    <a:lstStyle/>
                    <a:p>
                      <a:endParaRPr lang="zh-CN"/>
                    </a:p>
                  </a:txBody>
                  <a:tcPr/>
                </a:tc>
                <a:tc>
                  <a:txBody>
                    <a:bodyPr/>
                    <a:lstStyle/>
                    <a:p>
                      <a:pPr algn="ctr"/>
                      <a:r>
                        <a:rPr lang="en-US" altLang="zh-CN" sz="2400" i="1" dirty="0">
                          <a:latin typeface="微软雅黑" panose="020B0503020204020204" pitchFamily="34" charset="-122"/>
                          <a:ea typeface="微软雅黑" panose="020B0503020204020204" pitchFamily="34" charset="-122"/>
                          <a:cs typeface="Times New Roman" panose="02020603050405020304" pitchFamily="18" charset="0"/>
                        </a:rPr>
                        <a:t>D</a:t>
                      </a:r>
                    </a:p>
                  </a:txBody>
                  <a:tcPr>
                    <a:lnL>
                      <a:noFill/>
                    </a:lnL>
                    <a:lnR w="28575"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CN" sz="2400" b="1" i="0" u="none"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i="0" u="none"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0" u="none" dirty="0">
                          <a:latin typeface="微软雅黑" panose="020B0503020204020204" pitchFamily="34" charset="-122"/>
                          <a:ea typeface="微软雅黑" panose="020B0503020204020204" pitchFamily="34" charset="-122"/>
                          <a:cs typeface="微软雅黑" panose="020B0503020204020204" pitchFamily="34" charset="-122"/>
                        </a:rPr>
                        <a:t>1</a:t>
                      </a:r>
                      <a:endParaRPr lang="zh-CN" altLang="en-US" sz="2400" b="1" i="0" u="none" dirty="0">
                        <a:latin typeface="微软雅黑" panose="020B0503020204020204" pitchFamily="34" charset="-122"/>
                        <a:ea typeface="微软雅黑" panose="020B0503020204020204" pitchFamily="34" charset="-122"/>
                        <a:cs typeface="微软雅黑" panose="020B0503020204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400" i="0" u="none"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i="0" u="none"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0" u="none" dirty="0">
                          <a:latin typeface="微软雅黑" panose="020B0503020204020204" pitchFamily="34" charset="-122"/>
                          <a:ea typeface="微软雅黑" panose="020B0503020204020204" pitchFamily="34" charset="-122"/>
                          <a:cs typeface="微软雅黑" panose="020B0503020204020204" pitchFamily="34" charset="-122"/>
                        </a:rPr>
                        <a:t>0</a:t>
                      </a:r>
                      <a:endParaRPr lang="zh-CN" altLang="en-US" sz="2400" i="0" u="none" dirty="0">
                        <a:latin typeface="微软雅黑" panose="020B0503020204020204" pitchFamily="34" charset="-122"/>
                        <a:ea typeface="微软雅黑" panose="020B0503020204020204" pitchFamily="34" charset="-122"/>
                        <a:cs typeface="微软雅黑" panose="020B0503020204020204" pitchFamily="34" charset="-122"/>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cxnSp>
        <p:nvCxnSpPr>
          <p:cNvPr id="5" name="直接连接符 4"/>
          <p:cNvCxnSpPr/>
          <p:nvPr>
            <p:custDataLst>
              <p:tags r:id="rId12"/>
            </p:custDataLst>
          </p:nvPr>
        </p:nvCxnSpPr>
        <p:spPr>
          <a:xfrm flipH="1">
            <a:off x="1055370" y="3429000"/>
            <a:ext cx="720090" cy="648335"/>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7" name="直接连接符 6"/>
          <p:cNvCxnSpPr/>
          <p:nvPr>
            <p:custDataLst>
              <p:tags r:id="rId13"/>
            </p:custDataLst>
          </p:nvPr>
        </p:nvCxnSpPr>
        <p:spPr>
          <a:xfrm>
            <a:off x="1775460" y="3429000"/>
            <a:ext cx="1224280" cy="1224280"/>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9" name="直接连接符 8"/>
          <p:cNvCxnSpPr/>
          <p:nvPr>
            <p:custDataLst>
              <p:tags r:id="rId14"/>
            </p:custDataLst>
          </p:nvPr>
        </p:nvCxnSpPr>
        <p:spPr>
          <a:xfrm flipH="1">
            <a:off x="1775460" y="4077335"/>
            <a:ext cx="648335" cy="575945"/>
          </a:xfrm>
          <a:prstGeom prst="line">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sp>
        <p:nvSpPr>
          <p:cNvPr id="13" name="椭圆 12"/>
          <p:cNvSpPr/>
          <p:nvPr>
            <p:custDataLst>
              <p:tags r:id="rId15"/>
            </p:custDataLst>
          </p:nvPr>
        </p:nvSpPr>
        <p:spPr>
          <a:xfrm>
            <a:off x="1559560" y="3213100"/>
            <a:ext cx="431800" cy="431800"/>
          </a:xfrm>
          <a:prstGeom prst="ellipse">
            <a:avLst/>
          </a:prstGeom>
          <a:blipFill dpi="0" rotWithShape="1">
            <a:blip r:embed="rId24">
              <a:extLst>
                <a:ext uri="{28A0092B-C50C-407E-A947-70E740481C1C}">
                  <a14:useLocalDpi xmlns:a14="http://schemas.microsoft.com/office/drawing/2010/main" val="0"/>
                </a:ext>
              </a:extLst>
            </a:blip>
            <a:srcRect/>
            <a:stretch>
              <a:fillRect/>
            </a:stretch>
          </a:blip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甲</a:t>
            </a:r>
          </a:p>
        </p:txBody>
      </p:sp>
      <p:sp>
        <p:nvSpPr>
          <p:cNvPr id="14" name="椭圆 13"/>
          <p:cNvSpPr/>
          <p:nvPr>
            <p:custDataLst>
              <p:tags r:id="rId16"/>
            </p:custDataLst>
          </p:nvPr>
        </p:nvSpPr>
        <p:spPr>
          <a:xfrm>
            <a:off x="2207895" y="3933190"/>
            <a:ext cx="431800" cy="431800"/>
          </a:xfrm>
          <a:prstGeom prst="ellipse">
            <a:avLst/>
          </a:prstGeom>
          <a:blipFill dpi="0" rotWithShape="1">
            <a:blip r:embed="rId25">
              <a:extLst>
                <a:ext uri="{28A0092B-C50C-407E-A947-70E740481C1C}">
                  <a14:useLocalDpi xmlns:a14="http://schemas.microsoft.com/office/drawing/2010/main" val="0"/>
                </a:ext>
              </a:extLst>
            </a:blip>
            <a:srcRect/>
            <a:stretch>
              <a:fillRect/>
            </a:stretch>
          </a:blip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乙</a:t>
            </a:r>
          </a:p>
        </p:txBody>
      </p:sp>
      <mc:AlternateContent xmlns:mc="http://schemas.openxmlformats.org/markup-compatibility/2006" xmlns:a14="http://schemas.microsoft.com/office/drawing/2010/main">
        <mc:Choice Requires="a14">
          <p:sp>
            <p:nvSpPr>
              <p:cNvPr id="24" name="文本框 23"/>
              <p:cNvSpPr txBox="1"/>
              <p:nvPr>
                <p:custDataLst>
                  <p:tags r:id="rId17"/>
                </p:custDataLst>
              </p:nvPr>
            </p:nvSpPr>
            <p:spPr>
              <a:xfrm>
                <a:off x="3421380" y="3723005"/>
                <a:ext cx="1080135" cy="7067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sz="4000" i="1" smtClean="0">
                          <a:solidFill>
                            <a:schemeClr val="dk1"/>
                          </a:solidFill>
                          <a:latin typeface="Cambria Math" panose="02040503050406030204" pitchFamily="18" charset="0"/>
                          <a:ea typeface="MS Mincho" panose="02020609040205080304" charset="-128"/>
                          <a:cs typeface="Cambria Math" panose="02040503050406030204" pitchFamily="18" charset="0"/>
                        </a:rPr>
                        <m:t>⟺</m:t>
                      </m:r>
                    </m:oMath>
                  </m:oMathPara>
                </a14:m>
                <a:endParaRPr lang="zh-CN" altLang="en-US" sz="4000" i="1" dirty="0">
                  <a:solidFill>
                    <a:schemeClr val="dk1"/>
                  </a:solidFill>
                  <a:latin typeface="Cambria Math" panose="02040503050406030204" pitchFamily="18" charset="0"/>
                  <a:ea typeface="MS Mincho" panose="02020609040205080304" charset="-128"/>
                  <a:cs typeface="Cambria Math" panose="02040503050406030204" pitchFamily="18" charset="0"/>
                </a:endParaRPr>
              </a:p>
            </p:txBody>
          </p:sp>
        </mc:Choice>
        <mc:Fallback xmlns="">
          <p:sp>
            <p:nvSpPr>
              <p:cNvPr id="24" name="文本框 23"/>
              <p:cNvSpPr txBox="1">
                <a:spLocks noRot="1" noChangeAspect="1" noMove="1" noResize="1" noEditPoints="1" noAdjustHandles="1" noChangeArrowheads="1" noChangeShapeType="1" noTextEdit="1"/>
              </p:cNvSpPr>
              <p:nvPr>
                <p:custDataLst>
                  <p:tags r:id="rId26"/>
                </p:custDataLst>
              </p:nvPr>
            </p:nvSpPr>
            <p:spPr>
              <a:xfrm>
                <a:off x="3421380" y="3723005"/>
                <a:ext cx="1080135" cy="706755"/>
              </a:xfrm>
              <a:prstGeom prst="rect">
                <a:avLst/>
              </a:prstGeom>
              <a:blipFill rotWithShape="1">
                <a:blip r:embed="rId27"/>
                <a:stretch>
                  <a:fillRect/>
                </a:stretch>
              </a:blipFill>
            </p:spPr>
            <p:txBody>
              <a:bodyPr/>
              <a:lstStyle/>
              <a:p>
                <a:r>
                  <a:rPr lang="zh-CN" altLang="en-US">
                    <a:noFill/>
                  </a:rPr>
                  <a:t> </a:t>
                </a:r>
              </a:p>
            </p:txBody>
          </p:sp>
        </mc:Fallback>
      </mc:AlternateContent>
      <p:sp>
        <p:nvSpPr>
          <p:cNvPr id="26" name="标注: 线形 25"/>
          <p:cNvSpPr/>
          <p:nvPr>
            <p:custDataLst>
              <p:tags r:id="rId18"/>
            </p:custDataLst>
          </p:nvPr>
        </p:nvSpPr>
        <p:spPr>
          <a:xfrm>
            <a:off x="3284848" y="2722874"/>
            <a:ext cx="1033983" cy="580510"/>
          </a:xfrm>
          <a:prstGeom prst="borderCallout1">
            <a:avLst>
              <a:gd name="adj1" fmla="val 18750"/>
              <a:gd name="adj2" fmla="val -8333"/>
              <a:gd name="adj3" fmla="val 192400"/>
              <a:gd name="adj4" fmla="val -96008"/>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扩展型</a:t>
            </a:r>
          </a:p>
        </p:txBody>
      </p:sp>
      <p:sp>
        <p:nvSpPr>
          <p:cNvPr id="27" name="标注: 线形 26"/>
          <p:cNvSpPr/>
          <p:nvPr>
            <p:custDataLst>
              <p:tags r:id="rId19"/>
            </p:custDataLst>
          </p:nvPr>
        </p:nvSpPr>
        <p:spPr>
          <a:xfrm>
            <a:off x="10161993" y="2624904"/>
            <a:ext cx="987980" cy="588072"/>
          </a:xfrm>
          <a:prstGeom prst="borderCallout1">
            <a:avLst>
              <a:gd name="adj1" fmla="val 18750"/>
              <a:gd name="adj2" fmla="val -8333"/>
              <a:gd name="adj3" fmla="val 141795"/>
              <a:gd name="adj4" fmla="val -14385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策略型</a:t>
            </a:r>
          </a:p>
        </p:txBody>
      </p:sp>
      <p:sp>
        <p:nvSpPr>
          <p:cNvPr id="256" name="文本框 6"/>
          <p:cNvSpPr txBox="1"/>
          <p:nvPr>
            <p:custDataLst>
              <p:tags r:id="rId20"/>
            </p:custDataLst>
          </p:nvPr>
        </p:nvSpPr>
        <p:spPr>
          <a:xfrm>
            <a:off x="623576" y="7620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457200" indent="-457200" algn="l">
              <a:lnSpc>
                <a:spcPct val="100000"/>
              </a:lnSpc>
              <a:spcBef>
                <a:spcPts val="0"/>
              </a:spcBef>
              <a:spcAft>
                <a:spcPts val="0"/>
              </a:spcAft>
              <a:buSzPct val="100000"/>
              <a:buFont typeface="Arial" panose="020B0604020202020204" pitchFamily="34" charset="0"/>
              <a:buChar char="•"/>
            </a:pPr>
            <a:r>
              <a:rPr lang="zh-CN" altLang="en-US" sz="2400" dirty="0">
                <a:solidFill>
                  <a:schemeClr val="tx1"/>
                </a:solidFill>
                <a:sym typeface="+mn-ea"/>
              </a:rPr>
              <a:t>扩展型博弈与策略型博弈的转换</a:t>
            </a:r>
          </a:p>
        </p:txBody>
      </p:sp>
      <p:pic>
        <p:nvPicPr>
          <p:cNvPr id="6" name="图片 1" descr="f01494d1831cca2c2d8b5f9021c13ad"/>
          <p:cNvPicPr>
            <a:picLocks noChangeAspect="1"/>
          </p:cNvPicPr>
          <p:nvPr/>
        </p:nvPicPr>
        <p:blipFill>
          <a:blip r:embed="rId2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15" name="组合 14"/>
          <p:cNvGrpSpPr/>
          <p:nvPr/>
        </p:nvGrpSpPr>
        <p:grpSpPr>
          <a:xfrm>
            <a:off x="533400" y="152400"/>
            <a:ext cx="11201400" cy="762000"/>
            <a:chOff x="840" y="240"/>
            <a:chExt cx="17640" cy="1200"/>
          </a:xfrm>
        </p:grpSpPr>
        <p:sp>
          <p:nvSpPr>
            <p:cNvPr id="25" name="文本框 6"/>
            <p:cNvSpPr txBox="1"/>
            <p:nvPr>
              <p:custDataLst>
                <p:tags r:id="rId2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纳什均衡的合理性</a:t>
              </a:r>
            </a:p>
          </p:txBody>
        </p:sp>
        <p:cxnSp>
          <p:nvCxnSpPr>
            <p:cNvPr id="28" name="直接连接符 27"/>
            <p:cNvCxnSpPr/>
            <p:nvPr>
              <p:custDataLst>
                <p:tags r:id="rId2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fld id="{49AE70B2-8BF9-45C0-BB95-33D1B9D3A854}" type="slidenum">
              <a:rPr lang="zh-CN" altLang="en-US" smtClean="0"/>
              <a:t>16</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纳什均衡的合理性</a:t>
              </a:r>
            </a:p>
          </p:txBody>
        </p:sp>
        <p:cxnSp>
          <p:nvCxnSpPr>
            <p:cNvPr id="4" name="直接连接符 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1" name="Title 6"/>
          <p:cNvSpPr txBox="1"/>
          <p:nvPr>
            <p:custDataLst>
              <p:tags r:id="rId2"/>
            </p:custDataLst>
          </p:nvPr>
        </p:nvSpPr>
        <p:spPr>
          <a:xfrm>
            <a:off x="983615" y="908685"/>
            <a:ext cx="8007350" cy="11995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上面的策略型博弈中有两个纯策略的纳什均衡：(U，R)和(D，L)。</a:t>
            </a:r>
          </a:p>
        </p:txBody>
      </p:sp>
      <p:sp>
        <p:nvSpPr>
          <p:cNvPr id="8" name="Title 6"/>
          <p:cNvSpPr txBox="1"/>
          <p:nvPr>
            <p:custDataLst>
              <p:tags r:id="rId3"/>
            </p:custDataLst>
          </p:nvPr>
        </p:nvSpPr>
        <p:spPr>
          <a:xfrm>
            <a:off x="983615" y="1772920"/>
            <a:ext cx="10248900" cy="21101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auto">
              <a:lnSpc>
                <a:spcPct val="130000"/>
              </a:lnSpc>
              <a:spcBef>
                <a:spcPts val="0"/>
              </a:spcBef>
              <a:spcAft>
                <a:spcPts val="80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这两个均衡在静态博弈中均有其存在的合理性，但在动态博弈中完全受甲的选择引致：甲选U，乙才会选R；甲选D，乙才会选L。 而从甲的得益出发，自然希望得到(D，L)，除非甲相信乙的空头威胁（乙一定要选R）。然而，这种威胁并不可信，因为甲一旦选了D，理性的乙在信息集上得到此信息后，便不会再固执坚持选R，而是选L。所以， (U，R)在动态博弈中的合理性就会受到责疑。</a:t>
            </a: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t>17</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2"/>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子博弈和子博弈完美纳什均衡</a:t>
            </a:r>
          </a:p>
        </p:txBody>
      </p:sp>
      <p:cxnSp>
        <p:nvCxnSpPr>
          <p:cNvPr id="5" name="直接连接符 4"/>
          <p:cNvCxnSpPr/>
          <p:nvPr>
            <p:custDataLst>
              <p:tags r:id="rId3"/>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矩形 10"/>
          <p:cNvSpPr/>
          <p:nvPr>
            <p:custDataLst>
              <p:tags r:id="rId4"/>
            </p:custDataLst>
          </p:nvPr>
        </p:nvSpPr>
        <p:spPr>
          <a:xfrm>
            <a:off x="5652565" y="1066778"/>
            <a:ext cx="5231260" cy="5486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grpSp>
        <p:nvGrpSpPr>
          <p:cNvPr id="15" name="组合 14"/>
          <p:cNvGrpSpPr/>
          <p:nvPr>
            <p:custDataLst>
              <p:tags r:id="rId5"/>
            </p:custDataLst>
          </p:nvPr>
        </p:nvGrpSpPr>
        <p:grpSpPr>
          <a:xfrm>
            <a:off x="10352730" y="1555898"/>
            <a:ext cx="192449" cy="51036"/>
            <a:chOff x="1440" y="2160"/>
            <a:chExt cx="362" cy="96"/>
          </a:xfrm>
        </p:grpSpPr>
        <p:cxnSp>
          <p:nvCxnSpPr>
            <p:cNvPr id="16" name="直接连接符 15"/>
            <p:cNvCxnSpPr/>
            <p:nvPr>
              <p:custDataLst>
                <p:tags r:id="rId8"/>
              </p:custDataLst>
            </p:nvPr>
          </p:nvCxnSpPr>
          <p:spPr>
            <a:xfrm>
              <a:off x="1440" y="2160"/>
              <a:ext cx="363" cy="0"/>
            </a:xfrm>
            <a:prstGeom prst="line">
              <a:avLst/>
            </a:prstGeom>
            <a:ln w="19050" cap="rnd">
              <a:solidFill>
                <a:schemeClr val="lt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9"/>
              </p:custDataLst>
            </p:nvPr>
          </p:nvCxnSpPr>
          <p:spPr>
            <a:xfrm>
              <a:off x="1440" y="2256"/>
              <a:ext cx="223" cy="0"/>
            </a:xfrm>
            <a:prstGeom prst="line">
              <a:avLst/>
            </a:prstGeom>
            <a:ln w="19050" cap="rnd">
              <a:solidFill>
                <a:schemeClr val="lt2">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1" name="Title 6"/>
          <p:cNvSpPr txBox="1"/>
          <p:nvPr>
            <p:custDataLst>
              <p:tags r:id="rId6"/>
            </p:custDataLst>
          </p:nvPr>
        </p:nvSpPr>
        <p:spPr>
          <a:xfrm>
            <a:off x="695960" y="1125220"/>
            <a:ext cx="4909185" cy="502539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由一个动态博弈第一阶段以外的某阶段开始的后续博弈阶段构成的，有初始信息集和进行博弈所需要的全部信息，能够自成一个博弈的原博弈的一部分，称为原动态博弈的一个</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完美信息多阶段动态博弈基本上都有一级或多级子博弈。</a:t>
            </a: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动态博弈本身不是自己的子博弈。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子博弈必须有一个明确的初始信息集</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，意味着子博弈不能分割任何信息集，有多结点信息集的不完美信息博弈可能不存在子博弈。</a:t>
            </a:r>
          </a:p>
        </p:txBody>
      </p:sp>
      <p:pic>
        <p:nvPicPr>
          <p:cNvPr id="6" name="图片 5"/>
          <p:cNvPicPr>
            <a:picLocks noChangeAspect="1"/>
          </p:cNvPicPr>
          <p:nvPr>
            <p:custDataLst>
              <p:tags r:id="rId7"/>
            </p:custDataLst>
          </p:nvPr>
        </p:nvPicPr>
        <p:blipFill rotWithShape="1">
          <a:blip r:embed="rId12"/>
          <a:srcRect t="3093" b="3093"/>
          <a:stretch>
            <a:fillRect/>
          </a:stretch>
        </p:blipFill>
        <p:spPr>
          <a:xfrm>
            <a:off x="6093298" y="1916120"/>
            <a:ext cx="4248079" cy="3733131"/>
          </a:xfrm>
          <a:custGeom>
            <a:avLst/>
            <a:gdLst/>
            <a:ahLst/>
            <a:cxnLst>
              <a:cxn ang="3">
                <a:pos x="hc" y="t"/>
              </a:cxn>
              <a:cxn ang="cd2">
                <a:pos x="l" y="vc"/>
              </a:cxn>
              <a:cxn ang="cd4">
                <a:pos x="hc" y="b"/>
              </a:cxn>
              <a:cxn ang="0">
                <a:pos x="r" y="vc"/>
              </a:cxn>
            </a:cxnLst>
            <a:rect l="l" t="t" r="r" b="b"/>
            <a:pathLst>
              <a:path w="7920" h="6960">
                <a:moveTo>
                  <a:pt x="0" y="0"/>
                </a:moveTo>
                <a:lnTo>
                  <a:pt x="7920" y="0"/>
                </a:lnTo>
                <a:lnTo>
                  <a:pt x="7920" y="6960"/>
                </a:lnTo>
                <a:lnTo>
                  <a:pt x="0" y="6960"/>
                </a:lnTo>
                <a:lnTo>
                  <a:pt x="0" y="0"/>
                </a:lnTo>
                <a:close/>
              </a:path>
            </a:pathLst>
          </a:custGeom>
        </p:spPr>
      </p:pic>
      <p:pic>
        <p:nvPicPr>
          <p:cNvPr id="2" name="图片 1" descr="f01494d1831cca2c2d8b5f9021c13ad"/>
          <p:cNvPicPr>
            <a:picLocks noChangeAspect="1"/>
          </p:cNvPicPr>
          <p:nvPr/>
        </p:nvPicPr>
        <p:blipFill>
          <a:blip r:embed="rId1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cxnSp>
        <p:nvCxnSpPr>
          <p:cNvPr id="4" name="直接箭头连接符 3"/>
          <p:cNvCxnSpPr/>
          <p:nvPr/>
        </p:nvCxnSpPr>
        <p:spPr>
          <a:xfrm flipV="1">
            <a:off x="8905875" y="3500755"/>
            <a:ext cx="2085975"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1098530" y="3289935"/>
            <a:ext cx="973455" cy="337185"/>
          </a:xfrm>
          <a:prstGeom prst="rect">
            <a:avLst/>
          </a:prstGeom>
          <a:noFill/>
          <a:ln w="25400">
            <a:solidFill>
              <a:srgbClr val="FF0000"/>
            </a:solidFill>
          </a:ln>
        </p:spPr>
        <p:txBody>
          <a:bodyPr wrap="square" rtlCol="0">
            <a:spAutoFit/>
          </a:bodyPr>
          <a:lstStyle/>
          <a:p>
            <a:r>
              <a:rPr lang="zh-CN" altLang="en-US" sz="1600"/>
              <a:t>子博弈</a:t>
            </a:r>
          </a:p>
        </p:txBody>
      </p:sp>
      <p:cxnSp>
        <p:nvCxnSpPr>
          <p:cNvPr id="8" name="直接箭头连接符 7"/>
          <p:cNvCxnSpPr/>
          <p:nvPr/>
        </p:nvCxnSpPr>
        <p:spPr>
          <a:xfrm flipV="1">
            <a:off x="8797925" y="4364990"/>
            <a:ext cx="2266315"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1135995" y="4149090"/>
            <a:ext cx="973455" cy="583565"/>
          </a:xfrm>
          <a:prstGeom prst="rect">
            <a:avLst/>
          </a:prstGeom>
          <a:noFill/>
          <a:ln w="25400">
            <a:solidFill>
              <a:srgbClr val="FF0000"/>
            </a:solidFill>
          </a:ln>
        </p:spPr>
        <p:txBody>
          <a:bodyPr wrap="square" rtlCol="0">
            <a:spAutoFit/>
          </a:bodyPr>
          <a:lstStyle/>
          <a:p>
            <a:r>
              <a:rPr lang="zh-CN" altLang="en-US" sz="1600"/>
              <a:t>二级</a:t>
            </a:r>
          </a:p>
          <a:p>
            <a:r>
              <a:rPr lang="zh-CN" altLang="en-US" sz="1600"/>
              <a:t>子博弈</a:t>
            </a:r>
          </a:p>
        </p:txBody>
      </p:sp>
      <p:sp>
        <p:nvSpPr>
          <p:cNvPr id="3" name="灯片编号占位符 2"/>
          <p:cNvSpPr>
            <a:spLocks noGrp="1"/>
          </p:cNvSpPr>
          <p:nvPr>
            <p:ph type="sldNum" sz="quarter" idx="12"/>
          </p:nvPr>
        </p:nvSpPr>
        <p:spPr/>
        <p:txBody>
          <a:bodyPr/>
          <a:lstStyle/>
          <a:p>
            <a:fld id="{49AE70B2-8BF9-45C0-BB95-33D1B9D3A854}" type="slidenum">
              <a:rPr lang="zh-CN" altLang="en-US" smtClean="0"/>
              <a:t>18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组合 2"/>
          <p:cNvGrpSpPr/>
          <p:nvPr/>
        </p:nvGrpSpPr>
        <p:grpSpPr>
          <a:xfrm>
            <a:off x="533400" y="152400"/>
            <a:ext cx="11201400" cy="762000"/>
            <a:chOff x="840" y="240"/>
            <a:chExt cx="17640" cy="1200"/>
          </a:xfrm>
        </p:grpSpPr>
        <p:sp>
          <p:nvSpPr>
            <p:cNvPr id="256" name="文本框 6"/>
            <p:cNvSpPr txBox="1"/>
            <p:nvPr>
              <p:custDataLst>
                <p:tags r:id="rId7"/>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子博弈和子博弈完美纳什均衡</a:t>
              </a:r>
            </a:p>
          </p:txBody>
        </p:sp>
        <p:cxnSp>
          <p:nvCxnSpPr>
            <p:cNvPr id="5" name="直接连接符 4"/>
            <p:cNvCxnSpPr/>
            <p:nvPr>
              <p:custDataLst>
                <p:tags r:id="rId8"/>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矩形 10"/>
          <p:cNvSpPr/>
          <p:nvPr>
            <p:custDataLst>
              <p:tags r:id="rId2"/>
            </p:custDataLst>
          </p:nvPr>
        </p:nvSpPr>
        <p:spPr>
          <a:xfrm>
            <a:off x="5652565" y="1066778"/>
            <a:ext cx="5231260" cy="5486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grpSp>
        <p:nvGrpSpPr>
          <p:cNvPr id="15" name="组合 14"/>
          <p:cNvGrpSpPr/>
          <p:nvPr>
            <p:custDataLst>
              <p:tags r:id="rId3"/>
            </p:custDataLst>
          </p:nvPr>
        </p:nvGrpSpPr>
        <p:grpSpPr>
          <a:xfrm>
            <a:off x="10352730" y="1555898"/>
            <a:ext cx="192449" cy="51036"/>
            <a:chOff x="1440" y="2160"/>
            <a:chExt cx="362" cy="96"/>
          </a:xfrm>
        </p:grpSpPr>
        <p:cxnSp>
          <p:nvCxnSpPr>
            <p:cNvPr id="16" name="直接连接符 15"/>
            <p:cNvCxnSpPr/>
            <p:nvPr>
              <p:custDataLst>
                <p:tags r:id="rId5"/>
              </p:custDataLst>
            </p:nvPr>
          </p:nvCxnSpPr>
          <p:spPr>
            <a:xfrm>
              <a:off x="1440" y="2160"/>
              <a:ext cx="363" cy="0"/>
            </a:xfrm>
            <a:prstGeom prst="line">
              <a:avLst/>
            </a:prstGeom>
            <a:ln w="19050" cap="rnd">
              <a:solidFill>
                <a:schemeClr val="lt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6"/>
              </p:custDataLst>
            </p:nvPr>
          </p:nvCxnSpPr>
          <p:spPr>
            <a:xfrm>
              <a:off x="1440" y="2256"/>
              <a:ext cx="223" cy="0"/>
            </a:xfrm>
            <a:prstGeom prst="line">
              <a:avLst/>
            </a:prstGeom>
            <a:ln w="19050" cap="rnd">
              <a:solidFill>
                <a:schemeClr val="lt2">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1" name="Title 6"/>
          <p:cNvSpPr txBox="1"/>
          <p:nvPr>
            <p:custDataLst>
              <p:tags r:id="rId4"/>
            </p:custDataLst>
          </p:nvPr>
        </p:nvSpPr>
        <p:spPr>
          <a:xfrm>
            <a:off x="762000" y="981075"/>
            <a:ext cx="9735820" cy="350520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如果一个完美信息的动态博弈中，各博弈方的策略构成的一个策略组合满足，在整个动态博弈及它的所有子博弈中都构成纳什均衡，那么这个策略组合称为该动态博弈的一个</a:t>
            </a: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子博弈完美纳什均衡</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。（塞尔顿，</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1965</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子博弈完美纳什均衡是纳什均衡，是比纳什均衡更强的概念。</a:t>
            </a:r>
          </a:p>
          <a:p>
            <a:pPr marL="285750" lvl="0" indent="-285750" algn="l" fontAlgn="auto">
              <a:lnSpc>
                <a:spcPct val="120000"/>
              </a:lnSpc>
              <a:spcBef>
                <a:spcPts val="0"/>
              </a:spcBef>
              <a:spcAft>
                <a:spcPts val="80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auto">
              <a:lnSpc>
                <a:spcPct val="120000"/>
              </a:lnSpc>
              <a:spcBef>
                <a:spcPts val="0"/>
              </a:spcBef>
              <a:spcAft>
                <a:spcPts val="80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1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lstStyle/>
          <a:p>
            <a:fld id="{49AE70B2-8BF9-45C0-BB95-33D1B9D3A854}" type="slidenum">
              <a:rPr lang="zh-CN" altLang="en-US" smtClean="0"/>
              <a:t>19</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2"/>
            </p:custDataLst>
          </p:nvPr>
        </p:nvSpPr>
        <p:spPr>
          <a:xfrm>
            <a:off x="4079875" y="1341120"/>
            <a:ext cx="4561205"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400" dirty="0">
                <a:solidFill>
                  <a:schemeClr val="accent1"/>
                </a:solidFill>
                <a:sym typeface="+mn-ea"/>
              </a:rPr>
              <a:t>科恩-策墨罗-塞尔顿定理</a:t>
            </a:r>
          </a:p>
        </p:txBody>
      </p:sp>
      <p:sp>
        <p:nvSpPr>
          <p:cNvPr id="5" name="Title 6"/>
          <p:cNvSpPr txBox="1"/>
          <p:nvPr>
            <p:custDataLst>
              <p:tags r:id="rId3"/>
            </p:custDataLst>
          </p:nvPr>
        </p:nvSpPr>
        <p:spPr>
          <a:xfrm>
            <a:off x="2441575" y="2192227"/>
            <a:ext cx="7315200" cy="799526"/>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如果每一个博弈方，不存在相同得益，那么存在唯一子博弈完美纳什均衡。</a:t>
            </a:r>
          </a:p>
        </p:txBody>
      </p:sp>
      <p:sp>
        <p:nvSpPr>
          <p:cNvPr id="8" name="Title 6"/>
          <p:cNvSpPr txBox="1"/>
          <p:nvPr>
            <p:custDataLst>
              <p:tags r:id="rId4"/>
            </p:custDataLst>
          </p:nvPr>
        </p:nvSpPr>
        <p:spPr>
          <a:xfrm>
            <a:off x="2441575" y="3273121"/>
            <a:ext cx="7315200" cy="2014013"/>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每一个具有有限个结的完美信息的动态博弈总有子博弈完美纳什均衡。</a:t>
            </a:r>
          </a:p>
        </p:txBody>
      </p:sp>
      <p:grpSp>
        <p:nvGrpSpPr>
          <p:cNvPr id="9" name="组合 8"/>
          <p:cNvGrpSpPr/>
          <p:nvPr>
            <p:custDataLst>
              <p:tags r:id="rId5"/>
            </p:custDataLst>
          </p:nvPr>
        </p:nvGrpSpPr>
        <p:grpSpPr>
          <a:xfrm rot="10800000">
            <a:off x="1456845" y="1066804"/>
            <a:ext cx="844068" cy="703390"/>
            <a:chOff x="13507" y="7307"/>
            <a:chExt cx="4780" cy="4212"/>
          </a:xfrm>
          <a:solidFill>
            <a:srgbClr val="000000">
              <a:alpha val="10000"/>
            </a:srgbClr>
          </a:solidFill>
        </p:grpSpPr>
        <p:sp>
          <p:nvSpPr>
            <p:cNvPr id="10" name="任意多边形: 形状 26"/>
            <p:cNvSpPr>
              <a:spLocks noChangeAspect="1"/>
            </p:cNvSpPr>
            <p:nvPr>
              <p:custDataLst>
                <p:tags r:id="rId11"/>
              </p:custDataLst>
            </p:nvPr>
          </p:nvSpPr>
          <p:spPr>
            <a:xfrm rot="10800000">
              <a:off x="13507"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1" name="任意多边形: 形状 27"/>
            <p:cNvSpPr>
              <a:spLocks noChangeAspect="1"/>
            </p:cNvSpPr>
            <p:nvPr>
              <p:custDataLst>
                <p:tags r:id="rId12"/>
              </p:custDataLst>
            </p:nvPr>
          </p:nvSpPr>
          <p:spPr>
            <a:xfrm rot="10800000">
              <a:off x="16209"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grpSp>
      <p:grpSp>
        <p:nvGrpSpPr>
          <p:cNvPr id="12" name="组合 11"/>
          <p:cNvGrpSpPr/>
          <p:nvPr>
            <p:custDataLst>
              <p:tags r:id="rId6"/>
            </p:custDataLst>
          </p:nvPr>
        </p:nvGrpSpPr>
        <p:grpSpPr>
          <a:xfrm>
            <a:off x="9897527" y="5849857"/>
            <a:ext cx="844068" cy="703390"/>
            <a:chOff x="13507" y="7307"/>
            <a:chExt cx="4780" cy="4212"/>
          </a:xfrm>
          <a:solidFill>
            <a:srgbClr val="000000">
              <a:alpha val="10000"/>
            </a:srgbClr>
          </a:solidFill>
        </p:grpSpPr>
        <p:sp>
          <p:nvSpPr>
            <p:cNvPr id="13" name="任意多边形: 形状 26"/>
            <p:cNvSpPr>
              <a:spLocks noChangeAspect="1"/>
            </p:cNvSpPr>
            <p:nvPr>
              <p:custDataLst>
                <p:tags r:id="rId9"/>
              </p:custDataLst>
            </p:nvPr>
          </p:nvSpPr>
          <p:spPr>
            <a:xfrm rot="10800000">
              <a:off x="13507"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4" name="任意多边形: 形状 27"/>
            <p:cNvSpPr>
              <a:spLocks noChangeAspect="1"/>
            </p:cNvSpPr>
            <p:nvPr>
              <p:custDataLst>
                <p:tags r:id="rId10"/>
              </p:custDataLst>
            </p:nvPr>
          </p:nvSpPr>
          <p:spPr>
            <a:xfrm rot="10800000">
              <a:off x="16209"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grpSp>
      <p:pic>
        <p:nvPicPr>
          <p:cNvPr id="6" name="图片 1" descr="f01494d1831cca2c2d8b5f9021c13ad"/>
          <p:cNvPicPr>
            <a:picLocks noChangeAspect="1"/>
          </p:cNvPicPr>
          <p:nvPr/>
        </p:nvPicPr>
        <p:blipFill>
          <a:blip r:embed="rId1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33400" y="116840"/>
            <a:ext cx="11201400" cy="762000"/>
            <a:chOff x="840" y="240"/>
            <a:chExt cx="17640" cy="1200"/>
          </a:xfrm>
        </p:grpSpPr>
        <p:sp>
          <p:nvSpPr>
            <p:cNvPr id="2" name="文本框 6"/>
            <p:cNvSpPr txBox="1"/>
            <p:nvPr>
              <p:custDataLst>
                <p:tags r:id="rId7"/>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子博弈和子博弈完美纳什均衡</a:t>
              </a:r>
            </a:p>
          </p:txBody>
        </p:sp>
        <p:cxnSp>
          <p:nvCxnSpPr>
            <p:cNvPr id="7" name="直接连接符 6"/>
            <p:cNvCxnSpPr/>
            <p:nvPr>
              <p:custDataLst>
                <p:tags r:id="rId8"/>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nvPr>
        </p:nvSpPr>
        <p:spPr/>
        <p:txBody>
          <a:bodyPr/>
          <a:lstStyle/>
          <a:p>
            <a:fld id="{49AE70B2-8BF9-45C0-BB95-33D1B9D3A854}" type="slidenum">
              <a:rPr lang="zh-CN" altLang="en-US" smtClean="0"/>
              <a:t>20</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矩形 10"/>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7"/>
            </p:custDataLst>
          </p:nvPr>
        </p:nvSpPr>
        <p:spPr>
          <a:xfrm>
            <a:off x="1858645" y="1846580"/>
            <a:ext cx="8508365" cy="392620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逆推归纳法，亦称后退归纳法。它是一种排除那些含有不可信威胁或承诺的纳什均衡的方法。</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从动态博弈的最后一个阶段博弈方的行为开始分析，逐步倒推回前一个阶段相应博弈方的行为选择，一直到第一个阶段的分析方法，称为逆推归纳法。</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逆推归纳法的逻辑基础是：先行为的理性博弈方决策时，必然会考虑后行为博弈方后面阶段的行为选择，只有当后面阶段博弈方的选择确定后，前一阶段博弈方的行为才有可能确定。</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“逆推归纳法”得到的均衡就是子博弈完美纳什均衡。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1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17" name="组合 16"/>
          <p:cNvGrpSpPr/>
          <p:nvPr/>
        </p:nvGrpSpPr>
        <p:grpSpPr>
          <a:xfrm>
            <a:off x="533400" y="152400"/>
            <a:ext cx="6097270" cy="762000"/>
            <a:chOff x="840" y="240"/>
            <a:chExt cx="17640" cy="1200"/>
          </a:xfrm>
        </p:grpSpPr>
        <p:sp>
          <p:nvSpPr>
            <p:cNvPr id="2" name="文本框 6"/>
            <p:cNvSpPr txBox="1"/>
            <p:nvPr>
              <p:custDataLst>
                <p:tags r:id="rId8"/>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逆推归纳法</a:t>
              </a:r>
            </a:p>
          </p:txBody>
        </p:sp>
        <p:cxnSp>
          <p:nvCxnSpPr>
            <p:cNvPr id="3" name="直接连接符 2"/>
            <p:cNvCxnSpPr/>
            <p:nvPr>
              <p:custDataLst>
                <p:tags r:id="rId9"/>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nvPr>
        </p:nvSpPr>
        <p:spPr/>
        <p:txBody>
          <a:bodyPr/>
          <a:lstStyle/>
          <a:p>
            <a:fld id="{49AE70B2-8BF9-45C0-BB95-33D1B9D3A854}" type="slidenum">
              <a:rPr lang="zh-CN" altLang="en-US" smtClean="0"/>
              <a:t>21</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17" name="组合 16"/>
          <p:cNvGrpSpPr/>
          <p:nvPr/>
        </p:nvGrpSpPr>
        <p:grpSpPr>
          <a:xfrm>
            <a:off x="533400" y="152400"/>
            <a:ext cx="6097270" cy="762000"/>
            <a:chOff x="840" y="240"/>
            <a:chExt cx="17640" cy="1200"/>
          </a:xfrm>
        </p:grpSpPr>
        <p:sp>
          <p:nvSpPr>
            <p:cNvPr id="256"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逆推归纳法</a:t>
              </a:r>
            </a:p>
          </p:txBody>
        </p:sp>
        <p:cxnSp>
          <p:nvCxnSpPr>
            <p:cNvPr id="6" name="直接连接符 5"/>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 name="Title 6"/>
          <p:cNvSpPr txBox="1"/>
          <p:nvPr>
            <p:custDataLst>
              <p:tags r:id="rId2"/>
            </p:custDataLst>
          </p:nvPr>
        </p:nvSpPr>
        <p:spPr>
          <a:xfrm>
            <a:off x="911225" y="980440"/>
            <a:ext cx="10144760" cy="94488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法律保护不足的例子，子博弈完美纳什均衡为（不借—不分—不打）</a:t>
            </a:r>
          </a:p>
          <a:p>
            <a:pPr marL="342900" lvl="0" indent="-342900" algn="l" fontAlgn="auto">
              <a:lnSpc>
                <a:spcPct val="120000"/>
              </a:lnSpc>
              <a:spcBef>
                <a:spcPts val="0"/>
              </a:spcBef>
              <a:spcAft>
                <a:spcPts val="800"/>
              </a:spcAft>
              <a:buSzPct val="100000"/>
              <a:buNone/>
            </a:pP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5" name="组合 14"/>
          <p:cNvGrpSpPr/>
          <p:nvPr/>
        </p:nvGrpSpPr>
        <p:grpSpPr>
          <a:xfrm>
            <a:off x="1336675" y="2186305"/>
            <a:ext cx="9559290" cy="3682365"/>
            <a:chOff x="680321" y="2776306"/>
            <a:chExt cx="9283602" cy="3381610"/>
          </a:xfrm>
        </p:grpSpPr>
        <p:grpSp>
          <p:nvGrpSpPr>
            <p:cNvPr id="2" name="组合 1"/>
            <p:cNvGrpSpPr/>
            <p:nvPr/>
          </p:nvGrpSpPr>
          <p:grpSpPr>
            <a:xfrm>
              <a:off x="680321" y="2776306"/>
              <a:ext cx="2833933" cy="3381610"/>
              <a:chOff x="680321" y="2776306"/>
              <a:chExt cx="2833933" cy="3381610"/>
            </a:xfrm>
          </p:grpSpPr>
          <p:pic>
            <p:nvPicPr>
              <p:cNvPr id="4" name="图片 3"/>
              <p:cNvPicPr>
                <a:picLocks noChangeAspect="1"/>
              </p:cNvPicPr>
              <p:nvPr/>
            </p:nvPicPr>
            <p:blipFill>
              <a:blip r:embed="rId7"/>
              <a:stretch>
                <a:fillRect/>
              </a:stretch>
            </p:blipFill>
            <p:spPr>
              <a:xfrm>
                <a:off x="680321" y="2776306"/>
                <a:ext cx="2833933" cy="3381610"/>
              </a:xfrm>
              <a:prstGeom prst="rect">
                <a:avLst/>
              </a:prstGeom>
            </p:spPr>
          </p:pic>
          <p:sp>
            <p:nvSpPr>
              <p:cNvPr id="5" name="文本框 4"/>
              <p:cNvSpPr txBox="1"/>
              <p:nvPr/>
            </p:nvSpPr>
            <p:spPr>
              <a:xfrm flipH="1">
                <a:off x="1682209" y="5301208"/>
                <a:ext cx="432048" cy="338219"/>
              </a:xfrm>
              <a:prstGeom prst="rect">
                <a:avLst/>
              </a:prstGeom>
              <a:noFill/>
            </p:spPr>
            <p:txBody>
              <a:bodyPr wrap="square" rtlCol="0">
                <a:spAutoFit/>
              </a:bodyPr>
              <a:lstStyle/>
              <a:p>
                <a:r>
                  <a:rPr lang="en-US" altLang="zh-CN" b="1" dirty="0">
                    <a:solidFill>
                      <a:srgbClr val="FF0000"/>
                    </a:solidFill>
                    <a:latin typeface="+mn-ea"/>
                  </a:rPr>
                  <a:t>×</a:t>
                </a:r>
                <a:endParaRPr lang="zh-CN" altLang="en-US" b="1" dirty="0">
                  <a:solidFill>
                    <a:srgbClr val="FF0000"/>
                  </a:solidFill>
                  <a:latin typeface="+mn-ea"/>
                </a:endParaRPr>
              </a:p>
            </p:txBody>
          </p:sp>
        </p:grpSp>
        <p:sp>
          <p:nvSpPr>
            <p:cNvPr id="7" name="箭头: 虚尾 6"/>
            <p:cNvSpPr/>
            <p:nvPr/>
          </p:nvSpPr>
          <p:spPr>
            <a:xfrm>
              <a:off x="3647728" y="4221088"/>
              <a:ext cx="576064" cy="504056"/>
            </a:xfrm>
            <a:prstGeom prst="stripedRightArrow">
              <a:avLst/>
            </a:prstGeom>
            <a:no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虚尾 7"/>
            <p:cNvSpPr/>
            <p:nvPr/>
          </p:nvSpPr>
          <p:spPr>
            <a:xfrm>
              <a:off x="7176120" y="4268215"/>
              <a:ext cx="576064" cy="504056"/>
            </a:xfrm>
            <a:prstGeom prst="stripedRightArrow">
              <a:avLst/>
            </a:prstGeom>
            <a:no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48506" y="3217173"/>
              <a:ext cx="2573342" cy="2432813"/>
              <a:chOff x="4448506" y="3217173"/>
              <a:chExt cx="2573342" cy="2432813"/>
            </a:xfrm>
          </p:grpSpPr>
          <p:pic>
            <p:nvPicPr>
              <p:cNvPr id="9" name="图片 8"/>
              <p:cNvPicPr>
                <a:picLocks noChangeAspect="1"/>
              </p:cNvPicPr>
              <p:nvPr/>
            </p:nvPicPr>
            <p:blipFill>
              <a:blip r:embed="rId8"/>
              <a:stretch>
                <a:fillRect/>
              </a:stretch>
            </p:blipFill>
            <p:spPr>
              <a:xfrm>
                <a:off x="4448506" y="3217173"/>
                <a:ext cx="2573342" cy="2432813"/>
              </a:xfrm>
              <a:prstGeom prst="rect">
                <a:avLst/>
              </a:prstGeom>
            </p:spPr>
          </p:pic>
          <p:sp>
            <p:nvSpPr>
              <p:cNvPr id="10" name="文本框 9"/>
              <p:cNvSpPr txBox="1"/>
              <p:nvPr/>
            </p:nvSpPr>
            <p:spPr>
              <a:xfrm>
                <a:off x="4717957" y="4772271"/>
                <a:ext cx="432463" cy="338219"/>
              </a:xfrm>
              <a:prstGeom prst="rect">
                <a:avLst/>
              </a:prstGeom>
              <a:noFill/>
            </p:spPr>
            <p:txBody>
              <a:bodyPr wrap="square" rtlCol="0">
                <a:spAutoFit/>
              </a:bodyPr>
              <a:lstStyle/>
              <a:p>
                <a:r>
                  <a:rPr lang="en-US" altLang="zh-CN" b="1" dirty="0">
                    <a:solidFill>
                      <a:srgbClr val="FF0000"/>
                    </a:solidFill>
                  </a:rPr>
                  <a:t>×</a:t>
                </a:r>
                <a:endParaRPr lang="zh-CN" altLang="en-US" b="1" dirty="0">
                  <a:solidFill>
                    <a:srgbClr val="FF0000"/>
                  </a:solidFill>
                </a:endParaRPr>
              </a:p>
            </p:txBody>
          </p:sp>
        </p:grpSp>
        <p:grpSp>
          <p:nvGrpSpPr>
            <p:cNvPr id="14" name="组合 13"/>
            <p:cNvGrpSpPr/>
            <p:nvPr/>
          </p:nvGrpSpPr>
          <p:grpSpPr>
            <a:xfrm>
              <a:off x="7911765" y="3582094"/>
              <a:ext cx="2052158" cy="1702969"/>
              <a:chOff x="7911765" y="3582094"/>
              <a:chExt cx="2052158" cy="1702969"/>
            </a:xfrm>
          </p:grpSpPr>
          <p:pic>
            <p:nvPicPr>
              <p:cNvPr id="12" name="图片 11"/>
              <p:cNvPicPr>
                <a:picLocks noChangeAspect="1"/>
              </p:cNvPicPr>
              <p:nvPr/>
            </p:nvPicPr>
            <p:blipFill>
              <a:blip r:embed="rId9"/>
              <a:stretch>
                <a:fillRect/>
              </a:stretch>
            </p:blipFill>
            <p:spPr>
              <a:xfrm>
                <a:off x="7911765" y="3582094"/>
                <a:ext cx="2052158" cy="1702969"/>
              </a:xfrm>
              <a:prstGeom prst="rect">
                <a:avLst/>
              </a:prstGeom>
            </p:spPr>
          </p:pic>
          <p:sp>
            <p:nvSpPr>
              <p:cNvPr id="13" name="文本框 12"/>
              <p:cNvSpPr txBox="1"/>
              <p:nvPr/>
            </p:nvSpPr>
            <p:spPr>
              <a:xfrm>
                <a:off x="8328248" y="4284848"/>
                <a:ext cx="436173" cy="338219"/>
              </a:xfrm>
              <a:prstGeom prst="rect">
                <a:avLst/>
              </a:prstGeom>
              <a:noFill/>
            </p:spPr>
            <p:txBody>
              <a:bodyPr wrap="square" rtlCol="0">
                <a:spAutoFit/>
              </a:bodyPr>
              <a:lstStyle/>
              <a:p>
                <a:r>
                  <a:rPr lang="en-US" altLang="zh-CN" b="1" dirty="0">
                    <a:solidFill>
                      <a:srgbClr val="FF0000"/>
                    </a:solidFill>
                  </a:rPr>
                  <a:t>×</a:t>
                </a:r>
                <a:endParaRPr lang="zh-CN" altLang="en-US" b="1" dirty="0">
                  <a:solidFill>
                    <a:srgbClr val="FF0000"/>
                  </a:solidFill>
                </a:endParaRPr>
              </a:p>
            </p:txBody>
          </p:sp>
        </p:grpSp>
      </p:grpSp>
      <p:pic>
        <p:nvPicPr>
          <p:cNvPr id="11"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18" name="灯片编号占位符 17"/>
          <p:cNvSpPr>
            <a:spLocks noGrp="1"/>
          </p:cNvSpPr>
          <p:nvPr>
            <p:ph type="sldNum" sz="quarter" idx="12"/>
          </p:nvPr>
        </p:nvSpPr>
        <p:spPr/>
        <p:txBody>
          <a:bodyPr/>
          <a:lstStyle/>
          <a:p>
            <a:fld id="{49AE70B2-8BF9-45C0-BB95-33D1B9D3A854}" type="slidenum">
              <a:rPr lang="zh-CN" altLang="en-US" smtClean="0"/>
              <a:t>22</a:t>
            </a:fld>
            <a:endParaRPr lang="zh-CN" altLang="en-US"/>
          </a:p>
        </p:txBody>
      </p:sp>
      <p:sp>
        <p:nvSpPr>
          <p:cNvPr id="20" name="文本框 19"/>
          <p:cNvSpPr txBox="1"/>
          <p:nvPr/>
        </p:nvSpPr>
        <p:spPr>
          <a:xfrm>
            <a:off x="11376660" y="3233420"/>
            <a:ext cx="4064000" cy="368300"/>
          </a:xfrm>
          <a:prstGeom prst="rect">
            <a:avLst/>
          </a:prstGeom>
          <a:noFill/>
        </p:spPr>
        <p:txBody>
          <a:bodyPr wrap="square" rtlCol="0">
            <a:spAutoFit/>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2"/>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逆推归纳法</a:t>
            </a:r>
          </a:p>
        </p:txBody>
      </p:sp>
      <p:cxnSp>
        <p:nvCxnSpPr>
          <p:cNvPr id="6" name="直接连接符 5"/>
          <p:cNvCxnSpPr/>
          <p:nvPr>
            <p:custDataLst>
              <p:tags r:id="rId3"/>
            </p:custDataLst>
          </p:nvPr>
        </p:nvCxnSpPr>
        <p:spPr>
          <a:xfrm>
            <a:off x="533404" y="304800"/>
            <a:ext cx="0" cy="457204"/>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itle 6"/>
          <p:cNvSpPr txBox="1"/>
          <p:nvPr>
            <p:custDataLst>
              <p:tags r:id="rId4"/>
            </p:custDataLst>
          </p:nvPr>
        </p:nvSpPr>
        <p:spPr>
          <a:xfrm>
            <a:off x="911225" y="980440"/>
            <a:ext cx="10144760" cy="94488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Ø"/>
            </a:pPr>
            <a:r>
              <a:rPr lang="zh-CN" altLang="en-US" sz="2200">
                <a:solidFill>
                  <a:schemeClr val="dk1"/>
                </a:solidFill>
                <a:latin typeface="微软雅黑" panose="020B0503020204020204" pitchFamily="34" charset="-122"/>
                <a:ea typeface="微软雅黑" panose="020B0503020204020204" pitchFamily="34" charset="-122"/>
                <a:sym typeface="+mn-ea"/>
              </a:rPr>
              <a:t>有法律保障，同学自己练习</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None/>
            </a:pP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1" name="组合 10"/>
          <p:cNvGrpSpPr/>
          <p:nvPr/>
        </p:nvGrpSpPr>
        <p:grpSpPr>
          <a:xfrm>
            <a:off x="2207707" y="1991112"/>
            <a:ext cx="7078883" cy="3438375"/>
            <a:chOff x="1487487" y="2924944"/>
            <a:chExt cx="7078883" cy="3438375"/>
          </a:xfrm>
        </p:grpSpPr>
        <p:grpSp>
          <p:nvGrpSpPr>
            <p:cNvPr id="17" name="组合 16"/>
            <p:cNvGrpSpPr/>
            <p:nvPr/>
          </p:nvGrpSpPr>
          <p:grpSpPr>
            <a:xfrm>
              <a:off x="1487487" y="2924944"/>
              <a:ext cx="4168327" cy="3438375"/>
              <a:chOff x="701078" y="2924944"/>
              <a:chExt cx="3733153" cy="3438375"/>
            </a:xfrm>
          </p:grpSpPr>
          <p:pic>
            <p:nvPicPr>
              <p:cNvPr id="18" name="图片 17"/>
              <p:cNvPicPr>
                <a:picLocks noChangeAspect="1"/>
              </p:cNvPicPr>
              <p:nvPr/>
            </p:nvPicPr>
            <p:blipFill>
              <a:blip r:embed="rId6"/>
              <a:stretch>
                <a:fillRect/>
              </a:stretch>
            </p:blipFill>
            <p:spPr>
              <a:xfrm>
                <a:off x="701078" y="2924944"/>
                <a:ext cx="2946650" cy="3438375"/>
              </a:xfrm>
              <a:prstGeom prst="rect">
                <a:avLst/>
              </a:prstGeom>
            </p:spPr>
          </p:pic>
          <p:sp>
            <p:nvSpPr>
              <p:cNvPr id="19" name="箭头: 虚尾 4"/>
              <p:cNvSpPr/>
              <p:nvPr/>
            </p:nvSpPr>
            <p:spPr>
              <a:xfrm>
                <a:off x="3858167" y="4467111"/>
                <a:ext cx="576064" cy="504056"/>
              </a:xfrm>
              <a:prstGeom prst="stripedRightArrow">
                <a:avLst/>
              </a:prstGeom>
              <a:no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19"/>
            <p:cNvSpPr/>
            <p:nvPr/>
          </p:nvSpPr>
          <p:spPr>
            <a:xfrm>
              <a:off x="5807281" y="3059081"/>
              <a:ext cx="2759089" cy="3170099"/>
            </a:xfrm>
            <a:prstGeom prst="rect">
              <a:avLst/>
            </a:prstGeom>
            <a:noFill/>
          </p:spPr>
          <p:txBody>
            <a:bodyPr wrap="none" lIns="91440" tIns="45720" rIns="91440" bIns="45720">
              <a:spAutoFit/>
            </a:bodyPr>
            <a:lstStyle/>
            <a:p>
              <a:pPr algn="ctr"/>
              <a:r>
                <a:rPr lang="zh-CN" altLang="en-US" sz="20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a:t>
              </a:r>
            </a:p>
          </p:txBody>
        </p:sp>
      </p:grpSp>
      <p:pic>
        <p:nvPicPr>
          <p:cNvPr id="2"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t>23</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无限策略博弈—斯塔克博格模型</a:t>
              </a:r>
            </a:p>
          </p:txBody>
        </p:sp>
        <p:cxnSp>
          <p:nvCxnSpPr>
            <p:cNvPr id="13" name="直接连接符 12"/>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5" name="Title 6"/>
          <p:cNvSpPr txBox="1"/>
          <p:nvPr>
            <p:custDataLst>
              <p:tags r:id="rId2"/>
            </p:custDataLst>
          </p:nvPr>
        </p:nvSpPr>
        <p:spPr>
          <a:xfrm>
            <a:off x="640715" y="1024890"/>
            <a:ext cx="10909935" cy="45269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动态的寡头市场产量博弈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，称为斯塔克博格(Stackelberg)模型。仍然假设寡头市场两个厂商进行产量博弈。但这两个厂商中</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一方较强、另一方较弱</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较强的一方（领导者）先选择产量，较弱的一方（追随者）后选择产量，且后选择厂商在选择时知道前者的选择。假设博弈结构的策略空间、得益函数等与两寡头连续产量静态博弈的古诺模型都一样。斯塔克博格模型中，两博弈方的决策内容是产量(</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a:t>
            </a:r>
            <a:r>
              <a:rPr lang="zh-CN" altLang="en-US" sz="20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)，可以选择的产量水平理论上可以无限多，因此是有无限多种可选策略的无限策略动态博弈。</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两个寡头</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为厂商1和厂商2，厂商1先选择，厂商2后选择；</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策略空间都是[0，</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a:t>
            </a:r>
            <a:r>
              <a:rPr lang="zh-CN" altLang="en-US" sz="2000" b="1"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max</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中的所有实数，其中</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max</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可看作不至于使价格降到亏本的最大限度产量，或者厂商生产能力限度；价格函数为P=P(Q)=8</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Q(其中Q=q</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)，两个厂商的边际生产成本为c</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=2,且没有固定成本。</a:t>
            </a:r>
          </a:p>
          <a:p>
            <a:pPr marL="285750" lvl="1" indent="0" algn="just" fontAlgn="ctr">
              <a:lnSpc>
                <a:spcPct val="130000"/>
              </a:lnSpc>
              <a:spcBef>
                <a:spcPts val="100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t>24</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无限策略博弈—斯塔克博格模型</a:t>
              </a:r>
            </a:p>
          </p:txBody>
        </p:sp>
        <p:cxnSp>
          <p:nvCxnSpPr>
            <p:cNvPr id="13" name="直接连接符 12"/>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矩形 13"/>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15" name="Title 6"/>
              <p:cNvSpPr txBox="1"/>
              <p:nvPr>
                <p:custDataLst>
                  <p:tags r:id="rId3"/>
                </p:custDataLst>
              </p:nvPr>
            </p:nvSpPr>
            <p:spPr>
              <a:xfrm>
                <a:off x="2328203" y="1884579"/>
                <a:ext cx="7541942" cy="385084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反需求函数和边际成本</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P</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得益函数</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=6-</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baseline="30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 </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=6-</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baseline="30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 </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追随者（厂商</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）的一阶条件：</a:t>
                </a: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f>
                      <m:fPr>
                        <m:ctrlPr>
                          <a:rPr lang="en-US" altLang="zh-CN" sz="2000" i="1">
                            <a:latin typeface="Cambria Math" panose="02040503050406030204" pitchFamily="18" charset="0"/>
                            <a:cs typeface="Times New Roman" panose="02020603050405020304" pitchFamily="18" charset="0"/>
                          </a:rPr>
                        </m:ctrlPr>
                      </m:fPr>
                      <m:num>
                        <m:r>
                          <a:rPr lang="zh-CN" altLang="en-US"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𝑢</m:t>
                            </m:r>
                          </m:e>
                          <m:sub>
                            <m:r>
                              <a:rPr lang="en-US" altLang="zh-CN" sz="2000" i="1">
                                <a:latin typeface="Cambria Math" panose="02040503050406030204" pitchFamily="18" charset="0"/>
                                <a:cs typeface="Times New Roman" panose="02020603050405020304" pitchFamily="18" charset="0"/>
                              </a:rPr>
                              <m:t>2</m:t>
                            </m:r>
                          </m:sub>
                        </m:sSub>
                      </m:num>
                      <m:den>
                        <m:r>
                          <a:rPr lang="zh-CN" altLang="en-US"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𝑞</m:t>
                            </m:r>
                          </m:e>
                          <m:sub>
                            <m:r>
                              <a:rPr lang="en-US" altLang="zh-CN" sz="2000" i="1">
                                <a:latin typeface="Cambria Math" panose="02040503050406030204" pitchFamily="18" charset="0"/>
                                <a:cs typeface="Times New Roman" panose="02020603050405020304" pitchFamily="18" charset="0"/>
                              </a:rPr>
                              <m:t>2</m:t>
                            </m:r>
                          </m:sub>
                        </m:sSub>
                      </m:den>
                    </m:f>
                    <m:r>
                      <a:rPr lang="en-US" altLang="zh-CN" sz="2000" i="1">
                        <a:latin typeface="Cambria Math" panose="02040503050406030204" pitchFamily="18" charset="0"/>
                        <a:cs typeface="Times New Roman" panose="02020603050405020304" pitchFamily="18" charset="0"/>
                      </a:rPr>
                      <m:t>=6−2</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𝑞</m:t>
                        </m:r>
                      </m:e>
                      <m:sub>
                        <m:r>
                          <a:rPr lang="en-US" altLang="zh-CN" sz="2000" i="1">
                            <a:latin typeface="Cambria Math" panose="02040503050406030204" pitchFamily="18" charset="0"/>
                            <a:cs typeface="Times New Roman" panose="02020603050405020304" pitchFamily="18" charset="0"/>
                          </a:rPr>
                          <m:t>2</m:t>
                        </m:r>
                      </m:sub>
                    </m:sSub>
                    <m:r>
                      <a:rPr lang="en-US" altLang="zh-CN"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𝑞</m:t>
                        </m:r>
                      </m:e>
                      <m:sub>
                        <m:r>
                          <a:rPr lang="en-US" altLang="zh-CN" sz="2000" i="1">
                            <a:latin typeface="Cambria Math" panose="02040503050406030204" pitchFamily="18" charset="0"/>
                            <a:cs typeface="Times New Roman" panose="02020603050405020304" pitchFamily="18" charset="0"/>
                          </a:rPr>
                          <m:t>1</m:t>
                        </m:r>
                      </m:sub>
                    </m:sSub>
                    <m:r>
                      <a:rPr lang="en-US" altLang="zh-CN" sz="2000" i="1">
                        <a:latin typeface="Cambria Math" panose="02040503050406030204" pitchFamily="18" charset="0"/>
                        <a:cs typeface="Times New Roman" panose="02020603050405020304" pitchFamily="18" charset="0"/>
                      </a:rPr>
                      <m:t>=0</m:t>
                    </m:r>
                  </m:oMath>
                </a14:m>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5" name="Title 6"/>
              <p:cNvSpPr txBox="1">
                <a:spLocks noRot="1" noChangeAspect="1" noMove="1" noResize="1" noEditPoints="1" noAdjustHandles="1" noChangeArrowheads="1" noChangeShapeType="1" noTextEdit="1"/>
              </p:cNvSpPr>
              <p:nvPr>
                <p:custDataLst>
                  <p:tags r:id="rId8"/>
                </p:custDataLst>
              </p:nvPr>
            </p:nvSpPr>
            <p:spPr>
              <a:xfrm>
                <a:off x="2328203" y="1884579"/>
                <a:ext cx="7541942" cy="3850842"/>
              </a:xfrm>
              <a:prstGeom prst="rect">
                <a:avLst/>
              </a:prstGeom>
              <a:blipFill rotWithShape="1">
                <a:blip r:embed="rId9"/>
                <a:stretch>
                  <a:fillRect l="-4" t="-14" r="5" b="3"/>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t>25</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16" name="Title 6"/>
              <p:cNvSpPr txBox="1"/>
              <p:nvPr>
                <p:custDataLst>
                  <p:tags r:id="rId3"/>
                </p:custDataLst>
              </p:nvPr>
            </p:nvSpPr>
            <p:spPr>
              <a:xfrm>
                <a:off x="2207895" y="1760855"/>
                <a:ext cx="8823325" cy="409765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追随者的反应函数</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0.5(6</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)=3-0.5</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代入领导者（厂商</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）的得益函数</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0.5(6</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领导者的一阶条件：</a:t>
                </a:r>
              </a:p>
              <a:p>
                <a:pPr marL="508000" lvl="1" indent="-222250" algn="l"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f>
                      <m:fPr>
                        <m:ctrlPr>
                          <a:rPr lang="en-US" altLang="zh-CN" sz="2000" i="1">
                            <a:solidFill>
                              <a:schemeClr val="dk1">
                                <a:lumMod val="75000"/>
                                <a:lumOff val="25000"/>
                              </a:schemeClr>
                            </a:solidFill>
                            <a:latin typeface="Cambria Math" panose="02040503050406030204" pitchFamily="18" charset="0"/>
                            <a:cs typeface="Cambria Math" panose="02040503050406030204" pitchFamily="18" charset="0"/>
                          </a:rPr>
                        </m:ctrlPr>
                      </m:fPr>
                      <m:num>
                        <m:r>
                          <a:rPr lang="zh-CN" altLang="en-US"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𝑢</m:t>
                            </m:r>
                          </m:e>
                          <m:sub>
                            <m:r>
                              <a:rPr lang="en-US" altLang="zh-CN" sz="2000" i="1">
                                <a:latin typeface="Cambria Math" panose="02040503050406030204" pitchFamily="18" charset="0"/>
                                <a:cs typeface="Times New Roman" panose="02020603050405020304" pitchFamily="18" charset="0"/>
                              </a:rPr>
                              <m:t>1</m:t>
                            </m:r>
                          </m:sub>
                        </m:sSub>
                      </m:num>
                      <m:den>
                        <m:r>
                          <a:rPr lang="zh-CN" altLang="en-US"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𝑞</m:t>
                            </m:r>
                          </m:e>
                          <m:sub>
                            <m:r>
                              <a:rPr lang="en-US" altLang="zh-CN" sz="2000" i="1">
                                <a:latin typeface="Cambria Math" panose="02040503050406030204" pitchFamily="18" charset="0"/>
                                <a:cs typeface="Times New Roman" panose="02020603050405020304" pitchFamily="18" charset="0"/>
                              </a:rPr>
                              <m:t>1</m:t>
                            </m:r>
                          </m:sub>
                        </m:sSub>
                      </m:den>
                    </m:f>
                    <m:r>
                      <a:rPr lang="en-US" altLang="zh-CN" sz="2000" i="1">
                        <a:latin typeface="Cambria Math" panose="02040503050406030204" pitchFamily="18" charset="0"/>
                        <a:cs typeface="Times New Roman" panose="02020603050405020304" pitchFamily="18" charset="0"/>
                      </a:rPr>
                      <m:t>=</m:t>
                    </m:r>
                    <m:r>
                      <a:rPr lang="en-US" altLang="zh-CN" sz="2000" i="1" smtClean="0">
                        <a:latin typeface="Cambria Math" panose="02040503050406030204" pitchFamily="18" charset="0"/>
                        <a:cs typeface="Times New Roman" panose="02020603050405020304" pitchFamily="18" charset="0"/>
                      </a:rPr>
                      <m:t>3</m:t>
                    </m:r>
                    <m:r>
                      <a:rPr lang="en-US" altLang="zh-CN"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𝑞</m:t>
                        </m:r>
                      </m:e>
                      <m:sub>
                        <m:r>
                          <a:rPr lang="en-US" altLang="zh-CN" sz="2000" i="1">
                            <a:latin typeface="Cambria Math" panose="02040503050406030204" pitchFamily="18" charset="0"/>
                            <a:cs typeface="Times New Roman" panose="02020603050405020304" pitchFamily="18" charset="0"/>
                          </a:rPr>
                          <m:t>1</m:t>
                        </m:r>
                      </m:sub>
                    </m:sSub>
                    <m:r>
                      <a:rPr lang="en-US" altLang="zh-CN" sz="2000" i="1" smtClean="0">
                        <a:latin typeface="Cambria Math" panose="02040503050406030204" pitchFamily="18" charset="0"/>
                        <a:cs typeface="Times New Roman" panose="02020603050405020304" pitchFamily="18" charset="0"/>
                      </a:rPr>
                      <m:t>=</m:t>
                    </m:r>
                    <m:r>
                      <a:rPr lang="en-US" altLang="zh-CN" sz="2000" b="0" i="0" smtClean="0">
                        <a:latin typeface="Cambria Math" panose="02040503050406030204" pitchFamily="18" charset="0"/>
                        <a:cs typeface="Times New Roman" panose="02020603050405020304" pitchFamily="18" charset="0"/>
                      </a:rPr>
                      <m:t>0</m:t>
                    </m:r>
                  </m:oMath>
                </a14:m>
                <a:endParaRPr lang="zh-CN" altLang="en-US" sz="2000" dirty="0">
                  <a:sym typeface="+mn-ea"/>
                </a:endParaRPr>
              </a:p>
              <a:p>
                <a:pPr marL="285750" lvl="0" indent="-285750" algn="l" fontAlgn="ctr">
                  <a:lnSpc>
                    <a:spcPct val="130000"/>
                  </a:lnSpc>
                  <a:spcBef>
                    <a:spcPts val="0"/>
                  </a:spcBef>
                  <a:spcAft>
                    <a:spcPts val="0"/>
                  </a:spcAft>
                  <a:buSzPct val="100000"/>
                  <a:buFont typeface="Wingdings" panose="05000000000000000000" charset="0"/>
                  <a:buChar char="l"/>
                </a:pPr>
                <a:r>
                  <a:rPr lang="zh-CN" altLang="en-US" sz="2000" dirty="0">
                    <a:solidFill>
                      <a:schemeClr val="tx1"/>
                    </a:solidFill>
                    <a:sym typeface="+mn-ea"/>
                  </a:rPr>
                  <a:t>解得：子博弈完美纳什均衡</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sym typeface="+mn-ea"/>
                  </a:rPr>
                  <a:t>其他</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2.25</a:t>
                </a:r>
                <a:endParaRPr lang="en-US" altLang="zh-CN" sz="2000" spc="100" dirty="0">
                  <a:ln w="3175">
                    <a:noFill/>
                    <a:prstDash val="dash"/>
                  </a:ln>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mc:Choice>
        <mc:Fallback xmlns="">
          <p:sp>
            <p:nvSpPr>
              <p:cNvPr id="16" name="Title 6"/>
              <p:cNvSpPr txBox="1">
                <a:spLocks noRot="1" noChangeAspect="1" noMove="1" noResize="1" noEditPoints="1" noAdjustHandles="1" noChangeArrowheads="1" noChangeShapeType="1" noTextEdit="1"/>
              </p:cNvSpPr>
              <p:nvPr>
                <p:custDataLst>
                  <p:tags r:id="rId8"/>
                </p:custDataLst>
              </p:nvPr>
            </p:nvSpPr>
            <p:spPr>
              <a:xfrm>
                <a:off x="2207895" y="1760855"/>
                <a:ext cx="8823325" cy="4097655"/>
              </a:xfrm>
              <a:prstGeom prst="rect">
                <a:avLst/>
              </a:prstGeom>
              <a:blipFill rotWithShape="1">
                <a:blip r:embed="rId9"/>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1201400" cy="762000"/>
            <a:chOff x="840" y="240"/>
            <a:chExt cx="17640" cy="1200"/>
          </a:xfrm>
        </p:grpSpPr>
        <p:sp>
          <p:nvSpPr>
            <p:cNvPr id="3"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无限策略博弈—斯塔克博格模型</a:t>
              </a:r>
            </a:p>
          </p:txBody>
        </p:sp>
        <p:cxnSp>
          <p:nvCxnSpPr>
            <p:cNvPr id="13" name="直接连接符 12"/>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nvPr>
        </p:nvSpPr>
        <p:spPr/>
        <p:txBody>
          <a:bodyPr/>
          <a:lstStyle/>
          <a:p>
            <a:fld id="{49AE70B2-8BF9-45C0-BB95-33D1B9D3A854}" type="slidenum">
              <a:rPr lang="zh-CN" altLang="en-US" smtClean="0"/>
              <a:t>26</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5" name="Title 6"/>
          <p:cNvSpPr txBox="1"/>
          <p:nvPr>
            <p:custDataLst>
              <p:tags r:id="rId2"/>
            </p:custDataLst>
          </p:nvPr>
        </p:nvSpPr>
        <p:spPr>
          <a:xfrm>
            <a:off x="640715" y="1024890"/>
            <a:ext cx="10909935" cy="45269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里昂惕夫(Leontief)1946年提出了一个</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工会和厂商之间的劳资博弈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模型。</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工资完全由工会决定</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厂商决定雇佣工人的数量</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，博弈过程是</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先由工会决定工资率，然后厂商决定雇佣多少工人</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工会不只追求较高的工资，还会希望较多的工人得到雇佣，高工资加高失业率不符合工会利益，低工资实现的高就业也不符合工会利益。因此，</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工会的效用是工资率和雇佣工人数两者的函数u=u(W,L)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。W和L分别表示工资率和厂商雇佣工人数。假设工资率和雇佣数都连续可分。</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假设厂商只关心利润。利润是收益和成本之差，假设收益是工人数的函数R（</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），再假设只有劳动成本，总成本等于工资率乘工人数</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W×L，</a:t>
            </a: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厂</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商的利润函数为</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π</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π</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(W,L)=R(L)一W×L，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也是工资率和工人数的函数。</a:t>
            </a: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33400" y="152400"/>
            <a:ext cx="11201400" cy="762000"/>
            <a:chOff x="840" y="240"/>
            <a:chExt cx="17640" cy="1200"/>
          </a:xfrm>
        </p:grpSpPr>
        <p:sp>
          <p:nvSpPr>
            <p:cNvPr id="8"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无限策略博弈—劳资博弈</a:t>
              </a:r>
            </a:p>
          </p:txBody>
        </p:sp>
        <p:cxnSp>
          <p:nvCxnSpPr>
            <p:cNvPr id="4" name="直接连接符 3"/>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fld id="{49AE70B2-8BF9-45C0-BB95-33D1B9D3A854}" type="slidenum">
              <a:rPr lang="zh-CN" altLang="en-US" smtClean="0"/>
              <a:t>27</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4" name="Title 6"/>
          <p:cNvSpPr txBox="1"/>
          <p:nvPr>
            <p:custDataLst>
              <p:tags r:id="rId2"/>
            </p:custDataLst>
          </p:nvPr>
        </p:nvSpPr>
        <p:spPr>
          <a:xfrm>
            <a:off x="983615" y="1196975"/>
            <a:ext cx="4483100" cy="376047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先由Max π＝</a:t>
            </a:r>
            <a:r>
              <a:rPr altLang="zh-CN" sz="2000">
                <a:sym typeface="+mn-ea"/>
              </a:rPr>
              <a:t>M</a:t>
            </a:r>
            <a:r>
              <a:rPr lang="zh-CN" altLang="en-US" sz="2000">
                <a:sym typeface="+mn-ea"/>
              </a:rPr>
              <a:t>ax</a:t>
            </a:r>
            <a:r>
              <a:rPr altLang="zh-CN" sz="2000">
                <a:sym typeface="+mn-ea"/>
              </a:rPr>
              <a:t> </a:t>
            </a:r>
            <a:r>
              <a:rPr lang="zh-CN" altLang="en-US" sz="2000">
                <a:sym typeface="+mn-ea"/>
              </a:rPr>
              <a:t>[R (L)-WL]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，求得劳动需求函数L</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L</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再由Max u＝</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Max</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u(W，L)</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，s.t. L</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L</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(W)，求得子博弈完美纳什均衡(L*，W*)</a:t>
            </a:r>
          </a:p>
        </p:txBody>
      </p:sp>
      <p:grpSp>
        <p:nvGrpSpPr>
          <p:cNvPr id="7" name="组合 6"/>
          <p:cNvGrpSpPr/>
          <p:nvPr/>
        </p:nvGrpSpPr>
        <p:grpSpPr>
          <a:xfrm>
            <a:off x="6816090" y="692785"/>
            <a:ext cx="4185920" cy="5853430"/>
            <a:chOff x="7536160" y="1983510"/>
            <a:chExt cx="2940642" cy="4713000"/>
          </a:xfrm>
        </p:grpSpPr>
        <p:pic>
          <p:nvPicPr>
            <p:cNvPr id="4" name="图片 3"/>
            <p:cNvPicPr>
              <a:picLocks noChangeAspect="1"/>
            </p:cNvPicPr>
            <p:nvPr/>
          </p:nvPicPr>
          <p:blipFill>
            <a:blip r:embed="rId7"/>
            <a:stretch>
              <a:fillRect/>
            </a:stretch>
          </p:blipFill>
          <p:spPr>
            <a:xfrm>
              <a:off x="7536160" y="1983510"/>
              <a:ext cx="2940642" cy="1980895"/>
            </a:xfrm>
            <a:prstGeom prst="rect">
              <a:avLst/>
            </a:prstGeom>
          </p:spPr>
        </p:pic>
        <p:pic>
          <p:nvPicPr>
            <p:cNvPr id="5" name="图片 4"/>
            <p:cNvPicPr>
              <a:picLocks noChangeAspect="1"/>
            </p:cNvPicPr>
            <p:nvPr/>
          </p:nvPicPr>
          <p:blipFill>
            <a:blip r:embed="rId8"/>
            <a:stretch>
              <a:fillRect/>
            </a:stretch>
          </p:blipFill>
          <p:spPr>
            <a:xfrm>
              <a:off x="7536160" y="4653135"/>
              <a:ext cx="2940642" cy="2043375"/>
            </a:xfrm>
            <a:prstGeom prst="rect">
              <a:avLst/>
            </a:prstGeom>
          </p:spPr>
        </p:pic>
        <p:sp>
          <p:nvSpPr>
            <p:cNvPr id="6" name="箭头: 下 5"/>
            <p:cNvSpPr/>
            <p:nvPr/>
          </p:nvSpPr>
          <p:spPr>
            <a:xfrm>
              <a:off x="8616150" y="4149302"/>
              <a:ext cx="504085" cy="574681"/>
            </a:xfrm>
            <a:prstGeom prst="downArrow">
              <a:avLst/>
            </a:prstGeom>
            <a:no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33400" y="152400"/>
            <a:ext cx="11201400" cy="762000"/>
            <a:chOff x="840" y="240"/>
            <a:chExt cx="17640" cy="1200"/>
          </a:xfrm>
        </p:grpSpPr>
        <p:sp>
          <p:nvSpPr>
            <p:cNvPr id="8"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无限策略博弈—劳资博弈</a:t>
              </a:r>
            </a:p>
          </p:txBody>
        </p:sp>
        <p:cxnSp>
          <p:nvCxnSpPr>
            <p:cNvPr id="13" name="直接连接符 12"/>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 name="灯片编号占位符 8"/>
          <p:cNvSpPr>
            <a:spLocks noGrp="1"/>
          </p:cNvSpPr>
          <p:nvPr>
            <p:ph type="sldNum" sz="quarter" idx="12"/>
          </p:nvPr>
        </p:nvSpPr>
        <p:spPr/>
        <p:txBody>
          <a:bodyPr/>
          <a:lstStyle/>
          <a:p>
            <a:fld id="{49AE70B2-8BF9-45C0-BB95-33D1B9D3A854}" type="slidenum">
              <a:rPr lang="zh-CN" altLang="en-US" smtClean="0"/>
              <a:t>28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1" name="直接连接符 10"/>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itle 6"/>
              <p:cNvSpPr txBox="1"/>
              <p:nvPr>
                <p:custDataLst>
                  <p:tags r:id="rId7"/>
                </p:custDataLst>
              </p:nvPr>
            </p:nvSpPr>
            <p:spPr>
              <a:xfrm>
                <a:off x="2063621" y="1340622"/>
                <a:ext cx="8305914"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比如，取</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R</a:t>
                </a:r>
                <a:r>
                  <a:rPr altLang="zh-CN" sz="2000">
                    <a:latin typeface="宋体" panose="02010600030101010101" pitchFamily="2" charset="-122"/>
                    <a:ea typeface="宋体" panose="02010600030101010101" pitchFamily="2" charset="-122"/>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L</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)=ln(</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L</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u</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L</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W</a:t>
                </a:r>
                <a:r>
                  <a:rPr altLang="zh-CN" sz="2000" baseline="30000">
                    <a:latin typeface="Times New Roman" panose="02020603050405020304" pitchFamily="18" charset="0"/>
                    <a:ea typeface="宋体" panose="02010600030101010101" pitchFamily="2" charset="-122"/>
                    <a:cs typeface="Times New Roman" panose="02020603050405020304" pitchFamily="18" charset="0"/>
                    <a:sym typeface="+mn-ea"/>
                  </a:rPr>
                  <a:t>−2</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a:t>
                </a:r>
                <a:r>
                  <a:rPr altLang="zh-CN" sz="2000" i="1">
                    <a:latin typeface="Times New Roman" panose="02020603050405020304" pitchFamily="18" charset="0"/>
                    <a:cs typeface="Times New Roman" panose="02020603050405020304" pitchFamily="18" charset="0"/>
                    <a:sym typeface="+mn-ea"/>
                  </a:rPr>
                  <a:t>Max</a:t>
                </a:r>
                <a:r>
                  <a:rPr altLang="zh-CN" sz="2000">
                    <a:latin typeface="Times New Roman" panose="02020603050405020304" pitchFamily="18" charset="0"/>
                    <a:cs typeface="Times New Roman" panose="02020603050405020304" pitchFamily="18" charset="0"/>
                    <a:sym typeface="+mn-ea"/>
                  </a:rPr>
                  <a:t> </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π</a:t>
                </a:r>
                <a:r>
                  <a:rPr lang="zh-CN" altLang="el-GR" sz="2000">
                    <a:latin typeface="宋体" panose="02010600030101010101" pitchFamily="2" charset="-122"/>
                    <a:ea typeface="宋体" panose="02010600030101010101" pitchFamily="2" charset="-122"/>
                    <a:sym typeface="+mn-ea"/>
                  </a:rPr>
                  <a:t>＝</a:t>
                </a:r>
                <a:r>
                  <a:rPr altLang="zh-CN" sz="2000" i="1">
                    <a:latin typeface="Times New Roman" panose="02020603050405020304" pitchFamily="18" charset="0"/>
                    <a:cs typeface="Times New Roman" panose="02020603050405020304" pitchFamily="18" charset="0"/>
                    <a:sym typeface="+mn-ea"/>
                  </a:rPr>
                  <a:t>Max</a:t>
                </a:r>
                <a:r>
                  <a:rPr altLang="zh-CN" sz="2000">
                    <a:sym typeface="+mn-ea"/>
                  </a:rPr>
                  <a:t> </a:t>
                </a:r>
                <a:r>
                  <a:rPr lang="zh-CN" altLang="en-US" sz="200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R</a:t>
                </a:r>
                <a:r>
                  <a:rPr altLang="zh-CN" sz="2000">
                    <a:latin typeface="宋体" panose="02010600030101010101" pitchFamily="2" charset="-122"/>
                    <a:ea typeface="宋体" panose="02010600030101010101" pitchFamily="2" charset="-122"/>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L</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mn-ea"/>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WL]</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altLang="zh-CN" sz="2000" i="1">
                    <a:latin typeface="Times New Roman" panose="02020603050405020304" pitchFamily="18" charset="0"/>
                    <a:cs typeface="Times New Roman" panose="02020603050405020304" pitchFamily="18" charset="0"/>
                    <a:sym typeface="+mn-ea"/>
                  </a:rPr>
                  <a:t>L*</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W</a:t>
                </a:r>
                <a:r>
                  <a:rPr altLang="zh-CN" sz="2000" baseline="30000">
                    <a:latin typeface="Times New Roman" panose="02020603050405020304" pitchFamily="18" charset="0"/>
                    <a:ea typeface="宋体" panose="02010600030101010101" pitchFamily="2" charset="-122"/>
                    <a:cs typeface="Times New Roman" panose="02020603050405020304" pitchFamily="18" charset="0"/>
                    <a:sym typeface="+mn-ea"/>
                  </a:rPr>
                  <a:t> −1</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再由</a:t>
                </a:r>
                <a:r>
                  <a:rPr altLang="zh-CN" sz="2000" i="1">
                    <a:latin typeface="Times New Roman" panose="02020603050405020304" pitchFamily="18" charset="0"/>
                    <a:cs typeface="Times New Roman" panose="02020603050405020304" pitchFamily="18" charset="0"/>
                    <a:sym typeface="+mn-ea"/>
                  </a:rPr>
                  <a:t>Max</a:t>
                </a:r>
                <a:r>
                  <a:rPr altLang="zh-CN" sz="2000">
                    <a:latin typeface="Times New Roman" panose="02020603050405020304" pitchFamily="18" charset="0"/>
                    <a:cs typeface="Times New Roman" panose="02020603050405020304" pitchFamily="18" charset="0"/>
                    <a:sym typeface="+mn-ea"/>
                  </a:rPr>
                  <a:t> </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u</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Max[</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L</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W</a:t>
                </a:r>
                <a:r>
                  <a:rPr altLang="zh-CN" sz="2000" baseline="30000">
                    <a:latin typeface="Times New Roman" panose="02020603050405020304" pitchFamily="18" charset="0"/>
                    <a:ea typeface="宋体" panose="02010600030101010101" pitchFamily="2" charset="-122"/>
                    <a:cs typeface="Times New Roman" panose="02020603050405020304" pitchFamily="18" charset="0"/>
                    <a:sym typeface="+mn-ea"/>
                  </a:rPr>
                  <a:t>−2</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 W</a:t>
                </a:r>
                <a:r>
                  <a:rPr altLang="zh-CN" sz="2000" i="1" baseline="30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L</a:t>
                </a:r>
                <a:r>
                  <a:rPr altLang="zh-CN" sz="2000" i="1" baseline="30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=0.5</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0.5</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）是该博弈的子博弈完美纳什均衡。</a:t>
                </a:r>
              </a:p>
            </p:txBody>
          </p:sp>
        </mc:Choice>
        <mc:Fallback xmlns="">
          <p:sp>
            <p:nvSpPr>
              <p:cNvPr id="15" name="Title 6"/>
              <p:cNvSpPr txBox="1">
                <a:spLocks noRot="1" noChangeAspect="1" noMove="1" noResize="1" noEditPoints="1" noAdjustHandles="1" noChangeArrowheads="1" noChangeShapeType="1" noTextEdit="1"/>
              </p:cNvSpPr>
              <p:nvPr>
                <p:custDataLst>
                  <p:tags r:id="rId12"/>
                </p:custDataLst>
              </p:nvPr>
            </p:nvSpPr>
            <p:spPr>
              <a:xfrm>
                <a:off x="2063621" y="1340622"/>
                <a:ext cx="8305914" cy="3926039"/>
              </a:xfrm>
              <a:prstGeom prst="rect">
                <a:avLst/>
              </a:prstGeom>
              <a:blipFill rotWithShape="1">
                <a:blip r:embed="rId13"/>
                <a:stretch>
                  <a:fillRect l="-6" t="-3" r="7" b="15"/>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51815" y="161925"/>
            <a:ext cx="11201400" cy="762000"/>
            <a:chOff x="840" y="240"/>
            <a:chExt cx="17640" cy="1200"/>
          </a:xfrm>
        </p:grpSpPr>
        <p:sp>
          <p:nvSpPr>
            <p:cNvPr id="2" name="文本框 6"/>
            <p:cNvSpPr txBox="1"/>
            <p:nvPr>
              <p:custDataLst>
                <p:tags r:id="rId8"/>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无限策略博弈—劳资博弈</a:t>
              </a:r>
            </a:p>
          </p:txBody>
        </p:sp>
        <p:cxnSp>
          <p:nvCxnSpPr>
            <p:cNvPr id="4" name="直接连接符 3"/>
            <p:cNvCxnSpPr/>
            <p:nvPr>
              <p:custDataLst>
                <p:tags r:id="rId9"/>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lstStyle/>
          <a:p>
            <a:fld id="{49AE70B2-8BF9-45C0-BB95-33D1B9D3A854}" type="slidenum">
              <a:rPr lang="zh-CN" altLang="en-US" smtClean="0"/>
              <a:t>29</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179705" y="1053465"/>
            <a:ext cx="11809095" cy="547433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3"/>
            </p:custDataLst>
          </p:nvPr>
        </p:nvSpPr>
        <p:spPr>
          <a:xfrm>
            <a:off x="429895" y="1196975"/>
            <a:ext cx="11443970" cy="49206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l"/>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甲乙两人谈判分1万元现金，规则：先由甲提出分配方案，乙接受则议价结束，拒绝则由乙提方案；后一种情况如果甲接受乙的方案议价结束，拒绝则由甲提新方案，此时乙不再有拒绝权，必须接受。再设由于谈判费用和利息损失等，议价每多进行一个回合，双方分得现金都有一个消耗系数</a:t>
            </a:r>
            <a:r>
              <a:rPr altLang="zh-CN"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δ</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(0&lt;</a:t>
            </a:r>
            <a:r>
              <a:rPr altLang="zh-CN" sz="19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δ</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&lt;1)。</a:t>
            </a: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第一回合：甲提方案自己得S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，乙得10000</a:t>
            </a:r>
            <a:r>
              <a:rPr lang="en-US" altLang="zh-CN"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9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乙接受则甲和乙得益分别为S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和10000一S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,乙拒绝则进入第二回合；</a:t>
            </a: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第二回合：乙提方案甲得S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，自己得10000</a:t>
            </a:r>
            <a:r>
              <a:rPr lang="en-US" altLang="zh-CN"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，甲接受则甲和乙得益现值分别为</a:t>
            </a:r>
            <a:r>
              <a:rPr altLang="zh-CN" sz="19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δ</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19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δ</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(10000</a:t>
            </a:r>
            <a:r>
              <a:rPr lang="en-US" altLang="zh-CN"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)，甲拒绝则进行第三回合；</a:t>
            </a: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第三回合：甲提方案自己得S</a:t>
            </a:r>
            <a:r>
              <a:rPr lang="en-US" altLang="zh-CN"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，乙得10000</a:t>
            </a:r>
            <a:r>
              <a:rPr lang="en-US" altLang="zh-CN"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en-US" altLang="zh-CN"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，乙必须接受，甲和乙得益现值分别为</a:t>
            </a:r>
            <a:r>
              <a:rPr altLang="zh-CN" sz="19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δ</a:t>
            </a:r>
            <a:r>
              <a:rPr lang="en-US" sz="1900" spc="100" baseline="30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en-US" altLang="zh-CN" sz="19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19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δ</a:t>
            </a:r>
            <a:r>
              <a:rPr lang="zh-CN" altLang="en-US" sz="1900" spc="100" baseline="30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(10000一</a:t>
            </a:r>
            <a:r>
              <a:rPr lang="en-US" sz="19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en-US" sz="1900" spc="100" baseline="-250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9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0" indent="-342900" algn="just" fontAlgn="ctr">
              <a:lnSpc>
                <a:spcPct val="130000"/>
              </a:lnSpc>
              <a:spcBef>
                <a:spcPts val="1000"/>
              </a:spcBef>
              <a:spcAft>
                <a:spcPts val="0"/>
              </a:spcAft>
              <a:buSzPct val="100000"/>
              <a:buFont typeface="Arial" panose="020B0604020202020204" pitchFamily="34" charset="0"/>
              <a:buChar char="•"/>
            </a:pPr>
            <a:endParaRPr lang="zh-CN" altLang="en-US" sz="1900" spc="100" dirty="0">
              <a:ln w="3175">
                <a:noFill/>
                <a:prstDash val="dash"/>
              </a:ln>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51815" y="161925"/>
            <a:ext cx="11201400" cy="762000"/>
            <a:chOff x="840" y="240"/>
            <a:chExt cx="17640" cy="1200"/>
          </a:xfrm>
        </p:grpSpPr>
        <p:sp>
          <p:nvSpPr>
            <p:cNvPr id="2"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三回合讨价还价博弈</a:t>
              </a:r>
            </a:p>
          </p:txBody>
        </p:sp>
        <p:cxnSp>
          <p:nvCxnSpPr>
            <p:cNvPr id="4" name="直接连接符 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lstStyle/>
          <a:p>
            <a:fld id="{49AE70B2-8BF9-45C0-BB95-33D1B9D3A854}" type="slidenum">
              <a:rPr lang="zh-CN" altLang="en-US" smtClean="0"/>
              <a:t>30</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551815" y="1384300"/>
            <a:ext cx="11430635" cy="527812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14" name="Title 6"/>
              <p:cNvSpPr txBox="1"/>
              <p:nvPr>
                <p:custDataLst>
                  <p:tags r:id="rId3"/>
                </p:custDataLst>
              </p:nvPr>
            </p:nvSpPr>
            <p:spPr>
              <a:xfrm>
                <a:off x="2132330" y="1761490"/>
                <a:ext cx="9385935" cy="409765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Max</a:t>
                </a:r>
                <a:r>
                  <a:rPr altLang="zh-CN" sz="2000">
                    <a:latin typeface="Times New Roman" panose="02020603050405020304" pitchFamily="18" charset="0"/>
                    <a:cs typeface="Times New Roman" panose="02020603050405020304" pitchFamily="18" charset="0"/>
                    <a:sym typeface="+mn-ea"/>
                  </a:rPr>
                  <a:t> </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r>
                  <a:rPr lang="zh-CN" altLang="en-US" sz="2000">
                    <a:latin typeface="+mn-ea"/>
                    <a:cs typeface="Times New Roman" panose="02020603050405020304" pitchFamily="18" charset="0"/>
                    <a:sym typeface="+mn-ea"/>
                  </a:rPr>
                  <a:t>，</a:t>
                </a:r>
                <a:r>
                  <a:rPr altLang="zh-CN" sz="2000" i="1" dirty="0" err="1">
                    <a:latin typeface="Times New Roman" panose="02020603050405020304" pitchFamily="18" charset="0"/>
                    <a:cs typeface="Times New Roman" panose="02020603050405020304" pitchFamily="18" charset="0"/>
                    <a:sym typeface="+mn-ea"/>
                  </a:rPr>
                  <a:t>s</a:t>
                </a:r>
                <a:r>
                  <a:rPr altLang="zh-CN" sz="2000" dirty="0" err="1">
                    <a:latin typeface="Times New Roman" panose="02020603050405020304" pitchFamily="18" charset="0"/>
                    <a:cs typeface="Times New Roman" panose="02020603050405020304" pitchFamily="18" charset="0"/>
                    <a:sym typeface="+mn-ea"/>
                  </a:rPr>
                  <a:t>.</a:t>
                </a:r>
                <a:r>
                  <a:rPr altLang="zh-CN" sz="2000" i="1" dirty="0" err="1">
                    <a:latin typeface="Times New Roman" panose="02020603050405020304" pitchFamily="18" charset="0"/>
                    <a:cs typeface="Times New Roman" panose="02020603050405020304" pitchFamily="18" charset="0"/>
                    <a:sym typeface="+mn-ea"/>
                  </a:rPr>
                  <a:t>t</a:t>
                </a:r>
                <a:r>
                  <a:rPr altLang="zh-CN" sz="2000" dirty="0" err="1">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r>
                  <a:rPr altLang="zh-CN" sz="2000">
                    <a:latin typeface="宋体" panose="02010600030101010101" pitchFamily="2" charset="-122"/>
                    <a:ea typeface="宋体" panose="02010600030101010101" pitchFamily="2" charset="-122"/>
                    <a:cs typeface="Times New Roman" panose="02020603050405020304" pitchFamily="18" charset="0"/>
                    <a:sym typeface="+mn-ea"/>
                  </a:rPr>
                  <a:t>≤10000</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r>
                  <a:rPr altLang="zh-CN" sz="2000" baseline="30000">
                    <a:latin typeface="Times New Roman" panose="02020603050405020304" pitchFamily="18" charset="0"/>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a:latin typeface="宋体" panose="02010600030101010101" pitchFamily="2" charset="-122"/>
                    <a:ea typeface="宋体" panose="02010600030101010101" pitchFamily="2" charset="-122"/>
                    <a:cs typeface="Times New Roman" panose="02020603050405020304" pitchFamily="18" charset="0"/>
                    <a:sym typeface="+mn-ea"/>
                  </a:rPr>
                  <a:t>10000</a:t>
                </a:r>
              </a:p>
              <a:p>
                <a:pPr lvl="0" indent="0" algn="l" fontAlgn="ctr">
                  <a:lnSpc>
                    <a:spcPct val="130000"/>
                  </a:lnSpc>
                  <a:spcBef>
                    <a:spcPts val="1000"/>
                  </a:spcBef>
                  <a:spcAft>
                    <a:spcPts val="0"/>
                  </a:spcAft>
                  <a:buSzPct val="100000"/>
                  <a:buFont typeface="Arial" panose="020B0604020202020204" pitchFamily="34" charset="0"/>
                </a:pPr>
                <a:r>
                  <a:rPr lang="en-US" altLang="zh-CN" sz="200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altLang="zh-CN" sz="2000">
                    <a:latin typeface="宋体" panose="02010600030101010101" pitchFamily="2" charset="-122"/>
                    <a:ea typeface="宋体" panose="02010600030101010101" pitchFamily="2" charset="-122"/>
                    <a:cs typeface="Times New Roman" panose="02020603050405020304" pitchFamily="18" charset="0"/>
                  </a:rPr>
                  <a:t>甲得</a:t>
                </a:r>
                <a:r>
                  <a:rPr altLang="zh-CN" sz="2000" i="1">
                    <a:latin typeface="Times New Roman" panose="02020603050405020304" pitchFamily="18" charset="0"/>
                    <a:cs typeface="Times New Roman" panose="02020603050405020304" pitchFamily="18" charset="0"/>
                    <a:sym typeface="+mn-ea"/>
                  </a:rPr>
                  <a:t>δ</a:t>
                </a:r>
                <a:r>
                  <a:rPr altLang="zh-CN" sz="2000" i="1" baseline="30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r>
                  <a:rPr lang="zh-CN" altLang="en-US" sz="2000" baseline="-25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乙得</a:t>
                </a:r>
                <a:r>
                  <a:rPr altLang="zh-CN" sz="2000" i="1">
                    <a:latin typeface="Times New Roman" panose="02020603050405020304" pitchFamily="18" charset="0"/>
                    <a:cs typeface="Times New Roman" panose="02020603050405020304" pitchFamily="18" charset="0"/>
                    <a:sym typeface="+mn-ea"/>
                  </a:rPr>
                  <a:t>δ</a:t>
                </a:r>
                <a:r>
                  <a:rPr altLang="zh-CN" sz="2000" baseline="30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(10000</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r>
                  <a:rPr altLang="zh-CN" sz="2000">
                    <a:latin typeface="Times New Roman" panose="02020603050405020304" pitchFamily="18" charset="0"/>
                    <a:cs typeface="Times New Roman" panose="02020603050405020304" pitchFamily="18" charset="0"/>
                    <a:sym typeface="+mn-ea"/>
                  </a:rPr>
                  <a:t>)</a:t>
                </a:r>
                <a:endParaRPr altLang="zh-CN" sz="2000">
                  <a:latin typeface="宋体" panose="02010600030101010101" pitchFamily="2" charset="-122"/>
                  <a:ea typeface="宋体" panose="02010600030101010101" pitchFamily="2" charset="-122"/>
                  <a:cs typeface="Times New Roman" panose="02020603050405020304" pitchFamily="18" charset="0"/>
                  <a:sym typeface="+mn-ea"/>
                </a:endParaRPr>
              </a:p>
              <a:p>
                <a:pPr marL="285750" lvl="0" indent="-28575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Max</a:t>
                </a:r>
                <a:r>
                  <a:rPr altLang="zh-CN" sz="2000">
                    <a:latin typeface="Times New Roman" panose="02020603050405020304" pitchFamily="18" charset="0"/>
                    <a:cs typeface="Times New Roman" panose="02020603050405020304" pitchFamily="18" charset="0"/>
                    <a:sym typeface="+mn-ea"/>
                  </a:rPr>
                  <a:t> 10000</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mn-ea"/>
                    <a:cs typeface="Times New Roman" panose="02020603050405020304" pitchFamily="18" charset="0"/>
                    <a:sym typeface="+mn-ea"/>
                  </a:rPr>
                  <a:t>，</a:t>
                </a:r>
                <a:r>
                  <a:rPr altLang="zh-CN" sz="2000" i="1" dirty="0" err="1">
                    <a:latin typeface="Times New Roman" panose="02020603050405020304" pitchFamily="18" charset="0"/>
                    <a:cs typeface="Times New Roman" panose="02020603050405020304" pitchFamily="18" charset="0"/>
                    <a:sym typeface="+mn-ea"/>
                  </a:rPr>
                  <a:t>s</a:t>
                </a:r>
                <a:r>
                  <a:rPr altLang="zh-CN" sz="2000" dirty="0" err="1">
                    <a:latin typeface="Times New Roman" panose="02020603050405020304" pitchFamily="18" charset="0"/>
                    <a:cs typeface="Times New Roman" panose="02020603050405020304" pitchFamily="18" charset="0"/>
                    <a:sym typeface="+mn-ea"/>
                  </a:rPr>
                  <a:t>.</a:t>
                </a:r>
                <a:r>
                  <a:rPr altLang="zh-CN" sz="2000" i="1" dirty="0" err="1">
                    <a:latin typeface="Times New Roman" panose="02020603050405020304" pitchFamily="18" charset="0"/>
                    <a:cs typeface="Times New Roman" panose="02020603050405020304" pitchFamily="18" charset="0"/>
                    <a:sym typeface="+mn-ea"/>
                  </a:rPr>
                  <a:t>t</a:t>
                </a:r>
                <a:r>
                  <a:rPr altLang="zh-CN" sz="2000" dirty="0" err="1">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r>
                  <a:rPr altLang="zh-CN" sz="2000" i="1">
                    <a:latin typeface="Times New Roman" panose="02020603050405020304" pitchFamily="18" charset="0"/>
                    <a:cs typeface="Times New Roman" panose="02020603050405020304" pitchFamily="18" charset="0"/>
                    <a:sym typeface="+mn-ea"/>
                  </a:rPr>
                  <a:t>δS</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δ</a:t>
                </a:r>
                <a:r>
                  <a:rPr altLang="zh-CN" sz="2000" i="1" baseline="30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r>
                  <a:rPr altLang="zh-CN" sz="2000" baseline="30000">
                    <a:latin typeface="Times New Roman" panose="02020603050405020304" pitchFamily="18" charset="0"/>
                    <a:cs typeface="Times New Roman" panose="02020603050405020304" pitchFamily="18" charset="0"/>
                    <a:sym typeface="+mn-ea"/>
                  </a:rPr>
                  <a:t>*</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oMath>
                </a14:m>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2</a:t>
                </a:r>
                <a:r>
                  <a:rPr altLang="zh-CN" sz="2000" baseline="30000">
                    <a:latin typeface="Times New Roman" panose="02020603050405020304" pitchFamily="18" charset="0"/>
                    <a:cs typeface="Times New Roman" panose="02020603050405020304" pitchFamily="18" charset="0"/>
                    <a:sym typeface="+mn-ea"/>
                  </a:rPr>
                  <a:t>*</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δS</a:t>
                </a:r>
                <a:r>
                  <a:rPr altLang="zh-CN" sz="2000" baseline="-25000">
                    <a:latin typeface="Times New Roman" panose="02020603050405020304" pitchFamily="18" charset="0"/>
                    <a:cs typeface="Times New Roman" panose="02020603050405020304" pitchFamily="18" charset="0"/>
                    <a:sym typeface="+mn-ea"/>
                  </a:rPr>
                  <a:t>3</a:t>
                </a:r>
                <a:r>
                  <a:rPr altLang="zh-CN" sz="2000" baseline="30000">
                    <a:latin typeface="Times New Roman" panose="02020603050405020304" pitchFamily="18" charset="0"/>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a:latin typeface="宋体" panose="02010600030101010101" pitchFamily="2" charset="-122"/>
                    <a:ea typeface="宋体" panose="02010600030101010101" pitchFamily="2" charset="-122"/>
                    <a:cs typeface="Times New Roman" panose="02020603050405020304" pitchFamily="18" charset="0"/>
                    <a:sym typeface="+mn-ea"/>
                  </a:rPr>
                  <a:t>10000</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p>
              <a:p>
                <a:pPr lvl="0" indent="0" algn="l" fontAlgn="ctr">
                  <a:lnSpc>
                    <a:spcPct val="130000"/>
                  </a:lnSpc>
                  <a:spcBef>
                    <a:spcPts val="1000"/>
                  </a:spcBef>
                  <a:spcAft>
                    <a:spcPts val="0"/>
                  </a:spcAft>
                  <a:buSzPct val="100000"/>
                  <a:buFont typeface="Arial" panose="020B0604020202020204" pitchFamily="34" charset="0"/>
                </a:pPr>
                <a:r>
                  <a:rPr altLang="zh-CN" sz="2000">
                    <a:ea typeface="Cambria Math" panose="02040503050406030204" pitchFamily="18" charset="0"/>
                    <a:cs typeface="Times New Roman" panose="02020603050405020304" pitchFamily="18" charset="0"/>
                    <a:sym typeface="+mn-ea"/>
                  </a:rPr>
                  <a:t>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oMath>
                </a14:m>
                <a:r>
                  <a:rPr altLang="zh-CN" sz="2000">
                    <a:latin typeface="宋体" panose="02010600030101010101" pitchFamily="2" charset="-122"/>
                    <a:ea typeface="宋体" panose="02010600030101010101" pitchFamily="2" charset="-122"/>
                    <a:cs typeface="Times New Roman" panose="02020603050405020304" pitchFamily="18" charset="0"/>
                    <a:sym typeface="+mn-ea"/>
                  </a:rPr>
                  <a:t>甲得</a:t>
                </a:r>
                <a:r>
                  <a:rPr altLang="zh-CN" sz="2000" i="1">
                    <a:latin typeface="Times New Roman" panose="02020603050405020304" pitchFamily="18" charset="0"/>
                    <a:cs typeface="Times New Roman" panose="02020603050405020304" pitchFamily="18" charset="0"/>
                    <a:sym typeface="+mn-ea"/>
                  </a:rPr>
                  <a:t>δS</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δ</a:t>
                </a:r>
                <a:r>
                  <a:rPr altLang="zh-CN" sz="2000" baseline="30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r>
                  <a:rPr lang="zh-CN" altLang="en-US" sz="2000" baseline="-25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乙得</a:t>
                </a:r>
                <a:r>
                  <a:rPr altLang="zh-CN" sz="2000" i="1">
                    <a:latin typeface="Times New Roman" panose="02020603050405020304" pitchFamily="18" charset="0"/>
                    <a:cs typeface="Times New Roman" panose="02020603050405020304" pitchFamily="18" charset="0"/>
                    <a:sym typeface="+mn-ea"/>
                  </a:rPr>
                  <a:t>δ</a:t>
                </a:r>
                <a:r>
                  <a:rPr altLang="zh-CN" sz="2000">
                    <a:latin typeface="Times New Roman" panose="02020603050405020304" pitchFamily="18" charset="0"/>
                    <a:cs typeface="Times New Roman" panose="02020603050405020304" pitchFamily="18" charset="0"/>
                    <a:sym typeface="+mn-ea"/>
                  </a:rPr>
                  <a:t>(10000</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δ</a:t>
                </a:r>
                <a:r>
                  <a:rPr altLang="zh-CN" sz="2000">
                    <a:latin typeface="Times New Roman" panose="02020603050405020304" pitchFamily="18" charset="0"/>
                    <a:cs typeface="Times New Roman" panose="02020603050405020304" pitchFamily="18" charset="0"/>
                    <a:sym typeface="+mn-ea"/>
                  </a:rPr>
                  <a:t>(10000</a:t>
                </a:r>
                <a:r>
                  <a:rPr altLang="zh-CN" sz="2000" i="1">
                    <a:latin typeface="Times New Roman" panose="02020603050405020304" pitchFamily="18" charset="0"/>
                    <a:cs typeface="Times New Roman" panose="02020603050405020304" pitchFamily="18" charset="0"/>
                    <a:sym typeface="+mn-ea"/>
                  </a:rPr>
                  <a:t>-δS</a:t>
                </a:r>
                <a:r>
                  <a:rPr altLang="zh-CN" sz="2000" baseline="-25000">
                    <a:latin typeface="Times New Roman" panose="02020603050405020304" pitchFamily="18" charset="0"/>
                    <a:cs typeface="Times New Roman" panose="02020603050405020304" pitchFamily="18" charset="0"/>
                    <a:sym typeface="+mn-ea"/>
                  </a:rPr>
                  <a:t>3</a:t>
                </a:r>
                <a:r>
                  <a:rPr altLang="zh-CN" sz="2000">
                    <a:latin typeface="Times New Roman" panose="02020603050405020304" pitchFamily="18" charset="0"/>
                    <a:cs typeface="Times New Roman" panose="02020603050405020304" pitchFamily="18" charset="0"/>
                    <a:sym typeface="+mn-ea"/>
                  </a:rPr>
                  <a:t>)=10000</a:t>
                </a:r>
                <a:r>
                  <a:rPr altLang="zh-CN" sz="2000" i="1">
                    <a:latin typeface="Times New Roman" panose="02020603050405020304" pitchFamily="18" charset="0"/>
                    <a:cs typeface="Times New Roman" panose="02020603050405020304" pitchFamily="18" charset="0"/>
                    <a:sym typeface="+mn-ea"/>
                  </a:rPr>
                  <a:t>δ-δ</a:t>
                </a:r>
                <a:r>
                  <a:rPr altLang="zh-CN" sz="2000" baseline="30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endPar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Max S</a:t>
                </a:r>
                <a:r>
                  <a:rPr altLang="zh-CN" sz="2000" baseline="-25000">
                    <a:latin typeface="Times New Roman" panose="02020603050405020304" pitchFamily="18" charset="0"/>
                    <a:cs typeface="Times New Roman" panose="02020603050405020304" pitchFamily="18" charset="0"/>
                    <a:sym typeface="+mn-ea"/>
                  </a:rPr>
                  <a:t>1</a:t>
                </a:r>
                <a:r>
                  <a:rPr lang="zh-CN" altLang="en-US" sz="2000" i="1">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 </a:t>
                </a:r>
                <a:r>
                  <a:rPr altLang="zh-CN" sz="2000" i="1" dirty="0" err="1">
                    <a:latin typeface="Times New Roman" panose="02020603050405020304" pitchFamily="18" charset="0"/>
                    <a:cs typeface="Times New Roman" panose="02020603050405020304" pitchFamily="18" charset="0"/>
                    <a:sym typeface="+mn-ea"/>
                  </a:rPr>
                  <a:t>s</a:t>
                </a:r>
                <a:r>
                  <a:rPr altLang="zh-CN" sz="2000" dirty="0" err="1">
                    <a:latin typeface="Times New Roman" panose="02020603050405020304" pitchFamily="18" charset="0"/>
                    <a:cs typeface="Times New Roman" panose="02020603050405020304" pitchFamily="18" charset="0"/>
                    <a:sym typeface="+mn-ea"/>
                  </a:rPr>
                  <a:t>.</a:t>
                </a:r>
                <a:r>
                  <a:rPr altLang="zh-CN" sz="2000" i="1" dirty="0" err="1">
                    <a:latin typeface="Times New Roman" panose="02020603050405020304" pitchFamily="18" charset="0"/>
                    <a:cs typeface="Times New Roman" panose="02020603050405020304" pitchFamily="18" charset="0"/>
                    <a:sym typeface="+mn-ea"/>
                  </a:rPr>
                  <a:t>t</a:t>
                </a:r>
                <a:r>
                  <a:rPr altLang="zh-CN" sz="2000" dirty="0" err="1">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10000</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10000</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2</a:t>
                </a:r>
                <a:r>
                  <a:rPr altLang="zh-CN" sz="2000" baseline="30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10000</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 </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603050405020304" pitchFamily="18" charset="0"/>
                      </a:rPr>
                      <m:t>⇒ </m:t>
                    </m:r>
                  </m:oMath>
                </a14:m>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1</a:t>
                </a:r>
                <a:r>
                  <a:rPr altLang="zh-CN" sz="2000" baseline="30000">
                    <a:latin typeface="Times New Roman" panose="02020603050405020304" pitchFamily="18" charset="0"/>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a:latin typeface="宋体" panose="02010600030101010101" pitchFamily="2" charset="-122"/>
                    <a:ea typeface="宋体" panose="02010600030101010101" pitchFamily="2" charset="-122"/>
                    <a:cs typeface="Times New Roman" panose="02020603050405020304" pitchFamily="18" charset="0"/>
                    <a:sym typeface="+mn-ea"/>
                  </a:rPr>
                  <a:t>10000</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lang="zh-CN" altLang="el-GR"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altLang="zh-CN" sz="2000" baseline="30000">
                    <a:latin typeface="Times New Roman" panose="02020603050405020304" pitchFamily="18" charset="0"/>
                    <a:ea typeface="宋体" panose="02010600030101010101" pitchFamily="2" charset="-122"/>
                    <a:cs typeface="Times New Roman" panose="02020603050405020304" pitchFamily="18" charset="0"/>
                    <a:sym typeface="+mn-ea"/>
                  </a:rPr>
                  <a:t>2</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p>
              <a:p>
                <a:pPr lvl="0" indent="0" algn="l" fontAlgn="ctr">
                  <a:lnSpc>
                    <a:spcPct val="130000"/>
                  </a:lnSpc>
                  <a:spcBef>
                    <a:spcPts val="1000"/>
                  </a:spcBef>
                  <a:spcAft>
                    <a:spcPts val="0"/>
                  </a:spcAft>
                  <a:buSzPct val="100000"/>
                  <a:buFont typeface="Arial" panose="020B0604020202020204" pitchFamily="34" charset="0"/>
                </a:pP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603050405020304" pitchFamily="18" charset="0"/>
                      </a:rPr>
                      <m:t>       ⇒</m:t>
                    </m:r>
                  </m:oMath>
                </a14:m>
                <a:r>
                  <a:rPr altLang="zh-CN" sz="2000">
                    <a:latin typeface="宋体" panose="02010600030101010101" pitchFamily="2" charset="-122"/>
                    <a:ea typeface="宋体" panose="02010600030101010101" pitchFamily="2" charset="-122"/>
                    <a:cs typeface="Times New Roman" panose="02020603050405020304" pitchFamily="18" charset="0"/>
                    <a:sym typeface="+mn-ea"/>
                  </a:rPr>
                  <a:t>甲得10000</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lang="zh-CN" altLang="el-GR"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altLang="zh-CN" sz="2000" baseline="30000">
                    <a:latin typeface="Times New Roman" panose="02020603050405020304" pitchFamily="18" charset="0"/>
                    <a:ea typeface="宋体" panose="02010600030101010101" pitchFamily="2" charset="-122"/>
                    <a:cs typeface="Times New Roman" panose="02020603050405020304" pitchFamily="18" charset="0"/>
                    <a:sym typeface="+mn-ea"/>
                  </a:rPr>
                  <a:t>2</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aseline="-25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乙得</a:t>
                </a:r>
                <a:r>
                  <a:rPr altLang="zh-CN" sz="2000">
                    <a:latin typeface="Times New Roman" panose="02020603050405020304" pitchFamily="18" charset="0"/>
                    <a:cs typeface="Times New Roman" panose="02020603050405020304" pitchFamily="18" charset="0"/>
                    <a:sym typeface="+mn-ea"/>
                  </a:rPr>
                  <a:t>10000</a:t>
                </a:r>
                <a:r>
                  <a:rPr altLang="zh-CN" sz="2000" i="1">
                    <a:latin typeface="Times New Roman" panose="02020603050405020304" pitchFamily="18" charset="0"/>
                    <a:cs typeface="Times New Roman" panose="02020603050405020304" pitchFamily="18" charset="0"/>
                    <a:sym typeface="+mn-ea"/>
                  </a:rPr>
                  <a:t>δ-δ</a:t>
                </a:r>
                <a:r>
                  <a:rPr altLang="zh-CN" sz="2000" baseline="30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3</a:t>
                </a:r>
              </a:p>
              <a:p>
                <a:pPr marL="285750" lvl="0" indent="-285750" algn="l" fontAlgn="ctr">
                  <a:lnSpc>
                    <a:spcPct val="130000"/>
                  </a:lnSpc>
                  <a:spcBef>
                    <a:spcPts val="1000"/>
                  </a:spcBef>
                  <a:spcAft>
                    <a:spcPts val="0"/>
                  </a:spcAft>
                  <a:buSzPct val="100000"/>
                  <a:buFont typeface="Arial" panose="020B0604020202020204" pitchFamily="34" charset="0"/>
                  <a:buChar char="•"/>
                </a:pP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子博弈完美纳什均衡：甲提出第一回合方案</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603050405020304" pitchFamily="18" charset="0"/>
                      </a:rPr>
                      <m:t> </m:t>
                    </m:r>
                  </m:oMath>
                </a14:m>
                <a:r>
                  <a:rPr altLang="zh-CN" sz="2000" i="1">
                    <a:latin typeface="Times New Roman" panose="02020603050405020304" pitchFamily="18" charset="0"/>
                    <a:cs typeface="Times New Roman" panose="02020603050405020304" pitchFamily="18" charset="0"/>
                    <a:sym typeface="+mn-ea"/>
                  </a:rPr>
                  <a:t>S</a:t>
                </a:r>
                <a:r>
                  <a:rPr altLang="zh-CN" sz="2000" baseline="-25000">
                    <a:latin typeface="Times New Roman" panose="02020603050405020304" pitchFamily="18" charset="0"/>
                    <a:cs typeface="Times New Roman" panose="02020603050405020304" pitchFamily="18" charset="0"/>
                    <a:sym typeface="+mn-ea"/>
                  </a:rPr>
                  <a:t>1</a:t>
                </a:r>
                <a:r>
                  <a:rPr altLang="zh-CN" sz="2000" baseline="30000">
                    <a:latin typeface="Times New Roman" panose="02020603050405020304" pitchFamily="18" charset="0"/>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a:latin typeface="宋体" panose="02010600030101010101" pitchFamily="2" charset="-122"/>
                    <a:ea typeface="宋体" panose="02010600030101010101" pitchFamily="2" charset="-122"/>
                    <a:cs typeface="Times New Roman" panose="02020603050405020304" pitchFamily="18" charset="0"/>
                    <a:sym typeface="+mn-ea"/>
                  </a:rPr>
                  <a:t>10000</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lang="zh-CN" altLang="el-GR"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altLang="zh-CN" sz="2000" baseline="30000">
                    <a:latin typeface="Times New Roman" panose="02020603050405020304" pitchFamily="18" charset="0"/>
                    <a:ea typeface="宋体" panose="02010600030101010101" pitchFamily="2" charset="-122"/>
                    <a:cs typeface="Times New Roman" panose="02020603050405020304" pitchFamily="18" charset="0"/>
                    <a:sym typeface="+mn-ea"/>
                  </a:rPr>
                  <a:t>2</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，乙接受，双方得益</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宋体" panose="02010600030101010101" pitchFamily="2" charset="-122"/>
                    <a:ea typeface="宋体" panose="02010600030101010101" pitchFamily="2" charset="-122"/>
                    <a:cs typeface="Times New Roman" panose="02020603050405020304" pitchFamily="18" charset="0"/>
                    <a:sym typeface="+mn-ea"/>
                  </a:rPr>
                  <a:t>10000</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lang="zh-CN" altLang="el-GR" sz="2000">
                    <a:latin typeface="宋体" panose="02010600030101010101" pitchFamily="2" charset="-122"/>
                    <a:ea typeface="宋体" panose="02010600030101010101" pitchFamily="2" charset="-122"/>
                    <a:cs typeface="Times New Roman" panose="02020603050405020304" pitchFamily="18" charset="0"/>
                    <a:sym typeface="+mn-ea"/>
                  </a:rPr>
                  <a:t>＋</a:t>
                </a: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altLang="zh-CN" sz="2000" baseline="30000">
                    <a:latin typeface="Times New Roman" panose="02020603050405020304" pitchFamily="18" charset="0"/>
                    <a:ea typeface="宋体" panose="02010600030101010101" pitchFamily="2" charset="-122"/>
                    <a:cs typeface="Times New Roman" panose="02020603050405020304" pitchFamily="18" charset="0"/>
                    <a:sym typeface="+mn-ea"/>
                  </a:rPr>
                  <a:t>2</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10000(</a:t>
                </a:r>
                <a:r>
                  <a:rPr altLang="zh-CN" sz="2000" i="1">
                    <a:latin typeface="Times New Roman" panose="02020603050405020304" pitchFamily="18" charset="0"/>
                    <a:cs typeface="Times New Roman" panose="02020603050405020304" pitchFamily="18" charset="0"/>
                    <a:sym typeface="+mn-ea"/>
                  </a:rPr>
                  <a:t>δ-δ</a:t>
                </a:r>
                <a:r>
                  <a:rPr altLang="zh-CN" sz="2000" baseline="30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p>
              <a:p>
                <a:pPr marL="285750" lvl="0" indent="-285750" algn="l" fontAlgn="ctr">
                  <a:lnSpc>
                    <a:spcPct val="130000"/>
                  </a:lnSpc>
                  <a:spcBef>
                    <a:spcPts val="1000"/>
                  </a:spcBef>
                  <a:spcAft>
                    <a:spcPts val="0"/>
                  </a:spcAft>
                  <a:buSzPct val="100000"/>
                  <a:buFont typeface="Arial" panose="020B0604020202020204" pitchFamily="34" charset="0"/>
                  <a:buChar char="•"/>
                </a:pPr>
                <a:r>
                  <a:rPr lang="el-GR" altLang="zh-CN" sz="2000" i="1">
                    <a:latin typeface="Times New Roman" panose="02020603050405020304" pitchFamily="18" charset="0"/>
                    <a:ea typeface="宋体" panose="02010600030101010101" pitchFamily="2" charset="-122"/>
                    <a:cs typeface="Times New Roman" panose="02020603050405020304" pitchFamily="18" charset="0"/>
                    <a:sym typeface="+mn-ea"/>
                  </a:rPr>
                  <a:t>δ</a:t>
                </a:r>
                <a:r>
                  <a:rPr altLang="zh-CN" sz="2000" i="1" baseline="-25000">
                    <a:latin typeface="Times New Roman" panose="02020603050405020304" pitchFamily="18" charset="0"/>
                    <a:ea typeface="宋体" panose="02010600030101010101" pitchFamily="2" charset="-122"/>
                    <a:cs typeface="Times New Roman" panose="02020603050405020304" pitchFamily="18" charset="0"/>
                    <a:sym typeface="+mn-ea"/>
                  </a:rPr>
                  <a:t>min</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0.5</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i="1" baseline="30000">
                    <a:latin typeface="Times New Roman" panose="02020603050405020304" pitchFamily="18" charset="0"/>
                    <a:cs typeface="Times New Roman" panose="02020603050405020304" pitchFamily="18" charset="0"/>
                    <a:sym typeface="+mn-ea"/>
                  </a:rPr>
                  <a:t>*</a:t>
                </a:r>
                <a:r>
                  <a:rPr altLang="zh-CN" sz="2000" baseline="-25000">
                    <a:latin typeface="Times New Roman" panose="02020603050405020304" pitchFamily="18" charset="0"/>
                    <a:cs typeface="Times New Roman" panose="02020603050405020304" pitchFamily="18" charset="0"/>
                    <a:sym typeface="+mn-ea"/>
                  </a:rPr>
                  <a:t>1</a:t>
                </a:r>
                <a:r>
                  <a:rPr altLang="zh-CN" sz="2000" i="1" baseline="-25000">
                    <a:latin typeface="Times New Roman" panose="02020603050405020304" pitchFamily="18" charset="0"/>
                    <a:cs typeface="Times New Roman" panose="02020603050405020304" pitchFamily="18" charset="0"/>
                    <a:sym typeface="+mn-ea"/>
                  </a:rPr>
                  <a:t>min</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7500</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mc:Choice>
        <mc:Fallback xmlns="">
          <p:sp>
            <p:nvSpPr>
              <p:cNvPr id="14" name="Title 6"/>
              <p:cNvSpPr txBox="1">
                <a:spLocks noRot="1" noChangeAspect="1" noMove="1" noResize="1" noEditPoints="1" noAdjustHandles="1" noChangeArrowheads="1" noChangeShapeType="1" noTextEdit="1"/>
              </p:cNvSpPr>
              <p:nvPr>
                <p:custDataLst>
                  <p:tags r:id="rId8"/>
                </p:custDataLst>
              </p:nvPr>
            </p:nvSpPr>
            <p:spPr>
              <a:xfrm>
                <a:off x="2132330" y="1761490"/>
                <a:ext cx="9385935" cy="4097655"/>
              </a:xfrm>
              <a:prstGeom prst="rect">
                <a:avLst/>
              </a:prstGeom>
              <a:blipFill rotWithShape="1">
                <a:blip r:embed="rId9"/>
                <a:stretch>
                  <a:fillRect t="-11359" b="-11375"/>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51815" y="161925"/>
            <a:ext cx="11201400" cy="762000"/>
            <a:chOff x="840" y="240"/>
            <a:chExt cx="17640" cy="1200"/>
          </a:xfrm>
        </p:grpSpPr>
        <p:sp>
          <p:nvSpPr>
            <p:cNvPr id="2"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三回合讨价还价博弈</a:t>
              </a:r>
            </a:p>
          </p:txBody>
        </p:sp>
        <p:cxnSp>
          <p:nvCxnSpPr>
            <p:cNvPr id="4" name="直接连接符 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lstStyle/>
          <a:p>
            <a:fld id="{49AE70B2-8BF9-45C0-BB95-33D1B9D3A854}" type="slidenum">
              <a:rPr lang="zh-CN" altLang="en-US" smtClean="0"/>
              <a:t>31</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4" name="Title 6"/>
          <p:cNvSpPr txBox="1"/>
          <p:nvPr>
            <p:custDataLst>
              <p:tags r:id="rId2"/>
            </p:custDataLst>
          </p:nvPr>
        </p:nvSpPr>
        <p:spPr>
          <a:xfrm>
            <a:off x="695960" y="621030"/>
            <a:ext cx="10261600" cy="334010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Wingdings" panose="05000000000000000000" charset="0"/>
              <a:buChar char="l"/>
            </a:pPr>
            <a:r>
              <a:rPr altLang="zh-CN" sz="2000" b="1">
                <a:latin typeface="Times New Roman" panose="02020603050405020304" pitchFamily="18" charset="0"/>
                <a:cs typeface="Times New Roman" panose="02020603050405020304" pitchFamily="18" charset="0"/>
                <a:sym typeface="+mn-ea"/>
              </a:rPr>
              <a:t>委托人——代理人关系</a:t>
            </a:r>
          </a:p>
          <a:p>
            <a:pPr marL="285750" lvl="0" indent="-285750" algn="just" fontAlgn="ctr">
              <a:lnSpc>
                <a:spcPct val="130000"/>
              </a:lnSpc>
              <a:spcBef>
                <a:spcPts val="1000"/>
              </a:spcBef>
              <a:spcAft>
                <a:spcPts val="0"/>
              </a:spcAft>
              <a:buSzPct val="100000"/>
              <a:buFont typeface="Arial" panose="020B0604020202020204" pitchFamily="34" charset="0"/>
              <a:buChar char="•"/>
            </a:pPr>
            <a:r>
              <a:rPr altLang="zh-CN" sz="2000">
                <a:latin typeface="Times New Roman" panose="02020603050405020304" pitchFamily="18" charset="0"/>
                <a:cs typeface="Times New Roman" panose="02020603050405020304" pitchFamily="18" charset="0"/>
                <a:sym typeface="+mn-ea"/>
              </a:rPr>
              <a:t>经济活动和社会活动中有很多委托人一代理人关系，有明显的，也有隐蔽的。工厂和工人、店主和店员、客户和律师、市民和政府、基金购买者和基金管理人等都是。</a:t>
            </a:r>
          </a:p>
          <a:p>
            <a:pPr marL="285750" lvl="0" indent="-285750" algn="just" fontAlgn="ctr">
              <a:lnSpc>
                <a:spcPct val="130000"/>
              </a:lnSpc>
              <a:spcBef>
                <a:spcPts val="1000"/>
              </a:spcBef>
              <a:spcAft>
                <a:spcPts val="0"/>
              </a:spcAft>
              <a:buSzPct val="100000"/>
              <a:buFont typeface="Arial" panose="020B0604020202020204" pitchFamily="34" charset="0"/>
              <a:buChar char="•"/>
            </a:pPr>
            <a:r>
              <a:rPr altLang="zh-CN" sz="2000">
                <a:solidFill>
                  <a:srgbClr val="FF0000"/>
                </a:solidFill>
                <a:latin typeface="Times New Roman" panose="02020603050405020304" pitchFamily="18" charset="0"/>
                <a:cs typeface="Times New Roman" panose="02020603050405020304" pitchFamily="18" charset="0"/>
                <a:sym typeface="+mn-ea"/>
              </a:rPr>
              <a:t>委托人一代理人关系的关键特征：</a:t>
            </a:r>
            <a:r>
              <a:rPr lang="zh-CN" altLang="en-US" sz="2000">
                <a:latin typeface="Times New Roman" panose="02020603050405020304" pitchFamily="18" charset="0"/>
                <a:cs typeface="Times New Roman" panose="02020603050405020304" pitchFamily="18" charset="0"/>
                <a:sym typeface="+mn-ea"/>
              </a:rPr>
              <a:t>委托人的利益与代理人的行为相关；委托人不能直接控制代理人的行为；</a:t>
            </a:r>
            <a:r>
              <a:rPr altLang="zh-CN" sz="2000">
                <a:latin typeface="Times New Roman" panose="02020603050405020304" pitchFamily="18" charset="0"/>
                <a:cs typeface="Times New Roman" panose="02020603050405020304" pitchFamily="18" charset="0"/>
                <a:sym typeface="+mn-ea"/>
              </a:rPr>
              <a:t>监督</a:t>
            </a:r>
            <a:r>
              <a:rPr lang="zh-CN" altLang="en-US" sz="2000">
                <a:latin typeface="Times New Roman" panose="02020603050405020304" pitchFamily="18" charset="0"/>
                <a:cs typeface="Times New Roman" panose="02020603050405020304" pitchFamily="18" charset="0"/>
                <a:sym typeface="+mn-ea"/>
              </a:rPr>
              <a:t>困难；</a:t>
            </a:r>
            <a:r>
              <a:rPr altLang="zh-CN" sz="2000">
                <a:latin typeface="Times New Roman" panose="02020603050405020304" pitchFamily="18" charset="0"/>
                <a:cs typeface="Times New Roman" panose="02020603050405020304" pitchFamily="18" charset="0"/>
                <a:sym typeface="+mn-ea"/>
              </a:rPr>
              <a:t>信息不完全</a:t>
            </a:r>
            <a:r>
              <a:rPr lang="zh-CN" altLang="en-US" sz="2000">
                <a:latin typeface="Times New Roman" panose="02020603050405020304" pitchFamily="18" charset="0"/>
                <a:cs typeface="Times New Roman" panose="02020603050405020304" pitchFamily="18" charset="0"/>
                <a:sym typeface="+mn-ea"/>
              </a:rPr>
              <a:t>；</a:t>
            </a:r>
            <a:r>
              <a:rPr lang="zh-CN" altLang="en-US" sz="2000">
                <a:sym typeface="+mn-ea"/>
              </a:rPr>
              <a:t>代理人工作成果的确定性问题。</a:t>
            </a:r>
            <a:endParaRPr lang="zh-CN" altLang="en-US" sz="2000">
              <a:latin typeface="Times New Roman" panose="02020603050405020304" pitchFamily="18" charset="0"/>
              <a:cs typeface="Times New Roman" panose="02020603050405020304" pitchFamily="18" charset="0"/>
              <a:sym typeface="+mn-ea"/>
            </a:endParaRPr>
          </a:p>
          <a:p>
            <a:pPr marL="285750" lvl="0" indent="-285750" algn="just" fontAlgn="ctr">
              <a:lnSpc>
                <a:spcPct val="130000"/>
              </a:lnSpc>
              <a:spcBef>
                <a:spcPts val="1000"/>
              </a:spcBef>
              <a:spcAft>
                <a:spcPts val="0"/>
              </a:spcAft>
              <a:buSzPct val="100000"/>
              <a:buFont typeface="Arial" panose="020B0604020202020204" pitchFamily="34" charset="0"/>
              <a:buChar char="•"/>
            </a:pPr>
            <a:r>
              <a:rPr altLang="zh-CN" sz="2000">
                <a:solidFill>
                  <a:srgbClr val="FF0000"/>
                </a:solidFill>
                <a:latin typeface="Times New Roman" panose="02020603050405020304" pitchFamily="18" charset="0"/>
                <a:cs typeface="Times New Roman" panose="02020603050405020304" pitchFamily="18" charset="0"/>
                <a:sym typeface="+mn-ea"/>
              </a:rPr>
              <a:t>委托人一代理人涉及问题：</a:t>
            </a:r>
            <a:r>
              <a:rPr altLang="zh-CN" sz="2000">
                <a:latin typeface="Times New Roman" panose="02020603050405020304" pitchFamily="18" charset="0"/>
                <a:cs typeface="Times New Roman" panose="02020603050405020304" pitchFamily="18" charset="0"/>
                <a:sym typeface="+mn-ea"/>
              </a:rPr>
              <a:t>激励机制设计、机制设计理论，委托合同设计问题等</a:t>
            </a:r>
            <a:r>
              <a:rPr lang="zh-CN" altLang="en-US"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 </a:t>
            </a:r>
            <a:endParaRPr lang="zh-CN" altLang="en-US" sz="2000" spc="100" dirty="0">
              <a:ln w="3175">
                <a:noFill/>
                <a:prstDash val="dash"/>
              </a:ln>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51815" y="161925"/>
            <a:ext cx="11201400" cy="762000"/>
            <a:chOff x="840" y="240"/>
            <a:chExt cx="17640" cy="1200"/>
          </a:xfrm>
        </p:grpSpPr>
        <p:sp>
          <p:nvSpPr>
            <p:cNvPr id="2"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无不确定性的委托—代理模型</a:t>
              </a:r>
            </a:p>
          </p:txBody>
        </p:sp>
        <p:cxnSp>
          <p:nvCxnSpPr>
            <p:cNvPr id="4" name="直接连接符 3"/>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lstStyle/>
          <a:p>
            <a:fld id="{49AE70B2-8BF9-45C0-BB95-33D1B9D3A854}" type="slidenum">
              <a:rPr lang="zh-CN" altLang="en-US" smtClean="0"/>
              <a:t>32</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8" name="Title 6"/>
          <p:cNvSpPr txBox="1"/>
          <p:nvPr>
            <p:custDataLst>
              <p:tags r:id="rId2"/>
            </p:custDataLst>
          </p:nvPr>
        </p:nvSpPr>
        <p:spPr>
          <a:xfrm>
            <a:off x="6744335" y="2421255"/>
            <a:ext cx="4866640" cy="4217035"/>
          </a:xfrm>
          <a:prstGeom prst="rect">
            <a:avLst/>
          </a:prstGeom>
          <a:noFill/>
          <a:ln w="3175">
            <a:noFill/>
            <a:prstDash val="dash"/>
          </a:ln>
        </p:spPr>
        <p:txBody>
          <a:bodyPr wrap="square" lIns="63500" tIns="25400" rIns="63500" bIns="25400" anchor="ctr" anchorCtr="0">
            <a:normAutofit fontScale="975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ü"/>
            </a:pP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R(0)：</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没有代理人时委托人的利益</a:t>
            </a:r>
          </a:p>
          <a:p>
            <a:pPr marL="285750" lvl="0" indent="-285750" algn="l" fontAlgn="ctr">
              <a:lnSpc>
                <a:spcPct val="130000"/>
              </a:lnSpc>
              <a:spcBef>
                <a:spcPts val="1000"/>
              </a:spcBef>
              <a:spcAft>
                <a:spcPts val="0"/>
              </a:spcAft>
              <a:buSzPct val="100000"/>
              <a:buFont typeface="Wingdings" panose="05000000000000000000" charset="0"/>
              <a:buChar char="ü"/>
            </a:pP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R(E)：</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代理人努力时委托人的利益</a:t>
            </a:r>
          </a:p>
          <a:p>
            <a:pPr marL="285750" lvl="0" indent="-285750" algn="l" fontAlgn="ctr">
              <a:lnSpc>
                <a:spcPct val="130000"/>
              </a:lnSpc>
              <a:spcBef>
                <a:spcPts val="1000"/>
              </a:spcBef>
              <a:spcAft>
                <a:spcPts val="0"/>
              </a:spcAft>
              <a:buSzPct val="100000"/>
              <a:buFont typeface="Wingdings" panose="05000000000000000000" charset="0"/>
              <a:buChar char="ü"/>
            </a:pPr>
            <a:r>
              <a:rPr altLang="zh-CN" sz="2000" b="1" i="1">
                <a:latin typeface="Times New Roman" panose="02020603050405020304" pitchFamily="18" charset="0"/>
                <a:ea typeface="宋体" panose="02010600030101010101" pitchFamily="2" charset="-122"/>
                <a:cs typeface="Times New Roman" panose="02020603050405020304" pitchFamily="18" charset="0"/>
                <a:sym typeface="+mn-ea"/>
              </a:rPr>
              <a:t>w</a:t>
            </a: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代理人努力时委托人付给代理人的报酬</a:t>
            </a:r>
          </a:p>
          <a:p>
            <a:pPr marL="285750" lvl="0" indent="-285750" algn="l" fontAlgn="ctr">
              <a:lnSpc>
                <a:spcPct val="130000"/>
              </a:lnSpc>
              <a:spcBef>
                <a:spcPts val="1000"/>
              </a:spcBef>
              <a:spcAft>
                <a:spcPts val="0"/>
              </a:spcAft>
              <a:buSzPct val="100000"/>
              <a:buFont typeface="Wingdings" panose="05000000000000000000" charset="0"/>
              <a:buChar char="ü"/>
            </a:pP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a:t>
            </a: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代理人努力时付出的成本</a:t>
            </a:r>
          </a:p>
          <a:p>
            <a:pPr marL="285750" lvl="0" indent="-285750" algn="l" fontAlgn="ctr">
              <a:lnSpc>
                <a:spcPct val="130000"/>
              </a:lnSpc>
              <a:spcBef>
                <a:spcPts val="1000"/>
              </a:spcBef>
              <a:spcAft>
                <a:spcPts val="0"/>
              </a:spcAft>
              <a:buSzPct val="100000"/>
              <a:buFont typeface="Wingdings" panose="05000000000000000000" charset="0"/>
              <a:buChar char="ü"/>
            </a:pP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R(S)</a:t>
            </a: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代理人偷懒时委托人的利益</a:t>
            </a:r>
          </a:p>
          <a:p>
            <a:pPr marL="285750" lvl="0" indent="-285750" algn="l" fontAlgn="ctr">
              <a:lnSpc>
                <a:spcPct val="130000"/>
              </a:lnSpc>
              <a:spcBef>
                <a:spcPts val="1000"/>
              </a:spcBef>
              <a:spcAft>
                <a:spcPts val="0"/>
              </a:spcAft>
              <a:buSzPct val="100000"/>
              <a:buFont typeface="Wingdings" panose="05000000000000000000" charset="0"/>
              <a:buChar char="ü"/>
            </a:pPr>
            <a:r>
              <a:rPr altLang="zh-CN" sz="2000" b="1" i="1">
                <a:latin typeface="Times New Roman" panose="02020603050405020304" pitchFamily="18" charset="0"/>
                <a:ea typeface="宋体" panose="02010600030101010101" pitchFamily="2" charset="-122"/>
                <a:cs typeface="Times New Roman" panose="02020603050405020304" pitchFamily="18" charset="0"/>
                <a:sym typeface="+mn-ea"/>
              </a:rPr>
              <a:t>w</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代理人偷懒时委托人付给代理人的报酬</a:t>
            </a:r>
          </a:p>
          <a:p>
            <a:pPr marL="285750" lvl="0" indent="-285750" algn="l" fontAlgn="ctr">
              <a:lnSpc>
                <a:spcPct val="130000"/>
              </a:lnSpc>
              <a:spcBef>
                <a:spcPts val="1000"/>
              </a:spcBef>
              <a:spcAft>
                <a:spcPts val="0"/>
              </a:spcAft>
              <a:buSzPct val="100000"/>
              <a:buFont typeface="Wingdings" panose="05000000000000000000" charset="0"/>
              <a:buChar char="ü"/>
            </a:pP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S</a:t>
            </a: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代理人偷懒时付出的成本</a:t>
            </a:r>
          </a:p>
          <a:p>
            <a:pPr marL="285750" lvl="1" indent="0" algn="l" fontAlgn="ctr">
              <a:lnSpc>
                <a:spcPct val="130000"/>
              </a:lnSpc>
              <a:spcBef>
                <a:spcPts val="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pic>
        <p:nvPicPr>
          <p:cNvPr id="5" name="图片 4"/>
          <p:cNvPicPr>
            <a:picLocks noChangeAspect="1"/>
          </p:cNvPicPr>
          <p:nvPr/>
        </p:nvPicPr>
        <p:blipFill rotWithShape="1">
          <a:blip r:embed="rId7"/>
          <a:srcRect l="12936"/>
          <a:stretch>
            <a:fillRect/>
          </a:stretch>
        </p:blipFill>
        <p:spPr>
          <a:xfrm>
            <a:off x="624205" y="2277110"/>
            <a:ext cx="5638800" cy="3968115"/>
          </a:xfrm>
          <a:prstGeom prst="rect">
            <a:avLst/>
          </a:prstGeom>
        </p:spPr>
      </p:pic>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33</a:t>
            </a:fld>
            <a:endParaRPr lang="zh-CN" altLang="en-US"/>
          </a:p>
        </p:txBody>
      </p:sp>
      <p:grpSp>
        <p:nvGrpSpPr>
          <p:cNvPr id="3" name="组合 2"/>
          <p:cNvGrpSpPr/>
          <p:nvPr/>
        </p:nvGrpSpPr>
        <p:grpSpPr>
          <a:xfrm>
            <a:off x="551815" y="161925"/>
            <a:ext cx="11201400" cy="762000"/>
            <a:chOff x="840" y="240"/>
            <a:chExt cx="17640" cy="1200"/>
          </a:xfrm>
        </p:grpSpPr>
        <p:sp>
          <p:nvSpPr>
            <p:cNvPr id="4"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无不确定性的委托—代理模型</a:t>
              </a:r>
            </a:p>
          </p:txBody>
        </p:sp>
        <p:cxnSp>
          <p:nvCxnSpPr>
            <p:cNvPr id="7" name="直接连接符 6"/>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Title 6"/>
          <p:cNvSpPr txBox="1"/>
          <p:nvPr>
            <p:custDataLst>
              <p:tags r:id="rId3"/>
            </p:custDataLst>
          </p:nvPr>
        </p:nvSpPr>
        <p:spPr>
          <a:xfrm>
            <a:off x="695960" y="771525"/>
            <a:ext cx="10261600" cy="141922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Wingdings" panose="05000000000000000000" charset="0"/>
              <a:buChar char="l"/>
            </a:pPr>
            <a:r>
              <a:rPr lang="zh-CN" altLang="en-US" sz="2000" b="1">
                <a:latin typeface="Times New Roman" panose="02020603050405020304" pitchFamily="18" charset="0"/>
                <a:cs typeface="Times New Roman" panose="02020603050405020304" pitchFamily="18" charset="0"/>
                <a:sym typeface="+mn-ea"/>
              </a:rPr>
              <a:t>模型假设</a:t>
            </a: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latin typeface="Times New Roman" panose="02020603050405020304" pitchFamily="18" charset="0"/>
                <a:cs typeface="Times New Roman" panose="02020603050405020304" pitchFamily="18" charset="0"/>
                <a:sym typeface="+mn-ea"/>
              </a:rPr>
              <a:t>代理人的工作成果没有不确定性，代理人的产出是努力程度的确定性函数，委托人可以根据成果掌握代理人的工作情况。</a:t>
            </a:r>
            <a:endParaRPr altLang="zh-CN" sz="2000">
              <a:latin typeface="Times New Roman" panose="02020603050405020304" pitchFamily="18" charset="0"/>
              <a:cs typeface="Times New Roman" panose="02020603050405020304" pitchFamily="18" charset="0"/>
              <a:sym typeface="+mn-ea"/>
            </a:endParaRPr>
          </a:p>
          <a:p>
            <a:pPr lvl="0" indent="0" algn="just" fontAlgn="ctr">
              <a:lnSpc>
                <a:spcPct val="130000"/>
              </a:lnSpc>
              <a:spcBef>
                <a:spcPts val="1000"/>
              </a:spcBef>
              <a:spcAft>
                <a:spcPts val="0"/>
              </a:spcAft>
              <a:buSzPct val="100000"/>
              <a:buFont typeface="Arial" panose="020B0604020202020204" pitchFamily="34" charset="0"/>
            </a:pPr>
            <a:endParaRPr lang="zh-CN" altLang="en-US" sz="2000" spc="100" dirty="0">
              <a:ln w="3175">
                <a:noFill/>
                <a:prstDash val="dash"/>
              </a:ln>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8" name="Title 6"/>
          <p:cNvSpPr txBox="1"/>
          <p:nvPr>
            <p:custDataLst>
              <p:tags r:id="rId2"/>
            </p:custDataLst>
          </p:nvPr>
        </p:nvSpPr>
        <p:spPr>
          <a:xfrm>
            <a:off x="912495" y="923925"/>
            <a:ext cx="5640070" cy="40055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代理人的选择（第三阶段）：激励相容约束</a:t>
            </a:r>
          </a:p>
          <a:p>
            <a:pPr marL="285750" lvl="0" indent="-285750" algn="l"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代理人努力</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w</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w</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代理人偷懒</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tx1"/>
                </a:solidFill>
                <a:latin typeface="Times New Roman" panose="02020603050405020304" pitchFamily="18" charset="0"/>
                <a:cs typeface="Times New Roman" panose="02020603050405020304" pitchFamily="18" charset="0"/>
                <a:sym typeface="+mn-ea"/>
              </a:rPr>
              <a:t>w</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4"/>
          <p:cNvPicPr>
            <a:picLocks noChangeAspect="1"/>
          </p:cNvPicPr>
          <p:nvPr/>
        </p:nvPicPr>
        <p:blipFill rotWithShape="1">
          <a:blip r:embed="rId7"/>
          <a:srcRect l="12936"/>
          <a:stretch>
            <a:fillRect/>
          </a:stretch>
        </p:blipFill>
        <p:spPr>
          <a:xfrm>
            <a:off x="6384290" y="1701165"/>
            <a:ext cx="5638800" cy="3968115"/>
          </a:xfrm>
          <a:prstGeom prst="rect">
            <a:avLst/>
          </a:prstGeom>
        </p:spPr>
      </p:pic>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34</a:t>
            </a:fld>
            <a:endParaRPr lang="zh-CN" altLang="en-US"/>
          </a:p>
        </p:txBody>
      </p:sp>
      <p:grpSp>
        <p:nvGrpSpPr>
          <p:cNvPr id="3" name="组合 2"/>
          <p:cNvGrpSpPr/>
          <p:nvPr/>
        </p:nvGrpSpPr>
        <p:grpSpPr>
          <a:xfrm>
            <a:off x="551815" y="161925"/>
            <a:ext cx="11201400" cy="762000"/>
            <a:chOff x="840" y="240"/>
            <a:chExt cx="17640" cy="1200"/>
          </a:xfrm>
        </p:grpSpPr>
        <p:sp>
          <p:nvSpPr>
            <p:cNvPr id="4"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无不确定性的委托—代理模型</a:t>
              </a:r>
            </a:p>
          </p:txBody>
        </p:sp>
        <p:cxnSp>
          <p:nvCxnSpPr>
            <p:cNvPr id="7" name="直接连接符 6"/>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8" name="Title 6"/>
          <p:cNvSpPr txBox="1"/>
          <p:nvPr>
            <p:custDataLst>
              <p:tags r:id="rId2"/>
            </p:custDataLst>
          </p:nvPr>
        </p:nvSpPr>
        <p:spPr>
          <a:xfrm>
            <a:off x="911860" y="771525"/>
            <a:ext cx="6631940" cy="871855"/>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代理人的选择（第二阶段）：参与约束</a:t>
            </a: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35</a:t>
            </a:fld>
            <a:endParaRPr lang="zh-CN" altLang="en-US"/>
          </a:p>
        </p:txBody>
      </p:sp>
      <p:grpSp>
        <p:nvGrpSpPr>
          <p:cNvPr id="3" name="组合 2"/>
          <p:cNvGrpSpPr/>
          <p:nvPr/>
        </p:nvGrpSpPr>
        <p:grpSpPr>
          <a:xfrm>
            <a:off x="551815" y="161925"/>
            <a:ext cx="11201400" cy="762000"/>
            <a:chOff x="840" y="240"/>
            <a:chExt cx="17640" cy="1200"/>
          </a:xfrm>
        </p:grpSpPr>
        <p:sp>
          <p:nvSpPr>
            <p:cNvPr id="4" name="文本框 6"/>
            <p:cNvSpPr txBox="1"/>
            <p:nvPr>
              <p:custDataLst>
                <p:tags r:id="rId5"/>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无不确定性的委托—代理模型</a:t>
              </a:r>
            </a:p>
          </p:txBody>
        </p:sp>
        <p:cxnSp>
          <p:nvCxnSpPr>
            <p:cNvPr id="7" name="直接连接符 6"/>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 name="Title 6"/>
          <p:cNvSpPr txBox="1"/>
          <p:nvPr>
            <p:custDataLst>
              <p:tags r:id="rId3"/>
            </p:custDataLst>
          </p:nvPr>
        </p:nvSpPr>
        <p:spPr>
          <a:xfrm>
            <a:off x="2947670" y="4364990"/>
            <a:ext cx="1856740" cy="783590"/>
          </a:xfrm>
          <a:prstGeom prst="rect">
            <a:avLst/>
          </a:prstGeom>
          <a:noFill/>
          <a:ln w="25400">
            <a:solidFill>
              <a:schemeClr val="accent1"/>
            </a:solid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0</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Title 6"/>
          <p:cNvSpPr txBox="1"/>
          <p:nvPr>
            <p:custDataLst>
              <p:tags r:id="rId4"/>
            </p:custDataLst>
          </p:nvPr>
        </p:nvSpPr>
        <p:spPr>
          <a:xfrm>
            <a:off x="7752080" y="4373880"/>
            <a:ext cx="1910715" cy="784860"/>
          </a:xfrm>
          <a:prstGeom prst="rect">
            <a:avLst/>
          </a:prstGeom>
          <a:noFill/>
          <a:ln w="25400">
            <a:solidFill>
              <a:schemeClr val="accent1"/>
            </a:solid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628650" lvl="1"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tx1"/>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0</a:t>
            </a:r>
            <a:endParaRPr lang="zh-CN" altLang="en-US" sz="2000" spc="100" dirty="0">
              <a:ln w="3175">
                <a:noFill/>
                <a:prstDash val="dash"/>
              </a:ln>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cxnSp>
        <p:nvCxnSpPr>
          <p:cNvPr id="12" name="直接箭头连接符 11"/>
          <p:cNvCxnSpPr/>
          <p:nvPr/>
        </p:nvCxnSpPr>
        <p:spPr>
          <a:xfrm flipH="1" flipV="1">
            <a:off x="4079875" y="5228590"/>
            <a:ext cx="935990" cy="50419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7319645" y="5228590"/>
            <a:ext cx="1080135" cy="50419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4944110" y="5445125"/>
            <a:ext cx="2519680" cy="1295400"/>
            <a:chOff x="7672" y="8575"/>
            <a:chExt cx="3968" cy="2040"/>
          </a:xfrm>
        </p:grpSpPr>
        <p:sp>
          <p:nvSpPr>
            <p:cNvPr id="14" name="爆炸形 1 13"/>
            <p:cNvSpPr/>
            <p:nvPr/>
          </p:nvSpPr>
          <p:spPr>
            <a:xfrm>
              <a:off x="7672" y="8575"/>
              <a:ext cx="3968" cy="2041"/>
            </a:xfrm>
            <a:prstGeom prst="irregularSeal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798" y="9185"/>
              <a:ext cx="1936" cy="628"/>
            </a:xfrm>
            <a:prstGeom prst="rect">
              <a:avLst/>
            </a:prstGeom>
            <a:noFill/>
          </p:spPr>
          <p:txBody>
            <a:bodyPr wrap="square" rtlCol="0">
              <a:spAutoFit/>
            </a:bodyPr>
            <a:lstStyle/>
            <a:p>
              <a:r>
                <a:rPr lang="zh-CN" altLang="en-US" sz="2000" b="1"/>
                <a:t>参与约束</a:t>
              </a:r>
            </a:p>
          </p:txBody>
        </p:sp>
      </p:grpSp>
      <p:grpSp>
        <p:nvGrpSpPr>
          <p:cNvPr id="27" name="组合 26"/>
          <p:cNvGrpSpPr/>
          <p:nvPr/>
        </p:nvGrpSpPr>
        <p:grpSpPr>
          <a:xfrm>
            <a:off x="1991995" y="2060575"/>
            <a:ext cx="3842385" cy="1982470"/>
            <a:chOff x="0" y="3132"/>
            <a:chExt cx="6051" cy="3122"/>
          </a:xfrm>
        </p:grpSpPr>
        <p:sp>
          <p:nvSpPr>
            <p:cNvPr id="22" name="文本框 21"/>
            <p:cNvSpPr txBox="1"/>
            <p:nvPr/>
          </p:nvSpPr>
          <p:spPr>
            <a:xfrm>
              <a:off x="0" y="5626"/>
              <a:ext cx="3718"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p>
          </p:txBody>
        </p:sp>
        <p:sp>
          <p:nvSpPr>
            <p:cNvPr id="23" name="文本框 22"/>
            <p:cNvSpPr txBox="1"/>
            <p:nvPr/>
          </p:nvSpPr>
          <p:spPr>
            <a:xfrm>
              <a:off x="4044" y="5626"/>
              <a:ext cx="2007"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0</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0</a:t>
              </a:r>
              <a:r>
                <a:rPr lang="en-US" altLang="zh-CN"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a:t>
              </a:r>
            </a:p>
          </p:txBody>
        </p:sp>
        <p:grpSp>
          <p:nvGrpSpPr>
            <p:cNvPr id="26" name="组合 25"/>
            <p:cNvGrpSpPr/>
            <p:nvPr/>
          </p:nvGrpSpPr>
          <p:grpSpPr>
            <a:xfrm>
              <a:off x="756" y="3132"/>
              <a:ext cx="4577" cy="2268"/>
              <a:chOff x="756" y="3132"/>
              <a:chExt cx="4577" cy="2268"/>
            </a:xfrm>
          </p:grpSpPr>
          <p:sp>
            <p:nvSpPr>
              <p:cNvPr id="17" name="椭圆 16"/>
              <p:cNvSpPr/>
              <p:nvPr/>
            </p:nvSpPr>
            <p:spPr>
              <a:xfrm>
                <a:off x="2230" y="3132"/>
                <a:ext cx="1311" cy="794"/>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pitchFamily="18" charset="0"/>
                    <a:cs typeface="Times New Roman" panose="02020603050405020304" pitchFamily="18" charset="0"/>
                  </a:rPr>
                  <a:t>2</a:t>
                </a:r>
              </a:p>
            </p:txBody>
          </p:sp>
          <p:cxnSp>
            <p:nvCxnSpPr>
              <p:cNvPr id="19" name="直接连接符 18"/>
              <p:cNvCxnSpPr/>
              <p:nvPr/>
            </p:nvCxnSpPr>
            <p:spPr>
              <a:xfrm flipH="1">
                <a:off x="1436" y="3813"/>
                <a:ext cx="1021"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364" y="3812"/>
                <a:ext cx="1134"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1323" y="5173"/>
                <a:ext cx="227" cy="227"/>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4415" y="5173"/>
                <a:ext cx="227" cy="2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756" y="4039"/>
                <a:ext cx="1516" cy="580"/>
              </a:xfrm>
              <a:prstGeom prst="rect">
                <a:avLst/>
              </a:prstGeom>
              <a:noFill/>
            </p:spPr>
            <p:txBody>
              <a:bodyPr wrap="square" rtlCol="0">
                <a:spAutoFit/>
              </a:bodyPr>
              <a:lstStyle/>
              <a:p>
                <a:r>
                  <a:rPr lang="zh-CN" altLang="en-US"/>
                  <a:t>接受</a:t>
                </a:r>
              </a:p>
            </p:txBody>
          </p:sp>
          <p:sp>
            <p:nvSpPr>
              <p:cNvPr id="28" name="文本框 27"/>
              <p:cNvSpPr txBox="1"/>
              <p:nvPr/>
            </p:nvSpPr>
            <p:spPr>
              <a:xfrm>
                <a:off x="3817" y="4039"/>
                <a:ext cx="1516" cy="580"/>
              </a:xfrm>
              <a:prstGeom prst="rect">
                <a:avLst/>
              </a:prstGeom>
              <a:noFill/>
            </p:spPr>
            <p:txBody>
              <a:bodyPr wrap="square" rtlCol="0">
                <a:spAutoFit/>
              </a:bodyPr>
              <a:lstStyle/>
              <a:p>
                <a:r>
                  <a:rPr lang="zh-CN" altLang="en-US"/>
                  <a:t>拒绝</a:t>
                </a:r>
              </a:p>
            </p:txBody>
          </p:sp>
        </p:grpSp>
      </p:grpSp>
      <p:grpSp>
        <p:nvGrpSpPr>
          <p:cNvPr id="29" name="组合 28"/>
          <p:cNvGrpSpPr/>
          <p:nvPr/>
        </p:nvGrpSpPr>
        <p:grpSpPr>
          <a:xfrm>
            <a:off x="6816090" y="1969770"/>
            <a:ext cx="3795395" cy="1982470"/>
            <a:chOff x="0" y="3132"/>
            <a:chExt cx="5977" cy="3122"/>
          </a:xfrm>
        </p:grpSpPr>
        <p:sp>
          <p:nvSpPr>
            <p:cNvPr id="30" name="文本框 29"/>
            <p:cNvSpPr txBox="1"/>
            <p:nvPr/>
          </p:nvSpPr>
          <p:spPr>
            <a:xfrm>
              <a:off x="0" y="5626"/>
              <a:ext cx="3718"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p>
          </p:txBody>
        </p:sp>
        <p:sp>
          <p:nvSpPr>
            <p:cNvPr id="31" name="文本框 30"/>
            <p:cNvSpPr txBox="1"/>
            <p:nvPr/>
          </p:nvSpPr>
          <p:spPr>
            <a:xfrm>
              <a:off x="4044" y="5626"/>
              <a:ext cx="1933"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0</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0</a:t>
              </a:r>
              <a:r>
                <a:rPr lang="en-US" altLang="zh-CN"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a:t>
              </a:r>
            </a:p>
          </p:txBody>
        </p:sp>
        <p:grpSp>
          <p:nvGrpSpPr>
            <p:cNvPr id="32" name="组合 31"/>
            <p:cNvGrpSpPr/>
            <p:nvPr/>
          </p:nvGrpSpPr>
          <p:grpSpPr>
            <a:xfrm>
              <a:off x="756" y="3132"/>
              <a:ext cx="4577" cy="2268"/>
              <a:chOff x="756" y="3132"/>
              <a:chExt cx="4577" cy="2268"/>
            </a:xfrm>
          </p:grpSpPr>
          <p:sp>
            <p:nvSpPr>
              <p:cNvPr id="33" name="椭圆 32"/>
              <p:cNvSpPr/>
              <p:nvPr/>
            </p:nvSpPr>
            <p:spPr>
              <a:xfrm>
                <a:off x="2230" y="3132"/>
                <a:ext cx="1311" cy="794"/>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pitchFamily="18" charset="0"/>
                    <a:cs typeface="Times New Roman" panose="02020603050405020304" pitchFamily="18" charset="0"/>
                  </a:rPr>
                  <a:t>2</a:t>
                </a:r>
              </a:p>
            </p:txBody>
          </p:sp>
          <p:cxnSp>
            <p:nvCxnSpPr>
              <p:cNvPr id="34" name="直接连接符 33"/>
              <p:cNvCxnSpPr/>
              <p:nvPr/>
            </p:nvCxnSpPr>
            <p:spPr>
              <a:xfrm flipH="1">
                <a:off x="1436" y="3813"/>
                <a:ext cx="1021"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3364" y="3812"/>
                <a:ext cx="1134"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1323" y="5173"/>
                <a:ext cx="227" cy="227"/>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4415" y="5173"/>
                <a:ext cx="227" cy="2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56" y="4039"/>
                <a:ext cx="1516" cy="580"/>
              </a:xfrm>
              <a:prstGeom prst="rect">
                <a:avLst/>
              </a:prstGeom>
              <a:noFill/>
            </p:spPr>
            <p:txBody>
              <a:bodyPr wrap="square" rtlCol="0">
                <a:spAutoFit/>
              </a:bodyPr>
              <a:lstStyle/>
              <a:p>
                <a:r>
                  <a:rPr lang="zh-CN" altLang="en-US"/>
                  <a:t>接受</a:t>
                </a:r>
              </a:p>
            </p:txBody>
          </p:sp>
          <p:sp>
            <p:nvSpPr>
              <p:cNvPr id="39" name="文本框 38"/>
              <p:cNvSpPr txBox="1"/>
              <p:nvPr/>
            </p:nvSpPr>
            <p:spPr>
              <a:xfrm>
                <a:off x="3817" y="4039"/>
                <a:ext cx="1516" cy="580"/>
              </a:xfrm>
              <a:prstGeom prst="rect">
                <a:avLst/>
              </a:prstGeom>
              <a:noFill/>
            </p:spPr>
            <p:txBody>
              <a:bodyPr wrap="square" rtlCol="0">
                <a:spAutoFit/>
              </a:bodyPr>
              <a:lstStyle/>
              <a:p>
                <a:r>
                  <a:rPr lang="zh-CN" altLang="en-US"/>
                  <a:t>拒绝</a:t>
                </a: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8" name="Title 6"/>
          <p:cNvSpPr txBox="1"/>
          <p:nvPr>
            <p:custDataLst>
              <p:tags r:id="rId2"/>
            </p:custDataLst>
          </p:nvPr>
        </p:nvSpPr>
        <p:spPr>
          <a:xfrm>
            <a:off x="911860" y="771525"/>
            <a:ext cx="6631940" cy="871855"/>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委托人的选择（第一阶段）</a:t>
            </a: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36</a:t>
            </a:fld>
            <a:endParaRPr lang="zh-CN" altLang="en-US"/>
          </a:p>
        </p:txBody>
      </p:sp>
      <p:grpSp>
        <p:nvGrpSpPr>
          <p:cNvPr id="3" name="组合 2"/>
          <p:cNvGrpSpPr/>
          <p:nvPr/>
        </p:nvGrpSpPr>
        <p:grpSpPr>
          <a:xfrm>
            <a:off x="551815" y="161925"/>
            <a:ext cx="11201400" cy="762000"/>
            <a:chOff x="840" y="240"/>
            <a:chExt cx="17640" cy="1200"/>
          </a:xfrm>
        </p:grpSpPr>
        <p:sp>
          <p:nvSpPr>
            <p:cNvPr id="4" name="文本框 6"/>
            <p:cNvSpPr txBox="1"/>
            <p:nvPr>
              <p:custDataLst>
                <p:tags r:id="rId5"/>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无不确定性的委托—代理模型</a:t>
              </a:r>
            </a:p>
          </p:txBody>
        </p:sp>
        <p:cxnSp>
          <p:nvCxnSpPr>
            <p:cNvPr id="7" name="直接连接符 6"/>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 name="Title 6"/>
          <p:cNvSpPr txBox="1"/>
          <p:nvPr>
            <p:custDataLst>
              <p:tags r:id="rId3"/>
            </p:custDataLst>
          </p:nvPr>
        </p:nvSpPr>
        <p:spPr>
          <a:xfrm>
            <a:off x="1127760" y="4436745"/>
            <a:ext cx="3510280" cy="998855"/>
          </a:xfrm>
          <a:prstGeom prst="rect">
            <a:avLst/>
          </a:prstGeom>
          <a:noFill/>
          <a:ln w="25400">
            <a:solidFill>
              <a:schemeClr val="accent1"/>
            </a:solid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委托：</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E</a:t>
            </a:r>
            <a:r>
              <a:rPr alt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E</a:t>
            </a:r>
            <a:r>
              <a:rPr altLang="zh-CN" sz="200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0</a:t>
            </a:r>
            <a:r>
              <a:rPr altLang="zh-CN" sz="2000">
                <a:latin typeface="Times New Roman" panose="02020603050405020304" pitchFamily="18" charset="0"/>
                <a:cs typeface="Times New Roman" panose="02020603050405020304" pitchFamily="18" charset="0"/>
                <a:sym typeface="+mn-ea"/>
              </a:rPr>
              <a:t>)</a:t>
            </a: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不委托：</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E</a:t>
            </a:r>
            <a:r>
              <a:rPr alt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E</a:t>
            </a:r>
            <a:r>
              <a:rPr altLang="zh-CN" sz="2000">
                <a:latin typeface="Times New Roman" panose="02020603050405020304" pitchFamily="18" charset="0"/>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0</a:t>
            </a:r>
            <a:r>
              <a:rPr altLang="zh-CN" sz="2000">
                <a:latin typeface="Times New Roman" panose="02020603050405020304" pitchFamily="18" charset="0"/>
                <a:cs typeface="Times New Roman" panose="02020603050405020304" pitchFamily="18" charset="0"/>
                <a:sym typeface="+mn-ea"/>
              </a:rPr>
              <a:t>)</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7" name="组合 26"/>
          <p:cNvGrpSpPr/>
          <p:nvPr/>
        </p:nvGrpSpPr>
        <p:grpSpPr>
          <a:xfrm>
            <a:off x="1200150" y="2060575"/>
            <a:ext cx="3941445" cy="1982470"/>
            <a:chOff x="0" y="3132"/>
            <a:chExt cx="6207" cy="3122"/>
          </a:xfrm>
        </p:grpSpPr>
        <p:sp>
          <p:nvSpPr>
            <p:cNvPr id="22" name="文本框 21"/>
            <p:cNvSpPr txBox="1"/>
            <p:nvPr/>
          </p:nvSpPr>
          <p:spPr>
            <a:xfrm>
              <a:off x="0" y="5626"/>
              <a:ext cx="3718"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p>
          </p:txBody>
        </p:sp>
        <p:sp>
          <p:nvSpPr>
            <p:cNvPr id="23" name="文本框 22"/>
            <p:cNvSpPr txBox="1"/>
            <p:nvPr/>
          </p:nvSpPr>
          <p:spPr>
            <a:xfrm>
              <a:off x="4044" y="5626"/>
              <a:ext cx="2163"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0</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0</a:t>
              </a:r>
              <a:r>
                <a:rPr lang="en-US" altLang="zh-CN"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a:t>
              </a:r>
            </a:p>
          </p:txBody>
        </p:sp>
        <p:grpSp>
          <p:nvGrpSpPr>
            <p:cNvPr id="26" name="组合 25"/>
            <p:cNvGrpSpPr/>
            <p:nvPr/>
          </p:nvGrpSpPr>
          <p:grpSpPr>
            <a:xfrm>
              <a:off x="756" y="3132"/>
              <a:ext cx="4577" cy="2267"/>
              <a:chOff x="756" y="3132"/>
              <a:chExt cx="4577" cy="2267"/>
            </a:xfrm>
          </p:grpSpPr>
          <p:sp>
            <p:nvSpPr>
              <p:cNvPr id="5" name="椭圆 4"/>
              <p:cNvSpPr/>
              <p:nvPr/>
            </p:nvSpPr>
            <p:spPr>
              <a:xfrm>
                <a:off x="2230" y="3132"/>
                <a:ext cx="1311" cy="794"/>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pitchFamily="18" charset="0"/>
                    <a:cs typeface="Times New Roman" panose="02020603050405020304" pitchFamily="18" charset="0"/>
                  </a:rPr>
                  <a:t>1</a:t>
                </a:r>
              </a:p>
            </p:txBody>
          </p:sp>
          <p:cxnSp>
            <p:nvCxnSpPr>
              <p:cNvPr id="17" name="直接连接符 16"/>
              <p:cNvCxnSpPr/>
              <p:nvPr/>
            </p:nvCxnSpPr>
            <p:spPr>
              <a:xfrm flipH="1">
                <a:off x="1436" y="3813"/>
                <a:ext cx="1021"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364" y="3812"/>
                <a:ext cx="1134"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323" y="5173"/>
                <a:ext cx="227" cy="227"/>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4415" y="5173"/>
                <a:ext cx="227" cy="2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756" y="4039"/>
                <a:ext cx="1516" cy="580"/>
              </a:xfrm>
              <a:prstGeom prst="rect">
                <a:avLst/>
              </a:prstGeom>
              <a:noFill/>
            </p:spPr>
            <p:txBody>
              <a:bodyPr wrap="square" rtlCol="0">
                <a:spAutoFit/>
              </a:bodyPr>
              <a:lstStyle/>
              <a:p>
                <a:r>
                  <a:rPr lang="zh-CN" altLang="en-US"/>
                  <a:t>委托</a:t>
                </a:r>
              </a:p>
            </p:txBody>
          </p:sp>
          <p:sp>
            <p:nvSpPr>
              <p:cNvPr id="25" name="文本框 24"/>
              <p:cNvSpPr txBox="1"/>
              <p:nvPr/>
            </p:nvSpPr>
            <p:spPr>
              <a:xfrm>
                <a:off x="3817" y="4039"/>
                <a:ext cx="1516" cy="580"/>
              </a:xfrm>
              <a:prstGeom prst="rect">
                <a:avLst/>
              </a:prstGeom>
              <a:noFill/>
            </p:spPr>
            <p:txBody>
              <a:bodyPr wrap="square" rtlCol="0">
                <a:spAutoFit/>
              </a:bodyPr>
              <a:lstStyle/>
              <a:p>
                <a:r>
                  <a:rPr lang="zh-CN" altLang="en-US"/>
                  <a:t>不委托</a:t>
                </a:r>
              </a:p>
            </p:txBody>
          </p:sp>
        </p:grpSp>
      </p:grpSp>
      <p:grpSp>
        <p:nvGrpSpPr>
          <p:cNvPr id="29" name="组合 28"/>
          <p:cNvGrpSpPr/>
          <p:nvPr/>
        </p:nvGrpSpPr>
        <p:grpSpPr>
          <a:xfrm>
            <a:off x="6816090" y="1969770"/>
            <a:ext cx="3795395" cy="1982470"/>
            <a:chOff x="0" y="3132"/>
            <a:chExt cx="5977" cy="3122"/>
          </a:xfrm>
        </p:grpSpPr>
        <p:sp>
          <p:nvSpPr>
            <p:cNvPr id="30" name="文本框 29"/>
            <p:cNvSpPr txBox="1"/>
            <p:nvPr/>
          </p:nvSpPr>
          <p:spPr>
            <a:xfrm>
              <a:off x="0" y="5626"/>
              <a:ext cx="3718"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p>
          </p:txBody>
        </p:sp>
        <p:sp>
          <p:nvSpPr>
            <p:cNvPr id="31" name="文本框 30"/>
            <p:cNvSpPr txBox="1"/>
            <p:nvPr/>
          </p:nvSpPr>
          <p:spPr>
            <a:xfrm>
              <a:off x="4044" y="5626"/>
              <a:ext cx="1933" cy="62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R</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0</a:t>
              </a:r>
              <a:r>
                <a:rPr lang="en-US" altLang="zh-CN" sz="2000" dirty="0">
                  <a:latin typeface="Times New Roman" panose="02020603050405020304" pitchFamily="18" charset="0"/>
                  <a:cs typeface="Times New Roman" panose="02020603050405020304" pitchFamily="18" charset="0"/>
                  <a:sym typeface="+mn-ea"/>
                </a:rPr>
                <a:t>)</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0</a:t>
              </a:r>
              <a:r>
                <a:rPr lang="en-US" altLang="zh-CN"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a:t>
              </a:r>
            </a:p>
          </p:txBody>
        </p:sp>
        <p:grpSp>
          <p:nvGrpSpPr>
            <p:cNvPr id="32" name="组合 31"/>
            <p:cNvGrpSpPr/>
            <p:nvPr/>
          </p:nvGrpSpPr>
          <p:grpSpPr>
            <a:xfrm>
              <a:off x="756" y="3132"/>
              <a:ext cx="4577" cy="2268"/>
              <a:chOff x="756" y="3132"/>
              <a:chExt cx="4577" cy="2268"/>
            </a:xfrm>
          </p:grpSpPr>
          <p:sp>
            <p:nvSpPr>
              <p:cNvPr id="33" name="椭圆 32"/>
              <p:cNvSpPr/>
              <p:nvPr/>
            </p:nvSpPr>
            <p:spPr>
              <a:xfrm>
                <a:off x="2230" y="3132"/>
                <a:ext cx="1311" cy="794"/>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latin typeface="Times New Roman" panose="02020603050405020304" pitchFamily="18" charset="0"/>
                    <a:cs typeface="Times New Roman" panose="02020603050405020304" pitchFamily="18" charset="0"/>
                  </a:rPr>
                  <a:t>1</a:t>
                </a:r>
              </a:p>
            </p:txBody>
          </p:sp>
          <p:cxnSp>
            <p:nvCxnSpPr>
              <p:cNvPr id="34" name="直接连接符 33"/>
              <p:cNvCxnSpPr/>
              <p:nvPr/>
            </p:nvCxnSpPr>
            <p:spPr>
              <a:xfrm flipH="1">
                <a:off x="1436" y="3813"/>
                <a:ext cx="1021"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3364" y="3812"/>
                <a:ext cx="1134" cy="14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1323" y="5173"/>
                <a:ext cx="227" cy="227"/>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4415" y="5173"/>
                <a:ext cx="227" cy="2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56" y="4039"/>
                <a:ext cx="1516" cy="580"/>
              </a:xfrm>
              <a:prstGeom prst="rect">
                <a:avLst/>
              </a:prstGeom>
              <a:noFill/>
            </p:spPr>
            <p:txBody>
              <a:bodyPr wrap="square" rtlCol="0">
                <a:spAutoFit/>
              </a:bodyPr>
              <a:lstStyle/>
              <a:p>
                <a:r>
                  <a:rPr lang="zh-CN" altLang="en-US"/>
                  <a:t>委托</a:t>
                </a:r>
                <a:endParaRPr lang="en-US" altLang="zh-CN"/>
              </a:p>
            </p:txBody>
          </p:sp>
          <p:sp>
            <p:nvSpPr>
              <p:cNvPr id="39" name="文本框 38"/>
              <p:cNvSpPr txBox="1"/>
              <p:nvPr/>
            </p:nvSpPr>
            <p:spPr>
              <a:xfrm>
                <a:off x="3817" y="4039"/>
                <a:ext cx="1516" cy="580"/>
              </a:xfrm>
              <a:prstGeom prst="rect">
                <a:avLst/>
              </a:prstGeom>
              <a:noFill/>
            </p:spPr>
            <p:txBody>
              <a:bodyPr wrap="square" rtlCol="0">
                <a:spAutoFit/>
              </a:bodyPr>
              <a:lstStyle/>
              <a:p>
                <a:r>
                  <a:rPr lang="zh-CN" altLang="en-US"/>
                  <a:t>不委托</a:t>
                </a:r>
              </a:p>
            </p:txBody>
          </p:sp>
        </p:grpSp>
      </p:grpSp>
      <p:sp>
        <p:nvSpPr>
          <p:cNvPr id="28" name="Title 6"/>
          <p:cNvSpPr txBox="1"/>
          <p:nvPr>
            <p:custDataLst>
              <p:tags r:id="rId4"/>
            </p:custDataLst>
          </p:nvPr>
        </p:nvSpPr>
        <p:spPr>
          <a:xfrm>
            <a:off x="6960235" y="4380865"/>
            <a:ext cx="3510280" cy="998855"/>
          </a:xfrm>
          <a:prstGeom prst="rect">
            <a:avLst/>
          </a:prstGeom>
          <a:noFill/>
          <a:ln w="25400">
            <a:solidFill>
              <a:schemeClr val="accent1"/>
            </a:solid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委托：</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0</a:t>
            </a:r>
            <a:r>
              <a:rPr altLang="zh-CN" sz="2000">
                <a:latin typeface="Times New Roman" panose="02020603050405020304" pitchFamily="18" charset="0"/>
                <a:cs typeface="Times New Roman" panose="02020603050405020304" pitchFamily="18" charset="0"/>
                <a:sym typeface="+mn-ea"/>
              </a:rPr>
              <a:t>)</a:t>
            </a: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不委托：</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S</a:t>
            </a:r>
            <a:r>
              <a:rPr altLang="zh-CN" sz="2000">
                <a:latin typeface="Times New Roman" panose="02020603050405020304" pitchFamily="18" charset="0"/>
                <a:cs typeface="Times New Roman" panose="02020603050405020304" pitchFamily="18" charset="0"/>
                <a:sym typeface="+mn-ea"/>
              </a:rPr>
              <a:t>)</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0</a:t>
            </a:r>
            <a:r>
              <a:rPr altLang="zh-CN" sz="2000">
                <a:latin typeface="Times New Roman" panose="02020603050405020304" pitchFamily="18" charset="0"/>
                <a:cs typeface="Times New Roman" panose="02020603050405020304" pitchFamily="18" charset="0"/>
                <a:sym typeface="+mn-ea"/>
              </a:rPr>
              <a:t>)</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2"/>
            </p:custDataLst>
          </p:nvPr>
        </p:nvSpPr>
        <p:spPr>
          <a:xfrm>
            <a:off x="767715" y="764540"/>
            <a:ext cx="7583805" cy="10922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求子博弈完美纳什均衡：(委托—接受—努力)</a:t>
            </a:r>
          </a:p>
        </p:txBody>
      </p:sp>
      <p:pic>
        <p:nvPicPr>
          <p:cNvPr id="4" name="图片 3"/>
          <p:cNvPicPr>
            <a:picLocks noChangeAspect="1"/>
          </p:cNvPicPr>
          <p:nvPr/>
        </p:nvPicPr>
        <p:blipFill>
          <a:blip r:embed="rId7"/>
          <a:stretch>
            <a:fillRect/>
          </a:stretch>
        </p:blipFill>
        <p:spPr>
          <a:xfrm>
            <a:off x="6671945" y="1557020"/>
            <a:ext cx="5474970" cy="4539615"/>
          </a:xfrm>
          <a:prstGeom prst="rect">
            <a:avLst/>
          </a:prstGeom>
        </p:spPr>
      </p:pic>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37</a:t>
            </a:fld>
            <a:endParaRPr lang="zh-CN" altLang="en-US"/>
          </a:p>
        </p:txBody>
      </p:sp>
      <p:grpSp>
        <p:nvGrpSpPr>
          <p:cNvPr id="3" name="组合 2"/>
          <p:cNvGrpSpPr/>
          <p:nvPr/>
        </p:nvGrpSpPr>
        <p:grpSpPr>
          <a:xfrm>
            <a:off x="551815" y="161925"/>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经典的动态博弈模型：</a:t>
              </a:r>
              <a:r>
                <a:rPr lang="zh-CN" altLang="en-US" sz="2800" dirty="0">
                  <a:solidFill>
                    <a:schemeClr val="accent1"/>
                  </a:solidFill>
                  <a:sym typeface="+mn-ea"/>
                </a:rPr>
                <a:t>无不确定性的委托—代理模型</a:t>
              </a: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8" name="Title 6"/>
          <p:cNvSpPr txBox="1"/>
          <p:nvPr>
            <p:custDataLst>
              <p:tags r:id="rId3"/>
            </p:custDataLst>
          </p:nvPr>
        </p:nvSpPr>
        <p:spPr>
          <a:xfrm>
            <a:off x="983615" y="1412875"/>
            <a:ext cx="6159500" cy="23856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ü"/>
            </a:pP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假设</a:t>
            </a:r>
            <a:r>
              <a:rPr lang="zh-CN" altLang="en-US" sz="2000" b="1" i="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R</a:t>
            </a: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b="1" i="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a:t>
            </a:r>
            <a:r>
              <a:rPr lang="zh-CN" altLang="en-US"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b="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=10</a:t>
            </a:r>
            <a:r>
              <a:rPr altLang="zh-CN" sz="2000" b="1" i="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e-e</a:t>
            </a:r>
            <a:r>
              <a:rPr altLang="zh-CN" sz="2000" b="1" i="1" spc="100" baseline="300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b="1" i="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b="1" i="1">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altLang="zh-CN" sz="2000" b="1">
                <a:latin typeface="Times New Roman" panose="02020603050405020304" pitchFamily="18" charset="0"/>
                <a:cs typeface="Times New Roman" panose="02020603050405020304" pitchFamily="18" charset="0"/>
                <a:sym typeface="+mn-ea"/>
              </a:rPr>
              <a:t>(</a:t>
            </a:r>
            <a:r>
              <a:rPr altLang="zh-CN" sz="2000" b="1" i="1">
                <a:latin typeface="Times New Roman" panose="02020603050405020304" pitchFamily="18" charset="0"/>
                <a:cs typeface="Times New Roman" panose="02020603050405020304" pitchFamily="18" charset="0"/>
                <a:sym typeface="+mn-ea"/>
              </a:rPr>
              <a:t>E</a:t>
            </a:r>
            <a:r>
              <a:rPr altLang="zh-CN" sz="2000" b="1">
                <a:latin typeface="Times New Roman" panose="02020603050405020304" pitchFamily="18" charset="0"/>
                <a:cs typeface="Times New Roman" panose="02020603050405020304" pitchFamily="18" charset="0"/>
                <a:sym typeface="+mn-ea"/>
              </a:rPr>
              <a:t>)=4</a:t>
            </a:r>
            <a:r>
              <a:rPr lang="zh-CN" altLang="en-US" sz="2000" b="1">
                <a:latin typeface="Times New Roman" panose="02020603050405020304" pitchFamily="18" charset="0"/>
                <a:cs typeface="Times New Roman" panose="02020603050405020304" pitchFamily="18" charset="0"/>
                <a:sym typeface="+mn-ea"/>
              </a:rPr>
              <a:t>，</a:t>
            </a:r>
            <a:r>
              <a:rPr altLang="zh-CN" sz="2000" b="1" i="1">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altLang="zh-CN" sz="2000" b="1">
                <a:latin typeface="Times New Roman" panose="02020603050405020304" pitchFamily="18" charset="0"/>
                <a:cs typeface="Times New Roman" panose="02020603050405020304" pitchFamily="18" charset="0"/>
                <a:sym typeface="+mn-ea"/>
              </a:rPr>
              <a:t>(</a:t>
            </a:r>
            <a:r>
              <a:rPr altLang="zh-CN" sz="2000" b="1" i="1">
                <a:latin typeface="Times New Roman" panose="02020603050405020304" pitchFamily="18" charset="0"/>
                <a:cs typeface="Times New Roman" panose="02020603050405020304" pitchFamily="18" charset="0"/>
                <a:sym typeface="+mn-ea"/>
              </a:rPr>
              <a:t>S</a:t>
            </a:r>
            <a:r>
              <a:rPr altLang="zh-CN" sz="2000" b="1">
                <a:latin typeface="Times New Roman" panose="02020603050405020304" pitchFamily="18" charset="0"/>
                <a:cs typeface="Times New Roman" panose="02020603050405020304" pitchFamily="18" charset="0"/>
                <a:sym typeface="+mn-ea"/>
              </a:rPr>
              <a:t>)=2</a:t>
            </a:r>
            <a:r>
              <a:rPr lang="zh-CN" altLang="en-US" sz="2000" b="1">
                <a:latin typeface="Times New Roman" panose="02020603050405020304" pitchFamily="18" charset="0"/>
                <a:cs typeface="Times New Roman" panose="02020603050405020304" pitchFamily="18" charset="0"/>
                <a:sym typeface="+mn-ea"/>
              </a:rPr>
              <a:t>；</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代理人努力即努力水平</a:t>
            </a:r>
            <a:r>
              <a:rPr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单位（</a:t>
            </a:r>
            <a:r>
              <a:rPr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代理人偷懒即努力水平</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单位（</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e=1</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）；努力和偷懒的负效用等于努力水平，即</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E=2</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S=1</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285750" lvl="0" indent="-285750" algn="just" fontAlgn="ctr">
              <a:lnSpc>
                <a:spcPct val="130000"/>
              </a:lnSpc>
              <a:spcBef>
                <a:spcPts val="1000"/>
              </a:spcBef>
              <a:spcAft>
                <a:spcPts val="0"/>
              </a:spcAft>
              <a:buSzPct val="100000"/>
              <a:buFont typeface="Wingdings" panose="05000000000000000000" charset="0"/>
              <a:buChar char="ü"/>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可得</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R(</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0</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=0</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，R(</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=16</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，R(S)</a:t>
            </a:r>
            <a:r>
              <a:rPr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=9</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9" name="文本框 8"/>
          <p:cNvSpPr txBox="1"/>
          <p:nvPr/>
        </p:nvSpPr>
        <p:spPr>
          <a:xfrm>
            <a:off x="1415415" y="4148455"/>
            <a:ext cx="3707765" cy="1796415"/>
          </a:xfrm>
          <a:prstGeom prst="rect">
            <a:avLst/>
          </a:prstGeom>
          <a:noFill/>
          <a:ln w="25400">
            <a:solidFill>
              <a:schemeClr val="accent1"/>
            </a:solidFill>
            <a:prstDash val="sysDash"/>
          </a:ln>
        </p:spPr>
        <p:txBody>
          <a:bodyPr wrap="square" rtlCol="0" anchor="t">
            <a:noAutofit/>
          </a:bodyPr>
          <a:lstStyle/>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w</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1</a:t>
            </a:r>
          </a:p>
          <a:p>
            <a:pPr marL="508000" lvl="1" indent="-22225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E=</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0</a:t>
            </a:r>
          </a:p>
          <a:p>
            <a:pPr marL="508000" lvl="1" indent="-22225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E</a:t>
            </a:r>
            <a:r>
              <a:rPr altLang="zh-CN" sz="2000">
                <a:latin typeface="Times New Roman" panose="02020603050405020304" pitchFamily="18" charset="0"/>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w</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E</a:t>
            </a:r>
            <a:r>
              <a:rPr altLang="zh-CN" sz="2000">
                <a:latin typeface="Times New Roman" panose="02020603050405020304" pitchFamily="18" charset="0"/>
                <a:cs typeface="Times New Roman" panose="02020603050405020304" pitchFamily="18" charset="0"/>
                <a:sym typeface="+mn-ea"/>
              </a:rPr>
              <a:t>)</a:t>
            </a:r>
            <a:r>
              <a:rPr lang="en-US" sz="2000">
                <a:latin typeface="Times New Roman" panose="02020603050405020304" pitchFamily="18" charset="0"/>
                <a:cs typeface="Times New Roman" panose="02020603050405020304" pitchFamily="18" charset="0"/>
                <a:sym typeface="+mn-ea"/>
              </a:rPr>
              <a:t>=12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R</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0</a:t>
            </a:r>
            <a:r>
              <a:rPr altLang="zh-CN" sz="2000">
                <a:latin typeface="Times New Roman" panose="02020603050405020304" pitchFamily="18" charset="0"/>
                <a:cs typeface="Times New Roman" panose="02020603050405020304" pitchFamily="18" charset="0"/>
                <a:sym typeface="+mn-ea"/>
              </a:rPr>
              <a:t>)</a:t>
            </a:r>
            <a:r>
              <a:rPr lang="en-US" sz="2000">
                <a:latin typeface="Times New Roman" panose="02020603050405020304" pitchFamily="18" charset="0"/>
                <a:cs typeface="Times New Roman" panose="02020603050405020304" pitchFamily="18" charset="0"/>
                <a:sym typeface="+mn-ea"/>
              </a:rPr>
              <a:t>=0</a:t>
            </a:r>
            <a:endPar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endParaRPr>
          </a:p>
          <a:p>
            <a:pPr marL="508000" lvl="1" indent="-222250" algn="l" fontAlgn="ctr">
              <a:lnSpc>
                <a:spcPct val="130000"/>
              </a:lnSpc>
              <a:spcBef>
                <a:spcPts val="1000"/>
              </a:spcBef>
              <a:spcAft>
                <a:spcPts val="0"/>
              </a:spcAft>
              <a:buSzPct val="100000"/>
              <a:buFont typeface="Arial" panose="020B0604020202020204" pitchFamily="34" charset="0"/>
              <a:buChar char="○"/>
            </a:pPr>
            <a:endPar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2"/>
            </p:custDataLst>
          </p:nvPr>
        </p:nvSpPr>
        <p:spPr>
          <a:xfrm>
            <a:off x="774700" y="765175"/>
            <a:ext cx="10642600" cy="39141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有同时选择的两阶段博弈的标准模型</a:t>
            </a: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博弈中有四个博弈方，分别称为博弈方1、博弈方2、博弈方3和博弈方4。</a:t>
            </a: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第一阶段是博弈方1和博弈方2的选择阶段</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，他们同时在各自的可选策略（行为)集合A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和A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中分别选择a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和a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第二阶段是博弈方3和博弈方4的选择阶段</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，他们在看到博弈方1和博弈方2的选择</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和a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以后，同时在各自的可选策略（行为)集合A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和A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4</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中分别选择a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和a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4</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博弈方的得益都取决于所有博弈方的策略</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4</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，即博弈方的得益是各个博弈方所选择策略的多元函数u</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=u</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3</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en-US" altLang="zh-CN" sz="2000"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4</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38</a:t>
            </a:fld>
            <a:endParaRPr lang="zh-CN" altLang="en-US"/>
          </a:p>
        </p:txBody>
      </p:sp>
      <p:grpSp>
        <p:nvGrpSpPr>
          <p:cNvPr id="5" name="组合 4"/>
          <p:cNvGrpSpPr/>
          <p:nvPr/>
        </p:nvGrpSpPr>
        <p:grpSpPr>
          <a:xfrm>
            <a:off x="551815" y="161925"/>
            <a:ext cx="11201400" cy="762000"/>
            <a:chOff x="840" y="240"/>
            <a:chExt cx="17640" cy="1200"/>
          </a:xfrm>
        </p:grpSpPr>
        <p:sp>
          <p:nvSpPr>
            <p:cNvPr id="10" name="文本框 9"/>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有同时选择的动态博弈模型：</a:t>
              </a:r>
              <a:r>
                <a:rPr lang="zh-CN" altLang="en-US" sz="2800" dirty="0">
                  <a:solidFill>
                    <a:schemeClr val="accent1"/>
                  </a:solidFill>
                  <a:sym typeface="+mn-ea"/>
                </a:rPr>
                <a:t>标准模型</a:t>
              </a:r>
            </a:p>
          </p:txBody>
        </p:sp>
        <p:cxnSp>
          <p:nvCxnSpPr>
            <p:cNvPr id="12" name="直接连接符 11"/>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2"/>
            </p:custDataLst>
          </p:nvPr>
        </p:nvSpPr>
        <p:spPr>
          <a:xfrm>
            <a:off x="774700" y="765175"/>
            <a:ext cx="10642600" cy="59664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模型假设</a:t>
            </a: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一家银行为了给一个企业贷放一笔20000元的贷款，以20%的年利率吸引客户存款。两个客户各有10000元资金，如果他们愿意在该银行存1年期定期存款，该银行就可以向企业贷款。如果两个客户都不愿存款或只有一个客户存款，该银行无法给企业贷款，这时候客户都能保住自己的本金。</a:t>
            </a: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两个客户都存款，银行给企业提供贷款的情况下，如果银行满1年收回贷款，企业能完成投资和回笼资金，</a:t>
            </a:r>
            <a:r>
              <a:rPr lang="zh-CN" altLang="en-US" sz="2000" spc="100" dirty="0">
                <a:ln w="3175">
                  <a:noFill/>
                  <a:prstDash val="dash"/>
                </a:ln>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银行可收回贷款本息支付存款客户的存款本息。</a:t>
            </a: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如果在没有满1年的时候，一个客户单独或两个客户同时要求提前取出存款，银行不得不提前收回贷款，企业的投资无法完成。假设这时候企业</a:t>
            </a:r>
            <a:r>
              <a:rPr lang="zh-CN" altLang="en-US" sz="2000" spc="100" dirty="0">
                <a:ln w="3175">
                  <a:noFill/>
                  <a:prstDash val="dash"/>
                </a:ln>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只能收回80%的本钱</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，并全部偿还给银行。</a:t>
            </a:r>
            <a:r>
              <a:rPr lang="zh-CN" altLang="en-US" sz="2000" spc="100" dirty="0">
                <a:ln w="3175">
                  <a:noFill/>
                  <a:prstDash val="dash"/>
                </a:ln>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ea"/>
              </a:rPr>
              <a:t>若有一个客户要求提前取款，则银行会偿还其全部本金，余款属于另一客户；若两个客户同时要求提前取款，则平分收回的资金。</a:t>
            </a: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800100" lvl="1" indent="-342900" algn="just"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银行不收佣金、手续费。</a:t>
            </a:r>
          </a:p>
          <a:p>
            <a:pPr marL="800100" lvl="1" indent="-342900" algn="just" fontAlgn="auto">
              <a:lnSpc>
                <a:spcPct val="120000"/>
              </a:lnSpc>
              <a:spcBef>
                <a:spcPts val="0"/>
              </a:spcBef>
              <a:spcAft>
                <a:spcPts val="80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39</a:t>
            </a:fld>
            <a:endParaRPr lang="zh-CN" altLang="en-US"/>
          </a:p>
        </p:txBody>
      </p:sp>
      <p:grpSp>
        <p:nvGrpSpPr>
          <p:cNvPr id="8" name="组合 7"/>
          <p:cNvGrpSpPr/>
          <p:nvPr/>
        </p:nvGrpSpPr>
        <p:grpSpPr>
          <a:xfrm>
            <a:off x="551815" y="161925"/>
            <a:ext cx="11201400" cy="762000"/>
            <a:chOff x="840" y="240"/>
            <a:chExt cx="17640" cy="1200"/>
          </a:xfrm>
        </p:grpSpPr>
        <p:sp>
          <p:nvSpPr>
            <p:cNvPr id="3" name="文本框 2"/>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有同时选择的动态博弈模型：</a:t>
              </a:r>
              <a:r>
                <a:rPr lang="zh-CN" altLang="en-US" sz="2800" dirty="0">
                  <a:solidFill>
                    <a:schemeClr val="accent1"/>
                  </a:solidFill>
                  <a:sym typeface="+mn-ea"/>
                </a:rPr>
                <a:t>间接融资与挤兑</a:t>
              </a:r>
            </a:p>
          </p:txBody>
        </p:sp>
        <p:cxnSp>
          <p:nvCxnSpPr>
            <p:cNvPr id="4" name="直接连接符 3"/>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aphicFrame>
        <p:nvGraphicFramePr>
          <p:cNvPr id="3" name="表格 2"/>
          <p:cNvGraphicFramePr>
            <a:graphicFrameLocks noGrp="1"/>
          </p:cNvGraphicFramePr>
          <p:nvPr>
            <p:custDataLst>
              <p:tags r:id="rId2"/>
            </p:custDataLst>
          </p:nvPr>
        </p:nvGraphicFramePr>
        <p:xfrm>
          <a:off x="7896225" y="1741805"/>
          <a:ext cx="4279265" cy="2393315"/>
        </p:xfrm>
        <a:graphic>
          <a:graphicData uri="http://schemas.openxmlformats.org/drawingml/2006/table">
            <a:tbl>
              <a:tblPr firstRow="1" bandRow="1">
                <a:tableStyleId>{2D5ABB26-0587-4C30-8999-92F81FD0307C}</a:tableStyleId>
              </a:tblPr>
              <a:tblGrid>
                <a:gridCol w="794385">
                  <a:extLst>
                    <a:ext uri="{9D8B030D-6E8A-4147-A177-3AD203B41FA5}">
                      <a16:colId xmlns:a16="http://schemas.microsoft.com/office/drawing/2014/main" val="20000"/>
                    </a:ext>
                  </a:extLst>
                </a:gridCol>
                <a:gridCol w="849630">
                  <a:extLst>
                    <a:ext uri="{9D8B030D-6E8A-4147-A177-3AD203B41FA5}">
                      <a16:colId xmlns:a16="http://schemas.microsoft.com/office/drawing/2014/main" val="20001"/>
                    </a:ext>
                  </a:extLst>
                </a:gridCol>
                <a:gridCol w="1323340">
                  <a:extLst>
                    <a:ext uri="{9D8B030D-6E8A-4147-A177-3AD203B41FA5}">
                      <a16:colId xmlns:a16="http://schemas.microsoft.com/office/drawing/2014/main" val="20002"/>
                    </a:ext>
                  </a:extLst>
                </a:gridCol>
                <a:gridCol w="1311910">
                  <a:extLst>
                    <a:ext uri="{9D8B030D-6E8A-4147-A177-3AD203B41FA5}">
                      <a16:colId xmlns:a16="http://schemas.microsoft.com/office/drawing/2014/main" val="20003"/>
                    </a:ext>
                  </a:extLst>
                </a:gridCol>
              </a:tblGrid>
              <a:tr h="604520">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客户2</a:t>
                      </a:r>
                    </a:p>
                  </a:txBody>
                  <a:tcPr marL="215900" marR="215900" marT="133350" marB="133350" anchor="ctr">
                    <a:lnL>
                      <a:noFill/>
                    </a:lnL>
                    <a:lnR>
                      <a:noFill/>
                    </a:lnR>
                    <a:lnT>
                      <a:noFill/>
                    </a:lnT>
                    <a:lnB>
                      <a:noFill/>
                    </a:lnB>
                    <a:lnTlToBr>
                      <a:noFill/>
                    </a:lnTlToBr>
                    <a:lnBlToTr>
                      <a:noFill/>
                    </a:lnBlToTr>
                    <a:solidFill>
                      <a:srgbClr val="FFFFFF"/>
                    </a:solidFill>
                  </a:tcPr>
                </a:tc>
                <a:tc hMerge="1">
                  <a:txBody>
                    <a:bodyPr/>
                    <a:lstStyle/>
                    <a:p>
                      <a:endParaRPr lang="zh-CN"/>
                    </a:p>
                  </a:txBody>
                  <a:tcPr>
                    <a:lnR>
                      <a:noFill/>
                    </a:lnR>
                    <a:lnT>
                      <a:noFill/>
                    </a:lnT>
                    <a:lnB>
                      <a:noFill/>
                    </a:lnB>
                  </a:tcPr>
                </a:tc>
                <a:extLst>
                  <a:ext uri="{0D108BD9-81ED-4DB2-BD59-A6C34878D82A}">
                    <a16:rowId xmlns:a16="http://schemas.microsoft.com/office/drawing/2014/main" val="10000"/>
                  </a:ext>
                </a:extLst>
              </a:tr>
              <a:tr h="6775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提前</a:t>
                      </a: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到期</a:t>
                      </a:r>
                    </a:p>
                  </a:txBody>
                  <a:tcPr marL="215900" marR="215900" marT="133350" marB="133350" anchor="ctr">
                    <a:lnL>
                      <a:noFill/>
                    </a:lnL>
                    <a:lnR>
                      <a:noFill/>
                    </a:lnR>
                    <a:lnT>
                      <a:noFill/>
                    </a:lnT>
                    <a:lnB w="9525">
                      <a:solidFill>
                        <a:srgbClr val="577CCE"/>
                      </a:solidFill>
                      <a:prstDash val="sysDash"/>
                    </a:lnB>
                    <a:solidFill>
                      <a:srgbClr val="FFFFFF"/>
                    </a:solidFill>
                  </a:tcPr>
                </a:tc>
                <a:extLst>
                  <a:ext uri="{0D108BD9-81ED-4DB2-BD59-A6C34878D82A}">
                    <a16:rowId xmlns:a16="http://schemas.microsoft.com/office/drawing/2014/main" val="10001"/>
                  </a:ext>
                </a:extLst>
              </a:tr>
              <a:tr h="609600">
                <a:tc rowSpan="2">
                  <a:txBody>
                    <a:bodyPr/>
                    <a:lstStyle/>
                    <a:p>
                      <a:pPr algn="ctr">
                        <a:lnSpc>
                          <a:spcPct val="120000"/>
                        </a:lnSpc>
                        <a:spcBef>
                          <a:spcPts val="0"/>
                        </a:spcBef>
                        <a:spcAft>
                          <a:spcPts val="0"/>
                        </a:spcAft>
                        <a:buClrTx/>
                        <a:buSzTx/>
                        <a:buFontTx/>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客户1</a:t>
                      </a: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提前</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0.8</a:t>
                      </a:r>
                      <a:r>
                        <a:rPr lang="zh-CN" altLang="en-US"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0.8</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0.6</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2"/>
                  </a:ext>
                </a:extLst>
              </a:tr>
              <a:tr h="501650">
                <a:tc vMerge="1">
                  <a:txBody>
                    <a:bodyPr/>
                    <a:lstStyle/>
                    <a:p>
                      <a:endParaRPr lang="zh-CN"/>
                    </a:p>
                  </a:txBody>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到期</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0.6</a:t>
                      </a:r>
                      <a:r>
                        <a:rPr lang="zh-CN" altLang="en-US"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1.2</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3"/>
                  </a:ext>
                </a:extLst>
              </a:tr>
            </a:tbl>
          </a:graphicData>
        </a:graphic>
      </p:graphicFrame>
      <p:graphicFrame>
        <p:nvGraphicFramePr>
          <p:cNvPr id="13" name="表格 12"/>
          <p:cNvGraphicFramePr>
            <a:graphicFrameLocks noGrp="1"/>
          </p:cNvGraphicFramePr>
          <p:nvPr>
            <p:custDataLst>
              <p:tags r:id="rId3"/>
            </p:custDataLst>
          </p:nvPr>
        </p:nvGraphicFramePr>
        <p:xfrm>
          <a:off x="3970020" y="1778635"/>
          <a:ext cx="4044950" cy="2345690"/>
        </p:xfrm>
        <a:graphic>
          <a:graphicData uri="http://schemas.openxmlformats.org/drawingml/2006/table">
            <a:tbl>
              <a:tblPr firstRow="1" bandRow="1">
                <a:tableStyleId>{2D5ABB26-0587-4C30-8999-92F81FD0307C}</a:tableStyleId>
              </a:tblPr>
              <a:tblGrid>
                <a:gridCol w="755650">
                  <a:extLst>
                    <a:ext uri="{9D8B030D-6E8A-4147-A177-3AD203B41FA5}">
                      <a16:colId xmlns:a16="http://schemas.microsoft.com/office/drawing/2014/main" val="20000"/>
                    </a:ext>
                  </a:extLst>
                </a:gridCol>
                <a:gridCol w="1014730">
                  <a:extLst>
                    <a:ext uri="{9D8B030D-6E8A-4147-A177-3AD203B41FA5}">
                      <a16:colId xmlns:a16="http://schemas.microsoft.com/office/drawing/2014/main" val="20001"/>
                    </a:ext>
                  </a:extLst>
                </a:gridCol>
                <a:gridCol w="962660">
                  <a:extLst>
                    <a:ext uri="{9D8B030D-6E8A-4147-A177-3AD203B41FA5}">
                      <a16:colId xmlns:a16="http://schemas.microsoft.com/office/drawing/2014/main" val="20002"/>
                    </a:ext>
                  </a:extLst>
                </a:gridCol>
                <a:gridCol w="1311910">
                  <a:extLst>
                    <a:ext uri="{9D8B030D-6E8A-4147-A177-3AD203B41FA5}">
                      <a16:colId xmlns:a16="http://schemas.microsoft.com/office/drawing/2014/main" val="20003"/>
                    </a:ext>
                  </a:extLst>
                </a:gridCol>
              </a:tblGrid>
              <a:tr h="6140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客户2</a:t>
                      </a:r>
                    </a:p>
                  </a:txBody>
                  <a:tcPr marL="215900" marR="215900" marT="133350" marB="133350" anchor="ctr">
                    <a:lnL>
                      <a:noFill/>
                    </a:lnL>
                    <a:lnR>
                      <a:noFill/>
                    </a:lnR>
                    <a:lnT>
                      <a:noFill/>
                    </a:lnT>
                    <a:lnB>
                      <a:noFill/>
                    </a:lnB>
                    <a:lnTlToBr>
                      <a:noFill/>
                    </a:lnTlToBr>
                    <a:lnBlToTr>
                      <a:noFill/>
                    </a:lnBlToTr>
                    <a:solidFill>
                      <a:srgbClr val="FFFFFF"/>
                    </a:solidFill>
                  </a:tcPr>
                </a:tc>
                <a:tc hMerge="1">
                  <a:txBody>
                    <a:bodyPr/>
                    <a:lstStyle/>
                    <a:p>
                      <a:endParaRPr lang="zh-CN"/>
                    </a:p>
                  </a:txBody>
                  <a:tcPr>
                    <a:lnR>
                      <a:noFill/>
                    </a:lnR>
                    <a:lnT>
                      <a:noFill/>
                    </a:lnT>
                    <a:lnB>
                      <a:noFill/>
                    </a:lnB>
                  </a:tcPr>
                </a:tc>
                <a:extLst>
                  <a:ext uri="{0D108BD9-81ED-4DB2-BD59-A6C34878D82A}">
                    <a16:rowId xmlns:a16="http://schemas.microsoft.com/office/drawing/2014/main" val="10000"/>
                  </a:ext>
                </a:extLst>
              </a:tr>
              <a:tr h="6140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不存</a:t>
                      </a: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存款</a:t>
                      </a:r>
                    </a:p>
                  </a:txBody>
                  <a:tcPr marL="215900" marR="215900" marT="133350" marB="133350" anchor="ctr">
                    <a:lnL>
                      <a:noFill/>
                    </a:lnL>
                    <a:lnR>
                      <a:noFill/>
                    </a:lnR>
                    <a:lnT>
                      <a:noFill/>
                    </a:lnT>
                    <a:lnB w="9525">
                      <a:solidFill>
                        <a:srgbClr val="577CCE"/>
                      </a:solidFill>
                      <a:prstDash val="sysDash"/>
                    </a:lnB>
                    <a:solidFill>
                      <a:srgbClr val="FFFFFF"/>
                    </a:solidFill>
                  </a:tcPr>
                </a:tc>
                <a:extLst>
                  <a:ext uri="{0D108BD9-81ED-4DB2-BD59-A6C34878D82A}">
                    <a16:rowId xmlns:a16="http://schemas.microsoft.com/office/drawing/2014/main" val="10001"/>
                  </a:ext>
                </a:extLst>
              </a:tr>
              <a:tr h="558800">
                <a:tc rowSpan="2">
                  <a:txBody>
                    <a:bodyPr/>
                    <a:lstStyle/>
                    <a:p>
                      <a:pPr algn="ctr">
                        <a:lnSpc>
                          <a:spcPct val="120000"/>
                        </a:lnSpc>
                        <a:spcBef>
                          <a:spcPts val="0"/>
                        </a:spcBef>
                        <a:spcAft>
                          <a:spcPts val="0"/>
                        </a:spcAft>
                        <a:buClrTx/>
                        <a:buSzTx/>
                        <a:buFontTx/>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客户1</a:t>
                      </a: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不存</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2"/>
                  </a:ext>
                </a:extLst>
              </a:tr>
              <a:tr h="558800">
                <a:tc vMerge="1">
                  <a:txBody>
                    <a:bodyPr/>
                    <a:lstStyle/>
                    <a:p>
                      <a:endParaRPr lang="zh-CN"/>
                    </a:p>
                  </a:txBody>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存款</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0.8</a:t>
                      </a:r>
                      <a:r>
                        <a:rPr lang="zh-CN" altLang="en-US"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0.8</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3"/>
                  </a:ext>
                </a:extLst>
              </a:tr>
            </a:tbl>
          </a:graphicData>
        </a:graphic>
      </p:graphicFrame>
      <p:sp>
        <p:nvSpPr>
          <p:cNvPr id="20" name="Title 6"/>
          <p:cNvSpPr txBox="1"/>
          <p:nvPr>
            <p:custDataLst>
              <p:tags r:id="rId4"/>
            </p:custDataLst>
          </p:nvPr>
        </p:nvSpPr>
        <p:spPr>
          <a:xfrm>
            <a:off x="767715" y="980440"/>
            <a:ext cx="3428365" cy="5029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间接融资—客户的博弈</a:t>
            </a:r>
          </a:p>
        </p:txBody>
      </p:sp>
      <p:sp>
        <p:nvSpPr>
          <p:cNvPr id="2" name="Title 6"/>
          <p:cNvSpPr txBox="1"/>
          <p:nvPr>
            <p:custDataLst>
              <p:tags r:id="rId5"/>
            </p:custDataLst>
          </p:nvPr>
        </p:nvSpPr>
        <p:spPr>
          <a:xfrm>
            <a:off x="983615" y="4653280"/>
            <a:ext cx="5380990" cy="18624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5715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a:t>
            </a:r>
          </a:p>
          <a:p>
            <a:pPr marL="0" lvl="0" indent="-285750" algn="l"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（到期，到期）⇒（存款，存款）</a:t>
            </a:r>
          </a:p>
          <a:p>
            <a:pPr marL="0" lvl="0" indent="-285750" algn="l"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（提前，提前）⇒（不存，不存）</a:t>
            </a:r>
          </a:p>
        </p:txBody>
      </p:sp>
      <p:graphicFrame>
        <p:nvGraphicFramePr>
          <p:cNvPr id="9" name="表格 8"/>
          <p:cNvGraphicFramePr>
            <a:graphicFrameLocks noGrp="1"/>
          </p:cNvGraphicFramePr>
          <p:nvPr>
            <p:custDataLst>
              <p:tags r:id="rId6"/>
            </p:custDataLst>
          </p:nvPr>
        </p:nvGraphicFramePr>
        <p:xfrm>
          <a:off x="-96520" y="1772920"/>
          <a:ext cx="4066540" cy="2351405"/>
        </p:xfrm>
        <a:graphic>
          <a:graphicData uri="http://schemas.openxmlformats.org/drawingml/2006/table">
            <a:tbl>
              <a:tblPr firstRow="1" bandRow="1">
                <a:tableStyleId>{2D5ABB26-0587-4C30-8999-92F81FD0307C}</a:tableStyleId>
              </a:tblPr>
              <a:tblGrid>
                <a:gridCol w="75819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984885">
                  <a:extLst>
                    <a:ext uri="{9D8B030D-6E8A-4147-A177-3AD203B41FA5}">
                      <a16:colId xmlns:a16="http://schemas.microsoft.com/office/drawing/2014/main" val="20002"/>
                    </a:ext>
                  </a:extLst>
                </a:gridCol>
                <a:gridCol w="1275715">
                  <a:extLst>
                    <a:ext uri="{9D8B030D-6E8A-4147-A177-3AD203B41FA5}">
                      <a16:colId xmlns:a16="http://schemas.microsoft.com/office/drawing/2014/main" val="20003"/>
                    </a:ext>
                  </a:extLst>
                </a:gridCol>
              </a:tblGrid>
              <a:tr h="6140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8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客户2</a:t>
                      </a:r>
                    </a:p>
                  </a:txBody>
                  <a:tcPr marL="215900" marR="215900" marT="133350" marB="133350" anchor="ctr">
                    <a:lnL>
                      <a:noFill/>
                    </a:lnL>
                    <a:lnR>
                      <a:noFill/>
                    </a:lnR>
                    <a:lnT>
                      <a:noFill/>
                    </a:lnT>
                    <a:lnB>
                      <a:noFill/>
                    </a:lnB>
                    <a:lnTlToBr>
                      <a:noFill/>
                    </a:lnTlToBr>
                    <a:lnBlToTr>
                      <a:noFill/>
                    </a:lnBlToTr>
                    <a:solidFill>
                      <a:srgbClr val="FFFFFF"/>
                    </a:solidFill>
                  </a:tcPr>
                </a:tc>
                <a:tc hMerge="1">
                  <a:txBody>
                    <a:bodyPr/>
                    <a:lstStyle/>
                    <a:p>
                      <a:endParaRPr lang="zh-CN"/>
                    </a:p>
                  </a:txBody>
                  <a:tcPr>
                    <a:lnR>
                      <a:noFill/>
                    </a:lnR>
                    <a:lnT>
                      <a:noFill/>
                    </a:lnT>
                    <a:lnB>
                      <a:noFill/>
                    </a:lnB>
                  </a:tcPr>
                </a:tc>
                <a:extLst>
                  <a:ext uri="{0D108BD9-81ED-4DB2-BD59-A6C34878D82A}">
                    <a16:rowId xmlns:a16="http://schemas.microsoft.com/office/drawing/2014/main" val="10000"/>
                  </a:ext>
                </a:extLst>
              </a:tr>
              <a:tr h="61404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8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不存</a:t>
                      </a: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存款</a:t>
                      </a:r>
                    </a:p>
                  </a:txBody>
                  <a:tcPr marL="215900" marR="215900" marT="133350" marB="133350" anchor="ctr">
                    <a:lnL>
                      <a:noFill/>
                    </a:lnL>
                    <a:lnR>
                      <a:noFill/>
                    </a:lnR>
                    <a:lnT>
                      <a:noFill/>
                    </a:lnT>
                    <a:lnB w="9525">
                      <a:solidFill>
                        <a:srgbClr val="577CCE"/>
                      </a:solidFill>
                      <a:prstDash val="sysDash"/>
                    </a:lnB>
                    <a:solidFill>
                      <a:srgbClr val="FFFFFF"/>
                    </a:solidFill>
                  </a:tcPr>
                </a:tc>
                <a:extLst>
                  <a:ext uri="{0D108BD9-81ED-4DB2-BD59-A6C34878D82A}">
                    <a16:rowId xmlns:a16="http://schemas.microsoft.com/office/drawing/2014/main" val="10001"/>
                  </a:ext>
                </a:extLst>
              </a:tr>
              <a:tr h="558800">
                <a:tc rowSpan="2">
                  <a:txBody>
                    <a:bodyPr/>
                    <a:lstStyle/>
                    <a:p>
                      <a:pPr algn="ctr">
                        <a:lnSpc>
                          <a:spcPct val="120000"/>
                        </a:lnSpc>
                        <a:spcBef>
                          <a:spcPts val="0"/>
                        </a:spcBef>
                        <a:spcAft>
                          <a:spcPts val="0"/>
                        </a:spcAft>
                        <a:buClrTx/>
                        <a:buSzTx/>
                        <a:buFontTx/>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客户1</a:t>
                      </a: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不存</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2"/>
                  </a:ext>
                </a:extLst>
              </a:tr>
              <a:tr h="564515">
                <a:tc vMerge="1">
                  <a:txBody>
                    <a:bodyPr/>
                    <a:lstStyle/>
                    <a:p>
                      <a:endParaRPr lang="zh-CN"/>
                    </a:p>
                  </a:txBody>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14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存款</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1.2</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3"/>
                  </a:ext>
                </a:extLst>
              </a:tr>
            </a:tbl>
          </a:graphicData>
        </a:graphic>
      </p:graphicFrame>
      <p:sp>
        <p:nvSpPr>
          <p:cNvPr id="4" name="Title 6"/>
          <p:cNvSpPr txBox="1"/>
          <p:nvPr>
            <p:custDataLst>
              <p:tags r:id="rId7"/>
            </p:custDataLst>
          </p:nvPr>
        </p:nvSpPr>
        <p:spPr>
          <a:xfrm>
            <a:off x="3863975" y="4293235"/>
            <a:ext cx="1965960" cy="6280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）第一阶段</a:t>
            </a:r>
            <a:endPar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itle 6"/>
          <p:cNvSpPr txBox="1"/>
          <p:nvPr>
            <p:custDataLst>
              <p:tags r:id="rId8"/>
            </p:custDataLst>
          </p:nvPr>
        </p:nvSpPr>
        <p:spPr>
          <a:xfrm>
            <a:off x="9787255" y="4293235"/>
            <a:ext cx="1965960" cy="6280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）第二阶段</a:t>
            </a:r>
            <a:endPar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1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灯片编号占位符 6"/>
          <p:cNvSpPr>
            <a:spLocks noGrp="1"/>
          </p:cNvSpPr>
          <p:nvPr>
            <p:ph type="sldNum" sz="quarter" idx="12"/>
          </p:nvPr>
        </p:nvSpPr>
        <p:spPr/>
        <p:txBody>
          <a:bodyPr/>
          <a:lstStyle/>
          <a:p>
            <a:fld id="{49AE70B2-8BF9-45C0-BB95-33D1B9D3A854}" type="slidenum">
              <a:rPr lang="zh-CN" altLang="en-US" smtClean="0"/>
              <a:t>40</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9"/>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有同时选择的动态博弈模型：</a:t>
              </a:r>
              <a:r>
                <a:rPr lang="zh-CN" altLang="en-US" sz="2800" dirty="0">
                  <a:solidFill>
                    <a:schemeClr val="accent1"/>
                  </a:solidFill>
                  <a:sym typeface="+mn-ea"/>
                </a:rPr>
                <a:t>间接融资与挤兑</a:t>
              </a:r>
            </a:p>
          </p:txBody>
        </p:sp>
        <p:cxnSp>
          <p:nvCxnSpPr>
            <p:cNvPr id="11" name="直接连接符 10"/>
            <p:cNvCxnSpPr/>
            <p:nvPr>
              <p:custDataLst>
                <p:tags r:id="rId10"/>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a:xfrm>
            <a:off x="7104380" y="5300980"/>
            <a:ext cx="3369945" cy="970280"/>
          </a:xfrm>
          <a:prstGeom prst="rect">
            <a:avLst/>
          </a:prstGeom>
          <a:noFill/>
          <a:ln w="25400">
            <a:solidFill>
              <a:schemeClr val="accent1"/>
            </a:solidFill>
            <a:prstDash val="sysDash"/>
          </a:ln>
        </p:spPr>
        <p:txBody>
          <a:bodyPr wrap="square" rtlCol="0" anchor="t">
            <a:noAutofit/>
          </a:bodyPr>
          <a:lstStyle/>
          <a:p>
            <a:pPr marL="285750" lvl="1" indent="0" algn="l" fontAlgn="ctr">
              <a:lnSpc>
                <a:spcPct val="130000"/>
              </a:lnSpc>
              <a:spcBef>
                <a:spcPts val="1000"/>
              </a:spcBef>
              <a:spcAft>
                <a:spcPts val="0"/>
              </a:spcAft>
              <a:buSzPct val="100000"/>
              <a:buFont typeface="Arial" panose="020B0604020202020204" pitchFamily="34" charset="0"/>
              <a:buNone/>
            </a:pPr>
            <a:r>
              <a:rPr lang="zh-CN"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建立信贷保险制度对存款进行保护、保险的原因。</a:t>
            </a:r>
            <a:endParaRPr lang="zh-CN" sz="2000" dirty="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5" name="Title 6"/>
          <p:cNvSpPr txBox="1"/>
          <p:nvPr>
            <p:custDataLst>
              <p:tags r:id="rId2"/>
            </p:custDataLst>
          </p:nvPr>
        </p:nvSpPr>
        <p:spPr>
          <a:xfrm>
            <a:off x="911860" y="981075"/>
            <a:ext cx="10034905" cy="413956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a:sym typeface="+mn-ea"/>
              </a:rPr>
              <a:t>有两个国家，</a:t>
            </a:r>
            <a:r>
              <a:rPr lang="zh-CN" altLang="en-US" sz="2000" b="1">
                <a:sym typeface="+mn-ea"/>
              </a:rPr>
              <a:t>国家</a:t>
            </a:r>
            <a:r>
              <a:rPr altLang="zh-CN" sz="2000" b="1">
                <a:sym typeface="+mn-ea"/>
              </a:rPr>
              <a:t>1</a:t>
            </a:r>
            <a:r>
              <a:rPr lang="zh-CN" altLang="en-US" sz="2000" b="1">
                <a:sym typeface="+mn-ea"/>
              </a:rPr>
              <a:t>和国家</a:t>
            </a:r>
            <a:r>
              <a:rPr altLang="zh-CN" sz="2000" b="1">
                <a:sym typeface="+mn-ea"/>
              </a:rPr>
              <a:t>2</a:t>
            </a:r>
            <a:r>
              <a:rPr lang="zh-CN" altLang="en-US" sz="2000">
                <a:sym typeface="+mn-ea"/>
              </a:rPr>
              <a:t>，他们决定本国进口商品的关税率。两国各有一个企业生产同一种既内销又相互出口的商品，这两个企业为</a:t>
            </a:r>
            <a:r>
              <a:rPr lang="zh-CN" altLang="en-US" sz="2000" b="1">
                <a:sym typeface="+mn-ea"/>
              </a:rPr>
              <a:t>企业</a:t>
            </a:r>
            <a:r>
              <a:rPr altLang="zh-CN" sz="2000" b="1">
                <a:sym typeface="+mn-ea"/>
              </a:rPr>
              <a:t>1</a:t>
            </a:r>
            <a:r>
              <a:rPr lang="zh-CN" altLang="en-US" sz="2000" b="1">
                <a:sym typeface="+mn-ea"/>
              </a:rPr>
              <a:t>和企业</a:t>
            </a:r>
            <a:r>
              <a:rPr altLang="zh-CN" sz="2000" b="1">
                <a:sym typeface="+mn-ea"/>
              </a:rPr>
              <a:t>2</a:t>
            </a:r>
            <a:r>
              <a:rPr lang="zh-CN" altLang="en-US" sz="2000">
                <a:sym typeface="+mn-ea"/>
              </a:rPr>
              <a:t>。</a:t>
            </a: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国家i市场上商品总量</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，出清价格</a:t>
            </a:r>
            <a:r>
              <a:rPr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P</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，i=1,2</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企业i生产</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h</a:t>
            </a:r>
            <a:r>
              <a:rPr altLang="zh-CN" sz="2000" b="1"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供内销，</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a:t>
            </a:r>
            <a:r>
              <a:rPr lang="zh-CN" altLang="en-US" sz="2000" b="1"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供出口</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Q</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=h</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，i，j=1,2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，当</a:t>
            </a:r>
            <a:r>
              <a:rPr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时，</a:t>
            </a:r>
            <a:r>
              <a:rPr altLang="zh-CN" sz="2000" i="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j=2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；当</a:t>
            </a:r>
            <a:r>
              <a:rPr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i=2</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时，</a:t>
            </a:r>
            <a:r>
              <a:rPr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j=1</a:t>
            </a:r>
            <a:endPar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两企业的边际成本均为</a:t>
            </a:r>
            <a:r>
              <a:rPr altLang="zh-CN"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国家</a:t>
            </a:r>
            <a:r>
              <a:rPr altLang="zh-CN"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j</a:t>
            </a:r>
            <a:r>
              <a:rPr lang="zh-CN" altLang="en-US" sz="2000" b="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的关税率为</a:t>
            </a:r>
            <a:r>
              <a:rPr lang="zh-CN" altLang="en-US" sz="20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t</a:t>
            </a:r>
            <a:r>
              <a:rPr altLang="zh-CN" sz="2000" b="1"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j</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，企业i的出口成本为</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ce</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+t</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j</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e</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，国内销售成本为</a:t>
            </a:r>
            <a:r>
              <a:rPr lang="zh-CN" altLang="en-US" sz="20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ch</a:t>
            </a:r>
            <a:r>
              <a:rPr altLang="zh-CN" sz="20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i</a:t>
            </a:r>
            <a:endPar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41</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有同时选择的动态博弈模型：</a:t>
              </a:r>
              <a:r>
                <a:rPr lang="zh-CN" altLang="en-US" sz="2800" dirty="0">
                  <a:solidFill>
                    <a:schemeClr val="accent1"/>
                  </a:solidFill>
                  <a:sym typeface="+mn-ea"/>
                </a:rPr>
                <a:t>国际竞争和最优关税</a:t>
              </a:r>
            </a:p>
          </p:txBody>
        </p:sp>
        <p:cxnSp>
          <p:nvCxnSpPr>
            <p:cNvPr id="11" name="直接连接符 10"/>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itle 6"/>
              <p:cNvSpPr txBox="1"/>
              <p:nvPr>
                <p:custDataLst>
                  <p:tags r:id="rId2"/>
                </p:custDataLst>
              </p:nvPr>
            </p:nvSpPr>
            <p:spPr>
              <a:xfrm>
                <a:off x="914400" y="836930"/>
                <a:ext cx="11277600" cy="58642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国家先定关税税率，企业再定产量。</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企业的利润函数:</a:t>
                </a: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i="1" dirty="0" err="1">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zh-CN" altLang="en-US" sz="2000" i="1" dirty="0" err="1">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j</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i="1" dirty="0" err="1">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宋体" panose="02010600030101010101" pitchFamily="2" charset="-122"/>
                    <a:ea typeface="宋体" panose="02010600030101010101" pitchFamily="2" charset="-122"/>
                    <a:cs typeface="Times New Roman" panose="02020603050405020304" pitchFamily="18" charset="0"/>
                    <a:sym typeface="+mn-ea"/>
                  </a:rPr>
                  <a:t>P</a:t>
                </a:r>
                <a:r>
                  <a:rPr lang="en-US" altLang="zh-CN" sz="2000" i="1" baseline="-25000" dirty="0">
                    <a:latin typeface="宋体" panose="02010600030101010101" pitchFamily="2" charset="-122"/>
                    <a:ea typeface="宋体" panose="02010600030101010101" pitchFamily="2" charset="-122"/>
                    <a:cs typeface="Times New Roman" panose="02020603050405020304" pitchFamily="18" charset="0"/>
                    <a:sym typeface="+mn-ea"/>
                  </a:rPr>
                  <a:t>i</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1" indent="0" algn="l" fontAlgn="ctr">
                  <a:lnSpc>
                    <a:spcPct val="130000"/>
                  </a:lnSpc>
                  <a:spcBef>
                    <a:spcPts val="0"/>
                  </a:spcBef>
                  <a:spcAft>
                    <a:spcPts val="0"/>
                  </a:spcAft>
                  <a:buSzPct val="100000"/>
                  <a:buFont typeface="Arial" panose="020B0604020202020204" pitchFamily="34" charset="0"/>
                  <a:buNone/>
                </a:pP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   </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a</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c</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国家的福利函数（消费者剩余、本国企业利润、国家关税收入）：</a:t>
                </a: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w</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w</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i="1" dirty="0" err="1">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zh-CN" altLang="en-US" sz="2000" i="1" dirty="0" err="1">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j</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i="1" dirty="0" err="1">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endPar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1" indent="0" algn="l" fontAlgn="ctr">
                  <a:lnSpc>
                    <a:spcPct val="130000"/>
                  </a:lnSpc>
                  <a:spcBef>
                    <a:spcPts val="0"/>
                  </a:spcBef>
                  <a:spcAft>
                    <a:spcPts val="0"/>
                  </a:spcAft>
                  <a:buSzPct val="100000"/>
                  <a:buFont typeface="Arial" panose="020B0604020202020204" pitchFamily="34" charset="0"/>
                  <a:buNone/>
                </a:pP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    </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h</a:t>
                </a:r>
                <a:r>
                  <a:rPr lang="en-US" altLang="zh-CN" sz="2000" i="1" baseline="-25000" dirty="0">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baseline="30000" dirty="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π</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t</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lang="en-US"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利润函数的一阶条件：</a:t>
                </a: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f>
                      <m:fPr>
                        <m:ctrlPr>
                          <a:rPr lang="en-US" altLang="zh-CN" sz="2000" i="1" smtClean="0">
                            <a:latin typeface="Cambria Math" panose="02040503050406030204" pitchFamily="18" charset="0"/>
                            <a:cs typeface="Times New Roman" panose="020206030504050203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zh-CN" altLang="en-US" sz="2000" i="1" smtClean="0">
                                <a:latin typeface="Cambria Math" panose="02040503050406030204" pitchFamily="18" charset="0"/>
                                <a:cs typeface="Times New Roman" panose="02020603050405020304" pitchFamily="18" charset="0"/>
                              </a:rPr>
                              <m:t>𝜋</m:t>
                            </m:r>
                          </m:e>
                          <m:sub>
                            <m:r>
                              <a:rPr lang="en-US" altLang="zh-CN" sz="2000" b="0" i="1" smtClean="0">
                                <a:latin typeface="Cambria Math" panose="02040503050406030204" pitchFamily="18" charset="0"/>
                                <a:cs typeface="Times New Roman" panose="02020603050405020304" pitchFamily="18" charset="0"/>
                              </a:rPr>
                              <m:t>𝑖</m:t>
                            </m:r>
                          </m:sub>
                        </m:sSub>
                      </m:num>
                      <m:den>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h</m:t>
                            </m:r>
                          </m:e>
                          <m:sub>
                            <m:r>
                              <a:rPr lang="en-US" altLang="zh-CN" sz="2000" b="0" i="1" smtClean="0">
                                <a:latin typeface="Cambria Math" panose="02040503050406030204" pitchFamily="18" charset="0"/>
                                <a:cs typeface="Times New Roman" panose="02020603050405020304" pitchFamily="18" charset="0"/>
                              </a:rPr>
                              <m:t>𝑖</m:t>
                            </m:r>
                          </m:sub>
                        </m:sSub>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−2</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h</m:t>
                        </m:r>
                      </m:e>
                      <m:sub>
                        <m:r>
                          <a:rPr lang="en-US" altLang="zh-CN" sz="2000" b="0" i="1" smtClean="0">
                            <a:latin typeface="Cambria Math" panose="02040503050406030204" pitchFamily="18" charset="0"/>
                            <a:cs typeface="Times New Roman" panose="02020603050405020304" pitchFamily="18" charset="0"/>
                          </a:rPr>
                          <m:t>𝑖</m:t>
                        </m:r>
                      </m:sub>
                    </m:sSub>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𝑒</m:t>
                        </m:r>
                      </m:e>
                      <m:sub>
                        <m:r>
                          <a:rPr lang="en-US" altLang="zh-CN" sz="2000" b="0" i="1" smtClean="0">
                            <a:latin typeface="Cambria Math" panose="02040503050406030204" pitchFamily="18" charset="0"/>
                            <a:cs typeface="Times New Roman" panose="02020603050405020304" pitchFamily="18" charset="0"/>
                          </a:rPr>
                          <m:t>𝑗</m:t>
                        </m:r>
                      </m:sub>
                    </m:sSub>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r>
                      <a:rPr lang="en-US" altLang="zh-CN" sz="2000" b="0" i="1" smtClean="0">
                        <a:latin typeface="Cambria Math" panose="02040503050406030204" pitchFamily="18" charset="0"/>
                        <a:cs typeface="Times New Roman" panose="02020603050405020304" pitchFamily="18" charset="0"/>
                      </a:rPr>
                      <m:t>=0</m:t>
                    </m:r>
                    <m:r>
                      <a:rPr lang="zh-CN" altLang="en-US" sz="2000" i="1">
                        <a:latin typeface="Cambria Math" panose="02040503050406030204" pitchFamily="18" charset="0"/>
                        <a:cs typeface="Times New Roman" panose="02020603050405020304" pitchFamily="18" charset="0"/>
                      </a:rPr>
                      <m:t>，</m:t>
                    </m:r>
                    <m:f>
                      <m:fPr>
                        <m:ctrlPr>
                          <a:rPr lang="en-US" altLang="zh-CN" sz="2000" i="1" smtClean="0">
                            <a:latin typeface="Cambria Math" panose="02040503050406030204" pitchFamily="18" charset="0"/>
                            <a:cs typeface="Times New Roman" panose="020206030504050203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zh-CN" altLang="en-US" sz="2000" i="1" smtClean="0">
                                <a:latin typeface="Cambria Math" panose="02040503050406030204" pitchFamily="18" charset="0"/>
                                <a:cs typeface="Times New Roman" panose="02020603050405020304" pitchFamily="18" charset="0"/>
                              </a:rPr>
                              <m:t>𝜋</m:t>
                            </m:r>
                          </m:e>
                          <m:sub>
                            <m:r>
                              <a:rPr lang="en-US" altLang="zh-CN" sz="2000" b="0" i="1" smtClean="0">
                                <a:latin typeface="Cambria Math" panose="02040503050406030204" pitchFamily="18" charset="0"/>
                                <a:cs typeface="Times New Roman" panose="02020603050405020304" pitchFamily="18" charset="0"/>
                              </a:rPr>
                              <m:t>𝑖</m:t>
                            </m:r>
                          </m:sub>
                        </m:sSub>
                      </m:num>
                      <m:den>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𝑒</m:t>
                            </m:r>
                          </m:e>
                          <m:sub>
                            <m:r>
                              <a:rPr lang="en-US" altLang="zh-CN" sz="2000" b="0" i="1" smtClean="0">
                                <a:latin typeface="Cambria Math" panose="02040503050406030204" pitchFamily="18" charset="0"/>
                                <a:cs typeface="Times New Roman" panose="02020603050405020304" pitchFamily="18" charset="0"/>
                              </a:rPr>
                              <m:t>𝑖</m:t>
                            </m:r>
                          </m:sub>
                        </m:sSub>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−2</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𝑒</m:t>
                        </m:r>
                      </m:e>
                      <m:sub>
                        <m:r>
                          <a:rPr lang="en-US" altLang="zh-CN" sz="2000" b="0" i="1" smtClean="0">
                            <a:latin typeface="Cambria Math" panose="02040503050406030204" pitchFamily="18" charset="0"/>
                            <a:cs typeface="Times New Roman" panose="02020603050405020304" pitchFamily="18" charset="0"/>
                          </a:rPr>
                          <m:t>𝑖</m:t>
                        </m:r>
                      </m:sub>
                    </m:sSub>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h</m:t>
                        </m:r>
                      </m:e>
                      <m:sub>
                        <m:r>
                          <a:rPr lang="en-US" altLang="zh-CN" sz="2000" b="0" i="1" smtClean="0">
                            <a:latin typeface="Cambria Math" panose="02040503050406030204" pitchFamily="18" charset="0"/>
                            <a:cs typeface="Times New Roman" panose="02020603050405020304" pitchFamily="18" charset="0"/>
                          </a:rPr>
                          <m:t>𝑗</m:t>
                        </m:r>
                      </m:sub>
                    </m:sSub>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𝑗</m:t>
                        </m:r>
                      </m:sub>
                    </m:sSub>
                    <m:r>
                      <a:rPr lang="en-US" altLang="zh-CN" sz="2000" b="0" i="1" smtClean="0">
                        <a:latin typeface="Cambria Math" panose="02040503050406030204" pitchFamily="18" charset="0"/>
                        <a:cs typeface="Times New Roman" panose="02020603050405020304" pitchFamily="18" charset="0"/>
                      </a:rPr>
                      <m:t>=0 </m:t>
                    </m:r>
                  </m:oMath>
                </a14:m>
                <a:endParaRPr lang="en-US" altLang="zh-CN" sz="2000" b="0" i="1">
                  <a:latin typeface="Cambria Math" panose="02040503050406030204" pitchFamily="18" charset="0"/>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国内外销售产品的反应函数为：</a:t>
                </a: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h</a:t>
                </a:r>
                <a:r>
                  <a:rPr lang="en-US" altLang="zh-CN" sz="2000" i="1" baseline="-25000" dirty="0">
                    <a:latin typeface="Times New Roman" panose="02020603050405020304" pitchFamily="18" charset="0"/>
                    <a:cs typeface="Times New Roman" panose="02020603050405020304" pitchFamily="18" charset="0"/>
                    <a:sym typeface="+mn-ea"/>
                  </a:rPr>
                  <a:t>i</a:t>
                </a:r>
                <a:r>
                  <a:rPr lang="en-US" altLang="zh-CN" sz="2000" i="1" baseline="30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0.5</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a</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e</a:t>
                </a:r>
                <a:r>
                  <a:rPr lang="en-US" altLang="zh-CN" sz="2000" i="1" baseline="-25000" dirty="0" err="1">
                    <a:latin typeface="Times New Roman" panose="02020603050405020304" pitchFamily="18" charset="0"/>
                    <a:cs typeface="Times New Roman" panose="02020603050405020304" pitchFamily="18" charset="0"/>
                    <a:sym typeface="+mn-ea"/>
                  </a:rPr>
                  <a:t>j</a:t>
                </a:r>
                <a:r>
                  <a:rPr lang="en-US" altLang="zh-CN" sz="2000" i="1" baseline="30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e</a:t>
                </a:r>
                <a:r>
                  <a:rPr lang="en-US" altLang="zh-CN" sz="2000" i="1" baseline="-25000" dirty="0" err="1">
                    <a:latin typeface="Times New Roman" panose="02020603050405020304" pitchFamily="18" charset="0"/>
                    <a:cs typeface="Times New Roman" panose="02020603050405020304" pitchFamily="18" charset="0"/>
                    <a:sym typeface="+mn-ea"/>
                  </a:rPr>
                  <a:t>i</a:t>
                </a:r>
                <a:r>
                  <a:rPr lang="en-US" altLang="zh-CN" sz="2000" i="1" baseline="30000" dirty="0">
                    <a:latin typeface="Times New Roman" panose="02020603050405020304" pitchFamily="18" charset="0"/>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0.5</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a</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h</a:t>
                </a:r>
                <a:r>
                  <a:rPr lang="en-US" altLang="zh-CN" sz="2000" i="1" baseline="-25000" dirty="0" err="1">
                    <a:latin typeface="Times New Roman" panose="02020603050405020304" pitchFamily="18" charset="0"/>
                    <a:cs typeface="Times New Roman" panose="02020603050405020304" pitchFamily="18" charset="0"/>
                    <a:sym typeface="+mn-ea"/>
                  </a:rPr>
                  <a:t>j</a:t>
                </a:r>
                <a:r>
                  <a:rPr lang="en-US" altLang="zh-CN" sz="2000" i="1" baseline="30000" dirty="0">
                    <a:latin typeface="Times New Roman" panose="02020603050405020304" pitchFamily="18" charset="0"/>
                    <a:cs typeface="Times New Roman" panose="02020603050405020304" pitchFamily="18" charset="0"/>
                    <a:sym typeface="+mn-ea"/>
                  </a:rPr>
                  <a:t>*</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t</a:t>
                </a:r>
                <a:r>
                  <a:rPr lang="en-US" altLang="zh-CN" sz="2000" i="1" baseline="-25000" dirty="0" err="1">
                    <a:latin typeface="Times New Roman" panose="02020603050405020304" pitchFamily="18" charset="0"/>
                    <a:cs typeface="Times New Roman" panose="02020603050405020304" pitchFamily="18" charset="0"/>
                    <a:sym typeface="+mn-ea"/>
                  </a:rPr>
                  <a:t>j</a:t>
                </a:r>
                <a:r>
                  <a:rPr lang="en-US" altLang="zh-CN"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cs typeface="Times New Roman" panose="02020603050405020304" pitchFamily="18" charset="0"/>
                    <a:sym typeface="+mn-ea"/>
                  </a:rPr>
                  <a:t>解得：</a:t>
                </a: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h</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000" i="1" baseline="30000" dirty="0">
                        <a:latin typeface="Cambria Math" panose="02040503050406030204" pitchFamily="18" charset="0"/>
                        <a:cs typeface="Times New Roman" panose="02020603050405020304" pitchFamily="18" charset="0"/>
                        <a:sym typeface="+mn-ea"/>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𝑐</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m:t>
                            </m:r>
                          </m:sub>
                        </m:sSub>
                      </m:num>
                      <m:den>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3</m:t>
                        </m:r>
                      </m:den>
                    </m:f>
                    <m:r>
                      <a:rPr lang="zh-CN" altLang="en-US" sz="2000" i="1">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𝑒</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2000" i="1" baseline="30000" dirty="0">
                        <a:latin typeface="Cambria Math" panose="02040503050406030204" pitchFamily="18" charset="0"/>
                        <a:cs typeface="Times New Roman" panose="02020603050405020304" pitchFamily="18" charset="0"/>
                        <a:sym typeface="+mn-ea"/>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𝑎</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𝑐</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−2</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𝑗</m:t>
                            </m:r>
                          </m:sub>
                        </m:sSub>
                      </m:num>
                      <m:den>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3</m:t>
                        </m:r>
                      </m:den>
                    </m:f>
                  </m:oMath>
                </a14:m>
                <a:endParaRPr lang="zh-CN" altLang="en-US" sz="2000" dirty="0">
                  <a:latin typeface="宋体" panose="02010600030101010101" pitchFamily="2" charset="-122"/>
                  <a:ea typeface="宋体" panose="02010600030101010101" pitchFamily="2" charset="-122"/>
                  <a:cs typeface="Times New Roman" panose="02020603050405020304" pitchFamily="18" charset="0"/>
                  <a:sym typeface="+mn-ea"/>
                </a:endParaRPr>
              </a:p>
              <a:p>
                <a:pPr marL="285750" lvl="1" indent="0" algn="l" fontAlgn="ctr">
                  <a:lnSpc>
                    <a:spcPct val="130000"/>
                  </a:lnSpc>
                  <a:spcBef>
                    <a:spcPts val="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5" name="Title 6"/>
              <p:cNvSpPr txBox="1">
                <a:spLocks noRot="1" noChangeAspect="1" noMove="1" noResize="1" noEditPoints="1" noAdjustHandles="1" noChangeArrowheads="1" noChangeShapeType="1" noTextEdit="1"/>
              </p:cNvSpPr>
              <p:nvPr>
                <p:custDataLst>
                  <p:tags r:id="rId7"/>
                </p:custDataLst>
              </p:nvPr>
            </p:nvSpPr>
            <p:spPr>
              <a:xfrm>
                <a:off x="914400" y="836930"/>
                <a:ext cx="11277600" cy="5864225"/>
              </a:xfrm>
              <a:prstGeom prst="rect">
                <a:avLst/>
              </a:prstGeom>
              <a:blipFill rotWithShape="1">
                <a:blip r:embed="rId8"/>
                <a:stretch>
                  <a:fillRect t="-1841" b="-1862"/>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42</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有同时选择的动态博弈模型：</a:t>
              </a:r>
              <a:r>
                <a:rPr lang="zh-CN" altLang="en-US" sz="2800" dirty="0">
                  <a:solidFill>
                    <a:schemeClr val="accent1"/>
                  </a:solidFill>
                  <a:sym typeface="+mn-ea"/>
                </a:rPr>
                <a:t>国际竞争和最优关税</a:t>
              </a:r>
            </a:p>
          </p:txBody>
        </p:sp>
        <p:cxnSp>
          <p:nvCxnSpPr>
            <p:cNvPr id="11" name="直接连接符 10"/>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itle 6"/>
              <p:cNvSpPr txBox="1"/>
              <p:nvPr>
                <p:custDataLst>
                  <p:tags r:id="rId2"/>
                </p:custDataLst>
              </p:nvPr>
            </p:nvSpPr>
            <p:spPr>
              <a:xfrm>
                <a:off x="911860" y="836930"/>
                <a:ext cx="11277600" cy="39293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1" indent="-285750" algn="l" fontAlgn="ctr">
                  <a:lnSpc>
                    <a:spcPct val="130000"/>
                  </a:lnSpc>
                  <a:spcBef>
                    <a:spcPts val="0"/>
                  </a:spcBef>
                  <a:spcAft>
                    <a:spcPts val="0"/>
                  </a:spcAft>
                  <a:buSzPct val="100000"/>
                  <a:buFont typeface="Wingdings" panose="05000000000000000000" charset="0"/>
                  <a:buChar char="l"/>
                </a:pPr>
                <a:r>
                  <a:rPr lang="zh-CN" altLang="en-US" sz="2000" dirty="0">
                    <a:solidFill>
                      <a:schemeClr val="tx1"/>
                    </a:solidFill>
                    <a:cs typeface="Times New Roman" panose="02020603050405020304" pitchFamily="18" charset="0"/>
                    <a:sym typeface="+mn-ea"/>
                  </a:rPr>
                  <a:t>将均衡产量</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h</a:t>
                </a:r>
                <a:r>
                  <a:rPr altLang="zh-CN" sz="2000" i="1" baseline="-25000">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i="1" baseline="30000" dirty="0">
                    <a:latin typeface="Times New Roman" panose="02020603050405020304" pitchFamily="18" charset="0"/>
                    <a:cs typeface="Times New Roman" panose="02020603050405020304" pitchFamily="18" charset="0"/>
                    <a:sym typeface="+mn-ea"/>
                  </a:rPr>
                  <a:t>*</a:t>
                </a:r>
                <a:r>
                  <a:rPr lang="zh-CN" altLang="en-US" sz="2000" i="1">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h</a:t>
                </a:r>
                <a:r>
                  <a:rPr altLang="zh-CN" sz="2000" i="1" baseline="-25000">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i="1" baseline="30000" dirty="0">
                    <a:latin typeface="Times New Roman" panose="02020603050405020304" pitchFamily="18" charset="0"/>
                    <a:cs typeface="Times New Roman" panose="02020603050405020304" pitchFamily="18" charset="0"/>
                    <a:sym typeface="+mn-ea"/>
                  </a:rPr>
                  <a:t>*</a:t>
                </a:r>
                <a:r>
                  <a:rPr lang="zh-CN" altLang="en-US" sz="2000" i="1">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2000" i="1" baseline="30000" dirty="0">
                    <a:latin typeface="Times New Roman" panose="02020603050405020304" pitchFamily="18" charset="0"/>
                    <a:cs typeface="Times New Roman" panose="02020603050405020304" pitchFamily="18" charset="0"/>
                    <a:sym typeface="+mn-ea"/>
                  </a:rPr>
                  <a:t>*</a:t>
                </a:r>
                <a:r>
                  <a:rPr lang="zh-CN" altLang="en-US" sz="2000" i="1" dirty="0" err="1">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dirty="0" err="1">
                    <a:latin typeface="Times New Roman" panose="02020603050405020304" pitchFamily="18" charset="0"/>
                    <a:ea typeface="宋体" panose="02010600030101010101" pitchFamily="2" charset="-122"/>
                    <a:cs typeface="Times New Roman" panose="02020603050405020304" pitchFamily="18" charset="0"/>
                    <a:sym typeface="+mn-ea"/>
                  </a:rPr>
                  <a:t>e</a:t>
                </a:r>
                <a:r>
                  <a:rPr altLang="zh-CN" sz="2000" i="1" baseline="-25000" dirty="0" err="1">
                    <a:latin typeface="Times New Roman" panose="02020603050405020304" pitchFamily="18" charset="0"/>
                    <a:ea typeface="宋体" panose="02010600030101010101" pitchFamily="2" charset="-122"/>
                    <a:cs typeface="Times New Roman" panose="02020603050405020304" pitchFamily="18" charset="0"/>
                    <a:sym typeface="+mn-ea"/>
                  </a:rPr>
                  <a:t>j</a:t>
                </a:r>
                <a:r>
                  <a:rPr lang="en-US" altLang="zh-CN" sz="2000" i="1" baseline="30000" dirty="0">
                    <a:latin typeface="Times New Roman" panose="02020603050405020304" pitchFamily="18" charset="0"/>
                    <a:cs typeface="Times New Roman" panose="02020603050405020304" pitchFamily="18" charset="0"/>
                    <a:sym typeface="+mn-ea"/>
                  </a:rPr>
                  <a:t>*</a:t>
                </a:r>
                <a:r>
                  <a:rPr altLang="zh-CN" sz="2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dirty="0">
                    <a:solidFill>
                      <a:schemeClr val="tx1"/>
                    </a:solidFill>
                    <a:cs typeface="Times New Roman" panose="02020603050405020304" pitchFamily="18" charset="0"/>
                    <a:sym typeface="+mn-ea"/>
                  </a:rPr>
                  <a:t>代入国家</a:t>
                </a:r>
                <a:r>
                  <a:rPr lang="en-US" altLang="zh-CN" sz="2000" dirty="0">
                    <a:solidFill>
                      <a:schemeClr val="tx1"/>
                    </a:solidFill>
                    <a:cs typeface="Times New Roman" panose="02020603050405020304" pitchFamily="18" charset="0"/>
                    <a:sym typeface="+mn-ea"/>
                  </a:rPr>
                  <a:t>i</a:t>
                </a:r>
                <a:r>
                  <a:rPr lang="zh-CN" altLang="en-US" sz="2000" dirty="0">
                    <a:solidFill>
                      <a:schemeClr val="tx1"/>
                    </a:solidFill>
                    <a:cs typeface="Times New Roman" panose="02020603050405020304" pitchFamily="18" charset="0"/>
                    <a:sym typeface="+mn-ea"/>
                  </a:rPr>
                  <a:t>的福利函数后得到：</a:t>
                </a:r>
                <a:endParaRPr lang="zh-CN" altLang="en-US" sz="2000" dirty="0">
                  <a:cs typeface="Times New Roman" panose="02020603050405020304" pitchFamily="18" charset="0"/>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𝑤</m:t>
                        </m:r>
                      </m:e>
                      <m:sub>
                        <m:r>
                          <a:rPr lang="en-US" altLang="zh-CN" sz="2000" b="0" i="1" smtClean="0">
                            <a:latin typeface="Cambria Math" panose="02040503050406030204" pitchFamily="18" charset="0"/>
                            <a:cs typeface="Times New Roman" panose="02020603050405020304" pitchFamily="18" charset="0"/>
                          </a:rPr>
                          <m:t>𝑖</m:t>
                        </m:r>
                      </m:sub>
                    </m:sSub>
                    <m:r>
                      <a:rPr altLang="zh-CN" sz="2000">
                        <a:latin typeface="Cambria Math" panose="02040503050406030204" pitchFamily="18" charset="0"/>
                        <a:ea typeface="宋体" panose="02010600030101010101" pitchFamily="2" charset="-122"/>
                        <a:cs typeface="Times New Roman" panose="02020603050405020304" pitchFamily="18" charset="0"/>
                        <a:sym typeface="+mn-ea"/>
                      </a:rPr>
                      <m:t>(</m:t>
                    </m:r>
                    <m:r>
                      <a:rPr lang="en-US" sz="2000" i="1">
                        <a:latin typeface="Cambria Math" panose="02040503050406030204" pitchFamily="18" charset="0"/>
                        <a:ea typeface="宋体" panose="02010600030101010101" pitchFamily="2" charset="-122"/>
                        <a:cs typeface="Times New Roman" panose="02020603050405020304" pitchFamily="18" charset="0"/>
                        <a:sym typeface="+mn-ea"/>
                      </a:rPr>
                      <m:t>𝑡</m:t>
                    </m:r>
                    <m:r>
                      <a:rPr altLang="zh-CN" sz="2000" i="1" baseline="-25000">
                        <a:latin typeface="Cambria Math" panose="02040503050406030204" pitchFamily="18" charset="0"/>
                        <a:ea typeface="宋体" panose="02010600030101010101" pitchFamily="2" charset="-122"/>
                        <a:cs typeface="Times New Roman" panose="02020603050405020304" pitchFamily="18" charset="0"/>
                        <a:sym typeface="+mn-ea"/>
                      </a:rPr>
                      <m:t>𝑖</m:t>
                    </m:r>
                    <m:r>
                      <a:rPr lang="en-US" sz="2000" i="1">
                        <a:latin typeface="Cambria Math" panose="02040503050406030204" pitchFamily="18" charset="0"/>
                        <a:cs typeface="Times New Roman" panose="02020603050405020304" pitchFamily="18" charset="0"/>
                        <a:sym typeface="+mn-ea"/>
                      </a:rPr>
                      <m:t>,</m:t>
                    </m:r>
                    <m:r>
                      <a:rPr lang="en-US" sz="2000" i="1" dirty="0" err="1">
                        <a:latin typeface="Cambria Math" panose="02040503050406030204" pitchFamily="18" charset="0"/>
                        <a:ea typeface="宋体" panose="02010600030101010101" pitchFamily="2" charset="-122"/>
                        <a:cs typeface="Times New Roman" panose="02020603050405020304" pitchFamily="18" charset="0"/>
                        <a:sym typeface="+mn-ea"/>
                      </a:rPr>
                      <m:t>𝑡</m:t>
                    </m:r>
                    <m:r>
                      <a:rPr altLang="zh-CN" sz="2000" i="1" baseline="-25000" dirty="0" err="1">
                        <a:latin typeface="Cambria Math" panose="02040503050406030204" pitchFamily="18" charset="0"/>
                        <a:ea typeface="宋体" panose="02010600030101010101" pitchFamily="2" charset="-122"/>
                        <a:cs typeface="Times New Roman" panose="02020603050405020304" pitchFamily="18" charset="0"/>
                        <a:sym typeface="+mn-ea"/>
                      </a:rPr>
                      <m:t>𝑗</m:t>
                    </m:r>
                    <m:r>
                      <a:rPr lang="en-US" altLang="zh-CN" sz="2000" i="1" baseline="30000" dirty="0">
                        <a:latin typeface="Cambria Math" panose="02040503050406030204" pitchFamily="18" charset="0"/>
                        <a:cs typeface="Times New Roman" panose="02020603050405020304" pitchFamily="18" charset="0"/>
                        <a:sym typeface="+mn-ea"/>
                      </a:rPr>
                      <m:t>∗</m:t>
                    </m:r>
                    <m:r>
                      <a:rPr altLang="zh-CN" sz="2000">
                        <a:latin typeface="Cambria Math" panose="02040503050406030204" pitchFamily="18" charset="0"/>
                        <a:ea typeface="宋体" panose="02010600030101010101" pitchFamily="2" charset="-122"/>
                        <a:cs typeface="Times New Roman" panose="02020603050405020304" pitchFamily="18" charset="0"/>
                        <a:sym typeface="+mn-ea"/>
                      </a:rPr>
                      <m:t>)</m:t>
                    </m:r>
                    <m:r>
                      <a:rPr lang="en-US" altLang="zh-CN" sz="2000" b="0" i="1" smtClean="0">
                        <a:latin typeface="Cambria Math" panose="02040503050406030204" pitchFamily="18" charset="0"/>
                        <a:cs typeface="Times New Roman" panose="020206030504050203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sSup>
                          <m:sSupPr>
                            <m:ctrlPr>
                              <a:rPr lang="en-US" altLang="zh-CN" sz="2000" b="0" i="1" smtClean="0">
                                <a:latin typeface="Cambria Math" panose="02040503050406030204" pitchFamily="18" charset="0"/>
                                <a:cs typeface="Times New Roman" panose="02020603050405020304" pitchFamily="18" charset="0"/>
                              </a:rPr>
                            </m:ctrlPr>
                          </m:sSupPr>
                          <m:e>
                            <m:d>
                              <m:dPr>
                                <m:begChr m:val="["/>
                                <m:endChr m:val="]"/>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2</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𝑎</m:t>
                                    </m:r>
                                    <m:r>
                                      <a:rPr lang="en-US" altLang="zh-CN" sz="2000" i="1">
                                        <a:latin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cs typeface="Times New Roman" panose="02020603050405020304" pitchFamily="18" charset="0"/>
                                      </a:rPr>
                                      <m:t>𝑐</m:t>
                                    </m:r>
                                  </m:e>
                                </m:d>
                                <m:r>
                                  <a:rPr lang="en-US" altLang="zh-CN" sz="2000" i="1">
                                    <a:latin typeface="Cambria Math" panose="02040503050406030204" pitchFamily="18" charset="0"/>
                                    <a:cs typeface="Times New Roman" panose="02020603050405020304" pitchFamily="18" charset="0"/>
                                  </a:rPr>
                                  <m:t>−</m:t>
                                </m:r>
                                <m:sSub>
                                  <m:sSubPr>
                                    <m:ctrlPr>
                                      <a:rPr lang="en-US" altLang="zh-CN" sz="2000" i="1">
                                        <a:latin typeface="Cambria Math" panose="02040503050406030204" pitchFamily="18" charset="0"/>
                                        <a:cs typeface="Times New Roman" panose="02020603050405020304" pitchFamily="18" charset="0"/>
                                      </a:rPr>
                                    </m:ctrlPr>
                                  </m:sSubPr>
                                  <m:e>
                                    <m:r>
                                      <a:rPr lang="en-US" altLang="zh-CN" sz="2000" i="1">
                                        <a:latin typeface="Cambria Math" panose="02040503050406030204" pitchFamily="18" charset="0"/>
                                        <a:cs typeface="Times New Roman" panose="02020603050405020304" pitchFamily="18" charset="0"/>
                                      </a:rPr>
                                      <m:t>𝑡</m:t>
                                    </m:r>
                                  </m:e>
                                  <m:sub>
                                    <m:r>
                                      <a:rPr lang="en-US" altLang="zh-CN" sz="2000" i="1">
                                        <a:latin typeface="Cambria Math" panose="02040503050406030204" pitchFamily="18" charset="0"/>
                                        <a:cs typeface="Times New Roman" panose="02020603050405020304" pitchFamily="18" charset="0"/>
                                      </a:rPr>
                                      <m:t>𝑖</m:t>
                                    </m:r>
                                  </m:sub>
                                </m:sSub>
                              </m:e>
                            </m:d>
                          </m:e>
                          <m:sup>
                            <m:r>
                              <a:rPr lang="en-US" altLang="zh-CN" sz="2000" b="0" i="1" smtClean="0">
                                <a:latin typeface="Cambria Math" panose="02040503050406030204" pitchFamily="18" charset="0"/>
                                <a:cs typeface="Times New Roman" panose="02020603050405020304" pitchFamily="18" charset="0"/>
                              </a:rPr>
                              <m:t>2</m:t>
                            </m:r>
                          </m:sup>
                        </m:sSup>
                      </m:num>
                      <m:den>
                        <m:r>
                          <a:rPr lang="en-US" altLang="zh-CN" sz="2000" b="0" i="1" smtClean="0">
                            <a:latin typeface="Cambria Math" panose="02040503050406030204" pitchFamily="18" charset="0"/>
                            <a:cs typeface="Times New Roman" panose="02020603050405020304" pitchFamily="18" charset="0"/>
                          </a:rPr>
                          <m:t>18</m:t>
                        </m:r>
                      </m:den>
                    </m:f>
                    <m:r>
                      <a:rPr lang="en-US" altLang="zh-CN" sz="2000" b="0" i="1" smtClean="0">
                        <a:latin typeface="Cambria Math" panose="02040503050406030204" pitchFamily="18" charset="0"/>
                        <a:cs typeface="Times New Roman" panose="020206030504050203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sSup>
                          <m:sSupPr>
                            <m:ctrlPr>
                              <a:rPr lang="en-US" altLang="zh-CN" sz="2000" b="0" i="1" smtClean="0">
                                <a:latin typeface="Cambria Math" panose="02040503050406030204" pitchFamily="18" charset="0"/>
                                <a:cs typeface="Times New Roman" panose="02020603050405020304" pitchFamily="18" charset="0"/>
                              </a:rPr>
                            </m:ctrlPr>
                          </m:sSupPr>
                          <m:e>
                            <m:d>
                              <m:dPr>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𝑖</m:t>
                                    </m:r>
                                  </m:sub>
                                </m:sSub>
                              </m:e>
                            </m:d>
                          </m:e>
                          <m:sup>
                            <m:r>
                              <a:rPr lang="en-US" altLang="zh-CN" sz="2000" b="0" i="1" smtClean="0">
                                <a:latin typeface="Cambria Math" panose="02040503050406030204" pitchFamily="18" charset="0"/>
                                <a:cs typeface="Times New Roman" panose="02020603050405020304" pitchFamily="18" charset="0"/>
                              </a:rPr>
                              <m:t>2</m:t>
                            </m:r>
                          </m:sup>
                        </m:sSup>
                      </m:num>
                      <m:den>
                        <m:r>
                          <a:rPr lang="en-US" altLang="zh-CN" sz="2000" b="0" i="1" smtClean="0">
                            <a:latin typeface="Cambria Math" panose="02040503050406030204" pitchFamily="18" charset="0"/>
                            <a:cs typeface="Times New Roman" panose="02020603050405020304" pitchFamily="18" charset="0"/>
                          </a:rPr>
                          <m:t>9</m:t>
                        </m:r>
                      </m:den>
                    </m:f>
                    <m:r>
                      <a:rPr lang="en-US" altLang="zh-CN" sz="2000" b="0" i="1" smtClean="0">
                        <a:latin typeface="Cambria Math" panose="02040503050406030204" pitchFamily="18" charset="0"/>
                        <a:cs typeface="Times New Roman" panose="020206030504050203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sSup>
                          <m:sSupPr>
                            <m:ctrlPr>
                              <a:rPr lang="en-US" altLang="zh-CN" sz="2000" b="0" i="1" smtClean="0">
                                <a:latin typeface="Cambria Math" panose="02040503050406030204" pitchFamily="18" charset="0"/>
                                <a:cs typeface="Times New Roman" panose="02020603050405020304" pitchFamily="18" charset="0"/>
                              </a:rPr>
                            </m:ctrlPr>
                          </m:sSupPr>
                          <m:e>
                            <m:d>
                              <m:dPr>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r>
                                  <a:rPr lang="en-US" altLang="zh-CN" sz="2000" b="0" i="1" smtClean="0">
                                    <a:latin typeface="Cambria Math" panose="02040503050406030204" pitchFamily="18" charset="0"/>
                                    <a:cs typeface="Times New Roman" panose="02020603050405020304" pitchFamily="18" charset="0"/>
                                  </a:rPr>
                                  <m:t>−2</m:t>
                                </m:r>
                                <m:sSubSup>
                                  <m:sSubSupPr>
                                    <m:ctrlPr>
                                      <a:rPr lang="en-US" altLang="zh-CN" sz="2000" b="0" i="1" smtClean="0">
                                        <a:latin typeface="Cambria Math" panose="02040503050406030204" pitchFamily="18" charset="0"/>
                                        <a:cs typeface="Cambria Math" panose="02040503050406030204" pitchFamily="18" charset="0"/>
                                      </a:rPr>
                                    </m:ctrlPr>
                                  </m:sSubSupPr>
                                  <m:e>
                                    <m:r>
                                      <a:rPr lang="en-US" altLang="zh-CN" sz="2000" b="0" i="1" smtClean="0">
                                        <a:latin typeface="Cambria Math" panose="02040503050406030204" pitchFamily="18" charset="0"/>
                                        <a:cs typeface="Cambria Math" panose="02040503050406030204" pitchFamily="18" charset="0"/>
                                      </a:rPr>
                                      <m:t>𝑡</m:t>
                                    </m:r>
                                  </m:e>
                                  <m:sub>
                                    <m:r>
                                      <a:rPr lang="en-US" altLang="zh-CN" sz="2000" b="0" i="1" smtClean="0">
                                        <a:latin typeface="Cambria Math" panose="02040503050406030204" pitchFamily="18" charset="0"/>
                                        <a:cs typeface="Cambria Math" panose="02040503050406030204" pitchFamily="18" charset="0"/>
                                      </a:rPr>
                                      <m:t>𝑗</m:t>
                                    </m:r>
                                  </m:sub>
                                  <m:sup>
                                    <m:r>
                                      <a:rPr lang="en-US" altLang="zh-CN" sz="2000" b="0" i="1" smtClean="0">
                                        <a:latin typeface="Cambria Math" panose="02040503050406030204" pitchFamily="18" charset="0"/>
                                        <a:cs typeface="Cambria Math" panose="02040503050406030204" pitchFamily="18" charset="0"/>
                                      </a:rPr>
                                      <m:t>∗</m:t>
                                    </m:r>
                                  </m:sup>
                                </m:sSubSup>
                              </m:e>
                            </m:d>
                          </m:e>
                          <m:sup>
                            <m:r>
                              <a:rPr lang="en-US" altLang="zh-CN" sz="2000" b="0" i="1" smtClean="0">
                                <a:latin typeface="Cambria Math" panose="02040503050406030204" pitchFamily="18" charset="0"/>
                                <a:cs typeface="Times New Roman" panose="02020603050405020304" pitchFamily="18" charset="0"/>
                              </a:rPr>
                              <m:t>2</m:t>
                            </m:r>
                          </m:sup>
                        </m:sSup>
                      </m:num>
                      <m:den>
                        <m:r>
                          <a:rPr lang="en-US" altLang="zh-CN" sz="2000" b="0" i="1" smtClean="0">
                            <a:latin typeface="Cambria Math" panose="02040503050406030204" pitchFamily="18" charset="0"/>
                            <a:cs typeface="Times New Roman" panose="02020603050405020304" pitchFamily="18" charset="0"/>
                          </a:rPr>
                          <m:t>9</m:t>
                        </m:r>
                      </m:den>
                    </m:f>
                    <m:r>
                      <a:rPr lang="en-US" altLang="zh-CN" sz="2000" b="0" i="1" smtClean="0">
                        <a:latin typeface="Cambria Math" panose="02040503050406030204" pitchFamily="18" charset="0"/>
                        <a:cs typeface="Times New Roman" panose="020206030504050203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𝑖</m:t>
                            </m:r>
                          </m:sub>
                        </m:sSub>
                        <m:d>
                          <m:dPr>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r>
                              <a:rPr lang="en-US" altLang="zh-CN" sz="2000" b="0" i="1" smtClean="0">
                                <a:latin typeface="Cambria Math" panose="02040503050406030204" pitchFamily="18" charset="0"/>
                                <a:cs typeface="Times New Roman" panose="02020603050405020304" pitchFamily="18" charset="0"/>
                              </a:rPr>
                              <m:t>−2</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𝑖</m:t>
                                </m:r>
                              </m:sub>
                            </m:sSub>
                          </m:e>
                        </m:d>
                      </m:num>
                      <m:den>
                        <m:r>
                          <a:rPr lang="en-US" altLang="zh-CN" sz="2000" b="0" i="1" smtClean="0">
                            <a:latin typeface="Cambria Math" panose="02040503050406030204" pitchFamily="18" charset="0"/>
                            <a:cs typeface="Times New Roman" panose="02020603050405020304" pitchFamily="18" charset="0"/>
                          </a:rPr>
                          <m:t>3</m:t>
                        </m:r>
                      </m:den>
                    </m:f>
                  </m:oMath>
                </a14:m>
                <a:endParaRPr lang="en-US" altLang="zh-CN" sz="2000" b="0" i="1">
                  <a:latin typeface="Cambria Math" panose="02040503050406030204" pitchFamily="18" charset="0"/>
                  <a:cs typeface="Times New Roman" panose="02020603050405020304" pitchFamily="18" charset="0"/>
                </a:endParaRPr>
              </a:p>
              <a:p>
                <a:pPr marL="285750" lvl="0" indent="-285750" algn="l" fontAlgn="ctr">
                  <a:lnSpc>
                    <a:spcPct val="130000"/>
                  </a:lnSpc>
                  <a:spcBef>
                    <a:spcPts val="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一阶条件：</a:t>
                </a: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f>
                      <m:fPr>
                        <m:ctrlPr>
                          <a:rPr lang="en-US" altLang="zh-CN" sz="2000" i="1" smtClean="0">
                            <a:latin typeface="Cambria Math" panose="02040503050406030204" pitchFamily="18" charset="0"/>
                            <a:cs typeface="Times New Roman" panose="020206030504050203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𝑤</m:t>
                            </m:r>
                          </m:e>
                          <m:sub>
                            <m:r>
                              <a:rPr lang="en-US" altLang="zh-CN" sz="2000" b="0" i="1" smtClean="0">
                                <a:latin typeface="Cambria Math" panose="02040503050406030204" pitchFamily="18" charset="0"/>
                                <a:cs typeface="Times New Roman" panose="02020603050405020304" pitchFamily="18" charset="0"/>
                              </a:rPr>
                              <m:t>𝑖</m:t>
                            </m:r>
                          </m:sub>
                        </m:sSub>
                      </m:num>
                      <m:den>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𝑖</m:t>
                            </m:r>
                          </m:sub>
                        </m:sSub>
                      </m:den>
                    </m:f>
                    <m:r>
                      <a:rPr lang="en-US" altLang="zh-CN" sz="2000" b="0" i="1" smtClean="0">
                        <a:latin typeface="Cambria Math" panose="02040503050406030204" pitchFamily="18" charset="0"/>
                        <a:cs typeface="Times New Roman" panose="020206030504050203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r>
                          <a:rPr lang="en-US" altLang="zh-CN" sz="2000" b="0" i="1" smtClean="0">
                            <a:latin typeface="Cambria Math" panose="02040503050406030204" pitchFamily="18" charset="0"/>
                            <a:cs typeface="Times New Roman" panose="02020603050405020304" pitchFamily="18" charset="0"/>
                          </a:rPr>
                          <m:t>2</m:t>
                        </m:r>
                        <m:d>
                          <m:dPr>
                            <m:begChr m:val="["/>
                            <m:endChr m:val="]"/>
                            <m:ctrlPr>
                              <a:rPr lang="en-US" altLang="zh-CN" sz="2000" b="0" i="1" smtClean="0">
                                <a:latin typeface="Cambria Math" panose="02040503050406030204" pitchFamily="18" charset="0"/>
                                <a:cs typeface="Times New Roman" panose="02020603050405020304" pitchFamily="18" charset="0"/>
                              </a:rPr>
                            </m:ctrlPr>
                          </m:dPr>
                          <m:e>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𝑖</m:t>
                                </m:r>
                              </m:sub>
                            </m:sSub>
                            <m:r>
                              <a:rPr lang="en-US" altLang="zh-CN" sz="2000" b="0" i="1" smtClean="0">
                                <a:latin typeface="Cambria Math" panose="02040503050406030204" pitchFamily="18" charset="0"/>
                                <a:cs typeface="Times New Roman" panose="02020603050405020304" pitchFamily="18" charset="0"/>
                              </a:rPr>
                              <m:t>−</m:t>
                            </m:r>
                            <m:d>
                              <m:dPr>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e>
                            </m:d>
                          </m:e>
                        </m:d>
                      </m:num>
                      <m:den>
                        <m:r>
                          <a:rPr lang="en-US" altLang="zh-CN" sz="2000" b="0" i="1" smtClean="0">
                            <a:latin typeface="Cambria Math" panose="02040503050406030204" pitchFamily="18" charset="0"/>
                            <a:cs typeface="Times New Roman" panose="02020603050405020304" pitchFamily="18" charset="0"/>
                          </a:rPr>
                          <m:t>18</m:t>
                        </m:r>
                      </m:den>
                    </m:f>
                    <m:r>
                      <a:rPr lang="en-US" altLang="zh-CN" sz="2000" b="0" i="1" smtClean="0">
                        <a:latin typeface="Cambria Math" panose="02040503050406030204" pitchFamily="18" charset="0"/>
                        <a:cs typeface="Times New Roman" panose="020206030504050203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r>
                          <a:rPr lang="en-US" altLang="zh-CN" sz="2000" b="0" i="1" smtClean="0">
                            <a:latin typeface="Cambria Math" panose="02040503050406030204" pitchFamily="18" charset="0"/>
                            <a:cs typeface="Times New Roman" panose="02020603050405020304" pitchFamily="18" charset="0"/>
                          </a:rPr>
                          <m:t>2</m:t>
                        </m:r>
                        <m:d>
                          <m:dPr>
                            <m:ctrlPr>
                              <a:rPr lang="en-US" altLang="zh-CN" sz="2000" b="0" i="1" smtClean="0">
                                <a:latin typeface="Cambria Math" panose="02040503050406030204" pitchFamily="18" charset="0"/>
                                <a:cs typeface="Times New Roman" panose="02020603050405020304" pitchFamily="18" charset="0"/>
                              </a:rPr>
                            </m:ctrlPr>
                          </m:dPr>
                          <m:e>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𝑖</m:t>
                                </m:r>
                              </m:sub>
                            </m:sSub>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e>
                        </m:d>
                      </m:num>
                      <m:den>
                        <m:r>
                          <a:rPr lang="en-US" altLang="zh-CN" sz="2000" b="0" i="1" smtClean="0">
                            <a:latin typeface="Cambria Math" panose="02040503050406030204" pitchFamily="18" charset="0"/>
                            <a:cs typeface="Times New Roman" panose="02020603050405020304" pitchFamily="18" charset="0"/>
                          </a:rPr>
                          <m:t>9</m:t>
                        </m:r>
                      </m:den>
                    </m:f>
                    <m:r>
                      <a:rPr lang="en-US" altLang="zh-CN" sz="2000" b="0" i="1" smtClean="0">
                        <a:latin typeface="Cambria Math" panose="02040503050406030204" pitchFamily="18" charset="0"/>
                        <a:cs typeface="Times New Roman" panose="02020603050405020304" pitchFamily="18" charset="0"/>
                      </a:rPr>
                      <m:t>+</m:t>
                    </m:r>
                    <m:f>
                      <m:fPr>
                        <m:ctrlPr>
                          <a:rPr lang="en-US" altLang="zh-CN" sz="2000" b="0" i="1" smtClean="0">
                            <a:latin typeface="Cambria Math" panose="02040503050406030204" pitchFamily="18" charset="0"/>
                            <a:cs typeface="Times New Roman" panose="02020603050405020304" pitchFamily="18" charset="0"/>
                          </a:rPr>
                        </m:ctrlPr>
                      </m:fPr>
                      <m:num>
                        <m:r>
                          <a:rPr lang="en-US" altLang="zh-CN" sz="2000" b="0" i="1" smtClean="0">
                            <a:latin typeface="Cambria Math" panose="02040503050406030204" pitchFamily="18" charset="0"/>
                            <a:cs typeface="Times New Roman" panose="02020603050405020304" pitchFamily="18" charset="0"/>
                          </a:rPr>
                          <m:t>𝑎</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𝑐</m:t>
                        </m:r>
                        <m:r>
                          <a:rPr lang="en-US" altLang="zh-CN" sz="2000" b="0" i="1" smtClean="0">
                            <a:latin typeface="Cambria Math" panose="02040503050406030204" pitchFamily="18" charset="0"/>
                            <a:cs typeface="Times New Roman" panose="02020603050405020304" pitchFamily="18" charset="0"/>
                          </a:rPr>
                          <m:t>−4</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𝑡</m:t>
                            </m:r>
                          </m:e>
                          <m:sub>
                            <m:r>
                              <a:rPr lang="en-US" altLang="zh-CN" sz="2000" b="0" i="1" smtClean="0">
                                <a:latin typeface="Cambria Math" panose="02040503050406030204" pitchFamily="18" charset="0"/>
                                <a:cs typeface="Times New Roman" panose="02020603050405020304" pitchFamily="18" charset="0"/>
                              </a:rPr>
                              <m:t>𝑖</m:t>
                            </m:r>
                          </m:sub>
                        </m:sSub>
                      </m:num>
                      <m:den>
                        <m:r>
                          <a:rPr lang="en-US" altLang="zh-CN" sz="2000" b="0" i="1" smtClean="0">
                            <a:latin typeface="Cambria Math" panose="02040503050406030204" pitchFamily="18" charset="0"/>
                            <a:cs typeface="Times New Roman" panose="02020603050405020304" pitchFamily="18" charset="0"/>
                          </a:rPr>
                          <m:t>3</m:t>
                        </m:r>
                      </m:den>
                    </m:f>
                    <m:r>
                      <a:rPr lang="en-US" altLang="zh-CN" sz="2000" b="0" i="1" smtClean="0">
                        <a:latin typeface="Cambria Math" panose="02040503050406030204" pitchFamily="18" charset="0"/>
                        <a:cs typeface="Times New Roman" panose="02020603050405020304" pitchFamily="18" charset="0"/>
                      </a:rPr>
                      <m:t>=0</m:t>
                    </m:r>
                  </m:oMath>
                </a14:m>
                <a:endParaRPr lang="en-US" altLang="zh-CN" sz="2000" b="0" i="1">
                  <a:latin typeface="Cambria Math" panose="02040503050406030204" pitchFamily="18" charset="0"/>
                  <a:cs typeface="Times New Roman" panose="02020603050405020304" pitchFamily="18" charset="0"/>
                </a:endParaRPr>
              </a:p>
              <a:p>
                <a:pPr marL="285750" lvl="0" indent="-285750" algn="l" fontAlgn="ctr">
                  <a:lnSpc>
                    <a:spcPct val="130000"/>
                  </a:lnSpc>
                  <a:spcBef>
                    <a:spcPts val="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解得：</a:t>
                </a: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sSub>
                      <m:sSubPr>
                        <m:ctrlPr>
                          <a:rPr lang="en-US" altLang="zh-CN" sz="2000" i="1" smtClean="0">
                            <a:solidFill>
                              <a:schemeClr val="dk1">
                                <a:lumMod val="75000"/>
                                <a:lumOff val="25000"/>
                              </a:schemeClr>
                            </a:solidFill>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b="0" i="1" smtClean="0">
                            <a:latin typeface="Cambria Math" panose="02040503050406030204" pitchFamily="18" charset="0"/>
                          </a:rPr>
                          <m:t>𝑖</m:t>
                        </m:r>
                      </m:sub>
                    </m:sSub>
                    <m:r>
                      <a:rPr lang="en-US" altLang="zh-CN" sz="2000" i="1" baseline="30000" dirty="0">
                        <a:latin typeface="Cambria Math" panose="02040503050406030204" pitchFamily="18" charset="0"/>
                        <a:cs typeface="Times New Roman" panose="02020603050405020304" pitchFamily="18" charset="0"/>
                        <a:sym typeface="+mn-ea"/>
                      </a:rPr>
                      <m:t>∗</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𝑐</m:t>
                        </m:r>
                      </m:num>
                      <m:den>
                        <m:r>
                          <a:rPr lang="en-US" altLang="zh-CN" sz="2000" b="0" i="1" smtClean="0">
                            <a:latin typeface="Cambria Math" panose="02040503050406030204" pitchFamily="18" charset="0"/>
                          </a:rPr>
                          <m:t>3</m:t>
                        </m:r>
                      </m:den>
                    </m:f>
                  </m:oMath>
                </a14:m>
                <a:r>
                  <a:rPr lang="zh-CN" altLang="en-US" sz="2000" dirty="0">
                    <a:sym typeface="+mn-ea"/>
                  </a:rPr>
                  <a:t>，</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h</m:t>
                        </m:r>
                      </m:e>
                      <m:sub>
                        <m:r>
                          <a:rPr lang="en-US" altLang="zh-CN" sz="2000" b="0" i="1" dirty="0" smtClean="0">
                            <a:latin typeface="Cambria Math" panose="02040503050406030204" pitchFamily="18" charset="0"/>
                          </a:rPr>
                          <m:t>𝑖</m:t>
                        </m:r>
                      </m:sub>
                    </m:sSub>
                    <m:r>
                      <a:rPr lang="en-US" altLang="zh-CN" sz="2000" i="1" baseline="30000" dirty="0">
                        <a:latin typeface="Cambria Math" panose="02040503050406030204" pitchFamily="18" charset="0"/>
                        <a:cs typeface="Times New Roman" panose="02020603050405020304" pitchFamily="18" charset="0"/>
                        <a:sym typeface="+mn-ea"/>
                      </a:rPr>
                      <m:t>∗</m:t>
                    </m:r>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4</m:t>
                        </m:r>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𝑎</m:t>
                            </m:r>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𝑐</m:t>
                            </m:r>
                          </m:e>
                        </m:d>
                      </m:num>
                      <m:den>
                        <m:r>
                          <a:rPr lang="en-US" altLang="zh-CN" sz="2000" b="0" i="1" dirty="0" smtClean="0">
                            <a:latin typeface="Cambria Math" panose="02040503050406030204" pitchFamily="18" charset="0"/>
                          </a:rPr>
                          <m:t>9</m:t>
                        </m:r>
                      </m:den>
                    </m:f>
                  </m:oMath>
                </a14:m>
                <a:r>
                  <a:rPr lang="zh-CN" altLang="en-US" sz="2000" dirty="0">
                    <a:sym typeface="+mn-ea"/>
                  </a:rPr>
                  <a:t>，</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𝑒</m:t>
                        </m:r>
                      </m:e>
                      <m:sub>
                        <m:r>
                          <a:rPr lang="en-US" altLang="zh-CN" sz="2000" b="0" i="1" dirty="0" smtClean="0">
                            <a:latin typeface="Cambria Math" panose="02040503050406030204" pitchFamily="18" charset="0"/>
                          </a:rPr>
                          <m:t>𝑖</m:t>
                        </m:r>
                      </m:sub>
                    </m:sSub>
                    <m:r>
                      <a:rPr lang="en-US" altLang="zh-CN" sz="2000" i="1" baseline="30000" dirty="0">
                        <a:latin typeface="Cambria Math" panose="02040503050406030204" pitchFamily="18" charset="0"/>
                        <a:cs typeface="Times New Roman" panose="02020603050405020304" pitchFamily="18" charset="0"/>
                        <a:sym typeface="+mn-ea"/>
                      </a:rPr>
                      <m:t>∗</m:t>
                    </m:r>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𝑎</m:t>
                        </m:r>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𝑐</m:t>
                        </m:r>
                      </m:num>
                      <m:den>
                        <m:r>
                          <a:rPr lang="en-US" altLang="zh-CN" sz="2000" b="0" i="1" dirty="0" smtClean="0">
                            <a:latin typeface="Cambria Math" panose="02040503050406030204" pitchFamily="18" charset="0"/>
                          </a:rPr>
                          <m:t>9</m:t>
                        </m:r>
                      </m:den>
                    </m:f>
                    <m:r>
                      <a:rPr lang="zh-CN" altLang="en-US" sz="2000" i="1" dirty="0">
                        <a:latin typeface="Cambria Math" panose="02040503050406030204" pitchFamily="18" charset="0"/>
                      </a:rPr>
                      <m:t>。</m:t>
                    </m:r>
                  </m:oMath>
                </a14:m>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a:p>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6" name="Title 6"/>
              <p:cNvSpPr txBox="1">
                <a:spLocks noRot="1" noChangeAspect="1" noMove="1" noResize="1" noEditPoints="1" noAdjustHandles="1" noChangeArrowheads="1" noChangeShapeType="1" noTextEdit="1"/>
              </p:cNvSpPr>
              <p:nvPr>
                <p:custDataLst>
                  <p:tags r:id="rId7"/>
                </p:custDataLst>
              </p:nvPr>
            </p:nvSpPr>
            <p:spPr>
              <a:xfrm>
                <a:off x="911860" y="836930"/>
                <a:ext cx="11277600" cy="3929380"/>
              </a:xfrm>
              <a:prstGeom prst="rect">
                <a:avLst/>
              </a:prstGeom>
              <a:blipFill rotWithShape="1">
                <a:blip r:embed="rId8"/>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43</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有同时选择的动态博弈模型：</a:t>
              </a:r>
              <a:r>
                <a:rPr lang="zh-CN" altLang="en-US" sz="2800" dirty="0">
                  <a:solidFill>
                    <a:schemeClr val="accent1"/>
                  </a:solidFill>
                  <a:sym typeface="+mn-ea"/>
                </a:rPr>
                <a:t>国际竞争和最优关税</a:t>
              </a:r>
            </a:p>
          </p:txBody>
        </p:sp>
        <p:cxnSp>
          <p:nvCxnSpPr>
            <p:cNvPr id="11" name="直接连接符 10"/>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矩形 11"/>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3" name="直接连接符 12"/>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itle 6"/>
          <p:cNvSpPr txBox="1"/>
          <p:nvPr>
            <p:custDataLst>
              <p:tags r:id="rId7"/>
            </p:custDataLst>
          </p:nvPr>
        </p:nvSpPr>
        <p:spPr>
          <a:xfrm>
            <a:off x="2034540" y="1846580"/>
            <a:ext cx="8251825" cy="39262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逆推归纳法只能分析明确设定的博弈问题，要求博弈的结构，包括次序、规则和得益情况等都非常清楚，并且各个博弈方了解博弈结构，相互知道对方了解博弈结构。这些可能有脱实际的可能。</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逆推归纳法也不能分析比较复杂的动态博弈。</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在遇到两条路径利益相同的情况时逆推归纳法也会发生选择困难。</a:t>
            </a: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对博弈方的理性要求太高，不仅要求所有博弈方都有高度的理性，不允许犯任何错误，而且要求所有博弈方相互了解和信任对方的理性，对理性有相同的理解，或进一步有“理性的共同知识”。</a:t>
            </a:r>
          </a:p>
        </p:txBody>
      </p:sp>
      <p:pic>
        <p:nvPicPr>
          <p:cNvPr id="6" name="图片 1" descr="f01494d1831cca2c2d8b5f9021c13ad"/>
          <p:cNvPicPr>
            <a:picLocks noChangeAspect="1"/>
          </p:cNvPicPr>
          <p:nvPr/>
        </p:nvPicPr>
        <p:blipFill>
          <a:blip r:embed="rId1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44</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8"/>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逆推归纳法的问题</a:t>
              </a:r>
            </a:p>
          </p:txBody>
        </p:sp>
        <p:cxnSp>
          <p:nvCxnSpPr>
            <p:cNvPr id="3" name="直接连接符 2"/>
            <p:cNvCxnSpPr/>
            <p:nvPr>
              <p:custDataLst>
                <p:tags r:id="rId9"/>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2"/>
            </p:custDataLst>
          </p:nvPr>
        </p:nvSpPr>
        <p:spPr>
          <a:xfrm>
            <a:off x="911225" y="1052830"/>
            <a:ext cx="3108325" cy="609600"/>
          </a:xfrm>
          <a:prstGeom prst="rect">
            <a:avLst/>
          </a:prstGeom>
          <a:noFill/>
          <a:ln w="3175">
            <a:noFill/>
            <a:prstDash val="dash"/>
          </a:ln>
        </p:spPr>
        <p:txBody>
          <a:bodyPr wrap="square" lIns="63500" tIns="25400" rIns="63500" bIns="25400" anchor="b"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理性的共同知识问题</a:t>
            </a:r>
          </a:p>
        </p:txBody>
      </p:sp>
      <p:sp>
        <p:nvSpPr>
          <p:cNvPr id="9" name="Title 6"/>
          <p:cNvSpPr txBox="1"/>
          <p:nvPr>
            <p:custDataLst>
              <p:tags r:id="rId3"/>
            </p:custDataLst>
          </p:nvPr>
        </p:nvSpPr>
        <p:spPr>
          <a:xfrm>
            <a:off x="911860" y="1844675"/>
            <a:ext cx="7422515" cy="584835"/>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问题：在1选R后，2 还会相信1是理性的吗，去选N</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pic>
        <p:nvPicPr>
          <p:cNvPr id="4" name="图片 3"/>
          <p:cNvPicPr>
            <a:picLocks noChangeAspect="1"/>
          </p:cNvPicPr>
          <p:nvPr/>
        </p:nvPicPr>
        <p:blipFill>
          <a:blip r:embed="rId8"/>
          <a:stretch>
            <a:fillRect/>
          </a:stretch>
        </p:blipFill>
        <p:spPr>
          <a:xfrm>
            <a:off x="3658235" y="2611755"/>
            <a:ext cx="4875530" cy="3581400"/>
          </a:xfrm>
          <a:prstGeom prst="rect">
            <a:avLst/>
          </a:prstGeom>
        </p:spPr>
      </p:pic>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45</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逆推归纳法的问题</a:t>
              </a:r>
            </a:p>
          </p:txBody>
        </p:sp>
        <p:cxnSp>
          <p:nvCxnSpPr>
            <p:cNvPr id="3" name="直接连接符 2"/>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矩形 13"/>
          <p:cNvSpPr/>
          <p:nvPr/>
        </p:nvSpPr>
        <p:spPr>
          <a:xfrm>
            <a:off x="6600190" y="3933190"/>
            <a:ext cx="504190" cy="50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607935" y="4940935"/>
            <a:ext cx="504190" cy="50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079875" y="3069590"/>
            <a:ext cx="504190" cy="50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2"/>
            </p:custDataLst>
          </p:nvPr>
        </p:nvSpPr>
        <p:spPr>
          <a:xfrm>
            <a:off x="839470" y="980440"/>
            <a:ext cx="9309100" cy="129603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颤抖手（完美）均衡：在对手会犯少量错误的情况下，仍然稳定的纳什均衡。</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一个策略型博弈的例子：纳什均衡（</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3"/>
            </p:custDataLst>
          </p:nvPr>
        </p:nvGraphicFramePr>
        <p:xfrm>
          <a:off x="2639695" y="2636520"/>
          <a:ext cx="6431280" cy="3185795"/>
        </p:xfrm>
        <a:graphic>
          <a:graphicData uri="http://schemas.openxmlformats.org/drawingml/2006/table">
            <a:tbl>
              <a:tblPr firstRow="1" bandRow="1">
                <a:tableStyleId>{2D5ABB26-0587-4C30-8999-92F81FD0307C}</a:tableStyleId>
              </a:tblPr>
              <a:tblGrid>
                <a:gridCol w="1440815">
                  <a:extLst>
                    <a:ext uri="{9D8B030D-6E8A-4147-A177-3AD203B41FA5}">
                      <a16:colId xmlns:a16="http://schemas.microsoft.com/office/drawing/2014/main" val="20000"/>
                    </a:ext>
                  </a:extLst>
                </a:gridCol>
                <a:gridCol w="164338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632585">
                  <a:extLst>
                    <a:ext uri="{9D8B030D-6E8A-4147-A177-3AD203B41FA5}">
                      <a16:colId xmlns:a16="http://schemas.microsoft.com/office/drawing/2014/main" val="20003"/>
                    </a:ext>
                  </a:extLst>
                </a:gridCol>
              </a:tblGrid>
              <a:tr h="82359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lstStyle/>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p>
                  </a:txBody>
                  <a:tcPr marL="215900" marR="215900" marT="133350" marB="133350" anchor="ctr">
                    <a:lnL>
                      <a:noFill/>
                    </a:lnL>
                    <a:lnR>
                      <a:noFill/>
                    </a:lnR>
                    <a:lnT>
                      <a:noFill/>
                    </a:lnT>
                    <a:lnB>
                      <a:noFill/>
                    </a:lnB>
                    <a:lnTlToBr>
                      <a:noFill/>
                    </a:lnTlToBr>
                    <a:lnBlToTr>
                      <a:noFill/>
                    </a:lnBlToTr>
                    <a:solidFill>
                      <a:srgbClr val="FFFFFF"/>
                    </a:solidFill>
                  </a:tcPr>
                </a:tc>
                <a:tc hMerge="1">
                  <a:txBody>
                    <a:bodyPr/>
                    <a:lstStyle/>
                    <a:p>
                      <a:endParaRPr lang="zh-CN"/>
                    </a:p>
                  </a:txBody>
                  <a:tcPr>
                    <a:lnR>
                      <a:noFill/>
                    </a:lnR>
                    <a:lnT>
                      <a:noFill/>
                    </a:lnT>
                    <a:lnB>
                      <a:noFill/>
                    </a:lnB>
                  </a:tcPr>
                </a:tc>
                <a:extLst>
                  <a:ext uri="{0D108BD9-81ED-4DB2-BD59-A6C34878D82A}">
                    <a16:rowId xmlns:a16="http://schemas.microsoft.com/office/drawing/2014/main" val="10000"/>
                  </a:ext>
                </a:extLst>
              </a:tr>
              <a:tr h="813435">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p>
                  </a:txBody>
                  <a:tcPr marL="215900" marR="215900" marT="133350" marB="133350" anchor="ctr">
                    <a:lnL>
                      <a:noFill/>
                    </a:lnL>
                    <a:lnR>
                      <a:noFill/>
                    </a:lnR>
                    <a:lnT>
                      <a:noFill/>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R</a:t>
                      </a:r>
                    </a:p>
                  </a:txBody>
                  <a:tcPr marL="215900" marR="215900" marT="133350" marB="133350" anchor="ctr">
                    <a:lnL>
                      <a:noFill/>
                    </a:lnL>
                    <a:lnR>
                      <a:noFill/>
                    </a:lnR>
                    <a:lnT>
                      <a:noFill/>
                    </a:lnT>
                    <a:lnB w="9525">
                      <a:solidFill>
                        <a:srgbClr val="577CCE"/>
                      </a:solidFill>
                      <a:prstDash val="sysDash"/>
                    </a:lnB>
                    <a:solidFill>
                      <a:srgbClr val="FFFFFF"/>
                    </a:solidFill>
                  </a:tcPr>
                </a:tc>
                <a:extLst>
                  <a:ext uri="{0D108BD9-81ED-4DB2-BD59-A6C34878D82A}">
                    <a16:rowId xmlns:a16="http://schemas.microsoft.com/office/drawing/2014/main" val="10001"/>
                  </a:ext>
                </a:extLst>
              </a:tr>
              <a:tr h="774065">
                <a:tc rowSpan="2">
                  <a:txBody>
                    <a:bodyPr/>
                    <a:lstStyle/>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博弈方</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p>
                  </a:txBody>
                  <a:tcPr marL="215900" marR="215900" marT="133350" marB="133350" anchor="ctr">
                    <a:lnL>
                      <a:noFill/>
                    </a:lnL>
                    <a:lnR>
                      <a:noFill/>
                    </a:lnR>
                    <a:lnT>
                      <a:noFill/>
                    </a:lnT>
                    <a:lnB>
                      <a:noFill/>
                    </a:lnB>
                    <a:lnTlToBr>
                      <a:noFill/>
                    </a:lnTlToBr>
                    <a:lnBlToTr>
                      <a:noFill/>
                    </a:lnBlToTr>
                    <a:solidFill>
                      <a:srgbClr val="FFFFFF"/>
                    </a:solidFill>
                  </a:tcPr>
                </a:tc>
                <a:tc>
                  <a:txBody>
                    <a:bodyPr/>
                    <a:lstStyle/>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U</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2"/>
                  </a:ext>
                </a:extLst>
              </a:tr>
              <a:tr h="774700">
                <a:tc vMerge="1">
                  <a:txBody>
                    <a:bodyPr/>
                    <a:lstStyle/>
                    <a:p>
                      <a:endParaRPr lang="zh-CN"/>
                    </a:p>
                  </a:txBody>
                  <a:tcPr>
                    <a:lnL>
                      <a:noFill/>
                    </a:lnL>
                    <a:lnR>
                      <a:noFill/>
                    </a:lnR>
                    <a:lnB>
                      <a:noFill/>
                    </a:lnB>
                  </a:tcPr>
                </a:tc>
                <a:tc>
                  <a:txBody>
                    <a:bodyPr/>
                    <a:lstStyle/>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D</a:t>
                      </a:r>
                    </a:p>
                  </a:txBody>
                  <a:tcPr marL="215900" marR="215900" marT="133350" marB="133350" anchor="ctr">
                    <a:lnL>
                      <a:noFill/>
                    </a:lnL>
                    <a:lnR w="9525">
                      <a:solidFill>
                        <a:srgbClr val="577CCE"/>
                      </a:solidFill>
                      <a:prstDash val="sysDash"/>
                    </a:lnR>
                    <a:lnT>
                      <a:noFill/>
                    </a:lnT>
                    <a:lnB>
                      <a:noFill/>
                    </a:lnB>
                    <a:solidFill>
                      <a:srgbClr val="FFFFFF"/>
                    </a:solidFill>
                  </a:tcPr>
                </a:tc>
                <a:tc>
                  <a:txBody>
                    <a:bodyPr/>
                    <a:lstStyle/>
                    <a:p>
                      <a:pPr indent="0" algn="ctr">
                        <a:lnSpc>
                          <a:spcPct val="120000"/>
                        </a:lnSpc>
                        <a:spcBef>
                          <a:spcPts val="0"/>
                        </a:spcBef>
                        <a:spcAft>
                          <a:spcPts val="0"/>
                        </a:spcAft>
                      </a:pP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lstStyle/>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extLst>
                  <a:ext uri="{0D108BD9-81ED-4DB2-BD59-A6C34878D82A}">
                    <a16:rowId xmlns:a16="http://schemas.microsoft.com/office/drawing/2014/main" val="10003"/>
                  </a:ext>
                </a:extLst>
              </a:tr>
            </a:tbl>
          </a:graphicData>
        </a:graphic>
      </p:graphicFrame>
      <p:pic>
        <p:nvPicPr>
          <p:cNvPr id="2"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t>46</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颤抖手（完美）均衡</a:t>
              </a:r>
            </a:p>
          </p:txBody>
        </p:sp>
        <p:cxnSp>
          <p:nvCxnSpPr>
            <p:cNvPr id="4" name="直接连接符 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3" name="Title 6"/>
          <p:cNvSpPr txBox="1"/>
          <p:nvPr>
            <p:custDataLst>
              <p:tags r:id="rId3"/>
            </p:custDataLst>
          </p:nvPr>
        </p:nvSpPr>
        <p:spPr>
          <a:xfrm>
            <a:off x="1703070" y="1916430"/>
            <a:ext cx="838073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对于均衡（D，L）来说，如果博弈方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犯错误（即选R）的概率为α。</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选D的得益π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altLang="zh-CN" sz="2000">
                <a:latin typeface="Times New Roman" panose="02020603050405020304" pitchFamily="18" charset="0"/>
                <a:sym typeface="+mn-ea"/>
              </a:rPr>
              <a:t>10</a:t>
            </a:r>
            <a:r>
              <a:rPr lang="zh-CN" altLang="en-US" sz="2000">
                <a:sym typeface="+mn-ea"/>
              </a:rPr>
              <a:t>（</a:t>
            </a:r>
            <a:r>
              <a:rPr altLang="zh-CN" sz="2000">
                <a:latin typeface="Times New Roman" panose="02020603050405020304" pitchFamily="18" charset="0"/>
                <a:sym typeface="+mn-ea"/>
              </a:rPr>
              <a:t>1</a:t>
            </a:r>
            <a:r>
              <a:rPr lang="zh-CN" altLang="zh-CN" sz="2000">
                <a:sym typeface="+mn-ea"/>
              </a:rPr>
              <a:t>－</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2</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10</a:t>
            </a:r>
            <a:r>
              <a:rPr lang="zh-CN" altLang="en-US" sz="2000">
                <a:sym typeface="+mn-ea"/>
              </a:rPr>
              <a:t>－</a:t>
            </a:r>
            <a:r>
              <a:rPr altLang="zh-CN" sz="2000">
                <a:latin typeface="Times New Roman" panose="02020603050405020304" pitchFamily="18" charset="0"/>
                <a:sym typeface="+mn-ea"/>
              </a:rPr>
              <a:t>8</a:t>
            </a:r>
            <a:r>
              <a:rPr altLang="zh-CN" sz="2000" i="1">
                <a:latin typeface="Times New Roman" panose="02020603050405020304" pitchFamily="18" charset="0"/>
                <a:sym typeface="+mn-ea"/>
              </a:rPr>
              <a:t>α</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选U的得益π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altLang="zh-CN" sz="2000">
                <a:latin typeface="Times New Roman" panose="02020603050405020304" pitchFamily="18" charset="0"/>
                <a:sym typeface="+mn-ea"/>
              </a:rPr>
              <a:t>10</a:t>
            </a:r>
            <a:r>
              <a:rPr lang="zh-CN" altLang="en-US" sz="2000">
                <a:sym typeface="+mn-ea"/>
              </a:rPr>
              <a:t>（</a:t>
            </a:r>
            <a:r>
              <a:rPr altLang="zh-CN" sz="2000">
                <a:latin typeface="Times New Roman" panose="02020603050405020304" pitchFamily="18" charset="0"/>
                <a:sym typeface="+mn-ea"/>
              </a:rPr>
              <a:t>1</a:t>
            </a:r>
            <a:r>
              <a:rPr lang="zh-CN" altLang="zh-CN" sz="2000">
                <a:sym typeface="+mn-ea"/>
              </a:rPr>
              <a:t>－</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6</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10</a:t>
            </a:r>
            <a:r>
              <a:rPr lang="zh-CN" altLang="en-US" sz="2000">
                <a:sym typeface="+mn-ea"/>
              </a:rPr>
              <a:t>－</a:t>
            </a:r>
            <a:r>
              <a:rPr altLang="zh-CN" sz="2000">
                <a:latin typeface="Times New Roman" panose="02020603050405020304" pitchFamily="18" charset="0"/>
                <a:sym typeface="+mn-ea"/>
              </a:rPr>
              <a:t>4</a:t>
            </a:r>
            <a:r>
              <a:rPr altLang="zh-CN" sz="2000" i="1">
                <a:latin typeface="Times New Roman" panose="02020603050405020304" pitchFamily="18" charset="0"/>
                <a:sym typeface="+mn-ea"/>
              </a:rPr>
              <a:t>α</a:t>
            </a:r>
          </a:p>
          <a:p>
            <a:pPr marL="285750" lvl="0" indent="-285750" algn="l" fontAlgn="ctr">
              <a:lnSpc>
                <a:spcPct val="130000"/>
              </a:lnSpc>
              <a:spcBef>
                <a:spcPts val="1000"/>
              </a:spcBef>
              <a:spcAft>
                <a:spcPts val="0"/>
              </a:spcAft>
              <a:buSzPct val="100000"/>
              <a:buFont typeface="Wingdings" panose="05000000000000000000" charset="0"/>
              <a:buChar char="l"/>
            </a:pPr>
            <a:r>
              <a:rPr altLang="zh-CN" sz="2000" i="1">
                <a:latin typeface="Times New Roman" panose="02020603050405020304" pitchFamily="18" charset="0"/>
                <a:sym typeface="+mn-ea"/>
              </a:rPr>
              <a:t>π</a:t>
            </a:r>
            <a:r>
              <a:rPr altLang="zh-CN" sz="2000" i="1" baseline="-25000">
                <a:latin typeface="Times New Roman" panose="02020603050405020304" pitchFamily="18" charset="0"/>
                <a:sym typeface="+mn-ea"/>
              </a:rPr>
              <a:t>U </a:t>
            </a:r>
            <a:r>
              <a:rPr lang="zh-CN" altLang="en-US" sz="2000">
                <a:sym typeface="+mn-ea"/>
              </a:rPr>
              <a:t>＞</a:t>
            </a:r>
            <a:r>
              <a:rPr altLang="zh-CN" sz="2000" i="1">
                <a:latin typeface="Times New Roman" panose="02020603050405020304" pitchFamily="18" charset="0"/>
                <a:sym typeface="+mn-ea"/>
              </a:rPr>
              <a:t>π</a:t>
            </a:r>
            <a:r>
              <a:rPr altLang="zh-CN" sz="2000" i="1" baseline="-25000">
                <a:latin typeface="Times New Roman" panose="02020603050405020304" pitchFamily="18" charset="0"/>
                <a:sym typeface="+mn-ea"/>
              </a:rPr>
              <a:t>D</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此时就不会再坚持选择D了，因此均衡（D，L）不稳定，不是颤抖手均衡。</a:t>
            </a: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47</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颤抖手（完美）均衡</a:t>
              </a:r>
            </a:p>
          </p:txBody>
        </p:sp>
        <p:cxnSp>
          <p:nvCxnSpPr>
            <p:cNvPr id="4" name="直接连接符 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3"/>
            </p:custDataLst>
          </p:nvPr>
        </p:nvSpPr>
        <p:spPr>
          <a:xfrm>
            <a:off x="2997811" y="21888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相反，对于均衡（U，R）来说，如果博弈方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犯错误（即选L）的概率为α。</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选D的得益π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altLang="zh-CN" sz="2000">
                <a:latin typeface="Times New Roman" panose="02020603050405020304" pitchFamily="18" charset="0"/>
                <a:sym typeface="+mn-ea"/>
              </a:rPr>
              <a:t>10</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2</a:t>
            </a:r>
            <a:r>
              <a:rPr lang="zh-CN" altLang="en-US" sz="2000">
                <a:sym typeface="+mn-ea"/>
              </a:rPr>
              <a:t>（</a:t>
            </a:r>
            <a:r>
              <a:rPr altLang="zh-CN" sz="2000">
                <a:latin typeface="Times New Roman" panose="02020603050405020304" pitchFamily="18" charset="0"/>
                <a:sym typeface="+mn-ea"/>
              </a:rPr>
              <a:t>1</a:t>
            </a:r>
            <a:r>
              <a:rPr lang="zh-CN" altLang="zh-CN" sz="2000">
                <a:sym typeface="+mn-ea"/>
              </a:rPr>
              <a:t>－</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2</a:t>
            </a:r>
            <a:r>
              <a:rPr lang="zh-CN" altLang="zh-CN" sz="2000">
                <a:sym typeface="+mn-ea"/>
              </a:rPr>
              <a:t>＋</a:t>
            </a:r>
            <a:r>
              <a:rPr altLang="zh-CN" sz="2000">
                <a:latin typeface="Times New Roman" panose="02020603050405020304" pitchFamily="18" charset="0"/>
                <a:sym typeface="+mn-ea"/>
              </a:rPr>
              <a:t>8</a:t>
            </a:r>
            <a:r>
              <a:rPr altLang="zh-CN" sz="2000" i="1">
                <a:latin typeface="Times New Roman" panose="02020603050405020304" pitchFamily="18" charset="0"/>
                <a:sym typeface="+mn-ea"/>
              </a:rPr>
              <a:t>α</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选U的得益π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altLang="zh-CN" sz="2000">
                <a:latin typeface="Times New Roman" panose="02020603050405020304" pitchFamily="18" charset="0"/>
                <a:sym typeface="+mn-ea"/>
              </a:rPr>
              <a:t>10</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6</a:t>
            </a:r>
            <a:r>
              <a:rPr lang="zh-CN" altLang="en-US" sz="2000">
                <a:sym typeface="+mn-ea"/>
              </a:rPr>
              <a:t>（</a:t>
            </a:r>
            <a:r>
              <a:rPr altLang="zh-CN" sz="2000">
                <a:latin typeface="Times New Roman" panose="02020603050405020304" pitchFamily="18" charset="0"/>
                <a:sym typeface="+mn-ea"/>
              </a:rPr>
              <a:t>1</a:t>
            </a:r>
            <a:r>
              <a:rPr lang="zh-CN" altLang="zh-CN" sz="2000">
                <a:sym typeface="+mn-ea"/>
              </a:rPr>
              <a:t>－</a:t>
            </a:r>
            <a:r>
              <a:rPr altLang="zh-CN" sz="2000" i="1">
                <a:latin typeface="Times New Roman" panose="02020603050405020304" pitchFamily="18" charset="0"/>
                <a:sym typeface="+mn-ea"/>
              </a:rPr>
              <a:t>α</a:t>
            </a:r>
            <a:r>
              <a:rPr lang="zh-CN" altLang="en-US" sz="2000">
                <a:sym typeface="+mn-ea"/>
              </a:rPr>
              <a:t>）＝</a:t>
            </a:r>
            <a:r>
              <a:rPr altLang="zh-CN" sz="2000">
                <a:latin typeface="Times New Roman" panose="02020603050405020304" pitchFamily="18" charset="0"/>
                <a:sym typeface="+mn-ea"/>
              </a:rPr>
              <a:t>6</a:t>
            </a:r>
            <a:r>
              <a:rPr altLang="en-US" sz="2000">
                <a:sym typeface="+mn-ea"/>
              </a:rPr>
              <a:t>＋</a:t>
            </a:r>
            <a:r>
              <a:rPr altLang="zh-CN" sz="2000">
                <a:latin typeface="Times New Roman" panose="02020603050405020304" pitchFamily="18" charset="0"/>
                <a:sym typeface="+mn-ea"/>
              </a:rPr>
              <a:t>4</a:t>
            </a:r>
            <a:r>
              <a:rPr altLang="zh-CN" sz="2000" i="1">
                <a:latin typeface="Times New Roman" panose="02020603050405020304" pitchFamily="18" charset="0"/>
                <a:sym typeface="+mn-ea"/>
              </a:rPr>
              <a:t>α</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48</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颤抖手（完美）均衡</a:t>
              </a:r>
            </a:p>
          </p:txBody>
        </p:sp>
        <p:cxnSp>
          <p:nvCxnSpPr>
            <p:cNvPr id="4" name="直接连接符 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8" name="Title 6"/>
          <p:cNvSpPr txBox="1"/>
          <p:nvPr>
            <p:custDataLst>
              <p:tags r:id="rId3"/>
            </p:custDataLst>
          </p:nvPr>
        </p:nvSpPr>
        <p:spPr>
          <a:xfrm>
            <a:off x="2034382" y="1846734"/>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同样，对于均衡（U，R）来说，如果博弈方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犯错误（即选D）的概率为δ。</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选L的得益π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altLang="zh-CN" sz="2000">
                <a:latin typeface="Times New Roman" panose="02020603050405020304" pitchFamily="18" charset="0"/>
                <a:sym typeface="+mn-ea"/>
              </a:rPr>
              <a:t>0</a:t>
            </a:r>
            <a:r>
              <a:rPr altLang="zh-CN" sz="2000">
                <a:sym typeface="+mn-ea"/>
              </a:rPr>
              <a:t>（</a:t>
            </a:r>
            <a:r>
              <a:rPr altLang="zh-CN" sz="2000">
                <a:latin typeface="Times New Roman" panose="02020603050405020304" pitchFamily="18" charset="0"/>
                <a:sym typeface="+mn-ea"/>
              </a:rPr>
              <a:t>1</a:t>
            </a:r>
            <a:r>
              <a:rPr altLang="en-US" sz="2000">
                <a:sym typeface="+mn-ea"/>
              </a:rPr>
              <a:t>－</a:t>
            </a:r>
            <a:r>
              <a:rPr altLang="zh-CN" sz="2000" i="1">
                <a:latin typeface="Times New Roman" panose="02020603050405020304" pitchFamily="18" charset="0"/>
                <a:sym typeface="+mn-ea"/>
              </a:rPr>
              <a:t>δ</a:t>
            </a:r>
            <a:r>
              <a:rPr altLang="zh-CN" sz="2000">
                <a:sym typeface="+mn-ea"/>
              </a:rPr>
              <a:t>）</a:t>
            </a:r>
            <a:r>
              <a:rPr altLang="en-US" sz="2000">
                <a:sym typeface="+mn-ea"/>
              </a:rPr>
              <a:t>＋</a:t>
            </a:r>
            <a:r>
              <a:rPr altLang="zh-CN" sz="2000" i="1">
                <a:latin typeface="Times New Roman" panose="02020603050405020304" pitchFamily="18" charset="0"/>
                <a:sym typeface="+mn-ea"/>
              </a:rPr>
              <a:t>δ</a:t>
            </a:r>
            <a:r>
              <a:rPr lang="zh-CN" altLang="en-US" sz="2000">
                <a:sym typeface="+mn-ea"/>
              </a:rPr>
              <a:t>＝</a:t>
            </a:r>
            <a:r>
              <a:rPr altLang="zh-CN" sz="2000" i="1">
                <a:latin typeface="Times New Roman" panose="02020603050405020304" pitchFamily="18" charset="0"/>
                <a:sym typeface="+mn-ea"/>
              </a:rPr>
              <a:t>δ</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选R的得益π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a:t>
            </a:r>
            <a:r>
              <a:rPr altLang="zh-CN" sz="2000">
                <a:latin typeface="Times New Roman" panose="02020603050405020304" pitchFamily="18" charset="0"/>
                <a:sym typeface="+mn-ea"/>
              </a:rPr>
              <a:t>2</a:t>
            </a:r>
            <a:r>
              <a:rPr altLang="zh-CN" sz="2000">
                <a:sym typeface="+mn-ea"/>
              </a:rPr>
              <a:t>（</a:t>
            </a:r>
            <a:r>
              <a:rPr altLang="zh-CN" sz="2000">
                <a:latin typeface="Times New Roman" panose="02020603050405020304" pitchFamily="18" charset="0"/>
                <a:sym typeface="+mn-ea"/>
              </a:rPr>
              <a:t>1</a:t>
            </a:r>
            <a:r>
              <a:rPr altLang="en-US" sz="2000">
                <a:sym typeface="+mn-ea"/>
              </a:rPr>
              <a:t>－</a:t>
            </a:r>
            <a:r>
              <a:rPr altLang="zh-CN" sz="2000" i="1">
                <a:latin typeface="Times New Roman" panose="02020603050405020304" pitchFamily="18" charset="0"/>
                <a:sym typeface="+mn-ea"/>
              </a:rPr>
              <a:t>δ</a:t>
            </a:r>
            <a:r>
              <a:rPr altLang="zh-CN" sz="2000">
                <a:sym typeface="+mn-ea"/>
              </a:rPr>
              <a:t>）</a:t>
            </a:r>
            <a:r>
              <a:rPr altLang="en-US" sz="2000">
                <a:sym typeface="+mn-ea"/>
              </a:rPr>
              <a:t>＋</a:t>
            </a:r>
            <a:r>
              <a:rPr altLang="zh-CN" sz="2000">
                <a:latin typeface="Times New Roman" panose="02020603050405020304" pitchFamily="18" charset="0"/>
                <a:sym typeface="+mn-ea"/>
              </a:rPr>
              <a:t>0</a:t>
            </a:r>
            <a:r>
              <a:rPr altLang="zh-CN" sz="2000" i="1">
                <a:latin typeface="Times New Roman" panose="02020603050405020304" pitchFamily="18" charset="0"/>
                <a:sym typeface="+mn-ea"/>
              </a:rPr>
              <a:t>δ</a:t>
            </a:r>
            <a:r>
              <a:rPr lang="zh-CN" altLang="en-US" sz="2000">
                <a:sym typeface="+mn-ea"/>
              </a:rPr>
              <a:t>＝</a:t>
            </a:r>
            <a:r>
              <a:rPr altLang="zh-CN" sz="2000">
                <a:latin typeface="Times New Roman" panose="02020603050405020304" pitchFamily="18" charset="0"/>
                <a:sym typeface="+mn-ea"/>
              </a:rPr>
              <a:t>2</a:t>
            </a:r>
            <a:r>
              <a:rPr altLang="zh-CN" sz="2000">
                <a:sym typeface="+mn-ea"/>
              </a:rPr>
              <a:t>（</a:t>
            </a:r>
            <a:r>
              <a:rPr altLang="zh-CN" sz="2000">
                <a:latin typeface="Times New Roman" panose="02020603050405020304" pitchFamily="18" charset="0"/>
                <a:sym typeface="+mn-ea"/>
              </a:rPr>
              <a:t>1</a:t>
            </a:r>
            <a:r>
              <a:rPr altLang="en-US" sz="2000">
                <a:sym typeface="+mn-ea"/>
              </a:rPr>
              <a:t>－</a:t>
            </a:r>
            <a:r>
              <a:rPr altLang="zh-CN" sz="2000" i="1">
                <a:latin typeface="Times New Roman" panose="02020603050405020304" pitchFamily="18" charset="0"/>
                <a:sym typeface="+mn-ea"/>
              </a:rPr>
              <a:t>δ</a:t>
            </a:r>
            <a:r>
              <a:rPr altLang="zh-CN" sz="2000">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只要δ＜2/3</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＞π</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均衡（U，R）稳定，是颤抖手均衡。</a:t>
            </a:r>
          </a:p>
        </p:txBody>
      </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49</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颤抖手（完美）均衡</a:t>
              </a:r>
            </a:p>
          </p:txBody>
        </p:sp>
        <p:cxnSp>
          <p:nvCxnSpPr>
            <p:cNvPr id="4" name="直接连接符 3"/>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图文框 11"/>
          <p:cNvSpPr/>
          <p:nvPr>
            <p:custDataLst>
              <p:tags r:id="rId2"/>
            </p:custDataLst>
          </p:nvPr>
        </p:nvSpPr>
        <p:spPr>
          <a:xfrm>
            <a:off x="1025844" y="1205635"/>
            <a:ext cx="10146750" cy="5347612"/>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pitchFamily="34" charset="-122"/>
              <a:ea typeface="微软雅黑" panose="020B0503020204020204" pitchFamily="34" charset="-122"/>
            </a:endParaRPr>
          </a:p>
        </p:txBody>
      </p:sp>
      <p:sp>
        <p:nvSpPr>
          <p:cNvPr id="15" name="Title 6"/>
          <p:cNvSpPr txBox="1"/>
          <p:nvPr>
            <p:custDataLst>
              <p:tags r:id="rId3"/>
            </p:custDataLst>
          </p:nvPr>
        </p:nvSpPr>
        <p:spPr>
          <a:xfrm>
            <a:off x="1739900" y="1695450"/>
            <a:ext cx="3220720" cy="429069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颤抖手均衡（被剔除的往往是弱纳什均衡）。</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有两条子博弈完美纳什均衡路径：一是博弈方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在第一阶段选择</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；二是</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R—N—T—V。</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R—N—T—V不是颤抖手均衡。</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L是颤抖手均衡。</a:t>
            </a:r>
          </a:p>
        </p:txBody>
      </p:sp>
      <p:pic>
        <p:nvPicPr>
          <p:cNvPr id="16" name="图片 15"/>
          <p:cNvPicPr>
            <a:picLocks noChangeAspect="1"/>
          </p:cNvPicPr>
          <p:nvPr>
            <p:custDataLst>
              <p:tags r:id="rId4"/>
            </p:custDataLst>
          </p:nvPr>
        </p:nvPicPr>
        <p:blipFill rotWithShape="1">
          <a:blip r:embed="rId9"/>
          <a:srcRect l="9102" r="39"/>
          <a:stretch>
            <a:fillRect/>
          </a:stretch>
        </p:blipFill>
        <p:spPr>
          <a:xfrm>
            <a:off x="5394696" y="1933782"/>
            <a:ext cx="5492134" cy="4226571"/>
          </a:xfrm>
          <a:custGeom>
            <a:avLst/>
            <a:gdLst/>
            <a:ahLst/>
            <a:cxnLst>
              <a:cxn ang="3">
                <a:pos x="hc" y="t"/>
              </a:cxn>
              <a:cxn ang="cd2">
                <a:pos x="l" y="vc"/>
              </a:cxn>
              <a:cxn ang="cd4">
                <a:pos x="hc" y="b"/>
              </a:cxn>
              <a:cxn ang="0">
                <a:pos x="r" y="vc"/>
              </a:cxn>
            </a:cxnLst>
            <a:rect l="l" t="t" r="r" b="b"/>
            <a:pathLst>
              <a:path w="8880" h="6480">
                <a:moveTo>
                  <a:pt x="0" y="0"/>
                </a:moveTo>
                <a:lnTo>
                  <a:pt x="8880" y="0"/>
                </a:lnTo>
                <a:lnTo>
                  <a:pt x="8880" y="6480"/>
                </a:lnTo>
                <a:lnTo>
                  <a:pt x="0" y="6480"/>
                </a:lnTo>
                <a:lnTo>
                  <a:pt x="0" y="0"/>
                </a:lnTo>
                <a:close/>
              </a:path>
            </a:pathLst>
          </a:custGeom>
        </p:spPr>
      </p:pic>
      <p:pic>
        <p:nvPicPr>
          <p:cNvPr id="6"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50</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5"/>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颤抖手（完美）均衡</a:t>
              </a:r>
            </a:p>
          </p:txBody>
        </p:sp>
        <p:cxnSp>
          <p:nvCxnSpPr>
            <p:cNvPr id="4" name="直接连接符 3"/>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5" name="Title 6"/>
          <p:cNvSpPr txBox="1"/>
          <p:nvPr>
            <p:custDataLst>
              <p:tags r:id="rId2"/>
            </p:custDataLst>
          </p:nvPr>
        </p:nvSpPr>
        <p:spPr>
          <a:xfrm>
            <a:off x="912495" y="1196975"/>
            <a:ext cx="4968240" cy="2110105"/>
          </a:xfrm>
          <a:prstGeom prst="rect">
            <a:avLst/>
          </a:prstGeom>
          <a:noFill/>
          <a:ln w="3175">
            <a:noFill/>
            <a:prstDash val="dash"/>
          </a:ln>
        </p:spPr>
        <p:txBody>
          <a:bodyPr wrap="square" lIns="63500" tIns="25400" rIns="63500" bIns="254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颤抖手均衡（被剔除的往往是弱纳什均衡）</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有1条子博弈完美纳什均衡路径：</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R—N—T—V</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R—N—T—V是颤抖手均衡</a:t>
            </a: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L不是颤抖手均衡</a:t>
            </a:r>
          </a:p>
        </p:txBody>
      </p:sp>
      <p:pic>
        <p:nvPicPr>
          <p:cNvPr id="4" name="图片 3"/>
          <p:cNvPicPr>
            <a:picLocks noChangeAspect="1"/>
          </p:cNvPicPr>
          <p:nvPr/>
        </p:nvPicPr>
        <p:blipFill rotWithShape="1">
          <a:blip r:embed="rId7"/>
          <a:srcRect l="11612" t="5416" b="1701"/>
          <a:stretch>
            <a:fillRect/>
          </a:stretch>
        </p:blipFill>
        <p:spPr>
          <a:xfrm>
            <a:off x="6096635" y="1052830"/>
            <a:ext cx="5920740" cy="4433570"/>
          </a:xfrm>
          <a:prstGeom prst="rect">
            <a:avLst/>
          </a:prstGeom>
        </p:spPr>
      </p:pic>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51</a:t>
            </a:fld>
            <a:endParaRPr lang="zh-CN" altLang="en-US"/>
          </a:p>
        </p:txBody>
      </p:sp>
      <p:grpSp>
        <p:nvGrpSpPr>
          <p:cNvPr id="8" name="组合 7"/>
          <p:cNvGrpSpPr/>
          <p:nvPr/>
        </p:nvGrpSpPr>
        <p:grpSpPr>
          <a:xfrm>
            <a:off x="551815" y="161925"/>
            <a:ext cx="11201400" cy="762000"/>
            <a:chOff x="840" y="240"/>
            <a:chExt cx="17640" cy="1200"/>
          </a:xfrm>
        </p:grpSpPr>
        <p:sp>
          <p:nvSpPr>
            <p:cNvPr id="10" name="文本框 9"/>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颤抖手（完美）均衡</a:t>
              </a:r>
            </a:p>
          </p:txBody>
        </p:sp>
        <p:cxnSp>
          <p:nvCxnSpPr>
            <p:cNvPr id="3" name="直接连接符 2"/>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457200" y="1624330"/>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52</a:t>
            </a:fld>
            <a:endParaRPr lang="zh-CN" altLang="en-US"/>
          </a:p>
        </p:txBody>
      </p:sp>
      <p:grpSp>
        <p:nvGrpSpPr>
          <p:cNvPr id="8" name="组合 7"/>
          <p:cNvGrpSpPr/>
          <p:nvPr/>
        </p:nvGrpSpPr>
        <p:grpSpPr>
          <a:xfrm>
            <a:off x="551815" y="161925"/>
            <a:ext cx="11201400" cy="762000"/>
            <a:chOff x="840" y="240"/>
            <a:chExt cx="17640" cy="1200"/>
          </a:xfrm>
        </p:grpSpPr>
        <p:sp>
          <p:nvSpPr>
            <p:cNvPr id="3" name="文本框 2"/>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颤抖手（完美）均衡</a:t>
              </a:r>
            </a:p>
          </p:txBody>
        </p:sp>
        <p:cxnSp>
          <p:nvCxnSpPr>
            <p:cNvPr id="5" name="直接连接符 4"/>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6" name="文本框 6"/>
          <p:cNvSpPr txBox="1"/>
          <p:nvPr>
            <p:custDataLst>
              <p:tags r:id="rId3"/>
            </p:custDataLst>
          </p:nvPr>
        </p:nvSpPr>
        <p:spPr>
          <a:xfrm>
            <a:off x="1991995" y="2407285"/>
            <a:ext cx="9064625" cy="261874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just">
              <a:lnSpc>
                <a:spcPct val="140000"/>
              </a:lnSpc>
              <a:spcBef>
                <a:spcPts val="0"/>
              </a:spcBef>
              <a:spcAft>
                <a:spcPts val="0"/>
              </a:spcAft>
              <a:buSzPct val="100000"/>
              <a:buFont typeface="Wingdings" panose="05000000000000000000" charset="0"/>
              <a:buChar char="l"/>
            </a:pPr>
            <a:r>
              <a:rPr lang="zh-CN" altLang="en-US" sz="2000" b="0" dirty="0">
                <a:solidFill>
                  <a:schemeClr val="tx1"/>
                </a:solidFill>
                <a:sym typeface="+mn-ea"/>
              </a:rPr>
              <a:t>颤抖手均衡是一种精练子博弈完美纳什均衡的概念。能够通过颤抖手均衡检验的子博弈完美纳什均衡的稳定性必然更强，预测也更加可靠。</a:t>
            </a:r>
          </a:p>
          <a:p>
            <a:pPr marL="342900" indent="-342900" algn="just">
              <a:lnSpc>
                <a:spcPct val="140000"/>
              </a:lnSpc>
              <a:spcBef>
                <a:spcPts val="0"/>
              </a:spcBef>
              <a:spcAft>
                <a:spcPts val="0"/>
              </a:spcAft>
              <a:buSzPct val="100000"/>
              <a:buFont typeface="Wingdings" panose="05000000000000000000" charset="0"/>
              <a:buChar char="l"/>
            </a:pPr>
            <a:r>
              <a:rPr lang="zh-CN" altLang="en-US" sz="2000" dirty="0">
                <a:solidFill>
                  <a:schemeClr val="tx1"/>
                </a:solidFill>
                <a:sym typeface="+mn-ea"/>
              </a:rPr>
              <a:t>塞尔顿定理：</a:t>
            </a:r>
            <a:r>
              <a:rPr lang="zh-CN" altLang="en-US" sz="2000" b="0" spc="100" dirty="0">
                <a:ln w="3175">
                  <a:noFill/>
                  <a:prstDash val="dash"/>
                </a:ln>
                <a:solidFill>
                  <a:schemeClr val="dk1">
                    <a:lumMod val="75000"/>
                    <a:lumOff val="25000"/>
                  </a:schemeClr>
                </a:solidFill>
                <a:sym typeface="+mn-ea"/>
              </a:rPr>
              <a:t>每一个有限动态博弈至少存在一个颤抖手精练纳什均衡。</a:t>
            </a:r>
            <a:endParaRPr lang="zh-CN" altLang="en-US" sz="2000" b="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00000"/>
              </a:lnSpc>
              <a:spcBef>
                <a:spcPts val="0"/>
              </a:spcBef>
              <a:spcAft>
                <a:spcPts val="0"/>
              </a:spcAft>
              <a:buSzPct val="100000"/>
              <a:buFont typeface="Wingdings" panose="05000000000000000000" charset="0"/>
              <a:buChar char="l"/>
            </a:pPr>
            <a:endParaRPr lang="zh-CN" altLang="en-US" sz="2000" b="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6" name="AutoShape 3"/>
          <p:cNvSpPr>
            <a:spLocks noChangeAspect="1" noChangeArrowheads="1" noTextEdit="1"/>
          </p:cNvSpPr>
          <p:nvPr>
            <p:custDataLst>
              <p:tags r:id="rId2"/>
            </p:custDataLst>
          </p:nvPr>
        </p:nvSpPr>
        <p:spPr bwMode="auto">
          <a:xfrm>
            <a:off x="1678209" y="1860149"/>
            <a:ext cx="592777" cy="54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3"/>
            </p:custDataLst>
          </p:nvPr>
        </p:nvSpPr>
        <p:spPr>
          <a:xfrm>
            <a:off x="839470" y="836930"/>
            <a:ext cx="6148070" cy="8877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子博弈完美纳什均衡和颤抖手均衡是否就稳定</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pic>
        <p:nvPicPr>
          <p:cNvPr id="4" name="图片 3"/>
          <p:cNvPicPr>
            <a:picLocks noChangeAspect="1"/>
          </p:cNvPicPr>
          <p:nvPr/>
        </p:nvPicPr>
        <p:blipFill>
          <a:blip r:embed="rId9"/>
          <a:stretch>
            <a:fillRect/>
          </a:stretch>
        </p:blipFill>
        <p:spPr>
          <a:xfrm>
            <a:off x="1271905" y="2348865"/>
            <a:ext cx="3599815" cy="2435860"/>
          </a:xfrm>
          <a:prstGeom prst="rect">
            <a:avLst/>
          </a:prstGeom>
        </p:spPr>
      </p:pic>
      <p:pic>
        <p:nvPicPr>
          <p:cNvPr id="5" name="图片 4"/>
          <p:cNvPicPr>
            <a:picLocks noChangeAspect="1"/>
          </p:cNvPicPr>
          <p:nvPr/>
        </p:nvPicPr>
        <p:blipFill>
          <a:blip r:embed="rId10"/>
          <a:stretch>
            <a:fillRect/>
          </a:stretch>
        </p:blipFill>
        <p:spPr>
          <a:xfrm>
            <a:off x="5663565" y="1917065"/>
            <a:ext cx="4392930" cy="2479040"/>
          </a:xfrm>
          <a:prstGeom prst="rect">
            <a:avLst/>
          </a:prstGeom>
        </p:spPr>
      </p:pic>
      <p:pic>
        <p:nvPicPr>
          <p:cNvPr id="2" name="图片 1" descr="f01494d1831cca2c2d8b5f9021c13ad"/>
          <p:cNvPicPr>
            <a:picLocks noChangeAspect="1"/>
          </p:cNvPicPr>
          <p:nvPr/>
        </p:nvPicPr>
        <p:blipFill>
          <a:blip r:embed="rId1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t>53</a:t>
            </a:fld>
            <a:endParaRPr lang="zh-CN" altLang="en-US"/>
          </a:p>
        </p:txBody>
      </p:sp>
      <p:grpSp>
        <p:nvGrpSpPr>
          <p:cNvPr id="8" name="组合 7"/>
          <p:cNvGrpSpPr/>
          <p:nvPr/>
        </p:nvGrpSpPr>
        <p:grpSpPr>
          <a:xfrm>
            <a:off x="551815" y="161925"/>
            <a:ext cx="11201400" cy="762000"/>
            <a:chOff x="840" y="240"/>
            <a:chExt cx="17640" cy="1200"/>
          </a:xfrm>
        </p:grpSpPr>
        <p:sp>
          <p:nvSpPr>
            <p:cNvPr id="7" name="文本框 6"/>
            <p:cNvSpPr txBox="1"/>
            <p:nvPr>
              <p:custDataLst>
                <p:tags r:id="rId5"/>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顺推归纳法</a:t>
              </a:r>
            </a:p>
          </p:txBody>
        </p:sp>
        <p:cxnSp>
          <p:nvCxnSpPr>
            <p:cNvPr id="9" name="直接连接符 8"/>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itle 6"/>
          <p:cNvSpPr txBox="1"/>
          <p:nvPr>
            <p:custDataLst>
              <p:tags r:id="rId4"/>
            </p:custDataLst>
          </p:nvPr>
        </p:nvSpPr>
        <p:spPr>
          <a:xfrm>
            <a:off x="780415" y="5228590"/>
            <a:ext cx="9886315" cy="8877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三个纳什均衡：（</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）以及双方都以</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3/4</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1/4</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的概率分别选择</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的混合策略均衡。</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6" name="AutoShape 3"/>
          <p:cNvSpPr>
            <a:spLocks noChangeAspect="1" noChangeArrowheads="1" noTextEdit="1"/>
          </p:cNvSpPr>
          <p:nvPr>
            <p:custDataLst>
              <p:tags r:id="rId2"/>
            </p:custDataLst>
          </p:nvPr>
        </p:nvSpPr>
        <p:spPr bwMode="auto">
          <a:xfrm>
            <a:off x="1678209" y="1860149"/>
            <a:ext cx="592777" cy="54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3"/>
            </p:custDataLst>
          </p:nvPr>
        </p:nvSpPr>
        <p:spPr>
          <a:xfrm>
            <a:off x="839470" y="836930"/>
            <a:ext cx="9063990" cy="21812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4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顺推归纳法：</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根据博弈方前面阶段的行为，包括偏离特定均衡路径的行为，判断他们的思路，并为后面阶段博弈提供依据的分析方法</a:t>
            </a: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顺推归纳法考虑有意识偏离，而非偶然性错误。</a:t>
            </a:r>
          </a:p>
        </p:txBody>
      </p:sp>
      <p:pic>
        <p:nvPicPr>
          <p:cNvPr id="2"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lstStyle/>
          <a:p>
            <a:fld id="{49AE70B2-8BF9-45C0-BB95-33D1B9D3A854}" type="slidenum">
              <a:rPr lang="zh-CN" altLang="en-US" smtClean="0"/>
              <a:t>54</a:t>
            </a:fld>
            <a:endParaRPr lang="zh-CN" altLang="en-US"/>
          </a:p>
        </p:txBody>
      </p:sp>
      <p:grpSp>
        <p:nvGrpSpPr>
          <p:cNvPr id="8" name="组合 7"/>
          <p:cNvGrpSpPr/>
          <p:nvPr/>
        </p:nvGrpSpPr>
        <p:grpSpPr>
          <a:xfrm>
            <a:off x="551815" y="161925"/>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顺推归纳法</a:t>
              </a:r>
            </a:p>
          </p:txBody>
        </p:sp>
        <p:cxnSp>
          <p:nvCxnSpPr>
            <p:cNvPr id="9" name="直接连接符 8"/>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2"/>
            </p:custDataLst>
          </p:nvPr>
        </p:nvSpPr>
        <p:spPr>
          <a:xfrm>
            <a:off x="983615" y="909320"/>
            <a:ext cx="7078345" cy="7899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该博弈是说明逆推归纳法和博弈分析困难的经典博弈</a:t>
            </a:r>
          </a:p>
        </p:txBody>
      </p:sp>
      <p:pic>
        <p:nvPicPr>
          <p:cNvPr id="4" name="图片 3"/>
          <p:cNvPicPr>
            <a:picLocks noChangeAspect="1"/>
          </p:cNvPicPr>
          <p:nvPr/>
        </p:nvPicPr>
        <p:blipFill>
          <a:blip r:embed="rId8"/>
          <a:stretch>
            <a:fillRect/>
          </a:stretch>
        </p:blipFill>
        <p:spPr>
          <a:xfrm>
            <a:off x="551815" y="1917065"/>
            <a:ext cx="10907395" cy="2221865"/>
          </a:xfrm>
          <a:prstGeom prst="rect">
            <a:avLst/>
          </a:prstGeom>
        </p:spPr>
      </p:pic>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55</a:t>
            </a:fld>
            <a:endParaRPr lang="zh-CN" altLang="en-US"/>
          </a:p>
        </p:txBody>
      </p:sp>
      <p:sp>
        <p:nvSpPr>
          <p:cNvPr id="3" name="Title 6"/>
          <p:cNvSpPr txBox="1"/>
          <p:nvPr>
            <p:custDataLst>
              <p:tags r:id="rId3"/>
            </p:custDataLst>
          </p:nvPr>
        </p:nvSpPr>
        <p:spPr>
          <a:xfrm>
            <a:off x="1127760" y="4725035"/>
            <a:ext cx="7078345" cy="7899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逆推归纳法的结果：博弈方第一阶段选择</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，博弈结束</a:t>
            </a:r>
          </a:p>
        </p:txBody>
      </p:sp>
      <p:grpSp>
        <p:nvGrpSpPr>
          <p:cNvPr id="8" name="组合 7"/>
          <p:cNvGrpSpPr/>
          <p:nvPr/>
        </p:nvGrpSpPr>
        <p:grpSpPr>
          <a:xfrm>
            <a:off x="551815" y="161925"/>
            <a:ext cx="11201400" cy="762000"/>
            <a:chOff x="840" y="240"/>
            <a:chExt cx="17640" cy="1200"/>
          </a:xfrm>
        </p:grpSpPr>
        <p:sp>
          <p:nvSpPr>
            <p:cNvPr id="7" name="文本框 6"/>
            <p:cNvSpPr txBox="1"/>
            <p:nvPr>
              <p:custDataLst>
                <p:tags r:id="rId4"/>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蜈蚣博弈</a:t>
              </a:r>
            </a:p>
          </p:txBody>
        </p:sp>
        <p:cxnSp>
          <p:nvCxnSpPr>
            <p:cNvPr id="9" name="直接连接符 8"/>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2"/>
            </p:custDataLst>
          </p:nvPr>
        </p:nvSpPr>
        <p:spPr>
          <a:xfrm>
            <a:off x="911860" y="693420"/>
            <a:ext cx="10714355" cy="46139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例子</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大智若愚中的智慧：聪明过头没好处</a:t>
            </a:r>
          </a:p>
          <a:p>
            <a:pPr marL="285750" lvl="0" indent="-285750" algn="just"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美国19世纪有一个颇有成就的政治家，其幼年时是流浪街头的孤儿。他经常在大街上向行人讨钱，但当有人让他在一块钱和两块钱之间选择时，他选择了一块钱。于是，许多人都为了亲眼验证关于他的“犯傻”行为的传闻，专门来找他并让他在一块钱和两块钱之间选择。他仍然依然故我地只选择一块钱，于是来找他的人愈来愈多。</a:t>
            </a:r>
          </a:p>
          <a:p>
            <a:pPr marL="285750" lvl="0" indent="-285750" algn="just"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终于有一天，有一位女士问他：难道你不知道两块钱比一块钱更多一些钱吗？他如此回答道：如果我有一次选择了两块钱，就不会有人来找我让我在一块钱与两块钱之间选择了，我也讨不到钱了。</a:t>
            </a:r>
          </a:p>
          <a:p>
            <a:pPr marL="285750" lvl="0" indent="-285750" algn="just"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这个故事告诉我们有时候</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装傻”也许是有好处的。</a:t>
            </a:r>
          </a:p>
        </p:txBody>
      </p:sp>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t>56</a:t>
            </a:fld>
            <a:endParaRPr lang="zh-CN" altLang="en-US"/>
          </a:p>
        </p:txBody>
      </p:sp>
      <p:grpSp>
        <p:nvGrpSpPr>
          <p:cNvPr id="8" name="组合 7"/>
          <p:cNvGrpSpPr/>
          <p:nvPr/>
        </p:nvGrpSpPr>
        <p:grpSpPr>
          <a:xfrm>
            <a:off x="551815" y="161925"/>
            <a:ext cx="11201400" cy="762000"/>
            <a:chOff x="840" y="240"/>
            <a:chExt cx="17640" cy="1200"/>
          </a:xfrm>
        </p:grpSpPr>
        <p:sp>
          <p:nvSpPr>
            <p:cNvPr id="7"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动态博弈分析的问题和扩展讨论：</a:t>
              </a:r>
              <a:r>
                <a:rPr lang="zh-CN" altLang="en-US" sz="2800" dirty="0">
                  <a:solidFill>
                    <a:schemeClr val="accent1"/>
                  </a:solidFill>
                  <a:sym typeface="+mn-ea"/>
                </a:rPr>
                <a:t>蜈蚣博弈</a:t>
              </a:r>
            </a:p>
          </p:txBody>
        </p:sp>
        <p:cxnSp>
          <p:nvCxnSpPr>
            <p:cNvPr id="9" name="直接连接符 8"/>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631039" y="1988957"/>
            <a:ext cx="9144000" cy="1896745"/>
          </a:xfrm>
        </p:spPr>
        <p:txBody>
          <a:bodyPr/>
          <a:lstStyle/>
          <a:p>
            <a:pPr algn="ctr"/>
            <a:r>
              <a:rPr lang="en-US" altLang="zh-CN" sz="9600"/>
              <a:t>THANKS</a:t>
            </a:r>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57</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JkYzVmOWY0NzgwODMzY2FkNTVkNTU3YmRlMTI0NzUifQ=="/>
  <p:tag name="KSO_WPP_MARK_KEY" val="357b7ff4-7085-401e-947b-ca1ce805f1ec"/>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08b1d79c-0df5-42ee-9621-f50b81aee558}"/>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71d0c4fc-773d-4cf1-9e95-d8066208748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副标题"/>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diagram20221168_1*b*1"/>
  <p:tag name="KSO_WM_TEMPLATE_CATEGORY" val="diagram"/>
  <p:tag name="KSO_WM_TEMPLATE_INDEX" val="20221168"/>
  <p:tag name="KSO_WM_UNIT_LAYERLEVEL" val="1"/>
  <p:tag name="KSO_WM_TAG_VERSION" val="1.0"/>
  <p:tag name="KSO_WM_BEAUTIFY_FLAG" val="#wm#"/>
  <p:tag name="KSO_WM_UNIT_DEFAULT_FONT" val="20;24;2"/>
  <p:tag name="KSO_WM_UNIT_BLOCK" val="0"/>
  <p:tag name="KSO_WM_UNIT_SM_LIMIT_TYPE" val="2"/>
  <p:tag name="KSO_WM_UNIT_DEC_AREA_ID" val="204cf403550748f2b1b12b510f35b0c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5"/>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21168_1*a*1"/>
  <p:tag name="KSO_WM_TEMPLATE_CATEGORY" val="diagram"/>
  <p:tag name="KSO_WM_TEMPLATE_INDEX" val="20221168"/>
  <p:tag name="KSO_WM_UNIT_LAYERLEVEL" val="1"/>
  <p:tag name="KSO_WM_TAG_VERSION" val="1.0"/>
  <p:tag name="KSO_WM_BEAUTIFY_FLAG" val="#wm#"/>
  <p:tag name="KSO_WM_UNIT_DEFAULT_FONT" val="66;96;2"/>
  <p:tag name="KSO_WM_UNIT_BLOCK" val="0"/>
  <p:tag name="KSO_WM_UNIT_SM_LIMIT_TYPE" val="2"/>
  <p:tag name="KSO_WM_UNIT_DEC_AREA_ID" val="f075e2182f8048389128d0f4615d35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3.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6&quot;,&quot;maxSize&quot;:{&quot;size1&quot;:22.2},&quot;minSize&quot;:{&quot;size1&quot;:13.5},&quot;normalSize&quot;:{&quot;size1&quot;:13.5},&quot;subLayout&quot;:[{&quot;id&quot;:&quot;2022-08-19T17:26:46&quot;,&quot;margin&quot;:{&quot;bottom&quot;:0.026000002399086952,&quot;left&quot;:2.117000102996826,&quot;right&quot;:1.2699999809265137,&quot;top&quot;:0.4230000078678131},&quot;type&quot;:0},{&quot;id&quot;:&quot;2022-08-19T17:26: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3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3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13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0.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402_1*f*1"/>
  <p:tag name="KSO_WM_TEMPLATE_CATEGORY" val="diagram"/>
  <p:tag name="KSO_WM_TEMPLATE_INDEX" val="20211402"/>
  <p:tag name="KSO_WM_UNIT_LAYERLEVEL" val="1"/>
  <p:tag name="KSO_WM_TAG_VERSION" val="1.0"/>
  <p:tag name="KSO_WM_BEAUTIFY_FLAG" val="#wm#"/>
  <p:tag name="KSO_WM_UNIT_DEFAULT_FONT" val="14;20;2"/>
  <p:tag name="KSO_WM_UNIT_BLOCK" val="0"/>
  <p:tag name="KSO_WM_UNIT_VALUE" val="124"/>
  <p:tag name="KSO_WM_UNIT_SHOW_EDIT_AREA_INDICATION" val="1"/>
  <p:tag name="KSO_WM_CHIP_GROUPID" val="5e6b05596848fb12bee65ac8"/>
  <p:tag name="KSO_WM_CHIP_XID" val="5e6b05596848fb12bee65aca"/>
  <p:tag name="KSO_WM_UNIT_DEC_AREA_ID" val="cc4ca71dbcd74e2fa263e40090f052f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0d5bbb89a72f4d5791e08ad86b1a0037"/>
  <p:tag name="KSO_WM_UNIT_TEXT_FILL_FORE_SCHEMECOLOR_INDEX_BRIGHTNESS" val="0.25"/>
  <p:tag name="KSO_WM_UNIT_TEXT_FILL_FORE_SCHEMECOLOR_INDEX" val="13"/>
  <p:tag name="KSO_WM_UNIT_TEXT_FILL_TYPE" val="1"/>
  <p:tag name="KSO_WM_TEMPLATE_ASSEMBLE_XID" val="6130c4e1c26b0a66a1c57d3e"/>
  <p:tag name="KSO_WM_TEMPLATE_ASSEMBLE_GROUPID" val="6130c4e1c26b0a66a1c57d3e"/>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4.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402_1*f*1"/>
  <p:tag name="KSO_WM_TEMPLATE_CATEGORY" val="diagram"/>
  <p:tag name="KSO_WM_TEMPLATE_INDEX" val="20211402"/>
  <p:tag name="KSO_WM_UNIT_LAYERLEVEL" val="1"/>
  <p:tag name="KSO_WM_TAG_VERSION" val="1.0"/>
  <p:tag name="KSO_WM_BEAUTIFY_FLAG" val="#wm#"/>
  <p:tag name="KSO_WM_UNIT_DEFAULT_FONT" val="14;20;2"/>
  <p:tag name="KSO_WM_UNIT_BLOCK" val="0"/>
  <p:tag name="KSO_WM_UNIT_VALUE" val="124"/>
  <p:tag name="KSO_WM_UNIT_SHOW_EDIT_AREA_INDICATION" val="1"/>
  <p:tag name="KSO_WM_CHIP_GROUPID" val="5e6b05596848fb12bee65ac8"/>
  <p:tag name="KSO_WM_CHIP_XID" val="5e6b05596848fb12bee65aca"/>
  <p:tag name="KSO_WM_UNIT_DEC_AREA_ID" val="cc4ca71dbcd74e2fa263e40090f052f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0d5bbb89a72f4d5791e08ad86b1a0037"/>
  <p:tag name="KSO_WM_UNIT_TEXT_FILL_FORE_SCHEMECOLOR_INDEX_BRIGHTNESS" val="0.25"/>
  <p:tag name="KSO_WM_UNIT_TEXT_FILL_FORE_SCHEMECOLOR_INDEX" val="13"/>
  <p:tag name="KSO_WM_UNIT_TEXT_FILL_TYPE" val="1"/>
  <p:tag name="KSO_WM_TEMPLATE_ASSEMBLE_XID" val="6130c4e1c26b0a66a1c57d3e"/>
  <p:tag name="KSO_WM_TEMPLATE_ASSEMBLE_GROUPID" val="6130c4e1c26b0a66a1c57d3e"/>
</p:tagLst>
</file>

<file path=ppt/tags/tag1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14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2.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402_1*f*1"/>
  <p:tag name="KSO_WM_TEMPLATE_CATEGORY" val="diagram"/>
  <p:tag name="KSO_WM_TEMPLATE_INDEX" val="20211402"/>
  <p:tag name="KSO_WM_UNIT_LAYERLEVEL" val="1"/>
  <p:tag name="KSO_WM_TAG_VERSION" val="1.0"/>
  <p:tag name="KSO_WM_BEAUTIFY_FLAG" val="#wm#"/>
  <p:tag name="KSO_WM_UNIT_DEFAULT_FONT" val="14;20;2"/>
  <p:tag name="KSO_WM_UNIT_BLOCK" val="0"/>
  <p:tag name="KSO_WM_UNIT_VALUE" val="124"/>
  <p:tag name="KSO_WM_UNIT_SHOW_EDIT_AREA_INDICATION" val="1"/>
  <p:tag name="KSO_WM_CHIP_GROUPID" val="5e6b05596848fb12bee65ac8"/>
  <p:tag name="KSO_WM_CHIP_XID" val="5e6b05596848fb12bee65aca"/>
  <p:tag name="KSO_WM_UNIT_DEC_AREA_ID" val="cc4ca71dbcd74e2fa263e40090f052f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0d5bbb89a72f4d5791e08ad86b1a0037"/>
  <p:tag name="KSO_WM_UNIT_TEXT_FILL_FORE_SCHEMECOLOR_INDEX_BRIGHTNESS" val="0.25"/>
  <p:tag name="KSO_WM_UNIT_TEXT_FILL_FORE_SCHEMECOLOR_INDEX" val="13"/>
  <p:tag name="KSO_WM_UNIT_TEXT_FILL_TYPE" val="1"/>
  <p:tag name="KSO_WM_TEMPLATE_ASSEMBLE_XID" val="6130c4e1c26b0a66a1c57d3e"/>
  <p:tag name="KSO_WM_TEMPLATE_ASSEMBLE_GROUPID" val="6130c4e1c26b0a66a1c57d3e"/>
</p:tagLst>
</file>

<file path=ppt/tags/tag1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9.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6&quot;,&quot;maxSize&quot;:{&quot;size1&quot;:22.2},&quot;minSize&quot;:{&quot;size1&quot;:13.5},&quot;normalSize&quot;:{&quot;size1&quot;:13.5},&quot;subLayout&quot;:[{&quot;id&quot;:&quot;2022-08-19T17:26:46&quot;,&quot;margin&quot;:{&quot;bottom&quot;:0.026000002399086952,&quot;left&quot;:2.117000102996826,&quot;right&quot;:1.2699999809265137,&quot;top&quot;:0.4230000078678131},&quot;type&quot;:0},{&quot;id&quot;:&quot;2022-08-19T17:26:4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402_1*f*1"/>
  <p:tag name="KSO_WM_TEMPLATE_CATEGORY" val="diagram"/>
  <p:tag name="KSO_WM_TEMPLATE_INDEX" val="20211402"/>
  <p:tag name="KSO_WM_UNIT_LAYERLEVEL" val="1"/>
  <p:tag name="KSO_WM_TAG_VERSION" val="1.0"/>
  <p:tag name="KSO_WM_BEAUTIFY_FLAG" val="#wm#"/>
  <p:tag name="KSO_WM_UNIT_DEFAULT_FONT" val="14;20;2"/>
  <p:tag name="KSO_WM_UNIT_BLOCK" val="0"/>
  <p:tag name="KSO_WM_UNIT_VALUE" val="124"/>
  <p:tag name="KSO_WM_UNIT_SHOW_EDIT_AREA_INDICATION" val="1"/>
  <p:tag name="KSO_WM_CHIP_GROUPID" val="5e6b05596848fb12bee65ac8"/>
  <p:tag name="KSO_WM_CHIP_XID" val="5e6b05596848fb12bee65aca"/>
  <p:tag name="KSO_WM_UNIT_DEC_AREA_ID" val="cc4ca71dbcd74e2fa263e40090f052f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0d5bbb89a72f4d5791e08ad86b1a0037"/>
  <p:tag name="KSO_WM_UNIT_TEXT_FILL_FORE_SCHEMECOLOR_INDEX_BRIGHTNESS" val="0.25"/>
  <p:tag name="KSO_WM_UNIT_TEXT_FILL_FORE_SCHEMECOLOR_INDEX" val="13"/>
  <p:tag name="KSO_WM_UNIT_TEXT_FILL_TYPE" val="1"/>
  <p:tag name="KSO_WM_TEMPLATE_ASSEMBLE_XID" val="6130c4e1c26b0a66a1c57d3e"/>
  <p:tag name="KSO_WM_TEMPLATE_ASSEMBLE_GROUPID" val="6130c4e1c26b0a66a1c57d3e"/>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134,&quot;width&quot;:3507}"/>
</p:tagLst>
</file>

<file path=ppt/tags/tag1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10148011-5b10-414b-bec8-f567fd4639c4}"/>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2b03e550-bd4a-453c-b485-94d22be9b0fa}"/>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7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7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7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7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7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7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7"/>
  <p:tag name="KSO_WM_UNI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7"/>
  <p:tag name="KSO_WM_UNI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8"/>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Lst>
</file>

<file path=ppt/tags/tag18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8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8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8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8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8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8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7"/>
  <p:tag name="KSO_WM_UNI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8"/>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1.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7&quot;,&quot;maxSize&quot;:{&quot;size1&quot;:22.2},&quot;minSize&quot;:{&quot;size1&quot;:13.5},&quot;normalSize&quot;:{&quot;size1&quot;:13.5},&quot;subLayout&quot;:[{&quot;id&quot;:&quot;2022-08-19T17:26:47&quot;,&quot;margin&quot;:{&quot;bottom&quot;:0.026000002399086952,&quot;left&quot;:2.117000102996826,&quot;right&quot;:1.2699999809265137,&quot;top&quot;:0.4230000078678131},&quot;type&quot;:0},{&quot;id&quot;:&quot;2022-08-19T17:26:4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19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6.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9.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2.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5.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1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10148011-5b10-414b-bec8-f567fd4639c4}"/>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2b03e550-bd4a-453c-b485-94d22be9b0fa}"/>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TABLE_BEAUTIFY" val="smartTable{040569c6-a558-4fe9-91e5-f13a211fce96}"/>
</p:tagLst>
</file>

<file path=ppt/tags/tag22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2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22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22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2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2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3.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7&quot;,&quot;maxSize&quot;:{&quot;size1&quot;:22.2},&quot;minSize&quot;:{&quot;size1&quot;:13.5},&quot;normalSize&quot;:{&quot;size1&quot;:13.5},&quot;subLayout&quot;:[{&quot;id&quot;:&quot;2022-08-19T17:26:47&quot;,&quot;margin&quot;:{&quot;bottom&quot;:0.026000002399086952,&quot;left&quot;:2.117000102996826,&quot;right&quot;:1.2699999809265137,&quot;top&quot;:0.4230000078678131},&quot;type&quot;:0},{&quot;id&quot;:&quot;2022-08-19T17:26:4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3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23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7166_1*f*2"/>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270"/>
  <p:tag name="KSO_WM_UNIT_SHOW_EDIT_AREA_INDICATION" val="1"/>
  <p:tag name="KSO_WM_CHIP_GROUPID" val="5e6b05596848fb12bee65ac8"/>
  <p:tag name="KSO_WM_CHIP_XID" val="5e6b05596848fb12bee65aca"/>
  <p:tag name="KSO_WM_UNIT_DEC_AREA_ID" val="def0dcdfd05741bb82babbb48fc0a6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b61c0b8caf6c4b838f59b607861b970e"/>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1&quot;,&quot;maxSize&quot;:{&quot;size1&quot;:22.2},&quot;minSize&quot;:{&quot;size1&quot;:13.5},&quot;normalSize&quot;:{&quot;size1&quot;:13.5},&quot;subLayout&quot;:[{&quot;id&quot;:&quot;2022-08-19T17:26:51&quot;,&quot;margin&quot;:{&quot;bottom&quot;:0.026000002399086952,&quot;left&quot;:2.117000102996826,&quot;right&quot;:1.2699999809265137,&quot;top&quot;:0.4230000078678131},&quot;type&quot;:0},{&quot;id&quot;:&quot;2022-08-19T17:26: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3581_1*i*1"/>
  <p:tag name="KSO_WM_TEMPLATE_CATEGORY" val="diagram"/>
  <p:tag name="KSO_WM_TEMPLATE_INDEX" val="20213581"/>
  <p:tag name="KSO_WM_UNIT_LAYERLEVEL" val="1"/>
  <p:tag name="KSO_WM_TAG_VERSION" val="1.0"/>
  <p:tag name="KSO_WM_BEAUTIFY_FLAG" val="#wm#"/>
  <p:tag name="KSO_WM_UNIT_BLOCK" val="0"/>
  <p:tag name="KSO_WM_UNIT_SM_LIMIT_TYPE" val="3"/>
  <p:tag name="KSO_WM_UNIT_DEC_AREA_ID" val="5c8af1dee03a4607b79552da7e154d73"/>
  <p:tag name="KSO_WM_UNIT_DECORATE_INFO" val="{&quot;DecorateInfoH&quot;:{&quot;IsAbs&quot;:true},&quot;DecorateInfoW&quot;:{&quot;IsAbs&quot;:false},&quot;DecorateInfoX&quot;:{&quot;IsAbs&quot;:true,&quot;Pos&quot;:0},&quot;DecorateInfoY&quot;:{&quot;IsAbs&quot;:true,&quot;Pos&quot;:1},&quot;ReferentInfo&quot;:{&quot;Id&quot;:&quot;b6eec6e5bda24618bc31c4b045aebc3e&quot;,&quot;X&quot;:{&quot;Pos&quot;:0},&quot;Y&quot;:{&quot;Pos&quot;:1}},&quot;whChangeMode&quot;:0}"/>
  <p:tag name="KSO_WM_CHIP_GROUPID" val="5f700fca747e3ea6e292926b"/>
  <p:tag name="KSO_WM_CHIP_XID" val="5f700fca747e3ea6e292926c"/>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2"/>
  <p:tag name="KSO_WM_UNIT_TEXT_FILL_TYPE" val="1"/>
  <p:tag name="KSO_WM_UNIT_VALUE" val="648"/>
  <p:tag name="KSO_WM_TEMPLATE_ASSEMBLE_XID" val="6130c4e18b5cc6c91112a5a1"/>
  <p:tag name="KSO_WM_TEMPLATE_ASSEMBLE_GROUPID" val="6130c4e18b5cc6c91112a5a1"/>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3581_1*i*2"/>
  <p:tag name="KSO_WM_TEMPLATE_CATEGORY" val="diagram"/>
  <p:tag name="KSO_WM_TEMPLATE_INDEX" val="20213581"/>
  <p:tag name="KSO_WM_UNIT_LAYERLEVEL" val="1"/>
  <p:tag name="KSO_WM_TAG_VERSION" val="1.0"/>
  <p:tag name="KSO_WM_BEAUTIFY_FLAG" val="#wm#"/>
  <p:tag name="KSO_WM_UNIT_BLOCK" val="0"/>
  <p:tag name="KSO_WM_UNIT_SM_LIMIT_TYPE" val="2"/>
  <p:tag name="KSO_WM_UNIT_DEC_AREA_ID" val="91f83280a6fb48f49c2d8aa41bc8a8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700fca747e3ea6e292926b"/>
  <p:tag name="KSO_WM_CHIP_XID" val="5f700fca747e3ea6e292926c"/>
  <p:tag name="KSO_WM_TEMPLATE_ASSEMBLE_XID" val="6130c4e18b5cc6c91112a5a1"/>
  <p:tag name="KSO_WM_TEMPLATE_ASSEMBLE_GROUPID" val="6130c4e18b5cc6c91112a5a1"/>
</p:tagLst>
</file>

<file path=ppt/tags/tag24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581_1*f*1"/>
  <p:tag name="KSO_WM_TEMPLATE_CATEGORY" val="diagram"/>
  <p:tag name="KSO_WM_TEMPLATE_INDEX" val="20213581"/>
  <p:tag name="KSO_WM_UNIT_LAYERLEVEL" val="1"/>
  <p:tag name="KSO_WM_TAG_VERSION" val="1.0"/>
  <p:tag name="KSO_WM_BEAUTIFY_FLAG" val="#wm#"/>
  <p:tag name="KSO_WM_UNIT_DEFAULT_FONT" val="14;20;2"/>
  <p:tag name="KSO_WM_UNIT_BLOCK" val="0"/>
  <p:tag name="KSO_WM_UNIT_VALUE" val="120"/>
  <p:tag name="KSO_WM_UNIT_SHOW_EDIT_AREA_INDICATION" val="1"/>
  <p:tag name="KSO_WM_CHIP_GROUPID" val="5e6b05596848fb12bee65ac8"/>
  <p:tag name="KSO_WM_CHIP_XID" val="5e6b05596848fb12bee65aca"/>
  <p:tag name="KSO_WM_UNIT_DEC_AREA_ID" val="6a4f31af155343ada46da67e9fcf170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63278fa142474d7fb91bcb8d636d849d"/>
  <p:tag name="KSO_WM_UNIT_SUPPORT_BIG_FONT" val="1"/>
  <p:tag name="KSO_WM_UNIT_TEXT_FILL_FORE_SCHEMECOLOR_INDEX_BRIGHTNESS" val="0.25"/>
  <p:tag name="KSO_WM_UNIT_TEXT_FILL_FORE_SCHEMECOLOR_INDEX" val="13"/>
  <p:tag name="KSO_WM_UNIT_TEXT_FILL_TYPE" val="1"/>
  <p:tag name="KSO_WM_TEMPLATE_ASSEMBLE_XID" val="6130c4e18b5cc6c91112a5a1"/>
  <p:tag name="KSO_WM_TEMPLATE_ASSEMBLE_GROUPID" val="6130c4e18b5cc6c91112a5a1"/>
</p:tagLst>
</file>

<file path=ppt/tags/tag244.xml><?xml version="1.0" encoding="utf-8"?>
<p:tagLst xmlns:a="http://schemas.openxmlformats.org/drawingml/2006/main" xmlns:r="http://schemas.openxmlformats.org/officeDocument/2006/relationships" xmlns:p="http://schemas.openxmlformats.org/presentationml/2006/main">
  <p:tag name="KSO_WM_UNIT_VALUE" val="1227*1396"/>
  <p:tag name="KSO_WM_UNIT_HIGHLIGHT" val="0"/>
  <p:tag name="KSO_WM_UNIT_COMPATIBLE" val="0"/>
  <p:tag name="KSO_WM_UNIT_DIAGRAM_ISNUMVISUAL" val="0"/>
  <p:tag name="KSO_WM_UNIT_DIAGRAM_ISREFERUNIT" val="0"/>
  <p:tag name="KSO_WM_UNIT_TYPE" val="d"/>
  <p:tag name="KSO_WM_UNIT_INDEX" val="1"/>
  <p:tag name="KSO_WM_UNIT_ID" val="diagram20213581_1*d*1"/>
  <p:tag name="KSO_WM_TEMPLATE_CATEGORY" val="diagram"/>
  <p:tag name="KSO_WM_TEMPLATE_INDEX" val="20213581"/>
  <p:tag name="KSO_WM_UNIT_LAYERLEVEL" val="1"/>
  <p:tag name="KSO_WM_TAG_VERSION" val="1.0"/>
  <p:tag name="KSO_WM_BEAUTIFY_FLAG" val="#wm#"/>
  <p:tag name="KSO_WM_CHIP_GROUPID" val="5e7310da9a230a26b9e88a19"/>
  <p:tag name="KSO_WM_CHIP_XID" val="5e7310da9a230a26b9e88a1a"/>
  <p:tag name="KSO_WM_UNIT_DEC_AREA_ID" val="b6eec6e5bda24618bc31c4b045aebc3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15a91bbb88e47828918a7942e874194"/>
  <p:tag name="KSO_WM_UNIT_PLACING_PICTURE" val="d15a91bbb88e47828918a7942e874194"/>
  <p:tag name="KSO_WM_TEMPLATE_ASSEMBLE_XID" val="6130c4e18b5cc6c91112a5a1"/>
  <p:tag name="KSO_WM_TEMPLATE_ASSEMBLE_GROUPID" val="6130c4e18b5cc6c91112a5a1"/>
  <p:tag name="KSO_WM_UNIT_PLACING_PICTURE_INFO" val="{&quot;code&quot;:&quot;&quot;,&quot;full_picture&quot;:false,&quot;scheme&quot;:&quot;&quot;,&quot;spacing&quot;:5}"/>
  <p:tag name="KSO_WM_UNIT_PLACING_PICTURE_COLLAGE_VIEWPORT" val="{&quot;height&quot;:5878.946456692915,&quot;width&quot;:6689.887488088609}"/>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3581_1*i*3"/>
  <p:tag name="KSO_WM_TEMPLATE_CATEGORY" val="diagram"/>
  <p:tag name="KSO_WM_TEMPLATE_INDEX" val="20213581"/>
  <p:tag name="KSO_WM_UNIT_LAYERLEVEL" val="1"/>
  <p:tag name="KSO_WM_TAG_VERSION" val="1.0"/>
  <p:tag name="KSO_WM_BEAUTIFY_FLAG" val="#wm#"/>
  <p:tag name="KSO_WM_UNIT_SM_LIMIT_TYPE" val="2"/>
  <p:tag name="KSO_WM_CHIP_GROUPID" val="5f700fca747e3ea6e292926b"/>
  <p:tag name="KSO_WM_CHIP_XID" val="5f700fca747e3ea6e292926c"/>
  <p:tag name="KSO_WM_UNIT_LINE_FORE_SCHEMECOLOR_INDEX_BRIGHTNESS" val="-0.15"/>
  <p:tag name="KSO_WM_UNIT_LINE_FORE_SCHEMECOLOR_INDEX" val="16"/>
  <p:tag name="KSO_WM_UNIT_LINE_FILL_TYPE" val="2"/>
  <p:tag name="KSO_WM_TEMPLATE_ASSEMBLE_XID" val="6130c4e18b5cc6c91112a5a1"/>
  <p:tag name="KSO_WM_TEMPLATE_ASSEMBLE_GROUPID" val="6130c4e18b5cc6c91112a5a1"/>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3581_1*i*4"/>
  <p:tag name="KSO_WM_TEMPLATE_CATEGORY" val="diagram"/>
  <p:tag name="KSO_WM_TEMPLATE_INDEX" val="20213581"/>
  <p:tag name="KSO_WM_UNIT_LAYERLEVEL" val="1"/>
  <p:tag name="KSO_WM_TAG_VERSION" val="1.0"/>
  <p:tag name="KSO_WM_BEAUTIFY_FLAG" val="#wm#"/>
  <p:tag name="KSO_WM_UNIT_SM_LIMIT_TYPE" val="2"/>
  <p:tag name="KSO_WM_CHIP_GROUPID" val="5f700fca747e3ea6e292926b"/>
  <p:tag name="KSO_WM_CHIP_XID" val="5f700fca747e3ea6e292926c"/>
  <p:tag name="KSO_WM_UNIT_LINE_FORE_SCHEMECOLOR_INDEX_BRIGHTNESS" val="-0.15"/>
  <p:tag name="KSO_WM_UNIT_LINE_FORE_SCHEMECOLOR_INDEX" val="16"/>
  <p:tag name="KSO_WM_UNIT_LINE_FILL_TYPE" val="2"/>
  <p:tag name="KSO_WM_TEMPLATE_ASSEMBLE_XID" val="6130c4e18b5cc6c91112a5a1"/>
  <p:tag name="KSO_WM_TEMPLATE_ASSEMBLE_GROUPID" val="6130c4e18b5cc6c91112a5a1"/>
</p:tagLst>
</file>

<file path=ppt/tags/tag247.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1&quot;,&quot;maxSize&quot;:{&quot;size1&quot;:22.2},&quot;minSize&quot;:{&quot;size1&quot;:13.5},&quot;normalSize&quot;:{&quot;size1&quot;:13.5},&quot;subLayout&quot;:[{&quot;id&quot;:&quot;2022-08-19T17:26:51&quot;,&quot;margin&quot;:{&quot;bottom&quot;:0.026000002399086952,&quot;left&quot;:2.117000102996826,&quot;right&quot;:1.2699999809265137,&quot;top&quot;:0.4230000078678131},&quot;type&quot;:0},{&quot;id&quot;:&quot;2022-08-19T17:26: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3581_1*i*1"/>
  <p:tag name="KSO_WM_TEMPLATE_CATEGORY" val="diagram"/>
  <p:tag name="KSO_WM_TEMPLATE_INDEX" val="20213581"/>
  <p:tag name="KSO_WM_UNIT_LAYERLEVEL" val="1"/>
  <p:tag name="KSO_WM_TAG_VERSION" val="1.0"/>
  <p:tag name="KSO_WM_BEAUTIFY_FLAG" val="#wm#"/>
  <p:tag name="KSO_WM_UNIT_BLOCK" val="0"/>
  <p:tag name="KSO_WM_UNIT_SM_LIMIT_TYPE" val="3"/>
  <p:tag name="KSO_WM_UNIT_DEC_AREA_ID" val="5c8af1dee03a4607b79552da7e154d73"/>
  <p:tag name="KSO_WM_UNIT_DECORATE_INFO" val="{&quot;DecorateInfoH&quot;:{&quot;IsAbs&quot;:true},&quot;DecorateInfoW&quot;:{&quot;IsAbs&quot;:false},&quot;DecorateInfoX&quot;:{&quot;IsAbs&quot;:true,&quot;Pos&quot;:0},&quot;DecorateInfoY&quot;:{&quot;IsAbs&quot;:true,&quot;Pos&quot;:1},&quot;ReferentInfo&quot;:{&quot;Id&quot;:&quot;b6eec6e5bda24618bc31c4b045aebc3e&quot;,&quot;X&quot;:{&quot;Pos&quot;:0},&quot;Y&quot;:{&quot;Pos&quot;:1}},&quot;whChangeMode&quot;:0}"/>
  <p:tag name="KSO_WM_CHIP_GROUPID" val="5f700fca747e3ea6e292926b"/>
  <p:tag name="KSO_WM_CHIP_XID" val="5f700fca747e3ea6e292926c"/>
  <p:tag name="KSO_WM_UNIT_FILL_FORE_SCHEMECOLOR_INDEX_BRIGHTNESS" val="-0.05"/>
  <p:tag name="KSO_WM_UNIT_FILL_FORE_SCHEMECOLOR_INDEX" val="16"/>
  <p:tag name="KSO_WM_UNIT_FILL_TYPE" val="1"/>
  <p:tag name="KSO_WM_UNIT_TEXT_FILL_FORE_SCHEMECOLOR_INDEX_BRIGHTNESS" val="0"/>
  <p:tag name="KSO_WM_UNIT_TEXT_FILL_FORE_SCHEMECOLOR_INDEX" val="2"/>
  <p:tag name="KSO_WM_UNIT_TEXT_FILL_TYPE" val="1"/>
  <p:tag name="KSO_WM_UNIT_VALUE" val="648"/>
  <p:tag name="KSO_WM_TEMPLATE_ASSEMBLE_XID" val="6130c4e18b5cc6c91112a5a1"/>
  <p:tag name="KSO_WM_TEMPLATE_ASSEMBLE_GROUPID" val="6130c4e18b5cc6c91112a5a1"/>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3581_1*i*2"/>
  <p:tag name="KSO_WM_TEMPLATE_CATEGORY" val="diagram"/>
  <p:tag name="KSO_WM_TEMPLATE_INDEX" val="20213581"/>
  <p:tag name="KSO_WM_UNIT_LAYERLEVEL" val="1"/>
  <p:tag name="KSO_WM_TAG_VERSION" val="1.0"/>
  <p:tag name="KSO_WM_BEAUTIFY_FLAG" val="#wm#"/>
  <p:tag name="KSO_WM_UNIT_BLOCK" val="0"/>
  <p:tag name="KSO_WM_UNIT_SM_LIMIT_TYPE" val="2"/>
  <p:tag name="KSO_WM_UNIT_DEC_AREA_ID" val="91f83280a6fb48f49c2d8aa41bc8a8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f700fca747e3ea6e292926b"/>
  <p:tag name="KSO_WM_CHIP_XID" val="5f700fca747e3ea6e292926c"/>
  <p:tag name="KSO_WM_TEMPLATE_ASSEMBLE_XID" val="6130c4e18b5cc6c91112a5a1"/>
  <p:tag name="KSO_WM_TEMPLATE_ASSEMBLE_GROUPID" val="6130c4e18b5cc6c91112a5a1"/>
</p:tagLst>
</file>

<file path=ppt/tags/tag25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581_1*f*1"/>
  <p:tag name="KSO_WM_TEMPLATE_CATEGORY" val="diagram"/>
  <p:tag name="KSO_WM_TEMPLATE_INDEX" val="20213581"/>
  <p:tag name="KSO_WM_UNIT_LAYERLEVEL" val="1"/>
  <p:tag name="KSO_WM_TAG_VERSION" val="1.0"/>
  <p:tag name="KSO_WM_BEAUTIFY_FLAG" val="#wm#"/>
  <p:tag name="KSO_WM_UNIT_DEFAULT_FONT" val="14;20;2"/>
  <p:tag name="KSO_WM_UNIT_BLOCK" val="0"/>
  <p:tag name="KSO_WM_UNIT_VALUE" val="120"/>
  <p:tag name="KSO_WM_UNIT_SHOW_EDIT_AREA_INDICATION" val="1"/>
  <p:tag name="KSO_WM_CHIP_GROUPID" val="5e6b05596848fb12bee65ac8"/>
  <p:tag name="KSO_WM_CHIP_XID" val="5e6b05596848fb12bee65aca"/>
  <p:tag name="KSO_WM_UNIT_DEC_AREA_ID" val="6a4f31af155343ada46da67e9fcf170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63278fa142474d7fb91bcb8d636d849d"/>
  <p:tag name="KSO_WM_UNIT_SUPPORT_BIG_FONT" val="1"/>
  <p:tag name="KSO_WM_UNIT_TEXT_FILL_FORE_SCHEMECOLOR_INDEX_BRIGHTNESS" val="0.25"/>
  <p:tag name="KSO_WM_UNIT_TEXT_FILL_FORE_SCHEMECOLOR_INDEX" val="13"/>
  <p:tag name="KSO_WM_UNIT_TEXT_FILL_TYPE" val="1"/>
  <p:tag name="KSO_WM_TEMPLATE_ASSEMBLE_XID" val="6130c4e18b5cc6c91112a5a1"/>
  <p:tag name="KSO_WM_TEMPLATE_ASSEMBLE_GROUPID" val="6130c4e18b5cc6c91112a5a1"/>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3581_1*i*3"/>
  <p:tag name="KSO_WM_TEMPLATE_CATEGORY" val="diagram"/>
  <p:tag name="KSO_WM_TEMPLATE_INDEX" val="20213581"/>
  <p:tag name="KSO_WM_UNIT_LAYERLEVEL" val="1"/>
  <p:tag name="KSO_WM_TAG_VERSION" val="1.0"/>
  <p:tag name="KSO_WM_BEAUTIFY_FLAG" val="#wm#"/>
  <p:tag name="KSO_WM_UNIT_SM_LIMIT_TYPE" val="2"/>
  <p:tag name="KSO_WM_CHIP_GROUPID" val="5f700fca747e3ea6e292926b"/>
  <p:tag name="KSO_WM_CHIP_XID" val="5f700fca747e3ea6e292926c"/>
  <p:tag name="KSO_WM_UNIT_LINE_FORE_SCHEMECOLOR_INDEX_BRIGHTNESS" val="-0.15"/>
  <p:tag name="KSO_WM_UNIT_LINE_FORE_SCHEMECOLOR_INDEX" val="16"/>
  <p:tag name="KSO_WM_UNIT_LINE_FILL_TYPE" val="2"/>
  <p:tag name="KSO_WM_TEMPLATE_ASSEMBLE_XID" val="6130c4e18b5cc6c91112a5a1"/>
  <p:tag name="KSO_WM_TEMPLATE_ASSEMBLE_GROUPID" val="6130c4e18b5cc6c91112a5a1"/>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3581_1*i*4"/>
  <p:tag name="KSO_WM_TEMPLATE_CATEGORY" val="diagram"/>
  <p:tag name="KSO_WM_TEMPLATE_INDEX" val="20213581"/>
  <p:tag name="KSO_WM_UNIT_LAYERLEVEL" val="1"/>
  <p:tag name="KSO_WM_TAG_VERSION" val="1.0"/>
  <p:tag name="KSO_WM_BEAUTIFY_FLAG" val="#wm#"/>
  <p:tag name="KSO_WM_UNIT_SM_LIMIT_TYPE" val="2"/>
  <p:tag name="KSO_WM_CHIP_GROUPID" val="5f700fca747e3ea6e292926b"/>
  <p:tag name="KSO_WM_CHIP_XID" val="5f700fca747e3ea6e292926c"/>
  <p:tag name="KSO_WM_UNIT_LINE_FORE_SCHEMECOLOR_INDEX_BRIGHTNESS" val="-0.15"/>
  <p:tag name="KSO_WM_UNIT_LINE_FORE_SCHEMECOLOR_INDEX" val="16"/>
  <p:tag name="KSO_WM_UNIT_LINE_FILL_TYPE" val="2"/>
  <p:tag name="KSO_WM_TEMPLATE_ASSEMBLE_XID" val="6130c4e18b5cc6c91112a5a1"/>
  <p:tag name="KSO_WM_TEMPLATE_ASSEMBLE_GROUPID" val="6130c4e18b5cc6c91112a5a1"/>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5.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9&quot;,&quot;maxSize&quot;:{&quot;size1&quot;:22.2},&quot;minSize&quot;:{&quot;size1&quot;:13.5},&quot;normalSize&quot;:{&quot;size1&quot;:13.5},&quot;subLayout&quot;:[{&quot;id&quot;:&quot;2022-08-19T17:26:49&quot;,&quot;margin&quot;:{&quot;bottom&quot;:0.026000002399086952,&quot;left&quot;:2.117000102996826,&quot;right&quot;:1.2699999809265137,&quot;top&quot;:0.4230000078678131},&quot;type&quot;:0},{&quot;id&quot;:&quot;2022-08-19T17:26:4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063_1*f*2"/>
  <p:tag name="KSO_WM_TEMPLATE_CATEGORY" val="diagram"/>
  <p:tag name="KSO_WM_TEMPLATE_INDEX" val="20212063"/>
  <p:tag name="KSO_WM_UNIT_LAYERLEVEL" val="1"/>
  <p:tag name="KSO_WM_TAG_VERSION" val="1.0"/>
  <p:tag name="KSO_WM_BEAUTIFY_FLAG" val="#wm#"/>
  <p:tag name="KSO_WM_UNIT_DEFAULT_FONT" val="14;20;2"/>
  <p:tag name="KSO_WM_UNIT_BLOCK" val="0"/>
  <p:tag name="KSO_WM_UNIT_VALUE" val="136"/>
  <p:tag name="KSO_WM_UNIT_SHOW_EDIT_AREA_INDICATION" val="1"/>
  <p:tag name="KSO_WM_CHIP_GROUPID" val="5e6b05596848fb12bee65ac8"/>
  <p:tag name="KSO_WM_CHIP_XID" val="5e6b05596848fb12bee65aca"/>
  <p:tag name="KSO_WM_UNIT_DEC_AREA_ID" val="eb8ba09594c04894921e8b22e75ef99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SM_LIMIT_TYPE" val="2"/>
  <p:tag name="KSO_WM_CHIP_FILLAREA_FILL_RULE" val="{&quot;fill_align&quot;:&quot;lb&quot;,&quot;fill_mode&quot;:&quot;full&quot;,&quot;sacle_strategy&quot;:&quot;smart&quot;}"/>
  <p:tag name="KSO_WM_ASSEMBLE_CHIP_INDEX" val="e7dac7120bfd4342bc5c35637f643488"/>
  <p:tag name="KSO_WM_UNIT_TEXT_FILL_FORE_SCHEMECOLOR_INDEX_BRIGHTNESS" val="0.25"/>
  <p:tag name="KSO_WM_UNIT_TEXT_FILL_FORE_SCHEMECOLOR_INDEX" val="13"/>
  <p:tag name="KSO_WM_UNIT_TEXT_FILL_TYPE" val="1"/>
  <p:tag name="KSO_WM_TEMPLATE_ASSEMBLE_XID" val="60656f104054ed1e2fb802cb"/>
  <p:tag name="KSO_WM_TEMPLATE_ASSEMBLE_GROUPID" val="60656f104054ed1e2fb802cb"/>
</p:tagLst>
</file>

<file path=ppt/tags/tag25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63_1*f*1"/>
  <p:tag name="KSO_WM_TEMPLATE_CATEGORY" val="diagram"/>
  <p:tag name="KSO_WM_TEMPLATE_INDEX" val="20212063"/>
  <p:tag name="KSO_WM_UNIT_LAYERLEVEL" val="1"/>
  <p:tag name="KSO_WM_TAG_VERSION" val="1.0"/>
  <p:tag name="KSO_WM_BEAUTIFY_FLAG" val="#wm#"/>
  <p:tag name="KSO_WM_UNIT_DEFAULT_FONT" val="14;20;2"/>
  <p:tag name="KSO_WM_UNIT_BLOCK" val="0"/>
  <p:tag name="KSO_WM_UNIT_VALUE" val="136"/>
  <p:tag name="KSO_WM_UNIT_SHOW_EDIT_AREA_INDICATION" val="1"/>
  <p:tag name="KSO_WM_CHIP_GROUPID" val="5e6b05596848fb12bee65ac8"/>
  <p:tag name="KSO_WM_CHIP_XID" val="5e6b05596848fb12bee65aca"/>
  <p:tag name="KSO_WM_UNIT_DEC_AREA_ID" val="c0876381e1814ce3b681e1a629131d6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2ad0c2474e36498a89d92a458e352f7f"/>
  <p:tag name="KSO_WM_UNIT_TEXT_FILL_FORE_SCHEMECOLOR_INDEX_BRIGHTNESS" val="0.25"/>
  <p:tag name="KSO_WM_UNIT_TEXT_FILL_FORE_SCHEMECOLOR_INDEX" val="13"/>
  <p:tag name="KSO_WM_UNIT_TEXT_FILL_TYPE" val="1"/>
  <p:tag name="KSO_WM_TEMPLATE_ASSEMBLE_XID" val="60656f104054ed1e2fb802cb"/>
  <p:tag name="KSO_WM_TEMPLATE_ASSEMBLE_GROUPID" val="60656f104054ed1e2fb802cb"/>
</p:tagLst>
</file>

<file path=ppt/tags/tag259.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0"/>
  <p:tag name="KSO_WM_UNIT_DEC_AREA_ID" val="9fe8f9b8744a4846ad6cbb4a6464646a"/>
  <p:tag name="KSO_WM_UNIT_HIGHLIGHT" val="0"/>
  <p:tag name="KSO_WM_UNIT_COMPATIBLE" val="0"/>
  <p:tag name="KSO_WM_UNIT_DIAGRAM_ISNUMVISUAL" val="0"/>
  <p:tag name="KSO_WM_UNIT_DIAGRAM_ISREFERUNIT" val="0"/>
  <p:tag name="KSO_WM_UNIT_ID" val="diagram20212063_1*i*1"/>
  <p:tag name="KSO_WM_TEMPLATE_CATEGORY" val="diagram"/>
  <p:tag name="KSO_WM_TEMPLATE_INDEX" val="20212063"/>
  <p:tag name="KSO_WM_UNIT_LAYERLEVEL" val="1"/>
  <p:tag name="KSO_WM_TAG_VERSION" val="1.0"/>
  <p:tag name="KSO_WM_BEAUTIFY_FLAG" val="#wm#"/>
  <p:tag name="KSO_WM_UNIT_TYPE" val="i"/>
  <p:tag name="KSO_WM_UNIT_INDEX" val="1"/>
  <p:tag name="KSO_WM_UNIT_DECORATE_INFO" val="{&quot;ReferentInfo&quot;:{&quot;Id&quot;:&quot;slide&quot;,&quot;X&quot;:{&quot;Pos&quot;:0},&quot;Y&quot;:{&quot;Pos&quot;:0}},&quot;DecorateInfoX&quot;:{&quot;Pos&quot;:0,&quot;IsAbs&quot;:true},&quot;DecorateInfoY&quot;:{&quot;Pos&quot;:0,&quot;IsAbs&quot;:true},&quot;DecorateInfoW&quot;:{&quot;IsAbs&quot;:true},&quot;DecorateInfoH&quot;:{&quot;IsAbs&quot;:true},&quot;whChangeMode&quot;:0}"/>
  <p:tag name="KSO_WM_CHIP_GROUPID" val="5e6f1c5e605d5daf04fe6053"/>
  <p:tag name="KSO_WM_CHIP_XID" val="5e6f1c5e605d5daf04fe6054"/>
  <p:tag name="KSO_WM_TEMPLATE_ASSEMBLE_XID" val="60656f104054ed1e2fb802cb"/>
  <p:tag name="KSO_WM_TEMPLATE_ASSEMBLE_GROUPID" val="60656f104054ed1e2fb802cb"/>
</p:tagLst>
</file>

<file path=ppt/tags/tag260.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0"/>
  <p:tag name="KSO_WM_UNIT_DEC_AREA_ID" val="a82f62af78b3430f8bc17026659794cb"/>
  <p:tag name="KSO_WM_UNIT_HIGHLIGHT" val="0"/>
  <p:tag name="KSO_WM_UNIT_COMPATIBLE" val="0"/>
  <p:tag name="KSO_WM_UNIT_DIAGRAM_ISNUMVISUAL" val="0"/>
  <p:tag name="KSO_WM_UNIT_DIAGRAM_ISREFERUNIT" val="0"/>
  <p:tag name="KSO_WM_UNIT_ID" val="diagram20212063_1*i*4"/>
  <p:tag name="KSO_WM_TEMPLATE_CATEGORY" val="diagram"/>
  <p:tag name="KSO_WM_TEMPLATE_INDEX" val="20212063"/>
  <p:tag name="KSO_WM_UNIT_LAYERLEVEL" val="1"/>
  <p:tag name="KSO_WM_TAG_VERSION" val="1.0"/>
  <p:tag name="KSO_WM_BEAUTIFY_FLAG" val="#wm#"/>
  <p:tag name="KSO_WM_UNIT_TYPE" val="i"/>
  <p:tag name="KSO_WM_UNIT_INDEX" val="4"/>
  <p:tag name="KSO_WM_UNIT_DECORATE_INFO" val="{&quot;ReferentInfo&quot;:{&quot;Id&quot;:&quot;slide&quot;,&quot;X&quot;:{&quot;Pos&quot;:2},&quot;Y&quot;:{&quot;Pos&quot;:2}},&quot;DecorateInfoX&quot;:{&quot;Pos&quot;:2,&quot;IsAbs&quot;:true},&quot;DecorateInfoY&quot;:{&quot;Pos&quot;:2,&quot;IsAbs&quot;:true},&quot;DecorateInfoW&quot;:{&quot;IsAbs&quot;:true},&quot;DecorateInfoH&quot;:{&quot;IsAbs&quot;:true},&quot;whChangeMode&quot;:0}"/>
  <p:tag name="KSO_WM_CHIP_GROUPID" val="5e6f1c5e605d5daf04fe6053"/>
  <p:tag name="KSO_WM_CHIP_XID" val="5e6f1c5e605d5daf04fe6054"/>
  <p:tag name="KSO_WM_TEMPLATE_ASSEMBLE_XID" val="60656f104054ed1e2fb802cb"/>
  <p:tag name="KSO_WM_TEMPLATE_ASSEMBLE_GROUPID" val="60656f104054ed1e2fb802cb"/>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3.xml><?xml version="1.0" encoding="utf-8"?>
<p:tagLst xmlns:a="http://schemas.openxmlformats.org/drawingml/2006/main" xmlns:r="http://schemas.openxmlformats.org/officeDocument/2006/relationships"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5"/>
  <p:tag name="KSO_WM_TEMPLATE_CATEGORY" val="diagram"/>
  <p:tag name="KSO_WM_TEMPLATE_INDEX" val="20212063"/>
  <p:tag name="KSO_WM_UNIT_LAYERLEVEL" val="1"/>
  <p:tag name="KSO_WM_TAG_VERSION" val="1.0"/>
  <p:tag name="KSO_WM_BEAUTIFY_FLAG" val="#wm#"/>
  <p:tag name="KSO_WM_UNIT_TYPE" val="i"/>
  <p:tag name="KSO_WM_UNIT_INDEX" val="5"/>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264.xml><?xml version="1.0" encoding="utf-8"?>
<p:tagLst xmlns:a="http://schemas.openxmlformats.org/drawingml/2006/main" xmlns:r="http://schemas.openxmlformats.org/officeDocument/2006/relationships"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6"/>
  <p:tag name="KSO_WM_TEMPLATE_CATEGORY" val="diagram"/>
  <p:tag name="KSO_WM_TEMPLATE_INDEX" val="20212063"/>
  <p:tag name="KSO_WM_UNIT_LAYERLEVEL" val="1"/>
  <p:tag name="KSO_WM_TAG_VERSION" val="1.0"/>
  <p:tag name="KSO_WM_BEAUTIFY_FLAG" val="#wm#"/>
  <p:tag name="KSO_WM_UNIT_TYPE" val="i"/>
  <p:tag name="KSO_WM_UNIT_INDEX" val="6"/>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265.xml><?xml version="1.0" encoding="utf-8"?>
<p:tagLst xmlns:a="http://schemas.openxmlformats.org/drawingml/2006/main" xmlns:r="http://schemas.openxmlformats.org/officeDocument/2006/relationships"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2"/>
  <p:tag name="KSO_WM_TEMPLATE_CATEGORY" val="diagram"/>
  <p:tag name="KSO_WM_TEMPLATE_INDEX" val="20212063"/>
  <p:tag name="KSO_WM_UNIT_LAYERLEVEL" val="1"/>
  <p:tag name="KSO_WM_TAG_VERSION" val="1.0"/>
  <p:tag name="KSO_WM_BEAUTIFY_FLAG" val="#wm#"/>
  <p:tag name="KSO_WM_UNIT_TYPE" val="i"/>
  <p:tag name="KSO_WM_UNIT_INDEX" val="2"/>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266.xml><?xml version="1.0" encoding="utf-8"?>
<p:tagLst xmlns:a="http://schemas.openxmlformats.org/drawingml/2006/main" xmlns:r="http://schemas.openxmlformats.org/officeDocument/2006/relationships"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3"/>
  <p:tag name="KSO_WM_TEMPLATE_CATEGORY" val="diagram"/>
  <p:tag name="KSO_WM_TEMPLATE_INDEX" val="20212063"/>
  <p:tag name="KSO_WM_UNIT_LAYERLEVEL" val="1"/>
  <p:tag name="KSO_WM_TAG_VERSION" val="1.0"/>
  <p:tag name="KSO_WM_BEAUTIFY_FLAG" val="#wm#"/>
  <p:tag name="KSO_WM_UNIT_TYPE" val="i"/>
  <p:tag name="KSO_WM_UNIT_INDEX" val="3"/>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267.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2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27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6.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0&quot;,&quot;maxSize&quot;:{&quot;size1&quot;:22.2},&quot;minSize&quot;:{&quot;size1&quot;:13.5},&quot;normalSize&quot;:{&quot;size1&quot;:13.5},&quot;subLayout&quot;:[{&quot;id&quot;:&quot;2022-08-19T17:26:50&quot;,&quot;margin&quot;:{&quot;bottom&quot;:0.026000002399086952,&quot;left&quot;:2.117000102996826,&quot;right&quot;:1.2699999809265137,&quot;top&quot;:0.4230000078678131},&quot;type&quot;:0},{&quot;id&quot;:&quot;2022-08-19T17:26:5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7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2_1*f*1"/>
  <p:tag name="KSO_WM_TEMPLATE_CATEGORY" val="diagram"/>
  <p:tag name="KSO_WM_TEMPLATE_INDEX" val="20217162"/>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599060e93e194705ae6626e197e7456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39a8c031c0a04093a656c951f1459733"/>
  <p:tag name="KSO_WM_UNIT_TEXT_FILL_FORE_SCHEMECOLOR_INDEX_BRIGHTNESS" val="0.25"/>
  <p:tag name="KSO_WM_UNIT_TEXT_FILL_FORE_SCHEMECOLOR_INDEX" val="13"/>
  <p:tag name="KSO_WM_UNIT_TEXT_FILL_TYPE" val="1"/>
  <p:tag name="KSO_WM_TEMPLATE_ASSEMBLE_XID" val="6065706c4054ed1e2fb8150b"/>
  <p:tag name="KSO_WM_TEMPLATE_ASSEMBLE_GROUPID" val="6065706c4054ed1e2fb8150b"/>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80.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0&quot;,&quot;maxSize&quot;:{&quot;size1&quot;:22.2},&quot;minSize&quot;:{&quot;size1&quot;:13.5},&quot;normalSize&quot;:{&quot;size1&quot;:13.5},&quot;subLayout&quot;:[{&quot;id&quot;:&quot;2022-08-19T17:26:50&quot;,&quot;margin&quot;:{&quot;bottom&quot;:0.026000002399086952,&quot;left&quot;:2.117000102996826,&quot;right&quot;:1.2699999809265137,&quot;top&quot;:0.4230000078678131},&quot;type&quot;:0},{&quot;id&quot;:&quot;2022-08-19T17:26:5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8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2_1*f*1"/>
  <p:tag name="KSO_WM_TEMPLATE_CATEGORY" val="diagram"/>
  <p:tag name="KSO_WM_TEMPLATE_INDEX" val="20217162"/>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599060e93e194705ae6626e197e7456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39a8c031c0a04093a656c951f1459733"/>
  <p:tag name="KSO_WM_UNIT_TEXT_FILL_FORE_SCHEMECOLOR_INDEX_BRIGHTNESS" val="0.25"/>
  <p:tag name="KSO_WM_UNIT_TEXT_FILL_FORE_SCHEMECOLOR_INDEX" val="13"/>
  <p:tag name="KSO_WM_UNIT_TEXT_FILL_TYPE" val="1"/>
  <p:tag name="KSO_WM_TEMPLATE_ASSEMBLE_XID" val="6065706c4054ed1e2fb8150b"/>
  <p:tag name="KSO_WM_TEMPLATE_ASSEMBLE_GROUPID" val="6065706c4054ed1e2fb8150b"/>
</p:tagLst>
</file>

<file path=ppt/tags/tag284.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8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8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9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3.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9&quot;,&quot;maxSize&quot;:{&quot;size1&quot;:22.2},&quot;minSize&quot;:{&quot;size1&quot;:13.5},&quot;normalSize&quot;:{&quot;size1&quot;:13.5},&quot;subLayout&quot;:[{&quot;id&quot;:&quot;2022-08-19T17:26:49&quot;,&quot;margin&quot;:{&quot;bottom&quot;:0.026000002399086952,&quot;left&quot;:2.117000102996826,&quot;right&quot;:1.2699999809265137,&quot;top&quot;:0.4230000078678131},&quot;type&quot;:0},{&quot;id&quot;:&quot;2022-08-19T17:26:4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9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48&quot;,&quot;maxSize&quot;:{&quot;size1&quot;:22.2},&quot;minSize&quot;:{&quot;size1&quot;:13.5},&quot;normalSize&quot;:{&quot;size1&quot;:13.5},&quot;subLayout&quot;:[{&quot;id&quot;:&quot;2022-08-19T17:26:48&quot;,&quot;margin&quot;:{&quot;bottom&quot;:0.026000002399086952,&quot;left&quot;:2.117000102996826,&quot;right&quot;:1.2699999809265137,&quot;top&quot;:0.4230000078678131},&quot;type&quot;:0},{&quot;id&quot;:&quot;2022-08-19T17:26:4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9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02.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1&quot;,&quot;maxSize&quot;:{&quot;size1&quot;:22.2},&quot;minSize&quot;:{&quot;size1&quot;:13.5},&quot;normalSize&quot;:{&quot;size1&quot;:13.5},&quot;subLayout&quot;:[{&quot;id&quot;:&quot;2022-08-19T17:26:51&quot;,&quot;margin&quot;:{&quot;bottom&quot;:0.026000002399086952,&quot;left&quot;:2.117000102996826,&quot;right&quot;:1.2699999809265137,&quot;top&quot;:0.4230000078678131},&quot;type&quot;:0},{&quot;id&quot;:&quot;2022-08-19T17:26: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0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6_1*f*1"/>
  <p:tag name="KSO_WM_TEMPLATE_CATEGORY" val="diagram"/>
  <p:tag name="KSO_WM_TEMPLATE_INDEX" val="20212216"/>
  <p:tag name="KSO_WM_UNIT_LAYERLEVEL" val="1"/>
  <p:tag name="KSO_WM_TAG_VERSION" val="1.0"/>
  <p:tag name="KSO_WM_BEAUTIFY_FLAG" val="#wm#"/>
  <p:tag name="KSO_WM_UNIT_DEFAULT_FONT" val="14;20;2"/>
  <p:tag name="KSO_WM_UNIT_BLOCK" val="0"/>
  <p:tag name="KSO_WM_UNIT_VALUE" val="48"/>
  <p:tag name="KSO_WM_UNIT_SHOW_EDIT_AREA_INDICATION" val="1"/>
  <p:tag name="KSO_WM_CHIP_GROUPID" val="5e6b05596848fb12bee65ac8"/>
  <p:tag name="KSO_WM_CHIP_XID" val="5e6b05596848fb12bee65aca"/>
  <p:tag name="KSO_WM_UNIT_DEC_AREA_ID" val="376e916b5b3d4fbc9ce9859661497294"/>
  <p:tag name="KSO_WM_CHIP_FILLAREA_FILL_RULE" val="{&quot;fill_align&quot;:&quot;rt&quot;,&quot;fill_mode&quot;:&quot;full&quot;,&quot;sacle_strategy&quot;:&quot;smart&quot;}"/>
  <p:tag name="KSO_WM_ASSEMBLE_CHIP_INDEX" val="47b56d52fc444a088d45ede9823ea8ff"/>
  <p:tag name="KSO_WM_UNIT_SUPPORT_UNIT_TYPE" val="[&quot;d&quot;]"/>
  <p:tag name="KSO_WM_UNIT_TEXT_FILL_FORE_SCHEMECOLOR_INDEX_BRIGHTNESS" val="0.25"/>
  <p:tag name="KSO_WM_UNIT_TEXT_FILL_FORE_SCHEMECOLOR_INDEX" val="13"/>
  <p:tag name="KSO_WM_UNIT_TEXT_FILL_TYPE" val="1"/>
  <p:tag name="KSO_WM_TEMPLATE_ASSEMBLE_XID" val="60656f2e4054ed1e2fb80507"/>
  <p:tag name="KSO_WM_TEMPLATE_ASSEMBLE_GROUPID" val="60656f2e4054ed1e2fb80507"/>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06.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0&quot;,&quot;maxSize&quot;:{&quot;size1&quot;:22.2},&quot;minSize&quot;:{&quot;size1&quot;:13.5},&quot;normalSize&quot;:{&quot;size1&quot;:13.5},&quot;subLayout&quot;:[{&quot;id&quot;:&quot;2022-08-19T17:26:50&quot;,&quot;margin&quot;:{&quot;bottom&quot;:0.026000002399086952,&quot;left&quot;:2.117000102996826,&quot;right&quot;:1.2699999809265137,&quot;top&quot;:0.4230000078678131},&quot;type&quot;:0},{&quot;id&quot;:&quot;2022-08-19T17:26:5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1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5.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3&quot;,&quot;maxSize&quot;:{&quot;size1&quot;:22.2},&quot;minSize&quot;:{&quot;size1&quot;:13.5},&quot;normalSize&quot;:{&quot;size1&quot;:13.5},&quot;subLayout&quot;:[{&quot;id&quot;:&quot;2022-08-19T17:26:53&quot;,&quot;margin&quot;:{&quot;bottom&quot;:0.026000002399086952,&quot;left&quot;:2.117000102996826,&quot;right&quot;:1.2699999809265137,&quot;top&quot;:0.4230000078678131},&quot;type&quot;:0},{&quot;id&quot;:&quot;2022-08-19T17:26: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1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0.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3&quot;,&quot;maxSize&quot;:{&quot;size1&quot;:22.2},&quot;minSize&quot;:{&quot;size1&quot;:13.5},&quot;normalSize&quot;:{&quot;size1&quot;:13.5},&quot;subLayout&quot;:[{&quot;id&quot;:&quot;2022-08-19T17:26:53&quot;,&quot;margin&quot;:{&quot;bottom&quot;:0.026000002399086952,&quot;left&quot;:2.117000102996826,&quot;right&quot;:1.2699999809265137,&quot;top&quot;:0.4230000078678131},&quot;type&quot;:0},{&quot;id&quot;:&quot;2022-08-19T17:26: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2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26.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3&quot;,&quot;maxSize&quot;:{&quot;size1&quot;:22.2},&quot;minSize&quot;:{&quot;size1&quot;:13.5},&quot;normalSize&quot;:{&quot;size1&quot;:13.5},&quot;subLayout&quot;:[{&quot;id&quot;:&quot;2022-08-19T17:26:53&quot;,&quot;margin&quot;:{&quot;bottom&quot;:0.026000002399086952,&quot;left&quot;:2.117000102996826,&quot;right&quot;:1.2699999809265137,&quot;top&quot;:0.4230000078678131},&quot;type&quot;:0},{&quot;id&quot;:&quot;2022-08-19T17:26: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2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0.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1&quot;,&quot;maxSize&quot;:{&quot;size1&quot;:22.2},&quot;minSize&quot;:{&quot;size1&quot;:13.5},&quot;normalSize&quot;:{&quot;size1&quot;:13.5},&quot;subLayout&quot;:[{&quot;id&quot;:&quot;2022-08-19T17:26:51&quot;,&quot;margin&quot;:{&quot;bottom&quot;:0.026000002399086952,&quot;left&quot;:2.117000102996826,&quot;right&quot;:1.2699999809265137,&quot;top&quot;:0.4230000078678131},&quot;type&quot;:0},{&quot;id&quot;:&quot;2022-08-19T17:26: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3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3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5.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1&quot;,&quot;maxSize&quot;:{&quot;size1&quot;:22.2},&quot;minSize&quot;:{&quot;size1&quot;:13.5},&quot;normalSize&quot;:{&quot;size1&quot;:13.5},&quot;subLayout&quot;:[{&quot;id&quot;:&quot;2022-08-19T17:26:51&quot;,&quot;margin&quot;:{&quot;bottom&quot;:0.026000002399086952,&quot;left&quot;:2.117000102996826,&quot;right&quot;:1.2699999809265137,&quot;top&quot;:0.4230000078678131},&quot;type&quot;:0},{&quot;id&quot;:&quot;2022-08-19T17:26: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3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9.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1&quot;,&quot;maxSize&quot;:{&quot;size1&quot;:22.2},&quot;minSize&quot;:{&quot;size1&quot;:13.5},&quot;normalSize&quot;:{&quot;size1&quot;:13.5},&quot;subLayout&quot;:[{&quot;id&quot;:&quot;2022-08-19T17:26:51&quot;,&quot;margin&quot;:{&quot;bottom&quot;:0.026000002399086952,&quot;left&quot;:2.117000102996826,&quot;right&quot;:1.2699999809265137,&quot;top&quot;:0.4230000078678131},&quot;type&quot;:0},{&quot;id&quot;:&quot;2022-08-19T17:26: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4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4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5.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1&quot;,&quot;maxSize&quot;:{&quot;size1&quot;:22.2},&quot;minSize&quot;:{&quot;size1&quot;:13.5},&quot;normalSize&quot;:{&quot;size1&quot;:13.5},&quot;subLayout&quot;:[{&quot;id&quot;:&quot;2022-08-19T17:26:51&quot;,&quot;margin&quot;:{&quot;bottom&quot;:0.026000002399086952,&quot;left&quot;:2.117000102996826,&quot;right&quot;:1.2699999809265137,&quot;top&quot;:0.4230000078678131},&quot;type&quot;:0},{&quot;id&quot;:&quot;2022-08-19T17:26:5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4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4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1.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4&quot;,&quot;maxSize&quot;:{&quot;size1&quot;:22.2},&quot;minSize&quot;:{&quot;size1&quot;:13.5},&quot;normalSize&quot;:{&quot;size1&quot;:13.5},&quot;subLayout&quot;:[{&quot;id&quot;:&quot;2022-08-19T17:26:54&quot;,&quot;margin&quot;:{&quot;bottom&quot;:0.026000002399086952,&quot;left&quot;:2.117000102996826,&quot;right&quot;:1.2699999809265137,&quot;top&quot;:0.4230000078678131},&quot;type&quot;:0},{&quot;id&quot;:&quot;2022-08-19T17:26: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5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5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6.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4&quot;,&quot;maxSize&quot;:{&quot;size1&quot;:22.2},&quot;minSize&quot;:{&quot;size1&quot;:13.5},&quot;normalSize&quot;:{&quot;size1&quot;:13.5},&quot;subLayout&quot;:[{&quot;id&quot;:&quot;2022-08-19T17:26:54&quot;,&quot;margin&quot;:{&quot;bottom&quot;:0.026000002399086952,&quot;left&quot;:2.117000102996826,&quot;right&quot;:1.2699999809265137,&quot;top&quot;:0.4230000078678131},&quot;type&quot;:0},{&quot;id&quot;:&quot;2022-08-19T17:26: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5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60.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4&quot;,&quot;maxSize&quot;:{&quot;size1&quot;:22.2},&quot;minSize&quot;:{&quot;size1&quot;:13.5},&quot;normalSize&quot;:{&quot;size1&quot;:13.5},&quot;subLayout&quot;:[{&quot;id&quot;:&quot;2022-08-19T17:26:54&quot;,&quot;margin&quot;:{&quot;bottom&quot;:0.026000002399086952,&quot;left&quot;:2.117000102996826,&quot;right&quot;:1.2699999809265137,&quot;top&quot;:0.4230000078678131},&quot;type&quot;:0},{&quot;id&quot;:&quot;2022-08-19T17:26: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6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64.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3&quot;,&quot;maxSize&quot;:{&quot;size1&quot;:22.2},&quot;minSize&quot;:{&quot;size1&quot;:13.5},&quot;normalSize&quot;:{&quot;size1&quot;:13.5},&quot;subLayout&quot;:[{&quot;id&quot;:&quot;2022-08-19T17:26:53&quot;,&quot;margin&quot;:{&quot;bottom&quot;:0.026000002399086952,&quot;left&quot;:2.117000102996826,&quot;right&quot;:1.2699999809265137,&quot;top&quot;:0.4230000078678131},&quot;type&quot;:0},{&quot;id&quot;:&quot;2022-08-19T17:26: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wm#"/>
  <p:tag name="KSO_WM_UNIT_TYPE" val="β"/>
  <p:tag name="TABLE_SKINIDX" val="2"/>
  <p:tag name="TABLE_COLORIDX" val="c"/>
  <p:tag name="KSO_WM_UNIT_TABLE_BEAUTIFY" val="smartTable{59b089c2-07fc-439b-8b19-dd30f203ac71}"/>
  <p:tag name="TABLE_ENDDRAG_ORIGIN_RECT" val="341*190"/>
  <p:tag name="TABLE_ENDDRAG_RECT" val="675*34*341*190"/>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wm#"/>
  <p:tag name="KSO_WM_UNIT_TYPE" val="β"/>
  <p:tag name="TABLE_SKINIDX" val="2"/>
  <p:tag name="TABLE_COLORIDX" val="c"/>
  <p:tag name="KSO_WM_UNIT_TABLE_BEAUTIFY" val="smartTable{ac790f15-e035-4806-b97a-3d4dd45855ea}"/>
  <p:tag name="TABLE_ENDDRAG_ORIGIN_RECT" val="322*173"/>
  <p:tag name="TABLE_ENDDRAG_RECT" val="343*138*322*173"/>
</p:tagLst>
</file>

<file path=ppt/tags/tag36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4_1*f*1"/>
  <p:tag name="KSO_WM_TEMPLATE_CATEGORY" val="diagram"/>
  <p:tag name="KSO_WM_TEMPLATE_INDEX" val="20212964"/>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b8c12a2fd8d64cdfb32e1cb99015d19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0662533a33b940ec8bf06c5294177040"/>
  <p:tag name="KSO_WM_UNIT_SUPPORT_UNIT_TYPE" val="[&quot;d&quot;,&quot;β&quot;]"/>
  <p:tag name="KSO_WM_UNIT_TEXT_FILL_FORE_SCHEMECOLOR_INDEX_BRIGHTNESS" val="0.25"/>
  <p:tag name="KSO_WM_UNIT_TEXT_FILL_FORE_SCHEMECOLOR_INDEX" val="13"/>
  <p:tag name="KSO_WM_UNIT_TEXT_FILL_TYPE" val="1"/>
  <p:tag name="KSO_WM_TEMPLATE_ASSEMBLE_XID" val="60656f144054ed1e2fb80311"/>
  <p:tag name="KSO_WM_TEMPLATE_ASSEMBLE_GROUPID" val="60656f144054ed1e2fb80311"/>
</p:tagLst>
</file>

<file path=ppt/tags/tag36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4_1*f*1"/>
  <p:tag name="KSO_WM_TEMPLATE_CATEGORY" val="diagram"/>
  <p:tag name="KSO_WM_TEMPLATE_INDEX" val="20212964"/>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b8c12a2fd8d64cdfb32e1cb99015d19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0662533a33b940ec8bf06c5294177040"/>
  <p:tag name="KSO_WM_UNIT_SUPPORT_UNIT_TYPE" val="[&quot;d&quot;,&quot;β&quot;]"/>
  <p:tag name="KSO_WM_UNIT_TEXT_FILL_FORE_SCHEMECOLOR_INDEX_BRIGHTNESS" val="0.25"/>
  <p:tag name="KSO_WM_UNIT_TEXT_FILL_FORE_SCHEMECOLOR_INDEX" val="13"/>
  <p:tag name="KSO_WM_UNIT_TEXT_FILL_TYPE" val="1"/>
  <p:tag name="KSO_WM_TEMPLATE_ASSEMBLE_XID" val="60656f144054ed1e2fb80311"/>
  <p:tag name="KSO_WM_TEMPLATE_ASSEMBLE_GROUPID" val="60656f144054ed1e2fb80311"/>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332*181"/>
  <p:tag name="TABLE_ENDDRAG_RECT" val="-11*122*332*181"/>
</p:tagLst>
</file>

<file path=ppt/tags/tag37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4_1*f*1"/>
  <p:tag name="KSO_WM_TEMPLATE_CATEGORY" val="diagram"/>
  <p:tag name="KSO_WM_TEMPLATE_INDEX" val="20212964"/>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b8c12a2fd8d64cdfb32e1cb99015d19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0662533a33b940ec8bf06c5294177040"/>
  <p:tag name="KSO_WM_UNIT_SUPPORT_UNIT_TYPE" val="[&quot;d&quot;,&quot;β&quot;]"/>
  <p:tag name="KSO_WM_UNIT_TEXT_FILL_FORE_SCHEMECOLOR_INDEX_BRIGHTNESS" val="0.25"/>
  <p:tag name="KSO_WM_UNIT_TEXT_FILL_FORE_SCHEMECOLOR_INDEX" val="13"/>
  <p:tag name="KSO_WM_UNIT_TEXT_FILL_TYPE" val="1"/>
  <p:tag name="KSO_WM_TEMPLATE_ASSEMBLE_XID" val="60656f144054ed1e2fb80311"/>
  <p:tag name="KSO_WM_TEMPLATE_ASSEMBLE_GROUPID" val="60656f144054ed1e2fb80311"/>
</p:tagLst>
</file>

<file path=ppt/tags/tag37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4_1*f*1"/>
  <p:tag name="KSO_WM_TEMPLATE_CATEGORY" val="diagram"/>
  <p:tag name="KSO_WM_TEMPLATE_INDEX" val="20212964"/>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b8c12a2fd8d64cdfb32e1cb99015d19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0662533a33b940ec8bf06c5294177040"/>
  <p:tag name="KSO_WM_UNIT_SUPPORT_UNIT_TYPE" val="[&quot;d&quot;,&quot;β&quot;]"/>
  <p:tag name="KSO_WM_UNIT_TEXT_FILL_FORE_SCHEMECOLOR_INDEX_BRIGHTNESS" val="0.25"/>
  <p:tag name="KSO_WM_UNIT_TEXT_FILL_FORE_SCHEMECOLOR_INDEX" val="13"/>
  <p:tag name="KSO_WM_UNIT_TEXT_FILL_TYPE" val="1"/>
  <p:tag name="KSO_WM_TEMPLATE_ASSEMBLE_XID" val="60656f144054ed1e2fb80311"/>
  <p:tag name="KSO_WM_TEMPLATE_ASSEMBLE_GROUPID" val="60656f144054ed1e2fb80311"/>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74.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5&quot;,&quot;maxSize&quot;:{&quot;size1&quot;:22.2},&quot;minSize&quot;:{&quot;size1&quot;:13.5},&quot;normalSize&quot;:{&quot;size1&quot;:13.5},&quot;subLayout&quot;:[{&quot;id&quot;:&quot;2022-08-19T17:26:55&quot;,&quot;margin&quot;:{&quot;bottom&quot;:0.026000002399086952,&quot;left&quot;:2.117000102996826,&quot;right&quot;:1.2699999809265137,&quot;top&quot;:0.4230000078678131},&quot;type&quot;:0},{&quot;id&quot;:&quot;2022-08-19T17:26: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7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5&quot;,&quot;maxSize&quot;:{&quot;size1&quot;:22.2},&quot;minSize&quot;:{&quot;size1&quot;:13.5},&quot;normalSize&quot;:{&quot;size1&quot;:13.5},&quot;subLayout&quot;:[{&quot;id&quot;:&quot;2022-08-19T17:26:55&quot;,&quot;margin&quot;:{&quot;bottom&quot;:0.026000002399086952,&quot;left&quot;:2.117000102996826,&quot;right&quot;:1.2699999809265137,&quot;top&quot;:0.4230000078678131},&quot;type&quot;:0},{&quot;id&quot;:&quot;2022-08-19T17:26: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83.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6:55&quot;,&quot;maxSize&quot;:{&quot;size1&quot;:22.2},&quot;minSize&quot;:{&quot;size1&quot;:13.5},&quot;normalSize&quot;:{&quot;size1&quot;:13.5},&quot;subLayout&quot;:[{&quot;id&quot;:&quot;2022-08-19T17:26:55&quot;,&quot;margin&quot;:{&quot;bottom&quot;:0.026000002399086952,&quot;left&quot;:2.117000102996826,&quot;right&quot;:1.2699999809265137,&quot;top&quot;:0.4230000078678131},&quot;type&quot;:0},{&quot;id&quot;:&quot;2022-08-19T17:26: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8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8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1&quot;,&quot;maxSize&quot;:{&quot;size1&quot;:22.2},&quot;minSize&quot;:{&quot;size1&quot;:13.5},&quot;normalSize&quot;:{&quot;size1&quot;:13.5},&quot;subLayout&quot;:[{&quot;id&quot;:&quot;2022-08-19T17:27:01&quot;,&quot;margin&quot;:{&quot;bottom&quot;:0.026000002399086952,&quot;left&quot;:2.117000102996826,&quot;right&quot;:1.2699999809265137,&quot;top&quot;:0.4230000078678131},&quot;type&quot;:0},{&quot;id&quot;:&quot;2022-08-19T17:27: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7.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1&quot;,&quot;maxSize&quot;:{&quot;size1&quot;:22.2},&quot;minSize&quot;:{&quot;size1&quot;:13.5},&quot;normalSize&quot;:{&quot;size1&quot;:13.5},&quot;subLayout&quot;:[{&quot;id&quot;:&quot;2022-08-19T17:27:01&quot;,&quot;margin&quot;:{&quot;bottom&quot;:0.026000002399086952,&quot;left&quot;:2.117000102996826,&quot;right&quot;:1.2699999809265137,&quot;top&quot;:0.4230000078678131},&quot;type&quot;:0},{&quot;id&quot;:&quot;2022-08-19T17:27:0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98.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080_1*f*1"/>
  <p:tag name="KSO_WM_TEMPLATE_CATEGORY" val="diagram"/>
  <p:tag name="KSO_WM_TEMPLATE_INDEX" val="20217080"/>
  <p:tag name="KSO_WM_UNIT_LAYERLEVEL" val="1"/>
  <p:tag name="KSO_WM_TAG_VERSION" val="1.0"/>
  <p:tag name="KSO_WM_BEAUTIFY_FLAG" val="#wm#"/>
  <p:tag name="KSO_WM_UNIT_DEFAULT_FONT" val="14;20;2"/>
  <p:tag name="KSO_WM_UNIT_BLOCK" val="0"/>
  <p:tag name="KSO_WM_UNIT_VALUE" val="26"/>
  <p:tag name="KSO_WM_UNIT_SHOW_EDIT_AREA_INDICATION" val="1"/>
  <p:tag name="KSO_WM_CHIP_GROUPID" val="5e6b05596848fb12bee65ac8"/>
  <p:tag name="KSO_WM_CHIP_XID" val="5e6b05596848fb12bee65aca"/>
  <p:tag name="KSO_WM_UNIT_DEC_AREA_ID" val="d5b01025535748ffa6cae1afc0d2e6a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84def250cc4048b6b3ccfaa8dde73e73"/>
  <p:tag name="KSO_WM_UNIT_TEXT_FILL_FORE_SCHEMECOLOR_INDEX_BRIGHTNESS" val="0.25"/>
  <p:tag name="KSO_WM_UNIT_TEXT_FILL_FORE_SCHEMECOLOR_INDEX" val="13"/>
  <p:tag name="KSO_WM_UNIT_TEXT_FILL_TYPE" val="1"/>
  <p:tag name="KSO_WM_TEMPLATE_ASSEMBLE_XID" val="6065705a4054ed1e2fb814d9"/>
  <p:tag name="KSO_WM_TEMPLATE_ASSEMBLE_GROUPID" val="6065705a4054ed1e2fb814d9"/>
</p:tagLst>
</file>

<file path=ppt/tags/tag39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7080_1*f*2"/>
  <p:tag name="KSO_WM_TEMPLATE_CATEGORY" val="diagram"/>
  <p:tag name="KSO_WM_TEMPLATE_INDEX" val="20217080"/>
  <p:tag name="KSO_WM_UNIT_LAYERLEVEL" val="1"/>
  <p:tag name="KSO_WM_TAG_VERSION" val="1.0"/>
  <p:tag name="KSO_WM_BEAUTIFY_FLAG" val="#wm#"/>
  <p:tag name="KSO_WM_UNIT_DEFAULT_FONT" val="14;20;2"/>
  <p:tag name="KSO_WM_UNIT_BLOCK" val="0"/>
  <p:tag name="KSO_WM_UNIT_VALUE" val="78"/>
  <p:tag name="KSO_WM_UNIT_SHOW_EDIT_AREA_INDICATION" val="1"/>
  <p:tag name="KSO_WM_CHIP_GROUPID" val="5e6b05596848fb12bee65ac8"/>
  <p:tag name="KSO_WM_CHIP_XID" val="5e6b05596848fb12bee65aca"/>
  <p:tag name="KSO_WM_UNIT_DEC_AREA_ID" val="fd281acf9f32497db22917f7d5d5395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c920f2a1cb5746848cad243245e69d3e"/>
  <p:tag name="KSO_WM_UNIT_TEXT_FILL_FORE_SCHEMECOLOR_INDEX_BRIGHTNESS" val="0.25"/>
  <p:tag name="KSO_WM_UNIT_TEXT_FILL_FORE_SCHEMECOLOR_INDEX" val="13"/>
  <p:tag name="KSO_WM_UNIT_TEXT_FILL_TYPE" val="1"/>
  <p:tag name="KSO_WM_TEMPLATE_ASSEMBLE_XID" val="6065705a4054ed1e2fb814d9"/>
  <p:tag name="KSO_WM_TEMPLATE_ASSEMBLE_GROUPID" val="6065705a4054ed1e2fb814d9"/>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02.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5&quot;,&quot;maxSize&quot;:{&quot;size1&quot;:22.2},&quot;minSize&quot;:{&quot;size1&quot;:13.5},&quot;normalSize&quot;:{&quot;size1&quot;:13.5},&quot;subLayout&quot;:[{&quot;id&quot;:&quot;2022-08-19T17:27:05&quot;,&quot;margin&quot;:{&quot;bottom&quot;:0.026000002399086952,&quot;left&quot;:2.117000102996826,&quot;right&quot;:1.2699999809265137,&quot;top&quot;:0.4230000078678131},&quot;type&quot;:0},{&quot;id&quot;:&quot;2022-08-19T17:27:0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03.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4802_1*f*1"/>
  <p:tag name="KSO_WM_TEMPLATE_CATEGORY" val="diagram"/>
  <p:tag name="KSO_WM_TEMPLATE_INDEX" val="20214802"/>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e428d05b467043a98007bf68621a8d1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8d7f2600fe484859abf5456d0d759fc5"/>
  <p:tag name="KSO_WM_UNIT_TEXT_FILL_FORE_SCHEMECOLOR_INDEX_BRIGHTNESS" val="0.25"/>
  <p:tag name="KSO_WM_UNIT_TEXT_FILL_FORE_SCHEMECOLOR_INDEX" val="13"/>
  <p:tag name="KSO_WM_UNIT_TEXT_FILL_TYPE" val="1"/>
  <p:tag name="KSO_WM_TEMPLATE_ASSEMBLE_XID" val="60656fa14054ed1e2fb80d9b"/>
  <p:tag name="KSO_WM_TEMPLATE_ASSEMBLE_GROUPID" val="60656fa14054ed1e2fb80d9b"/>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07.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2&quot;,&quot;maxSize&quot;:{&quot;size1&quot;:22.2},&quot;minSize&quot;:{&quot;size1&quot;:13.5},&quot;normalSize&quot;:{&quot;size1&quot;:13.5},&quot;subLayout&quot;:[{&quot;id&quot;:&quot;2022-08-19T17:27:02&quot;,&quot;margin&quot;:{&quot;bottom&quot;:0.026000002399086952,&quot;left&quot;:2.117000102996826,&quot;right&quot;:1.2699999809265137,&quot;top&quot;:0.4230000078678131},&quot;type&quot;:0},{&quot;id&quot;:&quot;2022-08-19T17:27: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0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12.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2&quot;,&quot;maxSize&quot;:{&quot;size1&quot;:22.2},&quot;minSize&quot;:{&quot;size1&quot;:13.5},&quot;normalSize&quot;:{&quot;size1&quot;:13.5},&quot;subLayout&quot;:[{&quot;id&quot;:&quot;2022-08-19T17:27:02&quot;,&quot;margin&quot;:{&quot;bottom&quot;:0.026000002399086952,&quot;left&quot;:2.117000102996826,&quot;right&quot;:1.2699999809265137,&quot;top&quot;:0.4230000078678131},&quot;type&quot;:0},{&quot;id&quot;:&quot;2022-08-19T17:27: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1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17.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2&quot;,&quot;maxSize&quot;:{&quot;size1&quot;:22.2},&quot;minSize&quot;:{&quot;size1&quot;:13.5},&quot;normalSize&quot;:{&quot;size1&quot;:13.5},&quot;subLayout&quot;:[{&quot;id&quot;:&quot;2022-08-19T17:27:02&quot;,&quot;margin&quot;:{&quot;bottom&quot;:0.026000002399086952,&quot;left&quot;:2.117000102996826,&quot;right&quot;:1.2699999809265137,&quot;top&quot;:0.4230000078678131},&quot;type&quot;:0},{&quot;id&quot;:&quot;2022-08-19T17:27: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1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22.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3&quot;,&quot;maxSize&quot;:{&quot;size1&quot;:22.2},&quot;minSize&quot;:{&quot;size1&quot;:13.5},&quot;normalSize&quot;:{&quot;size1&quot;:13.5},&quot;subLayout&quot;:[{&quot;id&quot;:&quot;2022-08-19T17:27:03&quot;,&quot;margin&quot;:{&quot;bottom&quot;:0.026000002399086952,&quot;left&quot;:2.117000102996826,&quot;right&quot;:1.2699999809265137,&quot;top&quot;:0.4230000078678131},&quot;type&quot;:0},{&quot;id&quot;:&quot;2022-08-19T17:27:0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23.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Lst>
</file>

<file path=ppt/tags/tag42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Lst>
</file>

<file path=ppt/tags/tag425.xml><?xml version="1.0" encoding="utf-8"?>
<p:tagLst xmlns:a="http://schemas.openxmlformats.org/drawingml/2006/main" xmlns:r="http://schemas.openxmlformats.org/officeDocument/2006/relationships" xmlns:p="http://schemas.openxmlformats.org/presentationml/2006/main">
  <p:tag name="KSO_WM_UNIT_VALUE" val="1142*1565"/>
  <p:tag name="KSO_WM_UNIT_HIGHLIGHT" val="0"/>
  <p:tag name="KSO_WM_UNIT_COMPATIBLE" val="1"/>
  <p:tag name="KSO_WM_UNIT_DIAGRAM_ISNUMVISUAL" val="0"/>
  <p:tag name="KSO_WM_UNIT_DIAGRAM_ISREFERUNIT" val="0"/>
  <p:tag name="KSO_WM_UNIT_TYPE" val="d"/>
  <p:tag name="KSO_WM_UNIT_INDEX" val="1"/>
  <p:tag name="KSO_WM_UNIT_ID" val="diagram20211051_1*d*1"/>
  <p:tag name="KSO_WM_TEMPLATE_CATEGORY" val="diagram"/>
  <p:tag name="KSO_WM_TEMPLATE_INDEX" val="20211051"/>
  <p:tag name="KSO_WM_UNIT_LAYERLEVEL" val="1"/>
  <p:tag name="KSO_WM_TAG_VERSION" val="1.0"/>
  <p:tag name="KSO_WM_BEAUTIFY_FLAG" val="#wm#"/>
  <p:tag name="KSO_WM_CHIP_GROUPID" val="5e7310da9a230a26b9e88a19"/>
  <p:tag name="KSO_WM_CHIP_XID" val="5e7310da9a230a26b9e88a1a"/>
  <p:tag name="KSO_WM_UNIT_DEC_AREA_ID" val="f2876e609c7144a48ef7013c55026be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9902a4d0b8544cc19ecd8dfac07ae853"/>
  <p:tag name="KSO_WM_UNIT_PLACING_PICTURE" val="9902a4d0b8544cc19ecd8dfac07ae853"/>
  <p:tag name="KSO_WM_UNIT_SUPPORT_UNIT_TYPE" val="[&quot;l&quot;,&quot;m&quot;,&quot;n&quot;,&quot;o&quot;,&quot;p&quot;,&quot;q&quot;,&quot;r&quot;,&quot;δ&quot;,&quot;ε&quot;,&quot;ζ&quot;,&quot;η&quot;,&quot;d&quot;,&quot;α&quot;,&quot;β&quot;,&quot;θ&quot;]"/>
  <p:tag name="KSO_WM_TEMPLATE_ASSEMBLE_XID" val="60656ea44054ed1e2fb7fce2"/>
  <p:tag name="KSO_WM_TEMPLATE_ASSEMBLE_GROUPID" val="60656ea44054ed1e2fb7fce2"/>
  <p:tag name="KSO_WM_UNIT_PLACING_PICTURE_INFO" val="{&quot;code&quot;:&quot;&quot;,&quot;full_picture&quot;:false,&quot;scheme&quot;:&quot;&quot;,&quot;spacing&quot;:5}"/>
  <p:tag name="KSO_WM_UNIT_PLACING_PICTURE_COLLAGE_VIEWPORT" val="{&quot;height&quot;:6656.017158686466,&quot;width&quot;:8649.02992125984}"/>
</p:tagLst>
</file>

<file path=ppt/tags/tag4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2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4&quot;,&quot;maxSize&quot;:{&quot;size1&quot;:22.2},&quot;minSize&quot;:{&quot;size1&quot;:13.5},&quot;normalSize&quot;:{&quot;size1&quot;:13.5},&quot;subLayout&quot;:[{&quot;id&quot;:&quot;2022-08-19T17:27:04&quot;,&quot;margin&quot;:{&quot;bottom&quot;:0.026000002399086952,&quot;left&quot;:2.117000102996826,&quot;right&quot;:1.2699999809265137,&quot;top&quot;:0.4230000078678131},&quot;type&quot;:0},{&quot;id&quot;:&quot;2022-08-19T17:27:0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2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Lst>
</file>

<file path=ppt/tags/tag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32.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4&quot;,&quot;maxSize&quot;:{&quot;size1&quot;:22.2},&quot;minSize&quot;:{&quot;size1&quot;:13.5},&quot;normalSize&quot;:{&quot;size1&quot;:13.5},&quot;subLayout&quot;:[{&quot;id&quot;:&quot;2022-08-19T17:27:04&quot;,&quot;margin&quot;:{&quot;bottom&quot;:0.026000002399086952,&quot;left&quot;:2.117000102996826,&quot;right&quot;:1.2699999809265137,&quot;top&quot;:0.4230000078678131},&quot;type&quot;:0},{&quot;id&quot;:&quot;2022-08-19T17:27:0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37.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3&quot;,&quot;maxSize&quot;:{&quot;size1&quot;:22.2},&quot;minSize&quot;:{&quot;size1&quot;:13.5},&quot;normalSize&quot;:{&quot;size1&quot;:13.5},&quot;subLayout&quot;:[{&quot;id&quot;:&quot;2022-08-19T17:27:03&quot;,&quot;margin&quot;:{&quot;bottom&quot;:0.026000002399086952,&quot;left&quot;:2.117000102996826,&quot;right&quot;:1.2699999809265137,&quot;top&quot;:0.4230000078678131},&quot;type&quot;:0},{&quot;id&quot;:&quot;2022-08-19T17:27:0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Lst>
</file>

<file path=ppt/tags/tag43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44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4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43.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3&quot;,&quot;maxSize&quot;:{&quot;size1&quot;:22.2},&quot;minSize&quot;:{&quot;size1&quot;:13.5},&quot;normalSize&quot;:{&quot;size1&quot;:13.5},&quot;subLayout&quot;:[{&quot;id&quot;:&quot;2022-08-19T17:27:03&quot;,&quot;margin&quot;:{&quot;bottom&quot;:0.026000002399086952,&quot;left&quot;:2.117000102996826,&quot;right&quot;:1.2699999809265137,&quot;top&quot;:0.4230000078678131},&quot;type&quot;:0},{&quot;id&quot;:&quot;2022-08-19T17:27:0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Lst>
</file>

<file path=ppt/tags/tag44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4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48.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5&quot;,&quot;maxSize&quot;:{&quot;size1&quot;:22.2},&quot;minSize&quot;:{&quot;size1&quot;:13.5},&quot;normalSize&quot;:{&quot;size1&quot;:13.5},&quot;subLayout&quot;:[{&quot;id&quot;:&quot;2022-08-19T17:27:05&quot;,&quot;margin&quot;:{&quot;bottom&quot;:0.026000002399086952,&quot;left&quot;:2.117000102996826,&quot;right&quot;:1.2699999809265137,&quot;top&quot;:0.4230000078678131},&quot;type&quot;:0},{&quot;id&quot;:&quot;2022-08-19T17:27:0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4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305_1*f*1"/>
  <p:tag name="KSO_WM_TEMPLATE_CATEGORY" val="diagram"/>
  <p:tag name="KSO_WM_TEMPLATE_INDEX" val="20212305"/>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d50776ce682f4910bea584ecbd4a249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9db0915b2cb49b2a5af387815922154"/>
  <p:tag name="KSO_WM_UNIT_TEXT_FILL_FORE_SCHEMECOLOR_INDEX_BRIGHTNESS" val="0.25"/>
  <p:tag name="KSO_WM_UNIT_TEXT_FILL_FORE_SCHEMECOLOR_INDEX" val="13"/>
  <p:tag name="KSO_WM_UNIT_TEXT_FILL_TYPE" val="1"/>
  <p:tag name="KSO_WM_TEMPLATE_ASSEMBLE_XID" val="60656f434054ed1e2fb8067f"/>
  <p:tag name="KSO_WM_TEMPLATE_ASSEMBLE_GROUPID" val="60656f434054ed1e2fb8067f"/>
</p:tagLst>
</file>

<file path=ppt/tags/tag45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305_1*f*1"/>
  <p:tag name="KSO_WM_TEMPLATE_CATEGORY" val="diagram"/>
  <p:tag name="KSO_WM_TEMPLATE_INDEX" val="20212305"/>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d50776ce682f4910bea584ecbd4a249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9db0915b2cb49b2a5af387815922154"/>
  <p:tag name="KSO_WM_UNIT_TEXT_FILL_FORE_SCHEMECOLOR_INDEX_BRIGHTNESS" val="0.25"/>
  <p:tag name="KSO_WM_UNIT_TEXT_FILL_FORE_SCHEMECOLOR_INDEX" val="13"/>
  <p:tag name="KSO_WM_UNIT_TEXT_FILL_TYPE" val="1"/>
  <p:tag name="KSO_WM_TEMPLATE_ASSEMBLE_XID" val="60656f434054ed1e2fb8067f"/>
  <p:tag name="KSO_WM_TEMPLATE_ASSEMBLE_GROUPID" val="60656f434054ed1e2fb8067f"/>
</p:tagLst>
</file>

<file path=ppt/tags/tag4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53.xml><?xml version="1.0" encoding="utf-8"?>
<p:tagLst xmlns:a="http://schemas.openxmlformats.org/drawingml/2006/main" xmlns:r="http://schemas.openxmlformats.org/officeDocument/2006/relationships"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27:05&quot;,&quot;maxSize&quot;:{&quot;size1&quot;:22.2},&quot;minSize&quot;:{&quot;size1&quot;:13.5},&quot;normalSize&quot;:{&quot;size1&quot;:13.5},&quot;subLayout&quot;:[{&quot;id&quot;:&quot;2022-08-19T17:27:05&quot;,&quot;margin&quot;:{&quot;bottom&quot;:0.026000002399086952,&quot;left&quot;:2.117000102996826,&quot;right&quot;:1.2699999809265137,&quot;top&quot;:0.4230000078678131},&quot;type&quot;:0},{&quot;id&quot;:&quot;2022-08-19T17:27:0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5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305_1*f*1"/>
  <p:tag name="KSO_WM_TEMPLATE_CATEGORY" val="diagram"/>
  <p:tag name="KSO_WM_TEMPLATE_INDEX" val="20212305"/>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d50776ce682f4910bea584ecbd4a249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f9db0915b2cb49b2a5af387815922154"/>
  <p:tag name="KSO_WM_UNIT_TEXT_FILL_FORE_SCHEMECOLOR_INDEX_BRIGHTNESS" val="0.25"/>
  <p:tag name="KSO_WM_UNIT_TEXT_FILL_FORE_SCHEMECOLOR_INDEX" val="13"/>
  <p:tag name="KSO_WM_UNIT_TEXT_FILL_TYPE" val="1"/>
  <p:tag name="KSO_WM_TEMPLATE_ASSEMBLE_XID" val="60656f434054ed1e2fb8067f"/>
  <p:tag name="KSO_WM_TEMPLATE_ASSEMBLE_GROUPID" val="60656f434054ed1e2fb8067f"/>
</p:tagLst>
</file>

<file path=ppt/tags/tag4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20059"/>
</p:tagLst>
</file>

<file path=ppt/tags/tag22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9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1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heme/theme1.xml><?xml version="1.0" encoding="utf-8"?>
<a:theme xmlns:a="http://schemas.openxmlformats.org/drawingml/2006/main" name="柏林">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博弈论</Template>
  <TotalTime>70</TotalTime>
  <Words>6292</Words>
  <Application>Microsoft Office PowerPoint</Application>
  <PresentationFormat>宽屏</PresentationFormat>
  <Paragraphs>489</Paragraphs>
  <Slides>57</Slides>
  <Notes>41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57</vt:i4>
      </vt:variant>
    </vt:vector>
  </HeadingPairs>
  <TitlesOfParts>
    <vt:vector size="73" baseType="lpstr">
      <vt:lpstr>华文彩云</vt:lpstr>
      <vt:lpstr>华文新魏</vt:lpstr>
      <vt:lpstr>华文行楷</vt:lpstr>
      <vt:lpstr>华文中宋</vt:lpstr>
      <vt:lpstr>隶书</vt:lpstr>
      <vt:lpstr>宋体</vt:lpstr>
      <vt:lpstr>微软雅黑</vt:lpstr>
      <vt:lpstr>Arial</vt:lpstr>
      <vt:lpstr>Calibri</vt:lpstr>
      <vt:lpstr>Cambria Math</vt:lpstr>
      <vt:lpstr>Times New Roman</vt:lpstr>
      <vt:lpstr>Trebuchet MS</vt:lpstr>
      <vt:lpstr>Wide Latin</vt:lpstr>
      <vt:lpstr>Wingdings</vt:lpstr>
      <vt:lpstr>柏林</vt:lpstr>
      <vt:lpstr>1_Office 主题​​</vt:lpstr>
      <vt:lpstr>PowerPoint 演示文稿</vt:lpstr>
      <vt:lpstr>第四讲：完全且完美信息动态博弈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博弈论</dc:title>
  <dc:creator>anning</dc:creator>
  <cp:lastModifiedBy>泽辉</cp:lastModifiedBy>
  <cp:revision>438</cp:revision>
  <dcterms:created xsi:type="dcterms:W3CDTF">2017-06-11T00:07:00Z</dcterms:created>
  <dcterms:modified xsi:type="dcterms:W3CDTF">2026-06-08T12:39:41Z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8CADF0EA4EC54DEBA75507CFEA52ADF9</vt:lpwstr>
  </property>
  <property fmtid="{D5CDD505-2E9C-101B-9397-08002B2CF9AE}" pid="3" name="KSOProductBuildVer">
    <vt:lpwstr>2052-12.1.0.25225</vt:lpwstr>
  </property>
</Properties>
</file>