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05" r:id="rId2"/>
    <p:sldId id="406" r:id="rId3"/>
    <p:sldId id="408" r:id="rId4"/>
    <p:sldId id="409" r:id="rId5"/>
    <p:sldId id="414" r:id="rId6"/>
    <p:sldId id="2007578505" r:id="rId7"/>
    <p:sldId id="2007578506" r:id="rId8"/>
    <p:sldId id="2007578507" r:id="rId9"/>
    <p:sldId id="2007578508" r:id="rId10"/>
    <p:sldId id="2007578509" r:id="rId11"/>
    <p:sldId id="2007578510" r:id="rId12"/>
    <p:sldId id="2007578511" r:id="rId13"/>
    <p:sldId id="2007578512" r:id="rId14"/>
    <p:sldId id="200757851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泽辉" initials="泽辉" lastIdx="1" clrIdx="0">
    <p:extLst>
      <p:ext uri="{19B8F6BF-5375-455C-9EA6-DF929625EA0E}">
        <p15:presenceInfo xmlns:p15="http://schemas.microsoft.com/office/powerpoint/2012/main" userId="e10cfa54fb1e3b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9EE"/>
    <a:srgbClr val="9A7C6D"/>
    <a:srgbClr val="375549"/>
    <a:srgbClr val="FA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51" autoAdjust="0"/>
  </p:normalViewPr>
  <p:slideViewPr>
    <p:cSldViewPr snapToGrid="0" showGuides="1">
      <p:cViewPr varScale="1">
        <p:scale>
          <a:sx n="99" d="100"/>
          <a:sy n="99" d="100"/>
        </p:scale>
        <p:origin x="472" y="64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howGuides="1">
      <p:cViewPr varScale="1">
        <p:scale>
          <a:sx n="63" d="100"/>
          <a:sy n="63" d="100"/>
        </p:scale>
        <p:origin x="237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23T21:24:33.526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C324A-F07D-406A-ACD9-D58F3D20A57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7E162-375E-4ADE-81CC-338AB4DD2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97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73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13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模板网，幻灯片演示模板及素材免费下载！</a:t>
            </a:r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58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82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76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795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509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54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552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878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029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53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39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18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CF1C92-B5ED-2D1D-F7E9-B63D047F4B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2192000" cy="683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A3CC4F-AFEA-0E50-848A-9BC4C2B1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DE8B-E9CA-4318-893A-055BA44D18C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3A096E-360D-A48C-8DCC-CD62B232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F62B7-6136-CE22-DF09-4DBA820D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156C-F471-4A85-AE04-C8DFECE43A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103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CF1C92-B5ED-2D1D-F7E9-B63D047F4B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2192000" cy="683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A3CC4F-AFEA-0E50-848A-9BC4C2B1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DE8B-E9CA-4318-893A-055BA44D18C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3A096E-360D-A48C-8DCC-CD62B232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F62B7-6136-CE22-DF09-4DBA820D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156C-F471-4A85-AE04-C8DFECE43A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2" name="Freeform 5">
            <a:extLst>
              <a:ext uri="{FF2B5EF4-FFF2-40B4-BE49-F238E27FC236}">
                <a16:creationId xmlns:a16="http://schemas.microsoft.com/office/drawing/2014/main" id="{CF884833-AB93-21CC-AADB-44D01831747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98696" y="1168210"/>
            <a:ext cx="7594604" cy="3961542"/>
          </a:xfrm>
          <a:custGeom>
            <a:avLst/>
            <a:gdLst>
              <a:gd name="T0" fmla="*/ 135 w 139"/>
              <a:gd name="T1" fmla="*/ 61 h 81"/>
              <a:gd name="T2" fmla="*/ 131 w 139"/>
              <a:gd name="T3" fmla="*/ 56 h 81"/>
              <a:gd name="T4" fmla="*/ 131 w 139"/>
              <a:gd name="T5" fmla="*/ 27 h 81"/>
              <a:gd name="T6" fmla="*/ 139 w 139"/>
              <a:gd name="T7" fmla="*/ 24 h 81"/>
              <a:gd name="T8" fmla="*/ 70 w 139"/>
              <a:gd name="T9" fmla="*/ 0 h 81"/>
              <a:gd name="T10" fmla="*/ 0 w 139"/>
              <a:gd name="T11" fmla="*/ 24 h 81"/>
              <a:gd name="T12" fmla="*/ 70 w 139"/>
              <a:gd name="T13" fmla="*/ 48 h 81"/>
              <a:gd name="T14" fmla="*/ 127 w 139"/>
              <a:gd name="T15" fmla="*/ 28 h 81"/>
              <a:gd name="T16" fmla="*/ 127 w 139"/>
              <a:gd name="T17" fmla="*/ 56 h 81"/>
              <a:gd name="T18" fmla="*/ 123 w 139"/>
              <a:gd name="T19" fmla="*/ 61 h 81"/>
              <a:gd name="T20" fmla="*/ 126 w 139"/>
              <a:gd name="T21" fmla="*/ 64 h 81"/>
              <a:gd name="T22" fmla="*/ 123 w 139"/>
              <a:gd name="T23" fmla="*/ 81 h 81"/>
              <a:gd name="T24" fmla="*/ 135 w 139"/>
              <a:gd name="T25" fmla="*/ 81 h 81"/>
              <a:gd name="T26" fmla="*/ 132 w 139"/>
              <a:gd name="T27" fmla="*/ 64 h 81"/>
              <a:gd name="T28" fmla="*/ 135 w 139"/>
              <a:gd name="T29" fmla="*/ 61 h 81"/>
              <a:gd name="T30" fmla="*/ 28 w 139"/>
              <a:gd name="T31" fmla="*/ 42 h 81"/>
              <a:gd name="T32" fmla="*/ 28 w 139"/>
              <a:gd name="T33" fmla="*/ 69 h 81"/>
              <a:gd name="T34" fmla="*/ 70 w 139"/>
              <a:gd name="T35" fmla="*/ 81 h 81"/>
              <a:gd name="T36" fmla="*/ 111 w 139"/>
              <a:gd name="T37" fmla="*/ 69 h 81"/>
              <a:gd name="T38" fmla="*/ 111 w 139"/>
              <a:gd name="T39" fmla="*/ 42 h 81"/>
              <a:gd name="T40" fmla="*/ 70 w 139"/>
              <a:gd name="T41" fmla="*/ 56 h 81"/>
              <a:gd name="T42" fmla="*/ 28 w 139"/>
              <a:gd name="T43" fmla="*/ 4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9" h="81">
                <a:moveTo>
                  <a:pt x="135" y="61"/>
                </a:moveTo>
                <a:cubicBezTo>
                  <a:pt x="135" y="58"/>
                  <a:pt x="134" y="56"/>
                  <a:pt x="131" y="56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70" y="48"/>
                  <a:pt x="70" y="48"/>
                  <a:pt x="70" y="4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56"/>
                  <a:pt x="127" y="56"/>
                  <a:pt x="127" y="56"/>
                </a:cubicBezTo>
                <a:cubicBezTo>
                  <a:pt x="125" y="56"/>
                  <a:pt x="123" y="58"/>
                  <a:pt x="123" y="61"/>
                </a:cubicBezTo>
                <a:cubicBezTo>
                  <a:pt x="123" y="63"/>
                  <a:pt x="125" y="64"/>
                  <a:pt x="126" y="64"/>
                </a:cubicBezTo>
                <a:cubicBezTo>
                  <a:pt x="123" y="81"/>
                  <a:pt x="123" y="81"/>
                  <a:pt x="123" y="81"/>
                </a:cubicBezTo>
                <a:cubicBezTo>
                  <a:pt x="135" y="81"/>
                  <a:pt x="135" y="81"/>
                  <a:pt x="135" y="81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4" y="64"/>
                  <a:pt x="135" y="63"/>
                  <a:pt x="135" y="61"/>
                </a:cubicBezTo>
                <a:close/>
                <a:moveTo>
                  <a:pt x="28" y="42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76"/>
                  <a:pt x="47" y="81"/>
                  <a:pt x="70" y="81"/>
                </a:cubicBezTo>
                <a:cubicBezTo>
                  <a:pt x="92" y="81"/>
                  <a:pt x="111" y="76"/>
                  <a:pt x="111" y="69"/>
                </a:cubicBezTo>
                <a:cubicBezTo>
                  <a:pt x="111" y="42"/>
                  <a:pt x="111" y="42"/>
                  <a:pt x="111" y="42"/>
                </a:cubicBezTo>
                <a:cubicBezTo>
                  <a:pt x="70" y="56"/>
                  <a:pt x="70" y="56"/>
                  <a:pt x="70" y="56"/>
                </a:cubicBezTo>
                <a:lnTo>
                  <a:pt x="28" y="42"/>
                </a:lnTo>
                <a:close/>
              </a:path>
            </a:pathLst>
          </a:custGeom>
          <a:solidFill>
            <a:srgbClr val="375549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2" name="梯形 41">
            <a:extLst>
              <a:ext uri="{FF2B5EF4-FFF2-40B4-BE49-F238E27FC236}">
                <a16:creationId xmlns:a16="http://schemas.microsoft.com/office/drawing/2014/main" id="{F0B6E7FE-BE84-C3EE-4B1A-5D1A3EF96844}"/>
              </a:ext>
            </a:extLst>
          </p:cNvPr>
          <p:cNvSpPr/>
          <p:nvPr userDrawn="1"/>
        </p:nvSpPr>
        <p:spPr>
          <a:xfrm>
            <a:off x="0" y="6223000"/>
            <a:ext cx="12192000" cy="634999"/>
          </a:xfrm>
          <a:prstGeom prst="trapezoid">
            <a:avLst>
              <a:gd name="adj" fmla="val 26934"/>
            </a:avLst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0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CF1C92-B5ED-2D1D-F7E9-B63D047F4B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2192000" cy="683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A98397-7A73-2BF9-2F52-65ECA9E9695D}"/>
              </a:ext>
            </a:extLst>
          </p:cNvPr>
          <p:cNvSpPr/>
          <p:nvPr userDrawn="1"/>
        </p:nvSpPr>
        <p:spPr>
          <a:xfrm>
            <a:off x="3633788" y="225860"/>
            <a:ext cx="4909848" cy="52112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梯形 41">
            <a:extLst>
              <a:ext uri="{FF2B5EF4-FFF2-40B4-BE49-F238E27FC236}">
                <a16:creationId xmlns:a16="http://schemas.microsoft.com/office/drawing/2014/main" id="{F0B6E7FE-BE84-C3EE-4B1A-5D1A3EF96844}"/>
              </a:ext>
            </a:extLst>
          </p:cNvPr>
          <p:cNvSpPr/>
          <p:nvPr userDrawn="1"/>
        </p:nvSpPr>
        <p:spPr>
          <a:xfrm>
            <a:off x="0" y="6223000"/>
            <a:ext cx="12192000" cy="634999"/>
          </a:xfrm>
          <a:prstGeom prst="trapezoid">
            <a:avLst>
              <a:gd name="adj" fmla="val 26934"/>
            </a:avLst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2B38F9-E565-A444-09FA-B832F0C10B6D}"/>
              </a:ext>
            </a:extLst>
          </p:cNvPr>
          <p:cNvSpPr/>
          <p:nvPr userDrawn="1"/>
        </p:nvSpPr>
        <p:spPr>
          <a:xfrm>
            <a:off x="377371" y="373491"/>
            <a:ext cx="11437258" cy="6111018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blurRad="203200" dist="76200" dir="5400000" algn="t" rotWithShape="0">
              <a:srgbClr val="375549">
                <a:alpha val="1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A3CC4F-AFEA-0E50-848A-9BC4C2B1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DE8B-E9CA-4318-893A-055BA44D18C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3A096E-360D-A48C-8DCC-CD62B232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F62B7-6136-CE22-DF09-4DBA820D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156C-F471-4A85-AE04-C8DFECE43A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2EA421-3FA4-422C-CB4A-B1C533D06D1F}"/>
              </a:ext>
            </a:extLst>
          </p:cNvPr>
          <p:cNvSpPr/>
          <p:nvPr userDrawn="1"/>
        </p:nvSpPr>
        <p:spPr>
          <a:xfrm flipH="1">
            <a:off x="3887171" y="225860"/>
            <a:ext cx="4417653" cy="461665"/>
          </a:xfrm>
          <a:custGeom>
            <a:avLst/>
            <a:gdLst>
              <a:gd name="connsiteX0" fmla="*/ 4417653 w 4417653"/>
              <a:gd name="connsiteY0" fmla="*/ 0 h 461665"/>
              <a:gd name="connsiteX1" fmla="*/ 2563635 w 4417653"/>
              <a:gd name="connsiteY1" fmla="*/ 0 h 461665"/>
              <a:gd name="connsiteX2" fmla="*/ 2413756 w 4417653"/>
              <a:gd name="connsiteY2" fmla="*/ 0 h 461665"/>
              <a:gd name="connsiteX3" fmla="*/ 2003898 w 4417653"/>
              <a:gd name="connsiteY3" fmla="*/ 0 h 461665"/>
              <a:gd name="connsiteX4" fmla="*/ 559737 w 4417653"/>
              <a:gd name="connsiteY4" fmla="*/ 0 h 461665"/>
              <a:gd name="connsiteX5" fmla="*/ 0 w 4417653"/>
              <a:gd name="connsiteY5" fmla="*/ 0 h 461665"/>
              <a:gd name="connsiteX6" fmla="*/ 3346 w 4417653"/>
              <a:gd name="connsiteY6" fmla="*/ 3511 h 461665"/>
              <a:gd name="connsiteX7" fmla="*/ 174268 w 4417653"/>
              <a:gd name="connsiteY7" fmla="*/ 418396 h 461665"/>
              <a:gd name="connsiteX8" fmla="*/ 176160 w 4417653"/>
              <a:gd name="connsiteY8" fmla="*/ 461665 h 461665"/>
              <a:gd name="connsiteX9" fmla="*/ 735897 w 4417653"/>
              <a:gd name="connsiteY9" fmla="*/ 461665 h 461665"/>
              <a:gd name="connsiteX10" fmla="*/ 2003898 w 4417653"/>
              <a:gd name="connsiteY10" fmla="*/ 461665 h 461665"/>
              <a:gd name="connsiteX11" fmla="*/ 2413756 w 4417653"/>
              <a:gd name="connsiteY11" fmla="*/ 461665 h 461665"/>
              <a:gd name="connsiteX12" fmla="*/ 2563635 w 4417653"/>
              <a:gd name="connsiteY12" fmla="*/ 461665 h 461665"/>
              <a:gd name="connsiteX13" fmla="*/ 4241493 w 4417653"/>
              <a:gd name="connsiteY13" fmla="*/ 461665 h 461665"/>
              <a:gd name="connsiteX14" fmla="*/ 4243386 w 4417653"/>
              <a:gd name="connsiteY14" fmla="*/ 418396 h 461665"/>
              <a:gd name="connsiteX15" fmla="*/ 4414307 w 4417653"/>
              <a:gd name="connsiteY15" fmla="*/ 3511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17653" h="461665">
                <a:moveTo>
                  <a:pt x="4417653" y="0"/>
                </a:moveTo>
                <a:lnTo>
                  <a:pt x="2563635" y="0"/>
                </a:lnTo>
                <a:lnTo>
                  <a:pt x="2413756" y="0"/>
                </a:lnTo>
                <a:lnTo>
                  <a:pt x="2003898" y="0"/>
                </a:lnTo>
                <a:lnTo>
                  <a:pt x="559737" y="0"/>
                </a:lnTo>
                <a:lnTo>
                  <a:pt x="0" y="0"/>
                </a:lnTo>
                <a:lnTo>
                  <a:pt x="3346" y="3511"/>
                </a:lnTo>
                <a:cubicBezTo>
                  <a:pt x="97408" y="112121"/>
                  <a:pt x="160071" y="256986"/>
                  <a:pt x="174268" y="418396"/>
                </a:cubicBezTo>
                <a:lnTo>
                  <a:pt x="176160" y="461665"/>
                </a:lnTo>
                <a:lnTo>
                  <a:pt x="735897" y="461665"/>
                </a:lnTo>
                <a:lnTo>
                  <a:pt x="2003898" y="461665"/>
                </a:lnTo>
                <a:lnTo>
                  <a:pt x="2413756" y="461665"/>
                </a:lnTo>
                <a:lnTo>
                  <a:pt x="2563635" y="461665"/>
                </a:lnTo>
                <a:lnTo>
                  <a:pt x="4241493" y="461665"/>
                </a:lnTo>
                <a:lnTo>
                  <a:pt x="4243386" y="418396"/>
                </a:lnTo>
                <a:cubicBezTo>
                  <a:pt x="4257582" y="256986"/>
                  <a:pt x="4320246" y="112121"/>
                  <a:pt x="4414307" y="3511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050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EFE865-014A-6928-1A6F-490F0B0A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903C71-FABA-2D9F-5DD2-3176034E9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C7C146-4212-24A8-3D6F-AEA835E7F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6DE8B-E9CA-4318-893A-055BA44D18C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C748E-C64F-5ABF-3A2C-CF70AE441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F8536-2A29-B884-100E-B64F41A66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F156C-F471-4A85-AE04-C8DFECE43A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87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7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5F94CD3-50B0-ACD2-19FB-FD68F22C2988}"/>
              </a:ext>
            </a:extLst>
          </p:cNvPr>
          <p:cNvSpPr/>
          <p:nvPr/>
        </p:nvSpPr>
        <p:spPr>
          <a:xfrm flipH="1">
            <a:off x="863600" y="1183237"/>
            <a:ext cx="10464800" cy="2887224"/>
          </a:xfrm>
          <a:custGeom>
            <a:avLst/>
            <a:gdLst>
              <a:gd name="connsiteX0" fmla="*/ 5217228 w 7566446"/>
              <a:gd name="connsiteY0" fmla="*/ 0 h 2087572"/>
              <a:gd name="connsiteX1" fmla="*/ 5001629 w 7566446"/>
              <a:gd name="connsiteY1" fmla="*/ 5729 h 2087572"/>
              <a:gd name="connsiteX2" fmla="*/ 3864133 w 7566446"/>
              <a:gd name="connsiteY2" fmla="*/ 351801 h 2087572"/>
              <a:gd name="connsiteX3" fmla="*/ 3783223 w 7566446"/>
              <a:gd name="connsiteY3" fmla="*/ 417428 h 2087572"/>
              <a:gd name="connsiteX4" fmla="*/ 3702313 w 7566446"/>
              <a:gd name="connsiteY4" fmla="*/ 351801 h 2087572"/>
              <a:gd name="connsiteX5" fmla="*/ 2564817 w 7566446"/>
              <a:gd name="connsiteY5" fmla="*/ 5729 h 2087572"/>
              <a:gd name="connsiteX6" fmla="*/ 2349218 w 7566446"/>
              <a:gd name="connsiteY6" fmla="*/ 0 h 2087572"/>
              <a:gd name="connsiteX7" fmla="*/ 90323 w 7566446"/>
              <a:gd name="connsiteY7" fmla="*/ 569253 h 2087572"/>
              <a:gd name="connsiteX8" fmla="*/ 0 w 7566446"/>
              <a:gd name="connsiteY8" fmla="*/ 587850 h 2087572"/>
              <a:gd name="connsiteX9" fmla="*/ 58519 w 7566446"/>
              <a:gd name="connsiteY9" fmla="*/ 649262 h 2087572"/>
              <a:gd name="connsiteX10" fmla="*/ 566449 w 7566446"/>
              <a:gd name="connsiteY10" fmla="*/ 1882183 h 2087572"/>
              <a:gd name="connsiteX11" fmla="*/ 575431 w 7566446"/>
              <a:gd name="connsiteY11" fmla="*/ 2087572 h 2087572"/>
              <a:gd name="connsiteX12" fmla="*/ 694070 w 7566446"/>
              <a:gd name="connsiteY12" fmla="*/ 2056767 h 2087572"/>
              <a:gd name="connsiteX13" fmla="*/ 2494250 w 7566446"/>
              <a:gd name="connsiteY13" fmla="*/ 1604878 h 2087572"/>
              <a:gd name="connsiteX14" fmla="*/ 2688092 w 7566446"/>
              <a:gd name="connsiteY14" fmla="*/ 1610029 h 2087572"/>
              <a:gd name="connsiteX15" fmla="*/ 3620333 w 7566446"/>
              <a:gd name="connsiteY15" fmla="*/ 1860358 h 2087572"/>
              <a:gd name="connsiteX16" fmla="*/ 3783223 w 7566446"/>
              <a:gd name="connsiteY16" fmla="*/ 1980131 h 2087572"/>
              <a:gd name="connsiteX17" fmla="*/ 3946113 w 7566446"/>
              <a:gd name="connsiteY17" fmla="*/ 1860358 h 2087572"/>
              <a:gd name="connsiteX18" fmla="*/ 4878354 w 7566446"/>
              <a:gd name="connsiteY18" fmla="*/ 1610029 h 2087572"/>
              <a:gd name="connsiteX19" fmla="*/ 5072196 w 7566446"/>
              <a:gd name="connsiteY19" fmla="*/ 1604878 h 2087572"/>
              <a:gd name="connsiteX20" fmla="*/ 6872376 w 7566446"/>
              <a:gd name="connsiteY20" fmla="*/ 2056767 h 2087572"/>
              <a:gd name="connsiteX21" fmla="*/ 6991015 w 7566446"/>
              <a:gd name="connsiteY21" fmla="*/ 2087572 h 2087572"/>
              <a:gd name="connsiteX22" fmla="*/ 6999997 w 7566446"/>
              <a:gd name="connsiteY22" fmla="*/ 1882183 h 2087572"/>
              <a:gd name="connsiteX23" fmla="*/ 7507927 w 7566446"/>
              <a:gd name="connsiteY23" fmla="*/ 649262 h 2087572"/>
              <a:gd name="connsiteX24" fmla="*/ 7566446 w 7566446"/>
              <a:gd name="connsiteY24" fmla="*/ 587850 h 2087572"/>
              <a:gd name="connsiteX25" fmla="*/ 7476123 w 7566446"/>
              <a:gd name="connsiteY25" fmla="*/ 569253 h 2087572"/>
              <a:gd name="connsiteX26" fmla="*/ 5217228 w 7566446"/>
              <a:gd name="connsiteY26" fmla="*/ 0 h 20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566446" h="2087572">
                <a:moveTo>
                  <a:pt x="5217228" y="0"/>
                </a:moveTo>
                <a:cubicBezTo>
                  <a:pt x="5147784" y="-32"/>
                  <a:pt x="5075989" y="1809"/>
                  <a:pt x="5001629" y="5729"/>
                </a:cubicBezTo>
                <a:cubicBezTo>
                  <a:pt x="4431717" y="35514"/>
                  <a:pt x="4078559" y="192885"/>
                  <a:pt x="3864133" y="351801"/>
                </a:cubicBezTo>
                <a:lnTo>
                  <a:pt x="3783223" y="417428"/>
                </a:lnTo>
                <a:lnTo>
                  <a:pt x="3702313" y="351801"/>
                </a:lnTo>
                <a:cubicBezTo>
                  <a:pt x="3487887" y="192885"/>
                  <a:pt x="3134729" y="35514"/>
                  <a:pt x="2564817" y="5729"/>
                </a:cubicBezTo>
                <a:cubicBezTo>
                  <a:pt x="2490457" y="1809"/>
                  <a:pt x="2418662" y="-32"/>
                  <a:pt x="2349218" y="0"/>
                </a:cubicBezTo>
                <a:cubicBezTo>
                  <a:pt x="1307564" y="471"/>
                  <a:pt x="795004" y="422266"/>
                  <a:pt x="90323" y="569253"/>
                </a:cubicBezTo>
                <a:lnTo>
                  <a:pt x="0" y="587850"/>
                </a:lnTo>
                <a:lnTo>
                  <a:pt x="58519" y="649262"/>
                </a:lnTo>
                <a:cubicBezTo>
                  <a:pt x="338043" y="972022"/>
                  <a:pt x="524262" y="1402520"/>
                  <a:pt x="566449" y="1882183"/>
                </a:cubicBezTo>
                <a:lnTo>
                  <a:pt x="575431" y="2087572"/>
                </a:lnTo>
                <a:lnTo>
                  <a:pt x="694070" y="2056767"/>
                </a:lnTo>
                <a:cubicBezTo>
                  <a:pt x="1219522" y="1895642"/>
                  <a:pt x="1674783" y="1605248"/>
                  <a:pt x="2494250" y="1604878"/>
                </a:cubicBezTo>
                <a:cubicBezTo>
                  <a:pt x="2556686" y="1604849"/>
                  <a:pt x="2621236" y="1606504"/>
                  <a:pt x="2688092" y="1610029"/>
                </a:cubicBezTo>
                <a:cubicBezTo>
                  <a:pt x="3127291" y="1632982"/>
                  <a:pt x="3423313" y="1740213"/>
                  <a:pt x="3620333" y="1860358"/>
                </a:cubicBezTo>
                <a:lnTo>
                  <a:pt x="3783223" y="1980131"/>
                </a:lnTo>
                <a:lnTo>
                  <a:pt x="3946113" y="1860358"/>
                </a:lnTo>
                <a:cubicBezTo>
                  <a:pt x="4143133" y="1740213"/>
                  <a:pt x="4439155" y="1632982"/>
                  <a:pt x="4878354" y="1610029"/>
                </a:cubicBezTo>
                <a:cubicBezTo>
                  <a:pt x="4945210" y="1606504"/>
                  <a:pt x="5009760" y="1604849"/>
                  <a:pt x="5072196" y="1604878"/>
                </a:cubicBezTo>
                <a:cubicBezTo>
                  <a:pt x="5891663" y="1605248"/>
                  <a:pt x="6346924" y="1895642"/>
                  <a:pt x="6872376" y="2056767"/>
                </a:cubicBezTo>
                <a:lnTo>
                  <a:pt x="6991015" y="2087572"/>
                </a:lnTo>
                <a:lnTo>
                  <a:pt x="6999997" y="1882183"/>
                </a:lnTo>
                <a:cubicBezTo>
                  <a:pt x="7042184" y="1402520"/>
                  <a:pt x="7228403" y="972022"/>
                  <a:pt x="7507927" y="649262"/>
                </a:cubicBezTo>
                <a:lnTo>
                  <a:pt x="7566446" y="587850"/>
                </a:lnTo>
                <a:lnTo>
                  <a:pt x="7476123" y="569253"/>
                </a:lnTo>
                <a:cubicBezTo>
                  <a:pt x="6771442" y="422266"/>
                  <a:pt x="6258882" y="471"/>
                  <a:pt x="5217228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24229BA-E7D5-829B-6A42-122EA41B25F6}"/>
              </a:ext>
            </a:extLst>
          </p:cNvPr>
          <p:cNvSpPr/>
          <p:nvPr/>
        </p:nvSpPr>
        <p:spPr>
          <a:xfrm flipH="1">
            <a:off x="526200" y="806898"/>
            <a:ext cx="11139600" cy="3073400"/>
          </a:xfrm>
          <a:custGeom>
            <a:avLst/>
            <a:gdLst>
              <a:gd name="connsiteX0" fmla="*/ 5217228 w 7566446"/>
              <a:gd name="connsiteY0" fmla="*/ 0 h 2087572"/>
              <a:gd name="connsiteX1" fmla="*/ 5001629 w 7566446"/>
              <a:gd name="connsiteY1" fmla="*/ 5729 h 2087572"/>
              <a:gd name="connsiteX2" fmla="*/ 3864133 w 7566446"/>
              <a:gd name="connsiteY2" fmla="*/ 351801 h 2087572"/>
              <a:gd name="connsiteX3" fmla="*/ 3783223 w 7566446"/>
              <a:gd name="connsiteY3" fmla="*/ 417428 h 2087572"/>
              <a:gd name="connsiteX4" fmla="*/ 3702313 w 7566446"/>
              <a:gd name="connsiteY4" fmla="*/ 351801 h 2087572"/>
              <a:gd name="connsiteX5" fmla="*/ 2564817 w 7566446"/>
              <a:gd name="connsiteY5" fmla="*/ 5729 h 2087572"/>
              <a:gd name="connsiteX6" fmla="*/ 2349218 w 7566446"/>
              <a:gd name="connsiteY6" fmla="*/ 0 h 2087572"/>
              <a:gd name="connsiteX7" fmla="*/ 90323 w 7566446"/>
              <a:gd name="connsiteY7" fmla="*/ 569253 h 2087572"/>
              <a:gd name="connsiteX8" fmla="*/ 0 w 7566446"/>
              <a:gd name="connsiteY8" fmla="*/ 587850 h 2087572"/>
              <a:gd name="connsiteX9" fmla="*/ 58519 w 7566446"/>
              <a:gd name="connsiteY9" fmla="*/ 649262 h 2087572"/>
              <a:gd name="connsiteX10" fmla="*/ 566449 w 7566446"/>
              <a:gd name="connsiteY10" fmla="*/ 1882183 h 2087572"/>
              <a:gd name="connsiteX11" fmla="*/ 575431 w 7566446"/>
              <a:gd name="connsiteY11" fmla="*/ 2087572 h 2087572"/>
              <a:gd name="connsiteX12" fmla="*/ 694070 w 7566446"/>
              <a:gd name="connsiteY12" fmla="*/ 2056767 h 2087572"/>
              <a:gd name="connsiteX13" fmla="*/ 2494250 w 7566446"/>
              <a:gd name="connsiteY13" fmla="*/ 1604878 h 2087572"/>
              <a:gd name="connsiteX14" fmla="*/ 2688092 w 7566446"/>
              <a:gd name="connsiteY14" fmla="*/ 1610029 h 2087572"/>
              <a:gd name="connsiteX15" fmla="*/ 3620333 w 7566446"/>
              <a:gd name="connsiteY15" fmla="*/ 1860358 h 2087572"/>
              <a:gd name="connsiteX16" fmla="*/ 3783223 w 7566446"/>
              <a:gd name="connsiteY16" fmla="*/ 1980131 h 2087572"/>
              <a:gd name="connsiteX17" fmla="*/ 3946113 w 7566446"/>
              <a:gd name="connsiteY17" fmla="*/ 1860358 h 2087572"/>
              <a:gd name="connsiteX18" fmla="*/ 4878354 w 7566446"/>
              <a:gd name="connsiteY18" fmla="*/ 1610029 h 2087572"/>
              <a:gd name="connsiteX19" fmla="*/ 5072196 w 7566446"/>
              <a:gd name="connsiteY19" fmla="*/ 1604878 h 2087572"/>
              <a:gd name="connsiteX20" fmla="*/ 6872376 w 7566446"/>
              <a:gd name="connsiteY20" fmla="*/ 2056767 h 2087572"/>
              <a:gd name="connsiteX21" fmla="*/ 6991015 w 7566446"/>
              <a:gd name="connsiteY21" fmla="*/ 2087572 h 2087572"/>
              <a:gd name="connsiteX22" fmla="*/ 6999997 w 7566446"/>
              <a:gd name="connsiteY22" fmla="*/ 1882183 h 2087572"/>
              <a:gd name="connsiteX23" fmla="*/ 7507927 w 7566446"/>
              <a:gd name="connsiteY23" fmla="*/ 649262 h 2087572"/>
              <a:gd name="connsiteX24" fmla="*/ 7566446 w 7566446"/>
              <a:gd name="connsiteY24" fmla="*/ 587850 h 2087572"/>
              <a:gd name="connsiteX25" fmla="*/ 7476123 w 7566446"/>
              <a:gd name="connsiteY25" fmla="*/ 569253 h 2087572"/>
              <a:gd name="connsiteX26" fmla="*/ 5217228 w 7566446"/>
              <a:gd name="connsiteY26" fmla="*/ 0 h 20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566446" h="2087572">
                <a:moveTo>
                  <a:pt x="5217228" y="0"/>
                </a:moveTo>
                <a:cubicBezTo>
                  <a:pt x="5147784" y="-32"/>
                  <a:pt x="5075989" y="1809"/>
                  <a:pt x="5001629" y="5729"/>
                </a:cubicBezTo>
                <a:cubicBezTo>
                  <a:pt x="4431717" y="35514"/>
                  <a:pt x="4078559" y="192885"/>
                  <a:pt x="3864133" y="351801"/>
                </a:cubicBezTo>
                <a:lnTo>
                  <a:pt x="3783223" y="417428"/>
                </a:lnTo>
                <a:lnTo>
                  <a:pt x="3702313" y="351801"/>
                </a:lnTo>
                <a:cubicBezTo>
                  <a:pt x="3487887" y="192885"/>
                  <a:pt x="3134729" y="35514"/>
                  <a:pt x="2564817" y="5729"/>
                </a:cubicBezTo>
                <a:cubicBezTo>
                  <a:pt x="2490457" y="1809"/>
                  <a:pt x="2418662" y="-32"/>
                  <a:pt x="2349218" y="0"/>
                </a:cubicBezTo>
                <a:cubicBezTo>
                  <a:pt x="1307564" y="471"/>
                  <a:pt x="795004" y="422266"/>
                  <a:pt x="90323" y="569253"/>
                </a:cubicBezTo>
                <a:lnTo>
                  <a:pt x="0" y="587850"/>
                </a:lnTo>
                <a:lnTo>
                  <a:pt x="58519" y="649262"/>
                </a:lnTo>
                <a:cubicBezTo>
                  <a:pt x="338043" y="972022"/>
                  <a:pt x="524262" y="1402520"/>
                  <a:pt x="566449" y="1882183"/>
                </a:cubicBezTo>
                <a:lnTo>
                  <a:pt x="575431" y="2087572"/>
                </a:lnTo>
                <a:lnTo>
                  <a:pt x="694070" y="2056767"/>
                </a:lnTo>
                <a:cubicBezTo>
                  <a:pt x="1219522" y="1895642"/>
                  <a:pt x="1674783" y="1605248"/>
                  <a:pt x="2494250" y="1604878"/>
                </a:cubicBezTo>
                <a:cubicBezTo>
                  <a:pt x="2556686" y="1604849"/>
                  <a:pt x="2621236" y="1606504"/>
                  <a:pt x="2688092" y="1610029"/>
                </a:cubicBezTo>
                <a:cubicBezTo>
                  <a:pt x="3127291" y="1632982"/>
                  <a:pt x="3423313" y="1740213"/>
                  <a:pt x="3620333" y="1860358"/>
                </a:cubicBezTo>
                <a:lnTo>
                  <a:pt x="3783223" y="1980131"/>
                </a:lnTo>
                <a:lnTo>
                  <a:pt x="3946113" y="1860358"/>
                </a:lnTo>
                <a:cubicBezTo>
                  <a:pt x="4143133" y="1740213"/>
                  <a:pt x="4439155" y="1632982"/>
                  <a:pt x="4878354" y="1610029"/>
                </a:cubicBezTo>
                <a:cubicBezTo>
                  <a:pt x="4945210" y="1606504"/>
                  <a:pt x="5009760" y="1604849"/>
                  <a:pt x="5072196" y="1604878"/>
                </a:cubicBezTo>
                <a:cubicBezTo>
                  <a:pt x="5891663" y="1605248"/>
                  <a:pt x="6346924" y="1895642"/>
                  <a:pt x="6872376" y="2056767"/>
                </a:cubicBezTo>
                <a:lnTo>
                  <a:pt x="6991015" y="2087572"/>
                </a:lnTo>
                <a:lnTo>
                  <a:pt x="6999997" y="1882183"/>
                </a:lnTo>
                <a:cubicBezTo>
                  <a:pt x="7042184" y="1402520"/>
                  <a:pt x="7228403" y="972022"/>
                  <a:pt x="7507927" y="649262"/>
                </a:cubicBezTo>
                <a:lnTo>
                  <a:pt x="7566446" y="587850"/>
                </a:lnTo>
                <a:lnTo>
                  <a:pt x="7476123" y="569253"/>
                </a:lnTo>
                <a:cubicBezTo>
                  <a:pt x="6771442" y="422266"/>
                  <a:pt x="6258882" y="471"/>
                  <a:pt x="5217228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8" name="梯形 157">
            <a:extLst>
              <a:ext uri="{FF2B5EF4-FFF2-40B4-BE49-F238E27FC236}">
                <a16:creationId xmlns:a16="http://schemas.microsoft.com/office/drawing/2014/main" id="{0D785BC1-D758-269C-411E-352D9D0D4276}"/>
              </a:ext>
            </a:extLst>
          </p:cNvPr>
          <p:cNvSpPr/>
          <p:nvPr/>
        </p:nvSpPr>
        <p:spPr>
          <a:xfrm>
            <a:off x="0" y="6223000"/>
            <a:ext cx="12192000" cy="634999"/>
          </a:xfrm>
          <a:prstGeom prst="trapezoid">
            <a:avLst>
              <a:gd name="adj" fmla="val 26934"/>
            </a:avLst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AE84496-EEE2-B621-3293-3B5D39DC84F0}"/>
              </a:ext>
            </a:extLst>
          </p:cNvPr>
          <p:cNvSpPr/>
          <p:nvPr/>
        </p:nvSpPr>
        <p:spPr>
          <a:xfrm>
            <a:off x="0" y="-546100"/>
            <a:ext cx="228600" cy="228600"/>
          </a:xfrm>
          <a:prstGeom prst="ellipse">
            <a:avLst/>
          </a:prstGeom>
          <a:solidFill>
            <a:srgbClr val="3755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ADC888B-25EA-0191-5A6C-567926D1DC03}"/>
              </a:ext>
            </a:extLst>
          </p:cNvPr>
          <p:cNvSpPr/>
          <p:nvPr/>
        </p:nvSpPr>
        <p:spPr>
          <a:xfrm>
            <a:off x="419100" y="-546100"/>
            <a:ext cx="228600" cy="228600"/>
          </a:xfrm>
          <a:prstGeom prst="ellipse">
            <a:avLst/>
          </a:prstGeom>
          <a:solidFill>
            <a:srgbClr val="9A7C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9F59C5-815D-4EAF-2FA5-429E296CDA04}"/>
              </a:ext>
            </a:extLst>
          </p:cNvPr>
          <p:cNvGrpSpPr/>
          <p:nvPr/>
        </p:nvGrpSpPr>
        <p:grpSpPr>
          <a:xfrm>
            <a:off x="4768798" y="4359028"/>
            <a:ext cx="2541930" cy="325857"/>
            <a:chOff x="4132082" y="5474426"/>
            <a:chExt cx="2541930" cy="325857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56B23E3-BC0F-3235-D46A-4B649D7EE5DD}"/>
                </a:ext>
              </a:extLst>
            </p:cNvPr>
            <p:cNvSpPr txBox="1"/>
            <p:nvPr/>
          </p:nvSpPr>
          <p:spPr>
            <a:xfrm>
              <a:off x="4457939" y="5483467"/>
              <a:ext cx="22160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200" b="1">
                  <a:gradFill flip="none" rotWithShape="1">
                    <a:gsLst>
                      <a:gs pos="1000">
                        <a:srgbClr val="BB9F64"/>
                      </a:gs>
                      <a:gs pos="100000">
                        <a:srgbClr val="BB9F64"/>
                      </a:gs>
                      <a:gs pos="61000">
                        <a:srgbClr val="FFF0AE"/>
                      </a:gs>
                    </a:gsLst>
                    <a:lin ang="5400000" scaled="1"/>
                    <a:tileRect/>
                  </a:gradFill>
                  <a:latin typeface="+mn-ea"/>
                  <a:ea typeface="+mn-ea"/>
                  <a:cs typeface="+mn-ea"/>
                </a:defRPr>
              </a:lvl1pPr>
            </a:lstStyle>
            <a:p>
              <a:pPr algn="l"/>
              <a:r>
                <a:rPr lang="en-US" altLang="zh-CN" sz="1400">
                  <a:solidFill>
                    <a:srgbClr val="375549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  <a:sym typeface="+mn-lt"/>
                </a:rPr>
                <a:t>----xx</a:t>
              </a:r>
              <a:endParaRPr lang="zh-CN" altLang="en-US" sz="1400" dirty="0">
                <a:solidFill>
                  <a:srgbClr val="375549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  <a:sym typeface="+mn-lt"/>
              </a:endParaRPr>
            </a:p>
          </p:txBody>
        </p:sp>
        <p:sp>
          <p:nvSpPr>
            <p:cNvPr id="21" name="iconfont-10471-5111261">
              <a:extLst>
                <a:ext uri="{FF2B5EF4-FFF2-40B4-BE49-F238E27FC236}">
                  <a16:creationId xmlns:a16="http://schemas.microsoft.com/office/drawing/2014/main" id="{AD530777-C8F2-6E32-4F34-D0EE22853A99}"/>
                </a:ext>
              </a:extLst>
            </p:cNvPr>
            <p:cNvSpPr/>
            <p:nvPr/>
          </p:nvSpPr>
          <p:spPr>
            <a:xfrm>
              <a:off x="4132082" y="5474426"/>
              <a:ext cx="325857" cy="325857"/>
            </a:xfrm>
            <a:custGeom>
              <a:avLst/>
              <a:gdLst>
                <a:gd name="T0" fmla="*/ 4724 w 9448"/>
                <a:gd name="T1" fmla="*/ 0 h 9448"/>
                <a:gd name="T2" fmla="*/ 0 w 9448"/>
                <a:gd name="T3" fmla="*/ 4724 h 9448"/>
                <a:gd name="T4" fmla="*/ 4724 w 9448"/>
                <a:gd name="T5" fmla="*/ 9448 h 9448"/>
                <a:gd name="T6" fmla="*/ 9448 w 9448"/>
                <a:gd name="T7" fmla="*/ 4724 h 9448"/>
                <a:gd name="T8" fmla="*/ 4724 w 9448"/>
                <a:gd name="T9" fmla="*/ 0 h 9448"/>
                <a:gd name="T10" fmla="*/ 4724 w 9448"/>
                <a:gd name="T11" fmla="*/ 9055 h 9448"/>
                <a:gd name="T12" fmla="*/ 1406 w 9448"/>
                <a:gd name="T13" fmla="*/ 7504 h 9448"/>
                <a:gd name="T14" fmla="*/ 3457 w 9448"/>
                <a:gd name="T15" fmla="*/ 6779 h 9448"/>
                <a:gd name="T16" fmla="*/ 3516 w 9448"/>
                <a:gd name="T17" fmla="*/ 6536 h 9448"/>
                <a:gd name="T18" fmla="*/ 3429 w 9448"/>
                <a:gd name="T19" fmla="*/ 6000 h 9448"/>
                <a:gd name="T20" fmla="*/ 3221 w 9448"/>
                <a:gd name="T21" fmla="*/ 5283 h 9448"/>
                <a:gd name="T22" fmla="*/ 2912 w 9448"/>
                <a:gd name="T23" fmla="*/ 4536 h 9448"/>
                <a:gd name="T24" fmla="*/ 2921 w 9448"/>
                <a:gd name="T25" fmla="*/ 3909 h 9448"/>
                <a:gd name="T26" fmla="*/ 2934 w 9448"/>
                <a:gd name="T27" fmla="*/ 3868 h 9448"/>
                <a:gd name="T28" fmla="*/ 2864 w 9448"/>
                <a:gd name="T29" fmla="*/ 2987 h 9448"/>
                <a:gd name="T30" fmla="*/ 3205 w 9448"/>
                <a:gd name="T31" fmla="*/ 1822 h 9448"/>
                <a:gd name="T32" fmla="*/ 4522 w 9448"/>
                <a:gd name="T33" fmla="*/ 1186 h 9448"/>
                <a:gd name="T34" fmla="*/ 4919 w 9448"/>
                <a:gd name="T35" fmla="*/ 1186 h 9448"/>
                <a:gd name="T36" fmla="*/ 6248 w 9448"/>
                <a:gd name="T37" fmla="*/ 1822 h 9448"/>
                <a:gd name="T38" fmla="*/ 6586 w 9448"/>
                <a:gd name="T39" fmla="*/ 2987 h 9448"/>
                <a:gd name="T40" fmla="*/ 6516 w 9448"/>
                <a:gd name="T41" fmla="*/ 3868 h 9448"/>
                <a:gd name="T42" fmla="*/ 6530 w 9448"/>
                <a:gd name="T43" fmla="*/ 3906 h 9448"/>
                <a:gd name="T44" fmla="*/ 6539 w 9448"/>
                <a:gd name="T45" fmla="*/ 4533 h 9448"/>
                <a:gd name="T46" fmla="*/ 6230 w 9448"/>
                <a:gd name="T47" fmla="*/ 5280 h 9448"/>
                <a:gd name="T48" fmla="*/ 6021 w 9448"/>
                <a:gd name="T49" fmla="*/ 5998 h 9448"/>
                <a:gd name="T50" fmla="*/ 5871 w 9448"/>
                <a:gd name="T51" fmla="*/ 6527 h 9448"/>
                <a:gd name="T52" fmla="*/ 5932 w 9448"/>
                <a:gd name="T53" fmla="*/ 6770 h 9448"/>
                <a:gd name="T54" fmla="*/ 8044 w 9448"/>
                <a:gd name="T55" fmla="*/ 7499 h 9448"/>
                <a:gd name="T56" fmla="*/ 4724 w 9448"/>
                <a:gd name="T57" fmla="*/ 9055 h 9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48" h="9448">
                  <a:moveTo>
                    <a:pt x="4724" y="0"/>
                  </a:moveTo>
                  <a:cubicBezTo>
                    <a:pt x="2115" y="0"/>
                    <a:pt x="0" y="2115"/>
                    <a:pt x="0" y="4724"/>
                  </a:cubicBezTo>
                  <a:cubicBezTo>
                    <a:pt x="0" y="7333"/>
                    <a:pt x="2115" y="9448"/>
                    <a:pt x="4724" y="9448"/>
                  </a:cubicBezTo>
                  <a:cubicBezTo>
                    <a:pt x="7333" y="9448"/>
                    <a:pt x="9448" y="7333"/>
                    <a:pt x="9448" y="4724"/>
                  </a:cubicBezTo>
                  <a:cubicBezTo>
                    <a:pt x="9448" y="2115"/>
                    <a:pt x="7333" y="0"/>
                    <a:pt x="4724" y="0"/>
                  </a:cubicBezTo>
                  <a:close/>
                  <a:moveTo>
                    <a:pt x="4724" y="9055"/>
                  </a:moveTo>
                  <a:cubicBezTo>
                    <a:pt x="3393" y="9055"/>
                    <a:pt x="2201" y="8451"/>
                    <a:pt x="1406" y="7504"/>
                  </a:cubicBezTo>
                  <a:cubicBezTo>
                    <a:pt x="1810" y="7329"/>
                    <a:pt x="2819" y="6966"/>
                    <a:pt x="3457" y="6779"/>
                  </a:cubicBezTo>
                  <a:cubicBezTo>
                    <a:pt x="3507" y="6763"/>
                    <a:pt x="3516" y="6761"/>
                    <a:pt x="3516" y="6536"/>
                  </a:cubicBezTo>
                  <a:cubicBezTo>
                    <a:pt x="3516" y="6296"/>
                    <a:pt x="3489" y="6125"/>
                    <a:pt x="3429" y="6000"/>
                  </a:cubicBezTo>
                  <a:cubicBezTo>
                    <a:pt x="3350" y="5830"/>
                    <a:pt x="3255" y="5542"/>
                    <a:pt x="3221" y="5283"/>
                  </a:cubicBezTo>
                  <a:cubicBezTo>
                    <a:pt x="3125" y="5171"/>
                    <a:pt x="2996" y="4953"/>
                    <a:pt x="2912" y="4536"/>
                  </a:cubicBezTo>
                  <a:cubicBezTo>
                    <a:pt x="2839" y="4168"/>
                    <a:pt x="2873" y="4034"/>
                    <a:pt x="2921" y="3909"/>
                  </a:cubicBezTo>
                  <a:cubicBezTo>
                    <a:pt x="2925" y="3895"/>
                    <a:pt x="2932" y="3881"/>
                    <a:pt x="2934" y="3868"/>
                  </a:cubicBezTo>
                  <a:cubicBezTo>
                    <a:pt x="2953" y="3784"/>
                    <a:pt x="2928" y="3334"/>
                    <a:pt x="2864" y="2987"/>
                  </a:cubicBezTo>
                  <a:cubicBezTo>
                    <a:pt x="2821" y="2748"/>
                    <a:pt x="2875" y="2242"/>
                    <a:pt x="3205" y="1822"/>
                  </a:cubicBezTo>
                  <a:cubicBezTo>
                    <a:pt x="3411" y="1556"/>
                    <a:pt x="3809" y="1231"/>
                    <a:pt x="4522" y="1186"/>
                  </a:cubicBezTo>
                  <a:lnTo>
                    <a:pt x="4919" y="1186"/>
                  </a:lnTo>
                  <a:cubicBezTo>
                    <a:pt x="5644" y="1231"/>
                    <a:pt x="6041" y="1556"/>
                    <a:pt x="6248" y="1822"/>
                  </a:cubicBezTo>
                  <a:cubicBezTo>
                    <a:pt x="6577" y="2242"/>
                    <a:pt x="6632" y="2748"/>
                    <a:pt x="6586" y="2987"/>
                  </a:cubicBezTo>
                  <a:cubicBezTo>
                    <a:pt x="6523" y="3334"/>
                    <a:pt x="6498" y="3782"/>
                    <a:pt x="6516" y="3868"/>
                  </a:cubicBezTo>
                  <a:cubicBezTo>
                    <a:pt x="6518" y="3881"/>
                    <a:pt x="6525" y="3895"/>
                    <a:pt x="6530" y="3906"/>
                  </a:cubicBezTo>
                  <a:cubicBezTo>
                    <a:pt x="6577" y="4031"/>
                    <a:pt x="6614" y="4165"/>
                    <a:pt x="6539" y="4533"/>
                  </a:cubicBezTo>
                  <a:cubicBezTo>
                    <a:pt x="6455" y="4951"/>
                    <a:pt x="6325" y="5169"/>
                    <a:pt x="6230" y="5280"/>
                  </a:cubicBezTo>
                  <a:cubicBezTo>
                    <a:pt x="6196" y="5539"/>
                    <a:pt x="6100" y="5825"/>
                    <a:pt x="6021" y="5998"/>
                  </a:cubicBezTo>
                  <a:cubicBezTo>
                    <a:pt x="5946" y="6155"/>
                    <a:pt x="5871" y="6341"/>
                    <a:pt x="5871" y="6527"/>
                  </a:cubicBezTo>
                  <a:cubicBezTo>
                    <a:pt x="5871" y="6752"/>
                    <a:pt x="5880" y="6754"/>
                    <a:pt x="5932" y="6770"/>
                  </a:cubicBezTo>
                  <a:cubicBezTo>
                    <a:pt x="6539" y="6950"/>
                    <a:pt x="7583" y="7311"/>
                    <a:pt x="8044" y="7499"/>
                  </a:cubicBezTo>
                  <a:cubicBezTo>
                    <a:pt x="7249" y="8449"/>
                    <a:pt x="6057" y="9055"/>
                    <a:pt x="4724" y="9055"/>
                  </a:cubicBezTo>
                  <a:close/>
                </a:path>
              </a:pathLst>
            </a:custGeom>
            <a:solidFill>
              <a:srgbClr val="3755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75549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F988FCF-6AA9-4082-A269-A5ACADDE8C4E}"/>
              </a:ext>
            </a:extLst>
          </p:cNvPr>
          <p:cNvSpPr txBox="1"/>
          <p:nvPr/>
        </p:nvSpPr>
        <p:spPr>
          <a:xfrm>
            <a:off x="3394203" y="1622698"/>
            <a:ext cx="5500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工程经济学大作业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DDD029-C4A1-41FC-A1C0-13BD7A48E286}"/>
              </a:ext>
            </a:extLst>
          </p:cNvPr>
          <p:cNvSpPr txBox="1"/>
          <p:nvPr/>
        </p:nvSpPr>
        <p:spPr>
          <a:xfrm>
            <a:off x="7229341" y="2602499"/>
            <a:ext cx="318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----</a:t>
            </a:r>
            <a:r>
              <a:rPr lang="zh-CN" altLang="en-US" dirty="0"/>
              <a:t>网咖项目可行性分析</a:t>
            </a:r>
          </a:p>
        </p:txBody>
      </p:sp>
    </p:spTree>
    <p:extLst>
      <p:ext uri="{BB962C8B-B14F-4D97-AF65-F5344CB8AC3E}">
        <p14:creationId xmlns:p14="http://schemas.microsoft.com/office/powerpoint/2010/main" val="36854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EBCC745-BFF7-D067-248D-8866CA42D2B3}"/>
              </a:ext>
            </a:extLst>
          </p:cNvPr>
          <p:cNvSpPr/>
          <p:nvPr/>
        </p:nvSpPr>
        <p:spPr>
          <a:xfrm>
            <a:off x="8389265" y="1634778"/>
            <a:ext cx="2389200" cy="6666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254FB24-C23A-649B-1904-431D09F2C94C}"/>
              </a:ext>
            </a:extLst>
          </p:cNvPr>
          <p:cNvSpPr/>
          <p:nvPr/>
        </p:nvSpPr>
        <p:spPr>
          <a:xfrm>
            <a:off x="1413535" y="1634778"/>
            <a:ext cx="2389200" cy="6666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 descr="D:\51PPT模板网\51pptmoban.com\图片.jpg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3479800" y="5075416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D8911D3-8CC7-AD10-E2F2-3404D5D945D8}"/>
              </a:ext>
            </a:extLst>
          </p:cNvPr>
          <p:cNvSpPr txBox="1"/>
          <p:nvPr/>
        </p:nvSpPr>
        <p:spPr>
          <a:xfrm>
            <a:off x="5235828" y="531654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  录</a:t>
            </a:r>
            <a:endParaRPr lang="en-US" altLang="zh-CN" sz="48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D8184C8-397D-98D8-3958-9051D6514F45}"/>
              </a:ext>
            </a:extLst>
          </p:cNvPr>
          <p:cNvSpPr/>
          <p:nvPr/>
        </p:nvSpPr>
        <p:spPr>
          <a:xfrm>
            <a:off x="1983822" y="1553486"/>
            <a:ext cx="3638280" cy="838200"/>
          </a:xfrm>
          <a:custGeom>
            <a:avLst/>
            <a:gdLst>
              <a:gd name="connsiteX0" fmla="*/ 0 w 3638280"/>
              <a:gd name="connsiteY0" fmla="*/ 0 h 838200"/>
              <a:gd name="connsiteX1" fmla="*/ 3638280 w 3638280"/>
              <a:gd name="connsiteY1" fmla="*/ 0 h 838200"/>
              <a:gd name="connsiteX2" fmla="*/ 3638280 w 3638280"/>
              <a:gd name="connsiteY2" fmla="*/ 838200 h 838200"/>
              <a:gd name="connsiteX3" fmla="*/ 319836 w 3638280"/>
              <a:gd name="connsiteY3" fmla="*/ 838200 h 838200"/>
              <a:gd name="connsiteX4" fmla="*/ 316400 w 3638280"/>
              <a:gd name="connsiteY4" fmla="*/ 759641 h 838200"/>
              <a:gd name="connsiteX5" fmla="*/ 6075 w 3638280"/>
              <a:gd name="connsiteY5" fmla="*/ 63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280" h="838200">
                <a:moveTo>
                  <a:pt x="0" y="0"/>
                </a:moveTo>
                <a:lnTo>
                  <a:pt x="3638280" y="0"/>
                </a:lnTo>
                <a:lnTo>
                  <a:pt x="3638280" y="838200"/>
                </a:lnTo>
                <a:lnTo>
                  <a:pt x="319836" y="838200"/>
                </a:lnTo>
                <a:lnTo>
                  <a:pt x="316400" y="759641"/>
                </a:lnTo>
                <a:cubicBezTo>
                  <a:pt x="290625" y="466585"/>
                  <a:pt x="176853" y="203568"/>
                  <a:pt x="6075" y="6375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63D2410-2480-9895-C030-2DED20DAEE65}"/>
              </a:ext>
            </a:extLst>
          </p:cNvPr>
          <p:cNvSpPr/>
          <p:nvPr/>
        </p:nvSpPr>
        <p:spPr>
          <a:xfrm flipH="1">
            <a:off x="6576241" y="1553486"/>
            <a:ext cx="3638280" cy="838200"/>
          </a:xfrm>
          <a:custGeom>
            <a:avLst/>
            <a:gdLst>
              <a:gd name="connsiteX0" fmla="*/ 0 w 3638280"/>
              <a:gd name="connsiteY0" fmla="*/ 0 h 838200"/>
              <a:gd name="connsiteX1" fmla="*/ 3638280 w 3638280"/>
              <a:gd name="connsiteY1" fmla="*/ 0 h 838200"/>
              <a:gd name="connsiteX2" fmla="*/ 3638280 w 3638280"/>
              <a:gd name="connsiteY2" fmla="*/ 838200 h 838200"/>
              <a:gd name="connsiteX3" fmla="*/ 319836 w 3638280"/>
              <a:gd name="connsiteY3" fmla="*/ 838200 h 838200"/>
              <a:gd name="connsiteX4" fmla="*/ 316400 w 3638280"/>
              <a:gd name="connsiteY4" fmla="*/ 759641 h 838200"/>
              <a:gd name="connsiteX5" fmla="*/ 6075 w 3638280"/>
              <a:gd name="connsiteY5" fmla="*/ 63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280" h="838200">
                <a:moveTo>
                  <a:pt x="0" y="0"/>
                </a:moveTo>
                <a:lnTo>
                  <a:pt x="3638280" y="0"/>
                </a:lnTo>
                <a:lnTo>
                  <a:pt x="3638280" y="838200"/>
                </a:lnTo>
                <a:lnTo>
                  <a:pt x="319836" y="838200"/>
                </a:lnTo>
                <a:lnTo>
                  <a:pt x="316400" y="759641"/>
                </a:lnTo>
                <a:cubicBezTo>
                  <a:pt x="290625" y="466585"/>
                  <a:pt x="176853" y="203568"/>
                  <a:pt x="6075" y="6375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844D374-16F9-4D97-6A0F-0244DAD90BAA}"/>
              </a:ext>
            </a:extLst>
          </p:cNvPr>
          <p:cNvSpPr txBox="1"/>
          <p:nvPr/>
        </p:nvSpPr>
        <p:spPr>
          <a:xfrm>
            <a:off x="1493430" y="1687148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32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2799897" y="17879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项目概况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D3F462-B4ED-977C-E6EA-2DB629AB0A44}"/>
              </a:ext>
            </a:extLst>
          </p:cNvPr>
          <p:cNvSpPr txBox="1"/>
          <p:nvPr/>
        </p:nvSpPr>
        <p:spPr>
          <a:xfrm>
            <a:off x="7307667" y="17879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项目估算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C05283B-5FF2-5B8E-81BB-3DE4A31ADD9D}"/>
              </a:ext>
            </a:extLst>
          </p:cNvPr>
          <p:cNvSpPr txBox="1"/>
          <p:nvPr/>
        </p:nvSpPr>
        <p:spPr>
          <a:xfrm>
            <a:off x="10043924" y="1675718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32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DB0074D-88AB-62BC-AF74-EDEE4791D2D8}"/>
              </a:ext>
            </a:extLst>
          </p:cNvPr>
          <p:cNvSpPr/>
          <p:nvPr/>
        </p:nvSpPr>
        <p:spPr>
          <a:xfrm>
            <a:off x="8409547" y="2974721"/>
            <a:ext cx="2389200" cy="6666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0BDCCF7-637B-2318-110C-E736C9235720}"/>
              </a:ext>
            </a:extLst>
          </p:cNvPr>
          <p:cNvSpPr/>
          <p:nvPr/>
        </p:nvSpPr>
        <p:spPr>
          <a:xfrm>
            <a:off x="1413535" y="2978565"/>
            <a:ext cx="2389200" cy="6666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A5267F9-2BFC-ED37-97DF-21DD93CDF4AD}"/>
              </a:ext>
            </a:extLst>
          </p:cNvPr>
          <p:cNvSpPr/>
          <p:nvPr/>
        </p:nvSpPr>
        <p:spPr>
          <a:xfrm>
            <a:off x="1983822" y="2897273"/>
            <a:ext cx="3638280" cy="838200"/>
          </a:xfrm>
          <a:custGeom>
            <a:avLst/>
            <a:gdLst>
              <a:gd name="connsiteX0" fmla="*/ 0 w 3638280"/>
              <a:gd name="connsiteY0" fmla="*/ 0 h 838200"/>
              <a:gd name="connsiteX1" fmla="*/ 3638280 w 3638280"/>
              <a:gd name="connsiteY1" fmla="*/ 0 h 838200"/>
              <a:gd name="connsiteX2" fmla="*/ 3638280 w 3638280"/>
              <a:gd name="connsiteY2" fmla="*/ 838200 h 838200"/>
              <a:gd name="connsiteX3" fmla="*/ 319836 w 3638280"/>
              <a:gd name="connsiteY3" fmla="*/ 838200 h 838200"/>
              <a:gd name="connsiteX4" fmla="*/ 316400 w 3638280"/>
              <a:gd name="connsiteY4" fmla="*/ 759641 h 838200"/>
              <a:gd name="connsiteX5" fmla="*/ 6075 w 3638280"/>
              <a:gd name="connsiteY5" fmla="*/ 63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280" h="838200">
                <a:moveTo>
                  <a:pt x="0" y="0"/>
                </a:moveTo>
                <a:lnTo>
                  <a:pt x="3638280" y="0"/>
                </a:lnTo>
                <a:lnTo>
                  <a:pt x="3638280" y="838200"/>
                </a:lnTo>
                <a:lnTo>
                  <a:pt x="319836" y="838200"/>
                </a:lnTo>
                <a:lnTo>
                  <a:pt x="316400" y="759641"/>
                </a:lnTo>
                <a:cubicBezTo>
                  <a:pt x="290625" y="466585"/>
                  <a:pt x="176853" y="203568"/>
                  <a:pt x="6075" y="6375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6337662B-7E34-C32B-BEA6-876B6363D0A5}"/>
              </a:ext>
            </a:extLst>
          </p:cNvPr>
          <p:cNvSpPr/>
          <p:nvPr/>
        </p:nvSpPr>
        <p:spPr>
          <a:xfrm flipH="1">
            <a:off x="6596523" y="2893429"/>
            <a:ext cx="3638280" cy="838200"/>
          </a:xfrm>
          <a:custGeom>
            <a:avLst/>
            <a:gdLst>
              <a:gd name="connsiteX0" fmla="*/ 0 w 3638280"/>
              <a:gd name="connsiteY0" fmla="*/ 0 h 838200"/>
              <a:gd name="connsiteX1" fmla="*/ 3638280 w 3638280"/>
              <a:gd name="connsiteY1" fmla="*/ 0 h 838200"/>
              <a:gd name="connsiteX2" fmla="*/ 3638280 w 3638280"/>
              <a:gd name="connsiteY2" fmla="*/ 838200 h 838200"/>
              <a:gd name="connsiteX3" fmla="*/ 319836 w 3638280"/>
              <a:gd name="connsiteY3" fmla="*/ 838200 h 838200"/>
              <a:gd name="connsiteX4" fmla="*/ 316400 w 3638280"/>
              <a:gd name="connsiteY4" fmla="*/ 759641 h 838200"/>
              <a:gd name="connsiteX5" fmla="*/ 6075 w 3638280"/>
              <a:gd name="connsiteY5" fmla="*/ 63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280" h="838200">
                <a:moveTo>
                  <a:pt x="0" y="0"/>
                </a:moveTo>
                <a:lnTo>
                  <a:pt x="3638280" y="0"/>
                </a:lnTo>
                <a:lnTo>
                  <a:pt x="3638280" y="838200"/>
                </a:lnTo>
                <a:lnTo>
                  <a:pt x="319836" y="838200"/>
                </a:lnTo>
                <a:lnTo>
                  <a:pt x="316400" y="759641"/>
                </a:lnTo>
                <a:cubicBezTo>
                  <a:pt x="290625" y="466585"/>
                  <a:pt x="176853" y="203568"/>
                  <a:pt x="6075" y="6375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A631CD6-E564-6D02-B910-2B361583651E}"/>
              </a:ext>
            </a:extLst>
          </p:cNvPr>
          <p:cNvSpPr txBox="1"/>
          <p:nvPr/>
        </p:nvSpPr>
        <p:spPr>
          <a:xfrm>
            <a:off x="1493430" y="3030935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32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834FE2B-43C9-AB83-10F4-C29174B360CA}"/>
              </a:ext>
            </a:extLst>
          </p:cNvPr>
          <p:cNvSpPr txBox="1"/>
          <p:nvPr/>
        </p:nvSpPr>
        <p:spPr>
          <a:xfrm>
            <a:off x="3027523" y="313170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项目投资经济性分析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0AC4147-961C-3FD7-DC94-2FC8A5C011CC}"/>
              </a:ext>
            </a:extLst>
          </p:cNvPr>
          <p:cNvSpPr txBox="1"/>
          <p:nvPr/>
        </p:nvSpPr>
        <p:spPr>
          <a:xfrm>
            <a:off x="7327949" y="31278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敏感性分析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026CF76-FBD9-CA8E-E0DA-9837D006BFF7}"/>
              </a:ext>
            </a:extLst>
          </p:cNvPr>
          <p:cNvSpPr txBox="1"/>
          <p:nvPr/>
        </p:nvSpPr>
        <p:spPr>
          <a:xfrm>
            <a:off x="10064206" y="3015661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32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61" name="Freeform 5">
            <a:extLst>
              <a:ext uri="{FF2B5EF4-FFF2-40B4-BE49-F238E27FC236}">
                <a16:creationId xmlns:a16="http://schemas.microsoft.com/office/drawing/2014/main" id="{BD0B50C8-4A16-87A3-F81D-9923C1060BE7}"/>
              </a:ext>
            </a:extLst>
          </p:cNvPr>
          <p:cNvSpPr>
            <a:spLocks noEditPoints="1"/>
          </p:cNvSpPr>
          <p:nvPr/>
        </p:nvSpPr>
        <p:spPr bwMode="auto">
          <a:xfrm>
            <a:off x="5691183" y="432194"/>
            <a:ext cx="809630" cy="422324"/>
          </a:xfrm>
          <a:custGeom>
            <a:avLst/>
            <a:gdLst>
              <a:gd name="T0" fmla="*/ 135 w 139"/>
              <a:gd name="T1" fmla="*/ 61 h 81"/>
              <a:gd name="T2" fmla="*/ 131 w 139"/>
              <a:gd name="T3" fmla="*/ 56 h 81"/>
              <a:gd name="T4" fmla="*/ 131 w 139"/>
              <a:gd name="T5" fmla="*/ 27 h 81"/>
              <a:gd name="T6" fmla="*/ 139 w 139"/>
              <a:gd name="T7" fmla="*/ 24 h 81"/>
              <a:gd name="T8" fmla="*/ 70 w 139"/>
              <a:gd name="T9" fmla="*/ 0 h 81"/>
              <a:gd name="T10" fmla="*/ 0 w 139"/>
              <a:gd name="T11" fmla="*/ 24 h 81"/>
              <a:gd name="T12" fmla="*/ 70 w 139"/>
              <a:gd name="T13" fmla="*/ 48 h 81"/>
              <a:gd name="T14" fmla="*/ 127 w 139"/>
              <a:gd name="T15" fmla="*/ 28 h 81"/>
              <a:gd name="T16" fmla="*/ 127 w 139"/>
              <a:gd name="T17" fmla="*/ 56 h 81"/>
              <a:gd name="T18" fmla="*/ 123 w 139"/>
              <a:gd name="T19" fmla="*/ 61 h 81"/>
              <a:gd name="T20" fmla="*/ 126 w 139"/>
              <a:gd name="T21" fmla="*/ 64 h 81"/>
              <a:gd name="T22" fmla="*/ 123 w 139"/>
              <a:gd name="T23" fmla="*/ 81 h 81"/>
              <a:gd name="T24" fmla="*/ 135 w 139"/>
              <a:gd name="T25" fmla="*/ 81 h 81"/>
              <a:gd name="T26" fmla="*/ 132 w 139"/>
              <a:gd name="T27" fmla="*/ 64 h 81"/>
              <a:gd name="T28" fmla="*/ 135 w 139"/>
              <a:gd name="T29" fmla="*/ 61 h 81"/>
              <a:gd name="T30" fmla="*/ 28 w 139"/>
              <a:gd name="T31" fmla="*/ 42 h 81"/>
              <a:gd name="T32" fmla="*/ 28 w 139"/>
              <a:gd name="T33" fmla="*/ 69 h 81"/>
              <a:gd name="T34" fmla="*/ 70 w 139"/>
              <a:gd name="T35" fmla="*/ 81 h 81"/>
              <a:gd name="T36" fmla="*/ 111 w 139"/>
              <a:gd name="T37" fmla="*/ 69 h 81"/>
              <a:gd name="T38" fmla="*/ 111 w 139"/>
              <a:gd name="T39" fmla="*/ 42 h 81"/>
              <a:gd name="T40" fmla="*/ 70 w 139"/>
              <a:gd name="T41" fmla="*/ 56 h 81"/>
              <a:gd name="T42" fmla="*/ 28 w 139"/>
              <a:gd name="T43" fmla="*/ 4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9" h="81">
                <a:moveTo>
                  <a:pt x="135" y="61"/>
                </a:moveTo>
                <a:cubicBezTo>
                  <a:pt x="135" y="58"/>
                  <a:pt x="134" y="56"/>
                  <a:pt x="131" y="56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70" y="48"/>
                  <a:pt x="70" y="48"/>
                  <a:pt x="70" y="4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56"/>
                  <a:pt x="127" y="56"/>
                  <a:pt x="127" y="56"/>
                </a:cubicBezTo>
                <a:cubicBezTo>
                  <a:pt x="125" y="56"/>
                  <a:pt x="123" y="58"/>
                  <a:pt x="123" y="61"/>
                </a:cubicBezTo>
                <a:cubicBezTo>
                  <a:pt x="123" y="63"/>
                  <a:pt x="125" y="64"/>
                  <a:pt x="126" y="64"/>
                </a:cubicBezTo>
                <a:cubicBezTo>
                  <a:pt x="123" y="81"/>
                  <a:pt x="123" y="81"/>
                  <a:pt x="123" y="81"/>
                </a:cubicBezTo>
                <a:cubicBezTo>
                  <a:pt x="135" y="81"/>
                  <a:pt x="135" y="81"/>
                  <a:pt x="135" y="81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4" y="64"/>
                  <a:pt x="135" y="63"/>
                  <a:pt x="135" y="61"/>
                </a:cubicBezTo>
                <a:close/>
                <a:moveTo>
                  <a:pt x="28" y="42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76"/>
                  <a:pt x="47" y="81"/>
                  <a:pt x="70" y="81"/>
                </a:cubicBezTo>
                <a:cubicBezTo>
                  <a:pt x="92" y="81"/>
                  <a:pt x="111" y="76"/>
                  <a:pt x="111" y="69"/>
                </a:cubicBezTo>
                <a:cubicBezTo>
                  <a:pt x="111" y="42"/>
                  <a:pt x="111" y="42"/>
                  <a:pt x="111" y="42"/>
                </a:cubicBezTo>
                <a:cubicBezTo>
                  <a:pt x="70" y="56"/>
                  <a:pt x="70" y="56"/>
                  <a:pt x="70" y="56"/>
                </a:cubicBezTo>
                <a:lnTo>
                  <a:pt x="28" y="42"/>
                </a:lnTo>
                <a:close/>
              </a:path>
            </a:pathLst>
          </a:custGeom>
          <a:solidFill>
            <a:srgbClr val="9A7C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B7BA83-3F1F-4D6C-99C3-308E3E43DC68}"/>
              </a:ext>
            </a:extLst>
          </p:cNvPr>
          <p:cNvSpPr/>
          <p:nvPr/>
        </p:nvSpPr>
        <p:spPr>
          <a:xfrm>
            <a:off x="4006482" y="4208520"/>
            <a:ext cx="2389200" cy="6666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3755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C954470-97F2-4401-B776-DC87E4429CC8}"/>
              </a:ext>
            </a:extLst>
          </p:cNvPr>
          <p:cNvSpPr/>
          <p:nvPr/>
        </p:nvSpPr>
        <p:spPr>
          <a:xfrm>
            <a:off x="4576769" y="4127228"/>
            <a:ext cx="3638280" cy="838200"/>
          </a:xfrm>
          <a:custGeom>
            <a:avLst/>
            <a:gdLst>
              <a:gd name="connsiteX0" fmla="*/ 0 w 3638280"/>
              <a:gd name="connsiteY0" fmla="*/ 0 h 838200"/>
              <a:gd name="connsiteX1" fmla="*/ 3638280 w 3638280"/>
              <a:gd name="connsiteY1" fmla="*/ 0 h 838200"/>
              <a:gd name="connsiteX2" fmla="*/ 3638280 w 3638280"/>
              <a:gd name="connsiteY2" fmla="*/ 838200 h 838200"/>
              <a:gd name="connsiteX3" fmla="*/ 319836 w 3638280"/>
              <a:gd name="connsiteY3" fmla="*/ 838200 h 838200"/>
              <a:gd name="connsiteX4" fmla="*/ 316400 w 3638280"/>
              <a:gd name="connsiteY4" fmla="*/ 759641 h 838200"/>
              <a:gd name="connsiteX5" fmla="*/ 6075 w 3638280"/>
              <a:gd name="connsiteY5" fmla="*/ 63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280" h="838200">
                <a:moveTo>
                  <a:pt x="0" y="0"/>
                </a:moveTo>
                <a:lnTo>
                  <a:pt x="3638280" y="0"/>
                </a:lnTo>
                <a:lnTo>
                  <a:pt x="3638280" y="838200"/>
                </a:lnTo>
                <a:lnTo>
                  <a:pt x="319836" y="838200"/>
                </a:lnTo>
                <a:lnTo>
                  <a:pt x="316400" y="759641"/>
                </a:lnTo>
                <a:cubicBezTo>
                  <a:pt x="290625" y="466585"/>
                  <a:pt x="176853" y="203568"/>
                  <a:pt x="6075" y="6375"/>
                </a:cubicBezTo>
                <a:close/>
              </a:path>
            </a:pathLst>
          </a:cu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9E101E-07ED-4F49-B5A3-2A53189A72B0}"/>
              </a:ext>
            </a:extLst>
          </p:cNvPr>
          <p:cNvSpPr txBox="1"/>
          <p:nvPr/>
        </p:nvSpPr>
        <p:spPr>
          <a:xfrm>
            <a:off x="4086377" y="4260890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05</a:t>
            </a:r>
            <a:endParaRPr lang="zh-CN" altLang="en-US" sz="3200" b="1" dirty="0">
              <a:solidFill>
                <a:srgbClr val="37554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ACC136-977F-465B-845B-F8F830C31984}"/>
              </a:ext>
            </a:extLst>
          </p:cNvPr>
          <p:cNvSpPr txBox="1"/>
          <p:nvPr/>
        </p:nvSpPr>
        <p:spPr>
          <a:xfrm>
            <a:off x="5620470" y="436166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其他风险评价</a:t>
            </a:r>
          </a:p>
        </p:txBody>
      </p:sp>
    </p:spTree>
    <p:extLst>
      <p:ext uri="{BB962C8B-B14F-4D97-AF65-F5344CB8AC3E}">
        <p14:creationId xmlns:p14="http://schemas.microsoft.com/office/powerpoint/2010/main" val="218985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3479800" y="2286350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47FFEEEC-61CB-8999-4367-6F9AA821A653}"/>
              </a:ext>
            </a:extLst>
          </p:cNvPr>
          <p:cNvSpPr txBox="1"/>
          <p:nvPr/>
        </p:nvSpPr>
        <p:spPr>
          <a:xfrm>
            <a:off x="1988457" y="4111547"/>
            <a:ext cx="8215086" cy="380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effectLst/>
                <a:latin typeface="Noto Sans" panose="020B0502040204020203" pitchFamily="34" charset="0"/>
              </a:rPr>
              <a:t>  </a:t>
            </a:r>
            <a:endParaRPr lang="zh-CN" altLang="en-US" sz="1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388113" y="277732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375549"/>
                </a:solidFill>
              </a:rPr>
              <a:t>项目概况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55561-C21D-52A6-A18D-9A25081218EB}"/>
              </a:ext>
            </a:extLst>
          </p:cNvPr>
          <p:cNvSpPr txBox="1"/>
          <p:nvPr/>
        </p:nvSpPr>
        <p:spPr>
          <a:xfrm>
            <a:off x="5255064" y="811827"/>
            <a:ext cx="16818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7681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如何定义：网咖、电竞馆、电竞酒店-重庆电竞酒店|装修|设计|唯楷装饰电竞产业设计院">
            <a:extLst>
              <a:ext uri="{FF2B5EF4-FFF2-40B4-BE49-F238E27FC236}">
                <a16:creationId xmlns:a16="http://schemas.microsoft.com/office/drawing/2014/main" id="{69B2BF28-7E0B-45AD-86CB-20568E776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9" y="3103473"/>
            <a:ext cx="5714999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网鱼网咖计划赴美IPO，再不上市或许就晚了—互联网—三易生活—E生活·E科技">
            <a:extLst>
              <a:ext uri="{FF2B5EF4-FFF2-40B4-BE49-F238E27FC236}">
                <a16:creationId xmlns:a16="http://schemas.microsoft.com/office/drawing/2014/main" id="{4E134220-F2A0-4289-8744-B3442CB7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714777"/>
            <a:ext cx="5715000" cy="383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14284" y="248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项目概况</a:t>
            </a:r>
          </a:p>
        </p:txBody>
      </p:sp>
      <p:sp>
        <p:nvSpPr>
          <p:cNvPr id="14" name="矩形 13"/>
          <p:cNvSpPr/>
          <p:nvPr/>
        </p:nvSpPr>
        <p:spPr>
          <a:xfrm>
            <a:off x="688965" y="1313645"/>
            <a:ext cx="5293272" cy="4159875"/>
          </a:xfrm>
          <a:prstGeom prst="rect">
            <a:avLst/>
          </a:prstGeom>
          <a:solidFill>
            <a:srgbClr val="37554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8AA3C-E345-6921-B28B-09B428C7220C}"/>
              </a:ext>
            </a:extLst>
          </p:cNvPr>
          <p:cNvSpPr txBox="1"/>
          <p:nvPr/>
        </p:nvSpPr>
        <p:spPr>
          <a:xfrm>
            <a:off x="1044743" y="2057552"/>
            <a:ext cx="4369541" cy="22756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Noto Sans" panose="020B0502040204020203" pitchFamily="34" charset="0"/>
              </a:rPr>
              <a:t>  近年来，电竞行业的火速发展，游戏的普及化，越来越多的年轻人有着强烈的上网需求，网吧行业火热，而传统的网吧在不断发展的过程，逐渐形成了网吧</a:t>
            </a:r>
            <a:r>
              <a:rPr lang="en-US" altLang="zh-CN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Noto Sans" panose="020B0502040204020203" pitchFamily="34" charset="0"/>
              </a:rPr>
              <a:t>+</a:t>
            </a:r>
            <a:r>
              <a:rPr lang="zh-CN" altLang="en-U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Noto Sans" panose="020B0502040204020203" pitchFamily="34" charset="0"/>
              </a:rPr>
              <a:t>休闲的模式，也就是我们所熟知的网咖，受到了多数年轻人的追捧。它到底有着怎样的魔力？于是，为进一步了解网咖项目的可行性，我在搜集了相关资料后，用所学到的工程经济学的知识，对网咖项目进行分析。主要分为项目估算，项目投资经济性分析，敏感性分析，其他风险评价四个方面，综合评判网咖项目是否可行。</a:t>
            </a:r>
            <a:endParaRPr lang="zh-CN" altLang="en-US" sz="1200" dirty="0">
              <a:solidFill>
                <a:schemeClr val="accent6">
                  <a:lumMod val="20000"/>
                  <a:lumOff val="80000"/>
                </a:schemeClr>
              </a:solidFill>
              <a:sym typeface="HarmonyOS Sans SC Light" panose="000004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79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3479800" y="2286350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388113" y="277732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75549"/>
                </a:solidFill>
              </a:defRPr>
            </a:lvl1pPr>
          </a:lstStyle>
          <a:p>
            <a:r>
              <a:rPr lang="zh-CN" altLang="en-US" dirty="0"/>
              <a:t>项目估算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55561-C21D-52A6-A18D-9A25081218EB}"/>
              </a:ext>
            </a:extLst>
          </p:cNvPr>
          <p:cNvSpPr txBox="1"/>
          <p:nvPr/>
        </p:nvSpPr>
        <p:spPr>
          <a:xfrm>
            <a:off x="5255064" y="811827"/>
            <a:ext cx="16818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1856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8F65D4D-1844-4C57-AF09-AEA3251A70D8}"/>
              </a:ext>
            </a:extLst>
          </p:cNvPr>
          <p:cNvSpPr/>
          <p:nvPr/>
        </p:nvSpPr>
        <p:spPr>
          <a:xfrm>
            <a:off x="431387" y="731091"/>
            <a:ext cx="5293272" cy="3296992"/>
          </a:xfrm>
          <a:prstGeom prst="rect">
            <a:avLst/>
          </a:prstGeom>
          <a:solidFill>
            <a:srgbClr val="37554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14284" y="248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项目估算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32FF1E-171A-4B4C-A896-6C6BB3055ACA}"/>
              </a:ext>
            </a:extLst>
          </p:cNvPr>
          <p:cNvSpPr txBox="1"/>
          <p:nvPr/>
        </p:nvSpPr>
        <p:spPr>
          <a:xfrm>
            <a:off x="1882253" y="1202727"/>
            <a:ext cx="35320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我们搜集了网上有关电脑设施，电竞椅的价格，并最终确定电脑的单价为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6000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元，电竞椅单价为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150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元，之后假定下沙地区店面费为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200000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元，装修费一次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300000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元，装修工人工资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64000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元，服务器及监控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100000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元，其他费用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100000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元。确定初始投资为</a:t>
            </a:r>
            <a:r>
              <a:rPr lang="en-US" altLang="zh-C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1379000</a:t>
            </a:r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元。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315914E-7510-4F44-B0FD-0EA9BA15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48" y="698680"/>
            <a:ext cx="5061397" cy="42339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4F5DB4B-AF5D-41AA-9481-D67F695625CB}"/>
              </a:ext>
            </a:extLst>
          </p:cNvPr>
          <p:cNvSpPr txBox="1"/>
          <p:nvPr/>
        </p:nvSpPr>
        <p:spPr>
          <a:xfrm>
            <a:off x="468228" y="905890"/>
            <a:ext cx="358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初始投资估算及说明：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91A1CD-93DC-4AFF-80BF-3160DC488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960" y="4772577"/>
            <a:ext cx="8302285" cy="17070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EF6D096-EC1B-4FED-88BC-AF14C2431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28" y="3715555"/>
            <a:ext cx="2803006" cy="27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14284" y="248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项目估算</a:t>
            </a:r>
          </a:p>
        </p:txBody>
      </p:sp>
      <p:sp>
        <p:nvSpPr>
          <p:cNvPr id="14" name="矩形 13"/>
          <p:cNvSpPr/>
          <p:nvPr/>
        </p:nvSpPr>
        <p:spPr>
          <a:xfrm>
            <a:off x="675010" y="772732"/>
            <a:ext cx="5293272" cy="4159875"/>
          </a:xfrm>
          <a:prstGeom prst="rect">
            <a:avLst/>
          </a:prstGeom>
          <a:solidFill>
            <a:srgbClr val="37554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8AA3C-E345-6921-B28B-09B428C7220C}"/>
              </a:ext>
            </a:extLst>
          </p:cNvPr>
          <p:cNvSpPr txBox="1"/>
          <p:nvPr/>
        </p:nvSpPr>
        <p:spPr>
          <a:xfrm>
            <a:off x="1044743" y="2057552"/>
            <a:ext cx="4369541" cy="3391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Noto Sans" panose="020B0502040204020203" pitchFamily="34" charset="0"/>
              </a:rPr>
              <a:t>  </a:t>
            </a:r>
            <a:endParaRPr lang="zh-CN" altLang="en-US" sz="1200" dirty="0">
              <a:solidFill>
                <a:schemeClr val="accent6">
                  <a:lumMod val="20000"/>
                  <a:lumOff val="80000"/>
                </a:schemeClr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073E94-A19D-4D8C-B562-5ED381C78F1E}"/>
              </a:ext>
            </a:extLst>
          </p:cNvPr>
          <p:cNvSpPr txBox="1"/>
          <p:nvPr/>
        </p:nvSpPr>
        <p:spPr>
          <a:xfrm>
            <a:off x="895081" y="946597"/>
            <a:ext cx="297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经营期收入估算及说明：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8F966E-8D32-4D7C-9F06-51127EC8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10" y="4114800"/>
            <a:ext cx="10915976" cy="223448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3F4B40-3477-46CC-87B7-55A0289BC277}"/>
              </a:ext>
            </a:extLst>
          </p:cNvPr>
          <p:cNvSpPr txBox="1"/>
          <p:nvPr/>
        </p:nvSpPr>
        <p:spPr>
          <a:xfrm>
            <a:off x="1455312" y="1252478"/>
            <a:ext cx="38701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通过查阅网上资料，我们假设上座率为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100%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台机子，平均每人上网时长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小时，每小时网费算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天下来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位顾客，再加上每位顾客平均饮食消费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元，可计算得到日均收入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元，一年正常营业取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天，可得首年营收为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1800000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元。前两年内以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3%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的增长率增长，后进入为期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年的稳定期，最后三年以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10%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的衰退率减少。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CAF3CC-4983-4AE9-A4F4-45248BC56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77" y="811717"/>
            <a:ext cx="4742442" cy="310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1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14284" y="248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项目估算</a:t>
            </a:r>
          </a:p>
        </p:txBody>
      </p:sp>
      <p:sp>
        <p:nvSpPr>
          <p:cNvPr id="14" name="矩形 13"/>
          <p:cNvSpPr/>
          <p:nvPr/>
        </p:nvSpPr>
        <p:spPr>
          <a:xfrm>
            <a:off x="585990" y="746974"/>
            <a:ext cx="5293272" cy="4159875"/>
          </a:xfrm>
          <a:prstGeom prst="rect">
            <a:avLst/>
          </a:prstGeom>
          <a:solidFill>
            <a:srgbClr val="37554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8AA3C-E345-6921-B28B-09B428C7220C}"/>
              </a:ext>
            </a:extLst>
          </p:cNvPr>
          <p:cNvSpPr txBox="1"/>
          <p:nvPr/>
        </p:nvSpPr>
        <p:spPr>
          <a:xfrm>
            <a:off x="1044743" y="2057552"/>
            <a:ext cx="4369541" cy="3391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Noto Sans" panose="020B0502040204020203" pitchFamily="34" charset="0"/>
              </a:rPr>
              <a:t>  </a:t>
            </a:r>
            <a:endParaRPr lang="zh-CN" altLang="en-US" sz="1200" dirty="0">
              <a:solidFill>
                <a:schemeClr val="accent6">
                  <a:lumMod val="20000"/>
                  <a:lumOff val="80000"/>
                </a:schemeClr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073E94-A19D-4D8C-B562-5ED381C78F1E}"/>
              </a:ext>
            </a:extLst>
          </p:cNvPr>
          <p:cNvSpPr txBox="1"/>
          <p:nvPr/>
        </p:nvSpPr>
        <p:spPr>
          <a:xfrm>
            <a:off x="895081" y="946597"/>
            <a:ext cx="297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经营期成本估算及说明：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3F4B40-3477-46CC-87B7-55A0289BC277}"/>
              </a:ext>
            </a:extLst>
          </p:cNvPr>
          <p:cNvSpPr txBox="1"/>
          <p:nvPr/>
        </p:nvSpPr>
        <p:spPr>
          <a:xfrm>
            <a:off x="1044742" y="1286580"/>
            <a:ext cx="4531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假定下沙地区月收租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20000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元，网管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位，每位月工资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元，宽带月费用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元，清洁工一位，月工资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元，其他费用一年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30000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元，得首年固定成本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678000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，接下来每年固定成本以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1%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的增长率增长。接下来计算变动成本，设单位变动成本为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元，与需求数相乘加上固定成本为每年的总成本。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C2CF3F-95B1-4085-A91B-2BA179BD3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90" y="3586766"/>
            <a:ext cx="11178862" cy="29043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E2283D-993C-4EE9-A76B-54600318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103" y="60239"/>
            <a:ext cx="3322749" cy="379698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402BC1D-8743-4DB2-8E7C-6EEB83C0F8FB}"/>
              </a:ext>
            </a:extLst>
          </p:cNvPr>
          <p:cNvCxnSpPr/>
          <p:nvPr/>
        </p:nvCxnSpPr>
        <p:spPr>
          <a:xfrm flipV="1">
            <a:off x="7160682" y="1191296"/>
            <a:ext cx="1332964" cy="6117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5F73A62A-0C8E-445D-BA47-37D414A99E30}"/>
              </a:ext>
            </a:extLst>
          </p:cNvPr>
          <p:cNvSpPr/>
          <p:nvPr/>
        </p:nvSpPr>
        <p:spPr>
          <a:xfrm>
            <a:off x="6265572" y="1803042"/>
            <a:ext cx="1533513" cy="1539026"/>
          </a:xfrm>
          <a:prstGeom prst="ellipse">
            <a:avLst/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63EF3E-2D6A-43CC-B5C7-CBBC674C3879}"/>
              </a:ext>
            </a:extLst>
          </p:cNvPr>
          <p:cNvSpPr txBox="1"/>
          <p:nvPr/>
        </p:nvSpPr>
        <p:spPr>
          <a:xfrm>
            <a:off x="6366515" y="1991707"/>
            <a:ext cx="1331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此图为网上搜集到有关网管月薪的相关信息</a:t>
            </a:r>
          </a:p>
        </p:txBody>
      </p:sp>
    </p:spTree>
    <p:extLst>
      <p:ext uri="{BB962C8B-B14F-4D97-AF65-F5344CB8AC3E}">
        <p14:creationId xmlns:p14="http://schemas.microsoft.com/office/powerpoint/2010/main" val="396525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3479800" y="2286350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4679775" y="2777323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75549"/>
                </a:solidFill>
              </a:defRPr>
            </a:lvl1pPr>
          </a:lstStyle>
          <a:p>
            <a:r>
              <a:rPr lang="zh-CN" altLang="en-US" dirty="0"/>
              <a:t>项目投资经济性分析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55561-C21D-52A6-A18D-9A25081218EB}"/>
              </a:ext>
            </a:extLst>
          </p:cNvPr>
          <p:cNvSpPr txBox="1"/>
          <p:nvPr/>
        </p:nvSpPr>
        <p:spPr>
          <a:xfrm>
            <a:off x="5255064" y="811827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9473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055073" y="26413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项目投资经济性分析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CF4388-526E-4401-972E-5AD0EEF1B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02" y="3551848"/>
            <a:ext cx="11352728" cy="254901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19D5EE-770E-4DDE-B964-10585CBABD75}"/>
              </a:ext>
            </a:extLst>
          </p:cNvPr>
          <p:cNvSpPr/>
          <p:nvPr/>
        </p:nvSpPr>
        <p:spPr>
          <a:xfrm>
            <a:off x="585989" y="746974"/>
            <a:ext cx="11011436" cy="2549019"/>
          </a:xfrm>
          <a:prstGeom prst="rect">
            <a:avLst/>
          </a:prstGeom>
          <a:solidFill>
            <a:srgbClr val="37554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CB7C9F-E843-440E-B43A-66675F776892}"/>
              </a:ext>
            </a:extLst>
          </p:cNvPr>
          <p:cNvSpPr txBox="1"/>
          <p:nvPr/>
        </p:nvSpPr>
        <p:spPr>
          <a:xfrm>
            <a:off x="2401910" y="1282819"/>
            <a:ext cx="7244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我们将营业收入和营业成本放在一起，计算每年的净现金流，并通过逐年累加的形式得到累计净现值。假定基准收益率为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20%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，通过计算得到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NPV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712733.94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&gt;0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IRR=35.69%&gt;20%,NAV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170003.27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元，说明项目可行，而且观察累计净现值在第三年出现正值，计算得到动态投资回收期为</a:t>
            </a:r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2.56</a:t>
            </a:r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年，说明项目在三年内即可回本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971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3479800" y="2286350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245445" y="267823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75549"/>
                </a:solidFill>
              </a:defRPr>
            </a:lvl1pPr>
          </a:lstStyle>
          <a:p>
            <a:r>
              <a:rPr lang="zh-CN" altLang="en-US" dirty="0"/>
              <a:t>敏感性分析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55561-C21D-52A6-A18D-9A25081218EB}"/>
              </a:ext>
            </a:extLst>
          </p:cNvPr>
          <p:cNvSpPr txBox="1"/>
          <p:nvPr/>
        </p:nvSpPr>
        <p:spPr>
          <a:xfrm>
            <a:off x="5255064" y="811827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A8158E-6ABE-4A7F-85D4-542DEAF86841}"/>
              </a:ext>
            </a:extLst>
          </p:cNvPr>
          <p:cNvSpPr txBox="1"/>
          <p:nvPr/>
        </p:nvSpPr>
        <p:spPr>
          <a:xfrm>
            <a:off x="3254548" y="4295104"/>
            <a:ext cx="57053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工业项目，敏感性因素主要有以下类型：投资额，产量或销售量，项目建设期、投产期、达到设计能力所需时间等，产品价格，经营成本（特别是变动成本），寿命期，折现率，汇率。本项目从房租变动率，日均需求两方面进行敏感性分析，并以</a:t>
            </a:r>
            <a:r>
              <a:rPr lang="en-US" altLang="zh-CN" dirty="0"/>
              <a:t>NPV</a:t>
            </a:r>
            <a:r>
              <a:rPr lang="zh-CN" altLang="en-US" dirty="0"/>
              <a:t>作指标。</a:t>
            </a:r>
          </a:p>
        </p:txBody>
      </p:sp>
    </p:spTree>
    <p:extLst>
      <p:ext uri="{BB962C8B-B14F-4D97-AF65-F5344CB8AC3E}">
        <p14:creationId xmlns:p14="http://schemas.microsoft.com/office/powerpoint/2010/main" val="320312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31952" y="2943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敏感性分析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F60493-11B0-4E39-B6EC-E819F4870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33" y="2549685"/>
            <a:ext cx="10393251" cy="3883645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7781950-3609-48A0-B2E9-BA8B4262B46D}"/>
              </a:ext>
            </a:extLst>
          </p:cNvPr>
          <p:cNvSpPr/>
          <p:nvPr/>
        </p:nvSpPr>
        <p:spPr>
          <a:xfrm>
            <a:off x="-302652" y="978795"/>
            <a:ext cx="7347396" cy="1371600"/>
          </a:xfrm>
          <a:prstGeom prst="ellipse">
            <a:avLst/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9177D4-6B62-416E-BF1A-F91F98988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936" y="-95186"/>
            <a:ext cx="4274128" cy="26448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2F62D95-5EB6-487F-A40C-D5CF5D88C460}"/>
              </a:ext>
            </a:extLst>
          </p:cNvPr>
          <p:cNvSpPr txBox="1"/>
          <p:nvPr/>
        </p:nvSpPr>
        <p:spPr>
          <a:xfrm>
            <a:off x="476519" y="1227249"/>
            <a:ext cx="5879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观察表格可知，当房屋价格上涨时，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NPV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逐渐降低，同时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NAV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IRR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也降低，项目变得不可行，计算得，当房租上涨幅度为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68.68%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时，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NPV=0.</a:t>
            </a:r>
            <a:endParaRPr lang="zh-CN" alt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5431952" y="2943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敏感性分析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781950-3609-48A0-B2E9-BA8B4262B46D}"/>
              </a:ext>
            </a:extLst>
          </p:cNvPr>
          <p:cNvSpPr/>
          <p:nvPr/>
        </p:nvSpPr>
        <p:spPr>
          <a:xfrm>
            <a:off x="-302652" y="978795"/>
            <a:ext cx="7347396" cy="2803042"/>
          </a:xfrm>
          <a:prstGeom prst="ellipse">
            <a:avLst/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E50491-9B20-4A21-A7FB-77419C771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" y="3948223"/>
            <a:ext cx="11758412" cy="25556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8823EEC-69D8-4E5E-89E8-62072A6D0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218" y="663718"/>
            <a:ext cx="5067059" cy="311811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BE12E36-D0CC-4B6E-AC8B-225660660639}"/>
              </a:ext>
            </a:extLst>
          </p:cNvPr>
          <p:cNvSpPr txBox="1"/>
          <p:nvPr/>
        </p:nvSpPr>
        <p:spPr>
          <a:xfrm>
            <a:off x="1197736" y="1503153"/>
            <a:ext cx="40310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我们假定人均消费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30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元不变，更改日均需求，计算变化后得年营收以及净现金流，可以得出，当年营收增长时，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NPV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NAV,IRR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均在上升，逐渐由负到正。通过计算，可得当年营收为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1627340.56</a:t>
            </a:r>
            <a:r>
              <a:rPr lang="zh-CN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元时，</a:t>
            </a:r>
            <a:r>
              <a:rPr lang="en-US" altLang="zh-C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NPV=0.</a:t>
            </a:r>
            <a:endParaRPr lang="zh-CN" alt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6EFE885-9451-482C-5623-E423D1EE6649}"/>
              </a:ext>
            </a:extLst>
          </p:cNvPr>
          <p:cNvGrpSpPr/>
          <p:nvPr/>
        </p:nvGrpSpPr>
        <p:grpSpPr>
          <a:xfrm>
            <a:off x="2294944" y="283490"/>
            <a:ext cx="5232400" cy="1531628"/>
            <a:chOff x="526200" y="809678"/>
            <a:chExt cx="11139600" cy="326078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5F94CD3-50B0-ACD2-19FB-FD68F22C2988}"/>
                </a:ext>
              </a:extLst>
            </p:cNvPr>
            <p:cNvSpPr/>
            <p:nvPr/>
          </p:nvSpPr>
          <p:spPr>
            <a:xfrm flipH="1">
              <a:off x="863600" y="1183237"/>
              <a:ext cx="10464800" cy="2887224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24229BA-E7D5-829B-6A42-122EA41B25F6}"/>
                </a:ext>
              </a:extLst>
            </p:cNvPr>
            <p:cNvSpPr/>
            <p:nvPr/>
          </p:nvSpPr>
          <p:spPr>
            <a:xfrm flipH="1">
              <a:off x="526200" y="809678"/>
              <a:ext cx="11139600" cy="3073400"/>
            </a:xfrm>
            <a:custGeom>
              <a:avLst/>
              <a:gdLst>
                <a:gd name="connsiteX0" fmla="*/ 5217228 w 7566446"/>
                <a:gd name="connsiteY0" fmla="*/ 0 h 2087572"/>
                <a:gd name="connsiteX1" fmla="*/ 5001629 w 7566446"/>
                <a:gd name="connsiteY1" fmla="*/ 5729 h 2087572"/>
                <a:gd name="connsiteX2" fmla="*/ 3864133 w 7566446"/>
                <a:gd name="connsiteY2" fmla="*/ 351801 h 2087572"/>
                <a:gd name="connsiteX3" fmla="*/ 3783223 w 7566446"/>
                <a:gd name="connsiteY3" fmla="*/ 417428 h 2087572"/>
                <a:gd name="connsiteX4" fmla="*/ 3702313 w 7566446"/>
                <a:gd name="connsiteY4" fmla="*/ 351801 h 2087572"/>
                <a:gd name="connsiteX5" fmla="*/ 2564817 w 7566446"/>
                <a:gd name="connsiteY5" fmla="*/ 5729 h 2087572"/>
                <a:gd name="connsiteX6" fmla="*/ 2349218 w 7566446"/>
                <a:gd name="connsiteY6" fmla="*/ 0 h 2087572"/>
                <a:gd name="connsiteX7" fmla="*/ 90323 w 7566446"/>
                <a:gd name="connsiteY7" fmla="*/ 569253 h 2087572"/>
                <a:gd name="connsiteX8" fmla="*/ 0 w 7566446"/>
                <a:gd name="connsiteY8" fmla="*/ 587850 h 2087572"/>
                <a:gd name="connsiteX9" fmla="*/ 58519 w 7566446"/>
                <a:gd name="connsiteY9" fmla="*/ 649262 h 2087572"/>
                <a:gd name="connsiteX10" fmla="*/ 566449 w 7566446"/>
                <a:gd name="connsiteY10" fmla="*/ 1882183 h 2087572"/>
                <a:gd name="connsiteX11" fmla="*/ 575431 w 7566446"/>
                <a:gd name="connsiteY11" fmla="*/ 2087572 h 2087572"/>
                <a:gd name="connsiteX12" fmla="*/ 694070 w 7566446"/>
                <a:gd name="connsiteY12" fmla="*/ 2056767 h 2087572"/>
                <a:gd name="connsiteX13" fmla="*/ 2494250 w 7566446"/>
                <a:gd name="connsiteY13" fmla="*/ 1604878 h 2087572"/>
                <a:gd name="connsiteX14" fmla="*/ 2688092 w 7566446"/>
                <a:gd name="connsiteY14" fmla="*/ 1610029 h 2087572"/>
                <a:gd name="connsiteX15" fmla="*/ 3620333 w 7566446"/>
                <a:gd name="connsiteY15" fmla="*/ 1860358 h 2087572"/>
                <a:gd name="connsiteX16" fmla="*/ 3783223 w 7566446"/>
                <a:gd name="connsiteY16" fmla="*/ 1980131 h 2087572"/>
                <a:gd name="connsiteX17" fmla="*/ 3946113 w 7566446"/>
                <a:gd name="connsiteY17" fmla="*/ 1860358 h 2087572"/>
                <a:gd name="connsiteX18" fmla="*/ 4878354 w 7566446"/>
                <a:gd name="connsiteY18" fmla="*/ 1610029 h 2087572"/>
                <a:gd name="connsiteX19" fmla="*/ 5072196 w 7566446"/>
                <a:gd name="connsiteY19" fmla="*/ 1604878 h 2087572"/>
                <a:gd name="connsiteX20" fmla="*/ 6872376 w 7566446"/>
                <a:gd name="connsiteY20" fmla="*/ 2056767 h 2087572"/>
                <a:gd name="connsiteX21" fmla="*/ 6991015 w 7566446"/>
                <a:gd name="connsiteY21" fmla="*/ 2087572 h 2087572"/>
                <a:gd name="connsiteX22" fmla="*/ 6999997 w 7566446"/>
                <a:gd name="connsiteY22" fmla="*/ 1882183 h 2087572"/>
                <a:gd name="connsiteX23" fmla="*/ 7507927 w 7566446"/>
                <a:gd name="connsiteY23" fmla="*/ 649262 h 2087572"/>
                <a:gd name="connsiteX24" fmla="*/ 7566446 w 7566446"/>
                <a:gd name="connsiteY24" fmla="*/ 587850 h 2087572"/>
                <a:gd name="connsiteX25" fmla="*/ 7476123 w 7566446"/>
                <a:gd name="connsiteY25" fmla="*/ 569253 h 2087572"/>
                <a:gd name="connsiteX26" fmla="*/ 5217228 w 7566446"/>
                <a:gd name="connsiteY26" fmla="*/ 0 h 20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566446" h="2087572">
                  <a:moveTo>
                    <a:pt x="5217228" y="0"/>
                  </a:moveTo>
                  <a:cubicBezTo>
                    <a:pt x="5147784" y="-32"/>
                    <a:pt x="5075989" y="1809"/>
                    <a:pt x="5001629" y="5729"/>
                  </a:cubicBezTo>
                  <a:cubicBezTo>
                    <a:pt x="4431717" y="35514"/>
                    <a:pt x="4078559" y="192885"/>
                    <a:pt x="3864133" y="351801"/>
                  </a:cubicBezTo>
                  <a:lnTo>
                    <a:pt x="3783223" y="417428"/>
                  </a:lnTo>
                  <a:lnTo>
                    <a:pt x="3702313" y="351801"/>
                  </a:lnTo>
                  <a:cubicBezTo>
                    <a:pt x="3487887" y="192885"/>
                    <a:pt x="3134729" y="35514"/>
                    <a:pt x="2564817" y="5729"/>
                  </a:cubicBezTo>
                  <a:cubicBezTo>
                    <a:pt x="2490457" y="1809"/>
                    <a:pt x="2418662" y="-32"/>
                    <a:pt x="2349218" y="0"/>
                  </a:cubicBezTo>
                  <a:cubicBezTo>
                    <a:pt x="1307564" y="471"/>
                    <a:pt x="795004" y="422266"/>
                    <a:pt x="90323" y="569253"/>
                  </a:cubicBezTo>
                  <a:lnTo>
                    <a:pt x="0" y="587850"/>
                  </a:lnTo>
                  <a:lnTo>
                    <a:pt x="58519" y="649262"/>
                  </a:lnTo>
                  <a:cubicBezTo>
                    <a:pt x="338043" y="972022"/>
                    <a:pt x="524262" y="1402520"/>
                    <a:pt x="566449" y="1882183"/>
                  </a:cubicBezTo>
                  <a:lnTo>
                    <a:pt x="575431" y="2087572"/>
                  </a:lnTo>
                  <a:lnTo>
                    <a:pt x="694070" y="2056767"/>
                  </a:lnTo>
                  <a:cubicBezTo>
                    <a:pt x="1219522" y="1895642"/>
                    <a:pt x="1674783" y="1605248"/>
                    <a:pt x="2494250" y="1604878"/>
                  </a:cubicBezTo>
                  <a:cubicBezTo>
                    <a:pt x="2556686" y="1604849"/>
                    <a:pt x="2621236" y="1606504"/>
                    <a:pt x="2688092" y="1610029"/>
                  </a:cubicBezTo>
                  <a:cubicBezTo>
                    <a:pt x="3127291" y="1632982"/>
                    <a:pt x="3423313" y="1740213"/>
                    <a:pt x="3620333" y="1860358"/>
                  </a:cubicBezTo>
                  <a:lnTo>
                    <a:pt x="3783223" y="1980131"/>
                  </a:lnTo>
                  <a:lnTo>
                    <a:pt x="3946113" y="1860358"/>
                  </a:lnTo>
                  <a:cubicBezTo>
                    <a:pt x="4143133" y="1740213"/>
                    <a:pt x="4439155" y="1632982"/>
                    <a:pt x="4878354" y="1610029"/>
                  </a:cubicBezTo>
                  <a:cubicBezTo>
                    <a:pt x="4945210" y="1606504"/>
                    <a:pt x="5009760" y="1604849"/>
                    <a:pt x="5072196" y="1604878"/>
                  </a:cubicBezTo>
                  <a:cubicBezTo>
                    <a:pt x="5891663" y="1605248"/>
                    <a:pt x="6346924" y="1895642"/>
                    <a:pt x="6872376" y="2056767"/>
                  </a:cubicBezTo>
                  <a:lnTo>
                    <a:pt x="6991015" y="2087572"/>
                  </a:lnTo>
                  <a:lnTo>
                    <a:pt x="6999997" y="1882183"/>
                  </a:lnTo>
                  <a:cubicBezTo>
                    <a:pt x="7042184" y="1402520"/>
                    <a:pt x="7228403" y="972022"/>
                    <a:pt x="7507927" y="649262"/>
                  </a:cubicBezTo>
                  <a:lnTo>
                    <a:pt x="7566446" y="587850"/>
                  </a:lnTo>
                  <a:lnTo>
                    <a:pt x="7476123" y="569253"/>
                  </a:lnTo>
                  <a:cubicBezTo>
                    <a:pt x="6771442" y="422266"/>
                    <a:pt x="6258882" y="471"/>
                    <a:pt x="5217228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3755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F8E76F6-4EB1-58CB-78DB-B0D9B0225210}"/>
              </a:ext>
            </a:extLst>
          </p:cNvPr>
          <p:cNvSpPr txBox="1"/>
          <p:nvPr/>
        </p:nvSpPr>
        <p:spPr>
          <a:xfrm>
            <a:off x="3895481" y="7744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75549"/>
                </a:solidFill>
              </a:defRPr>
            </a:lvl1pPr>
          </a:lstStyle>
          <a:p>
            <a:r>
              <a:rPr lang="zh-CN" altLang="en-US" dirty="0"/>
              <a:t>其他风险评价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55561-C21D-52A6-A18D-9A25081218EB}"/>
              </a:ext>
            </a:extLst>
          </p:cNvPr>
          <p:cNvSpPr txBox="1"/>
          <p:nvPr/>
        </p:nvSpPr>
        <p:spPr>
          <a:xfrm>
            <a:off x="399729" y="264474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37554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2C2171-82E4-4AE1-BB80-4451E3D1A03B}"/>
              </a:ext>
            </a:extLst>
          </p:cNvPr>
          <p:cNvSpPr/>
          <p:nvPr/>
        </p:nvSpPr>
        <p:spPr>
          <a:xfrm>
            <a:off x="1976907" y="2028423"/>
            <a:ext cx="7888310" cy="3721994"/>
          </a:xfrm>
          <a:prstGeom prst="rect">
            <a:avLst/>
          </a:prstGeom>
          <a:solidFill>
            <a:srgbClr val="375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D031E6-33E6-48ED-AE66-C9623244B305}"/>
              </a:ext>
            </a:extLst>
          </p:cNvPr>
          <p:cNvSpPr txBox="1"/>
          <p:nvPr/>
        </p:nvSpPr>
        <p:spPr>
          <a:xfrm>
            <a:off x="2868769" y="2826913"/>
            <a:ext cx="6104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除了房租价格和年营收的变动，还存在着许多无法量化的风险，比如说，越来越多的网咖提出多样性服务（陪玩等），竞争愈加激烈，互联网的普及，手机的智能化也可能对网吧市场产生冲击，此外，行业是否景气，经济政策的相关利率税收等也是潜在的风险，这些风险是很难预估的，因此，本项目还有待进一步完善，以便能在各种风险下稳健运行，产生较为稳定可观的营收。</a:t>
            </a:r>
          </a:p>
        </p:txBody>
      </p:sp>
    </p:spTree>
    <p:extLst>
      <p:ext uri="{BB962C8B-B14F-4D97-AF65-F5344CB8AC3E}">
        <p14:creationId xmlns:p14="http://schemas.microsoft.com/office/powerpoint/2010/main" val="237062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yyad2pv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375549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889</Words>
  <Application>Microsoft Office PowerPoint</Application>
  <PresentationFormat>宽屏</PresentationFormat>
  <Paragraphs>63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HarmonyOS Sans SC Light</vt:lpstr>
      <vt:lpstr>阿里巴巴普惠体 2.0 55 Regular</vt:lpstr>
      <vt:lpstr>等线</vt:lpstr>
      <vt:lpstr>思源宋体 CN Heavy</vt:lpstr>
      <vt:lpstr>Arial</vt:lpstr>
      <vt:lpstr>Noto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简洁学术风开题报告毕业答辩通用型PPT模板</dc:title>
  <dc:creator>©51PPT模板网（www.51pptmoban.com）</dc:creator>
  <cp:keywords>版权归属：51PPT模板网</cp:keywords>
  <dc:description>51PPT模板网，幻灯片演示模板及素材免费下载！_x000d_
51PPT模板网 唯一访问网址：www.51pptmoban.com</dc:description>
  <cp:lastModifiedBy>泽辉</cp:lastModifiedBy>
  <cp:revision>120</cp:revision>
  <dcterms:created xsi:type="dcterms:W3CDTF">2024-03-10T08:45:12Z</dcterms:created>
  <dcterms:modified xsi:type="dcterms:W3CDTF">2026-03-19T09:28:05Z</dcterms:modified>
  <cp:contentStatus>简洁学术风开题报告毕业答辩通用型PPT模板，www.51pptmoban.com</cp:contentStatus>
  <cp:version>51pptmoban.com（V51PPT-031001版）</cp:version>
</cp:coreProperties>
</file>