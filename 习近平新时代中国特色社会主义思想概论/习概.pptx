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48" r:id="rId1"/>
  </p:sldMasterIdLst>
  <p:sldIdLst>
    <p:sldId id="256" r:id="rId2"/>
    <p:sldId id="257" r:id="rId3"/>
    <p:sldId id="258" r:id="rId4"/>
    <p:sldId id="259" r:id="rId5"/>
    <p:sldId id="269" r:id="rId6"/>
    <p:sldId id="266" r:id="rId7"/>
    <p:sldId id="262" r:id="rId8"/>
    <p:sldId id="260" r:id="rId9"/>
    <p:sldId id="267" r:id="rId10"/>
    <p:sldId id="261" r:id="rId11"/>
    <p:sldId id="268" r:id="rId12"/>
    <p:sldId id="263" r:id="rId13"/>
    <p:sldId id="270" r:id="rId14"/>
    <p:sldId id="265" r:id="rId15"/>
  </p:sldIdLst>
  <p:sldSz cx="12192000" cy="6858000"/>
  <p:notesSz cx="6858000" cy="9144000"/>
  <p:embeddedFontLst>
    <p:embeddedFont>
      <p:font typeface="方正粗黑宋简体" panose="02010600030101010101" charset="-122"/>
      <p:regular r:id="rId16"/>
    </p:embeddedFont>
    <p:embeddedFont>
      <p:font typeface="Abadi" panose="020B0604020104020204" pitchFamily="34" charset="0"/>
      <p:regular r:id="rId17"/>
    </p:embeddedFont>
    <p:embeddedFont>
      <p:font typeface="Calibri" panose="020F0502020204030204" pitchFamily="34" charset="0"/>
      <p:regular r:id="rId18"/>
      <p:bold r:id="rId19"/>
      <p:italic r:id="rId20"/>
      <p:boldItalic r:id="rId21"/>
    </p:embeddedFont>
    <p:embeddedFont>
      <p:font typeface="等线" panose="02010600030101010101" pitchFamily="2" charset="-122"/>
      <p:regular r:id="rId22"/>
      <p:bold r:id="rId23"/>
    </p:embeddedFont>
    <p:embeddedFont>
      <p:font typeface="微软雅黑" panose="020B0503020204020204" pitchFamily="34" charset="-122"/>
      <p:regular r:id="rId24"/>
      <p:bold r:id="rId25"/>
    </p:embeddedFont>
    <p:embeddedFont>
      <p:font typeface="新宋体" panose="02010609030101010101" pitchFamily="49" charset="-122"/>
      <p:regular r:id="rId2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9412"/>
    <a:srgbClr val="FDF2D7"/>
    <a:srgbClr val="B72522"/>
    <a:srgbClr val="F38457"/>
    <a:srgbClr val="FF4B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9" d="100"/>
          <a:sy n="99" d="100"/>
        </p:scale>
        <p:origin x="5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commentAuthors" Target="commentAuthors.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3860B22-C432-463A-97B2-7160B4EDBF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22"/>
            <a:ext cx="12192000" cy="6857355"/>
          </a:xfrm>
          <a:prstGeom prst="rect">
            <a:avLst/>
          </a:prstGeom>
        </p:spPr>
      </p:pic>
    </p:spTree>
    <p:extLst>
      <p:ext uri="{BB962C8B-B14F-4D97-AF65-F5344CB8AC3E}">
        <p14:creationId xmlns:p14="http://schemas.microsoft.com/office/powerpoint/2010/main" val="1165261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600B3-0E18-45D1-AA89-5935AFEF022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BF90C13-A51F-4B5F-ABA9-D8F8138AEF1C}"/>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4A6769D-EB0E-4048-A634-2508A2478CE1}"/>
              </a:ext>
            </a:extLst>
          </p:cNvPr>
          <p:cNvSpPr>
            <a:spLocks noGrp="1"/>
          </p:cNvSpPr>
          <p:nvPr>
            <p:ph type="dt" sz="half" idx="10"/>
          </p:nvPr>
        </p:nvSpPr>
        <p:spPr/>
        <p:txBody>
          <a:bodyPr/>
          <a:lstStyle/>
          <a:p>
            <a:fld id="{F0533B7C-58D3-4F4E-8C0A-6CD3675F6E82}" type="datetimeFigureOut">
              <a:rPr lang="zh-CN" altLang="en-US" smtClean="0"/>
              <a:t>2026/3/19</a:t>
            </a:fld>
            <a:endParaRPr lang="zh-CN" altLang="en-US"/>
          </a:p>
        </p:txBody>
      </p:sp>
      <p:sp>
        <p:nvSpPr>
          <p:cNvPr id="5" name="页脚占位符 4">
            <a:extLst>
              <a:ext uri="{FF2B5EF4-FFF2-40B4-BE49-F238E27FC236}">
                <a16:creationId xmlns:a16="http://schemas.microsoft.com/office/drawing/2014/main" id="{9D9D02AE-A563-477E-AF6E-979A8BA70F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6FDF38-9C31-4F66-81EF-879BAB4A889E}"/>
              </a:ext>
            </a:extLst>
          </p:cNvPr>
          <p:cNvSpPr>
            <a:spLocks noGrp="1"/>
          </p:cNvSpPr>
          <p:nvPr>
            <p:ph type="sldNum" sz="quarter" idx="12"/>
          </p:nvPr>
        </p:nvSpPr>
        <p:spPr/>
        <p:txBody>
          <a:bodyPr/>
          <a:lstStyle/>
          <a:p>
            <a:fld id="{626DFBA2-C26A-4798-B4A9-A2B1EAF7A0FC}" type="slidenum">
              <a:rPr lang="zh-CN" altLang="en-US" smtClean="0"/>
              <a:t>‹#›</a:t>
            </a:fld>
            <a:endParaRPr lang="zh-CN" altLang="en-US"/>
          </a:p>
        </p:txBody>
      </p:sp>
    </p:spTree>
    <p:extLst>
      <p:ext uri="{BB962C8B-B14F-4D97-AF65-F5344CB8AC3E}">
        <p14:creationId xmlns:p14="http://schemas.microsoft.com/office/powerpoint/2010/main" val="4241377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F320DC-AD1C-41DF-BC2A-B4A60842B63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CD72345-6F0C-46B1-A14B-41FF1D3C97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0C961B5F-E780-4D4B-8D1A-0EC508D685BC}"/>
              </a:ext>
            </a:extLst>
          </p:cNvPr>
          <p:cNvSpPr>
            <a:spLocks noGrp="1"/>
          </p:cNvSpPr>
          <p:nvPr>
            <p:ph type="dt" sz="half" idx="10"/>
          </p:nvPr>
        </p:nvSpPr>
        <p:spPr/>
        <p:txBody>
          <a:bodyPr/>
          <a:lstStyle/>
          <a:p>
            <a:fld id="{F0533B7C-58D3-4F4E-8C0A-6CD3675F6E82}" type="datetimeFigureOut">
              <a:rPr lang="zh-CN" altLang="en-US" smtClean="0"/>
              <a:t>2026/3/19</a:t>
            </a:fld>
            <a:endParaRPr lang="zh-CN" altLang="en-US"/>
          </a:p>
        </p:txBody>
      </p:sp>
      <p:sp>
        <p:nvSpPr>
          <p:cNvPr id="5" name="页脚占位符 4">
            <a:extLst>
              <a:ext uri="{FF2B5EF4-FFF2-40B4-BE49-F238E27FC236}">
                <a16:creationId xmlns:a16="http://schemas.microsoft.com/office/drawing/2014/main" id="{ADAA2CC0-B1F3-4F05-A40B-2B487C8165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D39093-B330-4191-B355-C0FDA45053B9}"/>
              </a:ext>
            </a:extLst>
          </p:cNvPr>
          <p:cNvSpPr>
            <a:spLocks noGrp="1"/>
          </p:cNvSpPr>
          <p:nvPr>
            <p:ph type="sldNum" sz="quarter" idx="12"/>
          </p:nvPr>
        </p:nvSpPr>
        <p:spPr/>
        <p:txBody>
          <a:bodyPr/>
          <a:lstStyle/>
          <a:p>
            <a:fld id="{626DFBA2-C26A-4798-B4A9-A2B1EAF7A0FC}" type="slidenum">
              <a:rPr lang="zh-CN" altLang="en-US" smtClean="0"/>
              <a:t>‹#›</a:t>
            </a:fld>
            <a:endParaRPr lang="zh-CN" altLang="en-US"/>
          </a:p>
        </p:txBody>
      </p:sp>
    </p:spTree>
    <p:extLst>
      <p:ext uri="{BB962C8B-B14F-4D97-AF65-F5344CB8AC3E}">
        <p14:creationId xmlns:p14="http://schemas.microsoft.com/office/powerpoint/2010/main" val="4009429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6AFD83-0D70-4B12-A00A-C8EBFF13DD4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900178-FB91-42D6-A80C-8EB5B5F49060}"/>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2DE3F80D-AED4-4C68-A5D0-6B0833B8647A}"/>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5FFAE11C-4374-4A97-BAB4-DFCF1855577E}"/>
              </a:ext>
            </a:extLst>
          </p:cNvPr>
          <p:cNvSpPr>
            <a:spLocks noGrp="1"/>
          </p:cNvSpPr>
          <p:nvPr>
            <p:ph type="dt" sz="half" idx="10"/>
          </p:nvPr>
        </p:nvSpPr>
        <p:spPr/>
        <p:txBody>
          <a:bodyPr/>
          <a:lstStyle/>
          <a:p>
            <a:fld id="{F0533B7C-58D3-4F4E-8C0A-6CD3675F6E82}" type="datetimeFigureOut">
              <a:rPr lang="zh-CN" altLang="en-US" smtClean="0"/>
              <a:t>2026/3/19</a:t>
            </a:fld>
            <a:endParaRPr lang="zh-CN" altLang="en-US"/>
          </a:p>
        </p:txBody>
      </p:sp>
      <p:sp>
        <p:nvSpPr>
          <p:cNvPr id="6" name="页脚占位符 5">
            <a:extLst>
              <a:ext uri="{FF2B5EF4-FFF2-40B4-BE49-F238E27FC236}">
                <a16:creationId xmlns:a16="http://schemas.microsoft.com/office/drawing/2014/main" id="{26D7B9EE-95C8-4C1F-BB43-8C039EBA2F3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9A1B05B-760B-46E8-97F9-2A7C960D7AC7}"/>
              </a:ext>
            </a:extLst>
          </p:cNvPr>
          <p:cNvSpPr>
            <a:spLocks noGrp="1"/>
          </p:cNvSpPr>
          <p:nvPr>
            <p:ph type="sldNum" sz="quarter" idx="12"/>
          </p:nvPr>
        </p:nvSpPr>
        <p:spPr/>
        <p:txBody>
          <a:bodyPr/>
          <a:lstStyle/>
          <a:p>
            <a:fld id="{626DFBA2-C26A-4798-B4A9-A2B1EAF7A0FC}" type="slidenum">
              <a:rPr lang="zh-CN" altLang="en-US" smtClean="0"/>
              <a:t>‹#›</a:t>
            </a:fld>
            <a:endParaRPr lang="zh-CN" altLang="en-US"/>
          </a:p>
        </p:txBody>
      </p:sp>
    </p:spTree>
    <p:extLst>
      <p:ext uri="{BB962C8B-B14F-4D97-AF65-F5344CB8AC3E}">
        <p14:creationId xmlns:p14="http://schemas.microsoft.com/office/powerpoint/2010/main" val="1489461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0D0952-850D-47B8-AB60-EB40CE7A587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9843144-E6AD-431D-8C8E-BBAAF2A386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78D0441-7AD9-437E-AA5E-EF769CD1AAAB}"/>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291C2269-57C5-485F-8D68-8C7996CBDB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427E5AC9-3AC2-4B96-8A7C-3C8EE93F88D4}"/>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4522C8F7-6E30-49A6-AA44-843909CB6F5E}"/>
              </a:ext>
            </a:extLst>
          </p:cNvPr>
          <p:cNvSpPr>
            <a:spLocks noGrp="1"/>
          </p:cNvSpPr>
          <p:nvPr>
            <p:ph type="dt" sz="half" idx="10"/>
          </p:nvPr>
        </p:nvSpPr>
        <p:spPr/>
        <p:txBody>
          <a:bodyPr/>
          <a:lstStyle/>
          <a:p>
            <a:fld id="{F0533B7C-58D3-4F4E-8C0A-6CD3675F6E82}" type="datetimeFigureOut">
              <a:rPr lang="zh-CN" altLang="en-US" smtClean="0"/>
              <a:t>2026/3/19</a:t>
            </a:fld>
            <a:endParaRPr lang="zh-CN" altLang="en-US"/>
          </a:p>
        </p:txBody>
      </p:sp>
      <p:sp>
        <p:nvSpPr>
          <p:cNvPr id="8" name="页脚占位符 7">
            <a:extLst>
              <a:ext uri="{FF2B5EF4-FFF2-40B4-BE49-F238E27FC236}">
                <a16:creationId xmlns:a16="http://schemas.microsoft.com/office/drawing/2014/main" id="{3262DE36-4DA8-4915-A78A-56E9D46D46A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B2E8190-D3E3-4726-A04C-6AF1DFD8703D}"/>
              </a:ext>
            </a:extLst>
          </p:cNvPr>
          <p:cNvSpPr>
            <a:spLocks noGrp="1"/>
          </p:cNvSpPr>
          <p:nvPr>
            <p:ph type="sldNum" sz="quarter" idx="12"/>
          </p:nvPr>
        </p:nvSpPr>
        <p:spPr/>
        <p:txBody>
          <a:bodyPr/>
          <a:lstStyle/>
          <a:p>
            <a:fld id="{626DFBA2-C26A-4798-B4A9-A2B1EAF7A0FC}" type="slidenum">
              <a:rPr lang="zh-CN" altLang="en-US" smtClean="0"/>
              <a:t>‹#›</a:t>
            </a:fld>
            <a:endParaRPr lang="zh-CN" altLang="en-US"/>
          </a:p>
        </p:txBody>
      </p:sp>
    </p:spTree>
    <p:extLst>
      <p:ext uri="{BB962C8B-B14F-4D97-AF65-F5344CB8AC3E}">
        <p14:creationId xmlns:p14="http://schemas.microsoft.com/office/powerpoint/2010/main" val="2423657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683135-0E40-48D5-87B8-180037C3744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F24E7C7-DF18-4FD6-B4F9-CD62987CA561}"/>
              </a:ext>
            </a:extLst>
          </p:cNvPr>
          <p:cNvSpPr>
            <a:spLocks noGrp="1"/>
          </p:cNvSpPr>
          <p:nvPr>
            <p:ph type="dt" sz="half" idx="10"/>
          </p:nvPr>
        </p:nvSpPr>
        <p:spPr/>
        <p:txBody>
          <a:bodyPr/>
          <a:lstStyle/>
          <a:p>
            <a:fld id="{F0533B7C-58D3-4F4E-8C0A-6CD3675F6E82}" type="datetimeFigureOut">
              <a:rPr lang="zh-CN" altLang="en-US" smtClean="0"/>
              <a:t>2026/3/19</a:t>
            </a:fld>
            <a:endParaRPr lang="zh-CN" altLang="en-US"/>
          </a:p>
        </p:txBody>
      </p:sp>
      <p:sp>
        <p:nvSpPr>
          <p:cNvPr id="4" name="页脚占位符 3">
            <a:extLst>
              <a:ext uri="{FF2B5EF4-FFF2-40B4-BE49-F238E27FC236}">
                <a16:creationId xmlns:a16="http://schemas.microsoft.com/office/drawing/2014/main" id="{033E3BA1-D0DA-499F-9185-0F2FE2249DC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A6BE409-7A89-479A-B3C8-2DBF96C0E587}"/>
              </a:ext>
            </a:extLst>
          </p:cNvPr>
          <p:cNvSpPr>
            <a:spLocks noGrp="1"/>
          </p:cNvSpPr>
          <p:nvPr>
            <p:ph type="sldNum" sz="quarter" idx="12"/>
          </p:nvPr>
        </p:nvSpPr>
        <p:spPr/>
        <p:txBody>
          <a:bodyPr/>
          <a:lstStyle/>
          <a:p>
            <a:fld id="{626DFBA2-C26A-4798-B4A9-A2B1EAF7A0FC}" type="slidenum">
              <a:rPr lang="zh-CN" altLang="en-US" smtClean="0"/>
              <a:t>‹#›</a:t>
            </a:fld>
            <a:endParaRPr lang="zh-CN" altLang="en-US"/>
          </a:p>
        </p:txBody>
      </p:sp>
    </p:spTree>
    <p:extLst>
      <p:ext uri="{BB962C8B-B14F-4D97-AF65-F5344CB8AC3E}">
        <p14:creationId xmlns:p14="http://schemas.microsoft.com/office/powerpoint/2010/main" val="4043862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D4795F6-1098-448A-9932-95D92D781332}"/>
              </a:ext>
            </a:extLst>
          </p:cNvPr>
          <p:cNvSpPr>
            <a:spLocks noGrp="1"/>
          </p:cNvSpPr>
          <p:nvPr>
            <p:ph type="dt" sz="half" idx="10"/>
          </p:nvPr>
        </p:nvSpPr>
        <p:spPr/>
        <p:txBody>
          <a:bodyPr/>
          <a:lstStyle/>
          <a:p>
            <a:fld id="{F0533B7C-58D3-4F4E-8C0A-6CD3675F6E82}" type="datetimeFigureOut">
              <a:rPr lang="zh-CN" altLang="en-US" smtClean="0"/>
              <a:t>2026/3/19</a:t>
            </a:fld>
            <a:endParaRPr lang="zh-CN" altLang="en-US"/>
          </a:p>
        </p:txBody>
      </p:sp>
      <p:sp>
        <p:nvSpPr>
          <p:cNvPr id="3" name="页脚占位符 2">
            <a:extLst>
              <a:ext uri="{FF2B5EF4-FFF2-40B4-BE49-F238E27FC236}">
                <a16:creationId xmlns:a16="http://schemas.microsoft.com/office/drawing/2014/main" id="{331C9DCA-8E10-4ACF-84C0-71A0C2ACDAE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C95410B-F828-4810-B9DB-27FD20B5EB5F}"/>
              </a:ext>
            </a:extLst>
          </p:cNvPr>
          <p:cNvSpPr>
            <a:spLocks noGrp="1"/>
          </p:cNvSpPr>
          <p:nvPr>
            <p:ph type="sldNum" sz="quarter" idx="12"/>
          </p:nvPr>
        </p:nvSpPr>
        <p:spPr/>
        <p:txBody>
          <a:bodyPr/>
          <a:lstStyle/>
          <a:p>
            <a:fld id="{626DFBA2-C26A-4798-B4A9-A2B1EAF7A0FC}" type="slidenum">
              <a:rPr lang="zh-CN" altLang="en-US" smtClean="0"/>
              <a:t>‹#›</a:t>
            </a:fld>
            <a:endParaRPr lang="zh-CN" altLang="en-US"/>
          </a:p>
        </p:txBody>
      </p:sp>
    </p:spTree>
    <p:extLst>
      <p:ext uri="{BB962C8B-B14F-4D97-AF65-F5344CB8AC3E}">
        <p14:creationId xmlns:p14="http://schemas.microsoft.com/office/powerpoint/2010/main" val="3881545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50F5BF-856E-4DB9-816F-9552B741ACD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9A96D4E-3D3C-4020-A1D8-1A80E81FC5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DB146229-AC2F-45A0-A490-B1755DEF98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6527AED-BC0A-42AE-8D31-442BD61DCCEB}"/>
              </a:ext>
            </a:extLst>
          </p:cNvPr>
          <p:cNvSpPr>
            <a:spLocks noGrp="1"/>
          </p:cNvSpPr>
          <p:nvPr>
            <p:ph type="dt" sz="half" idx="10"/>
          </p:nvPr>
        </p:nvSpPr>
        <p:spPr/>
        <p:txBody>
          <a:bodyPr/>
          <a:lstStyle/>
          <a:p>
            <a:fld id="{F0533B7C-58D3-4F4E-8C0A-6CD3675F6E82}" type="datetimeFigureOut">
              <a:rPr lang="zh-CN" altLang="en-US" smtClean="0"/>
              <a:t>2026/3/19</a:t>
            </a:fld>
            <a:endParaRPr lang="zh-CN" altLang="en-US"/>
          </a:p>
        </p:txBody>
      </p:sp>
      <p:sp>
        <p:nvSpPr>
          <p:cNvPr id="6" name="页脚占位符 5">
            <a:extLst>
              <a:ext uri="{FF2B5EF4-FFF2-40B4-BE49-F238E27FC236}">
                <a16:creationId xmlns:a16="http://schemas.microsoft.com/office/drawing/2014/main" id="{58966CAB-3D20-4309-BC7C-241352A4D6A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E1BFCBA-2AC5-4AF0-BAFE-72BD77F05486}"/>
              </a:ext>
            </a:extLst>
          </p:cNvPr>
          <p:cNvSpPr>
            <a:spLocks noGrp="1"/>
          </p:cNvSpPr>
          <p:nvPr>
            <p:ph type="sldNum" sz="quarter" idx="12"/>
          </p:nvPr>
        </p:nvSpPr>
        <p:spPr/>
        <p:txBody>
          <a:bodyPr/>
          <a:lstStyle/>
          <a:p>
            <a:fld id="{626DFBA2-C26A-4798-B4A9-A2B1EAF7A0FC}" type="slidenum">
              <a:rPr lang="zh-CN" altLang="en-US" smtClean="0"/>
              <a:t>‹#›</a:t>
            </a:fld>
            <a:endParaRPr lang="zh-CN" altLang="en-US"/>
          </a:p>
        </p:txBody>
      </p:sp>
    </p:spTree>
    <p:extLst>
      <p:ext uri="{BB962C8B-B14F-4D97-AF65-F5344CB8AC3E}">
        <p14:creationId xmlns:p14="http://schemas.microsoft.com/office/powerpoint/2010/main" val="3144955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4AC1ED-D4F5-489A-850F-BD5590A85B2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4B6C51C-67B6-4EF9-BD85-D028B2D63C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02A9515-AF8E-4A8E-8508-1972BFEAF0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0ECC0DA-FA28-45DE-8EC4-FE1561C39B23}"/>
              </a:ext>
            </a:extLst>
          </p:cNvPr>
          <p:cNvSpPr>
            <a:spLocks noGrp="1"/>
          </p:cNvSpPr>
          <p:nvPr>
            <p:ph type="dt" sz="half" idx="10"/>
          </p:nvPr>
        </p:nvSpPr>
        <p:spPr/>
        <p:txBody>
          <a:bodyPr/>
          <a:lstStyle/>
          <a:p>
            <a:fld id="{F0533B7C-58D3-4F4E-8C0A-6CD3675F6E82}" type="datetimeFigureOut">
              <a:rPr lang="zh-CN" altLang="en-US" smtClean="0"/>
              <a:t>2026/3/19</a:t>
            </a:fld>
            <a:endParaRPr lang="zh-CN" altLang="en-US"/>
          </a:p>
        </p:txBody>
      </p:sp>
      <p:sp>
        <p:nvSpPr>
          <p:cNvPr id="6" name="页脚占位符 5">
            <a:extLst>
              <a:ext uri="{FF2B5EF4-FFF2-40B4-BE49-F238E27FC236}">
                <a16:creationId xmlns:a16="http://schemas.microsoft.com/office/drawing/2014/main" id="{ADEA6FC5-57C8-4015-961D-4DC8C232FAC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3BFBE9B-9FBF-4AFB-AFCE-1BC0FFA50F69}"/>
              </a:ext>
            </a:extLst>
          </p:cNvPr>
          <p:cNvSpPr>
            <a:spLocks noGrp="1"/>
          </p:cNvSpPr>
          <p:nvPr>
            <p:ph type="sldNum" sz="quarter" idx="12"/>
          </p:nvPr>
        </p:nvSpPr>
        <p:spPr/>
        <p:txBody>
          <a:bodyPr/>
          <a:lstStyle/>
          <a:p>
            <a:fld id="{626DFBA2-C26A-4798-B4A9-A2B1EAF7A0FC}" type="slidenum">
              <a:rPr lang="zh-CN" altLang="en-US" smtClean="0"/>
              <a:t>‹#›</a:t>
            </a:fld>
            <a:endParaRPr lang="zh-CN" altLang="en-US"/>
          </a:p>
        </p:txBody>
      </p:sp>
    </p:spTree>
    <p:extLst>
      <p:ext uri="{BB962C8B-B14F-4D97-AF65-F5344CB8AC3E}">
        <p14:creationId xmlns:p14="http://schemas.microsoft.com/office/powerpoint/2010/main" val="3309833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E04D29-EF71-4972-AB7A-D147F1CCB9E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8AFC1CD-B65E-4F06-8E54-C2A614FE7E8B}"/>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AA28167-3908-41DE-8CBD-7CE6C3469CBD}"/>
              </a:ext>
            </a:extLst>
          </p:cNvPr>
          <p:cNvSpPr>
            <a:spLocks noGrp="1"/>
          </p:cNvSpPr>
          <p:nvPr>
            <p:ph type="dt" sz="half" idx="10"/>
          </p:nvPr>
        </p:nvSpPr>
        <p:spPr/>
        <p:txBody>
          <a:bodyPr/>
          <a:lstStyle/>
          <a:p>
            <a:fld id="{F0533B7C-58D3-4F4E-8C0A-6CD3675F6E82}" type="datetimeFigureOut">
              <a:rPr lang="zh-CN" altLang="en-US" smtClean="0"/>
              <a:t>2026/3/19</a:t>
            </a:fld>
            <a:endParaRPr lang="zh-CN" altLang="en-US"/>
          </a:p>
        </p:txBody>
      </p:sp>
      <p:sp>
        <p:nvSpPr>
          <p:cNvPr id="5" name="页脚占位符 4">
            <a:extLst>
              <a:ext uri="{FF2B5EF4-FFF2-40B4-BE49-F238E27FC236}">
                <a16:creationId xmlns:a16="http://schemas.microsoft.com/office/drawing/2014/main" id="{77AC2C92-3239-480B-8874-3BDF37281EF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96078ED-C802-4194-A6B4-C834561787C1}"/>
              </a:ext>
            </a:extLst>
          </p:cNvPr>
          <p:cNvSpPr>
            <a:spLocks noGrp="1"/>
          </p:cNvSpPr>
          <p:nvPr>
            <p:ph type="sldNum" sz="quarter" idx="12"/>
          </p:nvPr>
        </p:nvSpPr>
        <p:spPr/>
        <p:txBody>
          <a:bodyPr/>
          <a:lstStyle/>
          <a:p>
            <a:fld id="{626DFBA2-C26A-4798-B4A9-A2B1EAF7A0FC}" type="slidenum">
              <a:rPr lang="zh-CN" altLang="en-US" smtClean="0"/>
              <a:t>‹#›</a:t>
            </a:fld>
            <a:endParaRPr lang="zh-CN" altLang="en-US"/>
          </a:p>
        </p:txBody>
      </p:sp>
    </p:spTree>
    <p:extLst>
      <p:ext uri="{BB962C8B-B14F-4D97-AF65-F5344CB8AC3E}">
        <p14:creationId xmlns:p14="http://schemas.microsoft.com/office/powerpoint/2010/main" val="1428359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8FF5FEB-8CB9-4599-A8D9-A5FBDF9FFE6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0F2B995-A02E-4BB8-8506-F74EB2BBC07C}"/>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9392DAB-2836-49FD-BF5E-68C4C0C47485}"/>
              </a:ext>
            </a:extLst>
          </p:cNvPr>
          <p:cNvSpPr>
            <a:spLocks noGrp="1"/>
          </p:cNvSpPr>
          <p:nvPr>
            <p:ph type="dt" sz="half" idx="10"/>
          </p:nvPr>
        </p:nvSpPr>
        <p:spPr/>
        <p:txBody>
          <a:bodyPr/>
          <a:lstStyle/>
          <a:p>
            <a:fld id="{F0533B7C-58D3-4F4E-8C0A-6CD3675F6E82}" type="datetimeFigureOut">
              <a:rPr lang="zh-CN" altLang="en-US" smtClean="0"/>
              <a:t>2026/3/19</a:t>
            </a:fld>
            <a:endParaRPr lang="zh-CN" altLang="en-US"/>
          </a:p>
        </p:txBody>
      </p:sp>
      <p:sp>
        <p:nvSpPr>
          <p:cNvPr id="5" name="页脚占位符 4">
            <a:extLst>
              <a:ext uri="{FF2B5EF4-FFF2-40B4-BE49-F238E27FC236}">
                <a16:creationId xmlns:a16="http://schemas.microsoft.com/office/drawing/2014/main" id="{B918C8A1-BD8E-41B7-84B9-D161C2D6BC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B298EC-6CD9-4527-B208-3BD20CE2369A}"/>
              </a:ext>
            </a:extLst>
          </p:cNvPr>
          <p:cNvSpPr>
            <a:spLocks noGrp="1"/>
          </p:cNvSpPr>
          <p:nvPr>
            <p:ph type="sldNum" sz="quarter" idx="12"/>
          </p:nvPr>
        </p:nvSpPr>
        <p:spPr/>
        <p:txBody>
          <a:bodyPr/>
          <a:lstStyle/>
          <a:p>
            <a:fld id="{626DFBA2-C26A-4798-B4A9-A2B1EAF7A0FC}" type="slidenum">
              <a:rPr lang="zh-CN" altLang="en-US" smtClean="0"/>
              <a:t>‹#›</a:t>
            </a:fld>
            <a:endParaRPr lang="zh-CN" altLang="en-US"/>
          </a:p>
        </p:txBody>
      </p:sp>
    </p:spTree>
    <p:extLst>
      <p:ext uri="{BB962C8B-B14F-4D97-AF65-F5344CB8AC3E}">
        <p14:creationId xmlns:p14="http://schemas.microsoft.com/office/powerpoint/2010/main" val="3773274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98A4480-F63D-4F3C-89E2-254EAB9DAC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2CBEECE5-40D0-40C3-ACF1-4F754043E4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E18E1AB3-DF94-4178-99C6-7D80811CEE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F0533B7C-58D3-4F4E-8C0A-6CD3675F6E82}" type="datetimeFigureOut">
              <a:rPr lang="zh-CN" altLang="en-US" smtClean="0"/>
              <a:pPr/>
              <a:t>2026/3/19</a:t>
            </a:fld>
            <a:endParaRPr lang="zh-CN" altLang="en-US" dirty="0"/>
          </a:p>
        </p:txBody>
      </p:sp>
      <p:sp>
        <p:nvSpPr>
          <p:cNvPr id="5" name="页脚占位符 4">
            <a:extLst>
              <a:ext uri="{FF2B5EF4-FFF2-40B4-BE49-F238E27FC236}">
                <a16:creationId xmlns:a16="http://schemas.microsoft.com/office/drawing/2014/main" id="{39B72FBF-640D-4A67-B2FB-A7EEF6932F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a:extLst>
              <a:ext uri="{FF2B5EF4-FFF2-40B4-BE49-F238E27FC236}">
                <a16:creationId xmlns:a16="http://schemas.microsoft.com/office/drawing/2014/main" id="{81098F91-7E1A-4B56-8E72-904571DDE4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626DFBA2-C26A-4798-B4A9-A2B1EAF7A0FC}" type="slidenum">
              <a:rPr lang="zh-CN" altLang="en-US" smtClean="0"/>
              <a:pPr/>
              <a:t>‹#›</a:t>
            </a:fld>
            <a:endParaRPr lang="zh-CN" altLang="en-US" dirty="0"/>
          </a:p>
        </p:txBody>
      </p:sp>
    </p:spTree>
    <p:extLst>
      <p:ext uri="{BB962C8B-B14F-4D97-AF65-F5344CB8AC3E}">
        <p14:creationId xmlns:p14="http://schemas.microsoft.com/office/powerpoint/2010/main" val="3735292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openxmlformats.org/officeDocument/2006/relationships/hyperlink" Target="https://zh.wikipedia.org/wiki/%E7%B8%BD%E9%AB%94%E5%9C%8B%E5%AE%B6%E5%AE%89%E5%85%A8%E8%A7%80" TargetMode="External"/><Relationship Id="rId13" Type="http://schemas.openxmlformats.org/officeDocument/2006/relationships/hyperlink" Target="https://zh.wikipedia.org/wiki/%E4%B8%AD%E5%9B%BD%E7%89%B9%E8%89%B2%E7%A4%BE%E4%BC%9A%E4%B8%BB%E4%B9%89" TargetMode="External"/><Relationship Id="rId18" Type="http://schemas.openxmlformats.org/officeDocument/2006/relationships/hyperlink" Target="https://zh.wikipedia.org/wiki/%E4%B8%AD%E5%9B%BD%E5%BC%8F%E7%8E%B0%E4%BB%A3%E5%8C%96" TargetMode="External"/><Relationship Id="rId26" Type="http://schemas.openxmlformats.org/officeDocument/2006/relationships/hyperlink" Target="https://zh.wikipedia.org/wiki/%E6%96%B0%E5%8F%91%E5%B1%95%E6%A0%BC%E5%B1%80" TargetMode="External"/><Relationship Id="rId3" Type="http://schemas.openxmlformats.org/officeDocument/2006/relationships/hyperlink" Target="https://zh.wikipedia.org/wiki/%E4%B8%AD%E5%85%B1%E4%B8%AD%E5%A4%AE%E5%85%B3%E4%BA%8E%E5%85%A8%E9%9D%A2%E6%B7%B1%E5%8C%96%E6%94%B9%E9%9D%A9%E8%8B%A5%E5%B9%B2%E9%87%8D%E5%A4%A7%E9%97%AE%E9%A2%98%E7%9A%84%E5%86%B3%E5%AE%9A" TargetMode="External"/><Relationship Id="rId21" Type="http://schemas.openxmlformats.org/officeDocument/2006/relationships/hyperlink" Target="https://zh.wikipedia.org/wiki/%E3%80%8C%E4%BA%94%E4%BD%8D%E4%B8%80%E9%AB%94%E3%80%8D%E7%B8%BD%E9%AB%94%E5%B8%83%E5%B1%80" TargetMode="External"/><Relationship Id="rId7" Type="http://schemas.openxmlformats.org/officeDocument/2006/relationships/hyperlink" Target="https://zh.wikipedia.org/wiki/%E7%A4%BE%E4%BC%9A%E4%B8%BB%E4%B9%89%E6%A0%B8%E5%BF%83%E4%BB%B7%E5%80%BC%E4%BD%93%E7%B3%BB" TargetMode="External"/><Relationship Id="rId12" Type="http://schemas.openxmlformats.org/officeDocument/2006/relationships/hyperlink" Target="https://zh.wikipedia.org/wiki/%E5%85%A8%E9%9D%A2%E4%BB%8E%E4%B8%A5%E6%B2%BB%E5%85%9A" TargetMode="External"/><Relationship Id="rId17" Type="http://schemas.openxmlformats.org/officeDocument/2006/relationships/hyperlink" Target="https://zh.wikipedia.org/wiki/%E4%B8%AD%E5%8D%8E%E6%B0%91%E6%97%8F%E4%BC%9F%E5%A4%A7%E5%A4%8D%E5%85%B4" TargetMode="External"/><Relationship Id="rId25" Type="http://schemas.openxmlformats.org/officeDocument/2006/relationships/hyperlink" Target="https://zh.wikipedia.org/wiki/%E6%B3%95%E6%B2%BB%E5%9B%BD" TargetMode="External"/><Relationship Id="rId2" Type="http://schemas.openxmlformats.org/officeDocument/2006/relationships/hyperlink" Target="https://zh.wikipedia.org/wiki/%E5%85%9A%E9%A2%86%E5%AF%BC%E4%B8%80%E5%88%87" TargetMode="External"/><Relationship Id="rId16" Type="http://schemas.openxmlformats.org/officeDocument/2006/relationships/hyperlink" Target="https://zh.wikipedia.org/wiki/%E5%85%A9%E5%80%8B%E7%B6%AD%E8%AD%B7" TargetMode="External"/><Relationship Id="rId20" Type="http://schemas.openxmlformats.org/officeDocument/2006/relationships/hyperlink" Target="https://zh.wikipedia.org/wiki/%E5%85%B1%E5%90%8C%E5%AF%8C%E8%A3%95" TargetMode="External"/><Relationship Id="rId29" Type="http://schemas.openxmlformats.org/officeDocument/2006/relationships/hyperlink" Target="https://zh.wikipedia.org/wiki/%E4%B8%AD%E5%8D%8E%E4%BA%BA%E6%B0%91%E5%85%B1%E5%92%8C%E5%9B%BD%E5%A4%96%E4%BA%A4" TargetMode="External"/><Relationship Id="rId1" Type="http://schemas.openxmlformats.org/officeDocument/2006/relationships/slideLayout" Target="../slideLayouts/slideLayout1.xml"/><Relationship Id="rId6" Type="http://schemas.openxmlformats.org/officeDocument/2006/relationships/hyperlink" Target="https://zh.wikipedia.org/wiki/%E4%BB%A5%E6%B3%95%E8%80%8C%E6%B2%BB" TargetMode="External"/><Relationship Id="rId11" Type="http://schemas.openxmlformats.org/officeDocument/2006/relationships/hyperlink" Target="https://zh.wikipedia.org/wiki/%E4%BA%BA%E7%B1%BB%E5%91%BD%E8%BF%90%E5%85%B1%E5%90%8C%E4%BD%93" TargetMode="External"/><Relationship Id="rId24" Type="http://schemas.openxmlformats.org/officeDocument/2006/relationships/hyperlink" Target="https://zh.wikipedia.org/wiki/%E7%AC%AC%E4%BA%94%E4%B8%AA%E7%8E%B0%E4%BB%A3%E5%8C%96_(%E4%B8%AD%E5%9B%BD%E5%85%B1%E4%BA%A7%E5%85%9A)" TargetMode="External"/><Relationship Id="rId5" Type="http://schemas.openxmlformats.org/officeDocument/2006/relationships/hyperlink" Target="https://zh.wikipedia.org/wiki/%E4%BA%BA%E6%B0%91%E5%BD%93%E5%AE%B6%E4%BD%9C%E4%B8%BB" TargetMode="External"/><Relationship Id="rId15" Type="http://schemas.openxmlformats.org/officeDocument/2006/relationships/hyperlink" Target="https://zh.wikipedia.org/wiki/%E5%9B%9B%E4%B8%AA%E8%87%AA%E4%BF%A1" TargetMode="External"/><Relationship Id="rId23" Type="http://schemas.openxmlformats.org/officeDocument/2006/relationships/hyperlink" Target="https://zh.wikipedia.org/wiki/%E5%85%A8%E9%9D%A2%E6%B7%B1%E5%8C%96%E6%94%B9%E9%9D%A9" TargetMode="External"/><Relationship Id="rId28" Type="http://schemas.openxmlformats.org/officeDocument/2006/relationships/hyperlink" Target="https://zh.wikipedia.org/wiki/%E4%B8%AD%E5%9B%BD%E4%BA%BA%E6%B0%91%E8%A7%A3%E6%94%BE%E5%86%9B" TargetMode="External"/><Relationship Id="rId10" Type="http://schemas.openxmlformats.org/officeDocument/2006/relationships/hyperlink" Target="https://zh.wikipedia.org/wiki/%E4%B8%AD%E5%9B%BD%E7%BB%9F%E4%B8%80" TargetMode="External"/><Relationship Id="rId19" Type="http://schemas.openxmlformats.org/officeDocument/2006/relationships/hyperlink" Target="https://zh.wikipedia.org/wiki/%E5%85%A8%E8%BF%87%E7%A8%8B%E4%BA%BA%E6%B0%91%E6%B0%91%E4%B8%BB" TargetMode="External"/><Relationship Id="rId4" Type="http://schemas.openxmlformats.org/officeDocument/2006/relationships/hyperlink" Target="https://zh.wikipedia.org/wiki/%E6%96%B0%E5%8F%91%E5%B1%95%E7%90%86%E5%BF%B5" TargetMode="External"/><Relationship Id="rId9" Type="http://schemas.openxmlformats.org/officeDocument/2006/relationships/hyperlink" Target="https://zh.wikipedia.org/wiki/%E4%B8%80%E5%9B%BD%E4%B8%A4%E5%88%B6" TargetMode="External"/><Relationship Id="rId14" Type="http://schemas.openxmlformats.org/officeDocument/2006/relationships/hyperlink" Target="https://zh.wikipedia.org/wiki/%E5%9B%9B%E4%B8%AA%E6%84%8F%E8%AF%86" TargetMode="External"/><Relationship Id="rId22" Type="http://schemas.openxmlformats.org/officeDocument/2006/relationships/hyperlink" Target="https://zh.wikipedia.org/wiki/%E2%80%9C%E5%9B%9B%E4%B8%AA%E5%85%A8%E9%9D%A2%E2%80%9D%E6%88%98%E7%95%A5%E5%B8%83%E5%B1%80" TargetMode="External"/><Relationship Id="rId27" Type="http://schemas.openxmlformats.org/officeDocument/2006/relationships/hyperlink" Target="https://zh.wikipedia.org/wiki/%E5%90%AC%E5%85%9A%E6%8C%87%E6%8C%A5%E3%80%81%E8%83%BD%E6%89%93%E8%83%9C%E4%BB%97%E3%80%81%E4%BD%9C%E9%A3%8E%E4%BC%98%E8%89%AF" TargetMode="External"/><Relationship Id="rId30" Type="http://schemas.openxmlformats.org/officeDocument/2006/relationships/hyperlink" Target="https://zh.wikipedia.org/wiki/%E6%96%B0%E5%9E%8B%E5%9C%8B%E9%9A%9B%E9%97%9C%E4%BF%82"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slideLayout" Target="../slideLayouts/slideLayout1.xml"/><Relationship Id="rId7" Type="http://schemas.openxmlformats.org/officeDocument/2006/relationships/image" Target="../media/image9.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jpeg"/></Relationships>
</file>

<file path=ppt/slides/_rels/slide6.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12.jpeg"/><Relationship Id="rId7" Type="http://schemas.openxmlformats.org/officeDocument/2006/relationships/image" Target="../media/image16.jp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5.jpg"/><Relationship Id="rId5" Type="http://schemas.openxmlformats.org/officeDocument/2006/relationships/image" Target="../media/image14.jpeg"/><Relationship Id="rId10" Type="http://schemas.openxmlformats.org/officeDocument/2006/relationships/image" Target="../media/image19.jpg"/><Relationship Id="rId4" Type="http://schemas.openxmlformats.org/officeDocument/2006/relationships/image" Target="../media/image13.jpeg"/><Relationship Id="rId9" Type="http://schemas.openxmlformats.org/officeDocument/2006/relationships/image" Target="../media/image18.jp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稻壳儿搜索【幻雨工作室】_1">
            <a:extLst>
              <a:ext uri="{FF2B5EF4-FFF2-40B4-BE49-F238E27FC236}">
                <a16:creationId xmlns:a16="http://schemas.microsoft.com/office/drawing/2014/main" id="{08A19377-B2E9-4AB1-B0C6-0DC75424EC6D}"/>
              </a:ext>
            </a:extLst>
          </p:cNvPr>
          <p:cNvPicPr>
            <a:picLocks noChangeAspect="1"/>
          </p:cNvPicPr>
          <p:nvPr/>
        </p:nvPicPr>
        <p:blipFill>
          <a:blip r:embed="rId2"/>
          <a:stretch>
            <a:fillRect/>
          </a:stretch>
        </p:blipFill>
        <p:spPr>
          <a:xfrm>
            <a:off x="1135474" y="1794623"/>
            <a:ext cx="1445624" cy="1456577"/>
          </a:xfrm>
          <a:prstGeom prst="rect">
            <a:avLst/>
          </a:prstGeom>
        </p:spPr>
      </p:pic>
      <p:pic>
        <p:nvPicPr>
          <p:cNvPr id="9" name="稻壳儿搜索【幻雨工作室】_2">
            <a:extLst>
              <a:ext uri="{FF2B5EF4-FFF2-40B4-BE49-F238E27FC236}">
                <a16:creationId xmlns:a16="http://schemas.microsoft.com/office/drawing/2014/main" id="{9B347C1F-3EFD-4B36-812C-4C7FDD08B84C}"/>
              </a:ext>
            </a:extLst>
          </p:cNvPr>
          <p:cNvPicPr>
            <a:picLocks noChangeAspect="1"/>
          </p:cNvPicPr>
          <p:nvPr/>
        </p:nvPicPr>
        <p:blipFill>
          <a:blip r:embed="rId2"/>
          <a:stretch>
            <a:fillRect/>
          </a:stretch>
        </p:blipFill>
        <p:spPr>
          <a:xfrm>
            <a:off x="2830560" y="1794623"/>
            <a:ext cx="1445624" cy="1456577"/>
          </a:xfrm>
          <a:prstGeom prst="rect">
            <a:avLst/>
          </a:prstGeom>
        </p:spPr>
      </p:pic>
      <p:pic>
        <p:nvPicPr>
          <p:cNvPr id="10" name="稻壳儿搜索【幻雨工作室】_3">
            <a:extLst>
              <a:ext uri="{FF2B5EF4-FFF2-40B4-BE49-F238E27FC236}">
                <a16:creationId xmlns:a16="http://schemas.microsoft.com/office/drawing/2014/main" id="{8A9BDDEB-0A53-439F-B13D-18D02D1C7C0E}"/>
              </a:ext>
            </a:extLst>
          </p:cNvPr>
          <p:cNvPicPr>
            <a:picLocks noChangeAspect="1"/>
          </p:cNvPicPr>
          <p:nvPr/>
        </p:nvPicPr>
        <p:blipFill>
          <a:blip r:embed="rId2"/>
          <a:stretch>
            <a:fillRect/>
          </a:stretch>
        </p:blipFill>
        <p:spPr>
          <a:xfrm>
            <a:off x="4525645" y="1794623"/>
            <a:ext cx="1445624" cy="1456577"/>
          </a:xfrm>
          <a:prstGeom prst="rect">
            <a:avLst/>
          </a:prstGeom>
        </p:spPr>
      </p:pic>
      <p:pic>
        <p:nvPicPr>
          <p:cNvPr id="11" name="稻壳儿搜索【幻雨工作室】_4">
            <a:extLst>
              <a:ext uri="{FF2B5EF4-FFF2-40B4-BE49-F238E27FC236}">
                <a16:creationId xmlns:a16="http://schemas.microsoft.com/office/drawing/2014/main" id="{FD52E8FE-1908-41A4-849A-1824B89EE2C0}"/>
              </a:ext>
            </a:extLst>
          </p:cNvPr>
          <p:cNvPicPr>
            <a:picLocks noChangeAspect="1"/>
          </p:cNvPicPr>
          <p:nvPr/>
        </p:nvPicPr>
        <p:blipFill>
          <a:blip r:embed="rId2"/>
          <a:stretch>
            <a:fillRect/>
          </a:stretch>
        </p:blipFill>
        <p:spPr>
          <a:xfrm>
            <a:off x="6220731" y="1794623"/>
            <a:ext cx="1445624" cy="1456577"/>
          </a:xfrm>
          <a:prstGeom prst="rect">
            <a:avLst/>
          </a:prstGeom>
        </p:spPr>
      </p:pic>
      <p:pic>
        <p:nvPicPr>
          <p:cNvPr id="12" name="稻壳儿搜索【幻雨工作室】_5">
            <a:extLst>
              <a:ext uri="{FF2B5EF4-FFF2-40B4-BE49-F238E27FC236}">
                <a16:creationId xmlns:a16="http://schemas.microsoft.com/office/drawing/2014/main" id="{D9796E19-42E0-480E-B690-6D72E8917C2F}"/>
              </a:ext>
            </a:extLst>
          </p:cNvPr>
          <p:cNvPicPr>
            <a:picLocks noChangeAspect="1"/>
          </p:cNvPicPr>
          <p:nvPr/>
        </p:nvPicPr>
        <p:blipFill>
          <a:blip r:embed="rId2"/>
          <a:stretch>
            <a:fillRect/>
          </a:stretch>
        </p:blipFill>
        <p:spPr>
          <a:xfrm>
            <a:off x="7915816" y="1794623"/>
            <a:ext cx="1445624" cy="1456577"/>
          </a:xfrm>
          <a:prstGeom prst="rect">
            <a:avLst/>
          </a:prstGeom>
        </p:spPr>
      </p:pic>
      <p:pic>
        <p:nvPicPr>
          <p:cNvPr id="14" name="稻壳儿搜索【幻雨工作室】_6">
            <a:extLst>
              <a:ext uri="{FF2B5EF4-FFF2-40B4-BE49-F238E27FC236}">
                <a16:creationId xmlns:a16="http://schemas.microsoft.com/office/drawing/2014/main" id="{0EB490A2-B62D-4FE0-9CF6-CD96799DE71E}"/>
              </a:ext>
            </a:extLst>
          </p:cNvPr>
          <p:cNvPicPr>
            <a:picLocks noChangeAspect="1"/>
          </p:cNvPicPr>
          <p:nvPr/>
        </p:nvPicPr>
        <p:blipFill>
          <a:blip r:embed="rId2"/>
          <a:stretch>
            <a:fillRect/>
          </a:stretch>
        </p:blipFill>
        <p:spPr>
          <a:xfrm>
            <a:off x="9610902" y="1794623"/>
            <a:ext cx="1445624" cy="1456577"/>
          </a:xfrm>
          <a:prstGeom prst="rect">
            <a:avLst/>
          </a:prstGeom>
        </p:spPr>
      </p:pic>
      <p:sp>
        <p:nvSpPr>
          <p:cNvPr id="13" name="稻壳儿搜索【幻雨工作室】_7">
            <a:extLst>
              <a:ext uri="{FF2B5EF4-FFF2-40B4-BE49-F238E27FC236}">
                <a16:creationId xmlns:a16="http://schemas.microsoft.com/office/drawing/2014/main" id="{4D83A3DD-3960-46D9-9E85-3A83B99A8A48}"/>
              </a:ext>
            </a:extLst>
          </p:cNvPr>
          <p:cNvSpPr txBox="1"/>
          <p:nvPr/>
        </p:nvSpPr>
        <p:spPr>
          <a:xfrm>
            <a:off x="1221441" y="1737214"/>
            <a:ext cx="9749118" cy="1446550"/>
          </a:xfrm>
          <a:prstGeom prst="rect">
            <a:avLst/>
          </a:prstGeom>
          <a:noFill/>
        </p:spPr>
        <p:txBody>
          <a:bodyPr wrap="square" rtlCol="0">
            <a:spAutoFit/>
          </a:bodyPr>
          <a:lstStyle/>
          <a:p>
            <a:pPr algn="dist"/>
            <a:r>
              <a:rPr lang="zh-CN" altLang="en-US" sz="8800" b="1">
                <a:solidFill>
                  <a:srgbClr val="B72522"/>
                </a:solidFill>
                <a:effectLst>
                  <a:outerShdw blurRad="63500" sx="102000" sy="102000" algn="ctr" rotWithShape="0">
                    <a:prstClr val="black">
                      <a:alpha val="10000"/>
                    </a:prstClr>
                  </a:outerShdw>
                </a:effectLst>
                <a:latin typeface="新宋体" panose="02010609030101010101" pitchFamily="49" charset="-122"/>
                <a:ea typeface="新宋体" panose="02010609030101010101" pitchFamily="49" charset="-122"/>
              </a:rPr>
              <a:t>习新思想展示</a:t>
            </a:r>
            <a:endParaRPr lang="zh-CN" altLang="en-US" sz="8800" b="1" dirty="0">
              <a:solidFill>
                <a:srgbClr val="B72522"/>
              </a:solidFill>
              <a:effectLst>
                <a:outerShdw blurRad="63500" sx="102000" sy="102000" algn="ctr" rotWithShape="0">
                  <a:prstClr val="black">
                    <a:alpha val="10000"/>
                  </a:prstClr>
                </a:outerShdw>
              </a:effectLst>
              <a:latin typeface="新宋体" panose="02010609030101010101" pitchFamily="49" charset="-122"/>
              <a:ea typeface="新宋体" panose="02010609030101010101" pitchFamily="49" charset="-122"/>
            </a:endParaRPr>
          </a:p>
        </p:txBody>
      </p:sp>
      <p:sp>
        <p:nvSpPr>
          <p:cNvPr id="18" name="稻壳儿搜索【幻雨工作室】_8">
            <a:extLst>
              <a:ext uri="{FF2B5EF4-FFF2-40B4-BE49-F238E27FC236}">
                <a16:creationId xmlns:a16="http://schemas.microsoft.com/office/drawing/2014/main" id="{FA6FA9B8-8743-4997-9523-3457744AA1E8}"/>
              </a:ext>
            </a:extLst>
          </p:cNvPr>
          <p:cNvSpPr/>
          <p:nvPr/>
        </p:nvSpPr>
        <p:spPr>
          <a:xfrm>
            <a:off x="3359656" y="3639452"/>
            <a:ext cx="5472688" cy="1569660"/>
          </a:xfrm>
          <a:prstGeom prst="rect">
            <a:avLst/>
          </a:prstGeom>
        </p:spPr>
        <p:txBody>
          <a:bodyPr wrap="square">
            <a:spAutoFit/>
          </a:bodyPr>
          <a:lstStyle/>
          <a:p>
            <a:pPr algn="ctr"/>
            <a:r>
              <a:rPr lang="zh-CN" altLang="en-US" sz="3200">
                <a:latin typeface="宋体" panose="02010600030101010101" pitchFamily="2" charset="-122"/>
                <a:ea typeface="宋体" panose="02010600030101010101" pitchFamily="2" charset="-122"/>
              </a:rPr>
              <a:t>习近平新时代中国特色社会主义思想在浙江的重要萌发与实践探索</a:t>
            </a:r>
            <a:endParaRPr lang="zh-CN" altLang="en-US" sz="3200" dirty="0">
              <a:latin typeface="宋体" panose="02010600030101010101" pitchFamily="2" charset="-122"/>
              <a:ea typeface="宋体" panose="02010600030101010101" pitchFamily="2" charset="-122"/>
            </a:endParaRPr>
          </a:p>
        </p:txBody>
      </p:sp>
      <p:cxnSp>
        <p:nvCxnSpPr>
          <p:cNvPr id="24" name="稻壳儿搜索【幻雨工作室】_9">
            <a:extLst>
              <a:ext uri="{FF2B5EF4-FFF2-40B4-BE49-F238E27FC236}">
                <a16:creationId xmlns:a16="http://schemas.microsoft.com/office/drawing/2014/main" id="{EC6623B2-7161-4285-B9C9-7F3628A2CCF5}"/>
              </a:ext>
            </a:extLst>
          </p:cNvPr>
          <p:cNvCxnSpPr>
            <a:cxnSpLocks/>
          </p:cNvCxnSpPr>
          <p:nvPr/>
        </p:nvCxnSpPr>
        <p:spPr>
          <a:xfrm>
            <a:off x="8922926" y="4108753"/>
            <a:ext cx="2133600" cy="0"/>
          </a:xfrm>
          <a:prstGeom prst="line">
            <a:avLst/>
          </a:prstGeom>
          <a:ln w="25400">
            <a:solidFill>
              <a:srgbClr val="B72522"/>
            </a:solidFill>
          </a:ln>
        </p:spPr>
        <p:style>
          <a:lnRef idx="1">
            <a:schemeClr val="accent1"/>
          </a:lnRef>
          <a:fillRef idx="0">
            <a:schemeClr val="accent1"/>
          </a:fillRef>
          <a:effectRef idx="0">
            <a:schemeClr val="accent1"/>
          </a:effectRef>
          <a:fontRef idx="minor">
            <a:schemeClr val="tx1"/>
          </a:fontRef>
        </p:style>
      </p:cxnSp>
      <p:cxnSp>
        <p:nvCxnSpPr>
          <p:cNvPr id="26" name="稻壳儿搜索【幻雨工作室】_10">
            <a:extLst>
              <a:ext uri="{FF2B5EF4-FFF2-40B4-BE49-F238E27FC236}">
                <a16:creationId xmlns:a16="http://schemas.microsoft.com/office/drawing/2014/main" id="{5E65CAD9-724A-4356-82DD-814096CED1BE}"/>
              </a:ext>
            </a:extLst>
          </p:cNvPr>
          <p:cNvCxnSpPr>
            <a:cxnSpLocks/>
          </p:cNvCxnSpPr>
          <p:nvPr/>
        </p:nvCxnSpPr>
        <p:spPr>
          <a:xfrm>
            <a:off x="1144485" y="4162577"/>
            <a:ext cx="2133600" cy="0"/>
          </a:xfrm>
          <a:prstGeom prst="line">
            <a:avLst/>
          </a:prstGeom>
          <a:ln w="25400">
            <a:solidFill>
              <a:srgbClr val="B72522"/>
            </a:solidFill>
          </a:ln>
        </p:spPr>
        <p:style>
          <a:lnRef idx="1">
            <a:schemeClr val="accent1"/>
          </a:lnRef>
          <a:fillRef idx="0">
            <a:schemeClr val="accent1"/>
          </a:fillRef>
          <a:effectRef idx="0">
            <a:schemeClr val="accent1"/>
          </a:effectRef>
          <a:fontRef idx="minor">
            <a:schemeClr val="tx1"/>
          </a:fontRef>
        </p:style>
      </p:cxnSp>
      <p:sp>
        <p:nvSpPr>
          <p:cNvPr id="27" name="稻壳儿搜索【幻雨工作室】_11">
            <a:extLst>
              <a:ext uri="{FF2B5EF4-FFF2-40B4-BE49-F238E27FC236}">
                <a16:creationId xmlns:a16="http://schemas.microsoft.com/office/drawing/2014/main" id="{01983518-499B-467F-BCBF-2E93BEAC1E2F}"/>
              </a:ext>
            </a:extLst>
          </p:cNvPr>
          <p:cNvSpPr txBox="1"/>
          <p:nvPr/>
        </p:nvSpPr>
        <p:spPr>
          <a:xfrm>
            <a:off x="8806251" y="5353046"/>
            <a:ext cx="3174082" cy="405945"/>
          </a:xfrm>
          <a:prstGeom prst="rect">
            <a:avLst/>
          </a:prstGeom>
          <a:noFill/>
        </p:spPr>
        <p:txBody>
          <a:bodyPr wrap="square" rtlCol="0">
            <a:spAutoFit/>
          </a:bodyPr>
          <a:lstStyle/>
          <a:p>
            <a:pPr algn="ctr">
              <a:lnSpc>
                <a:spcPct val="200000"/>
              </a:lnSpc>
            </a:pPr>
            <a:r>
              <a:rPr lang="zh-CN" altLang="en-US" sz="1200">
                <a:solidFill>
                  <a:schemeClr val="tx1">
                    <a:lumMod val="85000"/>
                    <a:lumOff val="15000"/>
                  </a:schemeClr>
                </a:solidFill>
                <a:latin typeface="微软雅黑" panose="020B0503020204020204" pitchFamily="34" charset="-122"/>
                <a:ea typeface="微软雅黑" panose="020B0503020204020204" pitchFamily="34" charset="-122"/>
                <a:cs typeface="Arial" panose="020B0604020202020204" pitchFamily="34" charset="0"/>
              </a:rPr>
              <a:t>团队成员：</a:t>
            </a:r>
            <a:r>
              <a:rPr lang="en-US" altLang="zh-CN" sz="1200">
                <a:solidFill>
                  <a:schemeClr val="tx1">
                    <a:lumMod val="85000"/>
                    <a:lumOff val="15000"/>
                  </a:schemeClr>
                </a:solidFill>
                <a:latin typeface="微软雅黑" panose="020B0503020204020204" pitchFamily="34" charset="-122"/>
                <a:ea typeface="微软雅黑" panose="020B0503020204020204" pitchFamily="34" charset="-122"/>
                <a:cs typeface="Arial" panose="020B0604020202020204" pitchFamily="34" charset="0"/>
              </a:rPr>
              <a:t>xx</a:t>
            </a:r>
            <a:endPar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331943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稻壳儿搜索【幻雨工作室】_1">
            <a:extLst>
              <a:ext uri="{FF2B5EF4-FFF2-40B4-BE49-F238E27FC236}">
                <a16:creationId xmlns:a16="http://schemas.microsoft.com/office/drawing/2014/main" id="{F058FE6B-FBC7-42CA-A87F-624A4BDF49FB}"/>
              </a:ext>
            </a:extLst>
          </p:cNvPr>
          <p:cNvGrpSpPr/>
          <p:nvPr/>
        </p:nvGrpSpPr>
        <p:grpSpPr>
          <a:xfrm>
            <a:off x="4923473" y="661594"/>
            <a:ext cx="2345055" cy="1087574"/>
            <a:chOff x="1135474" y="1883523"/>
            <a:chExt cx="3140710" cy="1456577"/>
          </a:xfrm>
        </p:grpSpPr>
        <p:pic>
          <p:nvPicPr>
            <p:cNvPr id="8" name="图片 7">
              <a:extLst>
                <a:ext uri="{FF2B5EF4-FFF2-40B4-BE49-F238E27FC236}">
                  <a16:creationId xmlns:a16="http://schemas.microsoft.com/office/drawing/2014/main" id="{08A19377-B2E9-4AB1-B0C6-0DC75424EC6D}"/>
                </a:ext>
              </a:extLst>
            </p:cNvPr>
            <p:cNvPicPr>
              <a:picLocks noChangeAspect="1"/>
            </p:cNvPicPr>
            <p:nvPr/>
          </p:nvPicPr>
          <p:blipFill>
            <a:blip r:embed="rId2"/>
            <a:stretch>
              <a:fillRect/>
            </a:stretch>
          </p:blipFill>
          <p:spPr>
            <a:xfrm>
              <a:off x="1135474" y="1883523"/>
              <a:ext cx="1445624" cy="1456577"/>
            </a:xfrm>
            <a:prstGeom prst="rect">
              <a:avLst/>
            </a:prstGeom>
          </p:spPr>
        </p:pic>
        <p:pic>
          <p:nvPicPr>
            <p:cNvPr id="9" name="图片 8">
              <a:extLst>
                <a:ext uri="{FF2B5EF4-FFF2-40B4-BE49-F238E27FC236}">
                  <a16:creationId xmlns:a16="http://schemas.microsoft.com/office/drawing/2014/main" id="{9B347C1F-3EFD-4B36-812C-4C7FDD08B84C}"/>
                </a:ext>
              </a:extLst>
            </p:cNvPr>
            <p:cNvPicPr>
              <a:picLocks noChangeAspect="1"/>
            </p:cNvPicPr>
            <p:nvPr/>
          </p:nvPicPr>
          <p:blipFill>
            <a:blip r:embed="rId2"/>
            <a:stretch>
              <a:fillRect/>
            </a:stretch>
          </p:blipFill>
          <p:spPr>
            <a:xfrm>
              <a:off x="2830560" y="1883523"/>
              <a:ext cx="1445624" cy="1456577"/>
            </a:xfrm>
            <a:prstGeom prst="rect">
              <a:avLst/>
            </a:prstGeom>
          </p:spPr>
        </p:pic>
        <p:sp>
          <p:nvSpPr>
            <p:cNvPr id="13" name="文本框 12">
              <a:extLst>
                <a:ext uri="{FF2B5EF4-FFF2-40B4-BE49-F238E27FC236}">
                  <a16:creationId xmlns:a16="http://schemas.microsoft.com/office/drawing/2014/main" id="{4D83A3DD-3960-46D9-9E85-3A83B99A8A48}"/>
                </a:ext>
              </a:extLst>
            </p:cNvPr>
            <p:cNvSpPr txBox="1"/>
            <p:nvPr/>
          </p:nvSpPr>
          <p:spPr>
            <a:xfrm>
              <a:off x="1184586" y="1883523"/>
              <a:ext cx="3042485" cy="1360267"/>
            </a:xfrm>
            <a:prstGeom prst="rect">
              <a:avLst/>
            </a:prstGeom>
            <a:noFill/>
          </p:spPr>
          <p:txBody>
            <a:bodyPr wrap="square" rtlCol="0">
              <a:spAutoFit/>
            </a:bodyPr>
            <a:lstStyle/>
            <a:p>
              <a:pPr algn="dist"/>
              <a:r>
                <a:rPr lang="zh-CN" altLang="en-US" sz="6000" b="1" dirty="0">
                  <a:solidFill>
                    <a:srgbClr val="B72522"/>
                  </a:solidFill>
                  <a:effectLst>
                    <a:outerShdw blurRad="63500" sx="102000" sy="102000" algn="ctr" rotWithShape="0">
                      <a:prstClr val="black">
                        <a:alpha val="10000"/>
                      </a:prstClr>
                    </a:outerShdw>
                  </a:effectLst>
                  <a:latin typeface="新宋体" panose="02010609030101010101" pitchFamily="49" charset="-122"/>
                  <a:ea typeface="新宋体" panose="02010609030101010101" pitchFamily="49" charset="-122"/>
                </a:rPr>
                <a:t>目录</a:t>
              </a:r>
            </a:p>
          </p:txBody>
        </p:sp>
      </p:grpSp>
      <p:sp>
        <p:nvSpPr>
          <p:cNvPr id="15" name="稻壳儿搜索【幻雨工作室】_2">
            <a:extLst>
              <a:ext uri="{FF2B5EF4-FFF2-40B4-BE49-F238E27FC236}">
                <a16:creationId xmlns:a16="http://schemas.microsoft.com/office/drawing/2014/main" id="{9EF47B50-0CD6-42B7-881C-50A3A90DA831}"/>
              </a:ext>
            </a:extLst>
          </p:cNvPr>
          <p:cNvSpPr/>
          <p:nvPr/>
        </p:nvSpPr>
        <p:spPr>
          <a:xfrm>
            <a:off x="3241718" y="2718718"/>
            <a:ext cx="628650" cy="628650"/>
          </a:xfrm>
          <a:prstGeom prst="rect">
            <a:avLst/>
          </a:prstGeom>
          <a:solidFill>
            <a:srgbClr val="B72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Arial" panose="020B0604020202020204" pitchFamily="34" charset="0"/>
                <a:ea typeface="微软雅黑" panose="020B0503020204020204" pitchFamily="34" charset="-122"/>
                <a:cs typeface="Arial" panose="020B0604020202020204" pitchFamily="34" charset="0"/>
              </a:rPr>
              <a:t>01</a:t>
            </a:r>
            <a:endParaRPr lang="zh-CN" altLang="en-US"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6" name="稻壳儿搜索【幻雨工作室】_3">
            <a:extLst>
              <a:ext uri="{FF2B5EF4-FFF2-40B4-BE49-F238E27FC236}">
                <a16:creationId xmlns:a16="http://schemas.microsoft.com/office/drawing/2014/main" id="{31D2D7D9-A9A9-40FE-910D-02E8DA38CCB6}"/>
              </a:ext>
            </a:extLst>
          </p:cNvPr>
          <p:cNvSpPr txBox="1"/>
          <p:nvPr/>
        </p:nvSpPr>
        <p:spPr>
          <a:xfrm>
            <a:off x="3976023" y="2783568"/>
            <a:ext cx="1107996" cy="369332"/>
          </a:xfrm>
          <a:prstGeom prst="rect">
            <a:avLst/>
          </a:prstGeom>
          <a:noFill/>
        </p:spPr>
        <p:txBody>
          <a:bodyPr wrap="none" rtlCol="0">
            <a:spAutoFit/>
          </a:bodyPr>
          <a:lstStyle/>
          <a:p>
            <a:r>
              <a:rPr lang="zh-CN" altLang="en-US">
                <a:solidFill>
                  <a:schemeClr val="tx1">
                    <a:lumMod val="85000"/>
                    <a:lumOff val="15000"/>
                  </a:schemeClr>
                </a:solidFill>
                <a:latin typeface="微软雅黑" panose="020B0503020204020204" pitchFamily="34" charset="-122"/>
                <a:ea typeface="微软雅黑" panose="020B0503020204020204" pitchFamily="34" charset="-122"/>
              </a:rPr>
              <a:t>理论之光</a:t>
            </a: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0" name="稻壳儿搜索【幻雨工作室】_4">
            <a:extLst>
              <a:ext uri="{FF2B5EF4-FFF2-40B4-BE49-F238E27FC236}">
                <a16:creationId xmlns:a16="http://schemas.microsoft.com/office/drawing/2014/main" id="{CB68F90C-6201-45BE-B66C-47FD79CC6EC7}"/>
              </a:ext>
            </a:extLst>
          </p:cNvPr>
          <p:cNvSpPr txBox="1"/>
          <p:nvPr/>
        </p:nvSpPr>
        <p:spPr>
          <a:xfrm>
            <a:off x="3976023" y="3133749"/>
            <a:ext cx="1080745" cy="215444"/>
          </a:xfrm>
          <a:prstGeom prst="rect">
            <a:avLst/>
          </a:prstGeom>
          <a:noFill/>
        </p:spPr>
        <p:txBody>
          <a:bodyPr wrap="none" rtlCol="0">
            <a:spAutoFit/>
          </a:bodyPr>
          <a:lstStyle/>
          <a:p>
            <a:r>
              <a:rPr lang="en-US" altLang="zh-CN" sz="80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The Light of Theory</a:t>
            </a:r>
            <a:endParaRPr lang="zh-CN" altLang="en-US" sz="800"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1" name="稻壳儿搜索【幻雨工作室】_5">
            <a:extLst>
              <a:ext uri="{FF2B5EF4-FFF2-40B4-BE49-F238E27FC236}">
                <a16:creationId xmlns:a16="http://schemas.microsoft.com/office/drawing/2014/main" id="{8B3361A0-47F5-4A21-A57C-3C83809C98F7}"/>
              </a:ext>
            </a:extLst>
          </p:cNvPr>
          <p:cNvSpPr/>
          <p:nvPr/>
        </p:nvSpPr>
        <p:spPr>
          <a:xfrm>
            <a:off x="7051718" y="2718718"/>
            <a:ext cx="628650" cy="628650"/>
          </a:xfrm>
          <a:prstGeom prst="rect">
            <a:avLst/>
          </a:prstGeom>
          <a:solidFill>
            <a:srgbClr val="B72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Arial" panose="020B0604020202020204" pitchFamily="34" charset="0"/>
                <a:ea typeface="微软雅黑" panose="020B0503020204020204" pitchFamily="34" charset="-122"/>
                <a:cs typeface="Arial" panose="020B0604020202020204" pitchFamily="34" charset="0"/>
              </a:rPr>
              <a:t>02</a:t>
            </a:r>
            <a:endParaRPr lang="zh-CN" altLang="en-US"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22" name="稻壳儿搜索【幻雨工作室】_6">
            <a:extLst>
              <a:ext uri="{FF2B5EF4-FFF2-40B4-BE49-F238E27FC236}">
                <a16:creationId xmlns:a16="http://schemas.microsoft.com/office/drawing/2014/main" id="{6FB7F161-C31C-4BC8-BA88-967C55044527}"/>
              </a:ext>
            </a:extLst>
          </p:cNvPr>
          <p:cNvSpPr txBox="1"/>
          <p:nvPr/>
        </p:nvSpPr>
        <p:spPr>
          <a:xfrm>
            <a:off x="7786023" y="2783568"/>
            <a:ext cx="1107996" cy="369332"/>
          </a:xfrm>
          <a:prstGeom prst="rect">
            <a:avLst/>
          </a:prstGeom>
          <a:noFill/>
        </p:spPr>
        <p:txBody>
          <a:bodyPr wrap="none" rtlCol="0">
            <a:spAutoFit/>
          </a:bodyPr>
          <a:lstStyle/>
          <a:p>
            <a:r>
              <a:rPr lang="zh-CN" altLang="en-US">
                <a:solidFill>
                  <a:schemeClr val="tx1">
                    <a:lumMod val="85000"/>
                    <a:lumOff val="15000"/>
                  </a:schemeClr>
                </a:solidFill>
                <a:latin typeface="微软雅黑" panose="020B0503020204020204" pitchFamily="34" charset="-122"/>
                <a:ea typeface="微软雅黑" panose="020B0503020204020204" pitchFamily="34" charset="-122"/>
              </a:rPr>
              <a:t>思想之源</a:t>
            </a: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3" name="稻壳儿搜索【幻雨工作室】_7">
            <a:extLst>
              <a:ext uri="{FF2B5EF4-FFF2-40B4-BE49-F238E27FC236}">
                <a16:creationId xmlns:a16="http://schemas.microsoft.com/office/drawing/2014/main" id="{382A6E41-95BF-472A-8797-88E135D897E4}"/>
              </a:ext>
            </a:extLst>
          </p:cNvPr>
          <p:cNvSpPr txBox="1"/>
          <p:nvPr/>
        </p:nvSpPr>
        <p:spPr>
          <a:xfrm>
            <a:off x="7786023" y="3133749"/>
            <a:ext cx="1191352" cy="215444"/>
          </a:xfrm>
          <a:prstGeom prst="rect">
            <a:avLst/>
          </a:prstGeom>
          <a:noFill/>
        </p:spPr>
        <p:txBody>
          <a:bodyPr wrap="none" rtlCol="0">
            <a:spAutoFit/>
          </a:bodyPr>
          <a:lstStyle/>
          <a:p>
            <a:r>
              <a:rPr lang="en-US" altLang="zh-CN" sz="80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The source of thought</a:t>
            </a:r>
            <a:endParaRPr lang="zh-CN" altLang="en-US" sz="800"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5" name="稻壳儿搜索【幻雨工作室】_8">
            <a:extLst>
              <a:ext uri="{FF2B5EF4-FFF2-40B4-BE49-F238E27FC236}">
                <a16:creationId xmlns:a16="http://schemas.microsoft.com/office/drawing/2014/main" id="{5327575F-82BB-49E0-ADD1-EBE250B538D1}"/>
              </a:ext>
            </a:extLst>
          </p:cNvPr>
          <p:cNvSpPr/>
          <p:nvPr/>
        </p:nvSpPr>
        <p:spPr>
          <a:xfrm>
            <a:off x="3241718" y="4181841"/>
            <a:ext cx="628650" cy="628650"/>
          </a:xfrm>
          <a:prstGeom prst="rect">
            <a:avLst/>
          </a:prstGeom>
          <a:solidFill>
            <a:srgbClr val="B72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Arial" panose="020B0604020202020204" pitchFamily="34" charset="0"/>
                <a:ea typeface="微软雅黑" panose="020B0503020204020204" pitchFamily="34" charset="-122"/>
                <a:cs typeface="Arial" panose="020B0604020202020204" pitchFamily="34" charset="0"/>
              </a:rPr>
              <a:t>03</a:t>
            </a:r>
            <a:endParaRPr lang="zh-CN" altLang="en-US"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27" name="稻壳儿搜索【幻雨工作室】_9">
            <a:extLst>
              <a:ext uri="{FF2B5EF4-FFF2-40B4-BE49-F238E27FC236}">
                <a16:creationId xmlns:a16="http://schemas.microsoft.com/office/drawing/2014/main" id="{74FF074C-1525-4B83-BE06-8A9011C4AF9F}"/>
              </a:ext>
            </a:extLst>
          </p:cNvPr>
          <p:cNvSpPr txBox="1"/>
          <p:nvPr/>
        </p:nvSpPr>
        <p:spPr>
          <a:xfrm>
            <a:off x="3976023" y="4246731"/>
            <a:ext cx="1107996" cy="369332"/>
          </a:xfrm>
          <a:prstGeom prst="rect">
            <a:avLst/>
          </a:prstGeom>
          <a:noFill/>
        </p:spPr>
        <p:txBody>
          <a:bodyPr wrap="none" rtlCol="0">
            <a:spAutoFit/>
          </a:bodyPr>
          <a:lstStyle/>
          <a:p>
            <a:r>
              <a:rPr lang="zh-CN" altLang="en-US">
                <a:solidFill>
                  <a:schemeClr val="tx1">
                    <a:lumMod val="85000"/>
                    <a:lumOff val="15000"/>
                  </a:schemeClr>
                </a:solidFill>
                <a:latin typeface="微软雅黑" panose="020B0503020204020204" pitchFamily="34" charset="-122"/>
                <a:ea typeface="微软雅黑" panose="020B0503020204020204" pitchFamily="34" charset="-122"/>
              </a:rPr>
              <a:t>实践之路</a:t>
            </a: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8" name="稻壳儿搜索【幻雨工作室】_10">
            <a:extLst>
              <a:ext uri="{FF2B5EF4-FFF2-40B4-BE49-F238E27FC236}">
                <a16:creationId xmlns:a16="http://schemas.microsoft.com/office/drawing/2014/main" id="{6D9201F5-A499-422F-8C5A-7CAA3A333A7D}"/>
              </a:ext>
            </a:extLst>
          </p:cNvPr>
          <p:cNvSpPr txBox="1"/>
          <p:nvPr/>
        </p:nvSpPr>
        <p:spPr>
          <a:xfrm>
            <a:off x="3976023" y="4596912"/>
            <a:ext cx="1143262" cy="215444"/>
          </a:xfrm>
          <a:prstGeom prst="rect">
            <a:avLst/>
          </a:prstGeom>
          <a:noFill/>
        </p:spPr>
        <p:txBody>
          <a:bodyPr wrap="none" rtlCol="0">
            <a:spAutoFit/>
          </a:bodyPr>
          <a:lstStyle/>
          <a:p>
            <a:r>
              <a:rPr lang="en-US" altLang="zh-CN" sz="80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The Road of practice</a:t>
            </a:r>
            <a:endParaRPr lang="zh-CN" altLang="en-US" sz="800"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9" name="稻壳儿搜索【幻雨工作室】_11">
            <a:extLst>
              <a:ext uri="{FF2B5EF4-FFF2-40B4-BE49-F238E27FC236}">
                <a16:creationId xmlns:a16="http://schemas.microsoft.com/office/drawing/2014/main" id="{8BB3FF55-6235-4F10-B6DA-95737CC8153E}"/>
              </a:ext>
            </a:extLst>
          </p:cNvPr>
          <p:cNvSpPr/>
          <p:nvPr/>
        </p:nvSpPr>
        <p:spPr>
          <a:xfrm>
            <a:off x="7051718" y="4181841"/>
            <a:ext cx="628650" cy="628650"/>
          </a:xfrm>
          <a:prstGeom prst="rect">
            <a:avLst/>
          </a:prstGeom>
          <a:solidFill>
            <a:srgbClr val="B72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Arial" panose="020B0604020202020204" pitchFamily="34" charset="0"/>
                <a:ea typeface="微软雅黑" panose="020B0503020204020204" pitchFamily="34" charset="-122"/>
                <a:cs typeface="Arial" panose="020B0604020202020204" pitchFamily="34" charset="0"/>
              </a:rPr>
              <a:t>04</a:t>
            </a:r>
            <a:endParaRPr lang="zh-CN" altLang="en-US"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30" name="稻壳儿搜索【幻雨工作室】_12">
            <a:extLst>
              <a:ext uri="{FF2B5EF4-FFF2-40B4-BE49-F238E27FC236}">
                <a16:creationId xmlns:a16="http://schemas.microsoft.com/office/drawing/2014/main" id="{031DE389-92BD-400F-B3A3-0B8678C3A6F1}"/>
              </a:ext>
            </a:extLst>
          </p:cNvPr>
          <p:cNvSpPr txBox="1"/>
          <p:nvPr/>
        </p:nvSpPr>
        <p:spPr>
          <a:xfrm>
            <a:off x="7786023" y="4246810"/>
            <a:ext cx="1107996" cy="369332"/>
          </a:xfrm>
          <a:prstGeom prst="rect">
            <a:avLst/>
          </a:prstGeom>
          <a:noFill/>
        </p:spPr>
        <p:txBody>
          <a:bodyPr wrap="none" rtlCol="0">
            <a:spAutoFit/>
          </a:bodyPr>
          <a:lstStyle/>
          <a:p>
            <a:r>
              <a:rPr lang="zh-CN" altLang="en-US">
                <a:solidFill>
                  <a:schemeClr val="tx1">
                    <a:lumMod val="85000"/>
                    <a:lumOff val="15000"/>
                  </a:schemeClr>
                </a:solidFill>
                <a:latin typeface="微软雅黑" panose="020B0503020204020204" pitchFamily="34" charset="-122"/>
                <a:ea typeface="微软雅黑" panose="020B0503020204020204" pitchFamily="34" charset="-122"/>
              </a:rPr>
              <a:t>青年之责</a:t>
            </a:r>
            <a:endParaRPr lang="zh-CN" altLang="en-US"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1" name="稻壳儿搜索【幻雨工作室】_13">
            <a:extLst>
              <a:ext uri="{FF2B5EF4-FFF2-40B4-BE49-F238E27FC236}">
                <a16:creationId xmlns:a16="http://schemas.microsoft.com/office/drawing/2014/main" id="{477841F5-1FAF-48FF-9052-E682E887D5D5}"/>
              </a:ext>
            </a:extLst>
          </p:cNvPr>
          <p:cNvSpPr txBox="1"/>
          <p:nvPr/>
        </p:nvSpPr>
        <p:spPr>
          <a:xfrm>
            <a:off x="7786023" y="4596991"/>
            <a:ext cx="1614545" cy="215444"/>
          </a:xfrm>
          <a:prstGeom prst="rect">
            <a:avLst/>
          </a:prstGeom>
          <a:noFill/>
        </p:spPr>
        <p:txBody>
          <a:bodyPr wrap="none" rtlCol="0">
            <a:spAutoFit/>
          </a:bodyPr>
          <a:lstStyle/>
          <a:p>
            <a:r>
              <a:rPr lang="en-US" altLang="zh-CN" sz="80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The Responsibility of the Youth</a:t>
            </a:r>
            <a:endParaRPr lang="zh-CN" altLang="en-US" sz="800"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Tree>
    <p:extLst>
      <p:ext uri="{BB962C8B-B14F-4D97-AF65-F5344CB8AC3E}">
        <p14:creationId xmlns:p14="http://schemas.microsoft.com/office/powerpoint/2010/main" val="3675913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稻壳儿搜索【幻雨工作室】_1">
            <a:extLst>
              <a:ext uri="{FF2B5EF4-FFF2-40B4-BE49-F238E27FC236}">
                <a16:creationId xmlns:a16="http://schemas.microsoft.com/office/drawing/2014/main" id="{146A3A04-0D49-40D8-932B-A5D2FEF31078}"/>
              </a:ext>
            </a:extLst>
          </p:cNvPr>
          <p:cNvSpPr txBox="1"/>
          <p:nvPr/>
        </p:nvSpPr>
        <p:spPr>
          <a:xfrm>
            <a:off x="1063597" y="1860298"/>
            <a:ext cx="5571025" cy="1077218"/>
          </a:xfrm>
          <a:prstGeom prst="rect">
            <a:avLst/>
          </a:prstGeom>
          <a:noFill/>
        </p:spPr>
        <p:txBody>
          <a:bodyPr wrap="square" rtlCol="0">
            <a:spAutoFit/>
          </a:bodyPr>
          <a:lstStyle/>
          <a:p>
            <a:pPr algn="ctr"/>
            <a:r>
              <a:rPr lang="zh-CN" altLang="en-US" sz="3200"/>
              <a:t>习近平新时代中国特色社会主义思想概述</a:t>
            </a:r>
            <a:endParaRPr lang="zh-CN" altLang="en-US" sz="3200" dirty="0">
              <a:solidFill>
                <a:schemeClr val="tx1">
                  <a:lumMod val="85000"/>
                  <a:lumOff val="15000"/>
                </a:schemeClr>
              </a:solidFill>
              <a:latin typeface="方正粗黑宋简体" panose="02000000000000000000" pitchFamily="2" charset="-122"/>
              <a:ea typeface="方正粗黑宋简体" panose="02000000000000000000" pitchFamily="2" charset="-122"/>
              <a:cs typeface="Arial" panose="020B0604020202020204" pitchFamily="34" charset="0"/>
            </a:endParaRPr>
          </a:p>
        </p:txBody>
      </p:sp>
      <p:pic>
        <p:nvPicPr>
          <p:cNvPr id="8" name="稻壳儿搜索【幻雨工作室】_3">
            <a:extLst>
              <a:ext uri="{FF2B5EF4-FFF2-40B4-BE49-F238E27FC236}">
                <a16:creationId xmlns:a16="http://schemas.microsoft.com/office/drawing/2014/main" id="{08A19377-B2E9-4AB1-B0C6-0DC75424EC6D}"/>
              </a:ext>
            </a:extLst>
          </p:cNvPr>
          <p:cNvPicPr>
            <a:picLocks noChangeAspect="1"/>
          </p:cNvPicPr>
          <p:nvPr/>
        </p:nvPicPr>
        <p:blipFill>
          <a:blip r:embed="rId2"/>
          <a:stretch>
            <a:fillRect/>
          </a:stretch>
        </p:blipFill>
        <p:spPr>
          <a:xfrm>
            <a:off x="1336529" y="544047"/>
            <a:ext cx="986947" cy="994425"/>
          </a:xfrm>
          <a:prstGeom prst="rect">
            <a:avLst/>
          </a:prstGeom>
        </p:spPr>
      </p:pic>
      <p:pic>
        <p:nvPicPr>
          <p:cNvPr id="9" name="稻壳儿搜索【幻雨工作室】_4">
            <a:extLst>
              <a:ext uri="{FF2B5EF4-FFF2-40B4-BE49-F238E27FC236}">
                <a16:creationId xmlns:a16="http://schemas.microsoft.com/office/drawing/2014/main" id="{9B347C1F-3EFD-4B36-812C-4C7FDD08B84C}"/>
              </a:ext>
            </a:extLst>
          </p:cNvPr>
          <p:cNvPicPr>
            <a:picLocks noChangeAspect="1"/>
          </p:cNvPicPr>
          <p:nvPr/>
        </p:nvPicPr>
        <p:blipFill>
          <a:blip r:embed="rId2"/>
          <a:stretch>
            <a:fillRect/>
          </a:stretch>
        </p:blipFill>
        <p:spPr>
          <a:xfrm>
            <a:off x="2346083" y="544047"/>
            <a:ext cx="986947" cy="994425"/>
          </a:xfrm>
          <a:prstGeom prst="rect">
            <a:avLst/>
          </a:prstGeom>
        </p:spPr>
      </p:pic>
      <p:pic>
        <p:nvPicPr>
          <p:cNvPr id="37" name="稻壳儿搜索【幻雨工作室】_5">
            <a:extLst>
              <a:ext uri="{FF2B5EF4-FFF2-40B4-BE49-F238E27FC236}">
                <a16:creationId xmlns:a16="http://schemas.microsoft.com/office/drawing/2014/main" id="{D8067E26-A619-4158-8C0C-435D7914DD1D}"/>
              </a:ext>
            </a:extLst>
          </p:cNvPr>
          <p:cNvPicPr>
            <a:picLocks noChangeAspect="1"/>
          </p:cNvPicPr>
          <p:nvPr/>
        </p:nvPicPr>
        <p:blipFill>
          <a:blip r:embed="rId2"/>
          <a:stretch>
            <a:fillRect/>
          </a:stretch>
        </p:blipFill>
        <p:spPr>
          <a:xfrm>
            <a:off x="3355637" y="544047"/>
            <a:ext cx="986947" cy="994425"/>
          </a:xfrm>
          <a:prstGeom prst="rect">
            <a:avLst/>
          </a:prstGeom>
        </p:spPr>
      </p:pic>
      <p:pic>
        <p:nvPicPr>
          <p:cNvPr id="38" name="稻壳儿搜索【幻雨工作室】_6">
            <a:extLst>
              <a:ext uri="{FF2B5EF4-FFF2-40B4-BE49-F238E27FC236}">
                <a16:creationId xmlns:a16="http://schemas.microsoft.com/office/drawing/2014/main" id="{4E0D76C9-FD33-4549-944F-0E9ED362B773}"/>
              </a:ext>
            </a:extLst>
          </p:cNvPr>
          <p:cNvPicPr>
            <a:picLocks noChangeAspect="1"/>
          </p:cNvPicPr>
          <p:nvPr/>
        </p:nvPicPr>
        <p:blipFill>
          <a:blip r:embed="rId2"/>
          <a:stretch>
            <a:fillRect/>
          </a:stretch>
        </p:blipFill>
        <p:spPr>
          <a:xfrm>
            <a:off x="4365190" y="544047"/>
            <a:ext cx="986947" cy="994425"/>
          </a:xfrm>
          <a:prstGeom prst="rect">
            <a:avLst/>
          </a:prstGeom>
        </p:spPr>
      </p:pic>
      <p:sp>
        <p:nvSpPr>
          <p:cNvPr id="13" name="稻壳儿搜索【幻雨工作室】_7">
            <a:extLst>
              <a:ext uri="{FF2B5EF4-FFF2-40B4-BE49-F238E27FC236}">
                <a16:creationId xmlns:a16="http://schemas.microsoft.com/office/drawing/2014/main" id="{4D83A3DD-3960-46D9-9E85-3A83B99A8A48}"/>
              </a:ext>
            </a:extLst>
          </p:cNvPr>
          <p:cNvSpPr txBox="1"/>
          <p:nvPr/>
        </p:nvSpPr>
        <p:spPr>
          <a:xfrm>
            <a:off x="1336529" y="618859"/>
            <a:ext cx="3981932" cy="830997"/>
          </a:xfrm>
          <a:prstGeom prst="rect">
            <a:avLst/>
          </a:prstGeom>
          <a:noFill/>
        </p:spPr>
        <p:txBody>
          <a:bodyPr wrap="square" rtlCol="0">
            <a:spAutoFit/>
          </a:bodyPr>
          <a:lstStyle/>
          <a:p>
            <a:pPr algn="dist"/>
            <a:r>
              <a:rPr lang="zh-CN" altLang="en-US" sz="4800">
                <a:solidFill>
                  <a:srgbClr val="B72522"/>
                </a:solidFill>
                <a:effectLst>
                  <a:outerShdw blurRad="63500" sx="102000" sy="102000" algn="ctr" rotWithShape="0">
                    <a:prstClr val="black">
                      <a:alpha val="10000"/>
                    </a:prstClr>
                  </a:outerShdw>
                </a:effectLst>
                <a:latin typeface="新宋体" panose="02010609030101010101" pitchFamily="49" charset="-122"/>
                <a:ea typeface="新宋体" panose="02010609030101010101" pitchFamily="49" charset="-122"/>
              </a:rPr>
              <a:t>理论之光</a:t>
            </a:r>
          </a:p>
        </p:txBody>
      </p:sp>
      <p:sp>
        <p:nvSpPr>
          <p:cNvPr id="10" name="稻壳儿搜索【幻雨工作室】_1">
            <a:extLst>
              <a:ext uri="{FF2B5EF4-FFF2-40B4-BE49-F238E27FC236}">
                <a16:creationId xmlns:a16="http://schemas.microsoft.com/office/drawing/2014/main" id="{379BC233-9AFA-48E5-8787-652C27468FB0}"/>
              </a:ext>
            </a:extLst>
          </p:cNvPr>
          <p:cNvSpPr txBox="1"/>
          <p:nvPr/>
        </p:nvSpPr>
        <p:spPr>
          <a:xfrm>
            <a:off x="7026132" y="1665968"/>
            <a:ext cx="1943226" cy="2862322"/>
          </a:xfrm>
          <a:prstGeom prst="rect">
            <a:avLst/>
          </a:prstGeom>
          <a:noFill/>
        </p:spPr>
        <p:txBody>
          <a:bodyPr wrap="square" rtlCol="0">
            <a:spAutoFit/>
          </a:bodyPr>
          <a:lstStyle/>
          <a:p>
            <a:r>
              <a:rPr lang="zh-CN" altLang="en-US">
                <a:solidFill>
                  <a:schemeClr val="tx1">
                    <a:lumMod val="85000"/>
                    <a:lumOff val="15000"/>
                  </a:schemeClr>
                </a:solidFill>
                <a:latin typeface="宋体" panose="02010600030101010101" pitchFamily="2" charset="-122"/>
                <a:ea typeface="宋体" panose="02010600030101010101" pitchFamily="2" charset="-122"/>
              </a:rPr>
              <a:t>党的十九大正式确立习近平新时代中国特色社会主义思想的指导地位。这一思想，深刻总结党的百年奋斗历史经验，科学回答了“新时代坚持和发展什么样的中国特</a:t>
            </a:r>
            <a:endParaRPr lang="zh-CN" altLang="en-US" dirty="0">
              <a:solidFill>
                <a:schemeClr val="tx1">
                  <a:lumMod val="85000"/>
                  <a:lumOff val="15000"/>
                </a:schemeClr>
              </a:solidFill>
              <a:latin typeface="宋体" panose="02010600030101010101" pitchFamily="2" charset="-122"/>
              <a:ea typeface="宋体" panose="02010600030101010101" pitchFamily="2" charset="-122"/>
            </a:endParaRPr>
          </a:p>
        </p:txBody>
      </p:sp>
      <p:pic>
        <p:nvPicPr>
          <p:cNvPr id="1028" name="Picture 4" descr="《习近平谈治国理政》【正版图书 折扣 优惠 详情 书评 试读】 - 新华书店网上商城">
            <a:extLst>
              <a:ext uri="{FF2B5EF4-FFF2-40B4-BE49-F238E27FC236}">
                <a16:creationId xmlns:a16="http://schemas.microsoft.com/office/drawing/2014/main" id="{3307384B-B74B-4929-BFE8-E2149AACE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3761" y="1481393"/>
            <a:ext cx="1943225" cy="291224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中国共产党第十九次全国代表大会在京闭幕 习近平发表重要讲话">
            <a:extLst>
              <a:ext uri="{FF2B5EF4-FFF2-40B4-BE49-F238E27FC236}">
                <a16:creationId xmlns:a16="http://schemas.microsoft.com/office/drawing/2014/main" id="{FF5F5C35-506C-4913-8D33-ABB875E894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383" y="2935541"/>
            <a:ext cx="2880254" cy="3378412"/>
          </a:xfrm>
          <a:prstGeom prst="rect">
            <a:avLst/>
          </a:prstGeom>
          <a:noFill/>
          <a:effectLst>
            <a:outerShdw blurRad="50800" dist="38100" algn="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605CBD4E-138F-45E0-88DC-9EB1AD2334E2}"/>
              </a:ext>
            </a:extLst>
          </p:cNvPr>
          <p:cNvSpPr txBox="1"/>
          <p:nvPr/>
        </p:nvSpPr>
        <p:spPr>
          <a:xfrm>
            <a:off x="7026132" y="544047"/>
            <a:ext cx="3269335" cy="1200329"/>
          </a:xfrm>
          <a:prstGeom prst="rect">
            <a:avLst/>
          </a:prstGeom>
          <a:noFill/>
        </p:spPr>
        <p:txBody>
          <a:bodyPr wrap="square" rtlCol="0">
            <a:spAutoFit/>
          </a:bodyPr>
          <a:lstStyle/>
          <a:p>
            <a:r>
              <a:rPr lang="zh-CN" altLang="en-US">
                <a:solidFill>
                  <a:schemeClr val="tx1">
                    <a:lumMod val="85000"/>
                    <a:lumOff val="15000"/>
                  </a:schemeClr>
                </a:solidFill>
                <a:latin typeface="宋体" panose="02010600030101010101" pitchFamily="2" charset="-122"/>
                <a:ea typeface="宋体" panose="02010600030101010101" pitchFamily="2" charset="-122"/>
              </a:rPr>
              <a:t>新时代中国特色社会主义思想，是新时代党和国家事业发展的科学指南，是中华民族伟大复兴的行动纲领。</a:t>
            </a:r>
            <a:endParaRPr lang="zh-CN" altLang="en-US"/>
          </a:p>
        </p:txBody>
      </p:sp>
      <p:sp>
        <p:nvSpPr>
          <p:cNvPr id="6" name="文本框 5">
            <a:extLst>
              <a:ext uri="{FF2B5EF4-FFF2-40B4-BE49-F238E27FC236}">
                <a16:creationId xmlns:a16="http://schemas.microsoft.com/office/drawing/2014/main" id="{43797E32-87C4-452C-B24D-25DAED647729}"/>
              </a:ext>
            </a:extLst>
          </p:cNvPr>
          <p:cNvSpPr txBox="1"/>
          <p:nvPr/>
        </p:nvSpPr>
        <p:spPr>
          <a:xfrm>
            <a:off x="7026134" y="4449882"/>
            <a:ext cx="3803486" cy="1754326"/>
          </a:xfrm>
          <a:prstGeom prst="rect">
            <a:avLst/>
          </a:prstGeom>
          <a:noFill/>
        </p:spPr>
        <p:txBody>
          <a:bodyPr wrap="square" rtlCol="0">
            <a:spAutoFit/>
          </a:bodyPr>
          <a:lstStyle/>
          <a:p>
            <a:r>
              <a:rPr lang="zh-CN" altLang="en-US">
                <a:solidFill>
                  <a:schemeClr val="tx1">
                    <a:lumMod val="85000"/>
                    <a:lumOff val="15000"/>
                  </a:schemeClr>
                </a:solidFill>
                <a:latin typeface="宋体" panose="02010600030101010101" pitchFamily="2" charset="-122"/>
                <a:ea typeface="宋体" panose="02010600030101010101" pitchFamily="2" charset="-122"/>
              </a:rPr>
              <a:t>色社会主义、怎样坚持和发展中国特色社会主义”的重大课题。它不仅为实现中华民族伟大复兴提供了方向与路径，也在国际舞台上展现了中国特色现代化的智慧与方案，是新时代中国前行的强大理论引擎。</a:t>
            </a:r>
            <a:endParaRPr lang="zh-CN" altLang="en-US"/>
          </a:p>
        </p:txBody>
      </p:sp>
      <p:pic>
        <p:nvPicPr>
          <p:cNvPr id="1032" name="Picture 8" descr="习近平总书记治国理政新理念新思想新战略 - 华声在线专题">
            <a:extLst>
              <a:ext uri="{FF2B5EF4-FFF2-40B4-BE49-F238E27FC236}">
                <a16:creationId xmlns:a16="http://schemas.microsoft.com/office/drawing/2014/main" id="{3936C0E8-EEDA-4D7E-9A15-140C8182CA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6835" y="2969557"/>
            <a:ext cx="3203542" cy="3310380"/>
          </a:xfrm>
          <a:prstGeom prst="rect">
            <a:avLst/>
          </a:prstGeom>
          <a:noFill/>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631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稻壳儿搜索【幻雨工作室】_1">
            <a:extLst>
              <a:ext uri="{FF2B5EF4-FFF2-40B4-BE49-F238E27FC236}">
                <a16:creationId xmlns:a16="http://schemas.microsoft.com/office/drawing/2014/main" id="{990A68C1-3E21-41D1-B730-5EDCB6C2BAB4}"/>
              </a:ext>
            </a:extLst>
          </p:cNvPr>
          <p:cNvSpPr txBox="1"/>
          <p:nvPr/>
        </p:nvSpPr>
        <p:spPr>
          <a:xfrm>
            <a:off x="5076803" y="234111"/>
            <a:ext cx="2423119" cy="1815882"/>
          </a:xfrm>
          <a:prstGeom prst="rect">
            <a:avLst/>
          </a:prstGeom>
          <a:noFill/>
        </p:spPr>
        <p:txBody>
          <a:bodyPr wrap="square" rtlCol="0">
            <a:spAutoFit/>
          </a:bodyPr>
          <a:lstStyle/>
          <a:p>
            <a:pPr algn="dist"/>
            <a:r>
              <a:rPr lang="zh-CN" altLang="en-US" sz="2800"/>
              <a:t>习近平新时代中国特色社会主义思想体系结构框架</a:t>
            </a:r>
            <a:endParaRPr lang="zh-CN" altLang="en-US" sz="2800" dirty="0">
              <a:solidFill>
                <a:schemeClr val="tx1">
                  <a:lumMod val="85000"/>
                  <a:lumOff val="15000"/>
                </a:schemeClr>
              </a:solidFill>
              <a:latin typeface="方正粗黑宋简体" panose="02000000000000000000" pitchFamily="2" charset="-122"/>
              <a:ea typeface="方正粗黑宋简体" panose="02000000000000000000" pitchFamily="2" charset="-122"/>
            </a:endParaRPr>
          </a:p>
        </p:txBody>
      </p:sp>
      <p:sp>
        <p:nvSpPr>
          <p:cNvPr id="12" name="稻壳儿搜索【幻雨工作室】_2">
            <a:extLst>
              <a:ext uri="{FF2B5EF4-FFF2-40B4-BE49-F238E27FC236}">
                <a16:creationId xmlns:a16="http://schemas.microsoft.com/office/drawing/2014/main" id="{09F593FA-7B8B-4207-8EF2-97BB96D62150}"/>
              </a:ext>
            </a:extLst>
          </p:cNvPr>
          <p:cNvSpPr>
            <a:spLocks/>
          </p:cNvSpPr>
          <p:nvPr/>
        </p:nvSpPr>
        <p:spPr bwMode="auto">
          <a:xfrm>
            <a:off x="5090565" y="2284272"/>
            <a:ext cx="1349522" cy="1347325"/>
          </a:xfrm>
          <a:custGeom>
            <a:avLst/>
            <a:gdLst>
              <a:gd name="T0" fmla="*/ 282 w 565"/>
              <a:gd name="T1" fmla="*/ 0 h 565"/>
              <a:gd name="T2" fmla="*/ 0 w 565"/>
              <a:gd name="T3" fmla="*/ 0 h 565"/>
              <a:gd name="T4" fmla="*/ 0 w 565"/>
              <a:gd name="T5" fmla="*/ 283 h 565"/>
              <a:gd name="T6" fmla="*/ 282 w 565"/>
              <a:gd name="T7" fmla="*/ 565 h 565"/>
              <a:gd name="T8" fmla="*/ 565 w 565"/>
              <a:gd name="T9" fmla="*/ 565 h 565"/>
              <a:gd name="T10" fmla="*/ 565 w 565"/>
              <a:gd name="T11" fmla="*/ 283 h 565"/>
              <a:gd name="T12" fmla="*/ 282 w 565"/>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2" y="0"/>
                </a:moveTo>
                <a:cubicBezTo>
                  <a:pt x="0" y="0"/>
                  <a:pt x="0" y="0"/>
                  <a:pt x="0" y="0"/>
                </a:cubicBezTo>
                <a:cubicBezTo>
                  <a:pt x="0" y="283"/>
                  <a:pt x="0" y="283"/>
                  <a:pt x="0" y="283"/>
                </a:cubicBezTo>
                <a:cubicBezTo>
                  <a:pt x="0" y="439"/>
                  <a:pt x="126" y="565"/>
                  <a:pt x="282" y="565"/>
                </a:cubicBezTo>
                <a:cubicBezTo>
                  <a:pt x="565" y="565"/>
                  <a:pt x="565" y="565"/>
                  <a:pt x="565" y="565"/>
                </a:cubicBezTo>
                <a:cubicBezTo>
                  <a:pt x="565" y="283"/>
                  <a:pt x="565" y="283"/>
                  <a:pt x="565" y="283"/>
                </a:cubicBezTo>
                <a:cubicBezTo>
                  <a:pt x="565" y="127"/>
                  <a:pt x="438" y="0"/>
                  <a:pt x="282" y="0"/>
                </a:cubicBezTo>
                <a:close/>
              </a:path>
            </a:pathLst>
          </a:custGeom>
          <a:solidFill>
            <a:srgbClr val="B72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bg1"/>
                </a:solidFill>
                <a:latin typeface="Abadi" panose="020B0604020104020204" pitchFamily="34" charset="0"/>
                <a:ea typeface="微软雅黑" panose="020B0503020204020204" pitchFamily="34" charset="-122"/>
                <a:cs typeface="Lato Regular"/>
              </a:rPr>
              <a:t>十个明确</a:t>
            </a:r>
            <a:endParaRPr lang="id-ID" altLang="zh-CN" sz="2400" dirty="0">
              <a:solidFill>
                <a:schemeClr val="bg1"/>
              </a:solidFill>
              <a:latin typeface="Abadi" panose="020B0604020104020204" pitchFamily="34" charset="0"/>
              <a:ea typeface="微软雅黑" panose="020B0503020204020204" pitchFamily="34" charset="-122"/>
              <a:cs typeface="Lato Regular"/>
            </a:endParaRPr>
          </a:p>
        </p:txBody>
      </p:sp>
      <p:sp>
        <p:nvSpPr>
          <p:cNvPr id="14" name="稻壳儿搜索【幻雨工作室】_3">
            <a:extLst>
              <a:ext uri="{FF2B5EF4-FFF2-40B4-BE49-F238E27FC236}">
                <a16:creationId xmlns:a16="http://schemas.microsoft.com/office/drawing/2014/main" id="{ACF9D91E-A4B5-4952-BCFE-367EBC3F9BCF}"/>
              </a:ext>
            </a:extLst>
          </p:cNvPr>
          <p:cNvSpPr>
            <a:spLocks/>
          </p:cNvSpPr>
          <p:nvPr/>
        </p:nvSpPr>
        <p:spPr bwMode="auto">
          <a:xfrm>
            <a:off x="6425224" y="3604123"/>
            <a:ext cx="1349522" cy="1347325"/>
          </a:xfrm>
          <a:custGeom>
            <a:avLst/>
            <a:gdLst>
              <a:gd name="T0" fmla="*/ 282 w 565"/>
              <a:gd name="T1" fmla="*/ 0 h 565"/>
              <a:gd name="T2" fmla="*/ 0 w 565"/>
              <a:gd name="T3" fmla="*/ 0 h 565"/>
              <a:gd name="T4" fmla="*/ 0 w 565"/>
              <a:gd name="T5" fmla="*/ 283 h 565"/>
              <a:gd name="T6" fmla="*/ 282 w 565"/>
              <a:gd name="T7" fmla="*/ 565 h 565"/>
              <a:gd name="T8" fmla="*/ 565 w 565"/>
              <a:gd name="T9" fmla="*/ 565 h 565"/>
              <a:gd name="T10" fmla="*/ 565 w 565"/>
              <a:gd name="T11" fmla="*/ 283 h 565"/>
              <a:gd name="T12" fmla="*/ 282 w 565"/>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2" y="0"/>
                </a:moveTo>
                <a:cubicBezTo>
                  <a:pt x="0" y="0"/>
                  <a:pt x="0" y="0"/>
                  <a:pt x="0" y="0"/>
                </a:cubicBezTo>
                <a:cubicBezTo>
                  <a:pt x="0" y="283"/>
                  <a:pt x="0" y="283"/>
                  <a:pt x="0" y="283"/>
                </a:cubicBezTo>
                <a:cubicBezTo>
                  <a:pt x="0" y="439"/>
                  <a:pt x="126" y="565"/>
                  <a:pt x="282" y="565"/>
                </a:cubicBezTo>
                <a:cubicBezTo>
                  <a:pt x="565" y="565"/>
                  <a:pt x="565" y="565"/>
                  <a:pt x="565" y="565"/>
                </a:cubicBezTo>
                <a:cubicBezTo>
                  <a:pt x="565" y="283"/>
                  <a:pt x="565" y="283"/>
                  <a:pt x="565" y="283"/>
                </a:cubicBezTo>
                <a:cubicBezTo>
                  <a:pt x="565" y="127"/>
                  <a:pt x="438" y="0"/>
                  <a:pt x="282" y="0"/>
                </a:cubicBezTo>
                <a:close/>
              </a:path>
            </a:pathLst>
          </a:custGeom>
          <a:noFill/>
          <a:ln>
            <a:noFill/>
          </a:ln>
        </p:spPr>
        <p:txBody>
          <a:bodyPr/>
          <a:lstStyle/>
          <a:p>
            <a:endParaRPr lang="zh-CN" altLang="en-US" sz="2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稻壳儿搜索【幻雨工作室】_4">
            <a:extLst>
              <a:ext uri="{FF2B5EF4-FFF2-40B4-BE49-F238E27FC236}">
                <a16:creationId xmlns:a16="http://schemas.microsoft.com/office/drawing/2014/main" id="{BB876A2C-9380-487E-B5C7-E648385FDC20}"/>
              </a:ext>
            </a:extLst>
          </p:cNvPr>
          <p:cNvSpPr>
            <a:spLocks/>
          </p:cNvSpPr>
          <p:nvPr/>
        </p:nvSpPr>
        <p:spPr bwMode="auto">
          <a:xfrm>
            <a:off x="6479075" y="2256798"/>
            <a:ext cx="1347323" cy="1347325"/>
          </a:xfrm>
          <a:custGeom>
            <a:avLst/>
            <a:gdLst>
              <a:gd name="T0" fmla="*/ 283 w 565"/>
              <a:gd name="T1" fmla="*/ 0 h 565"/>
              <a:gd name="T2" fmla="*/ 565 w 565"/>
              <a:gd name="T3" fmla="*/ 0 h 565"/>
              <a:gd name="T4" fmla="*/ 565 w 565"/>
              <a:gd name="T5" fmla="*/ 283 h 565"/>
              <a:gd name="T6" fmla="*/ 283 w 565"/>
              <a:gd name="T7" fmla="*/ 565 h 565"/>
              <a:gd name="T8" fmla="*/ 0 w 565"/>
              <a:gd name="T9" fmla="*/ 565 h 565"/>
              <a:gd name="T10" fmla="*/ 0 w 565"/>
              <a:gd name="T11" fmla="*/ 283 h 565"/>
              <a:gd name="T12" fmla="*/ 283 w 565"/>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3" y="0"/>
                </a:moveTo>
                <a:cubicBezTo>
                  <a:pt x="565" y="0"/>
                  <a:pt x="565" y="0"/>
                  <a:pt x="565" y="0"/>
                </a:cubicBezTo>
                <a:cubicBezTo>
                  <a:pt x="565" y="283"/>
                  <a:pt x="565" y="283"/>
                  <a:pt x="565" y="283"/>
                </a:cubicBezTo>
                <a:cubicBezTo>
                  <a:pt x="565" y="439"/>
                  <a:pt x="439" y="565"/>
                  <a:pt x="283" y="565"/>
                </a:cubicBezTo>
                <a:cubicBezTo>
                  <a:pt x="0" y="565"/>
                  <a:pt x="0" y="565"/>
                  <a:pt x="0" y="565"/>
                </a:cubicBezTo>
                <a:cubicBezTo>
                  <a:pt x="0" y="283"/>
                  <a:pt x="0" y="283"/>
                  <a:pt x="0" y="283"/>
                </a:cubicBezTo>
                <a:cubicBezTo>
                  <a:pt x="0" y="127"/>
                  <a:pt x="127" y="0"/>
                  <a:pt x="283" y="0"/>
                </a:cubicBezTo>
                <a:close/>
              </a:path>
            </a:pathLst>
          </a:custGeom>
          <a:solidFill>
            <a:srgbClr val="B72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bg1"/>
                </a:solidFill>
                <a:latin typeface="Abadi" panose="020B0604020104020204" pitchFamily="34" charset="0"/>
                <a:ea typeface="微软雅黑" panose="020B0503020204020204" pitchFamily="34" charset="-122"/>
                <a:cs typeface="Lato Regular"/>
              </a:rPr>
              <a:t>十四个坚持</a:t>
            </a:r>
            <a:endParaRPr lang="id-ID" altLang="zh-CN" sz="2400" dirty="0">
              <a:solidFill>
                <a:schemeClr val="bg1"/>
              </a:solidFill>
              <a:latin typeface="Abadi" panose="020B0604020104020204" pitchFamily="34" charset="0"/>
              <a:ea typeface="微软雅黑" panose="020B0503020204020204" pitchFamily="34" charset="-122"/>
              <a:cs typeface="Lato Regular"/>
            </a:endParaRPr>
          </a:p>
        </p:txBody>
      </p:sp>
      <p:sp>
        <p:nvSpPr>
          <p:cNvPr id="16" name="稻壳儿搜索【幻雨工作室】_5">
            <a:extLst>
              <a:ext uri="{FF2B5EF4-FFF2-40B4-BE49-F238E27FC236}">
                <a16:creationId xmlns:a16="http://schemas.microsoft.com/office/drawing/2014/main" id="{76D9A955-AA3A-41B5-AB96-85D1A5BC2E61}"/>
              </a:ext>
            </a:extLst>
          </p:cNvPr>
          <p:cNvSpPr>
            <a:spLocks/>
          </p:cNvSpPr>
          <p:nvPr/>
        </p:nvSpPr>
        <p:spPr bwMode="auto">
          <a:xfrm>
            <a:off x="5134121" y="3604123"/>
            <a:ext cx="1347323" cy="1347325"/>
          </a:xfrm>
          <a:custGeom>
            <a:avLst/>
            <a:gdLst>
              <a:gd name="T0" fmla="*/ 283 w 565"/>
              <a:gd name="T1" fmla="*/ 0 h 565"/>
              <a:gd name="T2" fmla="*/ 565 w 565"/>
              <a:gd name="T3" fmla="*/ 0 h 565"/>
              <a:gd name="T4" fmla="*/ 565 w 565"/>
              <a:gd name="T5" fmla="*/ 283 h 565"/>
              <a:gd name="T6" fmla="*/ 283 w 565"/>
              <a:gd name="T7" fmla="*/ 565 h 565"/>
              <a:gd name="T8" fmla="*/ 0 w 565"/>
              <a:gd name="T9" fmla="*/ 565 h 565"/>
              <a:gd name="T10" fmla="*/ 0 w 565"/>
              <a:gd name="T11" fmla="*/ 283 h 565"/>
              <a:gd name="T12" fmla="*/ 283 w 565"/>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3" y="0"/>
                </a:moveTo>
                <a:cubicBezTo>
                  <a:pt x="565" y="0"/>
                  <a:pt x="565" y="0"/>
                  <a:pt x="565" y="0"/>
                </a:cubicBezTo>
                <a:cubicBezTo>
                  <a:pt x="565" y="283"/>
                  <a:pt x="565" y="283"/>
                  <a:pt x="565" y="283"/>
                </a:cubicBezTo>
                <a:cubicBezTo>
                  <a:pt x="565" y="439"/>
                  <a:pt x="439" y="565"/>
                  <a:pt x="283" y="565"/>
                </a:cubicBezTo>
                <a:cubicBezTo>
                  <a:pt x="0" y="565"/>
                  <a:pt x="0" y="565"/>
                  <a:pt x="0" y="565"/>
                </a:cubicBezTo>
                <a:cubicBezTo>
                  <a:pt x="0" y="283"/>
                  <a:pt x="0" y="283"/>
                  <a:pt x="0" y="283"/>
                </a:cubicBezTo>
                <a:cubicBezTo>
                  <a:pt x="0" y="127"/>
                  <a:pt x="127" y="0"/>
                  <a:pt x="283" y="0"/>
                </a:cubicBezTo>
                <a:close/>
              </a:path>
            </a:pathLst>
          </a:custGeom>
          <a:noFill/>
          <a:ln>
            <a:noFill/>
          </a:ln>
        </p:spPr>
        <p:txBody>
          <a:bodyPr/>
          <a:lstStyle/>
          <a:p>
            <a:endParaRPr lang="zh-CN" altLang="en-US" sz="28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7" name="稻壳儿搜索【幻雨工作室】_6">
            <a:extLst>
              <a:ext uri="{FF2B5EF4-FFF2-40B4-BE49-F238E27FC236}">
                <a16:creationId xmlns:a16="http://schemas.microsoft.com/office/drawing/2014/main" id="{C9BFCD15-FD8D-44C2-9107-D0917D1D8206}"/>
              </a:ext>
            </a:extLst>
          </p:cNvPr>
          <p:cNvSpPr>
            <a:spLocks/>
          </p:cNvSpPr>
          <p:nvPr/>
        </p:nvSpPr>
        <p:spPr bwMode="auto">
          <a:xfrm>
            <a:off x="5076803" y="3659070"/>
            <a:ext cx="1349522" cy="1347325"/>
          </a:xfrm>
          <a:custGeom>
            <a:avLst/>
            <a:gdLst>
              <a:gd name="T0" fmla="*/ 282 w 565"/>
              <a:gd name="T1" fmla="*/ 565 h 565"/>
              <a:gd name="T2" fmla="*/ 0 w 565"/>
              <a:gd name="T3" fmla="*/ 565 h 565"/>
              <a:gd name="T4" fmla="*/ 0 w 565"/>
              <a:gd name="T5" fmla="*/ 283 h 565"/>
              <a:gd name="T6" fmla="*/ 282 w 565"/>
              <a:gd name="T7" fmla="*/ 0 h 565"/>
              <a:gd name="T8" fmla="*/ 565 w 565"/>
              <a:gd name="T9" fmla="*/ 0 h 565"/>
              <a:gd name="T10" fmla="*/ 565 w 565"/>
              <a:gd name="T11" fmla="*/ 283 h 565"/>
              <a:gd name="T12" fmla="*/ 282 w 565"/>
              <a:gd name="T13" fmla="*/ 565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2" y="565"/>
                </a:moveTo>
                <a:cubicBezTo>
                  <a:pt x="0" y="565"/>
                  <a:pt x="0" y="565"/>
                  <a:pt x="0" y="565"/>
                </a:cubicBezTo>
                <a:cubicBezTo>
                  <a:pt x="0" y="283"/>
                  <a:pt x="0" y="283"/>
                  <a:pt x="0" y="283"/>
                </a:cubicBezTo>
                <a:cubicBezTo>
                  <a:pt x="0" y="127"/>
                  <a:pt x="126" y="0"/>
                  <a:pt x="282" y="0"/>
                </a:cubicBezTo>
                <a:cubicBezTo>
                  <a:pt x="565" y="0"/>
                  <a:pt x="565" y="0"/>
                  <a:pt x="565" y="0"/>
                </a:cubicBezTo>
                <a:cubicBezTo>
                  <a:pt x="565" y="283"/>
                  <a:pt x="565" y="283"/>
                  <a:pt x="565" y="283"/>
                </a:cubicBezTo>
                <a:cubicBezTo>
                  <a:pt x="565" y="439"/>
                  <a:pt x="438" y="565"/>
                  <a:pt x="282" y="565"/>
                </a:cubicBezTo>
                <a:close/>
              </a:path>
            </a:pathLst>
          </a:custGeom>
          <a:solidFill>
            <a:srgbClr val="B72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bg1"/>
                </a:solidFill>
                <a:latin typeface="Abadi" panose="020B0604020104020204" pitchFamily="34" charset="0"/>
                <a:ea typeface="微软雅黑" panose="020B0503020204020204" pitchFamily="34" charset="-122"/>
                <a:cs typeface="Lato Regular"/>
              </a:rPr>
              <a:t>十三个方面成就</a:t>
            </a:r>
            <a:endParaRPr lang="id-ID" altLang="zh-CN" sz="2400" dirty="0">
              <a:solidFill>
                <a:schemeClr val="bg1"/>
              </a:solidFill>
              <a:latin typeface="Abadi" panose="020B0604020104020204" pitchFamily="34" charset="0"/>
              <a:ea typeface="微软雅黑" panose="020B0503020204020204" pitchFamily="34" charset="-122"/>
              <a:cs typeface="Lato Regular"/>
            </a:endParaRPr>
          </a:p>
        </p:txBody>
      </p:sp>
      <p:sp>
        <p:nvSpPr>
          <p:cNvPr id="18" name="稻壳儿搜索【幻雨工作室】_7">
            <a:extLst>
              <a:ext uri="{FF2B5EF4-FFF2-40B4-BE49-F238E27FC236}">
                <a16:creationId xmlns:a16="http://schemas.microsoft.com/office/drawing/2014/main" id="{8CD4B24F-95A9-4A85-A189-2F59A737882B}"/>
              </a:ext>
            </a:extLst>
          </p:cNvPr>
          <p:cNvSpPr>
            <a:spLocks/>
          </p:cNvSpPr>
          <p:nvPr/>
        </p:nvSpPr>
        <p:spPr bwMode="auto">
          <a:xfrm>
            <a:off x="6426325" y="2311745"/>
            <a:ext cx="1349522" cy="1347325"/>
          </a:xfrm>
          <a:custGeom>
            <a:avLst/>
            <a:gdLst>
              <a:gd name="T0" fmla="*/ 282 w 565"/>
              <a:gd name="T1" fmla="*/ 565 h 565"/>
              <a:gd name="T2" fmla="*/ 0 w 565"/>
              <a:gd name="T3" fmla="*/ 565 h 565"/>
              <a:gd name="T4" fmla="*/ 0 w 565"/>
              <a:gd name="T5" fmla="*/ 283 h 565"/>
              <a:gd name="T6" fmla="*/ 282 w 565"/>
              <a:gd name="T7" fmla="*/ 0 h 565"/>
              <a:gd name="T8" fmla="*/ 565 w 565"/>
              <a:gd name="T9" fmla="*/ 0 h 565"/>
              <a:gd name="T10" fmla="*/ 565 w 565"/>
              <a:gd name="T11" fmla="*/ 283 h 565"/>
              <a:gd name="T12" fmla="*/ 282 w 565"/>
              <a:gd name="T13" fmla="*/ 565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2" y="565"/>
                </a:moveTo>
                <a:cubicBezTo>
                  <a:pt x="0" y="565"/>
                  <a:pt x="0" y="565"/>
                  <a:pt x="0" y="565"/>
                </a:cubicBezTo>
                <a:cubicBezTo>
                  <a:pt x="0" y="283"/>
                  <a:pt x="0" y="283"/>
                  <a:pt x="0" y="283"/>
                </a:cubicBezTo>
                <a:cubicBezTo>
                  <a:pt x="0" y="127"/>
                  <a:pt x="126" y="0"/>
                  <a:pt x="282" y="0"/>
                </a:cubicBezTo>
                <a:cubicBezTo>
                  <a:pt x="565" y="0"/>
                  <a:pt x="565" y="0"/>
                  <a:pt x="565" y="0"/>
                </a:cubicBezTo>
                <a:cubicBezTo>
                  <a:pt x="565" y="283"/>
                  <a:pt x="565" y="283"/>
                  <a:pt x="565" y="283"/>
                </a:cubicBezTo>
                <a:cubicBezTo>
                  <a:pt x="565" y="439"/>
                  <a:pt x="438" y="565"/>
                  <a:pt x="282" y="565"/>
                </a:cubicBezTo>
                <a:close/>
              </a:path>
            </a:pathLst>
          </a:custGeom>
          <a:noFill/>
          <a:ln>
            <a:noFill/>
          </a:ln>
        </p:spPr>
        <p:txBody>
          <a:bodyPr/>
          <a:lstStyle/>
          <a:p>
            <a:endParaRPr lang="zh-CN" altLang="en-US" sz="2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20" name="稻壳儿搜索【幻雨工作室】_8">
            <a:extLst>
              <a:ext uri="{FF2B5EF4-FFF2-40B4-BE49-F238E27FC236}">
                <a16:creationId xmlns:a16="http://schemas.microsoft.com/office/drawing/2014/main" id="{7423BE86-4AB0-4B77-821F-EA2C682CDC81}"/>
              </a:ext>
            </a:extLst>
          </p:cNvPr>
          <p:cNvSpPr>
            <a:spLocks/>
          </p:cNvSpPr>
          <p:nvPr/>
        </p:nvSpPr>
        <p:spPr bwMode="auto">
          <a:xfrm>
            <a:off x="6479075" y="3659070"/>
            <a:ext cx="1347323" cy="1347325"/>
          </a:xfrm>
          <a:custGeom>
            <a:avLst/>
            <a:gdLst>
              <a:gd name="T0" fmla="*/ 283 w 565"/>
              <a:gd name="T1" fmla="*/ 565 h 565"/>
              <a:gd name="T2" fmla="*/ 565 w 565"/>
              <a:gd name="T3" fmla="*/ 565 h 565"/>
              <a:gd name="T4" fmla="*/ 565 w 565"/>
              <a:gd name="T5" fmla="*/ 283 h 565"/>
              <a:gd name="T6" fmla="*/ 283 w 565"/>
              <a:gd name="T7" fmla="*/ 0 h 565"/>
              <a:gd name="T8" fmla="*/ 0 w 565"/>
              <a:gd name="T9" fmla="*/ 0 h 565"/>
              <a:gd name="T10" fmla="*/ 0 w 565"/>
              <a:gd name="T11" fmla="*/ 283 h 565"/>
              <a:gd name="T12" fmla="*/ 283 w 565"/>
              <a:gd name="T13" fmla="*/ 565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3" y="565"/>
                </a:moveTo>
                <a:cubicBezTo>
                  <a:pt x="565" y="565"/>
                  <a:pt x="565" y="565"/>
                  <a:pt x="565" y="565"/>
                </a:cubicBezTo>
                <a:cubicBezTo>
                  <a:pt x="565" y="283"/>
                  <a:pt x="565" y="283"/>
                  <a:pt x="565" y="283"/>
                </a:cubicBezTo>
                <a:cubicBezTo>
                  <a:pt x="565" y="127"/>
                  <a:pt x="439" y="0"/>
                  <a:pt x="283" y="0"/>
                </a:cubicBezTo>
                <a:cubicBezTo>
                  <a:pt x="0" y="0"/>
                  <a:pt x="0" y="0"/>
                  <a:pt x="0" y="0"/>
                </a:cubicBezTo>
                <a:cubicBezTo>
                  <a:pt x="0" y="283"/>
                  <a:pt x="0" y="283"/>
                  <a:pt x="0" y="283"/>
                </a:cubicBezTo>
                <a:cubicBezTo>
                  <a:pt x="0" y="439"/>
                  <a:pt x="127" y="565"/>
                  <a:pt x="283" y="565"/>
                </a:cubicBezTo>
                <a:close/>
              </a:path>
            </a:pathLst>
          </a:custGeom>
          <a:solidFill>
            <a:srgbClr val="B72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bg1"/>
                </a:solidFill>
                <a:latin typeface="Abadi" panose="020B0604020104020204" pitchFamily="34" charset="0"/>
                <a:ea typeface="微软雅黑" panose="020B0503020204020204" pitchFamily="34" charset="-122"/>
                <a:cs typeface="Lato Regular"/>
              </a:rPr>
              <a:t>六个必须坚持</a:t>
            </a:r>
            <a:endParaRPr lang="id-ID" altLang="zh-CN" sz="2400" dirty="0">
              <a:solidFill>
                <a:schemeClr val="bg1"/>
              </a:solidFill>
              <a:latin typeface="Abadi" panose="020B0604020104020204" pitchFamily="34" charset="0"/>
              <a:ea typeface="微软雅黑" panose="020B0503020204020204" pitchFamily="34" charset="-122"/>
              <a:cs typeface="Lato Regular"/>
            </a:endParaRPr>
          </a:p>
        </p:txBody>
      </p:sp>
      <p:sp>
        <p:nvSpPr>
          <p:cNvPr id="21" name="稻壳儿搜索【幻雨工作室】_9">
            <a:extLst>
              <a:ext uri="{FF2B5EF4-FFF2-40B4-BE49-F238E27FC236}">
                <a16:creationId xmlns:a16="http://schemas.microsoft.com/office/drawing/2014/main" id="{48B1E2EB-1AD6-4C6B-8EAE-00E618008E49}"/>
              </a:ext>
            </a:extLst>
          </p:cNvPr>
          <p:cNvSpPr>
            <a:spLocks/>
          </p:cNvSpPr>
          <p:nvPr/>
        </p:nvSpPr>
        <p:spPr bwMode="auto">
          <a:xfrm>
            <a:off x="5132541" y="2311745"/>
            <a:ext cx="1347323" cy="1347325"/>
          </a:xfrm>
          <a:custGeom>
            <a:avLst/>
            <a:gdLst>
              <a:gd name="T0" fmla="*/ 283 w 565"/>
              <a:gd name="T1" fmla="*/ 565 h 565"/>
              <a:gd name="T2" fmla="*/ 565 w 565"/>
              <a:gd name="T3" fmla="*/ 565 h 565"/>
              <a:gd name="T4" fmla="*/ 565 w 565"/>
              <a:gd name="T5" fmla="*/ 283 h 565"/>
              <a:gd name="T6" fmla="*/ 283 w 565"/>
              <a:gd name="T7" fmla="*/ 0 h 565"/>
              <a:gd name="T8" fmla="*/ 0 w 565"/>
              <a:gd name="T9" fmla="*/ 0 h 565"/>
              <a:gd name="T10" fmla="*/ 0 w 565"/>
              <a:gd name="T11" fmla="*/ 283 h 565"/>
              <a:gd name="T12" fmla="*/ 283 w 565"/>
              <a:gd name="T13" fmla="*/ 565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3" y="565"/>
                </a:moveTo>
                <a:cubicBezTo>
                  <a:pt x="565" y="565"/>
                  <a:pt x="565" y="565"/>
                  <a:pt x="565" y="565"/>
                </a:cubicBezTo>
                <a:cubicBezTo>
                  <a:pt x="565" y="283"/>
                  <a:pt x="565" y="283"/>
                  <a:pt x="565" y="283"/>
                </a:cubicBezTo>
                <a:cubicBezTo>
                  <a:pt x="565" y="127"/>
                  <a:pt x="439" y="0"/>
                  <a:pt x="283" y="0"/>
                </a:cubicBezTo>
                <a:cubicBezTo>
                  <a:pt x="0" y="0"/>
                  <a:pt x="0" y="0"/>
                  <a:pt x="0" y="0"/>
                </a:cubicBezTo>
                <a:cubicBezTo>
                  <a:pt x="0" y="283"/>
                  <a:pt x="0" y="283"/>
                  <a:pt x="0" y="283"/>
                </a:cubicBezTo>
                <a:cubicBezTo>
                  <a:pt x="0" y="439"/>
                  <a:pt x="127" y="565"/>
                  <a:pt x="283" y="565"/>
                </a:cubicBezTo>
                <a:close/>
              </a:path>
            </a:pathLst>
          </a:custGeom>
          <a:noFill/>
          <a:ln>
            <a:noFill/>
          </a:ln>
        </p:spPr>
        <p:txBody>
          <a:bodyPr/>
          <a:lstStyle/>
          <a:p>
            <a:endParaRPr lang="zh-CN" altLang="en-US" sz="28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22" name="稻壳儿搜索【幻雨工作室】_10">
            <a:extLst>
              <a:ext uri="{FF2B5EF4-FFF2-40B4-BE49-F238E27FC236}">
                <a16:creationId xmlns:a16="http://schemas.microsoft.com/office/drawing/2014/main" id="{31B42D8B-4899-4A3F-B599-F4AD4150B22A}"/>
              </a:ext>
            </a:extLst>
          </p:cNvPr>
          <p:cNvSpPr txBox="1"/>
          <p:nvPr/>
        </p:nvSpPr>
        <p:spPr>
          <a:xfrm>
            <a:off x="8456642" y="4527270"/>
            <a:ext cx="2960448" cy="1569660"/>
          </a:xfrm>
          <a:prstGeom prst="rect">
            <a:avLst/>
          </a:prstGeom>
          <a:noFill/>
        </p:spPr>
        <p:txBody>
          <a:bodyPr wrap="square" rtlCol="0">
            <a:spAutoFit/>
          </a:bodyPr>
          <a:lstStyle/>
          <a:p>
            <a:pPr algn="l">
              <a:buFont typeface="+mj-lt"/>
              <a:buAutoNum type="arabicPeriod"/>
            </a:pPr>
            <a:r>
              <a:rPr lang="zh-CN" altLang="en-US" sz="1600" b="0" i="0">
                <a:solidFill>
                  <a:srgbClr val="202122"/>
                </a:solidFill>
                <a:effectLst/>
                <a:latin typeface="宋体" panose="02010600030101010101" pitchFamily="2" charset="-122"/>
                <a:ea typeface="宋体" panose="02010600030101010101" pitchFamily="2" charset="-122"/>
              </a:rPr>
              <a:t>必须坚持人民至上</a:t>
            </a:r>
          </a:p>
          <a:p>
            <a:pPr algn="l">
              <a:buFont typeface="+mj-lt"/>
              <a:buAutoNum type="arabicPeriod"/>
            </a:pPr>
            <a:r>
              <a:rPr lang="zh-CN" altLang="en-US" sz="1600" b="0" i="0">
                <a:solidFill>
                  <a:srgbClr val="202122"/>
                </a:solidFill>
                <a:effectLst/>
                <a:latin typeface="宋体" panose="02010600030101010101" pitchFamily="2" charset="-122"/>
                <a:ea typeface="宋体" panose="02010600030101010101" pitchFamily="2" charset="-122"/>
              </a:rPr>
              <a:t>必须坚持自信自立</a:t>
            </a:r>
          </a:p>
          <a:p>
            <a:pPr algn="l">
              <a:buFont typeface="+mj-lt"/>
              <a:buAutoNum type="arabicPeriod"/>
            </a:pPr>
            <a:r>
              <a:rPr lang="zh-CN" altLang="en-US" sz="1600" b="0" i="0">
                <a:solidFill>
                  <a:srgbClr val="202122"/>
                </a:solidFill>
                <a:effectLst/>
                <a:latin typeface="宋体" panose="02010600030101010101" pitchFamily="2" charset="-122"/>
                <a:ea typeface="宋体" panose="02010600030101010101" pitchFamily="2" charset="-122"/>
              </a:rPr>
              <a:t>必须坚持守正创新</a:t>
            </a:r>
          </a:p>
          <a:p>
            <a:pPr algn="l">
              <a:buFont typeface="+mj-lt"/>
              <a:buAutoNum type="arabicPeriod"/>
            </a:pPr>
            <a:r>
              <a:rPr lang="zh-CN" altLang="en-US" sz="1600" b="0" i="0">
                <a:solidFill>
                  <a:srgbClr val="202122"/>
                </a:solidFill>
                <a:effectLst/>
                <a:latin typeface="宋体" panose="02010600030101010101" pitchFamily="2" charset="-122"/>
                <a:ea typeface="宋体" panose="02010600030101010101" pitchFamily="2" charset="-122"/>
              </a:rPr>
              <a:t>必须坚持问题导向</a:t>
            </a:r>
          </a:p>
          <a:p>
            <a:pPr algn="l">
              <a:buFont typeface="+mj-lt"/>
              <a:buAutoNum type="arabicPeriod"/>
            </a:pPr>
            <a:r>
              <a:rPr lang="zh-CN" altLang="en-US" sz="1600" b="0" i="0">
                <a:solidFill>
                  <a:srgbClr val="202122"/>
                </a:solidFill>
                <a:effectLst/>
                <a:latin typeface="宋体" panose="02010600030101010101" pitchFamily="2" charset="-122"/>
                <a:ea typeface="宋体" panose="02010600030101010101" pitchFamily="2" charset="-122"/>
              </a:rPr>
              <a:t>必须坚持系统观念</a:t>
            </a:r>
          </a:p>
          <a:p>
            <a:pPr algn="l">
              <a:buFont typeface="+mj-lt"/>
              <a:buAutoNum type="arabicPeriod"/>
            </a:pPr>
            <a:r>
              <a:rPr lang="zh-CN" altLang="en-US" sz="1600" b="0" i="0">
                <a:solidFill>
                  <a:srgbClr val="202122"/>
                </a:solidFill>
                <a:effectLst/>
                <a:latin typeface="宋体" panose="02010600030101010101" pitchFamily="2" charset="-122"/>
                <a:ea typeface="宋体" panose="02010600030101010101" pitchFamily="2" charset="-122"/>
              </a:rPr>
              <a:t>必须坚持胸怀天下</a:t>
            </a:r>
          </a:p>
        </p:txBody>
      </p:sp>
      <p:sp>
        <p:nvSpPr>
          <p:cNvPr id="23" name="稻壳儿搜索【幻雨工作室】_11">
            <a:extLst>
              <a:ext uri="{FF2B5EF4-FFF2-40B4-BE49-F238E27FC236}">
                <a16:creationId xmlns:a16="http://schemas.microsoft.com/office/drawing/2014/main" id="{812D17F5-0A8E-49EF-8EA4-BA8FB429404F}"/>
              </a:ext>
            </a:extLst>
          </p:cNvPr>
          <p:cNvSpPr txBox="1"/>
          <p:nvPr/>
        </p:nvSpPr>
        <p:spPr>
          <a:xfrm>
            <a:off x="8456642" y="919931"/>
            <a:ext cx="2960448" cy="3323987"/>
          </a:xfrm>
          <a:prstGeom prst="rect">
            <a:avLst/>
          </a:prstGeom>
          <a:noFill/>
        </p:spPr>
        <p:txBody>
          <a:bodyPr wrap="square" rtlCol="0">
            <a:spAutoFit/>
          </a:bodyPr>
          <a:lstStyle/>
          <a:p>
            <a:pPr algn="l">
              <a:buFont typeface="+mj-lt"/>
              <a:buAutoNum type="arabicPeriod"/>
            </a:pPr>
            <a:r>
              <a:rPr lang="zh-CN" altLang="en-US" sz="1400" b="0" i="0">
                <a:effectLst/>
                <a:latin typeface="宋体" panose="02010600030101010101" pitchFamily="2" charset="-122"/>
                <a:ea typeface="宋体" panose="02010600030101010101" pitchFamily="2" charset="-122"/>
              </a:rPr>
              <a:t>坚持</a:t>
            </a:r>
            <a:r>
              <a:rPr lang="zh-CN" altLang="en-US" sz="1400" b="0" i="0" u="none" strike="noStrike">
                <a:effectLst/>
                <a:latin typeface="宋体" panose="02010600030101010101" pitchFamily="2" charset="-122"/>
                <a:ea typeface="宋体" panose="02010600030101010101" pitchFamily="2" charset="-122"/>
                <a:hlinkClick r:id="rId2" tooltip="党领导一切">
                  <a:extLst>
                    <a:ext uri="{A12FA001-AC4F-418D-AE19-62706E023703}">
                      <ahyp:hlinkClr xmlns:ahyp="http://schemas.microsoft.com/office/drawing/2018/hyperlinkcolor" val="tx"/>
                    </a:ext>
                  </a:extLst>
                </a:hlinkClick>
              </a:rPr>
              <a:t>党对一切工作的领导</a:t>
            </a:r>
            <a:r>
              <a:rPr lang="zh-CN" altLang="en-US" sz="1400" b="0" i="0">
                <a:effectLst/>
                <a:latin typeface="宋体" panose="02010600030101010101" pitchFamily="2" charset="-122"/>
                <a:ea typeface="宋体" panose="02010600030101010101" pitchFamily="2" charset="-122"/>
              </a:rPr>
              <a:t>。</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坚持以人民为中心的发展思想。</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a:t>
            </a:r>
            <a:r>
              <a:rPr lang="zh-CN" altLang="en-US" sz="1400" b="0" i="0" u="none" strike="noStrike">
                <a:effectLst/>
                <a:latin typeface="宋体" panose="02010600030101010101" pitchFamily="2" charset="-122"/>
                <a:ea typeface="宋体" panose="02010600030101010101" pitchFamily="2" charset="-122"/>
                <a:hlinkClick r:id="rId3" tooltip="中共中央关于全面深化改革若干重大问题的决定">
                  <a:extLst>
                    <a:ext uri="{A12FA001-AC4F-418D-AE19-62706E023703}">
                      <ahyp:hlinkClr xmlns:ahyp="http://schemas.microsoft.com/office/drawing/2018/hyperlinkcolor" val="tx"/>
                    </a:ext>
                  </a:extLst>
                </a:hlinkClick>
              </a:rPr>
              <a:t>全面深化改革</a:t>
            </a:r>
            <a:r>
              <a:rPr lang="zh-CN" altLang="en-US" sz="1400" b="0" i="0">
                <a:effectLst/>
                <a:latin typeface="宋体" panose="02010600030101010101" pitchFamily="2" charset="-122"/>
                <a:ea typeface="宋体" panose="02010600030101010101" pitchFamily="2" charset="-122"/>
              </a:rPr>
              <a:t>。</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a:t>
            </a:r>
            <a:r>
              <a:rPr lang="zh-CN" altLang="en-US" sz="1400" b="0" i="0" u="none" strike="noStrike">
                <a:effectLst/>
                <a:latin typeface="宋体" panose="02010600030101010101" pitchFamily="2" charset="-122"/>
                <a:ea typeface="宋体" panose="02010600030101010101" pitchFamily="2" charset="-122"/>
                <a:hlinkClick r:id="rId4" tooltip="新发展理念">
                  <a:extLst>
                    <a:ext uri="{A12FA001-AC4F-418D-AE19-62706E023703}">
                      <ahyp:hlinkClr xmlns:ahyp="http://schemas.microsoft.com/office/drawing/2018/hyperlinkcolor" val="tx"/>
                    </a:ext>
                  </a:extLst>
                </a:hlinkClick>
              </a:rPr>
              <a:t>新发展理念</a:t>
            </a:r>
            <a:r>
              <a:rPr lang="zh-CN" altLang="en-US" sz="1400" b="0" i="0">
                <a:effectLst/>
                <a:latin typeface="宋体" panose="02010600030101010101" pitchFamily="2" charset="-122"/>
                <a:ea typeface="宋体" panose="02010600030101010101" pitchFamily="2" charset="-122"/>
              </a:rPr>
              <a:t>。</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a:t>
            </a:r>
            <a:r>
              <a:rPr lang="zh-CN" altLang="en-US" sz="1400" b="0" i="0" u="none" strike="noStrike">
                <a:effectLst/>
                <a:latin typeface="宋体" panose="02010600030101010101" pitchFamily="2" charset="-122"/>
                <a:ea typeface="宋体" panose="02010600030101010101" pitchFamily="2" charset="-122"/>
                <a:hlinkClick r:id="rId5" tooltip="人民当家作主">
                  <a:extLst>
                    <a:ext uri="{A12FA001-AC4F-418D-AE19-62706E023703}">
                      <ahyp:hlinkClr xmlns:ahyp="http://schemas.microsoft.com/office/drawing/2018/hyperlinkcolor" val="tx"/>
                    </a:ext>
                  </a:extLst>
                </a:hlinkClick>
              </a:rPr>
              <a:t>人民当家作主</a:t>
            </a:r>
            <a:r>
              <a:rPr lang="zh-CN" altLang="en-US" sz="1400" b="0" i="0">
                <a:effectLst/>
                <a:latin typeface="宋体" panose="02010600030101010101" pitchFamily="2" charset="-122"/>
                <a:ea typeface="宋体" panose="02010600030101010101" pitchFamily="2" charset="-122"/>
              </a:rPr>
              <a:t>。</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坚持全面</a:t>
            </a:r>
            <a:r>
              <a:rPr lang="zh-CN" altLang="en-US" sz="1400" b="0" i="0" u="none" strike="noStrike">
                <a:effectLst/>
                <a:latin typeface="宋体" panose="02010600030101010101" pitchFamily="2" charset="-122"/>
                <a:ea typeface="宋体" panose="02010600030101010101" pitchFamily="2" charset="-122"/>
                <a:hlinkClick r:id="rId6" tooltip="以法而治">
                  <a:extLst>
                    <a:ext uri="{A12FA001-AC4F-418D-AE19-62706E023703}">
                      <ahyp:hlinkClr xmlns:ahyp="http://schemas.microsoft.com/office/drawing/2018/hyperlinkcolor" val="tx"/>
                    </a:ext>
                  </a:extLst>
                </a:hlinkClick>
              </a:rPr>
              <a:t>依法治国</a:t>
            </a:r>
            <a:r>
              <a:rPr lang="zh-CN" altLang="en-US" sz="1400" b="0" i="0">
                <a:effectLst/>
                <a:latin typeface="宋体" panose="02010600030101010101" pitchFamily="2" charset="-122"/>
                <a:ea typeface="宋体" panose="02010600030101010101" pitchFamily="2" charset="-122"/>
              </a:rPr>
              <a:t>。</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a:t>
            </a:r>
            <a:r>
              <a:rPr lang="zh-CN" altLang="en-US" sz="1400" b="0" i="0" u="none" strike="noStrike">
                <a:effectLst/>
                <a:latin typeface="宋体" panose="02010600030101010101" pitchFamily="2" charset="-122"/>
                <a:ea typeface="宋体" panose="02010600030101010101" pitchFamily="2" charset="-122"/>
                <a:hlinkClick r:id="rId7" tooltip="社会主义核心价值体系">
                  <a:extLst>
                    <a:ext uri="{A12FA001-AC4F-418D-AE19-62706E023703}">
                      <ahyp:hlinkClr xmlns:ahyp="http://schemas.microsoft.com/office/drawing/2018/hyperlinkcolor" val="tx"/>
                    </a:ext>
                  </a:extLst>
                </a:hlinkClick>
              </a:rPr>
              <a:t>社会主义核心价值体系</a:t>
            </a:r>
            <a:r>
              <a:rPr lang="zh-CN" altLang="en-US" sz="1400" b="0" i="0">
                <a:effectLst/>
                <a:latin typeface="宋体" panose="02010600030101010101" pitchFamily="2" charset="-122"/>
                <a:ea typeface="宋体" panose="02010600030101010101" pitchFamily="2" charset="-122"/>
              </a:rPr>
              <a:t>。</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坚持在发展中保障和改善民生。</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坚持人与自然和谐共生。</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a:t>
            </a:r>
            <a:r>
              <a:rPr lang="zh-CN" altLang="en-US" sz="1400" b="0" i="0" u="none" strike="noStrike">
                <a:effectLst/>
                <a:latin typeface="宋体" panose="02010600030101010101" pitchFamily="2" charset="-122"/>
                <a:ea typeface="宋体" panose="02010600030101010101" pitchFamily="2" charset="-122"/>
                <a:hlinkClick r:id="rId8" tooltip="总体国家安全观">
                  <a:extLst>
                    <a:ext uri="{A12FA001-AC4F-418D-AE19-62706E023703}">
                      <ahyp:hlinkClr xmlns:ahyp="http://schemas.microsoft.com/office/drawing/2018/hyperlinkcolor" val="tx"/>
                    </a:ext>
                  </a:extLst>
                </a:hlinkClick>
              </a:rPr>
              <a:t>总体国家安全观</a:t>
            </a:r>
            <a:r>
              <a:rPr lang="zh-CN" altLang="en-US" sz="1400" b="0" i="0">
                <a:effectLst/>
                <a:latin typeface="宋体" panose="02010600030101010101" pitchFamily="2" charset="-122"/>
                <a:ea typeface="宋体" panose="02010600030101010101" pitchFamily="2" charset="-122"/>
              </a:rPr>
              <a:t>。</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坚持党对人民军队的绝对领导。</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a:t>
            </a:r>
            <a:r>
              <a:rPr lang="zh-CN" altLang="en-US" sz="1400" b="0" i="0" u="none" strike="noStrike">
                <a:effectLst/>
                <a:latin typeface="宋体" panose="02010600030101010101" pitchFamily="2" charset="-122"/>
                <a:ea typeface="宋体" panose="02010600030101010101" pitchFamily="2" charset="-122"/>
                <a:hlinkClick r:id="rId9" tooltip="一国两制">
                  <a:extLst>
                    <a:ext uri="{A12FA001-AC4F-418D-AE19-62706E023703}">
                      <ahyp:hlinkClr xmlns:ahyp="http://schemas.microsoft.com/office/drawing/2018/hyperlinkcolor" val="tx"/>
                    </a:ext>
                  </a:extLst>
                </a:hlinkClick>
              </a:rPr>
              <a:t>一国两制</a:t>
            </a:r>
            <a:r>
              <a:rPr lang="zh-CN" altLang="en-US" sz="1400" b="0" i="0">
                <a:effectLst/>
                <a:latin typeface="宋体" panose="02010600030101010101" pitchFamily="2" charset="-122"/>
                <a:ea typeface="宋体" panose="02010600030101010101" pitchFamily="2" charset="-122"/>
              </a:rPr>
              <a:t>”和推进</a:t>
            </a:r>
            <a:r>
              <a:rPr lang="zh-CN" altLang="en-US" sz="1400" b="0" i="0" u="none" strike="noStrike">
                <a:effectLst/>
                <a:latin typeface="宋体" panose="02010600030101010101" pitchFamily="2" charset="-122"/>
                <a:ea typeface="宋体" panose="02010600030101010101" pitchFamily="2" charset="-122"/>
                <a:hlinkClick r:id="rId10" tooltip="中国统一">
                  <a:extLst>
                    <a:ext uri="{A12FA001-AC4F-418D-AE19-62706E023703}">
                      <ahyp:hlinkClr xmlns:ahyp="http://schemas.microsoft.com/office/drawing/2018/hyperlinkcolor" val="tx"/>
                    </a:ext>
                  </a:extLst>
                </a:hlinkClick>
              </a:rPr>
              <a:t>祖国统一</a:t>
            </a:r>
            <a:r>
              <a:rPr lang="zh-CN" altLang="en-US" sz="1400" b="0" i="0">
                <a:effectLst/>
                <a:latin typeface="宋体" panose="02010600030101010101" pitchFamily="2" charset="-122"/>
                <a:ea typeface="宋体" panose="02010600030101010101" pitchFamily="2" charset="-122"/>
              </a:rPr>
              <a:t>。</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坚持推动构建</a:t>
            </a:r>
            <a:r>
              <a:rPr lang="zh-CN" altLang="en-US" sz="1400" b="0" i="0" u="none" strike="noStrike">
                <a:effectLst/>
                <a:latin typeface="宋体" panose="02010600030101010101" pitchFamily="2" charset="-122"/>
                <a:ea typeface="宋体" panose="02010600030101010101" pitchFamily="2" charset="-122"/>
                <a:hlinkClick r:id="rId11" tooltip="人类命运共同体">
                  <a:extLst>
                    <a:ext uri="{A12FA001-AC4F-418D-AE19-62706E023703}">
                      <ahyp:hlinkClr xmlns:ahyp="http://schemas.microsoft.com/office/drawing/2018/hyperlinkcolor" val="tx"/>
                    </a:ext>
                  </a:extLst>
                </a:hlinkClick>
              </a:rPr>
              <a:t>人类命运共同体</a:t>
            </a:r>
            <a:r>
              <a:rPr lang="zh-CN" altLang="en-US" sz="1400" b="0" i="0">
                <a:effectLst/>
                <a:latin typeface="宋体" panose="02010600030101010101" pitchFamily="2" charset="-122"/>
                <a:ea typeface="宋体" panose="02010600030101010101" pitchFamily="2" charset="-122"/>
              </a:rPr>
              <a:t>。</a:t>
            </a:r>
          </a:p>
          <a:p>
            <a:pPr algn="l">
              <a:buFont typeface="+mj-lt"/>
              <a:buAutoNum type="arabicPeriod"/>
            </a:pPr>
            <a:r>
              <a:rPr lang="zh-CN" altLang="en-US" sz="1400" b="0" i="0">
                <a:effectLst/>
                <a:latin typeface="宋体" panose="02010600030101010101" pitchFamily="2" charset="-122"/>
                <a:ea typeface="宋体" panose="02010600030101010101" pitchFamily="2" charset="-122"/>
              </a:rPr>
              <a:t>坚持</a:t>
            </a:r>
            <a:r>
              <a:rPr lang="zh-CN" altLang="en-US" sz="1400" b="0" i="0" u="none" strike="noStrike">
                <a:effectLst/>
                <a:latin typeface="宋体" panose="02010600030101010101" pitchFamily="2" charset="-122"/>
                <a:ea typeface="宋体" panose="02010600030101010101" pitchFamily="2" charset="-122"/>
                <a:hlinkClick r:id="rId12" tooltip="全面从严治党">
                  <a:extLst>
                    <a:ext uri="{A12FA001-AC4F-418D-AE19-62706E023703}">
                      <ahyp:hlinkClr xmlns:ahyp="http://schemas.microsoft.com/office/drawing/2018/hyperlinkcolor" val="tx"/>
                    </a:ext>
                  </a:extLst>
                </a:hlinkClick>
              </a:rPr>
              <a:t>全面从严治党</a:t>
            </a:r>
            <a:r>
              <a:rPr lang="zh-CN" altLang="en-US" sz="1400" b="0" i="0">
                <a:effectLst/>
                <a:latin typeface="宋体" panose="02010600030101010101" pitchFamily="2" charset="-122"/>
                <a:ea typeface="宋体" panose="02010600030101010101" pitchFamily="2" charset="-122"/>
              </a:rPr>
              <a:t>。</a:t>
            </a:r>
          </a:p>
        </p:txBody>
      </p:sp>
      <p:sp>
        <p:nvSpPr>
          <p:cNvPr id="24" name="稻壳儿搜索【幻雨工作室】_12">
            <a:extLst>
              <a:ext uri="{FF2B5EF4-FFF2-40B4-BE49-F238E27FC236}">
                <a16:creationId xmlns:a16="http://schemas.microsoft.com/office/drawing/2014/main" id="{748CD40D-3DB0-420F-BB75-59CF1B31CF0A}"/>
              </a:ext>
            </a:extLst>
          </p:cNvPr>
          <p:cNvSpPr txBox="1"/>
          <p:nvPr/>
        </p:nvSpPr>
        <p:spPr>
          <a:xfrm>
            <a:off x="1677772" y="3992432"/>
            <a:ext cx="3083909" cy="2492990"/>
          </a:xfrm>
          <a:prstGeom prst="rect">
            <a:avLst/>
          </a:prstGeom>
          <a:noFill/>
        </p:spPr>
        <p:txBody>
          <a:bodyPr wrap="square" rtlCol="0">
            <a:spAutoFit/>
          </a:bodyPr>
          <a:lstStyle/>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在坚持党的全面领导上</a:t>
            </a:r>
          </a:p>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在全面从严治党上</a:t>
            </a:r>
          </a:p>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在经济建设上</a:t>
            </a:r>
          </a:p>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在全面深化改革开放上</a:t>
            </a:r>
          </a:p>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在政治建设上</a:t>
            </a:r>
          </a:p>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在全面依法治国上</a:t>
            </a:r>
          </a:p>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在文化建设上</a:t>
            </a:r>
          </a:p>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在社会建设上</a:t>
            </a:r>
          </a:p>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在生态文明建设上</a:t>
            </a:r>
          </a:p>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在国防和军队建设上</a:t>
            </a:r>
          </a:p>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在维护国家安全上</a:t>
            </a:r>
          </a:p>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在坚持“一国两制”和推进祖国统一上</a:t>
            </a:r>
          </a:p>
          <a:p>
            <a:pPr algn="l">
              <a:buFont typeface="+mj-lt"/>
              <a:buAutoNum type="arabicPeriod"/>
            </a:pPr>
            <a:r>
              <a:rPr lang="zh-CN" altLang="en-US" sz="1200" b="0" i="0">
                <a:solidFill>
                  <a:srgbClr val="202122"/>
                </a:solidFill>
                <a:effectLst/>
                <a:latin typeface="宋体" panose="02010600030101010101" pitchFamily="2" charset="-122"/>
                <a:ea typeface="宋体" panose="02010600030101010101" pitchFamily="2" charset="-122"/>
              </a:rPr>
              <a:t>在外交工作上</a:t>
            </a:r>
          </a:p>
        </p:txBody>
      </p:sp>
      <p:sp>
        <p:nvSpPr>
          <p:cNvPr id="25" name="稻壳儿搜索【幻雨工作室】_13">
            <a:extLst>
              <a:ext uri="{FF2B5EF4-FFF2-40B4-BE49-F238E27FC236}">
                <a16:creationId xmlns:a16="http://schemas.microsoft.com/office/drawing/2014/main" id="{5CDEAB0A-2501-42C5-A1CD-36B6738FF11D}"/>
              </a:ext>
            </a:extLst>
          </p:cNvPr>
          <p:cNvSpPr txBox="1"/>
          <p:nvPr/>
        </p:nvSpPr>
        <p:spPr>
          <a:xfrm>
            <a:off x="362003" y="576112"/>
            <a:ext cx="4140294" cy="3416320"/>
          </a:xfrm>
          <a:prstGeom prst="rect">
            <a:avLst/>
          </a:prstGeom>
          <a:noFill/>
        </p:spPr>
        <p:txBody>
          <a:bodyPr wrap="square" rtlCol="0">
            <a:spAutoFit/>
          </a:bodyPr>
          <a:lstStyle/>
          <a:p>
            <a:pPr algn="l">
              <a:buFont typeface="+mj-lt"/>
              <a:buAutoNum type="arabicPeriod"/>
            </a:pPr>
            <a:r>
              <a:rPr lang="zh-CN" altLang="en-US" sz="800" b="0" i="0">
                <a:effectLst/>
                <a:latin typeface="宋体" panose="02010600030101010101" pitchFamily="2" charset="-122"/>
                <a:ea typeface="宋体" panose="02010600030101010101" pitchFamily="2" charset="-122"/>
              </a:rPr>
              <a:t>明确</a:t>
            </a:r>
            <a:r>
              <a:rPr lang="zh-CN" altLang="en-US" sz="800" b="0" i="0" strike="noStrike">
                <a:effectLst/>
                <a:latin typeface="宋体" panose="02010600030101010101" pitchFamily="2" charset="-122"/>
                <a:ea typeface="宋体" panose="02010600030101010101" pitchFamily="2" charset="-122"/>
                <a:hlinkClick r:id="rId13" tooltip="中国特色社会主义">
                  <a:extLst>
                    <a:ext uri="{A12FA001-AC4F-418D-AE19-62706E023703}">
                      <ahyp:hlinkClr xmlns:ahyp="http://schemas.microsoft.com/office/drawing/2018/hyperlinkcolor" val="tx"/>
                    </a:ext>
                  </a:extLst>
                </a:hlinkClick>
              </a:rPr>
              <a:t>中国特色社会主义</a:t>
            </a:r>
            <a:r>
              <a:rPr lang="zh-CN" altLang="en-US" sz="800" b="0" i="0">
                <a:effectLst/>
                <a:latin typeface="宋体" panose="02010600030101010101" pitchFamily="2" charset="-122"/>
                <a:ea typeface="宋体" panose="02010600030101010101" pitchFamily="2" charset="-122"/>
              </a:rPr>
              <a:t>最本质的特征是中国共产党领导，中国特色社会主义制度的最大优势是中国共产党领导，中国共产党是最高政治领导力量，全党必须增强“</a:t>
            </a:r>
            <a:r>
              <a:rPr lang="zh-CN" altLang="en-US" sz="800" b="0" i="0" strike="noStrike">
                <a:effectLst/>
                <a:latin typeface="宋体" panose="02010600030101010101" pitchFamily="2" charset="-122"/>
                <a:ea typeface="宋体" panose="02010600030101010101" pitchFamily="2" charset="-122"/>
                <a:hlinkClick r:id="rId14" tooltip="四个意识">
                  <a:extLst>
                    <a:ext uri="{A12FA001-AC4F-418D-AE19-62706E023703}">
                      <ahyp:hlinkClr xmlns:ahyp="http://schemas.microsoft.com/office/drawing/2018/hyperlinkcolor" val="tx"/>
                    </a:ext>
                  </a:extLst>
                </a:hlinkClick>
              </a:rPr>
              <a:t>四个意识</a:t>
            </a:r>
            <a:r>
              <a:rPr lang="zh-CN" altLang="en-US" sz="800" b="0" i="0">
                <a:effectLst/>
                <a:latin typeface="宋体" panose="02010600030101010101" pitchFamily="2" charset="-122"/>
                <a:ea typeface="宋体" panose="02010600030101010101" pitchFamily="2" charset="-122"/>
              </a:rPr>
              <a:t>”、坚定“</a:t>
            </a:r>
            <a:r>
              <a:rPr lang="zh-CN" altLang="en-US" sz="800" b="0" i="0" strike="noStrike">
                <a:effectLst/>
                <a:latin typeface="宋体" panose="02010600030101010101" pitchFamily="2" charset="-122"/>
                <a:ea typeface="宋体" panose="02010600030101010101" pitchFamily="2" charset="-122"/>
                <a:hlinkClick r:id="rId15" tooltip="四个自信">
                  <a:extLst>
                    <a:ext uri="{A12FA001-AC4F-418D-AE19-62706E023703}">
                      <ahyp:hlinkClr xmlns:ahyp="http://schemas.microsoft.com/office/drawing/2018/hyperlinkcolor" val="tx"/>
                    </a:ext>
                  </a:extLst>
                </a:hlinkClick>
              </a:rPr>
              <a:t>四个自信</a:t>
            </a:r>
            <a:r>
              <a:rPr lang="zh-CN" altLang="en-US" sz="800" b="0" i="0">
                <a:effectLst/>
                <a:latin typeface="宋体" panose="02010600030101010101" pitchFamily="2" charset="-122"/>
                <a:ea typeface="宋体" panose="02010600030101010101" pitchFamily="2" charset="-122"/>
              </a:rPr>
              <a:t>”、做到“</a:t>
            </a:r>
            <a:r>
              <a:rPr lang="zh-CN" altLang="en-US" sz="800" b="0" i="0" strike="noStrike">
                <a:effectLst/>
                <a:latin typeface="宋体" panose="02010600030101010101" pitchFamily="2" charset="-122"/>
                <a:ea typeface="宋体" panose="02010600030101010101" pitchFamily="2" charset="-122"/>
                <a:hlinkClick r:id="rId16" tooltip="两个维护">
                  <a:extLst>
                    <a:ext uri="{A12FA001-AC4F-418D-AE19-62706E023703}">
                      <ahyp:hlinkClr xmlns:ahyp="http://schemas.microsoft.com/office/drawing/2018/hyperlinkcolor" val="tx"/>
                    </a:ext>
                  </a:extLst>
                </a:hlinkClick>
              </a:rPr>
              <a:t>两个维护</a:t>
            </a:r>
            <a:r>
              <a:rPr lang="zh-CN" altLang="en-US" sz="800" b="0" i="0">
                <a:effectLst/>
                <a:latin typeface="宋体" panose="02010600030101010101" pitchFamily="2" charset="-122"/>
                <a:ea typeface="宋体" panose="02010600030101010101" pitchFamily="2" charset="-122"/>
              </a:rPr>
              <a:t>”。</a:t>
            </a:r>
          </a:p>
          <a:p>
            <a:pPr algn="l">
              <a:buFont typeface="+mj-lt"/>
              <a:buAutoNum type="arabicPeriod"/>
            </a:pPr>
            <a:r>
              <a:rPr lang="zh-CN" altLang="en-US" sz="800" b="0" i="0">
                <a:effectLst/>
                <a:latin typeface="宋体" panose="02010600030101010101" pitchFamily="2" charset="-122"/>
                <a:ea typeface="宋体" panose="02010600030101010101" pitchFamily="2" charset="-122"/>
              </a:rPr>
              <a:t>明确坚持和发展中国特色社会主义，总任务是实现社会主义现代化和</a:t>
            </a:r>
            <a:r>
              <a:rPr lang="zh-CN" altLang="en-US" sz="800" b="0" i="0" strike="noStrike">
                <a:effectLst/>
                <a:latin typeface="宋体" panose="02010600030101010101" pitchFamily="2" charset="-122"/>
                <a:ea typeface="宋体" panose="02010600030101010101" pitchFamily="2" charset="-122"/>
                <a:hlinkClick r:id="rId17" tooltip="中华民族伟大复兴">
                  <a:extLst>
                    <a:ext uri="{A12FA001-AC4F-418D-AE19-62706E023703}">
                      <ahyp:hlinkClr xmlns:ahyp="http://schemas.microsoft.com/office/drawing/2018/hyperlinkcolor" val="tx"/>
                    </a:ext>
                  </a:extLst>
                </a:hlinkClick>
              </a:rPr>
              <a:t>中华民族伟大复兴</a:t>
            </a:r>
            <a:r>
              <a:rPr lang="zh-CN" altLang="en-US" sz="800" b="0" i="0">
                <a:effectLst/>
                <a:latin typeface="宋体" panose="02010600030101010101" pitchFamily="2" charset="-122"/>
                <a:ea typeface="宋体" panose="02010600030101010101" pitchFamily="2" charset="-122"/>
              </a:rPr>
              <a:t>，在全面建成小康社会的基础上，分两步走在本世纪中建成富强民主文明和谐美丽的社会主义现代化强国，以</a:t>
            </a:r>
            <a:r>
              <a:rPr lang="zh-CN" altLang="en-US" sz="800" b="0" i="0" strike="noStrike">
                <a:effectLst/>
                <a:latin typeface="宋体" panose="02010600030101010101" pitchFamily="2" charset="-122"/>
                <a:ea typeface="宋体" panose="02010600030101010101" pitchFamily="2" charset="-122"/>
                <a:hlinkClick r:id="rId18" tooltip="中国式现代化">
                  <a:extLst>
                    <a:ext uri="{A12FA001-AC4F-418D-AE19-62706E023703}">
                      <ahyp:hlinkClr xmlns:ahyp="http://schemas.microsoft.com/office/drawing/2018/hyperlinkcolor" val="tx"/>
                    </a:ext>
                  </a:extLst>
                </a:hlinkClick>
              </a:rPr>
              <a:t>中国式现代化</a:t>
            </a:r>
            <a:r>
              <a:rPr lang="zh-CN" altLang="en-US" sz="800" b="0" i="0">
                <a:effectLst/>
                <a:latin typeface="宋体" panose="02010600030101010101" pitchFamily="2" charset="-122"/>
                <a:ea typeface="宋体" panose="02010600030101010101" pitchFamily="2" charset="-122"/>
              </a:rPr>
              <a:t>推进中华民族伟大复兴。</a:t>
            </a:r>
          </a:p>
          <a:p>
            <a:pPr algn="l">
              <a:buFont typeface="+mj-lt"/>
              <a:buAutoNum type="arabicPeriod"/>
            </a:pPr>
            <a:r>
              <a:rPr lang="zh-CN" altLang="en-US" sz="800" b="0" i="0">
                <a:effectLst/>
                <a:latin typeface="宋体" panose="02010600030101010101" pitchFamily="2" charset="-122"/>
                <a:ea typeface="宋体" panose="02010600030101010101" pitchFamily="2" charset="-122"/>
              </a:rPr>
              <a:t>明确新时代我国社会主要矛盾是人民日益增长的美好生活需要和不平衡不充分的发展之间的矛盾，必须坚持以人民为中心的发展思想，发展</a:t>
            </a:r>
            <a:r>
              <a:rPr lang="zh-CN" altLang="en-US" sz="800" b="0" i="0" strike="noStrike">
                <a:effectLst/>
                <a:latin typeface="宋体" panose="02010600030101010101" pitchFamily="2" charset="-122"/>
                <a:ea typeface="宋体" panose="02010600030101010101" pitchFamily="2" charset="-122"/>
                <a:hlinkClick r:id="rId19" tooltip="全过程人民民主">
                  <a:extLst>
                    <a:ext uri="{A12FA001-AC4F-418D-AE19-62706E023703}">
                      <ahyp:hlinkClr xmlns:ahyp="http://schemas.microsoft.com/office/drawing/2018/hyperlinkcolor" val="tx"/>
                    </a:ext>
                  </a:extLst>
                </a:hlinkClick>
              </a:rPr>
              <a:t>全过程人民民主</a:t>
            </a:r>
            <a:r>
              <a:rPr lang="zh-CN" altLang="en-US" sz="800" b="0" i="0">
                <a:effectLst/>
                <a:latin typeface="宋体" panose="02010600030101010101" pitchFamily="2" charset="-122"/>
                <a:ea typeface="宋体" panose="02010600030101010101" pitchFamily="2" charset="-122"/>
              </a:rPr>
              <a:t>，推动人的全面发展、全体人民</a:t>
            </a:r>
            <a:r>
              <a:rPr lang="zh-CN" altLang="en-US" sz="800" b="0" i="0" strike="noStrike">
                <a:effectLst/>
                <a:latin typeface="宋体" panose="02010600030101010101" pitchFamily="2" charset="-122"/>
                <a:ea typeface="宋体" panose="02010600030101010101" pitchFamily="2" charset="-122"/>
                <a:hlinkClick r:id="rId20" tooltip="共同富裕">
                  <a:extLst>
                    <a:ext uri="{A12FA001-AC4F-418D-AE19-62706E023703}">
                      <ahyp:hlinkClr xmlns:ahyp="http://schemas.microsoft.com/office/drawing/2018/hyperlinkcolor" val="tx"/>
                    </a:ext>
                  </a:extLst>
                </a:hlinkClick>
              </a:rPr>
              <a:t>共同富裕</a:t>
            </a:r>
            <a:r>
              <a:rPr lang="zh-CN" altLang="en-US" sz="800" b="0" i="0">
                <a:effectLst/>
                <a:latin typeface="宋体" panose="02010600030101010101" pitchFamily="2" charset="-122"/>
                <a:ea typeface="宋体" panose="02010600030101010101" pitchFamily="2" charset="-122"/>
              </a:rPr>
              <a:t>取得更为明显的实质性进展。</a:t>
            </a:r>
          </a:p>
          <a:p>
            <a:pPr algn="l">
              <a:buFont typeface="+mj-lt"/>
              <a:buAutoNum type="arabicPeriod"/>
            </a:pPr>
            <a:r>
              <a:rPr lang="zh-CN" altLang="en-US" sz="800" b="0" i="0">
                <a:effectLst/>
                <a:latin typeface="宋体" panose="02010600030101010101" pitchFamily="2" charset="-122"/>
                <a:ea typeface="宋体" panose="02010600030101010101" pitchFamily="2" charset="-122"/>
              </a:rPr>
              <a:t>明确中国特色社会主义事业总体布局是经济建设、政治建设、文化建设、社会建设、生态文明建设</a:t>
            </a:r>
            <a:r>
              <a:rPr lang="zh-CN" altLang="en-US" sz="800" b="0" i="0" strike="noStrike">
                <a:effectLst/>
                <a:latin typeface="宋体" panose="02010600030101010101" pitchFamily="2" charset="-122"/>
                <a:ea typeface="宋体" panose="02010600030101010101" pitchFamily="2" charset="-122"/>
                <a:hlinkClick r:id="rId21" tooltip="“五位一体”总体布局">
                  <a:extLst>
                    <a:ext uri="{A12FA001-AC4F-418D-AE19-62706E023703}">
                      <ahyp:hlinkClr xmlns:ahyp="http://schemas.microsoft.com/office/drawing/2018/hyperlinkcolor" val="tx"/>
                    </a:ext>
                  </a:extLst>
                </a:hlinkClick>
              </a:rPr>
              <a:t>五位一体</a:t>
            </a:r>
            <a:r>
              <a:rPr lang="zh-CN" altLang="en-US" sz="800" b="0" i="0">
                <a:effectLst/>
                <a:latin typeface="宋体" panose="02010600030101010101" pitchFamily="2" charset="-122"/>
                <a:ea typeface="宋体" panose="02010600030101010101" pitchFamily="2" charset="-122"/>
              </a:rPr>
              <a:t>，战略布局是全面建设社会主义现代化国家、全面深化改革、全面依法治国、全面从严治党</a:t>
            </a:r>
            <a:r>
              <a:rPr lang="zh-CN" altLang="en-US" sz="800" b="0" i="0" strike="noStrike">
                <a:effectLst/>
                <a:latin typeface="宋体" panose="02010600030101010101" pitchFamily="2" charset="-122"/>
                <a:ea typeface="宋体" panose="02010600030101010101" pitchFamily="2" charset="-122"/>
                <a:hlinkClick r:id="rId22" tooltip="“四个全面”战略布局">
                  <a:extLst>
                    <a:ext uri="{A12FA001-AC4F-418D-AE19-62706E023703}">
                      <ahyp:hlinkClr xmlns:ahyp="http://schemas.microsoft.com/office/drawing/2018/hyperlinkcolor" val="tx"/>
                    </a:ext>
                  </a:extLst>
                </a:hlinkClick>
              </a:rPr>
              <a:t>四个全面</a:t>
            </a:r>
            <a:r>
              <a:rPr lang="zh-CN" altLang="en-US" sz="800" b="0" i="0">
                <a:effectLst/>
                <a:latin typeface="宋体" panose="02010600030101010101" pitchFamily="2" charset="-122"/>
                <a:ea typeface="宋体" panose="02010600030101010101" pitchFamily="2" charset="-122"/>
              </a:rPr>
              <a:t>。</a:t>
            </a:r>
          </a:p>
          <a:p>
            <a:pPr algn="l">
              <a:buFont typeface="+mj-lt"/>
              <a:buAutoNum type="arabicPeriod"/>
            </a:pPr>
            <a:r>
              <a:rPr lang="zh-CN" altLang="en-US" sz="800" b="0" i="0">
                <a:effectLst/>
                <a:latin typeface="宋体" panose="02010600030101010101" pitchFamily="2" charset="-122"/>
                <a:ea typeface="宋体" panose="02010600030101010101" pitchFamily="2" charset="-122"/>
              </a:rPr>
              <a:t>明确</a:t>
            </a:r>
            <a:r>
              <a:rPr lang="zh-CN" altLang="en-US" sz="800" b="0" i="0" strike="noStrike">
                <a:effectLst/>
                <a:latin typeface="宋体" panose="02010600030101010101" pitchFamily="2" charset="-122"/>
                <a:ea typeface="宋体" panose="02010600030101010101" pitchFamily="2" charset="-122"/>
                <a:hlinkClick r:id="rId23" tooltip="全面深化改革">
                  <a:extLst>
                    <a:ext uri="{A12FA001-AC4F-418D-AE19-62706E023703}">
                      <ahyp:hlinkClr xmlns:ahyp="http://schemas.microsoft.com/office/drawing/2018/hyperlinkcolor" val="tx"/>
                    </a:ext>
                  </a:extLst>
                </a:hlinkClick>
              </a:rPr>
              <a:t>全面深化改革</a:t>
            </a:r>
            <a:r>
              <a:rPr lang="zh-CN" altLang="en-US" sz="800" b="0" i="0">
                <a:effectLst/>
                <a:latin typeface="宋体" panose="02010600030101010101" pitchFamily="2" charset="-122"/>
                <a:ea typeface="宋体" panose="02010600030101010101" pitchFamily="2" charset="-122"/>
              </a:rPr>
              <a:t>总目标是完善和发展中国特色社会主义制度、推进</a:t>
            </a:r>
            <a:r>
              <a:rPr lang="zh-CN" altLang="en-US" sz="800" b="0" i="0" strike="noStrike">
                <a:effectLst/>
                <a:latin typeface="宋体" panose="02010600030101010101" pitchFamily="2" charset="-122"/>
                <a:ea typeface="宋体" panose="02010600030101010101" pitchFamily="2" charset="-122"/>
                <a:hlinkClick r:id="rId24" tooltip="第五个现代化 (中国共产党)">
                  <a:extLst>
                    <a:ext uri="{A12FA001-AC4F-418D-AE19-62706E023703}">
                      <ahyp:hlinkClr xmlns:ahyp="http://schemas.microsoft.com/office/drawing/2018/hyperlinkcolor" val="tx"/>
                    </a:ext>
                  </a:extLst>
                </a:hlinkClick>
              </a:rPr>
              <a:t>国家治理体系和治理能力现代化</a:t>
            </a:r>
            <a:r>
              <a:rPr lang="zh-CN" altLang="en-US" sz="800" b="0" i="0">
                <a:effectLst/>
                <a:latin typeface="宋体" panose="02010600030101010101" pitchFamily="2" charset="-122"/>
                <a:ea typeface="宋体" panose="02010600030101010101" pitchFamily="2" charset="-122"/>
              </a:rPr>
              <a:t>。</a:t>
            </a:r>
          </a:p>
          <a:p>
            <a:pPr algn="l">
              <a:buFont typeface="+mj-lt"/>
              <a:buAutoNum type="arabicPeriod"/>
            </a:pPr>
            <a:r>
              <a:rPr lang="zh-CN" altLang="en-US" sz="800" b="0" i="0">
                <a:effectLst/>
                <a:latin typeface="宋体" panose="02010600030101010101" pitchFamily="2" charset="-122"/>
                <a:ea typeface="宋体" panose="02010600030101010101" pitchFamily="2" charset="-122"/>
              </a:rPr>
              <a:t>明确全面推进依法治国总目标是建设中国特色社会主义法治体系、建设社会主义</a:t>
            </a:r>
            <a:r>
              <a:rPr lang="zh-CN" altLang="en-US" sz="800" b="0" i="0" strike="noStrike">
                <a:effectLst/>
                <a:latin typeface="宋体" panose="02010600030101010101" pitchFamily="2" charset="-122"/>
                <a:ea typeface="宋体" panose="02010600030101010101" pitchFamily="2" charset="-122"/>
                <a:hlinkClick r:id="rId25" tooltip="法治国">
                  <a:extLst>
                    <a:ext uri="{A12FA001-AC4F-418D-AE19-62706E023703}">
                      <ahyp:hlinkClr xmlns:ahyp="http://schemas.microsoft.com/office/drawing/2018/hyperlinkcolor" val="tx"/>
                    </a:ext>
                  </a:extLst>
                </a:hlinkClick>
              </a:rPr>
              <a:t>法治国家</a:t>
            </a:r>
            <a:r>
              <a:rPr lang="zh-CN" altLang="en-US" sz="800" b="0" i="0">
                <a:effectLst/>
                <a:latin typeface="宋体" panose="02010600030101010101" pitchFamily="2" charset="-122"/>
                <a:ea typeface="宋体" panose="02010600030101010101" pitchFamily="2" charset="-122"/>
              </a:rPr>
              <a:t>。</a:t>
            </a:r>
          </a:p>
          <a:p>
            <a:pPr algn="l">
              <a:buFont typeface="+mj-lt"/>
              <a:buAutoNum type="arabicPeriod"/>
            </a:pPr>
            <a:r>
              <a:rPr lang="zh-CN" altLang="en-US" sz="800" b="0" i="0">
                <a:effectLst/>
                <a:latin typeface="宋体" panose="02010600030101010101" pitchFamily="2" charset="-122"/>
                <a:ea typeface="宋体" panose="02010600030101010101" pitchFamily="2" charset="-122"/>
              </a:rPr>
              <a:t>明确必须坚持和完善社会主义基本经济制度，使市场在资源配置中起决定性作用，更好发挥政府作用，把握新发展阶段，贯彻创新、协调、绿色、开放、共享的</a:t>
            </a:r>
            <a:r>
              <a:rPr lang="zh-CN" altLang="en-US" sz="800" b="0" i="0" strike="noStrike">
                <a:effectLst/>
                <a:latin typeface="宋体" panose="02010600030101010101" pitchFamily="2" charset="-122"/>
                <a:ea typeface="宋体" panose="02010600030101010101" pitchFamily="2" charset="-122"/>
                <a:hlinkClick r:id="rId4" tooltip="新发展理念">
                  <a:extLst>
                    <a:ext uri="{A12FA001-AC4F-418D-AE19-62706E023703}">
                      <ahyp:hlinkClr xmlns:ahyp="http://schemas.microsoft.com/office/drawing/2018/hyperlinkcolor" val="tx"/>
                    </a:ext>
                  </a:extLst>
                </a:hlinkClick>
              </a:rPr>
              <a:t>新发展理念</a:t>
            </a:r>
            <a:r>
              <a:rPr lang="zh-CN" altLang="en-US" sz="800" b="0" i="0">
                <a:effectLst/>
                <a:latin typeface="宋体" panose="02010600030101010101" pitchFamily="2" charset="-122"/>
                <a:ea typeface="宋体" panose="02010600030101010101" pitchFamily="2" charset="-122"/>
              </a:rPr>
              <a:t>，加快构建以国内大循环为主体、国内国际双循环相互促进的</a:t>
            </a:r>
            <a:r>
              <a:rPr lang="zh-CN" altLang="en-US" sz="800" b="0" i="0" strike="noStrike">
                <a:effectLst/>
                <a:latin typeface="宋体" panose="02010600030101010101" pitchFamily="2" charset="-122"/>
                <a:ea typeface="宋体" panose="02010600030101010101" pitchFamily="2" charset="-122"/>
                <a:hlinkClick r:id="rId26" tooltip="新发展格局">
                  <a:extLst>
                    <a:ext uri="{A12FA001-AC4F-418D-AE19-62706E023703}">
                      <ahyp:hlinkClr xmlns:ahyp="http://schemas.microsoft.com/office/drawing/2018/hyperlinkcolor" val="tx"/>
                    </a:ext>
                  </a:extLst>
                </a:hlinkClick>
              </a:rPr>
              <a:t>新发展格局</a:t>
            </a:r>
            <a:r>
              <a:rPr lang="zh-CN" altLang="en-US" sz="800" b="0" i="0">
                <a:effectLst/>
                <a:latin typeface="宋体" panose="02010600030101010101" pitchFamily="2" charset="-122"/>
                <a:ea typeface="宋体" panose="02010600030101010101" pitchFamily="2" charset="-122"/>
              </a:rPr>
              <a:t>，推动高质量发展，统筹发展和安全。</a:t>
            </a:r>
          </a:p>
          <a:p>
            <a:pPr algn="l">
              <a:buFont typeface="+mj-lt"/>
              <a:buAutoNum type="arabicPeriod"/>
            </a:pPr>
            <a:r>
              <a:rPr lang="zh-CN" altLang="en-US" sz="800" b="0" i="0">
                <a:effectLst/>
                <a:latin typeface="宋体" panose="02010600030101010101" pitchFamily="2" charset="-122"/>
                <a:ea typeface="宋体" panose="02010600030101010101" pitchFamily="2" charset="-122"/>
              </a:rPr>
              <a:t>明确党在新时代的强军目标是建设一支</a:t>
            </a:r>
            <a:r>
              <a:rPr lang="zh-CN" altLang="en-US" sz="800" b="0" i="0" strike="noStrike">
                <a:effectLst/>
                <a:latin typeface="宋体" panose="02010600030101010101" pitchFamily="2" charset="-122"/>
                <a:ea typeface="宋体" panose="02010600030101010101" pitchFamily="2" charset="-122"/>
                <a:hlinkClick r:id="rId27" tooltip="听党指挥、能打胜仗、作风优良">
                  <a:extLst>
                    <a:ext uri="{A12FA001-AC4F-418D-AE19-62706E023703}">
                      <ahyp:hlinkClr xmlns:ahyp="http://schemas.microsoft.com/office/drawing/2018/hyperlinkcolor" val="tx"/>
                    </a:ext>
                  </a:extLst>
                </a:hlinkClick>
              </a:rPr>
              <a:t>听党指挥、能打胜仗、作风优良</a:t>
            </a:r>
            <a:r>
              <a:rPr lang="zh-CN" altLang="en-US" sz="800" b="0" i="0">
                <a:effectLst/>
                <a:latin typeface="宋体" panose="02010600030101010101" pitchFamily="2" charset="-122"/>
                <a:ea typeface="宋体" panose="02010600030101010101" pitchFamily="2" charset="-122"/>
              </a:rPr>
              <a:t>的人民军队，把</a:t>
            </a:r>
            <a:r>
              <a:rPr lang="zh-CN" altLang="en-US" sz="800" b="0" i="0" strike="noStrike">
                <a:effectLst/>
                <a:latin typeface="宋体" panose="02010600030101010101" pitchFamily="2" charset="-122"/>
                <a:ea typeface="宋体" panose="02010600030101010101" pitchFamily="2" charset="-122"/>
                <a:hlinkClick r:id="rId28" tooltip="中国人民解放军">
                  <a:extLst>
                    <a:ext uri="{A12FA001-AC4F-418D-AE19-62706E023703}">
                      <ahyp:hlinkClr xmlns:ahyp="http://schemas.microsoft.com/office/drawing/2018/hyperlinkcolor" val="tx"/>
                    </a:ext>
                  </a:extLst>
                </a:hlinkClick>
              </a:rPr>
              <a:t>人民军队</a:t>
            </a:r>
            <a:r>
              <a:rPr lang="zh-CN" altLang="en-US" sz="800" b="0" i="0">
                <a:effectLst/>
                <a:latin typeface="宋体" panose="02010600030101010101" pitchFamily="2" charset="-122"/>
                <a:ea typeface="宋体" panose="02010600030101010101" pitchFamily="2" charset="-122"/>
              </a:rPr>
              <a:t>建设成为世界一流军队。</a:t>
            </a:r>
          </a:p>
          <a:p>
            <a:pPr algn="l">
              <a:buFont typeface="+mj-lt"/>
              <a:buAutoNum type="arabicPeriod"/>
            </a:pPr>
            <a:r>
              <a:rPr lang="zh-CN" altLang="en-US" sz="800" b="0" i="0">
                <a:effectLst/>
                <a:latin typeface="宋体" panose="02010600030101010101" pitchFamily="2" charset="-122"/>
                <a:ea typeface="宋体" panose="02010600030101010101" pitchFamily="2" charset="-122"/>
              </a:rPr>
              <a:t>明确</a:t>
            </a:r>
            <a:r>
              <a:rPr lang="zh-CN" altLang="en-US" sz="800" b="0" i="0" strike="noStrike">
                <a:effectLst/>
                <a:latin typeface="宋体" panose="02010600030101010101" pitchFamily="2" charset="-122"/>
                <a:ea typeface="宋体" panose="02010600030101010101" pitchFamily="2" charset="-122"/>
                <a:hlinkClick r:id="rId29" tooltip="中华人民共和国外交">
                  <a:extLst>
                    <a:ext uri="{A12FA001-AC4F-418D-AE19-62706E023703}">
                      <ahyp:hlinkClr xmlns:ahyp="http://schemas.microsoft.com/office/drawing/2018/hyperlinkcolor" val="tx"/>
                    </a:ext>
                  </a:extLst>
                </a:hlinkClick>
              </a:rPr>
              <a:t>中国特色大国外交</a:t>
            </a:r>
            <a:r>
              <a:rPr lang="zh-CN" altLang="en-US" sz="800" b="0" i="0">
                <a:effectLst/>
                <a:latin typeface="宋体" panose="02010600030101010101" pitchFamily="2" charset="-122"/>
                <a:ea typeface="宋体" panose="02010600030101010101" pitchFamily="2" charset="-122"/>
              </a:rPr>
              <a:t>要服务于民族复兴、促进人类进步，推动建设</a:t>
            </a:r>
            <a:r>
              <a:rPr lang="zh-CN" altLang="en-US" sz="800" b="0" i="0" strike="noStrike">
                <a:effectLst/>
                <a:latin typeface="宋体" panose="02010600030101010101" pitchFamily="2" charset="-122"/>
                <a:ea typeface="宋体" panose="02010600030101010101" pitchFamily="2" charset="-122"/>
                <a:hlinkClick r:id="rId30" tooltip="新型国际关系">
                  <a:extLst>
                    <a:ext uri="{A12FA001-AC4F-418D-AE19-62706E023703}">
                      <ahyp:hlinkClr xmlns:ahyp="http://schemas.microsoft.com/office/drawing/2018/hyperlinkcolor" val="tx"/>
                    </a:ext>
                  </a:extLst>
                </a:hlinkClick>
              </a:rPr>
              <a:t>新型国际关系</a:t>
            </a:r>
            <a:r>
              <a:rPr lang="zh-CN" altLang="en-US" sz="800" b="0" i="0">
                <a:effectLst/>
                <a:latin typeface="宋体" panose="02010600030101010101" pitchFamily="2" charset="-122"/>
                <a:ea typeface="宋体" panose="02010600030101010101" pitchFamily="2" charset="-122"/>
              </a:rPr>
              <a:t>，推动构建</a:t>
            </a:r>
            <a:r>
              <a:rPr lang="zh-CN" altLang="en-US" sz="800" b="0" i="0" strike="noStrike">
                <a:effectLst/>
                <a:latin typeface="宋体" panose="02010600030101010101" pitchFamily="2" charset="-122"/>
                <a:ea typeface="宋体" panose="02010600030101010101" pitchFamily="2" charset="-122"/>
                <a:hlinkClick r:id="rId11" tooltip="人类命运共同体">
                  <a:extLst>
                    <a:ext uri="{A12FA001-AC4F-418D-AE19-62706E023703}">
                      <ahyp:hlinkClr xmlns:ahyp="http://schemas.microsoft.com/office/drawing/2018/hyperlinkcolor" val="tx"/>
                    </a:ext>
                  </a:extLst>
                </a:hlinkClick>
              </a:rPr>
              <a:t>人类命运共同体</a:t>
            </a:r>
            <a:r>
              <a:rPr lang="zh-CN" altLang="en-US" sz="800" b="0" i="0">
                <a:effectLst/>
                <a:latin typeface="宋体" panose="02010600030101010101" pitchFamily="2" charset="-122"/>
                <a:ea typeface="宋体" panose="02010600030101010101" pitchFamily="2" charset="-122"/>
              </a:rPr>
              <a:t>。</a:t>
            </a:r>
          </a:p>
          <a:p>
            <a:pPr algn="l">
              <a:buFont typeface="+mj-lt"/>
              <a:buAutoNum type="arabicPeriod"/>
            </a:pPr>
            <a:r>
              <a:rPr lang="zh-CN" altLang="en-US" sz="800" b="0" i="0">
                <a:effectLst/>
                <a:latin typeface="宋体" panose="02010600030101010101" pitchFamily="2" charset="-122"/>
                <a:ea typeface="宋体" panose="02010600030101010101" pitchFamily="2" charset="-122"/>
              </a:rPr>
              <a:t>明确</a:t>
            </a:r>
            <a:r>
              <a:rPr lang="zh-CN" altLang="en-US" sz="800" b="0" i="0" strike="noStrike">
                <a:effectLst/>
                <a:latin typeface="宋体" panose="02010600030101010101" pitchFamily="2" charset="-122"/>
                <a:ea typeface="宋体" panose="02010600030101010101" pitchFamily="2" charset="-122"/>
                <a:hlinkClick r:id="rId22" tooltip="“四个全面”战略布局">
                  <a:extLst>
                    <a:ext uri="{A12FA001-AC4F-418D-AE19-62706E023703}">
                      <ahyp:hlinkClr xmlns:ahyp="http://schemas.microsoft.com/office/drawing/2018/hyperlinkcolor" val="tx"/>
                    </a:ext>
                  </a:extLst>
                </a:hlinkClick>
              </a:rPr>
              <a:t>全面从严治党</a:t>
            </a:r>
            <a:r>
              <a:rPr lang="zh-CN" altLang="en-US" sz="800" b="0" i="0">
                <a:effectLst/>
                <a:latin typeface="宋体" panose="02010600030101010101" pitchFamily="2" charset="-122"/>
                <a:ea typeface="宋体" panose="02010600030101010101" pitchFamily="2" charset="-122"/>
              </a:rPr>
              <a:t>的战略方针，提出新时代党的建设总要求，全面推进党的政治建设、思想建设、组织建设、作风建设、纪律建设，把制度建设贯穿其中，深入推进反腐败斗争，落实管党治党政治责任，以伟大自我革命引领伟大社会革命。</a:t>
            </a:r>
          </a:p>
        </p:txBody>
      </p:sp>
    </p:spTree>
    <p:extLst>
      <p:ext uri="{BB962C8B-B14F-4D97-AF65-F5344CB8AC3E}">
        <p14:creationId xmlns:p14="http://schemas.microsoft.com/office/powerpoint/2010/main" val="3852679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稻壳儿搜索【幻雨工作室】_4">
            <a:extLst>
              <a:ext uri="{FF2B5EF4-FFF2-40B4-BE49-F238E27FC236}">
                <a16:creationId xmlns:a16="http://schemas.microsoft.com/office/drawing/2014/main" id="{990A68C1-3E21-41D1-B730-5EDCB6C2BAB4}"/>
              </a:ext>
            </a:extLst>
          </p:cNvPr>
          <p:cNvSpPr txBox="1"/>
          <p:nvPr/>
        </p:nvSpPr>
        <p:spPr>
          <a:xfrm>
            <a:off x="795735" y="180584"/>
            <a:ext cx="4518392" cy="523220"/>
          </a:xfrm>
          <a:prstGeom prst="rect">
            <a:avLst/>
          </a:prstGeom>
          <a:noFill/>
          <a:effectLst>
            <a:outerShdw blurRad="50800" dist="38100" dir="8100000" algn="tr" rotWithShape="0">
              <a:prstClr val="black">
                <a:alpha val="40000"/>
              </a:prstClr>
            </a:outerShdw>
          </a:effectLst>
        </p:spPr>
        <p:txBody>
          <a:bodyPr wrap="square" rtlCol="0">
            <a:spAutoFit/>
          </a:bodyPr>
          <a:lstStyle/>
          <a:p>
            <a:pPr algn="dist"/>
            <a:r>
              <a:rPr lang="zh-CN" altLang="en-US" sz="2800" b="1">
                <a:solidFill>
                  <a:schemeClr val="tx1">
                    <a:lumMod val="85000"/>
                    <a:lumOff val="15000"/>
                  </a:schemeClr>
                </a:solidFill>
                <a:latin typeface="方正粗黑宋简体" panose="02000000000000000000" pitchFamily="2" charset="-122"/>
                <a:ea typeface="方正粗黑宋简体" panose="02000000000000000000" pitchFamily="2" charset="-122"/>
              </a:rPr>
              <a:t>理论地位与时代价值</a:t>
            </a:r>
            <a:endParaRPr lang="zh-CN" altLang="en-US" sz="2800" b="1" dirty="0">
              <a:solidFill>
                <a:schemeClr val="tx1">
                  <a:lumMod val="85000"/>
                  <a:lumOff val="15000"/>
                </a:schemeClr>
              </a:solidFill>
              <a:latin typeface="方正粗黑宋简体" panose="02000000000000000000" pitchFamily="2" charset="-122"/>
              <a:ea typeface="方正粗黑宋简体" panose="02000000000000000000" pitchFamily="2" charset="-122"/>
            </a:endParaRPr>
          </a:p>
        </p:txBody>
      </p:sp>
      <p:sp>
        <p:nvSpPr>
          <p:cNvPr id="11" name="矩形: 圆角 152">
            <a:extLst>
              <a:ext uri="{FF2B5EF4-FFF2-40B4-BE49-F238E27FC236}">
                <a16:creationId xmlns:a16="http://schemas.microsoft.com/office/drawing/2014/main" id="{220F8008-C825-4918-A2F0-F769DA6EAAD8}"/>
              </a:ext>
            </a:extLst>
          </p:cNvPr>
          <p:cNvSpPr/>
          <p:nvPr/>
        </p:nvSpPr>
        <p:spPr>
          <a:xfrm>
            <a:off x="676606" y="1305932"/>
            <a:ext cx="4902332" cy="4544535"/>
          </a:xfrm>
          <a:prstGeom prst="roundRect">
            <a:avLst>
              <a:gd name="adj" fmla="val 8361"/>
            </a:avLst>
          </a:prstGeom>
          <a:solidFill>
            <a:srgbClr val="FDF2D7">
              <a:alpha val="70000"/>
            </a:srgbClr>
          </a:solidFill>
          <a:ln/>
        </p:spPr>
        <p:style>
          <a:lnRef idx="2">
            <a:schemeClr val="accent2"/>
          </a:lnRef>
          <a:fillRef idx="1">
            <a:schemeClr val="lt1"/>
          </a:fillRef>
          <a:effectRef idx="0">
            <a:schemeClr val="accent2"/>
          </a:effectRef>
          <a:fontRef idx="minor">
            <a:schemeClr val="dk1"/>
          </a:fontRef>
        </p:style>
        <p:txBody>
          <a:bodyPr lIns="126188" tIns="63093" rIns="126188" bIns="63093" rtlCol="0" anchor="ctr"/>
          <a:lstStyle/>
          <a:p>
            <a:pPr algn="ctr"/>
            <a:endParaRPr lang="zh-CN" altLang="en-US" dirty="0">
              <a:latin typeface="字体圈欣意冠黑体" panose="00000500000000000000" pitchFamily="2" charset="-122"/>
              <a:ea typeface="字体圈欣意冠黑体" panose="00000500000000000000" pitchFamily="2" charset="-122"/>
            </a:endParaRPr>
          </a:p>
        </p:txBody>
      </p:sp>
      <p:sp>
        <p:nvSpPr>
          <p:cNvPr id="12" name="弧形 11">
            <a:extLst>
              <a:ext uri="{FF2B5EF4-FFF2-40B4-BE49-F238E27FC236}">
                <a16:creationId xmlns:a16="http://schemas.microsoft.com/office/drawing/2014/main" id="{520076C9-A144-433D-8A72-639115E9BD4F}"/>
              </a:ext>
            </a:extLst>
          </p:cNvPr>
          <p:cNvSpPr/>
          <p:nvPr/>
        </p:nvSpPr>
        <p:spPr>
          <a:xfrm flipH="1" flipV="1">
            <a:off x="682956" y="5306137"/>
            <a:ext cx="634070" cy="537980"/>
          </a:xfrm>
          <a:prstGeom prst="arc">
            <a:avLst>
              <a:gd name="adj1" fmla="val 16454462"/>
              <a:gd name="adj2" fmla="val 21453573"/>
            </a:avLst>
          </a:prstGeom>
          <a:ln w="539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sp>
        <p:nvSpPr>
          <p:cNvPr id="13" name="弧形 12">
            <a:extLst>
              <a:ext uri="{FF2B5EF4-FFF2-40B4-BE49-F238E27FC236}">
                <a16:creationId xmlns:a16="http://schemas.microsoft.com/office/drawing/2014/main" id="{92633149-D8A9-4438-A466-83514F76B6CB}"/>
              </a:ext>
            </a:extLst>
          </p:cNvPr>
          <p:cNvSpPr/>
          <p:nvPr/>
        </p:nvSpPr>
        <p:spPr>
          <a:xfrm flipV="1">
            <a:off x="4932168" y="5310024"/>
            <a:ext cx="634070" cy="537980"/>
          </a:xfrm>
          <a:prstGeom prst="arc">
            <a:avLst>
              <a:gd name="adj1" fmla="val 16454462"/>
              <a:gd name="adj2" fmla="val 21465062"/>
            </a:avLst>
          </a:prstGeom>
          <a:ln w="539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dirty="0"/>
          </a:p>
        </p:txBody>
      </p:sp>
      <p:sp>
        <p:nvSpPr>
          <p:cNvPr id="14" name="文本框 13">
            <a:extLst>
              <a:ext uri="{FF2B5EF4-FFF2-40B4-BE49-F238E27FC236}">
                <a16:creationId xmlns:a16="http://schemas.microsoft.com/office/drawing/2014/main" id="{8247D128-89CF-4579-99AD-391DF44EEFE3}"/>
              </a:ext>
            </a:extLst>
          </p:cNvPr>
          <p:cNvSpPr txBox="1"/>
          <p:nvPr>
            <p:custDataLst>
              <p:tags r:id="rId1"/>
            </p:custDataLst>
          </p:nvPr>
        </p:nvSpPr>
        <p:spPr>
          <a:xfrm>
            <a:off x="795735" y="1701897"/>
            <a:ext cx="4747357" cy="3970318"/>
          </a:xfrm>
          <a:prstGeom prst="rect">
            <a:avLst/>
          </a:prstGeom>
          <a:noFill/>
        </p:spPr>
        <p:txBody>
          <a:bodyPr wrap="square" rtlCol="0">
            <a:spAutoFit/>
          </a:bodyPr>
          <a:lstStyle/>
          <a:p>
            <a:r>
              <a:rPr lang="zh-CN" altLang="en-US" sz="1400">
                <a:latin typeface="宋体" panose="02010600030101010101" pitchFamily="2" charset="-122"/>
                <a:ea typeface="宋体" panose="02010600030101010101" pitchFamily="2" charset="-122"/>
              </a:rPr>
              <a:t>习近平新时代中国特色社会主义思想是在新时代伟大社会变革中形成的，是马克思主义中国化的最新理论成果。</a:t>
            </a:r>
          </a:p>
          <a:p>
            <a:r>
              <a:rPr lang="zh-CN" altLang="en-US" sz="1400">
                <a:latin typeface="宋体" panose="02010600030101010101" pitchFamily="2" charset="-122"/>
                <a:ea typeface="宋体" panose="02010600030101010101" pitchFamily="2" charset="-122"/>
              </a:rPr>
              <a:t>这一思想体系：</a:t>
            </a:r>
          </a:p>
          <a:p>
            <a:r>
              <a:rPr lang="zh-CN" altLang="en-US" sz="1400" b="1">
                <a:latin typeface="宋体" panose="02010600030101010101" pitchFamily="2" charset="-122"/>
                <a:ea typeface="宋体" panose="02010600030101010101" pitchFamily="2" charset="-122"/>
              </a:rPr>
              <a:t>源于新时代实践的总结：</a:t>
            </a:r>
            <a:r>
              <a:rPr lang="zh-CN" altLang="en-US" sz="1400">
                <a:latin typeface="宋体" panose="02010600030101010101" pitchFamily="2" charset="-122"/>
                <a:ea typeface="宋体" panose="02010600030101010101" pitchFamily="2" charset="-122"/>
              </a:rPr>
              <a:t>党的十八大以来，中国取得历史性成就和发生历史性变革，迫切需要科学理论来总结经验、指导方向；</a:t>
            </a:r>
          </a:p>
          <a:p>
            <a:r>
              <a:rPr lang="zh-CN" altLang="en-US" sz="1400" b="1">
                <a:latin typeface="宋体" panose="02010600030101010101" pitchFamily="2" charset="-122"/>
                <a:ea typeface="宋体" panose="02010600030101010101" pitchFamily="2" charset="-122"/>
              </a:rPr>
              <a:t>确立于党的十九大：</a:t>
            </a:r>
            <a:r>
              <a:rPr lang="zh-CN" altLang="en-US" sz="1400">
                <a:latin typeface="宋体" panose="02010600030101010101" pitchFamily="2" charset="-122"/>
                <a:ea typeface="宋体" panose="02010600030101010101" pitchFamily="2" charset="-122"/>
              </a:rPr>
              <a:t>大会首次将这一思想确立为党的指导思想，并在二十大中继续发展和完善；</a:t>
            </a:r>
          </a:p>
          <a:p>
            <a:r>
              <a:rPr lang="zh-CN" altLang="en-US" sz="1400" b="1">
                <a:latin typeface="宋体" panose="02010600030101010101" pitchFamily="2" charset="-122"/>
                <a:ea typeface="宋体" panose="02010600030101010101" pitchFamily="2" charset="-122"/>
              </a:rPr>
              <a:t>回答时代之问：</a:t>
            </a:r>
            <a:r>
              <a:rPr lang="zh-CN" altLang="en-US" sz="1400">
                <a:latin typeface="宋体" panose="02010600030101010101" pitchFamily="2" charset="-122"/>
                <a:ea typeface="宋体" panose="02010600030101010101" pitchFamily="2" charset="-122"/>
              </a:rPr>
              <a:t>它系统回答了“新时代坚持和发展什么样的中国特色社会主义、怎样坚持和发展中国特色社会主义”的根本问题；</a:t>
            </a:r>
          </a:p>
          <a:p>
            <a:r>
              <a:rPr lang="zh-CN" altLang="en-US" sz="1400" b="1">
                <a:latin typeface="宋体" panose="02010600030101010101" pitchFamily="2" charset="-122"/>
                <a:ea typeface="宋体" panose="02010600030101010101" pitchFamily="2" charset="-122"/>
              </a:rPr>
              <a:t>体现五大特征</a:t>
            </a:r>
            <a:r>
              <a:rPr lang="zh-CN" altLang="en-US" sz="1400">
                <a:latin typeface="宋体" panose="02010600030101010101" pitchFamily="2" charset="-122"/>
                <a:ea typeface="宋体" panose="02010600030101010101" pitchFamily="2" charset="-122"/>
              </a:rPr>
              <a:t>：政治引领性、人民立场性、实践导向性、系统完整性和开放包容性。</a:t>
            </a:r>
          </a:p>
          <a:p>
            <a:r>
              <a:rPr lang="zh-CN" altLang="en-US" sz="1400">
                <a:latin typeface="宋体" panose="02010600030101010101" pitchFamily="2" charset="-122"/>
                <a:ea typeface="宋体" panose="02010600030101010101" pitchFamily="2" charset="-122"/>
              </a:rPr>
              <a:t>在国际层面，该思想也成为发展中国家探索现代化道路的“中国方案”，推动构建人类命运共同体，展示了中国智慧与中国力量。</a:t>
            </a:r>
          </a:p>
          <a:p>
            <a:r>
              <a:rPr lang="zh-CN" altLang="en-US" sz="1400">
                <a:latin typeface="宋体" panose="02010600030101010101" pitchFamily="2" charset="-122"/>
                <a:ea typeface="宋体" panose="02010600030101010101" pitchFamily="2" charset="-122"/>
              </a:rPr>
              <a:t>正是在这一理论指导下，我们才能在新时代实现从“站起来、富起来”到“强起来”的伟大飞跃。</a:t>
            </a:r>
          </a:p>
        </p:txBody>
      </p:sp>
      <p:sp>
        <p:nvSpPr>
          <p:cNvPr id="15" name="圆角矩形 17">
            <a:extLst>
              <a:ext uri="{FF2B5EF4-FFF2-40B4-BE49-F238E27FC236}">
                <a16:creationId xmlns:a16="http://schemas.microsoft.com/office/drawing/2014/main" id="{749C4468-5CC5-4DD5-956F-CDB67D99712F}"/>
              </a:ext>
            </a:extLst>
          </p:cNvPr>
          <p:cNvSpPr/>
          <p:nvPr>
            <p:custDataLst>
              <p:tags r:id="rId2"/>
            </p:custDataLst>
          </p:nvPr>
        </p:nvSpPr>
        <p:spPr>
          <a:xfrm>
            <a:off x="931333" y="1078920"/>
            <a:ext cx="4392881" cy="500380"/>
          </a:xfrm>
          <a:prstGeom prst="roundRect">
            <a:avLst/>
          </a:prstGeom>
          <a:solidFill>
            <a:srgbClr val="B7252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kumimoji="1" lang="zh-CN" altLang="en-US" sz="1400" b="1" dirty="0">
              <a:solidFill>
                <a:schemeClr val="bg1"/>
              </a:solidFill>
              <a:effectLst/>
              <a:latin typeface="方正公文黑体" panose="02000500000000000000" charset="-122"/>
              <a:ea typeface="方正公文黑体" panose="02000500000000000000" charset="-122"/>
              <a:cs typeface="汉仪雅酷黑W" panose="00020600040101010101" charset="-122"/>
              <a:sym typeface="+mn-ea"/>
            </a:endParaRPr>
          </a:p>
        </p:txBody>
      </p:sp>
      <p:sp>
        <p:nvSpPr>
          <p:cNvPr id="16" name="内容占位符 3">
            <a:extLst>
              <a:ext uri="{FF2B5EF4-FFF2-40B4-BE49-F238E27FC236}">
                <a16:creationId xmlns:a16="http://schemas.microsoft.com/office/drawing/2014/main" id="{B14A83E7-A58C-4114-82BB-B859CFEA433D}"/>
              </a:ext>
            </a:extLst>
          </p:cNvPr>
          <p:cNvSpPr>
            <a:spLocks noGrp="1"/>
          </p:cNvSpPr>
          <p:nvPr/>
        </p:nvSpPr>
        <p:spPr>
          <a:xfrm>
            <a:off x="795735" y="1078920"/>
            <a:ext cx="4664075" cy="454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Aft>
                <a:spcPts val="0"/>
              </a:spcAft>
              <a:buNone/>
            </a:pPr>
            <a:r>
              <a:rPr lang="zh-CN" altLang="en-US" sz="2200">
                <a:solidFill>
                  <a:schemeClr val="bg1"/>
                </a:solidFill>
                <a:effectLst>
                  <a:innerShdw blurRad="12700" dist="50800" dir="13500000">
                    <a:srgbClr val="050505">
                      <a:alpha val="50000"/>
                    </a:srgbClr>
                  </a:innerShdw>
                </a:effectLst>
                <a:latin typeface="方正公文小标宋" panose="02000500000000000000" charset="-122"/>
                <a:ea typeface="方正公文小标宋" panose="02000500000000000000" charset="-122"/>
                <a:cs typeface="方正公文小标宋" panose="02000500000000000000" charset="-122"/>
                <a:sym typeface="+mn-ea"/>
              </a:rPr>
              <a:t>新时代思想的历史地位与时代意义</a:t>
            </a:r>
            <a:endParaRPr lang="zh-CN" altLang="en-US" sz="2200" dirty="0">
              <a:solidFill>
                <a:schemeClr val="bg1"/>
              </a:solidFill>
              <a:effectLst>
                <a:innerShdw blurRad="12700" dist="50800" dir="13500000">
                  <a:srgbClr val="050505">
                    <a:alpha val="50000"/>
                  </a:srgbClr>
                </a:innerShdw>
              </a:effectLst>
              <a:latin typeface="方正公文小标宋" panose="02000500000000000000" charset="-122"/>
              <a:ea typeface="方正公文小标宋" panose="02000500000000000000" charset="-122"/>
              <a:cs typeface="方正公文小标宋" panose="02000500000000000000" charset="-122"/>
            </a:endParaRPr>
          </a:p>
        </p:txBody>
      </p:sp>
      <p:pic>
        <p:nvPicPr>
          <p:cNvPr id="2050" name="Picture 2" descr="图解丨党的十八大以来的历史性成就、历史性变革_手机新浪网">
            <a:extLst>
              <a:ext uri="{FF2B5EF4-FFF2-40B4-BE49-F238E27FC236}">
                <a16:creationId xmlns:a16="http://schemas.microsoft.com/office/drawing/2014/main" id="{4BFFFA5B-4B0E-4436-98F3-5E4B69F4B7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68515" y="101897"/>
            <a:ext cx="2520000" cy="3600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图解丨党的十八大以来的历史性成就、历史性变革_手机新浪网">
            <a:extLst>
              <a:ext uri="{FF2B5EF4-FFF2-40B4-BE49-F238E27FC236}">
                <a16:creationId xmlns:a16="http://schemas.microsoft.com/office/drawing/2014/main" id="{53660540-A0FA-4C10-831D-787235E499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27732" y="-21801"/>
            <a:ext cx="2520001" cy="36000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图解丨党的十八大以来的历史性成就、历史性变革|中央纪委_新浪新闻">
            <a:extLst>
              <a:ext uri="{FF2B5EF4-FFF2-40B4-BE49-F238E27FC236}">
                <a16:creationId xmlns:a16="http://schemas.microsoft.com/office/drawing/2014/main" id="{8E5D9A92-0EB9-4C5E-8E7C-BB2CB31E03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1926" y="449236"/>
            <a:ext cx="2520000" cy="36000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图解丨党的十八大以来的历史性成就、历史性变革|中央纪委_新浪新闻">
            <a:extLst>
              <a:ext uri="{FF2B5EF4-FFF2-40B4-BE49-F238E27FC236}">
                <a16:creationId xmlns:a16="http://schemas.microsoft.com/office/drawing/2014/main" id="{C35DE1DE-ED76-4065-87E8-5CCC2B8902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01937" y="3328258"/>
            <a:ext cx="2520000" cy="360000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党的十八大以来的历史性成就、历史性变革_澎湃号·政务_澎湃新闻-The Paper">
            <a:extLst>
              <a:ext uri="{FF2B5EF4-FFF2-40B4-BE49-F238E27FC236}">
                <a16:creationId xmlns:a16="http://schemas.microsoft.com/office/drawing/2014/main" id="{2EA9D848-7D50-4AD0-B25C-DDFDE8B219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10687" y="2886129"/>
            <a:ext cx="2520532" cy="3600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图解丨党的十八大以来的历史性成就、历史性变革_手机新浪网">
            <a:extLst>
              <a:ext uri="{FF2B5EF4-FFF2-40B4-BE49-F238E27FC236}">
                <a16:creationId xmlns:a16="http://schemas.microsoft.com/office/drawing/2014/main" id="{05A73334-3979-43F9-BA6B-92768A386D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34998" y="3080863"/>
            <a:ext cx="2520001"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7876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稻壳儿搜索【幻雨工作室】_1">
            <a:extLst>
              <a:ext uri="{FF2B5EF4-FFF2-40B4-BE49-F238E27FC236}">
                <a16:creationId xmlns:a16="http://schemas.microsoft.com/office/drawing/2014/main" id="{146A3A04-0D49-40D8-932B-A5D2FEF31078}"/>
              </a:ext>
            </a:extLst>
          </p:cNvPr>
          <p:cNvSpPr txBox="1"/>
          <p:nvPr/>
        </p:nvSpPr>
        <p:spPr>
          <a:xfrm>
            <a:off x="282257" y="1769533"/>
            <a:ext cx="5571025" cy="1077218"/>
          </a:xfrm>
          <a:prstGeom prst="rect">
            <a:avLst/>
          </a:prstGeom>
          <a:noFill/>
        </p:spPr>
        <p:txBody>
          <a:bodyPr wrap="square" rtlCol="0">
            <a:spAutoFit/>
          </a:bodyPr>
          <a:lstStyle/>
          <a:p>
            <a:pPr algn="ctr"/>
            <a:r>
              <a:rPr lang="zh-CN" altLang="en-US" sz="3200"/>
              <a:t>“八八战略”：新时代思想的重要萌发</a:t>
            </a:r>
            <a:endParaRPr lang="zh-CN" altLang="en-US" sz="3200" dirty="0">
              <a:solidFill>
                <a:schemeClr val="tx1">
                  <a:lumMod val="85000"/>
                  <a:lumOff val="15000"/>
                </a:schemeClr>
              </a:solidFill>
              <a:latin typeface="方正粗黑宋简体" panose="02000000000000000000" pitchFamily="2" charset="-122"/>
              <a:ea typeface="方正粗黑宋简体" panose="02000000000000000000" pitchFamily="2" charset="-122"/>
              <a:cs typeface="Arial" panose="020B0604020202020204" pitchFamily="34" charset="0"/>
            </a:endParaRPr>
          </a:p>
        </p:txBody>
      </p:sp>
      <p:pic>
        <p:nvPicPr>
          <p:cNvPr id="8" name="稻壳儿搜索【幻雨工作室】_3">
            <a:extLst>
              <a:ext uri="{FF2B5EF4-FFF2-40B4-BE49-F238E27FC236}">
                <a16:creationId xmlns:a16="http://schemas.microsoft.com/office/drawing/2014/main" id="{08A19377-B2E9-4AB1-B0C6-0DC75424EC6D}"/>
              </a:ext>
            </a:extLst>
          </p:cNvPr>
          <p:cNvPicPr>
            <a:picLocks noChangeAspect="1"/>
          </p:cNvPicPr>
          <p:nvPr/>
        </p:nvPicPr>
        <p:blipFill>
          <a:blip r:embed="rId2"/>
          <a:stretch>
            <a:fillRect/>
          </a:stretch>
        </p:blipFill>
        <p:spPr>
          <a:xfrm>
            <a:off x="904730" y="492791"/>
            <a:ext cx="986947" cy="994425"/>
          </a:xfrm>
          <a:prstGeom prst="rect">
            <a:avLst/>
          </a:prstGeom>
        </p:spPr>
      </p:pic>
      <p:pic>
        <p:nvPicPr>
          <p:cNvPr id="9" name="稻壳儿搜索【幻雨工作室】_4">
            <a:extLst>
              <a:ext uri="{FF2B5EF4-FFF2-40B4-BE49-F238E27FC236}">
                <a16:creationId xmlns:a16="http://schemas.microsoft.com/office/drawing/2014/main" id="{9B347C1F-3EFD-4B36-812C-4C7FDD08B84C}"/>
              </a:ext>
            </a:extLst>
          </p:cNvPr>
          <p:cNvPicPr>
            <a:picLocks noChangeAspect="1"/>
          </p:cNvPicPr>
          <p:nvPr/>
        </p:nvPicPr>
        <p:blipFill>
          <a:blip r:embed="rId2"/>
          <a:stretch>
            <a:fillRect/>
          </a:stretch>
        </p:blipFill>
        <p:spPr>
          <a:xfrm>
            <a:off x="1914284" y="492791"/>
            <a:ext cx="986947" cy="994425"/>
          </a:xfrm>
          <a:prstGeom prst="rect">
            <a:avLst/>
          </a:prstGeom>
        </p:spPr>
      </p:pic>
      <p:pic>
        <p:nvPicPr>
          <p:cNvPr id="37" name="稻壳儿搜索【幻雨工作室】_5">
            <a:extLst>
              <a:ext uri="{FF2B5EF4-FFF2-40B4-BE49-F238E27FC236}">
                <a16:creationId xmlns:a16="http://schemas.microsoft.com/office/drawing/2014/main" id="{D8067E26-A619-4158-8C0C-435D7914DD1D}"/>
              </a:ext>
            </a:extLst>
          </p:cNvPr>
          <p:cNvPicPr>
            <a:picLocks noChangeAspect="1"/>
          </p:cNvPicPr>
          <p:nvPr/>
        </p:nvPicPr>
        <p:blipFill>
          <a:blip r:embed="rId2"/>
          <a:stretch>
            <a:fillRect/>
          </a:stretch>
        </p:blipFill>
        <p:spPr>
          <a:xfrm>
            <a:off x="2923838" y="492791"/>
            <a:ext cx="986947" cy="994425"/>
          </a:xfrm>
          <a:prstGeom prst="rect">
            <a:avLst/>
          </a:prstGeom>
        </p:spPr>
      </p:pic>
      <p:pic>
        <p:nvPicPr>
          <p:cNvPr id="38" name="稻壳儿搜索【幻雨工作室】_6">
            <a:extLst>
              <a:ext uri="{FF2B5EF4-FFF2-40B4-BE49-F238E27FC236}">
                <a16:creationId xmlns:a16="http://schemas.microsoft.com/office/drawing/2014/main" id="{4E0D76C9-FD33-4549-944F-0E9ED362B773}"/>
              </a:ext>
            </a:extLst>
          </p:cNvPr>
          <p:cNvPicPr>
            <a:picLocks noChangeAspect="1"/>
          </p:cNvPicPr>
          <p:nvPr/>
        </p:nvPicPr>
        <p:blipFill>
          <a:blip r:embed="rId2"/>
          <a:stretch>
            <a:fillRect/>
          </a:stretch>
        </p:blipFill>
        <p:spPr>
          <a:xfrm>
            <a:off x="3933391" y="492791"/>
            <a:ext cx="986947" cy="994425"/>
          </a:xfrm>
          <a:prstGeom prst="rect">
            <a:avLst/>
          </a:prstGeom>
        </p:spPr>
      </p:pic>
      <p:sp>
        <p:nvSpPr>
          <p:cNvPr id="13" name="稻壳儿搜索【幻雨工作室】_7">
            <a:extLst>
              <a:ext uri="{FF2B5EF4-FFF2-40B4-BE49-F238E27FC236}">
                <a16:creationId xmlns:a16="http://schemas.microsoft.com/office/drawing/2014/main" id="{4D83A3DD-3960-46D9-9E85-3A83B99A8A48}"/>
              </a:ext>
            </a:extLst>
          </p:cNvPr>
          <p:cNvSpPr txBox="1"/>
          <p:nvPr/>
        </p:nvSpPr>
        <p:spPr>
          <a:xfrm>
            <a:off x="931451" y="517530"/>
            <a:ext cx="3981932" cy="830997"/>
          </a:xfrm>
          <a:prstGeom prst="rect">
            <a:avLst/>
          </a:prstGeom>
          <a:noFill/>
        </p:spPr>
        <p:txBody>
          <a:bodyPr wrap="square" rtlCol="0">
            <a:spAutoFit/>
          </a:bodyPr>
          <a:lstStyle/>
          <a:p>
            <a:pPr algn="dist"/>
            <a:r>
              <a:rPr lang="zh-CN" altLang="en-US" sz="4800">
                <a:solidFill>
                  <a:srgbClr val="B72522"/>
                </a:solidFill>
                <a:effectLst>
                  <a:outerShdw blurRad="63500" sx="102000" sy="102000" algn="ctr" rotWithShape="0">
                    <a:prstClr val="black">
                      <a:alpha val="10000"/>
                    </a:prstClr>
                  </a:outerShdw>
                </a:effectLst>
                <a:latin typeface="新宋体" panose="02010609030101010101" pitchFamily="49" charset="-122"/>
                <a:ea typeface="新宋体" panose="02010609030101010101" pitchFamily="49" charset="-122"/>
              </a:rPr>
              <a:t>思想之源</a:t>
            </a:r>
          </a:p>
        </p:txBody>
      </p:sp>
      <p:sp>
        <p:nvSpPr>
          <p:cNvPr id="10" name="文本框 9">
            <a:extLst>
              <a:ext uri="{FF2B5EF4-FFF2-40B4-BE49-F238E27FC236}">
                <a16:creationId xmlns:a16="http://schemas.microsoft.com/office/drawing/2014/main" id="{AC15120A-71A2-4EFC-BACF-2D3FEDB8A174}"/>
              </a:ext>
            </a:extLst>
          </p:cNvPr>
          <p:cNvSpPr txBox="1"/>
          <p:nvPr/>
        </p:nvSpPr>
        <p:spPr>
          <a:xfrm>
            <a:off x="6338720" y="737532"/>
            <a:ext cx="4321220" cy="1754326"/>
          </a:xfrm>
          <a:prstGeom prst="rect">
            <a:avLst/>
          </a:prstGeom>
          <a:noFill/>
        </p:spPr>
        <p:txBody>
          <a:bodyPr wrap="square">
            <a:spAutoFit/>
          </a:bodyPr>
          <a:lstStyle/>
          <a:p>
            <a:r>
              <a:rPr lang="en-US" altLang="zh-CN">
                <a:latin typeface="宋体" panose="02010600030101010101" pitchFamily="2" charset="-122"/>
                <a:ea typeface="宋体" panose="02010600030101010101" pitchFamily="2" charset="-122"/>
              </a:rPr>
              <a:t>2003</a:t>
            </a:r>
            <a:r>
              <a:rPr lang="zh-CN" altLang="en-US">
                <a:latin typeface="宋体" panose="02010600030101010101" pitchFamily="2" charset="-122"/>
                <a:ea typeface="宋体" panose="02010600030101010101" pitchFamily="2" charset="-122"/>
              </a:rPr>
              <a:t>年</a:t>
            </a:r>
            <a:r>
              <a:rPr lang="en-US" altLang="zh-CN">
                <a:latin typeface="宋体" panose="02010600030101010101" pitchFamily="2" charset="-122"/>
                <a:ea typeface="宋体" panose="02010600030101010101" pitchFamily="2" charset="-122"/>
              </a:rPr>
              <a:t>7</a:t>
            </a:r>
            <a:r>
              <a:rPr lang="zh-CN" altLang="en-US">
                <a:latin typeface="宋体" panose="02010600030101010101" pitchFamily="2" charset="-122"/>
                <a:ea typeface="宋体" panose="02010600030101010101" pitchFamily="2" charset="-122"/>
              </a:rPr>
              <a:t>月，习近平总书记在浙江工作期间，科学判断浙江发展阶段性特征，立足全局、面向未来，提出“八八战略”。这是对浙江改革发展实践深刻总结的理论升华，也是他新时代中国特色社会主义思想的重要策源地之一。</a:t>
            </a:r>
          </a:p>
        </p:txBody>
      </p:sp>
      <p:pic>
        <p:nvPicPr>
          <p:cNvPr id="3074" name="Picture 2" descr="改革为人民｜下姜村调研，习近平关心这件小事_南方网">
            <a:extLst>
              <a:ext uri="{FF2B5EF4-FFF2-40B4-BE49-F238E27FC236}">
                <a16:creationId xmlns:a16="http://schemas.microsoft.com/office/drawing/2014/main" id="{F02965F7-3856-4F88-9A73-94D0AD882D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5152" y="2675573"/>
            <a:ext cx="3782448" cy="267135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浙江宣传 | 履新浙江伊始，习近平曾定下这个目标_杭州网">
            <a:extLst>
              <a:ext uri="{FF2B5EF4-FFF2-40B4-BE49-F238E27FC236}">
                <a16:creationId xmlns:a16="http://schemas.microsoft.com/office/drawing/2014/main" id="{FF7EABF2-27C3-464E-AAF0-6E93FA70B7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9173" y="2308142"/>
            <a:ext cx="3240570" cy="331893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习近平：调查研究千万不能搞形式主义丨跟总书记学调研③_四川在线">
            <a:extLst>
              <a:ext uri="{FF2B5EF4-FFF2-40B4-BE49-F238E27FC236}">
                <a16:creationId xmlns:a16="http://schemas.microsoft.com/office/drawing/2014/main" id="{A11A9D77-E8FC-4A8E-8E11-4895F66121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22076" y="3625114"/>
            <a:ext cx="4126924" cy="2908002"/>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F0D5F570-6C7C-434A-943E-368D647FBCE3}"/>
              </a:ext>
            </a:extLst>
          </p:cNvPr>
          <p:cNvSpPr txBox="1"/>
          <p:nvPr/>
        </p:nvSpPr>
        <p:spPr>
          <a:xfrm>
            <a:off x="426380" y="3024949"/>
            <a:ext cx="4171377" cy="1200329"/>
          </a:xfrm>
          <a:prstGeom prst="rect">
            <a:avLst/>
          </a:prstGeom>
          <a:noFill/>
        </p:spPr>
        <p:txBody>
          <a:bodyPr wrap="square" rtlCol="0">
            <a:spAutoFit/>
          </a:bodyPr>
          <a:lstStyle/>
          <a:p>
            <a:r>
              <a:rPr lang="zh-CN" altLang="en-US">
                <a:latin typeface="宋体" panose="02010600030101010101" pitchFamily="2" charset="-122"/>
                <a:ea typeface="宋体" panose="02010600030101010101" pitchFamily="2" charset="-122"/>
              </a:rPr>
              <a:t>为探索习总书记过去的脚步，我们来到</a:t>
            </a:r>
            <a:r>
              <a:rPr lang="zh-CN" altLang="zh-CN" sz="1800">
                <a:effectLst/>
                <a:latin typeface="宋体" panose="02010600030101010101" pitchFamily="2" charset="-122"/>
                <a:ea typeface="宋体" panose="02010600030101010101" pitchFamily="2" charset="-122"/>
                <a:cs typeface="宋体" panose="02010600030101010101" pitchFamily="2" charset="-122"/>
              </a:rPr>
              <a:t>延安路附近的浙江展览馆进行实地</a:t>
            </a:r>
            <a:r>
              <a:rPr lang="zh-CN" altLang="en-US" sz="1800">
                <a:effectLst/>
                <a:latin typeface="宋体" panose="02010600030101010101" pitchFamily="2" charset="-122"/>
                <a:ea typeface="宋体" panose="02010600030101010101" pitchFamily="2" charset="-122"/>
                <a:cs typeface="宋体" panose="02010600030101010101" pitchFamily="2" charset="-122"/>
              </a:rPr>
              <a:t>考察，此次参观不仅是一次思想的洗礼，更是对习新思想有了更深刻的认识。</a:t>
            </a:r>
            <a:endParaRPr lang="zh-CN" altLang="en-US">
              <a:latin typeface="宋体" panose="02010600030101010101" pitchFamily="2" charset="-122"/>
              <a:ea typeface="宋体" panose="02010600030101010101" pitchFamily="2" charset="-122"/>
            </a:endParaRPr>
          </a:p>
        </p:txBody>
      </p:sp>
      <p:pic>
        <p:nvPicPr>
          <p:cNvPr id="4" name="图片 3">
            <a:extLst>
              <a:ext uri="{FF2B5EF4-FFF2-40B4-BE49-F238E27FC236}">
                <a16:creationId xmlns:a16="http://schemas.microsoft.com/office/drawing/2014/main" id="{EFDACF79-CC52-400B-8CA0-6F71D98FDE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2515" y="4403476"/>
            <a:ext cx="1384768" cy="1847080"/>
          </a:xfrm>
          <a:prstGeom prst="rect">
            <a:avLst/>
          </a:prstGeom>
        </p:spPr>
      </p:pic>
      <p:pic>
        <p:nvPicPr>
          <p:cNvPr id="11" name="图片 10">
            <a:extLst>
              <a:ext uri="{FF2B5EF4-FFF2-40B4-BE49-F238E27FC236}">
                <a16:creationId xmlns:a16="http://schemas.microsoft.com/office/drawing/2014/main" id="{1ABFB0C8-B79F-42C6-BAC3-1496813B1A0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83009" y="4464908"/>
            <a:ext cx="1902852" cy="1426582"/>
          </a:xfrm>
          <a:prstGeom prst="rect">
            <a:avLst/>
          </a:prstGeom>
        </p:spPr>
      </p:pic>
      <p:pic>
        <p:nvPicPr>
          <p:cNvPr id="14" name="图片 13">
            <a:extLst>
              <a:ext uri="{FF2B5EF4-FFF2-40B4-BE49-F238E27FC236}">
                <a16:creationId xmlns:a16="http://schemas.microsoft.com/office/drawing/2014/main" id="{EA962174-1E90-4FDC-AE41-2BEBF8E3FA4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53297" y="4966976"/>
            <a:ext cx="1280094" cy="1707459"/>
          </a:xfrm>
          <a:prstGeom prst="rect">
            <a:avLst/>
          </a:prstGeom>
        </p:spPr>
      </p:pic>
      <p:pic>
        <p:nvPicPr>
          <p:cNvPr id="16" name="图片 15">
            <a:extLst>
              <a:ext uri="{FF2B5EF4-FFF2-40B4-BE49-F238E27FC236}">
                <a16:creationId xmlns:a16="http://schemas.microsoft.com/office/drawing/2014/main" id="{A0ECCBD0-0819-49EC-8699-CBA5D9B8EB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34065" y="4235582"/>
            <a:ext cx="1413372" cy="1885234"/>
          </a:xfrm>
          <a:prstGeom prst="rect">
            <a:avLst/>
          </a:prstGeom>
        </p:spPr>
      </p:pic>
      <p:pic>
        <p:nvPicPr>
          <p:cNvPr id="6" name="图片 5">
            <a:extLst>
              <a:ext uri="{FF2B5EF4-FFF2-40B4-BE49-F238E27FC236}">
                <a16:creationId xmlns:a16="http://schemas.microsoft.com/office/drawing/2014/main" id="{A092238F-7C7B-4625-BB27-95BD9066ED7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86948" y="4998751"/>
            <a:ext cx="1129698" cy="1506854"/>
          </a:xfrm>
          <a:prstGeom prst="rect">
            <a:avLst/>
          </a:prstGeom>
        </p:spPr>
      </p:pic>
    </p:spTree>
    <p:extLst>
      <p:ext uri="{BB962C8B-B14F-4D97-AF65-F5344CB8AC3E}">
        <p14:creationId xmlns:p14="http://schemas.microsoft.com/office/powerpoint/2010/main" val="3389589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稻壳儿搜索【幻雨工作室】_4">
            <a:extLst>
              <a:ext uri="{FF2B5EF4-FFF2-40B4-BE49-F238E27FC236}">
                <a16:creationId xmlns:a16="http://schemas.microsoft.com/office/drawing/2014/main" id="{990A68C1-3E21-41D1-B730-5EDCB6C2BAB4}"/>
              </a:ext>
            </a:extLst>
          </p:cNvPr>
          <p:cNvSpPr txBox="1"/>
          <p:nvPr/>
        </p:nvSpPr>
        <p:spPr>
          <a:xfrm>
            <a:off x="676930" y="190601"/>
            <a:ext cx="4933709" cy="523220"/>
          </a:xfrm>
          <a:prstGeom prst="rect">
            <a:avLst/>
          </a:prstGeom>
          <a:noFill/>
          <a:effectLst>
            <a:outerShdw blurRad="50800" dist="38100" dir="5400000" algn="t" rotWithShape="0">
              <a:prstClr val="black">
                <a:alpha val="40000"/>
              </a:prstClr>
            </a:outerShdw>
          </a:effectLst>
        </p:spPr>
        <p:txBody>
          <a:bodyPr wrap="square" rtlCol="0">
            <a:spAutoFit/>
          </a:bodyPr>
          <a:lstStyle/>
          <a:p>
            <a:pPr algn="dist"/>
            <a:r>
              <a:rPr lang="zh-CN" altLang="en-US" sz="2800" b="1"/>
              <a:t>八八战略核心内容与深远意义</a:t>
            </a:r>
            <a:endParaRPr lang="zh-CN" altLang="en-US" sz="2800" b="1" dirty="0">
              <a:solidFill>
                <a:schemeClr val="tx1">
                  <a:lumMod val="85000"/>
                  <a:lumOff val="15000"/>
                </a:schemeClr>
              </a:solidFill>
              <a:latin typeface="方正粗黑宋简体" panose="02000000000000000000" pitchFamily="2" charset="-122"/>
              <a:ea typeface="方正粗黑宋简体" panose="02000000000000000000" pitchFamily="2" charset="-122"/>
            </a:endParaRPr>
          </a:p>
        </p:txBody>
      </p:sp>
      <p:sp>
        <p:nvSpPr>
          <p:cNvPr id="11" name="文本框 10">
            <a:extLst>
              <a:ext uri="{FF2B5EF4-FFF2-40B4-BE49-F238E27FC236}">
                <a16:creationId xmlns:a16="http://schemas.microsoft.com/office/drawing/2014/main" id="{AD784124-A66E-4DF6-83D7-B910294A90D0}"/>
              </a:ext>
            </a:extLst>
          </p:cNvPr>
          <p:cNvSpPr txBox="1"/>
          <p:nvPr/>
        </p:nvSpPr>
        <p:spPr>
          <a:xfrm>
            <a:off x="943213" y="926703"/>
            <a:ext cx="4401141" cy="923330"/>
          </a:xfrm>
          <a:prstGeom prst="rect">
            <a:avLst/>
          </a:prstGeom>
          <a:noFill/>
        </p:spPr>
        <p:txBody>
          <a:bodyPr wrap="square">
            <a:spAutoFit/>
          </a:bodyPr>
          <a:lstStyle/>
          <a:p>
            <a:r>
              <a:rPr lang="zh-CN" altLang="en-US">
                <a:latin typeface="宋体" panose="02010600030101010101" pitchFamily="2" charset="-122"/>
                <a:ea typeface="宋体" panose="02010600030101010101" pitchFamily="2" charset="-122"/>
              </a:rPr>
              <a:t>“八八战略”以“八个优势”“八项举措”为核心内容，勾勒了浙江长期发展的蓝图，成为浙江经济社会发展的总纲领、总方略。</a:t>
            </a:r>
          </a:p>
        </p:txBody>
      </p:sp>
      <p:grpSp>
        <p:nvGrpSpPr>
          <p:cNvPr id="5" name="组合 4">
            <a:extLst>
              <a:ext uri="{FF2B5EF4-FFF2-40B4-BE49-F238E27FC236}">
                <a16:creationId xmlns:a16="http://schemas.microsoft.com/office/drawing/2014/main" id="{885F792B-CA23-4819-A7AF-55B82AF7234D}"/>
              </a:ext>
            </a:extLst>
          </p:cNvPr>
          <p:cNvGrpSpPr/>
          <p:nvPr/>
        </p:nvGrpSpPr>
        <p:grpSpPr>
          <a:xfrm>
            <a:off x="7357975" y="362843"/>
            <a:ext cx="3070860" cy="1025525"/>
            <a:chOff x="8145739" y="1056304"/>
            <a:chExt cx="3070860" cy="1025525"/>
          </a:xfrm>
        </p:grpSpPr>
        <p:sp>
          <p:nvSpPr>
            <p:cNvPr id="27" name="稻壳儿搜索【幻雨工作室】_2">
              <a:extLst>
                <a:ext uri="{FF2B5EF4-FFF2-40B4-BE49-F238E27FC236}">
                  <a16:creationId xmlns:a16="http://schemas.microsoft.com/office/drawing/2014/main" id="{A98175F7-D434-46C1-94BC-3C867EF6C6D5}"/>
                </a:ext>
              </a:extLst>
            </p:cNvPr>
            <p:cNvSpPr/>
            <p:nvPr/>
          </p:nvSpPr>
          <p:spPr>
            <a:xfrm>
              <a:off x="8145739" y="1056304"/>
              <a:ext cx="3070860" cy="1025525"/>
            </a:xfrm>
            <a:custGeom>
              <a:avLst/>
              <a:gdLst>
                <a:gd name="connsiteX0" fmla="*/ 3070860 w 3070860"/>
                <a:gd name="connsiteY0" fmla="*/ 0 h 1025525"/>
                <a:gd name="connsiteX1" fmla="*/ 2696070 w 3070860"/>
                <a:gd name="connsiteY1" fmla="*/ 795500 h 1025525"/>
                <a:gd name="connsiteX2" fmla="*/ 2671890 w 3070860"/>
                <a:gd name="connsiteY2" fmla="*/ 843422 h 1025525"/>
                <a:gd name="connsiteX3" fmla="*/ 2538900 w 3070860"/>
                <a:gd name="connsiteY3" fmla="*/ 900928 h 1025525"/>
                <a:gd name="connsiteX4" fmla="*/ 2031120 w 3070860"/>
                <a:gd name="connsiteY4" fmla="*/ 900928 h 1025525"/>
                <a:gd name="connsiteX5" fmla="*/ 955110 w 3070860"/>
                <a:gd name="connsiteY5" fmla="*/ 900928 h 1025525"/>
                <a:gd name="connsiteX6" fmla="*/ 797940 w 3070860"/>
                <a:gd name="connsiteY6" fmla="*/ 900928 h 1025525"/>
                <a:gd name="connsiteX7" fmla="*/ 205530 w 3070860"/>
                <a:gd name="connsiteY7" fmla="*/ 900928 h 1025525"/>
                <a:gd name="connsiteX8" fmla="*/ 12090 w 3070860"/>
                <a:gd name="connsiteY8" fmla="*/ 1025525 h 1025525"/>
                <a:gd name="connsiteX9" fmla="*/ 0 w 3070860"/>
                <a:gd name="connsiteY9" fmla="*/ 1025525 h 1025525"/>
                <a:gd name="connsiteX10" fmla="*/ 386880 w 3070860"/>
                <a:gd name="connsiteY10" fmla="*/ 230024 h 1025525"/>
                <a:gd name="connsiteX11" fmla="*/ 411060 w 3070860"/>
                <a:gd name="connsiteY11" fmla="*/ 182102 h 1025525"/>
                <a:gd name="connsiteX12" fmla="*/ 544050 w 3070860"/>
                <a:gd name="connsiteY12" fmla="*/ 124596 h 1025525"/>
                <a:gd name="connsiteX13" fmla="*/ 1051830 w 3070860"/>
                <a:gd name="connsiteY13" fmla="*/ 124596 h 1025525"/>
                <a:gd name="connsiteX14" fmla="*/ 2127840 w 3070860"/>
                <a:gd name="connsiteY14" fmla="*/ 124596 h 1025525"/>
                <a:gd name="connsiteX15" fmla="*/ 2285010 w 3070860"/>
                <a:gd name="connsiteY15" fmla="*/ 124596 h 1025525"/>
                <a:gd name="connsiteX16" fmla="*/ 2877420 w 3070860"/>
                <a:gd name="connsiteY16" fmla="*/ 124596 h 1025525"/>
                <a:gd name="connsiteX17" fmla="*/ 3070860 w 3070860"/>
                <a:gd name="connsiteY17" fmla="*/ 0 h 1025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70860" h="1025525">
                  <a:moveTo>
                    <a:pt x="3070860" y="0"/>
                  </a:moveTo>
                  <a:cubicBezTo>
                    <a:pt x="3070860" y="0"/>
                    <a:pt x="3070860" y="0"/>
                    <a:pt x="2696070" y="795500"/>
                  </a:cubicBezTo>
                  <a:cubicBezTo>
                    <a:pt x="2696070" y="795500"/>
                    <a:pt x="2696070" y="795500"/>
                    <a:pt x="2671890" y="843422"/>
                  </a:cubicBezTo>
                  <a:cubicBezTo>
                    <a:pt x="2635620" y="881759"/>
                    <a:pt x="2587260" y="900928"/>
                    <a:pt x="2538900" y="900928"/>
                  </a:cubicBezTo>
                  <a:cubicBezTo>
                    <a:pt x="2538900" y="900928"/>
                    <a:pt x="2538900" y="900928"/>
                    <a:pt x="2031120" y="900928"/>
                  </a:cubicBezTo>
                  <a:cubicBezTo>
                    <a:pt x="2031120" y="900928"/>
                    <a:pt x="2031120" y="900928"/>
                    <a:pt x="955110" y="900928"/>
                  </a:cubicBezTo>
                  <a:cubicBezTo>
                    <a:pt x="955110" y="900928"/>
                    <a:pt x="955110" y="900928"/>
                    <a:pt x="797940" y="900928"/>
                  </a:cubicBezTo>
                  <a:cubicBezTo>
                    <a:pt x="797940" y="900928"/>
                    <a:pt x="797940" y="900928"/>
                    <a:pt x="205530" y="900928"/>
                  </a:cubicBezTo>
                  <a:cubicBezTo>
                    <a:pt x="108810" y="900928"/>
                    <a:pt x="24180" y="958434"/>
                    <a:pt x="12090" y="1025525"/>
                  </a:cubicBezTo>
                  <a:cubicBezTo>
                    <a:pt x="12090" y="1025525"/>
                    <a:pt x="12090" y="1025525"/>
                    <a:pt x="0" y="1025525"/>
                  </a:cubicBezTo>
                  <a:cubicBezTo>
                    <a:pt x="0" y="1025525"/>
                    <a:pt x="0" y="1025525"/>
                    <a:pt x="386880" y="230024"/>
                  </a:cubicBezTo>
                  <a:cubicBezTo>
                    <a:pt x="386880" y="230024"/>
                    <a:pt x="386880" y="230024"/>
                    <a:pt x="411060" y="182102"/>
                  </a:cubicBezTo>
                  <a:cubicBezTo>
                    <a:pt x="435240" y="143765"/>
                    <a:pt x="483600" y="124596"/>
                    <a:pt x="544050" y="124596"/>
                  </a:cubicBezTo>
                  <a:cubicBezTo>
                    <a:pt x="544050" y="124596"/>
                    <a:pt x="544050" y="124596"/>
                    <a:pt x="1051830" y="124596"/>
                  </a:cubicBezTo>
                  <a:cubicBezTo>
                    <a:pt x="1051830" y="124596"/>
                    <a:pt x="1051830" y="124596"/>
                    <a:pt x="2127840" y="124596"/>
                  </a:cubicBezTo>
                  <a:cubicBezTo>
                    <a:pt x="2127840" y="124596"/>
                    <a:pt x="2127840" y="124596"/>
                    <a:pt x="2285010" y="124596"/>
                  </a:cubicBezTo>
                  <a:cubicBezTo>
                    <a:pt x="2285010" y="124596"/>
                    <a:pt x="2285010" y="124596"/>
                    <a:pt x="2877420" y="124596"/>
                  </a:cubicBezTo>
                  <a:cubicBezTo>
                    <a:pt x="2974140" y="124596"/>
                    <a:pt x="3046680" y="67090"/>
                    <a:pt x="3070860" y="0"/>
                  </a:cubicBezTo>
                  <a:close/>
                </a:path>
              </a:pathLst>
            </a:custGeom>
            <a:solidFill>
              <a:srgbClr val="B72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tLang="zh-CN" dirty="0">
                <a:solidFill>
                  <a:schemeClr val="bg1"/>
                </a:solidFill>
                <a:latin typeface="Abadi" panose="020B0604020104020204" pitchFamily="34" charset="0"/>
                <a:ea typeface="微软雅黑" panose="020B0503020204020204" pitchFamily="34" charset="-122"/>
                <a:cs typeface="Lato Regular"/>
              </a:endParaRPr>
            </a:p>
          </p:txBody>
        </p:sp>
        <p:sp>
          <p:nvSpPr>
            <p:cNvPr id="12" name="文本框 11">
              <a:extLst>
                <a:ext uri="{FF2B5EF4-FFF2-40B4-BE49-F238E27FC236}">
                  <a16:creationId xmlns:a16="http://schemas.microsoft.com/office/drawing/2014/main" id="{4DB9B678-2AAB-4C5A-9FFF-C3BDBD914543}"/>
                </a:ext>
              </a:extLst>
            </p:cNvPr>
            <p:cNvSpPr txBox="1"/>
            <p:nvPr/>
          </p:nvSpPr>
          <p:spPr>
            <a:xfrm>
              <a:off x="9072115" y="1245902"/>
              <a:ext cx="1218108" cy="646331"/>
            </a:xfrm>
            <a:prstGeom prst="rect">
              <a:avLst/>
            </a:prstGeom>
            <a:noFill/>
          </p:spPr>
          <p:txBody>
            <a:bodyPr wrap="square">
              <a:spAutoFit/>
            </a:bodyPr>
            <a:lstStyle/>
            <a:p>
              <a:r>
                <a:rPr lang="zh-CN" altLang="en-US" b="1" i="1">
                  <a:solidFill>
                    <a:schemeClr val="bg1"/>
                  </a:solidFill>
                  <a:latin typeface="宋体" panose="02010600030101010101" pitchFamily="2" charset="-122"/>
                  <a:ea typeface="宋体" panose="02010600030101010101" pitchFamily="2" charset="-122"/>
                </a:rPr>
                <a:t>八个优势</a:t>
              </a:r>
              <a:endParaRPr lang="en-US" altLang="zh-CN" b="1" i="1">
                <a:solidFill>
                  <a:schemeClr val="bg1"/>
                </a:solidFill>
                <a:latin typeface="宋体" panose="02010600030101010101" pitchFamily="2" charset="-122"/>
                <a:ea typeface="宋体" panose="02010600030101010101" pitchFamily="2" charset="-122"/>
              </a:endParaRPr>
            </a:p>
            <a:p>
              <a:r>
                <a:rPr lang="zh-CN" altLang="en-US" b="1" i="1">
                  <a:solidFill>
                    <a:schemeClr val="bg1"/>
                  </a:solidFill>
                  <a:latin typeface="宋体" panose="02010600030101010101" pitchFamily="2" charset="-122"/>
                  <a:ea typeface="宋体" panose="02010600030101010101" pitchFamily="2" charset="-122"/>
                </a:rPr>
                <a:t>八项举措</a:t>
              </a:r>
              <a:endParaRPr lang="zh-CN" altLang="en-US" b="1" i="1">
                <a:solidFill>
                  <a:schemeClr val="bg1"/>
                </a:solidFill>
              </a:endParaRPr>
            </a:p>
          </p:txBody>
        </p:sp>
      </p:grpSp>
      <p:sp>
        <p:nvSpPr>
          <p:cNvPr id="14" name="文本框 13">
            <a:extLst>
              <a:ext uri="{FF2B5EF4-FFF2-40B4-BE49-F238E27FC236}">
                <a16:creationId xmlns:a16="http://schemas.microsoft.com/office/drawing/2014/main" id="{759958A0-AD3D-4D41-B617-6EE8E632B7F3}"/>
              </a:ext>
            </a:extLst>
          </p:cNvPr>
          <p:cNvSpPr txBox="1"/>
          <p:nvPr/>
        </p:nvSpPr>
        <p:spPr>
          <a:xfrm>
            <a:off x="6446962" y="1577966"/>
            <a:ext cx="4892886" cy="4524315"/>
          </a:xfrm>
          <a:prstGeom prst="rect">
            <a:avLst/>
          </a:prstGeom>
          <a:noFill/>
        </p:spPr>
        <p:txBody>
          <a:bodyPr wrap="square">
            <a:spAutoFit/>
          </a:bodyPr>
          <a:lstStyle/>
          <a:p>
            <a:pPr marL="72000" algn="l">
              <a:buFont typeface="Arial" panose="020B0604020202020204" pitchFamily="34" charset="0"/>
              <a:buChar char="•"/>
            </a:pPr>
            <a:r>
              <a:rPr lang="zh-CN" altLang="en-US" b="0" i="0">
                <a:solidFill>
                  <a:srgbClr val="333333"/>
                </a:solidFill>
                <a:effectLst/>
                <a:latin typeface="宋体" panose="02010600030101010101" pitchFamily="2" charset="-122"/>
                <a:ea typeface="宋体" panose="02010600030101010101" pitchFamily="2" charset="-122"/>
              </a:rPr>
              <a:t>进一步发挥党的领导核心作用，推动完善科学执政、民主执政、依法执政的体制机制。</a:t>
            </a:r>
          </a:p>
          <a:p>
            <a:pPr marL="72000" algn="l">
              <a:buFont typeface="Arial" panose="020B0604020202020204" pitchFamily="34" charset="0"/>
              <a:buChar char="•"/>
            </a:pPr>
            <a:r>
              <a:rPr lang="zh-CN" altLang="en-US" b="0" i="0">
                <a:solidFill>
                  <a:srgbClr val="333333"/>
                </a:solidFill>
                <a:effectLst/>
                <a:latin typeface="宋体" panose="02010600030101010101" pitchFamily="2" charset="-122"/>
                <a:ea typeface="宋体" panose="02010600030101010101" pitchFamily="2" charset="-122"/>
              </a:rPr>
              <a:t>进一步发挥市场机制作用，推动经济持续快速健康发展。</a:t>
            </a:r>
          </a:p>
          <a:p>
            <a:pPr marL="72000" algn="l">
              <a:buFont typeface="Arial" panose="020B0604020202020204" pitchFamily="34" charset="0"/>
              <a:buChar char="•"/>
            </a:pPr>
            <a:r>
              <a:rPr lang="zh-CN" altLang="en-US" b="0" i="0">
                <a:solidFill>
                  <a:srgbClr val="333333"/>
                </a:solidFill>
                <a:effectLst/>
                <a:latin typeface="宋体" panose="02010600030101010101" pitchFamily="2" charset="-122"/>
                <a:ea typeface="宋体" panose="02010600030101010101" pitchFamily="2" charset="-122"/>
              </a:rPr>
              <a:t>进一步发挥区域优势，推动协调发展、均衡发展、一体化发展。</a:t>
            </a:r>
          </a:p>
          <a:p>
            <a:pPr marL="72000" algn="l">
              <a:buFont typeface="Arial" panose="020B0604020202020204" pitchFamily="34" charset="0"/>
              <a:buChar char="•"/>
            </a:pPr>
            <a:r>
              <a:rPr lang="zh-CN" altLang="en-US" b="0" i="0">
                <a:solidFill>
                  <a:srgbClr val="333333"/>
                </a:solidFill>
                <a:effectLst/>
                <a:latin typeface="宋体" panose="02010600030101010101" pitchFamily="2" charset="-122"/>
                <a:ea typeface="宋体" panose="02010600030101010101" pitchFamily="2" charset="-122"/>
              </a:rPr>
              <a:t>进一步发挥制度优势，推动社会事业发展和公共服务均等化。</a:t>
            </a:r>
          </a:p>
          <a:p>
            <a:pPr marL="72000" algn="l">
              <a:buFont typeface="Arial" panose="020B0604020202020204" pitchFamily="34" charset="0"/>
              <a:buChar char="•"/>
            </a:pPr>
            <a:r>
              <a:rPr lang="zh-CN" altLang="en-US" b="0" i="0">
                <a:solidFill>
                  <a:srgbClr val="333333"/>
                </a:solidFill>
                <a:effectLst/>
                <a:latin typeface="宋体" panose="02010600030101010101" pitchFamily="2" charset="-122"/>
                <a:ea typeface="宋体" panose="02010600030101010101" pitchFamily="2" charset="-122"/>
              </a:rPr>
              <a:t>进一步发挥块状特色产业优势，推动产业集群发展。</a:t>
            </a:r>
          </a:p>
          <a:p>
            <a:pPr marL="72000" algn="l">
              <a:buFont typeface="Arial" panose="020B0604020202020204" pitchFamily="34" charset="0"/>
              <a:buChar char="•"/>
            </a:pPr>
            <a:r>
              <a:rPr lang="zh-CN" altLang="en-US" b="0" i="0">
                <a:solidFill>
                  <a:srgbClr val="333333"/>
                </a:solidFill>
                <a:effectLst/>
                <a:latin typeface="宋体" panose="02010600030101010101" pitchFamily="2" charset="-122"/>
                <a:ea typeface="宋体" panose="02010600030101010101" pitchFamily="2" charset="-122"/>
              </a:rPr>
              <a:t>进一步发挥城乡协调发展优势，推动城乡一体化发展。</a:t>
            </a:r>
          </a:p>
          <a:p>
            <a:pPr marL="72000" algn="l">
              <a:buFont typeface="Arial" panose="020B0604020202020204" pitchFamily="34" charset="0"/>
              <a:buChar char="•"/>
            </a:pPr>
            <a:r>
              <a:rPr lang="zh-CN" altLang="en-US" b="0" i="0">
                <a:solidFill>
                  <a:srgbClr val="333333"/>
                </a:solidFill>
                <a:effectLst/>
                <a:latin typeface="宋体" panose="02010600030101010101" pitchFamily="2" charset="-122"/>
                <a:ea typeface="宋体" panose="02010600030101010101" pitchFamily="2" charset="-122"/>
              </a:rPr>
              <a:t>进一步发挥生态优势，推动发展方式转变和经济结构调整。</a:t>
            </a:r>
          </a:p>
          <a:p>
            <a:pPr marL="72000" algn="l">
              <a:buFont typeface="Arial" panose="020B0604020202020204" pitchFamily="34" charset="0"/>
              <a:buChar char="•"/>
            </a:pPr>
            <a:r>
              <a:rPr lang="zh-CN" altLang="en-US" b="0" i="0">
                <a:solidFill>
                  <a:srgbClr val="333333"/>
                </a:solidFill>
                <a:effectLst/>
                <a:latin typeface="宋体" panose="02010600030101010101" pitchFamily="2" charset="-122"/>
                <a:ea typeface="宋体" panose="02010600030101010101" pitchFamily="2" charset="-122"/>
              </a:rPr>
              <a:t>进一步发挥文化优势，推动精神文明建设与物质文明建设协调发展。</a:t>
            </a:r>
          </a:p>
        </p:txBody>
      </p:sp>
      <p:sp>
        <p:nvSpPr>
          <p:cNvPr id="19" name="文本框 18">
            <a:extLst>
              <a:ext uri="{FF2B5EF4-FFF2-40B4-BE49-F238E27FC236}">
                <a16:creationId xmlns:a16="http://schemas.microsoft.com/office/drawing/2014/main" id="{0C62E4C2-269A-4982-8BD9-685142388537}"/>
              </a:ext>
            </a:extLst>
          </p:cNvPr>
          <p:cNvSpPr txBox="1"/>
          <p:nvPr/>
        </p:nvSpPr>
        <p:spPr>
          <a:xfrm>
            <a:off x="781868" y="2775301"/>
            <a:ext cx="2660633" cy="3416320"/>
          </a:xfrm>
          <a:prstGeom prst="rect">
            <a:avLst/>
          </a:prstGeom>
          <a:noFill/>
        </p:spPr>
        <p:txBody>
          <a:bodyPr wrap="square">
            <a:spAutoFit/>
          </a:bodyPr>
          <a:lstStyle/>
          <a:p>
            <a:r>
              <a:rPr lang="zh-CN" altLang="en-US">
                <a:latin typeface="宋体" panose="02010600030101010101" pitchFamily="2" charset="-122"/>
                <a:ea typeface="宋体" panose="02010600030101010101" pitchFamily="2" charset="-122"/>
              </a:rPr>
              <a:t>经济转型升级、统筹城乡发展、建设生态省等），为浙江的高质量发展确立了方向。这一战略不仅是区域发展的行动指南，也展现了以习近平同志为核心的党中央对“中国特色社会主义先行示范区”建设的战略眼光，是新时代党的创新理论在地方实践中的具体体现。</a:t>
            </a:r>
          </a:p>
        </p:txBody>
      </p:sp>
      <p:pic>
        <p:nvPicPr>
          <p:cNvPr id="2050" name="Picture 2" descr="“八八战略”实施20周年 大型主题展览开展-杭州新闻中心-杭州网">
            <a:extLst>
              <a:ext uri="{FF2B5EF4-FFF2-40B4-BE49-F238E27FC236}">
                <a16:creationId xmlns:a16="http://schemas.microsoft.com/office/drawing/2014/main" id="{DE046BE9-026D-45C5-A0B4-4DC312A5C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2068" y="2545759"/>
            <a:ext cx="2853630" cy="1902420"/>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DA79DE10-7E33-4FA7-AF6D-E63E1BDD5FFB}"/>
              </a:ext>
            </a:extLst>
          </p:cNvPr>
          <p:cNvSpPr txBox="1"/>
          <p:nvPr/>
        </p:nvSpPr>
        <p:spPr>
          <a:xfrm>
            <a:off x="781868" y="1941310"/>
            <a:ext cx="5665094" cy="923330"/>
          </a:xfrm>
          <a:prstGeom prst="rect">
            <a:avLst/>
          </a:prstGeom>
          <a:noFill/>
        </p:spPr>
        <p:txBody>
          <a:bodyPr wrap="square">
            <a:spAutoFit/>
          </a:bodyPr>
          <a:lstStyle/>
          <a:p>
            <a:r>
              <a:rPr lang="zh-CN" altLang="en-US">
                <a:latin typeface="宋体" panose="02010600030101010101" pitchFamily="2" charset="-122"/>
                <a:ea typeface="宋体" panose="02010600030101010101" pitchFamily="2" charset="-122"/>
              </a:rPr>
              <a:t>“八八战略”提出浙江要进一步发挥八大优势（如市场经济发达、区位优越、民营经济活跃等），实施八项举措（如全面推进经</a:t>
            </a:r>
            <a:endParaRPr lang="zh-CN" altLang="en-US"/>
          </a:p>
        </p:txBody>
      </p:sp>
      <p:pic>
        <p:nvPicPr>
          <p:cNvPr id="2052" name="Picture 4" descr="读懂“八八战略” 感悟真理力量 “八八战略”实施20周年大型主题展览参观人次逾20万-杭州新闻中心-杭州网">
            <a:extLst>
              <a:ext uri="{FF2B5EF4-FFF2-40B4-BE49-F238E27FC236}">
                <a16:creationId xmlns:a16="http://schemas.microsoft.com/office/drawing/2014/main" id="{FC9CDC25-6E91-4CE4-801E-147FBF3F48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2068" y="4584878"/>
            <a:ext cx="2873443" cy="1687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068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稻壳儿搜索【幻雨工作室】_1">
            <a:extLst>
              <a:ext uri="{FF2B5EF4-FFF2-40B4-BE49-F238E27FC236}">
                <a16:creationId xmlns:a16="http://schemas.microsoft.com/office/drawing/2014/main" id="{990A68C1-3E21-41D1-B730-5EDCB6C2BAB4}"/>
              </a:ext>
            </a:extLst>
          </p:cNvPr>
          <p:cNvSpPr txBox="1"/>
          <p:nvPr/>
        </p:nvSpPr>
        <p:spPr>
          <a:xfrm>
            <a:off x="671364" y="287312"/>
            <a:ext cx="4518392" cy="523220"/>
          </a:xfrm>
          <a:prstGeom prst="rect">
            <a:avLst/>
          </a:prstGeom>
          <a:noFill/>
          <a:effectLst>
            <a:outerShdw blurRad="50800" dist="38100" dir="8100000" algn="tr" rotWithShape="0">
              <a:prstClr val="black">
                <a:alpha val="40000"/>
              </a:prstClr>
            </a:outerShdw>
          </a:effectLst>
        </p:spPr>
        <p:txBody>
          <a:bodyPr wrap="square" rtlCol="0">
            <a:spAutoFit/>
          </a:bodyPr>
          <a:lstStyle/>
          <a:p>
            <a:pPr algn="dist"/>
            <a:r>
              <a:rPr lang="zh-CN" altLang="en-US" sz="2800" b="1">
                <a:solidFill>
                  <a:schemeClr val="tx1">
                    <a:lumMod val="85000"/>
                    <a:lumOff val="15000"/>
                  </a:schemeClr>
                </a:solidFill>
                <a:latin typeface="宋体" panose="02010600030101010101" pitchFamily="2" charset="-122"/>
                <a:ea typeface="宋体" panose="02010600030101010101" pitchFamily="2" charset="-122"/>
              </a:rPr>
              <a:t>战略落地结出硕果</a:t>
            </a:r>
            <a:endParaRPr lang="zh-CN" altLang="en-US" sz="2800" b="1" dirty="0">
              <a:solidFill>
                <a:schemeClr val="tx1">
                  <a:lumMod val="85000"/>
                  <a:lumOff val="15000"/>
                </a:schemeClr>
              </a:solidFill>
              <a:latin typeface="宋体" panose="02010600030101010101" pitchFamily="2" charset="-122"/>
              <a:ea typeface="宋体" panose="02010600030101010101" pitchFamily="2" charset="-122"/>
            </a:endParaRPr>
          </a:p>
        </p:txBody>
      </p:sp>
      <p:sp>
        <p:nvSpPr>
          <p:cNvPr id="19" name="稻壳儿搜索【幻雨工作室】_2">
            <a:extLst>
              <a:ext uri="{FF2B5EF4-FFF2-40B4-BE49-F238E27FC236}">
                <a16:creationId xmlns:a16="http://schemas.microsoft.com/office/drawing/2014/main" id="{BC9C1882-B450-41D3-87E8-3A5EEEED8616}"/>
              </a:ext>
            </a:extLst>
          </p:cNvPr>
          <p:cNvSpPr/>
          <p:nvPr/>
        </p:nvSpPr>
        <p:spPr bwMode="auto">
          <a:xfrm>
            <a:off x="1169565" y="2261121"/>
            <a:ext cx="1296144" cy="1296144"/>
          </a:xfrm>
          <a:prstGeom prst="ellipse">
            <a:avLst/>
          </a:prstGeom>
          <a:solidFill>
            <a:srgbClr val="B7252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6" name="稻壳儿搜索【幻雨工作室】_3">
            <a:extLst>
              <a:ext uri="{FF2B5EF4-FFF2-40B4-BE49-F238E27FC236}">
                <a16:creationId xmlns:a16="http://schemas.microsoft.com/office/drawing/2014/main" id="{32FF47FC-A397-4946-A424-CC976CB23FB7}"/>
              </a:ext>
            </a:extLst>
          </p:cNvPr>
          <p:cNvSpPr/>
          <p:nvPr/>
        </p:nvSpPr>
        <p:spPr>
          <a:xfrm>
            <a:off x="1251459" y="2620468"/>
            <a:ext cx="1132356" cy="646331"/>
          </a:xfrm>
          <a:prstGeom prst="rect">
            <a:avLst/>
          </a:prstGeom>
        </p:spPr>
        <p:txBody>
          <a:bodyPr wrap="square">
            <a:spAutoFit/>
          </a:bodyPr>
          <a:lstStyle/>
          <a:p>
            <a:pPr algn="ctr"/>
            <a:r>
              <a:rPr lang="zh-CN" altLang="en-US" b="1">
                <a:solidFill>
                  <a:schemeClr val="bg1"/>
                </a:solidFill>
                <a:latin typeface="微软雅黑" panose="020B0503020204020204" charset="-122"/>
                <a:ea typeface="微软雅黑" panose="020B0503020204020204" charset="-122"/>
              </a:rPr>
              <a:t>义乌小商品市场</a:t>
            </a:r>
            <a:endParaRPr lang="zh-CN" altLang="en-US" b="1" dirty="0">
              <a:solidFill>
                <a:schemeClr val="bg1"/>
              </a:solidFill>
              <a:latin typeface="微软雅黑" panose="020B0503020204020204" charset="-122"/>
              <a:ea typeface="微软雅黑" panose="020B0503020204020204" charset="-122"/>
            </a:endParaRPr>
          </a:p>
        </p:txBody>
      </p:sp>
      <p:sp>
        <p:nvSpPr>
          <p:cNvPr id="27" name="稻壳儿搜索【幻雨工作室】_5">
            <a:extLst>
              <a:ext uri="{FF2B5EF4-FFF2-40B4-BE49-F238E27FC236}">
                <a16:creationId xmlns:a16="http://schemas.microsoft.com/office/drawing/2014/main" id="{5CAB2958-00EA-41A9-9E8C-F773EB805C19}"/>
              </a:ext>
            </a:extLst>
          </p:cNvPr>
          <p:cNvSpPr/>
          <p:nvPr/>
        </p:nvSpPr>
        <p:spPr bwMode="auto">
          <a:xfrm>
            <a:off x="4021806" y="2295561"/>
            <a:ext cx="1296144" cy="1296144"/>
          </a:xfrm>
          <a:prstGeom prst="ellipse">
            <a:avLst/>
          </a:prstGeom>
          <a:solidFill>
            <a:srgbClr val="B7252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8" name="稻壳儿搜索【幻雨工作室】_6">
            <a:extLst>
              <a:ext uri="{FF2B5EF4-FFF2-40B4-BE49-F238E27FC236}">
                <a16:creationId xmlns:a16="http://schemas.microsoft.com/office/drawing/2014/main" id="{29755E6C-FBE0-4400-B129-CA11B0F3BCA4}"/>
              </a:ext>
            </a:extLst>
          </p:cNvPr>
          <p:cNvSpPr/>
          <p:nvPr/>
        </p:nvSpPr>
        <p:spPr>
          <a:xfrm>
            <a:off x="4103700" y="2391376"/>
            <a:ext cx="1132356" cy="1200329"/>
          </a:xfrm>
          <a:prstGeom prst="rect">
            <a:avLst/>
          </a:prstGeom>
        </p:spPr>
        <p:txBody>
          <a:bodyPr wrap="square">
            <a:spAutoFit/>
          </a:bodyPr>
          <a:lstStyle/>
          <a:p>
            <a:pPr algn="ctr"/>
            <a:r>
              <a:rPr lang="zh-CN" altLang="en-US" b="1">
                <a:solidFill>
                  <a:schemeClr val="bg1"/>
                </a:solidFill>
                <a:latin typeface="微软雅黑" panose="020B0503020204020204" charset="-122"/>
                <a:ea typeface="微软雅黑" panose="020B0503020204020204" charset="-122"/>
              </a:rPr>
              <a:t>“千村示范、万村整治”工程</a:t>
            </a:r>
            <a:endParaRPr lang="zh-CN" altLang="en-US" b="1" dirty="0">
              <a:solidFill>
                <a:schemeClr val="bg1"/>
              </a:solidFill>
              <a:latin typeface="微软雅黑" panose="020B0503020204020204" charset="-122"/>
              <a:ea typeface="微软雅黑" panose="020B0503020204020204" charset="-122"/>
            </a:endParaRPr>
          </a:p>
        </p:txBody>
      </p:sp>
      <p:sp>
        <p:nvSpPr>
          <p:cNvPr id="36" name="稻壳儿搜索【幻雨工作室】_7">
            <a:extLst>
              <a:ext uri="{FF2B5EF4-FFF2-40B4-BE49-F238E27FC236}">
                <a16:creationId xmlns:a16="http://schemas.microsoft.com/office/drawing/2014/main" id="{4B4B4097-BF0C-4EF6-B4D6-13603508320B}"/>
              </a:ext>
            </a:extLst>
          </p:cNvPr>
          <p:cNvSpPr txBox="1"/>
          <p:nvPr/>
        </p:nvSpPr>
        <p:spPr>
          <a:xfrm>
            <a:off x="3527547" y="3669240"/>
            <a:ext cx="2431906" cy="1532984"/>
          </a:xfrm>
          <a:prstGeom prst="rect">
            <a:avLst/>
          </a:prstGeom>
          <a:noFill/>
        </p:spPr>
        <p:txBody>
          <a:bodyPr wrap="square" rtlCol="0">
            <a:spAutoFit/>
          </a:bodyPr>
          <a:lstStyle/>
          <a:p>
            <a:pPr algn="ctr">
              <a:lnSpc>
                <a:spcPct val="200000"/>
              </a:lnSpc>
            </a:pP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2003</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年，浙江省启动“千村示范、万村整治”工程，选取</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1</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万个行政村进行全面整治，其中</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1000</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个中心村建成全面小康示范村。截至</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2023</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年，全省各级财政累计投入村庄整治和美丽乡村建设资金超过</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2000</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亿元。该工程有效改善了农村人居环境，推动了乡村振兴，成为全国美丽乡村建设的样板。</a:t>
            </a:r>
            <a:endParaRPr lang="zh-CN" altLang="en-US" sz="800" b="1"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9" name="稻壳儿搜索【幻雨工作室】_8">
            <a:extLst>
              <a:ext uri="{FF2B5EF4-FFF2-40B4-BE49-F238E27FC236}">
                <a16:creationId xmlns:a16="http://schemas.microsoft.com/office/drawing/2014/main" id="{897DDB32-D617-446B-B7C4-0093AF5ABA4C}"/>
              </a:ext>
            </a:extLst>
          </p:cNvPr>
          <p:cNvSpPr/>
          <p:nvPr/>
        </p:nvSpPr>
        <p:spPr bwMode="auto">
          <a:xfrm>
            <a:off x="6895511" y="2295561"/>
            <a:ext cx="1296144" cy="1296144"/>
          </a:xfrm>
          <a:prstGeom prst="ellipse">
            <a:avLst/>
          </a:prstGeom>
          <a:solidFill>
            <a:srgbClr val="B7252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0" name="稻壳儿搜索【幻雨工作室】_9">
            <a:extLst>
              <a:ext uri="{FF2B5EF4-FFF2-40B4-BE49-F238E27FC236}">
                <a16:creationId xmlns:a16="http://schemas.microsoft.com/office/drawing/2014/main" id="{4BB98911-591B-4539-9073-99F817FB92FC}"/>
              </a:ext>
            </a:extLst>
          </p:cNvPr>
          <p:cNvSpPr/>
          <p:nvPr/>
        </p:nvSpPr>
        <p:spPr>
          <a:xfrm>
            <a:off x="6977405" y="2777434"/>
            <a:ext cx="1132356" cy="369332"/>
          </a:xfrm>
          <a:prstGeom prst="rect">
            <a:avLst/>
          </a:prstGeom>
        </p:spPr>
        <p:txBody>
          <a:bodyPr wrap="square">
            <a:spAutoFit/>
          </a:bodyPr>
          <a:lstStyle/>
          <a:p>
            <a:pPr algn="ctr"/>
            <a:r>
              <a:rPr lang="zh-CN" altLang="en-US" b="1">
                <a:solidFill>
                  <a:schemeClr val="bg1"/>
                </a:solidFill>
                <a:latin typeface="微软雅黑" panose="020B0503020204020204" charset="-122"/>
                <a:ea typeface="微软雅黑" panose="020B0503020204020204" charset="-122"/>
              </a:rPr>
              <a:t>数字浙江</a:t>
            </a:r>
            <a:endParaRPr lang="zh-CN" altLang="en-US" b="1" dirty="0">
              <a:solidFill>
                <a:schemeClr val="bg1"/>
              </a:solidFill>
              <a:latin typeface="微软雅黑" panose="020B0503020204020204" charset="-122"/>
              <a:ea typeface="微软雅黑" panose="020B0503020204020204" charset="-122"/>
            </a:endParaRPr>
          </a:p>
        </p:txBody>
      </p:sp>
      <p:sp>
        <p:nvSpPr>
          <p:cNvPr id="37" name="稻壳儿搜索【幻雨工作室】_10">
            <a:extLst>
              <a:ext uri="{FF2B5EF4-FFF2-40B4-BE49-F238E27FC236}">
                <a16:creationId xmlns:a16="http://schemas.microsoft.com/office/drawing/2014/main" id="{11F54830-11F9-499E-91A0-6B07C494376B}"/>
              </a:ext>
            </a:extLst>
          </p:cNvPr>
          <p:cNvSpPr txBox="1"/>
          <p:nvPr/>
        </p:nvSpPr>
        <p:spPr>
          <a:xfrm>
            <a:off x="6404903" y="3669240"/>
            <a:ext cx="2431906" cy="1779205"/>
          </a:xfrm>
          <a:prstGeom prst="rect">
            <a:avLst/>
          </a:prstGeom>
          <a:noFill/>
        </p:spPr>
        <p:txBody>
          <a:bodyPr wrap="square" rtlCol="0">
            <a:spAutoFit/>
          </a:bodyPr>
          <a:lstStyle/>
          <a:p>
            <a:pPr algn="ctr">
              <a:lnSpc>
                <a:spcPct val="200000"/>
              </a:lnSpc>
            </a:pP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浙江积极推进数字化改革，建设“数字浙江”，实现政府治理、社会服务和产业发展的数字化转型。​义乌小商品市场的数字平台</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Chinagoods</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上线，标志着传统市场全面开启数字化转型。平台集线上展示交易、智慧仓储物流、便利化通关、全球化供应链服务等功能于一体，服务产业链上游</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200</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万家中小微企业。​</a:t>
            </a:r>
            <a:endParaRPr lang="zh-CN" altLang="en-US" sz="800" b="1"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31" name="稻壳儿搜索【幻雨工作室】_11">
            <a:extLst>
              <a:ext uri="{FF2B5EF4-FFF2-40B4-BE49-F238E27FC236}">
                <a16:creationId xmlns:a16="http://schemas.microsoft.com/office/drawing/2014/main" id="{AB0F8C71-D8C0-4CA9-9B12-FF6B2269C19E}"/>
              </a:ext>
            </a:extLst>
          </p:cNvPr>
          <p:cNvSpPr/>
          <p:nvPr/>
        </p:nvSpPr>
        <p:spPr bwMode="auto">
          <a:xfrm>
            <a:off x="9747752" y="2261121"/>
            <a:ext cx="1296144" cy="1296144"/>
          </a:xfrm>
          <a:prstGeom prst="ellipse">
            <a:avLst/>
          </a:prstGeom>
          <a:solidFill>
            <a:srgbClr val="B7252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2" name="稻壳儿搜索【幻雨工作室】_12">
            <a:extLst>
              <a:ext uri="{FF2B5EF4-FFF2-40B4-BE49-F238E27FC236}">
                <a16:creationId xmlns:a16="http://schemas.microsoft.com/office/drawing/2014/main" id="{4F2D509C-0B42-4EB4-9495-9AB7F3E1C6C1}"/>
              </a:ext>
            </a:extLst>
          </p:cNvPr>
          <p:cNvSpPr/>
          <p:nvPr/>
        </p:nvSpPr>
        <p:spPr>
          <a:xfrm>
            <a:off x="9829646" y="2758967"/>
            <a:ext cx="1132356" cy="369332"/>
          </a:xfrm>
          <a:prstGeom prst="rect">
            <a:avLst/>
          </a:prstGeom>
        </p:spPr>
        <p:txBody>
          <a:bodyPr wrap="square">
            <a:spAutoFit/>
          </a:bodyPr>
          <a:lstStyle/>
          <a:p>
            <a:pPr algn="ctr"/>
            <a:r>
              <a:rPr lang="zh-CN" altLang="en-US" b="1">
                <a:solidFill>
                  <a:schemeClr val="bg1"/>
                </a:solidFill>
                <a:latin typeface="微软雅黑" panose="020B0503020204020204" charset="-122"/>
                <a:ea typeface="微软雅黑" panose="020B0503020204020204" charset="-122"/>
              </a:rPr>
              <a:t>科技创新</a:t>
            </a:r>
            <a:endParaRPr lang="zh-CN" altLang="en-US" b="1" dirty="0">
              <a:solidFill>
                <a:schemeClr val="bg1"/>
              </a:solidFill>
              <a:latin typeface="微软雅黑" panose="020B0503020204020204" charset="-122"/>
              <a:ea typeface="微软雅黑" panose="020B0503020204020204" charset="-122"/>
            </a:endParaRPr>
          </a:p>
        </p:txBody>
      </p:sp>
      <p:sp>
        <p:nvSpPr>
          <p:cNvPr id="38" name="稻壳儿搜索【幻雨工作室】_13">
            <a:extLst>
              <a:ext uri="{FF2B5EF4-FFF2-40B4-BE49-F238E27FC236}">
                <a16:creationId xmlns:a16="http://schemas.microsoft.com/office/drawing/2014/main" id="{BD9F37BF-4FDC-4193-86FC-575BEF15B521}"/>
              </a:ext>
            </a:extLst>
          </p:cNvPr>
          <p:cNvSpPr txBox="1"/>
          <p:nvPr/>
        </p:nvSpPr>
        <p:spPr>
          <a:xfrm>
            <a:off x="9119773" y="3669240"/>
            <a:ext cx="2431906" cy="2025426"/>
          </a:xfrm>
          <a:prstGeom prst="rect">
            <a:avLst/>
          </a:prstGeom>
          <a:noFill/>
        </p:spPr>
        <p:txBody>
          <a:bodyPr wrap="square" rtlCol="0">
            <a:spAutoFit/>
          </a:bodyPr>
          <a:lstStyle/>
          <a:p>
            <a:pPr algn="ctr">
              <a:lnSpc>
                <a:spcPct val="200000"/>
              </a:lnSpc>
            </a:pP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浙江持续加大研发投入，</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2021</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年全社会研发经费支出达</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2132</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亿元，居全国第四；研发投入强度达</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2.9%</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，与江苏的差距从五年前的</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0.23</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个百分点缩小到</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0.05</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个百分点。 ​未来五年，浙江计划将全社会研发经费支出占</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GDP</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的比重提高到</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3.4%</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，基础研究经费占研发经费的比重达</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10%</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 ​通过构建全球影响力的战略平台体系，浙江致力于打造“中国创新之窗”。​</a:t>
            </a:r>
            <a:endParaRPr lang="zh-CN" altLang="en-US" sz="800" b="1"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17" name="文本框 16">
            <a:extLst>
              <a:ext uri="{FF2B5EF4-FFF2-40B4-BE49-F238E27FC236}">
                <a16:creationId xmlns:a16="http://schemas.microsoft.com/office/drawing/2014/main" id="{BF7820AB-4A79-4744-86F2-08681B58C9BF}"/>
              </a:ext>
            </a:extLst>
          </p:cNvPr>
          <p:cNvSpPr txBox="1"/>
          <p:nvPr/>
        </p:nvSpPr>
        <p:spPr>
          <a:xfrm>
            <a:off x="64395" y="843489"/>
            <a:ext cx="11739093" cy="1200329"/>
          </a:xfrm>
          <a:prstGeom prst="rect">
            <a:avLst/>
          </a:prstGeom>
          <a:noFill/>
        </p:spPr>
        <p:txBody>
          <a:bodyPr wrap="square">
            <a:spAutoFit/>
          </a:bodyPr>
          <a:lstStyle/>
          <a:p>
            <a:r>
              <a:rPr lang="zh-CN" altLang="en-US">
                <a:latin typeface="宋体" panose="02010600030101010101" pitchFamily="2" charset="-122"/>
                <a:ea typeface="宋体" panose="02010600030101010101" pitchFamily="2" charset="-122"/>
              </a:rPr>
              <a:t>在“八八战略”的引领下，浙江成为经济高质量发展、数字经济创新、共同富裕示范区建设的先行省份。义乌小商品市场全球领先，“千村示范、万村整治”工程开创美丽乡村建设先河，“数字浙江”理念引领全国。</a:t>
            </a:r>
          </a:p>
          <a:p>
            <a:r>
              <a:rPr lang="zh-CN" altLang="en-US">
                <a:latin typeface="宋体" panose="02010600030101010101" pitchFamily="2" charset="-122"/>
                <a:ea typeface="宋体" panose="02010600030101010101" pitchFamily="2" charset="-122"/>
              </a:rPr>
              <a:t>这些成果不仅体现了战略的前瞻性和实践力，也为全国提供了可复制、可推广的发展样板，充分体现习近平新时代中国特色社会主义思想中坚持问题导向、实事求是、系统观念、人民立场等世界观与方法论。</a:t>
            </a:r>
          </a:p>
        </p:txBody>
      </p:sp>
      <p:sp>
        <p:nvSpPr>
          <p:cNvPr id="18" name="稻壳儿搜索【幻雨工作室】_7">
            <a:extLst>
              <a:ext uri="{FF2B5EF4-FFF2-40B4-BE49-F238E27FC236}">
                <a16:creationId xmlns:a16="http://schemas.microsoft.com/office/drawing/2014/main" id="{14BD3102-DB2A-4FA5-A050-BB5304870039}"/>
              </a:ext>
            </a:extLst>
          </p:cNvPr>
          <p:cNvSpPr txBox="1"/>
          <p:nvPr/>
        </p:nvSpPr>
        <p:spPr>
          <a:xfrm>
            <a:off x="727898" y="3669240"/>
            <a:ext cx="2431906" cy="2517869"/>
          </a:xfrm>
          <a:prstGeom prst="rect">
            <a:avLst/>
          </a:prstGeom>
          <a:noFill/>
        </p:spPr>
        <p:txBody>
          <a:bodyPr wrap="square" rtlCol="0">
            <a:spAutoFit/>
          </a:bodyPr>
          <a:lstStyle/>
          <a:p>
            <a:pPr algn="ctr">
              <a:lnSpc>
                <a:spcPct val="200000"/>
              </a:lnSpc>
            </a:pP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义乌小商品市场，作为全球最大的小商品批发市场，现有营业面积超过</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640</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万平方米，拥有</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7.5</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万个商位，汇聚了</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210</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多万种商品。</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2024</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年</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1</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月至</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8</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月，义乌市进出口总值达到</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4440.6</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亿元，同比增长</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17.2%</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；其中出口</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3935.8</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亿元，同比增长</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17.2%</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；进口</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504.8</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亿元，同比增长</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17.3%</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。市场日均人流量超过</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22</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万人次，日均外商超</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3800</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人，同比增长</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71.3%</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。义乌市场的数字化转型也取得显著成效，线上平台</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Chinagoods</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在</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2024</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年前三季度的</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GMV</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超过</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608</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亿元，同比增长超</a:t>
            </a:r>
            <a:r>
              <a:rPr lang="en-US" altLang="zh-CN"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16%</a:t>
            </a:r>
            <a:r>
              <a:rPr lang="zh-CN" altLang="en-US" sz="800" b="1">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rPr>
              <a:t>。</a:t>
            </a:r>
            <a:endParaRPr lang="zh-CN" altLang="en-US" sz="800" b="1"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Tree>
    <p:extLst>
      <p:ext uri="{BB962C8B-B14F-4D97-AF65-F5344CB8AC3E}">
        <p14:creationId xmlns:p14="http://schemas.microsoft.com/office/powerpoint/2010/main" val="3841302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稻壳儿搜索【幻雨工作室】_1">
            <a:extLst>
              <a:ext uri="{FF2B5EF4-FFF2-40B4-BE49-F238E27FC236}">
                <a16:creationId xmlns:a16="http://schemas.microsoft.com/office/drawing/2014/main" id="{146A3A04-0D49-40D8-932B-A5D2FEF31078}"/>
              </a:ext>
            </a:extLst>
          </p:cNvPr>
          <p:cNvSpPr txBox="1"/>
          <p:nvPr/>
        </p:nvSpPr>
        <p:spPr>
          <a:xfrm>
            <a:off x="342478" y="1651715"/>
            <a:ext cx="5901583" cy="1077218"/>
          </a:xfrm>
          <a:prstGeom prst="rect">
            <a:avLst/>
          </a:prstGeom>
          <a:noFill/>
        </p:spPr>
        <p:txBody>
          <a:bodyPr wrap="square" rtlCol="0">
            <a:spAutoFit/>
          </a:bodyPr>
          <a:lstStyle/>
          <a:p>
            <a:pPr algn="ctr"/>
            <a:r>
              <a:rPr lang="zh-CN" altLang="en-US" sz="3200"/>
              <a:t>绿水青山就是金山银山 </a:t>
            </a:r>
            <a:r>
              <a:rPr lang="en-US" altLang="zh-CN" sz="3200"/>
              <a:t>—— </a:t>
            </a:r>
            <a:r>
              <a:rPr lang="zh-CN" altLang="en-US" sz="3200"/>
              <a:t>生态文明思想在浙江的探索与实践</a:t>
            </a:r>
            <a:endParaRPr lang="zh-CN" altLang="en-US" sz="3200" dirty="0">
              <a:solidFill>
                <a:schemeClr val="tx1">
                  <a:lumMod val="85000"/>
                  <a:lumOff val="15000"/>
                </a:schemeClr>
              </a:solidFill>
              <a:latin typeface="方正粗黑宋简体" panose="02000000000000000000" pitchFamily="2" charset="-122"/>
              <a:ea typeface="方正粗黑宋简体" panose="02000000000000000000" pitchFamily="2" charset="-122"/>
              <a:cs typeface="Arial" panose="020B0604020202020204" pitchFamily="34" charset="0"/>
            </a:endParaRPr>
          </a:p>
        </p:txBody>
      </p:sp>
      <p:pic>
        <p:nvPicPr>
          <p:cNvPr id="8" name="稻壳儿搜索【幻雨工作室】_3">
            <a:extLst>
              <a:ext uri="{FF2B5EF4-FFF2-40B4-BE49-F238E27FC236}">
                <a16:creationId xmlns:a16="http://schemas.microsoft.com/office/drawing/2014/main" id="{08A19377-B2E9-4AB1-B0C6-0DC75424EC6D}"/>
              </a:ext>
            </a:extLst>
          </p:cNvPr>
          <p:cNvPicPr>
            <a:picLocks noChangeAspect="1"/>
          </p:cNvPicPr>
          <p:nvPr/>
        </p:nvPicPr>
        <p:blipFill>
          <a:blip r:embed="rId2"/>
          <a:stretch>
            <a:fillRect/>
          </a:stretch>
        </p:blipFill>
        <p:spPr>
          <a:xfrm>
            <a:off x="1184010" y="436147"/>
            <a:ext cx="986947" cy="994425"/>
          </a:xfrm>
          <a:prstGeom prst="rect">
            <a:avLst/>
          </a:prstGeom>
        </p:spPr>
      </p:pic>
      <p:pic>
        <p:nvPicPr>
          <p:cNvPr id="9" name="稻壳儿搜索【幻雨工作室】_4">
            <a:extLst>
              <a:ext uri="{FF2B5EF4-FFF2-40B4-BE49-F238E27FC236}">
                <a16:creationId xmlns:a16="http://schemas.microsoft.com/office/drawing/2014/main" id="{9B347C1F-3EFD-4B36-812C-4C7FDD08B84C}"/>
              </a:ext>
            </a:extLst>
          </p:cNvPr>
          <p:cNvPicPr>
            <a:picLocks noChangeAspect="1"/>
          </p:cNvPicPr>
          <p:nvPr/>
        </p:nvPicPr>
        <p:blipFill>
          <a:blip r:embed="rId2"/>
          <a:stretch>
            <a:fillRect/>
          </a:stretch>
        </p:blipFill>
        <p:spPr>
          <a:xfrm>
            <a:off x="2193564" y="436147"/>
            <a:ext cx="986947" cy="994425"/>
          </a:xfrm>
          <a:prstGeom prst="rect">
            <a:avLst/>
          </a:prstGeom>
        </p:spPr>
      </p:pic>
      <p:pic>
        <p:nvPicPr>
          <p:cNvPr id="37" name="稻壳儿搜索【幻雨工作室】_5">
            <a:extLst>
              <a:ext uri="{FF2B5EF4-FFF2-40B4-BE49-F238E27FC236}">
                <a16:creationId xmlns:a16="http://schemas.microsoft.com/office/drawing/2014/main" id="{D8067E26-A619-4158-8C0C-435D7914DD1D}"/>
              </a:ext>
            </a:extLst>
          </p:cNvPr>
          <p:cNvPicPr>
            <a:picLocks noChangeAspect="1"/>
          </p:cNvPicPr>
          <p:nvPr/>
        </p:nvPicPr>
        <p:blipFill>
          <a:blip r:embed="rId2"/>
          <a:stretch>
            <a:fillRect/>
          </a:stretch>
        </p:blipFill>
        <p:spPr>
          <a:xfrm>
            <a:off x="3203118" y="436147"/>
            <a:ext cx="986947" cy="994425"/>
          </a:xfrm>
          <a:prstGeom prst="rect">
            <a:avLst/>
          </a:prstGeom>
        </p:spPr>
      </p:pic>
      <p:pic>
        <p:nvPicPr>
          <p:cNvPr id="38" name="稻壳儿搜索【幻雨工作室】_6">
            <a:extLst>
              <a:ext uri="{FF2B5EF4-FFF2-40B4-BE49-F238E27FC236}">
                <a16:creationId xmlns:a16="http://schemas.microsoft.com/office/drawing/2014/main" id="{4E0D76C9-FD33-4549-944F-0E9ED362B773}"/>
              </a:ext>
            </a:extLst>
          </p:cNvPr>
          <p:cNvPicPr>
            <a:picLocks noChangeAspect="1"/>
          </p:cNvPicPr>
          <p:nvPr/>
        </p:nvPicPr>
        <p:blipFill>
          <a:blip r:embed="rId2"/>
          <a:stretch>
            <a:fillRect/>
          </a:stretch>
        </p:blipFill>
        <p:spPr>
          <a:xfrm>
            <a:off x="4212671" y="436147"/>
            <a:ext cx="986947" cy="994425"/>
          </a:xfrm>
          <a:prstGeom prst="rect">
            <a:avLst/>
          </a:prstGeom>
        </p:spPr>
      </p:pic>
      <p:sp>
        <p:nvSpPr>
          <p:cNvPr id="13" name="稻壳儿搜索【幻雨工作室】_7">
            <a:extLst>
              <a:ext uri="{FF2B5EF4-FFF2-40B4-BE49-F238E27FC236}">
                <a16:creationId xmlns:a16="http://schemas.microsoft.com/office/drawing/2014/main" id="{4D83A3DD-3960-46D9-9E85-3A83B99A8A48}"/>
              </a:ext>
            </a:extLst>
          </p:cNvPr>
          <p:cNvSpPr txBox="1"/>
          <p:nvPr/>
        </p:nvSpPr>
        <p:spPr>
          <a:xfrm>
            <a:off x="1189545" y="494347"/>
            <a:ext cx="3981932" cy="830997"/>
          </a:xfrm>
          <a:prstGeom prst="rect">
            <a:avLst/>
          </a:prstGeom>
          <a:noFill/>
        </p:spPr>
        <p:txBody>
          <a:bodyPr wrap="square" rtlCol="0">
            <a:spAutoFit/>
          </a:bodyPr>
          <a:lstStyle/>
          <a:p>
            <a:pPr algn="dist"/>
            <a:r>
              <a:rPr lang="zh-CN" altLang="en-US" sz="4800">
                <a:solidFill>
                  <a:srgbClr val="B72522"/>
                </a:solidFill>
                <a:effectLst>
                  <a:outerShdw blurRad="63500" sx="102000" sy="102000" algn="ctr" rotWithShape="0">
                    <a:prstClr val="black">
                      <a:alpha val="10000"/>
                    </a:prstClr>
                  </a:outerShdw>
                </a:effectLst>
                <a:latin typeface="新宋体" panose="02010609030101010101" pitchFamily="49" charset="-122"/>
                <a:ea typeface="新宋体" panose="02010609030101010101" pitchFamily="49" charset="-122"/>
              </a:rPr>
              <a:t>实践之路</a:t>
            </a:r>
          </a:p>
        </p:txBody>
      </p:sp>
      <p:sp>
        <p:nvSpPr>
          <p:cNvPr id="11" name="文本框 10">
            <a:extLst>
              <a:ext uri="{FF2B5EF4-FFF2-40B4-BE49-F238E27FC236}">
                <a16:creationId xmlns:a16="http://schemas.microsoft.com/office/drawing/2014/main" id="{86C320E4-4DF6-4DCA-9E36-33A562F8AFE5}"/>
              </a:ext>
            </a:extLst>
          </p:cNvPr>
          <p:cNvSpPr txBox="1"/>
          <p:nvPr/>
        </p:nvSpPr>
        <p:spPr>
          <a:xfrm>
            <a:off x="6096000" y="3271220"/>
            <a:ext cx="1694747" cy="3416320"/>
          </a:xfrm>
          <a:prstGeom prst="rect">
            <a:avLst/>
          </a:prstGeom>
          <a:noFill/>
        </p:spPr>
        <p:txBody>
          <a:bodyPr wrap="square">
            <a:spAutoFit/>
          </a:bodyPr>
          <a:lstStyle/>
          <a:p>
            <a:r>
              <a:rPr lang="zh-CN" altLang="en-US"/>
              <a:t>转向绿色生态发展。今天的余村已从“矿山村”转型为“网红村”，</a:t>
            </a:r>
            <a:r>
              <a:rPr lang="en-US" altLang="zh-CN"/>
              <a:t>2023</a:t>
            </a:r>
            <a:r>
              <a:rPr lang="zh-CN" altLang="en-US"/>
              <a:t>年游客接待量超过</a:t>
            </a:r>
            <a:r>
              <a:rPr lang="en-US" altLang="zh-CN"/>
              <a:t>60</a:t>
            </a:r>
            <a:r>
              <a:rPr lang="zh-CN" altLang="en-US"/>
              <a:t>万人次，旅游年收入突破</a:t>
            </a:r>
            <a:r>
              <a:rPr lang="en-US" altLang="zh-CN"/>
              <a:t>1.3</a:t>
            </a:r>
            <a:r>
              <a:rPr lang="zh-CN" altLang="en-US"/>
              <a:t>亿元，实现了从生态负担到生态红利的转变。</a:t>
            </a:r>
          </a:p>
        </p:txBody>
      </p:sp>
      <p:pic>
        <p:nvPicPr>
          <p:cNvPr id="3074" name="Picture 2" descr="余村：“绿水青山就是金山银山”在这里提出">
            <a:extLst>
              <a:ext uri="{FF2B5EF4-FFF2-40B4-BE49-F238E27FC236}">
                <a16:creationId xmlns:a16="http://schemas.microsoft.com/office/drawing/2014/main" id="{22E9CFB8-6D46-4166-B18C-2E61F53A53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6997" y="494347"/>
            <a:ext cx="3965604" cy="458688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AA73AC79-8CB1-4C87-A531-86F233219C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08" y="3356774"/>
            <a:ext cx="5874592" cy="330445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4A6C5238-BAF4-4E69-83E5-D09FCF4E316E}"/>
              </a:ext>
            </a:extLst>
          </p:cNvPr>
          <p:cNvSpPr txBox="1"/>
          <p:nvPr/>
        </p:nvSpPr>
        <p:spPr>
          <a:xfrm>
            <a:off x="8522441" y="5453913"/>
            <a:ext cx="2971800" cy="369332"/>
          </a:xfrm>
          <a:prstGeom prst="rect">
            <a:avLst/>
          </a:prstGeom>
          <a:noFill/>
        </p:spPr>
        <p:txBody>
          <a:bodyPr wrap="square" rtlCol="0">
            <a:spAutoFit/>
          </a:bodyPr>
          <a:lstStyle/>
          <a:p>
            <a:r>
              <a:rPr lang="zh-CN" altLang="en-US"/>
              <a:t>余村过去与现在对比照片</a:t>
            </a:r>
          </a:p>
        </p:txBody>
      </p:sp>
      <p:sp>
        <p:nvSpPr>
          <p:cNvPr id="16" name="文本框 15">
            <a:extLst>
              <a:ext uri="{FF2B5EF4-FFF2-40B4-BE49-F238E27FC236}">
                <a16:creationId xmlns:a16="http://schemas.microsoft.com/office/drawing/2014/main" id="{54CF097C-9C9B-4608-BD98-A5207C14EFEF}"/>
              </a:ext>
            </a:extLst>
          </p:cNvPr>
          <p:cNvSpPr txBox="1"/>
          <p:nvPr/>
        </p:nvSpPr>
        <p:spPr>
          <a:xfrm>
            <a:off x="653147" y="2676969"/>
            <a:ext cx="7119048" cy="646331"/>
          </a:xfrm>
          <a:prstGeom prst="rect">
            <a:avLst/>
          </a:prstGeom>
          <a:noFill/>
        </p:spPr>
        <p:txBody>
          <a:bodyPr wrap="square">
            <a:spAutoFit/>
          </a:bodyPr>
          <a:lstStyle/>
          <a:p>
            <a:r>
              <a:rPr lang="zh-CN" altLang="en-US"/>
              <a:t>绿水青山就是金山银山”这一科学论断，</a:t>
            </a:r>
            <a:r>
              <a:rPr lang="en-US" altLang="zh-CN"/>
              <a:t>2005</a:t>
            </a:r>
            <a:r>
              <a:rPr lang="zh-CN" altLang="en-US"/>
              <a:t>年首次提出于浙江安吉余村。在经历“靠山吃山”式采矿发展之后，余村主动关停高污染企业，</a:t>
            </a:r>
          </a:p>
        </p:txBody>
      </p:sp>
    </p:spTree>
    <p:extLst>
      <p:ext uri="{BB962C8B-B14F-4D97-AF65-F5344CB8AC3E}">
        <p14:creationId xmlns:p14="http://schemas.microsoft.com/office/powerpoint/2010/main" val="717817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稻壳儿搜索【幻雨工作室】_1">
            <a:extLst>
              <a:ext uri="{FF2B5EF4-FFF2-40B4-BE49-F238E27FC236}">
                <a16:creationId xmlns:a16="http://schemas.microsoft.com/office/drawing/2014/main" id="{990A68C1-3E21-41D1-B730-5EDCB6C2BAB4}"/>
              </a:ext>
            </a:extLst>
          </p:cNvPr>
          <p:cNvSpPr txBox="1"/>
          <p:nvPr/>
        </p:nvSpPr>
        <p:spPr>
          <a:xfrm>
            <a:off x="623525" y="262233"/>
            <a:ext cx="7137012" cy="523220"/>
          </a:xfrm>
          <a:prstGeom prst="rect">
            <a:avLst/>
          </a:prstGeom>
          <a:noFill/>
          <a:effectLst>
            <a:outerShdw blurRad="50800" dist="38100" dir="2700000" algn="tl" rotWithShape="0">
              <a:prstClr val="black">
                <a:alpha val="40000"/>
              </a:prstClr>
            </a:outerShdw>
          </a:effectLst>
        </p:spPr>
        <p:txBody>
          <a:bodyPr wrap="square" rtlCol="0">
            <a:spAutoFit/>
          </a:bodyPr>
          <a:lstStyle/>
          <a:p>
            <a:pPr algn="dist"/>
            <a:r>
              <a:rPr lang="zh-CN" altLang="en-US" sz="2800" b="1">
                <a:latin typeface="宋体" panose="02010600030101010101" pitchFamily="2" charset="-122"/>
                <a:ea typeface="宋体" panose="02010600030101010101" pitchFamily="2" charset="-122"/>
              </a:rPr>
              <a:t>实践下的伟大成果</a:t>
            </a:r>
            <a:endParaRPr lang="zh-CN" altLang="en-US" sz="2800" b="1" dirty="0">
              <a:solidFill>
                <a:schemeClr val="tx1">
                  <a:lumMod val="85000"/>
                  <a:lumOff val="15000"/>
                </a:schemeClr>
              </a:solidFill>
              <a:latin typeface="宋体" panose="02010600030101010101" pitchFamily="2" charset="-122"/>
              <a:ea typeface="宋体" panose="02010600030101010101" pitchFamily="2" charset="-122"/>
            </a:endParaRPr>
          </a:p>
        </p:txBody>
      </p:sp>
      <p:sp>
        <p:nvSpPr>
          <p:cNvPr id="15" name="稻壳儿搜索【幻雨工作室】_2">
            <a:extLst>
              <a:ext uri="{FF2B5EF4-FFF2-40B4-BE49-F238E27FC236}">
                <a16:creationId xmlns:a16="http://schemas.microsoft.com/office/drawing/2014/main" id="{368878CD-24FE-4779-BEA6-452B14D5D8FC}"/>
              </a:ext>
            </a:extLst>
          </p:cNvPr>
          <p:cNvSpPr/>
          <p:nvPr/>
        </p:nvSpPr>
        <p:spPr>
          <a:xfrm>
            <a:off x="509846" y="1267714"/>
            <a:ext cx="1164407" cy="11644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Abadi" panose="020B0604020104020204" pitchFamily="34" charset="0"/>
                <a:ea typeface="微软雅黑" panose="020B0503020204020204" charset="-122"/>
              </a:rPr>
              <a:t>制度保障</a:t>
            </a:r>
            <a:endParaRPr lang="en-US" altLang="zh-CN" sz="2000" dirty="0">
              <a:latin typeface="Abadi" panose="020B0604020104020204" pitchFamily="34" charset="0"/>
              <a:ea typeface="微软雅黑" panose="020B0503020204020204" charset="-122"/>
            </a:endParaRPr>
          </a:p>
        </p:txBody>
      </p:sp>
      <p:sp>
        <p:nvSpPr>
          <p:cNvPr id="18" name="稻壳儿搜索【幻雨工作室】_5">
            <a:extLst>
              <a:ext uri="{FF2B5EF4-FFF2-40B4-BE49-F238E27FC236}">
                <a16:creationId xmlns:a16="http://schemas.microsoft.com/office/drawing/2014/main" id="{469FE74C-2D99-4BAB-8151-8E52CCC564BA}"/>
              </a:ext>
            </a:extLst>
          </p:cNvPr>
          <p:cNvSpPr txBox="1"/>
          <p:nvPr/>
        </p:nvSpPr>
        <p:spPr>
          <a:xfrm>
            <a:off x="1742855" y="1157460"/>
            <a:ext cx="8114011" cy="510524"/>
          </a:xfrm>
          <a:prstGeom prst="rect">
            <a:avLst/>
          </a:prstGeom>
          <a:noFill/>
        </p:spPr>
        <p:txBody>
          <a:bodyPr wrap="square" rtlCol="0">
            <a:spAutoFit/>
          </a:bodyPr>
          <a:lstStyle/>
          <a:p>
            <a:pPr>
              <a:lnSpc>
                <a:spcPct val="200000"/>
              </a:lnSpc>
            </a:pPr>
            <a:r>
              <a:rPr lang="zh-CN" altLang="en-US" sz="1600">
                <a:solidFill>
                  <a:schemeClr val="tx1">
                    <a:lumMod val="85000"/>
                    <a:lumOff val="15000"/>
                  </a:schemeClr>
                </a:solidFill>
                <a:latin typeface="微软雅黑" panose="020B0503020204020204" pitchFamily="34" charset="-122"/>
                <a:ea typeface="微软雅黑" panose="020B0503020204020204" pitchFamily="34" charset="-122"/>
              </a:rPr>
              <a:t>浙江在全国率先建立生态产品价值实现机制，推动“生态资源”变成“生态资产”：</a:t>
            </a:r>
            <a:endParaRPr lang="en-US" altLang="zh-CN" sz="160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0" name="稻壳儿搜索【幻雨工作室】_6">
            <a:extLst>
              <a:ext uri="{FF2B5EF4-FFF2-40B4-BE49-F238E27FC236}">
                <a16:creationId xmlns:a16="http://schemas.microsoft.com/office/drawing/2014/main" id="{439571BC-5071-4E1A-84AD-EBB766B9998A}"/>
              </a:ext>
            </a:extLst>
          </p:cNvPr>
          <p:cNvSpPr txBox="1"/>
          <p:nvPr/>
        </p:nvSpPr>
        <p:spPr>
          <a:xfrm>
            <a:off x="1742856" y="2761000"/>
            <a:ext cx="3988244" cy="510076"/>
          </a:xfrm>
          <a:prstGeom prst="rect">
            <a:avLst/>
          </a:prstGeom>
          <a:noFill/>
        </p:spPr>
        <p:txBody>
          <a:bodyPr wrap="square" rtlCol="0">
            <a:spAutoFit/>
          </a:bodyPr>
          <a:lstStyle/>
          <a:p>
            <a:pPr>
              <a:lnSpc>
                <a:spcPct val="200000"/>
              </a:lnSpc>
            </a:pPr>
            <a:r>
              <a:rPr lang="zh-CN" altLang="en-US" sz="1600">
                <a:solidFill>
                  <a:schemeClr val="tx1">
                    <a:lumMod val="85000"/>
                    <a:lumOff val="15000"/>
                  </a:schemeClr>
                </a:solidFill>
                <a:latin typeface="微软雅黑" panose="020B0503020204020204" pitchFamily="34" charset="-122"/>
                <a:ea typeface="微软雅黑" panose="020B0503020204020204" pitchFamily="34" charset="-122"/>
              </a:rPr>
              <a:t>绿色低碳成为浙江经济发展新动力：</a:t>
            </a:r>
            <a:endParaRPr lang="en-US" altLang="zh-CN" sz="80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1" name="稻壳儿搜索【幻雨工作室】_7">
            <a:extLst>
              <a:ext uri="{FF2B5EF4-FFF2-40B4-BE49-F238E27FC236}">
                <a16:creationId xmlns:a16="http://schemas.microsoft.com/office/drawing/2014/main" id="{0FD74164-FB3B-4D80-967A-598D938AE315}"/>
              </a:ext>
            </a:extLst>
          </p:cNvPr>
          <p:cNvSpPr txBox="1"/>
          <p:nvPr/>
        </p:nvSpPr>
        <p:spPr>
          <a:xfrm>
            <a:off x="1732904" y="4405352"/>
            <a:ext cx="6027633" cy="510076"/>
          </a:xfrm>
          <a:prstGeom prst="rect">
            <a:avLst/>
          </a:prstGeom>
          <a:noFill/>
        </p:spPr>
        <p:txBody>
          <a:bodyPr wrap="square" rtlCol="0">
            <a:spAutoFit/>
          </a:bodyPr>
          <a:lstStyle/>
          <a:p>
            <a:pPr>
              <a:lnSpc>
                <a:spcPct val="200000"/>
              </a:lnSpc>
            </a:pPr>
            <a:r>
              <a:rPr lang="zh-CN" altLang="en-US" sz="1600">
                <a:solidFill>
                  <a:schemeClr val="tx1">
                    <a:lumMod val="85000"/>
                    <a:lumOff val="15000"/>
                  </a:schemeClr>
                </a:solidFill>
                <a:latin typeface="微软雅黑" panose="020B0503020204020204" pitchFamily="34" charset="-122"/>
                <a:ea typeface="微软雅黑" panose="020B0503020204020204" pitchFamily="34" charset="-122"/>
              </a:rPr>
              <a:t>在“绿水青山”理念指导下，浙江同步推进城乡生态一体化建设：</a:t>
            </a:r>
            <a:endParaRPr lang="zh-CN" altLang="en-US" sz="800"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9" name="稻壳儿搜索【幻雨工作室】_2">
            <a:extLst>
              <a:ext uri="{FF2B5EF4-FFF2-40B4-BE49-F238E27FC236}">
                <a16:creationId xmlns:a16="http://schemas.microsoft.com/office/drawing/2014/main" id="{5BBFEB55-DEAF-4A72-B34B-1EBC1E45E19A}"/>
              </a:ext>
            </a:extLst>
          </p:cNvPr>
          <p:cNvSpPr/>
          <p:nvPr/>
        </p:nvSpPr>
        <p:spPr>
          <a:xfrm>
            <a:off x="509845" y="4662706"/>
            <a:ext cx="1164407" cy="11644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Abadi" panose="020B0604020104020204" pitchFamily="34" charset="0"/>
                <a:ea typeface="微软雅黑" panose="020B0503020204020204" charset="-122"/>
              </a:rPr>
              <a:t>生态文明</a:t>
            </a:r>
            <a:endParaRPr lang="en-US" altLang="zh-CN" sz="2000" dirty="0">
              <a:latin typeface="Abadi" panose="020B0604020104020204" pitchFamily="34" charset="0"/>
              <a:ea typeface="微软雅黑" panose="020B0503020204020204" charset="-122"/>
            </a:endParaRPr>
          </a:p>
        </p:txBody>
      </p:sp>
      <p:sp>
        <p:nvSpPr>
          <p:cNvPr id="11" name="稻壳儿搜索【幻雨工作室】_2">
            <a:extLst>
              <a:ext uri="{FF2B5EF4-FFF2-40B4-BE49-F238E27FC236}">
                <a16:creationId xmlns:a16="http://schemas.microsoft.com/office/drawing/2014/main" id="{F4384F77-7F6E-4C91-AD0A-681B0B926745}"/>
              </a:ext>
            </a:extLst>
          </p:cNvPr>
          <p:cNvSpPr/>
          <p:nvPr/>
        </p:nvSpPr>
        <p:spPr>
          <a:xfrm>
            <a:off x="509846" y="2965210"/>
            <a:ext cx="1164407" cy="11644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latin typeface="Abadi" panose="020B0604020104020204" pitchFamily="34" charset="0"/>
                <a:ea typeface="微软雅黑" panose="020B0503020204020204" charset="-122"/>
              </a:rPr>
              <a:t>绿色发展</a:t>
            </a:r>
            <a:endParaRPr lang="en-US" altLang="zh-CN" sz="2000" dirty="0">
              <a:latin typeface="Abadi" panose="020B0604020104020204" pitchFamily="34" charset="0"/>
              <a:ea typeface="微软雅黑" panose="020B0503020204020204" charset="-122"/>
            </a:endParaRPr>
          </a:p>
        </p:txBody>
      </p:sp>
      <p:sp>
        <p:nvSpPr>
          <p:cNvPr id="3" name="Rectangle 2">
            <a:extLst>
              <a:ext uri="{FF2B5EF4-FFF2-40B4-BE49-F238E27FC236}">
                <a16:creationId xmlns:a16="http://schemas.microsoft.com/office/drawing/2014/main" id="{8245A8A4-7ABF-42A0-9954-AB5B4925B605}"/>
              </a:ext>
            </a:extLst>
          </p:cNvPr>
          <p:cNvSpPr>
            <a:spLocks noChangeArrowheads="1"/>
          </p:cNvSpPr>
          <p:nvPr/>
        </p:nvSpPr>
        <p:spPr bwMode="auto">
          <a:xfrm>
            <a:off x="2060300" y="1721233"/>
            <a:ext cx="79594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构建生态补偿机制：2022年全省生态补偿资金总量达28.5亿元；</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实施“河（湖）长制”：已实现省、市、县、乡四级全覆盖，覆盖率达100%；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推行排污权交易、碳排放权交易等制度，全国领先。</a:t>
            </a:r>
          </a:p>
        </p:txBody>
      </p:sp>
      <p:sp>
        <p:nvSpPr>
          <p:cNvPr id="5" name="Rectangle 3">
            <a:extLst>
              <a:ext uri="{FF2B5EF4-FFF2-40B4-BE49-F238E27FC236}">
                <a16:creationId xmlns:a16="http://schemas.microsoft.com/office/drawing/2014/main" id="{230B13F5-942D-4A86-BAB3-9BAFAD2B9A7B}"/>
              </a:ext>
            </a:extLst>
          </p:cNvPr>
          <p:cNvSpPr>
            <a:spLocks noChangeArrowheads="1"/>
          </p:cNvSpPr>
          <p:nvPr/>
        </p:nvSpPr>
        <p:spPr bwMode="auto">
          <a:xfrm>
            <a:off x="2060298" y="3376549"/>
            <a:ext cx="749582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浙江全省单位GDP能耗持续下降，2023年比2010年下降超过40%；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绿色能源利用率不断提升，风能、太阳能装机容量突破4500万千瓦；</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绿色产业产值占规上工业比重超过30%。</a:t>
            </a:r>
          </a:p>
        </p:txBody>
      </p:sp>
      <p:sp>
        <p:nvSpPr>
          <p:cNvPr id="6" name="Rectangle 4">
            <a:extLst>
              <a:ext uri="{FF2B5EF4-FFF2-40B4-BE49-F238E27FC236}">
                <a16:creationId xmlns:a16="http://schemas.microsoft.com/office/drawing/2014/main" id="{A876900E-ECC3-4FE1-98B8-7C0EA26CC6F4}"/>
              </a:ext>
            </a:extLst>
          </p:cNvPr>
          <p:cNvSpPr>
            <a:spLocks noChangeArrowheads="1"/>
          </p:cNvSpPr>
          <p:nvPr/>
        </p:nvSpPr>
        <p:spPr bwMode="auto">
          <a:xfrm>
            <a:off x="2060298" y="5020901"/>
            <a:ext cx="790151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全省森林覆盖率稳定在61%以上；</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所有设区市实现国家生态园林城市全覆盖；</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800" b="0" i="0" u="none" strike="noStrike" cap="none" normalizeH="0" baseline="0">
                <a:ln>
                  <a:noFill/>
                </a:ln>
                <a:solidFill>
                  <a:schemeClr val="tx1"/>
                </a:solidFill>
                <a:effectLst/>
                <a:latin typeface="Arial" panose="020B0604020202020204" pitchFamily="34" charset="0"/>
              </a:rPr>
              <a:t>浙江农村生活污水治理率达97%以上，村村通自来水、垃圾分类基本实现。</a:t>
            </a:r>
          </a:p>
        </p:txBody>
      </p:sp>
    </p:spTree>
    <p:extLst>
      <p:ext uri="{BB962C8B-B14F-4D97-AF65-F5344CB8AC3E}">
        <p14:creationId xmlns:p14="http://schemas.microsoft.com/office/powerpoint/2010/main" val="551185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4E02DE90-D8CE-431D-9665-99E7FF992727}"/>
              </a:ext>
            </a:extLst>
          </p:cNvPr>
          <p:cNvSpPr/>
          <p:nvPr/>
        </p:nvSpPr>
        <p:spPr>
          <a:xfrm>
            <a:off x="189266" y="3871823"/>
            <a:ext cx="3050314" cy="2309164"/>
          </a:xfrm>
          <a:prstGeom prst="roundRect">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C39CC2E3-56C2-4B67-8F04-CCB36E210CAB}"/>
              </a:ext>
            </a:extLst>
          </p:cNvPr>
          <p:cNvSpPr/>
          <p:nvPr/>
        </p:nvSpPr>
        <p:spPr>
          <a:xfrm>
            <a:off x="7090223" y="1578679"/>
            <a:ext cx="4241799" cy="3259666"/>
          </a:xfrm>
          <a:prstGeom prst="roundRect">
            <a:avLst/>
          </a:prstGeom>
          <a:solidFill>
            <a:srgbClr val="F69412">
              <a:alpha val="6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稻壳儿搜索【幻雨工作室】_1">
            <a:extLst>
              <a:ext uri="{FF2B5EF4-FFF2-40B4-BE49-F238E27FC236}">
                <a16:creationId xmlns:a16="http://schemas.microsoft.com/office/drawing/2014/main" id="{146A3A04-0D49-40D8-932B-A5D2FEF31078}"/>
              </a:ext>
            </a:extLst>
          </p:cNvPr>
          <p:cNvSpPr txBox="1"/>
          <p:nvPr/>
        </p:nvSpPr>
        <p:spPr>
          <a:xfrm>
            <a:off x="372529" y="1819141"/>
            <a:ext cx="5062355" cy="1077218"/>
          </a:xfrm>
          <a:prstGeom prst="rect">
            <a:avLst/>
          </a:prstGeom>
          <a:noFill/>
        </p:spPr>
        <p:txBody>
          <a:bodyPr wrap="square" rtlCol="0">
            <a:spAutoFit/>
          </a:bodyPr>
          <a:lstStyle/>
          <a:p>
            <a:pPr algn="ctr"/>
            <a:r>
              <a:rPr lang="zh-CN" altLang="en-US" sz="3200"/>
              <a:t>青年使命与思想引领 </a:t>
            </a:r>
            <a:r>
              <a:rPr lang="en-US" altLang="zh-CN" sz="3200"/>
              <a:t>—— </a:t>
            </a:r>
            <a:r>
              <a:rPr lang="zh-CN" altLang="en-US" sz="3200"/>
              <a:t>新时代青年的责任与担当</a:t>
            </a:r>
            <a:endParaRPr lang="zh-CN" altLang="en-US" sz="3200" dirty="0">
              <a:solidFill>
                <a:schemeClr val="tx1">
                  <a:lumMod val="85000"/>
                  <a:lumOff val="15000"/>
                </a:schemeClr>
              </a:solidFill>
              <a:latin typeface="方正粗黑宋简体" panose="02000000000000000000" pitchFamily="2" charset="-122"/>
              <a:ea typeface="方正粗黑宋简体" panose="02000000000000000000" pitchFamily="2" charset="-122"/>
              <a:cs typeface="Arial" panose="020B0604020202020204" pitchFamily="34" charset="0"/>
            </a:endParaRPr>
          </a:p>
        </p:txBody>
      </p:sp>
      <p:pic>
        <p:nvPicPr>
          <p:cNvPr id="8" name="稻壳儿搜索【幻雨工作室】_3">
            <a:extLst>
              <a:ext uri="{FF2B5EF4-FFF2-40B4-BE49-F238E27FC236}">
                <a16:creationId xmlns:a16="http://schemas.microsoft.com/office/drawing/2014/main" id="{08A19377-B2E9-4AB1-B0C6-0DC75424EC6D}"/>
              </a:ext>
            </a:extLst>
          </p:cNvPr>
          <p:cNvPicPr>
            <a:picLocks noChangeAspect="1"/>
          </p:cNvPicPr>
          <p:nvPr/>
        </p:nvPicPr>
        <p:blipFill>
          <a:blip r:embed="rId2"/>
          <a:stretch>
            <a:fillRect/>
          </a:stretch>
        </p:blipFill>
        <p:spPr>
          <a:xfrm>
            <a:off x="810523" y="584254"/>
            <a:ext cx="986947" cy="994425"/>
          </a:xfrm>
          <a:prstGeom prst="rect">
            <a:avLst/>
          </a:prstGeom>
        </p:spPr>
      </p:pic>
      <p:pic>
        <p:nvPicPr>
          <p:cNvPr id="9" name="稻壳儿搜索【幻雨工作室】_4">
            <a:extLst>
              <a:ext uri="{FF2B5EF4-FFF2-40B4-BE49-F238E27FC236}">
                <a16:creationId xmlns:a16="http://schemas.microsoft.com/office/drawing/2014/main" id="{9B347C1F-3EFD-4B36-812C-4C7FDD08B84C}"/>
              </a:ext>
            </a:extLst>
          </p:cNvPr>
          <p:cNvPicPr>
            <a:picLocks noChangeAspect="1"/>
          </p:cNvPicPr>
          <p:nvPr/>
        </p:nvPicPr>
        <p:blipFill>
          <a:blip r:embed="rId2"/>
          <a:stretch>
            <a:fillRect/>
          </a:stretch>
        </p:blipFill>
        <p:spPr>
          <a:xfrm>
            <a:off x="1862230" y="584254"/>
            <a:ext cx="986947" cy="994425"/>
          </a:xfrm>
          <a:prstGeom prst="rect">
            <a:avLst/>
          </a:prstGeom>
        </p:spPr>
      </p:pic>
      <p:pic>
        <p:nvPicPr>
          <p:cNvPr id="37" name="稻壳儿搜索【幻雨工作室】_5">
            <a:extLst>
              <a:ext uri="{FF2B5EF4-FFF2-40B4-BE49-F238E27FC236}">
                <a16:creationId xmlns:a16="http://schemas.microsoft.com/office/drawing/2014/main" id="{D8067E26-A619-4158-8C0C-435D7914DD1D}"/>
              </a:ext>
            </a:extLst>
          </p:cNvPr>
          <p:cNvPicPr>
            <a:picLocks noChangeAspect="1"/>
          </p:cNvPicPr>
          <p:nvPr/>
        </p:nvPicPr>
        <p:blipFill>
          <a:blip r:embed="rId2"/>
          <a:stretch>
            <a:fillRect/>
          </a:stretch>
        </p:blipFill>
        <p:spPr>
          <a:xfrm>
            <a:off x="2885225" y="584254"/>
            <a:ext cx="986947" cy="994425"/>
          </a:xfrm>
          <a:prstGeom prst="rect">
            <a:avLst/>
          </a:prstGeom>
        </p:spPr>
      </p:pic>
      <p:pic>
        <p:nvPicPr>
          <p:cNvPr id="38" name="稻壳儿搜索【幻雨工作室】_6">
            <a:extLst>
              <a:ext uri="{FF2B5EF4-FFF2-40B4-BE49-F238E27FC236}">
                <a16:creationId xmlns:a16="http://schemas.microsoft.com/office/drawing/2014/main" id="{4E0D76C9-FD33-4549-944F-0E9ED362B773}"/>
              </a:ext>
            </a:extLst>
          </p:cNvPr>
          <p:cNvPicPr>
            <a:picLocks noChangeAspect="1"/>
          </p:cNvPicPr>
          <p:nvPr/>
        </p:nvPicPr>
        <p:blipFill>
          <a:blip r:embed="rId2"/>
          <a:stretch>
            <a:fillRect/>
          </a:stretch>
        </p:blipFill>
        <p:spPr>
          <a:xfrm>
            <a:off x="3950373" y="584254"/>
            <a:ext cx="986947" cy="994425"/>
          </a:xfrm>
          <a:prstGeom prst="rect">
            <a:avLst/>
          </a:prstGeom>
        </p:spPr>
      </p:pic>
      <p:sp>
        <p:nvSpPr>
          <p:cNvPr id="13" name="稻壳儿搜索【幻雨工作室】_7">
            <a:extLst>
              <a:ext uri="{FF2B5EF4-FFF2-40B4-BE49-F238E27FC236}">
                <a16:creationId xmlns:a16="http://schemas.microsoft.com/office/drawing/2014/main" id="{4D83A3DD-3960-46D9-9E85-3A83B99A8A48}"/>
              </a:ext>
            </a:extLst>
          </p:cNvPr>
          <p:cNvSpPr txBox="1"/>
          <p:nvPr/>
        </p:nvSpPr>
        <p:spPr>
          <a:xfrm>
            <a:off x="882956" y="665967"/>
            <a:ext cx="3981932" cy="830997"/>
          </a:xfrm>
          <a:prstGeom prst="rect">
            <a:avLst/>
          </a:prstGeom>
          <a:noFill/>
        </p:spPr>
        <p:txBody>
          <a:bodyPr wrap="square" rtlCol="0">
            <a:spAutoFit/>
          </a:bodyPr>
          <a:lstStyle/>
          <a:p>
            <a:pPr algn="dist"/>
            <a:r>
              <a:rPr lang="zh-CN" altLang="en-US" sz="4800">
                <a:solidFill>
                  <a:srgbClr val="B72522"/>
                </a:solidFill>
                <a:effectLst>
                  <a:outerShdw blurRad="63500" sx="102000" sy="102000" algn="ctr" rotWithShape="0">
                    <a:prstClr val="black">
                      <a:alpha val="10000"/>
                    </a:prstClr>
                  </a:outerShdw>
                </a:effectLst>
                <a:latin typeface="新宋体" panose="02010609030101010101" pitchFamily="49" charset="-122"/>
                <a:ea typeface="新宋体" panose="02010609030101010101" pitchFamily="49" charset="-122"/>
              </a:rPr>
              <a:t>青年之责</a:t>
            </a:r>
          </a:p>
        </p:txBody>
      </p:sp>
      <p:sp>
        <p:nvSpPr>
          <p:cNvPr id="11" name="文本框 10">
            <a:extLst>
              <a:ext uri="{FF2B5EF4-FFF2-40B4-BE49-F238E27FC236}">
                <a16:creationId xmlns:a16="http://schemas.microsoft.com/office/drawing/2014/main" id="{EFFA06E9-EA0B-4A42-9D24-FE32E933DDE9}"/>
              </a:ext>
            </a:extLst>
          </p:cNvPr>
          <p:cNvSpPr txBox="1"/>
          <p:nvPr/>
        </p:nvSpPr>
        <p:spPr>
          <a:xfrm>
            <a:off x="7259556" y="1915850"/>
            <a:ext cx="3903132" cy="2585323"/>
          </a:xfrm>
          <a:prstGeom prst="rect">
            <a:avLst/>
          </a:prstGeom>
          <a:noFill/>
        </p:spPr>
        <p:txBody>
          <a:bodyPr wrap="square">
            <a:spAutoFit/>
          </a:bodyPr>
          <a:lstStyle/>
          <a:p>
            <a:r>
              <a:rPr lang="zh-CN" altLang="en-US"/>
              <a:t>习近平总书记指出：“新时代的中国青年要树立远大理想，坚定理想信念。”青年是国家的未来、民族的希望。习近平新时代中国特色社会主义思想为青年成长成才提供了方向指引与价值坐标。当代青年应当增强“四个意识”、坚定“四个自信”、做到“两个维护”，将个人理想追求融入实现中华民族伟大复兴的中国梦之中。</a:t>
            </a:r>
          </a:p>
        </p:txBody>
      </p:sp>
      <p:pic>
        <p:nvPicPr>
          <p:cNvPr id="5122" name="Picture 2" descr="中国青年报：迎五四，天大青年在国旗下庄严宣誓-天津大学新闻网">
            <a:extLst>
              <a:ext uri="{FF2B5EF4-FFF2-40B4-BE49-F238E27FC236}">
                <a16:creationId xmlns:a16="http://schemas.microsoft.com/office/drawing/2014/main" id="{C091864B-2C49-4364-9DA3-267BBD864E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854" y="4093359"/>
            <a:ext cx="2799138" cy="1866092"/>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圆角 15">
            <a:extLst>
              <a:ext uri="{FF2B5EF4-FFF2-40B4-BE49-F238E27FC236}">
                <a16:creationId xmlns:a16="http://schemas.microsoft.com/office/drawing/2014/main" id="{EBF07D76-D974-4D3E-9A87-8B855BF58153}"/>
              </a:ext>
            </a:extLst>
          </p:cNvPr>
          <p:cNvSpPr/>
          <p:nvPr/>
        </p:nvSpPr>
        <p:spPr>
          <a:xfrm>
            <a:off x="3555078" y="3871823"/>
            <a:ext cx="3050314" cy="2309164"/>
          </a:xfrm>
          <a:prstGeom prst="roundRect">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26" name="Picture 6">
            <a:extLst>
              <a:ext uri="{FF2B5EF4-FFF2-40B4-BE49-F238E27FC236}">
                <a16:creationId xmlns:a16="http://schemas.microsoft.com/office/drawing/2014/main" id="{88890ACC-80EC-41A7-90E9-260FC20456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0805" y="4093359"/>
            <a:ext cx="2798859" cy="1866091"/>
          </a:xfrm>
          <a:prstGeom prst="rect">
            <a:avLst/>
          </a:prstGeom>
          <a:noFill/>
          <a:extLst>
            <a:ext uri="{909E8E84-426E-40DD-AFC4-6F175D3DCCD1}">
              <a14:hiddenFill xmlns:a14="http://schemas.microsoft.com/office/drawing/2010/main">
                <a:solidFill>
                  <a:srgbClr val="FFFFFF"/>
                </a:solidFill>
              </a14:hiddenFill>
            </a:ext>
          </a:extLst>
        </p:spPr>
      </p:pic>
      <p:sp>
        <p:nvSpPr>
          <p:cNvPr id="20" name="稻壳儿搜索【幻雨工作室】_1">
            <a:extLst>
              <a:ext uri="{FF2B5EF4-FFF2-40B4-BE49-F238E27FC236}">
                <a16:creationId xmlns:a16="http://schemas.microsoft.com/office/drawing/2014/main" id="{32E9F156-B777-4FF1-AD46-C57F8A8CD72E}"/>
              </a:ext>
            </a:extLst>
          </p:cNvPr>
          <p:cNvSpPr txBox="1"/>
          <p:nvPr/>
        </p:nvSpPr>
        <p:spPr>
          <a:xfrm>
            <a:off x="6727423" y="886874"/>
            <a:ext cx="4518392" cy="523220"/>
          </a:xfrm>
          <a:prstGeom prst="rect">
            <a:avLst/>
          </a:prstGeom>
          <a:noFill/>
        </p:spPr>
        <p:txBody>
          <a:bodyPr wrap="square" rtlCol="0">
            <a:spAutoFit/>
          </a:bodyPr>
          <a:lstStyle/>
          <a:p>
            <a:pPr algn="dist"/>
            <a:r>
              <a:rPr lang="zh-CN" altLang="en-US" sz="2800">
                <a:latin typeface="宋体" panose="02010600030101010101" pitchFamily="2" charset="-122"/>
                <a:ea typeface="宋体" panose="02010600030101010101" pitchFamily="2" charset="-122"/>
              </a:rPr>
              <a:t>新时代呼唤有理想的青年</a:t>
            </a:r>
            <a:endParaRPr lang="zh-CN" altLang="en-US" sz="2800" dirty="0">
              <a:solidFill>
                <a:schemeClr val="tx1">
                  <a:lumMod val="85000"/>
                  <a:lumOff val="1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541403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稻壳儿搜索【幻雨工作室】_1">
            <a:extLst>
              <a:ext uri="{FF2B5EF4-FFF2-40B4-BE49-F238E27FC236}">
                <a16:creationId xmlns:a16="http://schemas.microsoft.com/office/drawing/2014/main" id="{990A68C1-3E21-41D1-B730-5EDCB6C2BAB4}"/>
              </a:ext>
            </a:extLst>
          </p:cNvPr>
          <p:cNvSpPr txBox="1"/>
          <p:nvPr/>
        </p:nvSpPr>
        <p:spPr>
          <a:xfrm>
            <a:off x="530512" y="386907"/>
            <a:ext cx="4518392" cy="954107"/>
          </a:xfrm>
          <a:prstGeom prst="rect">
            <a:avLst/>
          </a:prstGeom>
          <a:noFill/>
          <a:effectLst>
            <a:outerShdw blurRad="50800" dist="38100" dir="2700000" algn="tl" rotWithShape="0">
              <a:prstClr val="black">
                <a:alpha val="40000"/>
              </a:prstClr>
            </a:outerShdw>
          </a:effectLst>
        </p:spPr>
        <p:txBody>
          <a:bodyPr wrap="square" rtlCol="0">
            <a:spAutoFit/>
          </a:bodyPr>
          <a:lstStyle/>
          <a:p>
            <a:pPr algn="dist"/>
            <a:r>
              <a:rPr lang="zh-CN" altLang="en-US" sz="2800" b="1">
                <a:latin typeface="宋体" panose="02010600030101010101" pitchFamily="2" charset="-122"/>
                <a:ea typeface="宋体" panose="02010600030101010101" pitchFamily="2" charset="-122"/>
              </a:rPr>
              <a:t>青春之我担使命</a:t>
            </a:r>
            <a:r>
              <a:rPr lang="en-US" altLang="zh-CN" sz="2800" b="1">
                <a:latin typeface="宋体" panose="02010600030101010101" pitchFamily="2" charset="-122"/>
                <a:ea typeface="宋体" panose="02010600030101010101" pitchFamily="2" charset="-122"/>
              </a:rPr>
              <a:t>—</a:t>
            </a:r>
            <a:r>
              <a:rPr lang="zh-CN" altLang="en-US" sz="2800" b="1">
                <a:latin typeface="宋体" panose="02010600030101010101" pitchFamily="2" charset="-122"/>
                <a:ea typeface="宋体" panose="02010600030101010101" pitchFamily="2" charset="-122"/>
              </a:rPr>
              <a:t>浙江青年引领新时代力量</a:t>
            </a:r>
            <a:endParaRPr lang="zh-CN" altLang="en-US" sz="2800" b="1" dirty="0">
              <a:solidFill>
                <a:schemeClr val="tx1">
                  <a:lumMod val="85000"/>
                  <a:lumOff val="15000"/>
                </a:schemeClr>
              </a:solidFill>
              <a:latin typeface="宋体" panose="02010600030101010101" pitchFamily="2" charset="-122"/>
              <a:ea typeface="宋体" panose="02010600030101010101" pitchFamily="2" charset="-122"/>
            </a:endParaRPr>
          </a:p>
        </p:txBody>
      </p:sp>
      <p:sp>
        <p:nvSpPr>
          <p:cNvPr id="9" name="稻壳儿搜索【幻雨工作室】_2">
            <a:extLst>
              <a:ext uri="{FF2B5EF4-FFF2-40B4-BE49-F238E27FC236}">
                <a16:creationId xmlns:a16="http://schemas.microsoft.com/office/drawing/2014/main" id="{0321072A-E419-45A0-B0B8-18DACBAA1482}"/>
              </a:ext>
            </a:extLst>
          </p:cNvPr>
          <p:cNvSpPr>
            <a:spLocks noChangeArrowheads="1"/>
          </p:cNvSpPr>
          <p:nvPr/>
        </p:nvSpPr>
        <p:spPr bwMode="auto">
          <a:xfrm>
            <a:off x="5266563" y="1866836"/>
            <a:ext cx="1228662" cy="1084001"/>
          </a:xfrm>
          <a:custGeom>
            <a:avLst/>
            <a:gdLst>
              <a:gd name="T0" fmla="*/ 2684 w 2684"/>
              <a:gd name="T1" fmla="*/ 2365 h 2365"/>
              <a:gd name="T2" fmla="*/ 1342 w 2684"/>
              <a:gd name="T3" fmla="*/ 0 h 2365"/>
              <a:gd name="T4" fmla="*/ 0 w 2684"/>
              <a:gd name="T5" fmla="*/ 2365 h 2365"/>
              <a:gd name="T6" fmla="*/ 2684 w 2684"/>
              <a:gd name="T7" fmla="*/ 2365 h 2365"/>
              <a:gd name="T8" fmla="*/ 0 60000 65536"/>
              <a:gd name="T9" fmla="*/ 0 60000 65536"/>
              <a:gd name="T10" fmla="*/ 0 60000 65536"/>
              <a:gd name="T11" fmla="*/ 0 60000 65536"/>
              <a:gd name="T12" fmla="*/ 0 w 2684"/>
              <a:gd name="T13" fmla="*/ 0 h 2365"/>
              <a:gd name="T14" fmla="*/ 2684 w 2684"/>
              <a:gd name="T15" fmla="*/ 2365 h 2365"/>
            </a:gdLst>
            <a:ahLst/>
            <a:cxnLst>
              <a:cxn ang="T8">
                <a:pos x="T0" y="T1"/>
              </a:cxn>
              <a:cxn ang="T9">
                <a:pos x="T2" y="T3"/>
              </a:cxn>
              <a:cxn ang="T10">
                <a:pos x="T4" y="T5"/>
              </a:cxn>
              <a:cxn ang="T11">
                <a:pos x="T6" y="T7"/>
              </a:cxn>
            </a:cxnLst>
            <a:rect l="T12" t="T13" r="T14" b="T15"/>
            <a:pathLst>
              <a:path w="2684" h="2365">
                <a:moveTo>
                  <a:pt x="2684" y="2365"/>
                </a:moveTo>
                <a:lnTo>
                  <a:pt x="1342" y="0"/>
                </a:lnTo>
                <a:lnTo>
                  <a:pt x="0" y="2365"/>
                </a:lnTo>
                <a:lnTo>
                  <a:pt x="2684" y="2365"/>
                </a:lnTo>
                <a:close/>
              </a:path>
            </a:pathLst>
          </a:custGeom>
          <a:solidFill>
            <a:srgbClr val="B72522"/>
          </a:solidFill>
          <a:ln>
            <a:noFill/>
          </a:ln>
        </p:spPr>
        <p:txBody>
          <a:bodyPr lIns="91413" tIns="45706" rIns="91413" bIns="45706"/>
          <a:lstStyle/>
          <a:p>
            <a:endParaRPr lang="zh-CN" altLang="zh-CN" dirty="0">
              <a:solidFill>
                <a:srgbClr val="000000"/>
              </a:solidFill>
              <a:latin typeface="Calibri" panose="020F0502020204030204" charset="0"/>
              <a:ea typeface="微软雅黑" panose="020B0503020204020204" pitchFamily="34" charset="-122"/>
              <a:sym typeface="宋体" panose="02010600030101010101" pitchFamily="2" charset="-122"/>
            </a:endParaRPr>
          </a:p>
        </p:txBody>
      </p:sp>
      <p:sp>
        <p:nvSpPr>
          <p:cNvPr id="11" name="稻壳儿搜索【幻雨工作室】_3">
            <a:extLst>
              <a:ext uri="{FF2B5EF4-FFF2-40B4-BE49-F238E27FC236}">
                <a16:creationId xmlns:a16="http://schemas.microsoft.com/office/drawing/2014/main" id="{63335F68-B40D-4966-A141-19A6534420FE}"/>
              </a:ext>
            </a:extLst>
          </p:cNvPr>
          <p:cNvSpPr>
            <a:spLocks noChangeArrowheads="1"/>
          </p:cNvSpPr>
          <p:nvPr/>
        </p:nvSpPr>
        <p:spPr bwMode="auto">
          <a:xfrm>
            <a:off x="4049173" y="2950837"/>
            <a:ext cx="1217389" cy="1172300"/>
          </a:xfrm>
          <a:custGeom>
            <a:avLst/>
            <a:gdLst>
              <a:gd name="T0" fmla="*/ 2664 w 2664"/>
              <a:gd name="T1" fmla="*/ 0 h 2553"/>
              <a:gd name="T2" fmla="*/ 0 w 2664"/>
              <a:gd name="T3" fmla="*/ 546 h 2553"/>
              <a:gd name="T4" fmla="*/ 1835 w 2664"/>
              <a:gd name="T5" fmla="*/ 2553 h 2553"/>
              <a:gd name="T6" fmla="*/ 2664 w 2664"/>
              <a:gd name="T7" fmla="*/ 0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2664" y="0"/>
                </a:moveTo>
                <a:lnTo>
                  <a:pt x="0" y="546"/>
                </a:lnTo>
                <a:lnTo>
                  <a:pt x="1835" y="2553"/>
                </a:lnTo>
                <a:lnTo>
                  <a:pt x="2664" y="0"/>
                </a:lnTo>
                <a:close/>
              </a:path>
            </a:pathLst>
          </a:custGeom>
          <a:solidFill>
            <a:srgbClr val="B72522"/>
          </a:solidFill>
          <a:ln>
            <a:noFill/>
          </a:ln>
        </p:spPr>
        <p:txBody>
          <a:bodyPr lIns="91413" tIns="45706" rIns="91413" bIns="45706"/>
          <a:lstStyle/>
          <a:p>
            <a:endParaRPr lang="zh-CN" altLang="zh-CN" dirty="0">
              <a:solidFill>
                <a:srgbClr val="000000"/>
              </a:solidFill>
              <a:latin typeface="Abadi" panose="020B0604020104020204" pitchFamily="34" charset="0"/>
              <a:ea typeface="微软雅黑" panose="020B0503020204020204" pitchFamily="34" charset="-122"/>
              <a:sym typeface="宋体" panose="02010600030101010101" pitchFamily="2" charset="-122"/>
            </a:endParaRPr>
          </a:p>
        </p:txBody>
      </p:sp>
      <p:sp>
        <p:nvSpPr>
          <p:cNvPr id="12" name="稻壳儿搜索【幻雨工作室】_4">
            <a:extLst>
              <a:ext uri="{FF2B5EF4-FFF2-40B4-BE49-F238E27FC236}">
                <a16:creationId xmlns:a16="http://schemas.microsoft.com/office/drawing/2014/main" id="{EDD033D3-C96B-4C5D-85B0-630E11BA802A}"/>
              </a:ext>
            </a:extLst>
          </p:cNvPr>
          <p:cNvSpPr>
            <a:spLocks noChangeArrowheads="1"/>
          </p:cNvSpPr>
          <p:nvPr/>
        </p:nvSpPr>
        <p:spPr bwMode="auto">
          <a:xfrm>
            <a:off x="4748046" y="4101960"/>
            <a:ext cx="1130970" cy="1236176"/>
          </a:xfrm>
          <a:custGeom>
            <a:avLst/>
            <a:gdLst>
              <a:gd name="T0" fmla="*/ 305 w 2476"/>
              <a:gd name="T1" fmla="*/ 0 h 2702"/>
              <a:gd name="T2" fmla="*/ 0 w 2476"/>
              <a:gd name="T3" fmla="*/ 2702 h 2702"/>
              <a:gd name="T4" fmla="*/ 2476 w 2476"/>
              <a:gd name="T5" fmla="*/ 1578 h 2702"/>
              <a:gd name="T6" fmla="*/ 305 w 2476"/>
              <a:gd name="T7" fmla="*/ 0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305" y="0"/>
                </a:moveTo>
                <a:lnTo>
                  <a:pt x="0" y="2702"/>
                </a:lnTo>
                <a:lnTo>
                  <a:pt x="2476" y="1578"/>
                </a:lnTo>
                <a:lnTo>
                  <a:pt x="305" y="0"/>
                </a:lnTo>
                <a:close/>
              </a:path>
            </a:pathLst>
          </a:custGeom>
          <a:solidFill>
            <a:srgbClr val="B72522"/>
          </a:solidFill>
          <a:ln>
            <a:noFill/>
          </a:ln>
        </p:spPr>
        <p:txBody>
          <a:bodyPr lIns="91413" tIns="45706" rIns="91413" bIns="45706"/>
          <a:lstStyle/>
          <a:p>
            <a:endParaRPr lang="zh-CN" altLang="zh-CN" dirty="0">
              <a:solidFill>
                <a:srgbClr val="000000"/>
              </a:solidFill>
              <a:latin typeface="Abadi" panose="020B0604020104020204" pitchFamily="34" charset="0"/>
              <a:ea typeface="微软雅黑" panose="020B0503020204020204" pitchFamily="34" charset="-122"/>
              <a:sym typeface="宋体" panose="02010600030101010101" pitchFamily="2" charset="-122"/>
            </a:endParaRPr>
          </a:p>
        </p:txBody>
      </p:sp>
      <p:sp>
        <p:nvSpPr>
          <p:cNvPr id="13" name="稻壳儿搜索【幻雨工作室】_5">
            <a:extLst>
              <a:ext uri="{FF2B5EF4-FFF2-40B4-BE49-F238E27FC236}">
                <a16:creationId xmlns:a16="http://schemas.microsoft.com/office/drawing/2014/main" id="{BCED417E-8C5F-424B-A8ED-89C0AD68BA3E}"/>
              </a:ext>
            </a:extLst>
          </p:cNvPr>
          <p:cNvSpPr>
            <a:spLocks noChangeArrowheads="1"/>
          </p:cNvSpPr>
          <p:nvPr/>
        </p:nvSpPr>
        <p:spPr bwMode="auto">
          <a:xfrm>
            <a:off x="5879014" y="4101960"/>
            <a:ext cx="1134727" cy="1236176"/>
          </a:xfrm>
          <a:custGeom>
            <a:avLst/>
            <a:gdLst>
              <a:gd name="T0" fmla="*/ 0 w 2476"/>
              <a:gd name="T1" fmla="*/ 1578 h 2702"/>
              <a:gd name="T2" fmla="*/ 2476 w 2476"/>
              <a:gd name="T3" fmla="*/ 2702 h 2702"/>
              <a:gd name="T4" fmla="*/ 2172 w 2476"/>
              <a:gd name="T5" fmla="*/ 0 h 2702"/>
              <a:gd name="T6" fmla="*/ 0 w 2476"/>
              <a:gd name="T7" fmla="*/ 1578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0" y="1578"/>
                </a:moveTo>
                <a:lnTo>
                  <a:pt x="2476" y="2702"/>
                </a:lnTo>
                <a:lnTo>
                  <a:pt x="2172" y="0"/>
                </a:lnTo>
                <a:lnTo>
                  <a:pt x="0" y="1578"/>
                </a:lnTo>
                <a:close/>
              </a:path>
            </a:pathLst>
          </a:custGeom>
          <a:solidFill>
            <a:srgbClr val="B72522"/>
          </a:solidFill>
          <a:ln>
            <a:noFill/>
          </a:ln>
        </p:spPr>
        <p:txBody>
          <a:bodyPr lIns="91413" tIns="45706" rIns="91413" bIns="45706"/>
          <a:lstStyle/>
          <a:p>
            <a:endParaRPr lang="zh-CN" altLang="zh-CN" dirty="0">
              <a:solidFill>
                <a:srgbClr val="000000"/>
              </a:solidFill>
              <a:latin typeface="Abadi" panose="020B0604020104020204" pitchFamily="34" charset="0"/>
              <a:ea typeface="微软雅黑" panose="020B0503020204020204" pitchFamily="34" charset="-122"/>
              <a:sym typeface="宋体" panose="02010600030101010101" pitchFamily="2" charset="-122"/>
            </a:endParaRPr>
          </a:p>
        </p:txBody>
      </p:sp>
      <p:sp>
        <p:nvSpPr>
          <p:cNvPr id="14" name="稻壳儿搜索【幻雨工作室】_6">
            <a:extLst>
              <a:ext uri="{FF2B5EF4-FFF2-40B4-BE49-F238E27FC236}">
                <a16:creationId xmlns:a16="http://schemas.microsoft.com/office/drawing/2014/main" id="{A28B9E86-F259-4F26-A0A3-82376D4078F0}"/>
              </a:ext>
            </a:extLst>
          </p:cNvPr>
          <p:cNvSpPr>
            <a:spLocks noChangeArrowheads="1"/>
          </p:cNvSpPr>
          <p:nvPr/>
        </p:nvSpPr>
        <p:spPr bwMode="auto">
          <a:xfrm>
            <a:off x="6495225" y="2929659"/>
            <a:ext cx="1217389" cy="1172300"/>
          </a:xfrm>
          <a:custGeom>
            <a:avLst/>
            <a:gdLst>
              <a:gd name="T0" fmla="*/ 830 w 2664"/>
              <a:gd name="T1" fmla="*/ 2553 h 2553"/>
              <a:gd name="T2" fmla="*/ 2664 w 2664"/>
              <a:gd name="T3" fmla="*/ 546 h 2553"/>
              <a:gd name="T4" fmla="*/ 0 w 2664"/>
              <a:gd name="T5" fmla="*/ 0 h 2553"/>
              <a:gd name="T6" fmla="*/ 830 w 2664"/>
              <a:gd name="T7" fmla="*/ 2553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830" y="2553"/>
                </a:moveTo>
                <a:lnTo>
                  <a:pt x="2664" y="546"/>
                </a:lnTo>
                <a:lnTo>
                  <a:pt x="0" y="0"/>
                </a:lnTo>
                <a:lnTo>
                  <a:pt x="830" y="2553"/>
                </a:lnTo>
                <a:close/>
              </a:path>
            </a:pathLst>
          </a:custGeom>
          <a:solidFill>
            <a:srgbClr val="B72522"/>
          </a:solidFill>
          <a:ln>
            <a:noFill/>
          </a:ln>
        </p:spPr>
        <p:txBody>
          <a:bodyPr lIns="91413" tIns="45706" rIns="91413" bIns="45706"/>
          <a:lstStyle/>
          <a:p>
            <a:endParaRPr lang="zh-CN" altLang="zh-CN" dirty="0">
              <a:solidFill>
                <a:srgbClr val="000000"/>
              </a:solidFill>
              <a:latin typeface="Abadi" panose="020B0604020104020204" pitchFamily="34" charset="0"/>
              <a:ea typeface="微软雅黑" panose="020B0503020204020204" pitchFamily="34" charset="-122"/>
              <a:sym typeface="宋体" panose="02010600030101010101" pitchFamily="2" charset="-122"/>
            </a:endParaRPr>
          </a:p>
        </p:txBody>
      </p:sp>
      <p:sp>
        <p:nvSpPr>
          <p:cNvPr id="15" name="稻壳儿搜索【幻雨工作室】_7">
            <a:extLst>
              <a:ext uri="{FF2B5EF4-FFF2-40B4-BE49-F238E27FC236}">
                <a16:creationId xmlns:a16="http://schemas.microsoft.com/office/drawing/2014/main" id="{D64A3639-347B-43CE-B1E2-3144A14E1ABE}"/>
              </a:ext>
            </a:extLst>
          </p:cNvPr>
          <p:cNvSpPr>
            <a:spLocks noChangeArrowheads="1"/>
          </p:cNvSpPr>
          <p:nvPr/>
        </p:nvSpPr>
        <p:spPr bwMode="auto">
          <a:xfrm>
            <a:off x="5666725" y="2341631"/>
            <a:ext cx="4227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b="1" dirty="0">
                <a:solidFill>
                  <a:schemeClr val="bg1"/>
                </a:solidFill>
                <a:latin typeface="Abadi" panose="020B0604020104020204" pitchFamily="34" charset="0"/>
                <a:ea typeface="微软雅黑" panose="020B0503020204020204" charset="-122"/>
                <a:sym typeface="Swiss911 UCm BT" pitchFamily="2" charset="0"/>
              </a:rPr>
              <a:t>01</a:t>
            </a:r>
          </a:p>
        </p:txBody>
      </p:sp>
      <p:sp>
        <p:nvSpPr>
          <p:cNvPr id="16" name="稻壳儿搜索【幻雨工作室】_8">
            <a:extLst>
              <a:ext uri="{FF2B5EF4-FFF2-40B4-BE49-F238E27FC236}">
                <a16:creationId xmlns:a16="http://schemas.microsoft.com/office/drawing/2014/main" id="{2405FD47-1370-42F5-98E4-208911895AAE}"/>
              </a:ext>
            </a:extLst>
          </p:cNvPr>
          <p:cNvSpPr>
            <a:spLocks noChangeArrowheads="1"/>
          </p:cNvSpPr>
          <p:nvPr/>
        </p:nvSpPr>
        <p:spPr bwMode="auto">
          <a:xfrm>
            <a:off x="6804831" y="3224991"/>
            <a:ext cx="4227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b="1" dirty="0">
                <a:solidFill>
                  <a:schemeClr val="bg1"/>
                </a:solidFill>
                <a:latin typeface="Abadi" panose="020B0604020104020204" pitchFamily="34" charset="0"/>
                <a:ea typeface="微软雅黑" panose="020B0503020204020204" charset="-122"/>
                <a:sym typeface="Swiss911 UCm BT" pitchFamily="2" charset="0"/>
              </a:rPr>
              <a:t>02</a:t>
            </a:r>
          </a:p>
        </p:txBody>
      </p:sp>
      <p:sp>
        <p:nvSpPr>
          <p:cNvPr id="17" name="稻壳儿搜索【幻雨工作室】_9">
            <a:extLst>
              <a:ext uri="{FF2B5EF4-FFF2-40B4-BE49-F238E27FC236}">
                <a16:creationId xmlns:a16="http://schemas.microsoft.com/office/drawing/2014/main" id="{1AE17243-94FB-4C3A-A839-72B82E883249}"/>
              </a:ext>
            </a:extLst>
          </p:cNvPr>
          <p:cNvSpPr>
            <a:spLocks noChangeArrowheads="1"/>
          </p:cNvSpPr>
          <p:nvPr/>
        </p:nvSpPr>
        <p:spPr bwMode="auto">
          <a:xfrm>
            <a:off x="6348686" y="4555850"/>
            <a:ext cx="4227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b="1" dirty="0">
                <a:solidFill>
                  <a:schemeClr val="bg1"/>
                </a:solidFill>
                <a:latin typeface="Abadi" panose="020B0604020104020204" pitchFamily="34" charset="0"/>
                <a:ea typeface="微软雅黑" panose="020B0503020204020204" charset="-122"/>
                <a:sym typeface="Swiss911 UCm BT" pitchFamily="2" charset="0"/>
              </a:rPr>
              <a:t>03</a:t>
            </a:r>
          </a:p>
        </p:txBody>
      </p:sp>
      <p:sp>
        <p:nvSpPr>
          <p:cNvPr id="18" name="稻壳儿搜索【幻雨工作室】_10">
            <a:extLst>
              <a:ext uri="{FF2B5EF4-FFF2-40B4-BE49-F238E27FC236}">
                <a16:creationId xmlns:a16="http://schemas.microsoft.com/office/drawing/2014/main" id="{55B3919A-A552-40E3-83CC-6CDF5C004931}"/>
              </a:ext>
            </a:extLst>
          </p:cNvPr>
          <p:cNvSpPr>
            <a:spLocks noChangeArrowheads="1"/>
          </p:cNvSpPr>
          <p:nvPr/>
        </p:nvSpPr>
        <p:spPr bwMode="auto">
          <a:xfrm>
            <a:off x="4879931" y="4563743"/>
            <a:ext cx="4227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b="1" dirty="0">
                <a:solidFill>
                  <a:schemeClr val="bg1"/>
                </a:solidFill>
                <a:latin typeface="Abadi" panose="020B0604020104020204" pitchFamily="34" charset="0"/>
                <a:ea typeface="微软雅黑" panose="020B0503020204020204" charset="-122"/>
                <a:sym typeface="Swiss911 UCm BT" pitchFamily="2" charset="0"/>
              </a:rPr>
              <a:t>04</a:t>
            </a:r>
          </a:p>
        </p:txBody>
      </p:sp>
      <p:sp>
        <p:nvSpPr>
          <p:cNvPr id="19" name="稻壳儿搜索【幻雨工作室】_11">
            <a:extLst>
              <a:ext uri="{FF2B5EF4-FFF2-40B4-BE49-F238E27FC236}">
                <a16:creationId xmlns:a16="http://schemas.microsoft.com/office/drawing/2014/main" id="{3BC48FA3-8E4F-425F-9E81-1BE054863450}"/>
              </a:ext>
            </a:extLst>
          </p:cNvPr>
          <p:cNvSpPr>
            <a:spLocks noChangeArrowheads="1"/>
          </p:cNvSpPr>
          <p:nvPr/>
        </p:nvSpPr>
        <p:spPr bwMode="auto">
          <a:xfrm>
            <a:off x="4566566" y="3224990"/>
            <a:ext cx="4227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b="1" dirty="0">
                <a:solidFill>
                  <a:schemeClr val="bg1"/>
                </a:solidFill>
                <a:latin typeface="Abadi" panose="020B0604020104020204" pitchFamily="34" charset="0"/>
                <a:ea typeface="微软雅黑" panose="020B0503020204020204" charset="-122"/>
                <a:sym typeface="Swiss911 UCm BT" pitchFamily="2" charset="0"/>
              </a:rPr>
              <a:t>05</a:t>
            </a:r>
          </a:p>
        </p:txBody>
      </p:sp>
      <p:sp>
        <p:nvSpPr>
          <p:cNvPr id="20" name="稻壳儿搜索【幻雨工作室】_12">
            <a:extLst>
              <a:ext uri="{FF2B5EF4-FFF2-40B4-BE49-F238E27FC236}">
                <a16:creationId xmlns:a16="http://schemas.microsoft.com/office/drawing/2014/main" id="{05D406EA-367D-46D2-AE7F-A0517BB878C9}"/>
              </a:ext>
            </a:extLst>
          </p:cNvPr>
          <p:cNvSpPr txBox="1"/>
          <p:nvPr/>
        </p:nvSpPr>
        <p:spPr>
          <a:xfrm>
            <a:off x="1225271" y="1739875"/>
            <a:ext cx="2960448" cy="510076"/>
          </a:xfrm>
          <a:prstGeom prst="rect">
            <a:avLst/>
          </a:prstGeom>
          <a:noFill/>
        </p:spPr>
        <p:txBody>
          <a:bodyPr wrap="square" rtlCol="0">
            <a:spAutoFit/>
          </a:bodyPr>
          <a:lstStyle/>
          <a:p>
            <a:pPr>
              <a:lnSpc>
                <a:spcPct val="200000"/>
              </a:lnSpc>
            </a:pPr>
            <a:r>
              <a:rPr lang="zh-CN" altLang="en-US" sz="1600" b="1">
                <a:solidFill>
                  <a:schemeClr val="tx1">
                    <a:lumMod val="85000"/>
                    <a:lumOff val="15000"/>
                  </a:schemeClr>
                </a:solidFill>
                <a:latin typeface="微软雅黑" panose="020B0503020204020204" pitchFamily="34" charset="-122"/>
                <a:ea typeface="微软雅黑" panose="020B0503020204020204" pitchFamily="34" charset="-122"/>
              </a:rPr>
              <a:t>青年参与乡村振兴战略</a:t>
            </a:r>
            <a:endParaRPr lang="zh-CN" altLang="en-US" sz="800" b="1"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1" name="稻壳儿搜索【幻雨工作室】_13">
            <a:extLst>
              <a:ext uri="{FF2B5EF4-FFF2-40B4-BE49-F238E27FC236}">
                <a16:creationId xmlns:a16="http://schemas.microsoft.com/office/drawing/2014/main" id="{DCFA32CF-A145-4106-8927-9C0E3F8603D8}"/>
              </a:ext>
            </a:extLst>
          </p:cNvPr>
          <p:cNvSpPr txBox="1"/>
          <p:nvPr/>
        </p:nvSpPr>
        <p:spPr>
          <a:xfrm>
            <a:off x="1367907" y="4184273"/>
            <a:ext cx="2960448" cy="510076"/>
          </a:xfrm>
          <a:prstGeom prst="rect">
            <a:avLst/>
          </a:prstGeom>
          <a:noFill/>
        </p:spPr>
        <p:txBody>
          <a:bodyPr wrap="square" rtlCol="0">
            <a:spAutoFit/>
          </a:bodyPr>
          <a:lstStyle/>
          <a:p>
            <a:pPr>
              <a:lnSpc>
                <a:spcPct val="200000"/>
              </a:lnSpc>
            </a:pPr>
            <a:r>
              <a:rPr lang="zh-CN" altLang="en-US" sz="1600" b="1">
                <a:solidFill>
                  <a:schemeClr val="tx1">
                    <a:lumMod val="85000"/>
                    <a:lumOff val="15000"/>
                  </a:schemeClr>
                </a:solidFill>
                <a:latin typeface="微软雅黑" panose="020B0503020204020204" pitchFamily="34" charset="-122"/>
                <a:ea typeface="微软雅黑" panose="020B0503020204020204" pitchFamily="34" charset="-122"/>
              </a:rPr>
              <a:t>青年在抗疫中的责任担当</a:t>
            </a:r>
            <a:endParaRPr lang="zh-CN" altLang="en-US" sz="800" b="1"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2" name="稻壳儿搜索【幻雨工作室】_14">
            <a:extLst>
              <a:ext uri="{FF2B5EF4-FFF2-40B4-BE49-F238E27FC236}">
                <a16:creationId xmlns:a16="http://schemas.microsoft.com/office/drawing/2014/main" id="{2C6FF973-F5B9-4795-9257-C7C7E281396D}"/>
              </a:ext>
            </a:extLst>
          </p:cNvPr>
          <p:cNvSpPr txBox="1"/>
          <p:nvPr/>
        </p:nvSpPr>
        <p:spPr>
          <a:xfrm>
            <a:off x="8006281" y="2833317"/>
            <a:ext cx="2960448" cy="510076"/>
          </a:xfrm>
          <a:prstGeom prst="rect">
            <a:avLst/>
          </a:prstGeom>
          <a:noFill/>
        </p:spPr>
        <p:txBody>
          <a:bodyPr wrap="square" rtlCol="0">
            <a:spAutoFit/>
          </a:bodyPr>
          <a:lstStyle/>
          <a:p>
            <a:pPr algn="r">
              <a:lnSpc>
                <a:spcPct val="200000"/>
              </a:lnSpc>
            </a:pPr>
            <a:r>
              <a:rPr lang="zh-CN" altLang="en-US" sz="1600" b="1">
                <a:solidFill>
                  <a:schemeClr val="tx1">
                    <a:lumMod val="85000"/>
                    <a:lumOff val="15000"/>
                  </a:schemeClr>
                </a:solidFill>
                <a:latin typeface="微软雅黑" panose="020B0503020204020204" pitchFamily="34" charset="-122"/>
                <a:ea typeface="微软雅黑" panose="020B0503020204020204" pitchFamily="34" charset="-122"/>
              </a:rPr>
              <a:t>数字乡村建设中的青年力量</a:t>
            </a:r>
            <a:endParaRPr lang="zh-CN" altLang="en-US" sz="800" b="1"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3" name="稻壳儿搜索【幻雨工作室】_15">
            <a:extLst>
              <a:ext uri="{FF2B5EF4-FFF2-40B4-BE49-F238E27FC236}">
                <a16:creationId xmlns:a16="http://schemas.microsoft.com/office/drawing/2014/main" id="{08788B9B-2D82-4110-953F-6D52433B6D27}"/>
              </a:ext>
            </a:extLst>
          </p:cNvPr>
          <p:cNvSpPr txBox="1"/>
          <p:nvPr/>
        </p:nvSpPr>
        <p:spPr>
          <a:xfrm>
            <a:off x="7827975" y="4731607"/>
            <a:ext cx="2960448" cy="510076"/>
          </a:xfrm>
          <a:prstGeom prst="rect">
            <a:avLst/>
          </a:prstGeom>
          <a:noFill/>
        </p:spPr>
        <p:txBody>
          <a:bodyPr wrap="square" rtlCol="0">
            <a:spAutoFit/>
          </a:bodyPr>
          <a:lstStyle/>
          <a:p>
            <a:pPr algn="r">
              <a:lnSpc>
                <a:spcPct val="200000"/>
              </a:lnSpc>
            </a:pPr>
            <a:r>
              <a:rPr lang="zh-CN" altLang="en-US" sz="1600" b="1">
                <a:solidFill>
                  <a:schemeClr val="tx1">
                    <a:lumMod val="85000"/>
                    <a:lumOff val="15000"/>
                  </a:schemeClr>
                </a:solidFill>
                <a:latin typeface="微软雅黑" panose="020B0503020204020204" pitchFamily="34" charset="-122"/>
                <a:ea typeface="微软雅黑" panose="020B0503020204020204" pitchFamily="34" charset="-122"/>
              </a:rPr>
              <a:t>余村青年推动生态旅游发展</a:t>
            </a:r>
            <a:endParaRPr lang="zh-CN" altLang="en-US" sz="800" b="1"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4" name="稻壳儿搜索【幻雨工作室】_16">
            <a:extLst>
              <a:ext uri="{FF2B5EF4-FFF2-40B4-BE49-F238E27FC236}">
                <a16:creationId xmlns:a16="http://schemas.microsoft.com/office/drawing/2014/main" id="{5C1915E7-9F93-433B-B5C0-8908F64BB848}"/>
              </a:ext>
            </a:extLst>
          </p:cNvPr>
          <p:cNvSpPr txBox="1"/>
          <p:nvPr/>
        </p:nvSpPr>
        <p:spPr>
          <a:xfrm>
            <a:off x="7628710" y="1257723"/>
            <a:ext cx="2514960" cy="510076"/>
          </a:xfrm>
          <a:prstGeom prst="rect">
            <a:avLst/>
          </a:prstGeom>
          <a:noFill/>
        </p:spPr>
        <p:txBody>
          <a:bodyPr wrap="square" rtlCol="0">
            <a:spAutoFit/>
          </a:bodyPr>
          <a:lstStyle/>
          <a:p>
            <a:pPr algn="r">
              <a:lnSpc>
                <a:spcPct val="200000"/>
              </a:lnSpc>
            </a:pPr>
            <a:r>
              <a:rPr lang="zh-CN" altLang="en-US" sz="1600" b="1">
                <a:solidFill>
                  <a:schemeClr val="tx1">
                    <a:lumMod val="85000"/>
                    <a:lumOff val="15000"/>
                  </a:schemeClr>
                </a:solidFill>
                <a:latin typeface="微软雅黑" panose="020B0503020204020204" pitchFamily="34" charset="-122"/>
                <a:ea typeface="微软雅黑" panose="020B0503020204020204" pitchFamily="34" charset="-122"/>
              </a:rPr>
              <a:t>义乌青年拓展国际市场</a:t>
            </a:r>
            <a:endParaRPr lang="zh-CN" altLang="en-US" sz="800" dirty="0">
              <a:solidFill>
                <a:schemeClr val="tx1">
                  <a:lumMod val="85000"/>
                  <a:lumOff val="15000"/>
                </a:schemeClr>
              </a:solidFill>
              <a:latin typeface="Arial" panose="020B0604020202020204" pitchFamily="34" charset="0"/>
              <a:ea typeface="微软雅黑 Light" panose="020B0502040204020203" pitchFamily="34" charset="-122"/>
              <a:cs typeface="Arial" panose="020B0604020202020204" pitchFamily="34" charset="0"/>
            </a:endParaRPr>
          </a:p>
        </p:txBody>
      </p:sp>
      <p:sp>
        <p:nvSpPr>
          <p:cNvPr id="25" name="文本框 24">
            <a:extLst>
              <a:ext uri="{FF2B5EF4-FFF2-40B4-BE49-F238E27FC236}">
                <a16:creationId xmlns:a16="http://schemas.microsoft.com/office/drawing/2014/main" id="{57EBF1FE-77CD-489A-B8D4-A0E15E691D03}"/>
              </a:ext>
            </a:extLst>
          </p:cNvPr>
          <p:cNvSpPr txBox="1"/>
          <p:nvPr/>
        </p:nvSpPr>
        <p:spPr>
          <a:xfrm>
            <a:off x="7183222" y="1802123"/>
            <a:ext cx="3179978" cy="830997"/>
          </a:xfrm>
          <a:prstGeom prst="rect">
            <a:avLst/>
          </a:prstGeom>
          <a:noFill/>
        </p:spPr>
        <p:txBody>
          <a:bodyPr wrap="square">
            <a:spAutoFit/>
          </a:bodyPr>
          <a:lstStyle/>
          <a:p>
            <a:r>
              <a:rPr lang="zh-CN" altLang="en-US" sz="1200">
                <a:latin typeface="微软雅黑" panose="020B0503020204020204" pitchFamily="34" charset="-122"/>
                <a:ea typeface="微软雅黑" panose="020B0503020204020204" pitchFamily="34" charset="-122"/>
              </a:rPr>
              <a:t>义乌的青年商人利用电子商务平台，将中国制造的小商品销往全球。他们积极参与“一带一路”倡议，拓展海外市场，成为新时代中国青年创业创新的典范。</a:t>
            </a:r>
          </a:p>
        </p:txBody>
      </p:sp>
      <p:sp>
        <p:nvSpPr>
          <p:cNvPr id="27" name="文本框 26">
            <a:extLst>
              <a:ext uri="{FF2B5EF4-FFF2-40B4-BE49-F238E27FC236}">
                <a16:creationId xmlns:a16="http://schemas.microsoft.com/office/drawing/2014/main" id="{FBE4094C-3D37-41C3-8A50-D1B506A8A325}"/>
              </a:ext>
            </a:extLst>
          </p:cNvPr>
          <p:cNvSpPr txBox="1"/>
          <p:nvPr/>
        </p:nvSpPr>
        <p:spPr>
          <a:xfrm>
            <a:off x="7860787" y="3323055"/>
            <a:ext cx="3179978" cy="1015663"/>
          </a:xfrm>
          <a:prstGeom prst="rect">
            <a:avLst/>
          </a:prstGeom>
          <a:noFill/>
        </p:spPr>
        <p:txBody>
          <a:bodyPr wrap="square">
            <a:spAutoFit/>
          </a:bodyPr>
          <a:lstStyle/>
          <a:p>
            <a:r>
              <a:rPr lang="zh-CN" altLang="en-US" sz="1200">
                <a:latin typeface="微软雅黑" panose="020B0503020204020204" pitchFamily="34" charset="-122"/>
                <a:ea typeface="微软雅黑" panose="020B0503020204020204" pitchFamily="34" charset="-122"/>
              </a:rPr>
              <a:t>在浙江省，青年科技人才积极参与数字乡村建设，推动农业现代化。例如，浙江大学的青年团队在安吉余村开展数字农业项目，利用物联网技术监测农作物生长，实现精准农业管理，提升了农业生产效率。​</a:t>
            </a:r>
          </a:p>
        </p:txBody>
      </p:sp>
      <p:sp>
        <p:nvSpPr>
          <p:cNvPr id="29" name="文本框 28">
            <a:extLst>
              <a:ext uri="{FF2B5EF4-FFF2-40B4-BE49-F238E27FC236}">
                <a16:creationId xmlns:a16="http://schemas.microsoft.com/office/drawing/2014/main" id="{A801CCBD-F3FA-4C32-8202-51D835C2B33E}"/>
              </a:ext>
            </a:extLst>
          </p:cNvPr>
          <p:cNvSpPr txBox="1"/>
          <p:nvPr/>
        </p:nvSpPr>
        <p:spPr>
          <a:xfrm>
            <a:off x="7502565" y="5227647"/>
            <a:ext cx="3299052" cy="830997"/>
          </a:xfrm>
          <a:prstGeom prst="rect">
            <a:avLst/>
          </a:prstGeom>
          <a:noFill/>
        </p:spPr>
        <p:txBody>
          <a:bodyPr wrap="square">
            <a:spAutoFit/>
          </a:bodyPr>
          <a:lstStyle/>
          <a:p>
            <a:r>
              <a:rPr lang="zh-CN" altLang="en-US" sz="1200">
                <a:latin typeface="微软雅黑" panose="020B0503020204020204" pitchFamily="34" charset="-122"/>
                <a:ea typeface="微软雅黑" panose="020B0503020204020204" pitchFamily="34" charset="-122"/>
              </a:rPr>
              <a:t>安吉余村的青年返乡创业，发展生态旅游产业。他们将传统农家乐升级为特色民宿，举办文化活动，吸引游客，带动了当地经济发展，践行了“绿水青山就是金山银山”的理念。</a:t>
            </a:r>
          </a:p>
        </p:txBody>
      </p:sp>
      <p:sp>
        <p:nvSpPr>
          <p:cNvPr id="30" name="文本框 29">
            <a:extLst>
              <a:ext uri="{FF2B5EF4-FFF2-40B4-BE49-F238E27FC236}">
                <a16:creationId xmlns:a16="http://schemas.microsoft.com/office/drawing/2014/main" id="{238A4D1D-B71C-4B74-8CD9-C0DC819F8041}"/>
              </a:ext>
            </a:extLst>
          </p:cNvPr>
          <p:cNvSpPr txBox="1"/>
          <p:nvPr/>
        </p:nvSpPr>
        <p:spPr>
          <a:xfrm>
            <a:off x="1225271" y="2249951"/>
            <a:ext cx="2960448" cy="1015663"/>
          </a:xfrm>
          <a:prstGeom prst="rect">
            <a:avLst/>
          </a:prstGeom>
          <a:noFill/>
        </p:spPr>
        <p:txBody>
          <a:bodyPr wrap="square">
            <a:spAutoFit/>
          </a:bodyPr>
          <a:lstStyle/>
          <a:p>
            <a:r>
              <a:rPr lang="zh-CN" altLang="en-US" sz="1200">
                <a:latin typeface="微软雅黑" panose="020B0503020204020204" pitchFamily="34" charset="-122"/>
                <a:ea typeface="微软雅黑" panose="020B0503020204020204" pitchFamily="34" charset="-122"/>
              </a:rPr>
              <a:t>浙江省的青年志愿者积极参与乡村振兴战略，投身于农村教育、医疗、文化等领域。他们通过支教、义诊、文化传播等方式，改善了农村公共服务，促进了城乡融合发展。​</a:t>
            </a:r>
          </a:p>
        </p:txBody>
      </p:sp>
      <p:sp>
        <p:nvSpPr>
          <p:cNvPr id="33" name="文本框 32">
            <a:extLst>
              <a:ext uri="{FF2B5EF4-FFF2-40B4-BE49-F238E27FC236}">
                <a16:creationId xmlns:a16="http://schemas.microsoft.com/office/drawing/2014/main" id="{7127BBBB-210B-4EE6-BB09-799F44C8A67C}"/>
              </a:ext>
            </a:extLst>
          </p:cNvPr>
          <p:cNvSpPr txBox="1"/>
          <p:nvPr/>
        </p:nvSpPr>
        <p:spPr>
          <a:xfrm>
            <a:off x="1353324" y="4687540"/>
            <a:ext cx="3119490" cy="830997"/>
          </a:xfrm>
          <a:prstGeom prst="rect">
            <a:avLst/>
          </a:prstGeom>
          <a:noFill/>
        </p:spPr>
        <p:txBody>
          <a:bodyPr wrap="square">
            <a:spAutoFit/>
          </a:bodyPr>
          <a:lstStyle/>
          <a:p>
            <a:r>
              <a:rPr lang="zh-CN" altLang="en-US" sz="1200">
                <a:latin typeface="微软雅黑" panose="020B0503020204020204" pitchFamily="34" charset="-122"/>
                <a:ea typeface="微软雅黑" panose="020B0503020204020204" pitchFamily="34" charset="-122"/>
              </a:rPr>
              <a:t>在新冠疫情防控中，浙江的青年志愿者积极参与社区防控、物资配送、心理疏导等工作，展现了新时代青年的责任与担当，体现了社会主义核心价值观的实践。​</a:t>
            </a:r>
          </a:p>
        </p:txBody>
      </p:sp>
    </p:spTree>
    <p:extLst>
      <p:ext uri="{BB962C8B-B14F-4D97-AF65-F5344CB8AC3E}">
        <p14:creationId xmlns:p14="http://schemas.microsoft.com/office/powerpoint/2010/main" val="645445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稻壳儿搜索【幻雨工作室】_1">
            <a:extLst>
              <a:ext uri="{FF2B5EF4-FFF2-40B4-BE49-F238E27FC236}">
                <a16:creationId xmlns:a16="http://schemas.microsoft.com/office/drawing/2014/main" id="{146A3A04-0D49-40D8-932B-A5D2FEF31078}"/>
              </a:ext>
            </a:extLst>
          </p:cNvPr>
          <p:cNvSpPr txBox="1"/>
          <p:nvPr/>
        </p:nvSpPr>
        <p:spPr>
          <a:xfrm>
            <a:off x="372529" y="535286"/>
            <a:ext cx="5261653" cy="584775"/>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zh-CN" altLang="en-US" sz="3200"/>
              <a:t>总结</a:t>
            </a:r>
            <a:r>
              <a:rPr lang="en-US" altLang="zh-CN" sz="3200"/>
              <a:t>—— </a:t>
            </a:r>
            <a:r>
              <a:rPr lang="zh-CN" altLang="en-US" sz="3200"/>
              <a:t>实践探索后的感想</a:t>
            </a:r>
            <a:endParaRPr lang="zh-CN" altLang="en-US" sz="3200" dirty="0">
              <a:solidFill>
                <a:schemeClr val="tx1">
                  <a:lumMod val="85000"/>
                  <a:lumOff val="15000"/>
                </a:schemeClr>
              </a:solidFill>
              <a:latin typeface="方正粗黑宋简体" panose="02000000000000000000" pitchFamily="2" charset="-122"/>
              <a:ea typeface="方正粗黑宋简体" panose="02000000000000000000" pitchFamily="2" charset="-122"/>
              <a:cs typeface="Arial" panose="020B0604020202020204" pitchFamily="34" charset="0"/>
            </a:endParaRPr>
          </a:p>
        </p:txBody>
      </p:sp>
      <p:sp>
        <p:nvSpPr>
          <p:cNvPr id="12" name="文本框 11">
            <a:extLst>
              <a:ext uri="{FF2B5EF4-FFF2-40B4-BE49-F238E27FC236}">
                <a16:creationId xmlns:a16="http://schemas.microsoft.com/office/drawing/2014/main" id="{FDF24DAA-A655-4658-BC1A-9EA54411F48B}"/>
              </a:ext>
            </a:extLst>
          </p:cNvPr>
          <p:cNvSpPr txBox="1"/>
          <p:nvPr/>
        </p:nvSpPr>
        <p:spPr>
          <a:xfrm>
            <a:off x="638578" y="1720840"/>
            <a:ext cx="4995604" cy="3416320"/>
          </a:xfrm>
          <a:prstGeom prst="rect">
            <a:avLst/>
          </a:prstGeom>
          <a:noFill/>
        </p:spPr>
        <p:txBody>
          <a:bodyPr wrap="square">
            <a:spAutoFit/>
          </a:bodyPr>
          <a:lstStyle/>
          <a:p>
            <a:r>
              <a:rPr lang="zh-CN" altLang="en-US"/>
              <a:t>经历本次实践学习，我们更懂得了‘青年使命’这个词，它不仅仅是书中的口号，更是新时代赋予我们的真实责任。在深入学习习近平新时代中国特色社会主义思想、走进浙江展览馆、调研‘八八战略’与‘绿水青山就是金山银山’理念的落地成效后，我们深切体会到：作为新时代青年，我们不仅要理解国家发展背后的战略智慧，更要将个人理想与民族复兴紧密结合，将思想内化于心、外化于行。正如安吉余村的青年用行动守护生态文明，浙大团队用科技振兴乡村，我们也应以青春之我，投身于时代洪流，为实现中国式现代化贡献属于我们这一代人的力量。</a:t>
            </a:r>
          </a:p>
        </p:txBody>
      </p:sp>
      <p:pic>
        <p:nvPicPr>
          <p:cNvPr id="6146" name="Picture 2" descr="手绘卡通党员群众宣誓免抠PNG图片素材下载_素材PNG_熊猫办公">
            <a:extLst>
              <a:ext uri="{FF2B5EF4-FFF2-40B4-BE49-F238E27FC236}">
                <a16:creationId xmlns:a16="http://schemas.microsoft.com/office/drawing/2014/main" id="{C62BF676-EF56-4133-81F9-A6F71A1250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722322"/>
            <a:ext cx="5578766" cy="5578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651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稻壳儿搜索【幻雨工作室】_1">
            <a:extLst>
              <a:ext uri="{FF2B5EF4-FFF2-40B4-BE49-F238E27FC236}">
                <a16:creationId xmlns:a16="http://schemas.microsoft.com/office/drawing/2014/main" id="{08A19377-B2E9-4AB1-B0C6-0DC75424EC6D}"/>
              </a:ext>
            </a:extLst>
          </p:cNvPr>
          <p:cNvPicPr>
            <a:picLocks noChangeAspect="1"/>
          </p:cNvPicPr>
          <p:nvPr/>
        </p:nvPicPr>
        <p:blipFill>
          <a:blip r:embed="rId2"/>
          <a:stretch>
            <a:fillRect/>
          </a:stretch>
        </p:blipFill>
        <p:spPr>
          <a:xfrm>
            <a:off x="2854857" y="1492064"/>
            <a:ext cx="1445624" cy="1456577"/>
          </a:xfrm>
          <a:prstGeom prst="rect">
            <a:avLst/>
          </a:prstGeom>
        </p:spPr>
      </p:pic>
      <p:pic>
        <p:nvPicPr>
          <p:cNvPr id="9" name="稻壳儿搜索【幻雨工作室】_2">
            <a:extLst>
              <a:ext uri="{FF2B5EF4-FFF2-40B4-BE49-F238E27FC236}">
                <a16:creationId xmlns:a16="http://schemas.microsoft.com/office/drawing/2014/main" id="{9B347C1F-3EFD-4B36-812C-4C7FDD08B84C}"/>
              </a:ext>
            </a:extLst>
          </p:cNvPr>
          <p:cNvPicPr>
            <a:picLocks noChangeAspect="1"/>
          </p:cNvPicPr>
          <p:nvPr/>
        </p:nvPicPr>
        <p:blipFill>
          <a:blip r:embed="rId2"/>
          <a:stretch>
            <a:fillRect/>
          </a:stretch>
        </p:blipFill>
        <p:spPr>
          <a:xfrm>
            <a:off x="4549943" y="1492064"/>
            <a:ext cx="1445624" cy="1456577"/>
          </a:xfrm>
          <a:prstGeom prst="rect">
            <a:avLst/>
          </a:prstGeom>
        </p:spPr>
      </p:pic>
      <p:pic>
        <p:nvPicPr>
          <p:cNvPr id="10" name="稻壳儿搜索【幻雨工作室】_3">
            <a:extLst>
              <a:ext uri="{FF2B5EF4-FFF2-40B4-BE49-F238E27FC236}">
                <a16:creationId xmlns:a16="http://schemas.microsoft.com/office/drawing/2014/main" id="{8A9BDDEB-0A53-439F-B13D-18D02D1C7C0E}"/>
              </a:ext>
            </a:extLst>
          </p:cNvPr>
          <p:cNvPicPr>
            <a:picLocks noChangeAspect="1"/>
          </p:cNvPicPr>
          <p:nvPr/>
        </p:nvPicPr>
        <p:blipFill>
          <a:blip r:embed="rId2"/>
          <a:stretch>
            <a:fillRect/>
          </a:stretch>
        </p:blipFill>
        <p:spPr>
          <a:xfrm>
            <a:off x="6245028" y="1492064"/>
            <a:ext cx="1445624" cy="1456577"/>
          </a:xfrm>
          <a:prstGeom prst="rect">
            <a:avLst/>
          </a:prstGeom>
        </p:spPr>
      </p:pic>
      <p:pic>
        <p:nvPicPr>
          <p:cNvPr id="11" name="稻壳儿搜索【幻雨工作室】_4">
            <a:extLst>
              <a:ext uri="{FF2B5EF4-FFF2-40B4-BE49-F238E27FC236}">
                <a16:creationId xmlns:a16="http://schemas.microsoft.com/office/drawing/2014/main" id="{FD52E8FE-1908-41A4-849A-1824B89EE2C0}"/>
              </a:ext>
            </a:extLst>
          </p:cNvPr>
          <p:cNvPicPr>
            <a:picLocks noChangeAspect="1"/>
          </p:cNvPicPr>
          <p:nvPr/>
        </p:nvPicPr>
        <p:blipFill>
          <a:blip r:embed="rId2"/>
          <a:stretch>
            <a:fillRect/>
          </a:stretch>
        </p:blipFill>
        <p:spPr>
          <a:xfrm>
            <a:off x="7940114" y="1492064"/>
            <a:ext cx="1445624" cy="1456577"/>
          </a:xfrm>
          <a:prstGeom prst="rect">
            <a:avLst/>
          </a:prstGeom>
        </p:spPr>
      </p:pic>
      <p:sp>
        <p:nvSpPr>
          <p:cNvPr id="13" name="稻壳儿搜索【幻雨工作室】_7">
            <a:extLst>
              <a:ext uri="{FF2B5EF4-FFF2-40B4-BE49-F238E27FC236}">
                <a16:creationId xmlns:a16="http://schemas.microsoft.com/office/drawing/2014/main" id="{4D83A3DD-3960-46D9-9E85-3A83B99A8A48}"/>
              </a:ext>
            </a:extLst>
          </p:cNvPr>
          <p:cNvSpPr txBox="1"/>
          <p:nvPr/>
        </p:nvSpPr>
        <p:spPr>
          <a:xfrm>
            <a:off x="2903453" y="1479336"/>
            <a:ext cx="6482285" cy="1446550"/>
          </a:xfrm>
          <a:prstGeom prst="rect">
            <a:avLst/>
          </a:prstGeom>
          <a:noFill/>
        </p:spPr>
        <p:txBody>
          <a:bodyPr wrap="square" rtlCol="0">
            <a:spAutoFit/>
          </a:bodyPr>
          <a:lstStyle/>
          <a:p>
            <a:pPr marR="0" lvl="0" indent="0" algn="dist" fontAlgn="auto">
              <a:lnSpc>
                <a:spcPct val="100000"/>
              </a:lnSpc>
              <a:spcBef>
                <a:spcPts val="0"/>
              </a:spcBef>
              <a:spcAft>
                <a:spcPts val="0"/>
              </a:spcAft>
              <a:buClrTx/>
              <a:buSzTx/>
              <a:buFontTx/>
              <a:buNone/>
              <a:tabLst/>
              <a:defRPr/>
            </a:pPr>
            <a:r>
              <a:rPr lang="zh-CN" altLang="en-US" sz="8800" dirty="0">
                <a:solidFill>
                  <a:srgbClr val="B72522"/>
                </a:solidFill>
                <a:effectLst>
                  <a:outerShdw blurRad="63500" sx="102000" sy="102000" algn="ctr" rotWithShape="0">
                    <a:prstClr val="black">
                      <a:alpha val="10000"/>
                    </a:prstClr>
                  </a:outerShdw>
                </a:effectLst>
                <a:latin typeface="新宋体" panose="02010609030101010101" pitchFamily="49" charset="-122"/>
                <a:ea typeface="新宋体" panose="02010609030101010101" pitchFamily="49" charset="-122"/>
              </a:rPr>
              <a:t>谢谢聆听</a:t>
            </a:r>
          </a:p>
        </p:txBody>
      </p:sp>
      <p:sp>
        <p:nvSpPr>
          <p:cNvPr id="2" name="文本框 1">
            <a:extLst>
              <a:ext uri="{FF2B5EF4-FFF2-40B4-BE49-F238E27FC236}">
                <a16:creationId xmlns:a16="http://schemas.microsoft.com/office/drawing/2014/main" id="{5A59D95B-C59E-40FD-B7EA-DD63A4E75703}"/>
              </a:ext>
            </a:extLst>
          </p:cNvPr>
          <p:cNvSpPr txBox="1"/>
          <p:nvPr/>
        </p:nvSpPr>
        <p:spPr>
          <a:xfrm>
            <a:off x="7690652" y="5462829"/>
            <a:ext cx="1111202" cy="369332"/>
          </a:xfrm>
          <a:prstGeom prst="rect">
            <a:avLst/>
          </a:prstGeom>
          <a:noFill/>
        </p:spPr>
        <p:txBody>
          <a:bodyPr wrap="none" rtlCol="0">
            <a:spAutoFit/>
          </a:bodyPr>
          <a:lstStyle/>
          <a:p>
            <a:r>
              <a:rPr lang="zh-CN" altLang="en-US">
                <a:latin typeface="微软雅黑" panose="020B0503020204020204" pitchFamily="34" charset="-122"/>
                <a:ea typeface="微软雅黑" panose="020B0503020204020204" pitchFamily="34" charset="-122"/>
              </a:rPr>
              <a:t>成员：</a:t>
            </a:r>
            <a:r>
              <a:rPr lang="en-US" altLang="zh-CN">
                <a:latin typeface="微软雅黑" panose="020B0503020204020204" pitchFamily="34" charset="-122"/>
                <a:ea typeface="微软雅黑" panose="020B0503020204020204" pitchFamily="34" charset="-122"/>
              </a:rPr>
              <a:t>xx</a:t>
            </a:r>
            <a:endParaRPr lang="zh-CN" altLang="en-US" dirty="0">
              <a:latin typeface="微软雅黑" panose="020B0503020204020204" pitchFamily="34" charset="-122"/>
              <a:ea typeface="微软雅黑" panose="020B0503020204020204" pitchFamily="34" charset="-122"/>
            </a:endParaRPr>
          </a:p>
        </p:txBody>
      </p:sp>
      <p:sp>
        <p:nvSpPr>
          <p:cNvPr id="12" name="稻壳儿搜索【幻雨工作室】_8">
            <a:extLst>
              <a:ext uri="{FF2B5EF4-FFF2-40B4-BE49-F238E27FC236}">
                <a16:creationId xmlns:a16="http://schemas.microsoft.com/office/drawing/2014/main" id="{51DF9135-6BA5-4952-B61B-03FEDFD87BAF}"/>
              </a:ext>
            </a:extLst>
          </p:cNvPr>
          <p:cNvSpPr/>
          <p:nvPr/>
        </p:nvSpPr>
        <p:spPr>
          <a:xfrm>
            <a:off x="3359655" y="3546626"/>
            <a:ext cx="5472688" cy="1569660"/>
          </a:xfrm>
          <a:prstGeom prst="rect">
            <a:avLst/>
          </a:prstGeom>
        </p:spPr>
        <p:txBody>
          <a:bodyPr wrap="square">
            <a:spAutoFit/>
          </a:bodyPr>
          <a:lstStyle/>
          <a:p>
            <a:pPr algn="ctr"/>
            <a:r>
              <a:rPr lang="zh-CN" altLang="en-US" sz="3200">
                <a:latin typeface="宋体" panose="02010600030101010101" pitchFamily="2" charset="-122"/>
                <a:ea typeface="宋体" panose="02010600030101010101" pitchFamily="2" charset="-122"/>
              </a:rPr>
              <a:t>习近平新时代中国特色社会主义思想在浙江的重要萌发与实践探索</a:t>
            </a:r>
            <a:endParaRPr lang="zh-CN" altLang="en-US" sz="3200" dirty="0">
              <a:latin typeface="宋体" panose="02010600030101010101" pitchFamily="2" charset="-122"/>
              <a:ea typeface="宋体" panose="02010600030101010101" pitchFamily="2" charset="-122"/>
            </a:endParaRPr>
          </a:p>
        </p:txBody>
      </p:sp>
      <p:cxnSp>
        <p:nvCxnSpPr>
          <p:cNvPr id="14" name="稻壳儿搜索【幻雨工作室】_9">
            <a:extLst>
              <a:ext uri="{FF2B5EF4-FFF2-40B4-BE49-F238E27FC236}">
                <a16:creationId xmlns:a16="http://schemas.microsoft.com/office/drawing/2014/main" id="{D17B656E-64F8-4197-80AD-FA0A96BA49EF}"/>
              </a:ext>
            </a:extLst>
          </p:cNvPr>
          <p:cNvCxnSpPr>
            <a:cxnSpLocks/>
          </p:cNvCxnSpPr>
          <p:nvPr/>
        </p:nvCxnSpPr>
        <p:spPr>
          <a:xfrm>
            <a:off x="8922926" y="4108753"/>
            <a:ext cx="2133600" cy="0"/>
          </a:xfrm>
          <a:prstGeom prst="line">
            <a:avLst/>
          </a:prstGeom>
          <a:ln w="25400">
            <a:solidFill>
              <a:srgbClr val="B72522"/>
            </a:solidFill>
          </a:ln>
        </p:spPr>
        <p:style>
          <a:lnRef idx="1">
            <a:schemeClr val="accent1"/>
          </a:lnRef>
          <a:fillRef idx="0">
            <a:schemeClr val="accent1"/>
          </a:fillRef>
          <a:effectRef idx="0">
            <a:schemeClr val="accent1"/>
          </a:effectRef>
          <a:fontRef idx="minor">
            <a:schemeClr val="tx1"/>
          </a:fontRef>
        </p:style>
      </p:cxnSp>
      <p:cxnSp>
        <p:nvCxnSpPr>
          <p:cNvPr id="15" name="稻壳儿搜索【幻雨工作室】_10">
            <a:extLst>
              <a:ext uri="{FF2B5EF4-FFF2-40B4-BE49-F238E27FC236}">
                <a16:creationId xmlns:a16="http://schemas.microsoft.com/office/drawing/2014/main" id="{DA37D26D-4D98-4433-8034-CFD21600E2DC}"/>
              </a:ext>
            </a:extLst>
          </p:cNvPr>
          <p:cNvCxnSpPr>
            <a:cxnSpLocks/>
          </p:cNvCxnSpPr>
          <p:nvPr/>
        </p:nvCxnSpPr>
        <p:spPr>
          <a:xfrm>
            <a:off x="1144485" y="4162577"/>
            <a:ext cx="2133600" cy="0"/>
          </a:xfrm>
          <a:prstGeom prst="line">
            <a:avLst/>
          </a:prstGeom>
          <a:ln w="25400">
            <a:solidFill>
              <a:srgbClr val="B7252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05191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56.84732283464564,&quot;left&quot;:146.56393700787402,&quot;top&quot;:355.00653543307084,&quot;width&quot;:1145.6411811023622}"/>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2730</Words>
  <Application>Microsoft Office PowerPoint</Application>
  <PresentationFormat>宽屏</PresentationFormat>
  <Paragraphs>154</Paragraphs>
  <Slides>14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字体圈欣意冠黑体</vt:lpstr>
      <vt:lpstr>等线</vt:lpstr>
      <vt:lpstr>Calibri</vt:lpstr>
      <vt:lpstr>方正公文小标宋</vt:lpstr>
      <vt:lpstr>Abadi</vt:lpstr>
      <vt:lpstr>新宋体</vt:lpstr>
      <vt:lpstr>方正公文黑体</vt:lpstr>
      <vt:lpstr>Arial</vt:lpstr>
      <vt:lpstr>方正粗黑宋简体</vt:lpstr>
      <vt:lpstr>宋体</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2022-02-05T07:09:15Z</dcterms:created>
  <dcterms:modified xsi:type="dcterms:W3CDTF">2026-03-19T07:59:02Z</dcterms:modified>
</cp:coreProperties>
</file>