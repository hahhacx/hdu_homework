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98" r:id="rId2"/>
  </p:sldMasterIdLst>
  <p:notesMasterIdLst>
    <p:notesMasterId r:id="rId11"/>
  </p:notesMasterIdLst>
  <p:handoutMasterIdLst>
    <p:handoutMasterId r:id="rId12"/>
  </p:handoutMasterIdLst>
  <p:sldIdLst>
    <p:sldId id="362" r:id="rId3"/>
    <p:sldId id="407" r:id="rId4"/>
    <p:sldId id="408" r:id="rId5"/>
    <p:sldId id="409" r:id="rId6"/>
    <p:sldId id="410" r:id="rId7"/>
    <p:sldId id="413" r:id="rId8"/>
    <p:sldId id="414" r:id="rId9"/>
    <p:sldId id="403" r:id="rId10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F58"/>
    <a:srgbClr val="01527F"/>
    <a:srgbClr val="011C27"/>
    <a:srgbClr val="FCF7DA"/>
    <a:srgbClr val="DF2123"/>
    <a:srgbClr val="F49E00"/>
    <a:srgbClr val="425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16" autoAdjust="0"/>
    <p:restoredTop sz="96271"/>
  </p:normalViewPr>
  <p:slideViewPr>
    <p:cSldViewPr snapToGrid="0" snapToObjects="1">
      <p:cViewPr varScale="1">
        <p:scale>
          <a:sx n="99" d="100"/>
          <a:sy n="99" d="100"/>
        </p:scale>
        <p:origin x="12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6" d="100"/>
        <a:sy n="19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3708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10789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 userDrawn="1"/>
        </p:nvSpPr>
        <p:spPr>
          <a:xfrm>
            <a:off x="-1251391" y="-411145"/>
            <a:ext cx="1619148" cy="1217525"/>
          </a:xfrm>
          <a:prstGeom prst="roundRect">
            <a:avLst>
              <a:gd name="adj" fmla="val 14907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0" name="圆角矩形 9"/>
          <p:cNvSpPr/>
          <p:nvPr userDrawn="1"/>
        </p:nvSpPr>
        <p:spPr>
          <a:xfrm>
            <a:off x="-580937" y="-335230"/>
            <a:ext cx="1324516" cy="714803"/>
          </a:xfrm>
          <a:prstGeom prst="roundRect">
            <a:avLst>
              <a:gd name="adj" fmla="val 2314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280387" y="292506"/>
            <a:ext cx="174134" cy="17413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44373" y="147940"/>
            <a:ext cx="2839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请在此输入标题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8099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7825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2994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796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9691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481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4249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6404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407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1205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1277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0412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2750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1658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2821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4919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725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810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3908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4220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3450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3609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7035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458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8425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3560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7167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2948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063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816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4663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2358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558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2141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6153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1118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1567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7628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2566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7226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6776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208357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9401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5080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2026/3/19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545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2026/3/19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5878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36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51" r:id="rId47"/>
    <p:sldLayoutId id="2147483652" r:id="rId48"/>
    <p:sldLayoutId id="2147483653" r:id="rId49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60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4505840" y="4161938"/>
            <a:ext cx="3543300" cy="39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99773" y="341832"/>
            <a:ext cx="11027450" cy="6072659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3256" y="2600928"/>
            <a:ext cx="11780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从马克思主义原理看网红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09650" y="4186260"/>
            <a:ext cx="4040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600">
                <a:solidFill>
                  <a:schemeClr val="bg1"/>
                </a:solidFill>
                <a:cs typeface="+mn-ea"/>
                <a:sym typeface="+mn-lt"/>
              </a:rPr>
              <a:t>xx</a:t>
            </a:r>
            <a:endParaRPr kumimoji="1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圆角矩形 15"/>
          <p:cNvSpPr/>
          <p:nvPr/>
        </p:nvSpPr>
        <p:spPr>
          <a:xfrm flipV="1">
            <a:off x="-115541" y="-407846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 flipV="1">
            <a:off x="423127" y="1473120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889914" y="5146184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450577" y="4969538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7E2BBBC-6D37-453B-95EC-62CA685C109F}"/>
              </a:ext>
            </a:extLst>
          </p:cNvPr>
          <p:cNvGrpSpPr/>
          <p:nvPr/>
        </p:nvGrpSpPr>
        <p:grpSpPr>
          <a:xfrm>
            <a:off x="1853176" y="4680836"/>
            <a:ext cx="914400" cy="914400"/>
            <a:chOff x="1719329" y="4530090"/>
            <a:chExt cx="914400" cy="91440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74623B6C-C339-450F-B495-2A1806C0CCB0}"/>
                </a:ext>
              </a:extLst>
            </p:cNvPr>
            <p:cNvSpPr/>
            <p:nvPr/>
          </p:nvSpPr>
          <p:spPr>
            <a:xfrm>
              <a:off x="1719329" y="4530090"/>
              <a:ext cx="914400" cy="914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流程图: 摘录 4">
              <a:extLst>
                <a:ext uri="{FF2B5EF4-FFF2-40B4-BE49-F238E27FC236}">
                  <a16:creationId xmlns:a16="http://schemas.microsoft.com/office/drawing/2014/main" id="{C5CB25C7-1E5A-4F19-A110-1C77DEBDAC85}"/>
                </a:ext>
              </a:extLst>
            </p:cNvPr>
            <p:cNvSpPr/>
            <p:nvPr/>
          </p:nvSpPr>
          <p:spPr>
            <a:xfrm rot="5400000">
              <a:off x="1952339" y="4674565"/>
              <a:ext cx="579549" cy="62545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493"/>
                <a:gd name="connsiteX1" fmla="*/ 5000 w 10000"/>
                <a:gd name="connsiteY1" fmla="*/ 0 h 10493"/>
                <a:gd name="connsiteX2" fmla="*/ 10000 w 10000"/>
                <a:gd name="connsiteY2" fmla="*/ 10000 h 10493"/>
                <a:gd name="connsiteX3" fmla="*/ 0 w 10000"/>
                <a:gd name="connsiteY3" fmla="*/ 10000 h 10493"/>
                <a:gd name="connsiteX0" fmla="*/ 0 w 10000"/>
                <a:gd name="connsiteY0" fmla="*/ 10000 h 10493"/>
                <a:gd name="connsiteX1" fmla="*/ 5000 w 10000"/>
                <a:gd name="connsiteY1" fmla="*/ 0 h 10493"/>
                <a:gd name="connsiteX2" fmla="*/ 10000 w 10000"/>
                <a:gd name="connsiteY2" fmla="*/ 10000 h 10493"/>
                <a:gd name="connsiteX3" fmla="*/ 0 w 10000"/>
                <a:gd name="connsiteY3" fmla="*/ 10000 h 10493"/>
                <a:gd name="connsiteX0" fmla="*/ 0 w 10000"/>
                <a:gd name="connsiteY0" fmla="*/ 10000 h 10792"/>
                <a:gd name="connsiteX1" fmla="*/ 5000 w 10000"/>
                <a:gd name="connsiteY1" fmla="*/ 0 h 10792"/>
                <a:gd name="connsiteX2" fmla="*/ 10000 w 10000"/>
                <a:gd name="connsiteY2" fmla="*/ 10000 h 10792"/>
                <a:gd name="connsiteX3" fmla="*/ 0 w 10000"/>
                <a:gd name="connsiteY3" fmla="*/ 10000 h 10792"/>
                <a:gd name="connsiteX0" fmla="*/ 0 w 10000"/>
                <a:gd name="connsiteY0" fmla="*/ 10000 h 10792"/>
                <a:gd name="connsiteX1" fmla="*/ 5000 w 10000"/>
                <a:gd name="connsiteY1" fmla="*/ 0 h 10792"/>
                <a:gd name="connsiteX2" fmla="*/ 10000 w 10000"/>
                <a:gd name="connsiteY2" fmla="*/ 10000 h 10792"/>
                <a:gd name="connsiteX3" fmla="*/ 0 w 10000"/>
                <a:gd name="connsiteY3" fmla="*/ 10000 h 10792"/>
                <a:gd name="connsiteX0" fmla="*/ 0 w 10000"/>
                <a:gd name="connsiteY0" fmla="*/ 10000 h 10792"/>
                <a:gd name="connsiteX1" fmla="*/ 5000 w 10000"/>
                <a:gd name="connsiteY1" fmla="*/ 0 h 10792"/>
                <a:gd name="connsiteX2" fmla="*/ 10000 w 10000"/>
                <a:gd name="connsiteY2" fmla="*/ 10000 h 10792"/>
                <a:gd name="connsiteX3" fmla="*/ 0 w 10000"/>
                <a:gd name="connsiteY3" fmla="*/ 10000 h 1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792">
                  <a:moveTo>
                    <a:pt x="0" y="10000"/>
                  </a:moveTo>
                  <a:cubicBezTo>
                    <a:pt x="223" y="6111"/>
                    <a:pt x="2222" y="3000"/>
                    <a:pt x="5000" y="0"/>
                  </a:cubicBezTo>
                  <a:cubicBezTo>
                    <a:pt x="8445" y="3444"/>
                    <a:pt x="9333" y="5000"/>
                    <a:pt x="10000" y="10000"/>
                  </a:cubicBezTo>
                  <a:cubicBezTo>
                    <a:pt x="6334" y="11000"/>
                    <a:pt x="3889" y="11111"/>
                    <a:pt x="0" y="10000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BB1F9C36-D8F8-47BE-9710-49573EECCFF5}"/>
              </a:ext>
            </a:extLst>
          </p:cNvPr>
          <p:cNvSpPr/>
          <p:nvPr/>
        </p:nvSpPr>
        <p:spPr>
          <a:xfrm>
            <a:off x="3665170" y="1415847"/>
            <a:ext cx="4916455" cy="49133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732F5E2-3195-4967-8D49-825F2F5CCB3C}"/>
              </a:ext>
            </a:extLst>
          </p:cNvPr>
          <p:cNvGrpSpPr/>
          <p:nvPr/>
        </p:nvGrpSpPr>
        <p:grpSpPr>
          <a:xfrm rot="10800000">
            <a:off x="10807989" y="5644468"/>
            <a:ext cx="4792970" cy="2678458"/>
            <a:chOff x="-3388828" y="-1415011"/>
            <a:chExt cx="4792970" cy="2678458"/>
          </a:xfrm>
        </p:grpSpPr>
        <p:sp>
          <p:nvSpPr>
            <p:cNvPr id="2" name="圆角矩形 18">
              <a:extLst>
                <a:ext uri="{FF2B5EF4-FFF2-40B4-BE49-F238E27FC236}">
                  <a16:creationId xmlns:a16="http://schemas.microsoft.com/office/drawing/2014/main" id="{0510CB12-7856-4764-A2A1-CBEA4E9AD42C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3" name="圆角矩形 18">
              <a:extLst>
                <a:ext uri="{FF2B5EF4-FFF2-40B4-BE49-F238E27FC236}">
                  <a16:creationId xmlns:a16="http://schemas.microsoft.com/office/drawing/2014/main" id="{F625B1A7-AA87-499B-AD73-B155AACAF85F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61B74BF-E203-44B2-BCAA-1F965909E60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71AEE7-672A-46B4-B2D7-C421193A6D29}"/>
              </a:ext>
            </a:extLst>
          </p:cNvPr>
          <p:cNvGrpSpPr/>
          <p:nvPr/>
        </p:nvGrpSpPr>
        <p:grpSpPr>
          <a:xfrm>
            <a:off x="-3236428" y="-1262611"/>
            <a:ext cx="4792970" cy="2678458"/>
            <a:chOff x="-3388828" y="-1415011"/>
            <a:chExt cx="4792970" cy="2678458"/>
          </a:xfrm>
        </p:grpSpPr>
        <p:sp>
          <p:nvSpPr>
            <p:cNvPr id="10" name="圆角矩形 18">
              <a:extLst>
                <a:ext uri="{FF2B5EF4-FFF2-40B4-BE49-F238E27FC236}">
                  <a16:creationId xmlns:a16="http://schemas.microsoft.com/office/drawing/2014/main" id="{CA79DA5B-432E-4814-A30D-85B9615E7595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1" name="圆角矩形 18">
              <a:extLst>
                <a:ext uri="{FF2B5EF4-FFF2-40B4-BE49-F238E27FC236}">
                  <a16:creationId xmlns:a16="http://schemas.microsoft.com/office/drawing/2014/main" id="{BE0AF65B-95B3-4EFE-8438-07223E322BC4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171F40-8625-4E0A-8A90-AAB9CF3B8EB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pic>
        <p:nvPicPr>
          <p:cNvPr id="1026" name="Picture 2" descr="#张诗尧青海摇#青海摇_腾讯视频">
            <a:extLst>
              <a:ext uri="{FF2B5EF4-FFF2-40B4-BE49-F238E27FC236}">
                <a16:creationId xmlns:a16="http://schemas.microsoft.com/office/drawing/2014/main" id="{3C858688-BFF7-45DD-A8D1-3923BC69E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8536"/>
            <a:ext cx="2913449" cy="517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5D91A47-44A4-4A2E-A18A-A48B4ED87C0F}"/>
              </a:ext>
            </a:extLst>
          </p:cNvPr>
          <p:cNvSpPr txBox="1"/>
          <p:nvPr/>
        </p:nvSpPr>
        <p:spPr>
          <a:xfrm>
            <a:off x="4307791" y="1951672"/>
            <a:ext cx="35764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张诗尧：随拍领域自媒体创作者，早期在快手上发布自己的一些走街视频，近年来靠着一段“青海摇”火爆全网，获得了大量粉丝关注和流量。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31634AA-DEC9-4315-A8B5-9BE774592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945" y="0"/>
            <a:ext cx="3032055" cy="5187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2A405C2-4F08-40CD-A444-A64D13839CE6}"/>
              </a:ext>
            </a:extLst>
          </p:cNvPr>
          <p:cNvSpPr txBox="1"/>
          <p:nvPr/>
        </p:nvSpPr>
        <p:spPr>
          <a:xfrm>
            <a:off x="4307791" y="4069331"/>
            <a:ext cx="34580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最近，为进一步扩大自己的影响力和关注度，他开始了线上招募，要求参与者穿紧身衣戴白手套，跳一段“青海摇”，通过直播的形式“招兵买马”，引起广泛热议。</a:t>
            </a:r>
          </a:p>
        </p:txBody>
      </p:sp>
    </p:spTree>
    <p:extLst>
      <p:ext uri="{BB962C8B-B14F-4D97-AF65-F5344CB8AC3E}">
        <p14:creationId xmlns:p14="http://schemas.microsoft.com/office/powerpoint/2010/main" val="332190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732F5E2-3195-4967-8D49-825F2F5CCB3C}"/>
              </a:ext>
            </a:extLst>
          </p:cNvPr>
          <p:cNvGrpSpPr/>
          <p:nvPr/>
        </p:nvGrpSpPr>
        <p:grpSpPr>
          <a:xfrm rot="10800000">
            <a:off x="10807989" y="5644468"/>
            <a:ext cx="4792970" cy="2678458"/>
            <a:chOff x="-3388828" y="-1415011"/>
            <a:chExt cx="4792970" cy="2678458"/>
          </a:xfrm>
        </p:grpSpPr>
        <p:sp>
          <p:nvSpPr>
            <p:cNvPr id="2" name="圆角矩形 18">
              <a:extLst>
                <a:ext uri="{FF2B5EF4-FFF2-40B4-BE49-F238E27FC236}">
                  <a16:creationId xmlns:a16="http://schemas.microsoft.com/office/drawing/2014/main" id="{0510CB12-7856-4764-A2A1-CBEA4E9AD42C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3" name="圆角矩形 18">
              <a:extLst>
                <a:ext uri="{FF2B5EF4-FFF2-40B4-BE49-F238E27FC236}">
                  <a16:creationId xmlns:a16="http://schemas.microsoft.com/office/drawing/2014/main" id="{F625B1A7-AA87-499B-AD73-B155AACAF85F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61B74BF-E203-44B2-BCAA-1F965909E60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71AEE7-672A-46B4-B2D7-C421193A6D29}"/>
              </a:ext>
            </a:extLst>
          </p:cNvPr>
          <p:cNvGrpSpPr/>
          <p:nvPr/>
        </p:nvGrpSpPr>
        <p:grpSpPr>
          <a:xfrm>
            <a:off x="-3236428" y="-1262611"/>
            <a:ext cx="4792970" cy="2678458"/>
            <a:chOff x="-3388828" y="-1415011"/>
            <a:chExt cx="4792970" cy="2678458"/>
          </a:xfrm>
        </p:grpSpPr>
        <p:sp>
          <p:nvSpPr>
            <p:cNvPr id="10" name="圆角矩形 18">
              <a:extLst>
                <a:ext uri="{FF2B5EF4-FFF2-40B4-BE49-F238E27FC236}">
                  <a16:creationId xmlns:a16="http://schemas.microsoft.com/office/drawing/2014/main" id="{CA79DA5B-432E-4814-A30D-85B9615E7595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1" name="圆角矩形 18">
              <a:extLst>
                <a:ext uri="{FF2B5EF4-FFF2-40B4-BE49-F238E27FC236}">
                  <a16:creationId xmlns:a16="http://schemas.microsoft.com/office/drawing/2014/main" id="{BE0AF65B-95B3-4EFE-8438-07223E322BC4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171F40-8625-4E0A-8A90-AAB9CF3B8EB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pic>
        <p:nvPicPr>
          <p:cNvPr id="5124" name="Picture 4">
            <a:extLst>
              <a:ext uri="{FF2B5EF4-FFF2-40B4-BE49-F238E27FC236}">
                <a16:creationId xmlns:a16="http://schemas.microsoft.com/office/drawing/2014/main" id="{AB852A35-41AB-4DCD-B962-70A62A84E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408" y="50185"/>
            <a:ext cx="3471549" cy="369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8E0FB13-844B-4028-B810-9D010AF3103F}"/>
              </a:ext>
            </a:extLst>
          </p:cNvPr>
          <p:cNvSpPr/>
          <p:nvPr/>
        </p:nvSpPr>
        <p:spPr>
          <a:xfrm>
            <a:off x="389581" y="4013985"/>
            <a:ext cx="4248680" cy="19957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A25F33-EDD7-4B30-B740-ED5C665437E1}"/>
              </a:ext>
            </a:extLst>
          </p:cNvPr>
          <p:cNvSpPr txBox="1"/>
          <p:nvPr/>
        </p:nvSpPr>
        <p:spPr>
          <a:xfrm>
            <a:off x="493414" y="4134698"/>
            <a:ext cx="40410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这是其中的一个案例，有细心的网友发现，右上角这个小伙子，面试成功，加入张诗尧团队没几天，就提了一辆奥迪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a8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，把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网友激动坏了，更多的大学生开始纷纷练习，想要加入，从此开启了“全民摇摇乐”时代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FB697640-459D-49C4-8D0C-E16622859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099" y="192355"/>
            <a:ext cx="628650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527D41AB-BF3B-454E-86C6-1A2E2FC61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873" y="828822"/>
            <a:ext cx="4059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89B643E8-C8A2-4B5A-8D3D-283A0B847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277" y="-192355"/>
            <a:ext cx="4052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EE6A74B-DEAC-4B48-BA44-D30A167DE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873" y="3694397"/>
            <a:ext cx="3850277" cy="369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0A5792-2928-4B48-A145-895C017501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5936" y="1520946"/>
            <a:ext cx="4059237" cy="371043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E3E5F2E-32AF-468C-A9F5-85D768EA1F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924" y="3441639"/>
            <a:ext cx="4040953" cy="357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2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732F5E2-3195-4967-8D49-825F2F5CCB3C}"/>
              </a:ext>
            </a:extLst>
          </p:cNvPr>
          <p:cNvGrpSpPr/>
          <p:nvPr/>
        </p:nvGrpSpPr>
        <p:grpSpPr>
          <a:xfrm rot="10800000">
            <a:off x="10807989" y="5644468"/>
            <a:ext cx="4792970" cy="2678458"/>
            <a:chOff x="-3388828" y="-1415011"/>
            <a:chExt cx="4792970" cy="2678458"/>
          </a:xfrm>
        </p:grpSpPr>
        <p:sp>
          <p:nvSpPr>
            <p:cNvPr id="2" name="圆角矩形 18">
              <a:extLst>
                <a:ext uri="{FF2B5EF4-FFF2-40B4-BE49-F238E27FC236}">
                  <a16:creationId xmlns:a16="http://schemas.microsoft.com/office/drawing/2014/main" id="{0510CB12-7856-4764-A2A1-CBEA4E9AD42C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3" name="圆角矩形 18">
              <a:extLst>
                <a:ext uri="{FF2B5EF4-FFF2-40B4-BE49-F238E27FC236}">
                  <a16:creationId xmlns:a16="http://schemas.microsoft.com/office/drawing/2014/main" id="{F625B1A7-AA87-499B-AD73-B155AACAF85F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61B74BF-E203-44B2-BCAA-1F965909E60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71AEE7-672A-46B4-B2D7-C421193A6D29}"/>
              </a:ext>
            </a:extLst>
          </p:cNvPr>
          <p:cNvGrpSpPr/>
          <p:nvPr/>
        </p:nvGrpSpPr>
        <p:grpSpPr>
          <a:xfrm>
            <a:off x="-3236428" y="-1262611"/>
            <a:ext cx="4792970" cy="2678458"/>
            <a:chOff x="-3388828" y="-1415011"/>
            <a:chExt cx="4792970" cy="2678458"/>
          </a:xfrm>
        </p:grpSpPr>
        <p:sp>
          <p:nvSpPr>
            <p:cNvPr id="10" name="圆角矩形 18">
              <a:extLst>
                <a:ext uri="{FF2B5EF4-FFF2-40B4-BE49-F238E27FC236}">
                  <a16:creationId xmlns:a16="http://schemas.microsoft.com/office/drawing/2014/main" id="{CA79DA5B-432E-4814-A30D-85B9615E7595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1" name="圆角矩形 18">
              <a:extLst>
                <a:ext uri="{FF2B5EF4-FFF2-40B4-BE49-F238E27FC236}">
                  <a16:creationId xmlns:a16="http://schemas.microsoft.com/office/drawing/2014/main" id="{BE0AF65B-95B3-4EFE-8438-07223E322BC4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171F40-8625-4E0A-8A90-AAB9CF3B8EB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1AEEEFA-AF3D-4482-B004-021C408DCCD4}"/>
              </a:ext>
            </a:extLst>
          </p:cNvPr>
          <p:cNvSpPr/>
          <p:nvPr/>
        </p:nvSpPr>
        <p:spPr>
          <a:xfrm>
            <a:off x="5491427" y="899141"/>
            <a:ext cx="4916455" cy="29764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C92A33-CFD4-42D0-AB6E-6956EEA6FD3B}"/>
              </a:ext>
            </a:extLst>
          </p:cNvPr>
          <p:cNvSpPr txBox="1"/>
          <p:nvPr/>
        </p:nvSpPr>
        <p:spPr>
          <a:xfrm>
            <a:off x="5948112" y="1179689"/>
            <a:ext cx="38758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在此之前，还发生了一起事情引起广泛关注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“羊毛月”事件，网红羊毛月因在一期视频中嘲讽当代大学生“找不到工作”“这么难吗找工作”，其语气、神态冒犯了一群初来乍到的毕业生，更冒犯了在生活泥潭里苦苦挣扎的打工人，一时之间遭到全网谩骂，掉粉百万。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656F066-8626-402D-9958-6D0FA6EA3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542" y="846683"/>
            <a:ext cx="3407500" cy="543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CC43C36-51E6-49E2-B420-1D510C54B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848" y="3488013"/>
            <a:ext cx="7716907" cy="295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4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732F5E2-3195-4967-8D49-825F2F5CCB3C}"/>
              </a:ext>
            </a:extLst>
          </p:cNvPr>
          <p:cNvGrpSpPr/>
          <p:nvPr/>
        </p:nvGrpSpPr>
        <p:grpSpPr>
          <a:xfrm rot="10800000">
            <a:off x="10807989" y="5644468"/>
            <a:ext cx="4792970" cy="2678458"/>
            <a:chOff x="-3388828" y="-1415011"/>
            <a:chExt cx="4792970" cy="2678458"/>
          </a:xfrm>
        </p:grpSpPr>
        <p:sp>
          <p:nvSpPr>
            <p:cNvPr id="2" name="圆角矩形 18">
              <a:extLst>
                <a:ext uri="{FF2B5EF4-FFF2-40B4-BE49-F238E27FC236}">
                  <a16:creationId xmlns:a16="http://schemas.microsoft.com/office/drawing/2014/main" id="{0510CB12-7856-4764-A2A1-CBEA4E9AD42C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3" name="圆角矩形 18">
              <a:extLst>
                <a:ext uri="{FF2B5EF4-FFF2-40B4-BE49-F238E27FC236}">
                  <a16:creationId xmlns:a16="http://schemas.microsoft.com/office/drawing/2014/main" id="{F625B1A7-AA87-499B-AD73-B155AACAF85F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61B74BF-E203-44B2-BCAA-1F965909E60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71AEE7-672A-46B4-B2D7-C421193A6D29}"/>
              </a:ext>
            </a:extLst>
          </p:cNvPr>
          <p:cNvGrpSpPr/>
          <p:nvPr/>
        </p:nvGrpSpPr>
        <p:grpSpPr>
          <a:xfrm>
            <a:off x="-3236428" y="-1262611"/>
            <a:ext cx="4792970" cy="2678458"/>
            <a:chOff x="-3388828" y="-1415011"/>
            <a:chExt cx="4792970" cy="2678458"/>
          </a:xfrm>
        </p:grpSpPr>
        <p:sp>
          <p:nvSpPr>
            <p:cNvPr id="10" name="圆角矩形 18">
              <a:extLst>
                <a:ext uri="{FF2B5EF4-FFF2-40B4-BE49-F238E27FC236}">
                  <a16:creationId xmlns:a16="http://schemas.microsoft.com/office/drawing/2014/main" id="{CA79DA5B-432E-4814-A30D-85B9615E7595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1" name="圆角矩形 18">
              <a:extLst>
                <a:ext uri="{FF2B5EF4-FFF2-40B4-BE49-F238E27FC236}">
                  <a16:creationId xmlns:a16="http://schemas.microsoft.com/office/drawing/2014/main" id="{BE0AF65B-95B3-4EFE-8438-07223E322BC4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171F40-8625-4E0A-8A90-AAB9CF3B8EB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657789E4-8193-446F-8444-5B3BE951ADB8}"/>
              </a:ext>
            </a:extLst>
          </p:cNvPr>
          <p:cNvSpPr txBox="1"/>
          <p:nvPr/>
        </p:nvSpPr>
        <p:spPr>
          <a:xfrm>
            <a:off x="1556542" y="10302"/>
            <a:ext cx="26510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如何看待？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56E6ACF-0F7C-4A34-9F14-FC31323873DE}"/>
              </a:ext>
            </a:extLst>
          </p:cNvPr>
          <p:cNvSpPr/>
          <p:nvPr/>
        </p:nvSpPr>
        <p:spPr>
          <a:xfrm>
            <a:off x="768807" y="1590261"/>
            <a:ext cx="3776690" cy="435333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CB7D21-DF15-4614-907D-ADD3597E3652}"/>
              </a:ext>
            </a:extLst>
          </p:cNvPr>
          <p:cNvSpPr txBox="1"/>
          <p:nvPr/>
        </p:nvSpPr>
        <p:spPr>
          <a:xfrm>
            <a:off x="1208966" y="2178553"/>
            <a:ext cx="29985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PingFang SC"/>
              </a:rPr>
              <a:t>网红张诗尧发起的“秋招”活动吸引了大量大学生的积极参与。他们以“摇子”的身份，试图通过短视频和直播展示自己的才艺，以获得加入张诗尧团队的机会。这一现象不仅反映了当前就业市场的严峻形势，更揭示了社会文化、价值观念及年轻一代心理状态等多方面的深层次问题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CA25629-A2FD-4222-845C-47EC8BF456FF}"/>
              </a:ext>
            </a:extLst>
          </p:cNvPr>
          <p:cNvGrpSpPr/>
          <p:nvPr/>
        </p:nvGrpSpPr>
        <p:grpSpPr>
          <a:xfrm>
            <a:off x="5409519" y="2084859"/>
            <a:ext cx="735496" cy="769441"/>
            <a:chOff x="6096001" y="2396285"/>
            <a:chExt cx="735496" cy="769441"/>
          </a:xfrm>
        </p:grpSpPr>
        <p:sp>
          <p:nvSpPr>
            <p:cNvPr id="14" name="8661124Freeform: Shape 8">
              <a:extLst>
                <a:ext uri="{FF2B5EF4-FFF2-40B4-BE49-F238E27FC236}">
                  <a16:creationId xmlns:a16="http://schemas.microsoft.com/office/drawing/2014/main" id="{7B4A157F-EA94-4D09-A6BB-C5060366A4F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6096001" y="2413163"/>
              <a:ext cx="735496" cy="735687"/>
            </a:xfrm>
            <a:custGeom>
              <a:avLst/>
              <a:gdLst>
                <a:gd name="T0" fmla="*/ 106 w 212"/>
                <a:gd name="T1" fmla="*/ 212 h 212"/>
                <a:gd name="T2" fmla="*/ 0 w 212"/>
                <a:gd name="T3" fmla="*/ 106 h 212"/>
                <a:gd name="T4" fmla="*/ 106 w 212"/>
                <a:gd name="T5" fmla="*/ 0 h 212"/>
                <a:gd name="T6" fmla="*/ 212 w 212"/>
                <a:gd name="T7" fmla="*/ 106 h 212"/>
                <a:gd name="T8" fmla="*/ 106 w 212"/>
                <a:gd name="T9" fmla="*/ 212 h 212"/>
                <a:gd name="T10" fmla="*/ 106 w 212"/>
                <a:gd name="T11" fmla="*/ 20 h 212"/>
                <a:gd name="T12" fmla="*/ 20 w 212"/>
                <a:gd name="T13" fmla="*/ 106 h 212"/>
                <a:gd name="T14" fmla="*/ 106 w 212"/>
                <a:gd name="T15" fmla="*/ 192 h 212"/>
                <a:gd name="T16" fmla="*/ 192 w 212"/>
                <a:gd name="T17" fmla="*/ 106 h 212"/>
                <a:gd name="T18" fmla="*/ 106 w 212"/>
                <a:gd name="T19" fmla="*/ 2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2" h="212">
                  <a:moveTo>
                    <a:pt x="106" y="212"/>
                  </a:moveTo>
                  <a:cubicBezTo>
                    <a:pt x="48" y="212"/>
                    <a:pt x="0" y="165"/>
                    <a:pt x="0" y="106"/>
                  </a:cubicBezTo>
                  <a:cubicBezTo>
                    <a:pt x="0" y="48"/>
                    <a:pt x="48" y="0"/>
                    <a:pt x="106" y="0"/>
                  </a:cubicBezTo>
                  <a:cubicBezTo>
                    <a:pt x="165" y="0"/>
                    <a:pt x="212" y="48"/>
                    <a:pt x="212" y="106"/>
                  </a:cubicBezTo>
                  <a:cubicBezTo>
                    <a:pt x="212" y="165"/>
                    <a:pt x="165" y="212"/>
                    <a:pt x="106" y="212"/>
                  </a:cubicBezTo>
                  <a:close/>
                  <a:moveTo>
                    <a:pt x="106" y="20"/>
                  </a:moveTo>
                  <a:cubicBezTo>
                    <a:pt x="59" y="20"/>
                    <a:pt x="20" y="59"/>
                    <a:pt x="20" y="106"/>
                  </a:cubicBezTo>
                  <a:cubicBezTo>
                    <a:pt x="20" y="154"/>
                    <a:pt x="59" y="192"/>
                    <a:pt x="106" y="192"/>
                  </a:cubicBezTo>
                  <a:cubicBezTo>
                    <a:pt x="154" y="192"/>
                    <a:pt x="192" y="154"/>
                    <a:pt x="192" y="106"/>
                  </a:cubicBezTo>
                  <a:cubicBezTo>
                    <a:pt x="192" y="59"/>
                    <a:pt x="154" y="20"/>
                    <a:pt x="106" y="2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1962FEE-9742-4F85-8879-0A040FC3D22B}"/>
                </a:ext>
              </a:extLst>
            </p:cNvPr>
            <p:cNvSpPr txBox="1"/>
            <p:nvPr/>
          </p:nvSpPr>
          <p:spPr>
            <a:xfrm>
              <a:off x="6213906" y="2396285"/>
              <a:ext cx="36511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4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1</a:t>
              </a:r>
              <a:endParaRPr kumimoji="0" lang="zh-CN" altLang="en-US" sz="4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ACE11DD-A185-465F-ABEE-EFDF97D6A5C4}"/>
              </a:ext>
            </a:extLst>
          </p:cNvPr>
          <p:cNvGrpSpPr/>
          <p:nvPr/>
        </p:nvGrpSpPr>
        <p:grpSpPr>
          <a:xfrm>
            <a:off x="5409519" y="4498036"/>
            <a:ext cx="735496" cy="769441"/>
            <a:chOff x="6672471" y="3585850"/>
            <a:chExt cx="735496" cy="769441"/>
          </a:xfrm>
        </p:grpSpPr>
        <p:sp>
          <p:nvSpPr>
            <p:cNvPr id="16" name="8661124Freeform: Shape 8">
              <a:extLst>
                <a:ext uri="{FF2B5EF4-FFF2-40B4-BE49-F238E27FC236}">
                  <a16:creationId xmlns:a16="http://schemas.microsoft.com/office/drawing/2014/main" id="{96407661-D84B-4E83-80F3-61E9FAE7961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6672471" y="3602728"/>
              <a:ext cx="735496" cy="735687"/>
            </a:xfrm>
            <a:custGeom>
              <a:avLst/>
              <a:gdLst>
                <a:gd name="T0" fmla="*/ 106 w 212"/>
                <a:gd name="T1" fmla="*/ 212 h 212"/>
                <a:gd name="T2" fmla="*/ 0 w 212"/>
                <a:gd name="T3" fmla="*/ 106 h 212"/>
                <a:gd name="T4" fmla="*/ 106 w 212"/>
                <a:gd name="T5" fmla="*/ 0 h 212"/>
                <a:gd name="T6" fmla="*/ 212 w 212"/>
                <a:gd name="T7" fmla="*/ 106 h 212"/>
                <a:gd name="T8" fmla="*/ 106 w 212"/>
                <a:gd name="T9" fmla="*/ 212 h 212"/>
                <a:gd name="T10" fmla="*/ 106 w 212"/>
                <a:gd name="T11" fmla="*/ 20 h 212"/>
                <a:gd name="T12" fmla="*/ 20 w 212"/>
                <a:gd name="T13" fmla="*/ 106 h 212"/>
                <a:gd name="T14" fmla="*/ 106 w 212"/>
                <a:gd name="T15" fmla="*/ 192 h 212"/>
                <a:gd name="T16" fmla="*/ 192 w 212"/>
                <a:gd name="T17" fmla="*/ 106 h 212"/>
                <a:gd name="T18" fmla="*/ 106 w 212"/>
                <a:gd name="T19" fmla="*/ 2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2" h="212">
                  <a:moveTo>
                    <a:pt x="106" y="212"/>
                  </a:moveTo>
                  <a:cubicBezTo>
                    <a:pt x="48" y="212"/>
                    <a:pt x="0" y="165"/>
                    <a:pt x="0" y="106"/>
                  </a:cubicBezTo>
                  <a:cubicBezTo>
                    <a:pt x="0" y="48"/>
                    <a:pt x="48" y="0"/>
                    <a:pt x="106" y="0"/>
                  </a:cubicBezTo>
                  <a:cubicBezTo>
                    <a:pt x="165" y="0"/>
                    <a:pt x="212" y="48"/>
                    <a:pt x="212" y="106"/>
                  </a:cubicBezTo>
                  <a:cubicBezTo>
                    <a:pt x="212" y="165"/>
                    <a:pt x="165" y="212"/>
                    <a:pt x="106" y="212"/>
                  </a:cubicBezTo>
                  <a:close/>
                  <a:moveTo>
                    <a:pt x="106" y="20"/>
                  </a:moveTo>
                  <a:cubicBezTo>
                    <a:pt x="59" y="20"/>
                    <a:pt x="20" y="59"/>
                    <a:pt x="20" y="106"/>
                  </a:cubicBezTo>
                  <a:cubicBezTo>
                    <a:pt x="20" y="154"/>
                    <a:pt x="59" y="192"/>
                    <a:pt x="106" y="192"/>
                  </a:cubicBezTo>
                  <a:cubicBezTo>
                    <a:pt x="154" y="192"/>
                    <a:pt x="192" y="154"/>
                    <a:pt x="192" y="106"/>
                  </a:cubicBezTo>
                  <a:cubicBezTo>
                    <a:pt x="192" y="59"/>
                    <a:pt x="154" y="20"/>
                    <a:pt x="106" y="2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021C102-AA00-4856-9931-48EAC9E6B866}"/>
                </a:ext>
              </a:extLst>
            </p:cNvPr>
            <p:cNvSpPr txBox="1"/>
            <p:nvPr/>
          </p:nvSpPr>
          <p:spPr>
            <a:xfrm>
              <a:off x="6790376" y="3585850"/>
              <a:ext cx="36511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en-US" altLang="zh-CN" sz="4400" kern="0" dirty="0">
                  <a:cs typeface="+mn-ea"/>
                  <a:sym typeface="+mn-lt"/>
                </a:rPr>
                <a:t>2</a:t>
              </a:r>
              <a:endParaRPr kumimoji="0" lang="zh-CN" altLang="en-US" sz="4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2034EB1D-B2B2-4EA8-9FE0-524CE0E16967}"/>
              </a:ext>
            </a:extLst>
          </p:cNvPr>
          <p:cNvSpPr/>
          <p:nvPr/>
        </p:nvSpPr>
        <p:spPr>
          <a:xfrm>
            <a:off x="6515393" y="1549237"/>
            <a:ext cx="4585546" cy="20778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6D8432-4B11-432D-A0D3-4051B786A379}"/>
              </a:ext>
            </a:extLst>
          </p:cNvPr>
          <p:cNvSpPr/>
          <p:nvPr/>
        </p:nvSpPr>
        <p:spPr>
          <a:xfrm>
            <a:off x="6515393" y="4026084"/>
            <a:ext cx="4585546" cy="2431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BF42A7-00C7-4BC2-A628-B2B0F8840A67}"/>
              </a:ext>
            </a:extLst>
          </p:cNvPr>
          <p:cNvSpPr txBox="1"/>
          <p:nvPr/>
        </p:nvSpPr>
        <p:spPr>
          <a:xfrm>
            <a:off x="6614930" y="1727933"/>
            <a:ext cx="44860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社会存在决定社会意识：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当前就业市场严峻，高校扩招又导致大学生数量增加，而岗位增长不足，这种社会现实使得大部分大学生将目光投入网红产业，张诗尧的“秋招”就是很好的例子，吸引众多大学生参与。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DC1F49F-A4D1-4B1B-AB6A-5BC7B0F10736}"/>
              </a:ext>
            </a:extLst>
          </p:cNvPr>
          <p:cNvSpPr txBox="1"/>
          <p:nvPr/>
        </p:nvSpPr>
        <p:spPr>
          <a:xfrm>
            <a:off x="6614930" y="4118362"/>
            <a:ext cx="44860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社会意识对社会存在具有反作用：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这一现象也揭示了社会对成功的单一追求。在当今社会，名利和地位往往被视为成功的标志。许多大学生为了能够在社会中立足，不惜放弃自己的兴趣和理想，去追逐那些看似光鲜亮丽的职业。然而，这种对成功的单一追求不仅让他们失去了自我，也让他们陷入了焦虑和迷茫之中。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31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7D5230EC-BCFA-4E06-9ECC-887D4C9E5BC9}"/>
              </a:ext>
            </a:extLst>
          </p:cNvPr>
          <p:cNvSpPr/>
          <p:nvPr/>
        </p:nvSpPr>
        <p:spPr bwMode="auto">
          <a:xfrm>
            <a:off x="948219" y="2078967"/>
            <a:ext cx="1029571" cy="1350033"/>
          </a:xfrm>
          <a:custGeom>
            <a:avLst/>
            <a:gdLst>
              <a:gd name="T0" fmla="*/ 577 w 577"/>
              <a:gd name="T1" fmla="*/ 0 h 1119"/>
              <a:gd name="T2" fmla="*/ 577 w 577"/>
              <a:gd name="T3" fmla="*/ 1119 h 1119"/>
              <a:gd name="T4" fmla="*/ 288 w 577"/>
              <a:gd name="T5" fmla="*/ 840 h 1119"/>
              <a:gd name="T6" fmla="*/ 0 w 577"/>
              <a:gd name="T7" fmla="*/ 1118 h 1119"/>
              <a:gd name="T8" fmla="*/ 0 w 577"/>
              <a:gd name="T9" fmla="*/ 0 h 1119"/>
              <a:gd name="T10" fmla="*/ 577 w 577"/>
              <a:gd name="T11" fmla="*/ 0 h 1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7" h="1119">
                <a:moveTo>
                  <a:pt x="577" y="0"/>
                </a:moveTo>
                <a:lnTo>
                  <a:pt x="577" y="1119"/>
                </a:lnTo>
                <a:lnTo>
                  <a:pt x="288" y="840"/>
                </a:lnTo>
                <a:lnTo>
                  <a:pt x="0" y="1118"/>
                </a:lnTo>
                <a:lnTo>
                  <a:pt x="0" y="0"/>
                </a:lnTo>
                <a:lnTo>
                  <a:pt x="577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3" tIns="60941" rIns="121883" bIns="60941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732F5E2-3195-4967-8D49-825F2F5CCB3C}"/>
              </a:ext>
            </a:extLst>
          </p:cNvPr>
          <p:cNvGrpSpPr/>
          <p:nvPr/>
        </p:nvGrpSpPr>
        <p:grpSpPr>
          <a:xfrm rot="10800000">
            <a:off x="10807989" y="5644468"/>
            <a:ext cx="4792970" cy="2678458"/>
            <a:chOff x="-3388828" y="-1415011"/>
            <a:chExt cx="4792970" cy="2678458"/>
          </a:xfrm>
        </p:grpSpPr>
        <p:sp>
          <p:nvSpPr>
            <p:cNvPr id="2" name="圆角矩形 18">
              <a:extLst>
                <a:ext uri="{FF2B5EF4-FFF2-40B4-BE49-F238E27FC236}">
                  <a16:creationId xmlns:a16="http://schemas.microsoft.com/office/drawing/2014/main" id="{0510CB12-7856-4764-A2A1-CBEA4E9AD42C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3" name="圆角矩形 18">
              <a:extLst>
                <a:ext uri="{FF2B5EF4-FFF2-40B4-BE49-F238E27FC236}">
                  <a16:creationId xmlns:a16="http://schemas.microsoft.com/office/drawing/2014/main" id="{F625B1A7-AA87-499B-AD73-B155AACAF85F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61B74BF-E203-44B2-BCAA-1F965909E60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71AEE7-672A-46B4-B2D7-C421193A6D29}"/>
              </a:ext>
            </a:extLst>
          </p:cNvPr>
          <p:cNvGrpSpPr/>
          <p:nvPr/>
        </p:nvGrpSpPr>
        <p:grpSpPr>
          <a:xfrm>
            <a:off x="-3236428" y="-1262611"/>
            <a:ext cx="4792970" cy="2678458"/>
            <a:chOff x="-3388828" y="-1415011"/>
            <a:chExt cx="4792970" cy="2678458"/>
          </a:xfrm>
        </p:grpSpPr>
        <p:sp>
          <p:nvSpPr>
            <p:cNvPr id="10" name="圆角矩形 18">
              <a:extLst>
                <a:ext uri="{FF2B5EF4-FFF2-40B4-BE49-F238E27FC236}">
                  <a16:creationId xmlns:a16="http://schemas.microsoft.com/office/drawing/2014/main" id="{CA79DA5B-432E-4814-A30D-85B9615E7595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1" name="圆角矩形 18">
              <a:extLst>
                <a:ext uri="{FF2B5EF4-FFF2-40B4-BE49-F238E27FC236}">
                  <a16:creationId xmlns:a16="http://schemas.microsoft.com/office/drawing/2014/main" id="{BE0AF65B-95B3-4EFE-8438-07223E322BC4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171F40-8625-4E0A-8A90-AAB9CF3B8EB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5CF0E31-881D-45DE-8125-E770A065C115}"/>
              </a:ext>
            </a:extLst>
          </p:cNvPr>
          <p:cNvSpPr txBox="1"/>
          <p:nvPr/>
        </p:nvSpPr>
        <p:spPr>
          <a:xfrm>
            <a:off x="1496907" y="10302"/>
            <a:ext cx="51093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马克思主义怎么说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471A00-CF06-4989-828A-5C99E18FE2DF}"/>
              </a:ext>
            </a:extLst>
          </p:cNvPr>
          <p:cNvSpPr txBox="1"/>
          <p:nvPr/>
        </p:nvSpPr>
        <p:spPr>
          <a:xfrm>
            <a:off x="1556542" y="956388"/>
            <a:ext cx="9422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马克思主义唯物辩证法强调世界是普遍联系的，任何事物的发展都具有内在的矛盾性。网红产业作为一种新的社会现象，既有其积极的作用，也有其潜在的消极影响。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A71593-FC2F-4DA8-866A-FCBCD9412545}"/>
              </a:ext>
            </a:extLst>
          </p:cNvPr>
          <p:cNvSpPr txBox="1"/>
          <p:nvPr/>
        </p:nvSpPr>
        <p:spPr>
          <a:xfrm>
            <a:off x="1032914" y="2382562"/>
            <a:ext cx="826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机遇？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0F13594-B0A4-44F5-B0A9-9BA2B67DB4D2}"/>
              </a:ext>
            </a:extLst>
          </p:cNvPr>
          <p:cNvSpPr/>
          <p:nvPr/>
        </p:nvSpPr>
        <p:spPr>
          <a:xfrm>
            <a:off x="2709480" y="1779364"/>
            <a:ext cx="6918224" cy="484009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FBE014-5BFA-45C8-AE2B-B283F284D958}"/>
              </a:ext>
            </a:extLst>
          </p:cNvPr>
          <p:cNvSpPr txBox="1"/>
          <p:nvPr/>
        </p:nvSpPr>
        <p:spPr>
          <a:xfrm>
            <a:off x="2990631" y="1964506"/>
            <a:ext cx="655411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对于很多大学生来说，网红产业带来了前所未有的机会。通过社交平台、直播、短视频等方式，许多普通大学生能够迅速积累人气，甚至脱颖而出，获得经济收益和社会认可。这种机会本身并无好坏之分，它反映了社会生产力和传播方式的变革。正如马克思所说，“生产力的发展是历史进步的动力”，新兴的网络平台无疑赋予了个体更多的创造与展示空间。对于大学生而言，这样的平台无疑是一种实现自我价值、获得经济自由的可能路径。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以李子柒为例，她通过精致的视频作品展示了中国传统文化的魅力，尤其是非遗文化的传承，不仅为中国文化的传播贡献了力量，也为广大观众提供了一种宁静、自然、回归本源的生活方式。这类“正能量”网红通过内容的深度与独特性，能够激发年轻一代对传统文化的认同与热爱，成为时代文化传播的重要推手。马克思主义的历史唯物主义告诉我们，文化的发展与社会需求息息相关，李子柒正是通过迎合当代人对“归属感”和“文化认同”的需求，成功赢得了广泛的关注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249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/>
      <p:bldP spid="15" grpId="0"/>
      <p:bldP spid="17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7D5230EC-BCFA-4E06-9ECC-887D4C9E5BC9}"/>
              </a:ext>
            </a:extLst>
          </p:cNvPr>
          <p:cNvSpPr/>
          <p:nvPr/>
        </p:nvSpPr>
        <p:spPr bwMode="auto">
          <a:xfrm>
            <a:off x="948219" y="2078967"/>
            <a:ext cx="1029571" cy="1350033"/>
          </a:xfrm>
          <a:custGeom>
            <a:avLst/>
            <a:gdLst>
              <a:gd name="T0" fmla="*/ 577 w 577"/>
              <a:gd name="T1" fmla="*/ 0 h 1119"/>
              <a:gd name="T2" fmla="*/ 577 w 577"/>
              <a:gd name="T3" fmla="*/ 1119 h 1119"/>
              <a:gd name="T4" fmla="*/ 288 w 577"/>
              <a:gd name="T5" fmla="*/ 840 h 1119"/>
              <a:gd name="T6" fmla="*/ 0 w 577"/>
              <a:gd name="T7" fmla="*/ 1118 h 1119"/>
              <a:gd name="T8" fmla="*/ 0 w 577"/>
              <a:gd name="T9" fmla="*/ 0 h 1119"/>
              <a:gd name="T10" fmla="*/ 577 w 577"/>
              <a:gd name="T11" fmla="*/ 0 h 1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7" h="1119">
                <a:moveTo>
                  <a:pt x="577" y="0"/>
                </a:moveTo>
                <a:lnTo>
                  <a:pt x="577" y="1119"/>
                </a:lnTo>
                <a:lnTo>
                  <a:pt x="288" y="840"/>
                </a:lnTo>
                <a:lnTo>
                  <a:pt x="0" y="1118"/>
                </a:lnTo>
                <a:lnTo>
                  <a:pt x="0" y="0"/>
                </a:lnTo>
                <a:lnTo>
                  <a:pt x="577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3" tIns="60941" rIns="121883" bIns="60941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732F5E2-3195-4967-8D49-825F2F5CCB3C}"/>
              </a:ext>
            </a:extLst>
          </p:cNvPr>
          <p:cNvGrpSpPr/>
          <p:nvPr/>
        </p:nvGrpSpPr>
        <p:grpSpPr>
          <a:xfrm rot="10800000">
            <a:off x="10807989" y="5644468"/>
            <a:ext cx="4792970" cy="2678458"/>
            <a:chOff x="-3388828" y="-1415011"/>
            <a:chExt cx="4792970" cy="2678458"/>
          </a:xfrm>
        </p:grpSpPr>
        <p:sp>
          <p:nvSpPr>
            <p:cNvPr id="2" name="圆角矩形 18">
              <a:extLst>
                <a:ext uri="{FF2B5EF4-FFF2-40B4-BE49-F238E27FC236}">
                  <a16:creationId xmlns:a16="http://schemas.microsoft.com/office/drawing/2014/main" id="{0510CB12-7856-4764-A2A1-CBEA4E9AD42C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3" name="圆角矩形 18">
              <a:extLst>
                <a:ext uri="{FF2B5EF4-FFF2-40B4-BE49-F238E27FC236}">
                  <a16:creationId xmlns:a16="http://schemas.microsoft.com/office/drawing/2014/main" id="{F625B1A7-AA87-499B-AD73-B155AACAF85F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61B74BF-E203-44B2-BCAA-1F965909E60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71AEE7-672A-46B4-B2D7-C421193A6D29}"/>
              </a:ext>
            </a:extLst>
          </p:cNvPr>
          <p:cNvGrpSpPr/>
          <p:nvPr/>
        </p:nvGrpSpPr>
        <p:grpSpPr>
          <a:xfrm>
            <a:off x="-3236428" y="-1262611"/>
            <a:ext cx="4792970" cy="2678458"/>
            <a:chOff x="-3388828" y="-1415011"/>
            <a:chExt cx="4792970" cy="2678458"/>
          </a:xfrm>
        </p:grpSpPr>
        <p:sp>
          <p:nvSpPr>
            <p:cNvPr id="10" name="圆角矩形 18">
              <a:extLst>
                <a:ext uri="{FF2B5EF4-FFF2-40B4-BE49-F238E27FC236}">
                  <a16:creationId xmlns:a16="http://schemas.microsoft.com/office/drawing/2014/main" id="{CA79DA5B-432E-4814-A30D-85B9615E7595}"/>
                </a:ext>
              </a:extLst>
            </p:cNvPr>
            <p:cNvSpPr/>
            <p:nvPr/>
          </p:nvSpPr>
          <p:spPr>
            <a:xfrm flipV="1">
              <a:off x="-3388828" y="-778907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1" name="圆角矩形 18">
              <a:extLst>
                <a:ext uri="{FF2B5EF4-FFF2-40B4-BE49-F238E27FC236}">
                  <a16:creationId xmlns:a16="http://schemas.microsoft.com/office/drawing/2014/main" id="{BE0AF65B-95B3-4EFE-8438-07223E322BC4}"/>
                </a:ext>
              </a:extLst>
            </p:cNvPr>
            <p:cNvSpPr/>
            <p:nvPr/>
          </p:nvSpPr>
          <p:spPr>
            <a:xfrm flipV="1">
              <a:off x="-2533293" y="-1415011"/>
              <a:ext cx="3937435" cy="2042354"/>
            </a:xfrm>
            <a:prstGeom prst="roundRect">
              <a:avLst>
                <a:gd name="adj" fmla="val 15038"/>
              </a:avLst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171F40-8625-4E0A-8A90-AAB9CF3B8EB0}"/>
                </a:ext>
              </a:extLst>
            </p:cNvPr>
            <p:cNvSpPr/>
            <p:nvPr/>
          </p:nvSpPr>
          <p:spPr>
            <a:xfrm flipV="1">
              <a:off x="371961" y="450697"/>
              <a:ext cx="353291" cy="35329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5CF0E31-881D-45DE-8125-E770A065C115}"/>
              </a:ext>
            </a:extLst>
          </p:cNvPr>
          <p:cNvSpPr txBox="1"/>
          <p:nvPr/>
        </p:nvSpPr>
        <p:spPr>
          <a:xfrm>
            <a:off x="1496907" y="10302"/>
            <a:ext cx="51093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马克思主义怎么说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471A00-CF06-4989-828A-5C99E18FE2DF}"/>
              </a:ext>
            </a:extLst>
          </p:cNvPr>
          <p:cNvSpPr txBox="1"/>
          <p:nvPr/>
        </p:nvSpPr>
        <p:spPr>
          <a:xfrm>
            <a:off x="1556542" y="956388"/>
            <a:ext cx="9422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马克思主义唯物辩证法强调世界是普遍联系的，任何事物的发展都具有内在的矛盾性。网红产业作为一种新的社会现象，既有其积极的作用，也有其潜在的消极影响。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A71593-FC2F-4DA8-866A-FCBCD9412545}"/>
              </a:ext>
            </a:extLst>
          </p:cNvPr>
          <p:cNvSpPr txBox="1"/>
          <p:nvPr/>
        </p:nvSpPr>
        <p:spPr>
          <a:xfrm>
            <a:off x="1032914" y="2382562"/>
            <a:ext cx="826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挑战？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0F13594-B0A4-44F5-B0A9-9BA2B67DB4D2}"/>
              </a:ext>
            </a:extLst>
          </p:cNvPr>
          <p:cNvSpPr/>
          <p:nvPr/>
        </p:nvSpPr>
        <p:spPr>
          <a:xfrm>
            <a:off x="2709480" y="1779364"/>
            <a:ext cx="6918224" cy="484009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FBE014-5BFA-45C8-AE2B-B283F284D958}"/>
              </a:ext>
            </a:extLst>
          </p:cNvPr>
          <p:cNvSpPr txBox="1"/>
          <p:nvPr/>
        </p:nvSpPr>
        <p:spPr>
          <a:xfrm>
            <a:off x="2990631" y="1834583"/>
            <a:ext cx="655411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然而，正如辩证法所揭示的，每个事物的存在都是相对的，它们的对立面同样存在。网红行业的蓬勃发展，也带来了价值观的错乱和社会风气的扭曲。羊毛月以“北大研究生”的身份自居，空有一个光鲜的“外壳”，却通过傲慢姿态，站在高高的道德制高点，指责社会的底层和普通人。羊毛月就是一个典型代表。他的行为体现了资本和流量对个人价值的扭曲，将社会和经济结构中的不平等加以固化，而不是通过自我反思来推动社会的进步。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另外，我们需要牢记一点，网红的发展是迅速变化且充满“戏剧性”的，或许某一时刻一个热点的爆发，促成了一位“新星”的诞生，或许某一时刻运气爆棚，瞬间成为了众人所说的“人上人”，可不久后，当风浪过去，众多网红又淡出人们的视野，你是否还记得前段时间所感兴趣的某个视频，是否还记得前些日子特别火的那个谁谁谁？快餐化的时代让人们都渐趋“效率化”地生活，那些我们曾经追过的星，也随着时间有些依然闪烁于星空，有些却沉寂于黑夜，最后我想说的是，在今后追随潮流的进程中，被圈粉于某个新网红时，不妨让子弹再飞一会。</a:t>
            </a:r>
          </a:p>
        </p:txBody>
      </p:sp>
    </p:spTree>
    <p:extLst>
      <p:ext uri="{BB962C8B-B14F-4D97-AF65-F5344CB8AC3E}">
        <p14:creationId xmlns:p14="http://schemas.microsoft.com/office/powerpoint/2010/main" val="352758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/>
      <p:bldP spid="15" grpId="0"/>
      <p:bldP spid="17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754314" y="2554068"/>
            <a:ext cx="6260898" cy="1224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cs typeface="+mn-ea"/>
                <a:sym typeface="+mn-lt"/>
              </a:rPr>
              <a:t>谢谢观看！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599773" y="341832"/>
            <a:ext cx="11027450" cy="6072659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2" name="圆角矩形 31"/>
          <p:cNvSpPr/>
          <p:nvPr/>
        </p:nvSpPr>
        <p:spPr>
          <a:xfrm flipV="1">
            <a:off x="-115541" y="-407846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3" name="椭圆 32"/>
          <p:cNvSpPr/>
          <p:nvPr/>
        </p:nvSpPr>
        <p:spPr>
          <a:xfrm flipV="1">
            <a:off x="423127" y="1473120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889914" y="5146184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1450577" y="4969538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  <p:tag name="KSO_WPP_MARK_KEY" val="e0b31fbc-dd69-4fa4-9e08-ff364e41fd26"/>
  <p:tag name="COMMONDATA" val="eyJoZGlkIjoiYjNkNDYxMmIwNmM5NTY2OTdkODYxNGM2OGY2YmI2O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slus3pf">
      <a:majorFont>
        <a:latin typeface="造字工房悦黑体验版纤细体"/>
        <a:ea typeface="造字工房悦黑体验版纤细体"/>
        <a:cs typeface=""/>
      </a:majorFont>
      <a:minorFont>
        <a:latin typeface="造字工房悦黑体验版纤细体"/>
        <a:ea typeface="造字工房悦黑体验版纤细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slus3pf">
      <a:majorFont>
        <a:latin typeface="造字工房悦黑体验版纤细体"/>
        <a:ea typeface="造字工房悦黑体验版纤细体"/>
        <a:cs typeface=""/>
      </a:majorFont>
      <a:minorFont>
        <a:latin typeface="造字工房悦黑体验版纤细体"/>
        <a:ea typeface="造字工房悦黑体验版纤细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1056</Words>
  <Application>Microsoft Office PowerPoint</Application>
  <PresentationFormat>宽屏</PresentationFormat>
  <Paragraphs>25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PingFang SC</vt:lpstr>
      <vt:lpstr>DengXian</vt:lpstr>
      <vt:lpstr>思源黑体</vt:lpstr>
      <vt:lpstr>微软雅黑</vt:lpstr>
      <vt:lpstr>造字工房悦黑体验版纤细体</vt:lpstr>
      <vt:lpstr>Arial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极简黑白</dc:title>
  <dc:creator>第一PPT</dc:creator>
  <cp:keywords>www.1ppt.com</cp:keywords>
  <dc:description>www.1ppt.com</dc:description>
  <cp:lastModifiedBy>泽辉</cp:lastModifiedBy>
  <cp:revision>46</cp:revision>
  <dcterms:created xsi:type="dcterms:W3CDTF">2018-06-17T04:53:00Z</dcterms:created>
  <dcterms:modified xsi:type="dcterms:W3CDTF">2026-03-19T07:54:14Z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DC1139D8EC0C4FDEABA2DBB49A713C4D_12</vt:lpwstr>
  </property>
  <property fmtid="{D5CDD505-2E9C-101B-9397-08002B2CF9AE}" pid="3" name="KSOProductBuildVer">
    <vt:lpwstr>2052-11.1.0.14309</vt:lpwstr>
  </property>
</Properties>
</file>