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1" r:id="rId6"/>
    <p:sldId id="272" r:id="rId7"/>
    <p:sldId id="261" r:id="rId8"/>
    <p:sldId id="262" r:id="rId9"/>
    <p:sldId id="263" r:id="rId10"/>
    <p:sldId id="265" r:id="rId11"/>
    <p:sldId id="266" r:id="rId12"/>
    <p:sldId id="264" r:id="rId13"/>
    <p:sldId id="269" r:id="rId14"/>
    <p:sldId id="270" r:id="rId15"/>
  </p:sldIdLst>
  <p:sldSz cx="18288000" cy="10287000"/>
  <p:notesSz cx="6858000" cy="9144000"/>
  <p:embeddedFontLst>
    <p:embeddedFont>
      <p:font typeface="字由点字倔强黑" panose="02010600030101010101" charset="-122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黑体" panose="02010609060101010101" pitchFamily="49" charset="-122"/>
      <p:regular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62" d="100"/>
          <a:sy n="62" d="100"/>
        </p:scale>
        <p:origin x="70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#1" loCatId="process" qsTypeId="urn:microsoft.com/office/officeart/2005/8/quickstyle/simple1#1" qsCatId="simple" csTypeId="urn:microsoft.com/office/officeart/2005/8/colors/accent1_2#1" csCatId="accent1" phldr="0"/>
      <dgm:spPr/>
    </dgm:pt>
    <dgm:pt modelId="{1034FEB5-A03A-4CA2-A076-E8EC6ED5FE3D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/>
            <a:t>机制设置合理有效</a:t>
          </a:r>
        </a:p>
      </dgm:t>
    </dgm:pt>
    <dgm:pt modelId="{02FFF727-8F6D-4C0C-8965-23714FFE0D46}" type="parTrans" cxnId="{AE158359-DB02-4EBC-BA58-FBAD5B11A4FD}">
      <dgm:prSet/>
      <dgm:spPr/>
    </dgm:pt>
    <dgm:pt modelId="{27627A2C-C31B-48C3-8561-218EEA6BB751}" type="sibTrans" cxnId="{AE158359-DB02-4EBC-BA58-FBAD5B11A4FD}">
      <dgm:prSet/>
      <dgm:spPr/>
    </dgm:pt>
    <dgm:pt modelId="{07804D65-B857-43DC-8AF8-F5310C8A9254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>
              <a:latin typeface="微软雅黑" panose="020B0503020204020204" charset="-122"/>
              <a:ea typeface="微软雅黑" panose="020B0503020204020204" charset="-122"/>
            </a:rPr>
            <a:t>市场空缺大</a:t>
          </a:r>
        </a:p>
      </dgm:t>
    </dgm:pt>
    <dgm:pt modelId="{B0C8065F-D400-41C9-B576-EDC25611F23D}" type="parTrans" cxnId="{C68A8775-9E24-47BE-A168-5618552F9F50}">
      <dgm:prSet/>
      <dgm:spPr/>
    </dgm:pt>
    <dgm:pt modelId="{033D64D5-CC10-4917-BAD2-C3D556F9C854}" type="sibTrans" cxnId="{C68A8775-9E24-47BE-A168-5618552F9F50}">
      <dgm:prSet/>
      <dgm:spPr/>
    </dgm:pt>
    <dgm:pt modelId="{8606FE70-AF6E-4175-8F14-FE0F24E767EB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4400">
            <a:latin typeface="微软雅黑" panose="020B0503020204020204" charset="-122"/>
            <a:ea typeface="微软雅黑" panose="020B0503020204020204" charset="-122"/>
          </a:endParaRPr>
        </a:p>
      </dgm:t>
    </dgm:pt>
    <dgm:pt modelId="{A7135B97-5F0E-4193-8AE0-86BE29E17076}" type="parTrans" cxnId="{B44AF6BC-941D-49AD-A121-10FE15D20037}">
      <dgm:prSet/>
      <dgm:spPr/>
    </dgm:pt>
    <dgm:pt modelId="{BE7B0713-70AB-4DA3-B6EB-D54F04680FC9}" type="sibTrans" cxnId="{B44AF6BC-941D-49AD-A121-10FE15D20037}">
      <dgm:prSet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  <dgm:pt modelId="{A7714133-905D-4994-BEED-F8C5B479726D}" type="pres">
      <dgm:prSet presAssocID="{00C3FF9A-D14D-4FEF-AB1B-9A37301A6284}" presName="arrow" presStyleLbl="bgShp" presStyleIdx="0" presStyleCnt="1"/>
      <dgm:spPr/>
    </dgm:pt>
    <dgm:pt modelId="{052832B6-721F-41BC-BB07-0E7200FF9BB3}" type="pres">
      <dgm:prSet presAssocID="{00C3FF9A-D14D-4FEF-AB1B-9A37301A6284}" presName="arrowDiagram3" presStyleCnt="0"/>
      <dgm:spPr/>
    </dgm:pt>
    <dgm:pt modelId="{CE869124-7AF6-4161-807B-EED43EBB4DDA}" type="pres">
      <dgm:prSet presAssocID="{1034FEB5-A03A-4CA2-A076-E8EC6ED5FE3D}" presName="bullet3a" presStyleLbl="node1" presStyleIdx="0" presStyleCnt="3"/>
      <dgm:spPr/>
    </dgm:pt>
    <dgm:pt modelId="{BA26A4E9-4AE2-42DB-AE25-A9132A5F87A8}" type="pres">
      <dgm:prSet presAssocID="{1034FEB5-A03A-4CA2-A076-E8EC6ED5FE3D}" presName="textBox3a" presStyleLbl="revTx" presStyleIdx="0" presStyleCnt="3">
        <dgm:presLayoutVars>
          <dgm:bulletEnabled val="1"/>
        </dgm:presLayoutVars>
      </dgm:prSet>
      <dgm:spPr/>
    </dgm:pt>
    <dgm:pt modelId="{133B1644-2587-4D7F-B67D-6D81855D4046}" type="pres">
      <dgm:prSet presAssocID="{07804D65-B857-43DC-8AF8-F5310C8A9254}" presName="bullet3b" presStyleLbl="node1" presStyleIdx="1" presStyleCnt="3"/>
      <dgm:spPr/>
    </dgm:pt>
    <dgm:pt modelId="{EBBDF3BA-41CE-430B-B3E9-E71FAE47D0E3}" type="pres">
      <dgm:prSet presAssocID="{07804D65-B857-43DC-8AF8-F5310C8A9254}" presName="textBox3b" presStyleLbl="revTx" presStyleIdx="1" presStyleCnt="3">
        <dgm:presLayoutVars>
          <dgm:bulletEnabled val="1"/>
        </dgm:presLayoutVars>
      </dgm:prSet>
      <dgm:spPr/>
    </dgm:pt>
    <dgm:pt modelId="{61ECD666-B2E5-46DC-8842-3B7561C8DC34}" type="pres">
      <dgm:prSet presAssocID="{8606FE70-AF6E-4175-8F14-FE0F24E767EB}" presName="bullet3c" presStyleLbl="node1" presStyleIdx="2" presStyleCnt="3"/>
      <dgm:spPr/>
    </dgm:pt>
    <dgm:pt modelId="{DF0CDB76-03D3-4BEF-AA13-668011A3FA1A}" type="pres">
      <dgm:prSet presAssocID="{8606FE70-AF6E-4175-8F14-FE0F24E767EB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1FE75211-4A10-4F04-B35F-7472306DD11C}" type="presOf" srcId="{00C3FF9A-D14D-4FEF-AB1B-9A37301A6284}" destId="{559C2B3A-379F-4C35-A339-5499CB042C33}" srcOrd="0" destOrd="0" presId="urn:microsoft.com/office/officeart/2005/8/layout/arrow2#1"/>
    <dgm:cxn modelId="{5F04645D-CAFA-47D0-A656-49D086301540}" type="presOf" srcId="{07804D65-B857-43DC-8AF8-F5310C8A9254}" destId="{EBBDF3BA-41CE-430B-B3E9-E71FAE47D0E3}" srcOrd="0" destOrd="0" presId="urn:microsoft.com/office/officeart/2005/8/layout/arrow2#1"/>
    <dgm:cxn modelId="{C68A8775-9E24-47BE-A168-5618552F9F50}" srcId="{00C3FF9A-D14D-4FEF-AB1B-9A37301A6284}" destId="{07804D65-B857-43DC-8AF8-F5310C8A9254}" srcOrd="1" destOrd="0" parTransId="{B0C8065F-D400-41C9-B576-EDC25611F23D}" sibTransId="{033D64D5-CC10-4917-BAD2-C3D556F9C854}"/>
    <dgm:cxn modelId="{AE158359-DB02-4EBC-BA58-FBAD5B11A4FD}" srcId="{00C3FF9A-D14D-4FEF-AB1B-9A37301A6284}" destId="{1034FEB5-A03A-4CA2-A076-E8EC6ED5FE3D}" srcOrd="0" destOrd="0" parTransId="{02FFF727-8F6D-4C0C-8965-23714FFE0D46}" sibTransId="{27627A2C-C31B-48C3-8561-218EEA6BB751}"/>
    <dgm:cxn modelId="{1145D879-0462-4413-8B94-0223996F1DCA}" type="presOf" srcId="{8606FE70-AF6E-4175-8F14-FE0F24E767EB}" destId="{DF0CDB76-03D3-4BEF-AA13-668011A3FA1A}" srcOrd="0" destOrd="0" presId="urn:microsoft.com/office/officeart/2005/8/layout/arrow2#1"/>
    <dgm:cxn modelId="{EA141780-2097-4B63-B54A-D5B7ADCBBF06}" type="presOf" srcId="{1034FEB5-A03A-4CA2-A076-E8EC6ED5FE3D}" destId="{BA26A4E9-4AE2-42DB-AE25-A9132A5F87A8}" srcOrd="0" destOrd="0" presId="urn:microsoft.com/office/officeart/2005/8/layout/arrow2#1"/>
    <dgm:cxn modelId="{B44AF6BC-941D-49AD-A121-10FE15D20037}" srcId="{00C3FF9A-D14D-4FEF-AB1B-9A37301A6284}" destId="{8606FE70-AF6E-4175-8F14-FE0F24E767EB}" srcOrd="2" destOrd="0" parTransId="{A7135B97-5F0E-4193-8AE0-86BE29E17076}" sibTransId="{BE7B0713-70AB-4DA3-B6EB-D54F04680FC9}"/>
    <dgm:cxn modelId="{6C5CF801-5B84-4704-AC18-C5896C13E3F0}" type="presParOf" srcId="{559C2B3A-379F-4C35-A339-5499CB042C33}" destId="{A7714133-905D-4994-BEED-F8C5B479726D}" srcOrd="0" destOrd="0" presId="urn:microsoft.com/office/officeart/2005/8/layout/arrow2#1"/>
    <dgm:cxn modelId="{CD740B0C-C4C0-49D5-A103-B7CCBA6790B5}" type="presParOf" srcId="{559C2B3A-379F-4C35-A339-5499CB042C33}" destId="{052832B6-721F-41BC-BB07-0E7200FF9BB3}" srcOrd="1" destOrd="0" presId="urn:microsoft.com/office/officeart/2005/8/layout/arrow2#1"/>
    <dgm:cxn modelId="{187BD5B8-86A1-48C1-896F-359BDDEE7D10}" type="presParOf" srcId="{052832B6-721F-41BC-BB07-0E7200FF9BB3}" destId="{CE869124-7AF6-4161-807B-EED43EBB4DDA}" srcOrd="0" destOrd="0" presId="urn:microsoft.com/office/officeart/2005/8/layout/arrow2#1"/>
    <dgm:cxn modelId="{1ECD17A6-D0A5-48AF-AE80-E460F12A54F5}" type="presParOf" srcId="{052832B6-721F-41BC-BB07-0E7200FF9BB3}" destId="{BA26A4E9-4AE2-42DB-AE25-A9132A5F87A8}" srcOrd="1" destOrd="0" presId="urn:microsoft.com/office/officeart/2005/8/layout/arrow2#1"/>
    <dgm:cxn modelId="{8F734D74-4D8A-45C8-9E54-3623A05C9C17}" type="presParOf" srcId="{052832B6-721F-41BC-BB07-0E7200FF9BB3}" destId="{133B1644-2587-4D7F-B67D-6D81855D4046}" srcOrd="2" destOrd="0" presId="urn:microsoft.com/office/officeart/2005/8/layout/arrow2#1"/>
    <dgm:cxn modelId="{6C7F9B86-FA06-441E-A6DF-7960E1101D5C}" type="presParOf" srcId="{052832B6-721F-41BC-BB07-0E7200FF9BB3}" destId="{EBBDF3BA-41CE-430B-B3E9-E71FAE47D0E3}" srcOrd="3" destOrd="0" presId="urn:microsoft.com/office/officeart/2005/8/layout/arrow2#1"/>
    <dgm:cxn modelId="{A02CF486-3222-4F67-AA43-137F218618DC}" type="presParOf" srcId="{052832B6-721F-41BC-BB07-0E7200FF9BB3}" destId="{61ECD666-B2E5-46DC-8842-3B7561C8DC34}" srcOrd="4" destOrd="0" presId="urn:microsoft.com/office/officeart/2005/8/layout/arrow2#1"/>
    <dgm:cxn modelId="{385252F8-E285-4F4C-B24D-2F6FB7D38FAB}" type="presParOf" srcId="{052832B6-721F-41BC-BB07-0E7200FF9BB3}" destId="{DF0CDB76-03D3-4BEF-AA13-668011A3FA1A}" srcOrd="5" destOrd="0" presId="urn:microsoft.com/office/officeart/2005/8/layout/arrow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14133-905D-4994-BEED-F8C5B479726D}">
      <dsp:nvSpPr>
        <dsp:cNvPr id="0" name=""/>
        <dsp:cNvSpPr/>
      </dsp:nvSpPr>
      <dsp:spPr>
        <a:xfrm>
          <a:off x="343026" y="0"/>
          <a:ext cx="10867136" cy="679196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69124-7AF6-4161-807B-EED43EBB4DDA}">
      <dsp:nvSpPr>
        <dsp:cNvPr id="0" name=""/>
        <dsp:cNvSpPr/>
      </dsp:nvSpPr>
      <dsp:spPr>
        <a:xfrm>
          <a:off x="1723153" y="4687810"/>
          <a:ext cx="282545" cy="282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6A4E9-4AE2-42DB-AE25-A9132A5F87A8}">
      <dsp:nvSpPr>
        <dsp:cNvPr id="0" name=""/>
        <dsp:cNvSpPr/>
      </dsp:nvSpPr>
      <dsp:spPr bwMode="white">
        <a:xfrm>
          <a:off x="1864426" y="4829083"/>
          <a:ext cx="2532042" cy="1962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715" tIns="0" rIns="0" bIns="0" numCol="1" spcCol="1270" anchor="t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400" kern="1200"/>
            <a:t>机制设置合理有效</a:t>
          </a:r>
        </a:p>
      </dsp:txBody>
      <dsp:txXfrm>
        <a:off x="1864426" y="4829083"/>
        <a:ext cx="2532042" cy="1962876"/>
      </dsp:txXfrm>
    </dsp:sp>
    <dsp:sp modelId="{133B1644-2587-4D7F-B67D-6D81855D4046}">
      <dsp:nvSpPr>
        <dsp:cNvPr id="0" name=""/>
        <dsp:cNvSpPr/>
      </dsp:nvSpPr>
      <dsp:spPr>
        <a:xfrm>
          <a:off x="4217160" y="2841756"/>
          <a:ext cx="510755" cy="510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DF3BA-41CE-430B-B3E9-E71FAE47D0E3}">
      <dsp:nvSpPr>
        <dsp:cNvPr id="0" name=""/>
        <dsp:cNvSpPr/>
      </dsp:nvSpPr>
      <dsp:spPr bwMode="white">
        <a:xfrm>
          <a:off x="4472538" y="3097133"/>
          <a:ext cx="2608112" cy="3694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639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>
              <a:latin typeface="微软雅黑" panose="020B0503020204020204" charset="-122"/>
              <a:ea typeface="微软雅黑" panose="020B0503020204020204" charset="-122"/>
            </a:rPr>
            <a:t>市场空缺大</a:t>
          </a:r>
        </a:p>
      </dsp:txBody>
      <dsp:txXfrm>
        <a:off x="4472538" y="3097133"/>
        <a:ext cx="2608112" cy="3694826"/>
      </dsp:txXfrm>
    </dsp:sp>
    <dsp:sp modelId="{61ECD666-B2E5-46DC-8842-3B7561C8DC34}">
      <dsp:nvSpPr>
        <dsp:cNvPr id="0" name=""/>
        <dsp:cNvSpPr/>
      </dsp:nvSpPr>
      <dsp:spPr>
        <a:xfrm>
          <a:off x="7216490" y="1718365"/>
          <a:ext cx="706363" cy="7063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CDB76-03D3-4BEF-AA13-668011A3FA1A}">
      <dsp:nvSpPr>
        <dsp:cNvPr id="0" name=""/>
        <dsp:cNvSpPr/>
      </dsp:nvSpPr>
      <dsp:spPr bwMode="white">
        <a:xfrm>
          <a:off x="7569672" y="2071547"/>
          <a:ext cx="2608112" cy="472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288" tIns="0" rIns="0" bIns="0" numCol="1" spcCol="1270" anchor="t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400" kern="12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7569672" y="2071547"/>
        <a:ext cx="2608112" cy="4720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#1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95435" cy="5623558"/>
            <a:chOff x="0" y="0"/>
            <a:chExt cx="1842419" cy="1481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419" cy="1481102"/>
            </a:xfrm>
            <a:custGeom>
              <a:avLst/>
              <a:gdLst/>
              <a:ahLst/>
              <a:cxnLst/>
              <a:rect l="l" t="t" r="r" b="b"/>
              <a:pathLst>
                <a:path w="1842419" h="1481102">
                  <a:moveTo>
                    <a:pt x="0" y="0"/>
                  </a:moveTo>
                  <a:lnTo>
                    <a:pt x="1842419" y="0"/>
                  </a:lnTo>
                  <a:lnTo>
                    <a:pt x="1842419" y="1481102"/>
                  </a:lnTo>
                  <a:lnTo>
                    <a:pt x="0" y="1481102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2419" cy="1519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574" y="1119724"/>
            <a:ext cx="15886852" cy="8047552"/>
            <a:chOff x="0" y="0"/>
            <a:chExt cx="4184191" cy="2119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4192" cy="2119520"/>
            </a:xfrm>
            <a:custGeom>
              <a:avLst/>
              <a:gdLst/>
              <a:ahLst/>
              <a:cxnLst/>
              <a:rect l="l" t="t" r="r" b="b"/>
              <a:pathLst>
                <a:path w="4184192" h="2119520">
                  <a:moveTo>
                    <a:pt x="0" y="0"/>
                  </a:moveTo>
                  <a:lnTo>
                    <a:pt x="4184192" y="0"/>
                  </a:lnTo>
                  <a:lnTo>
                    <a:pt x="4184192" y="2119520"/>
                  </a:lnTo>
                  <a:lnTo>
                    <a:pt x="0" y="211952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84191" cy="2157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79804" y="7258086"/>
            <a:ext cx="3528391" cy="731697"/>
            <a:chOff x="0" y="0"/>
            <a:chExt cx="929288" cy="1927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9288" cy="192710"/>
            </a:xfrm>
            <a:custGeom>
              <a:avLst/>
              <a:gdLst/>
              <a:ahLst/>
              <a:cxnLst/>
              <a:rect l="l" t="t" r="r" b="b"/>
              <a:pathLst>
                <a:path w="929288" h="192710">
                  <a:moveTo>
                    <a:pt x="0" y="0"/>
                  </a:moveTo>
                  <a:lnTo>
                    <a:pt x="929288" y="0"/>
                  </a:lnTo>
                  <a:lnTo>
                    <a:pt x="929288" y="192710"/>
                  </a:lnTo>
                  <a:lnTo>
                    <a:pt x="0" y="19271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29288" cy="221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07329" y="8552148"/>
            <a:ext cx="2580671" cy="1734852"/>
            <a:chOff x="0" y="0"/>
            <a:chExt cx="679683" cy="4569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9683" cy="456916"/>
            </a:xfrm>
            <a:custGeom>
              <a:avLst/>
              <a:gdLst/>
              <a:ahLst/>
              <a:cxnLst/>
              <a:rect l="l" t="t" r="r" b="b"/>
              <a:pathLst>
                <a:path w="679683" h="456916">
                  <a:moveTo>
                    <a:pt x="0" y="0"/>
                  </a:moveTo>
                  <a:lnTo>
                    <a:pt x="679683" y="0"/>
                  </a:lnTo>
                  <a:lnTo>
                    <a:pt x="679683" y="456916"/>
                  </a:lnTo>
                  <a:lnTo>
                    <a:pt x="0" y="45691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79683" cy="495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0956" y="2334245"/>
            <a:ext cx="5746088" cy="1167465"/>
            <a:chOff x="0" y="0"/>
            <a:chExt cx="1513373" cy="3074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727435" y="7328682"/>
            <a:ext cx="2833131" cy="495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汇报人：xx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40330" y="3301685"/>
            <a:ext cx="14007341" cy="359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20"/>
              </a:lnSpc>
              <a:spcBef>
                <a:spcPct val="0"/>
              </a:spcBef>
            </a:pPr>
            <a:r>
              <a:rPr lang="en-US" sz="10300" spc="618">
                <a:solidFill>
                  <a:srgbClr val="374756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专注高校场景的C2C闲置交易平台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55159" y="2360792"/>
            <a:ext cx="5377681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413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第14组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95435" cy="2925849"/>
            <a:chOff x="0" y="0"/>
            <a:chExt cx="1842419" cy="770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419" cy="770594"/>
            </a:xfrm>
            <a:custGeom>
              <a:avLst/>
              <a:gdLst/>
              <a:ahLst/>
              <a:cxnLst/>
              <a:rect l="l" t="t" r="r" b="b"/>
              <a:pathLst>
                <a:path w="1842419" h="770594">
                  <a:moveTo>
                    <a:pt x="0" y="0"/>
                  </a:moveTo>
                  <a:lnTo>
                    <a:pt x="1842419" y="0"/>
                  </a:lnTo>
                  <a:lnTo>
                    <a:pt x="1842419" y="770594"/>
                  </a:lnTo>
                  <a:lnTo>
                    <a:pt x="0" y="770594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2419" cy="808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574" y="1119724"/>
            <a:ext cx="15886852" cy="8047552"/>
            <a:chOff x="0" y="0"/>
            <a:chExt cx="4184191" cy="2119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4192" cy="2119520"/>
            </a:xfrm>
            <a:custGeom>
              <a:avLst/>
              <a:gdLst/>
              <a:ahLst/>
              <a:cxnLst/>
              <a:rect l="l" t="t" r="r" b="b"/>
              <a:pathLst>
                <a:path w="4184192" h="2119520">
                  <a:moveTo>
                    <a:pt x="0" y="0"/>
                  </a:moveTo>
                  <a:lnTo>
                    <a:pt x="4184192" y="0"/>
                  </a:lnTo>
                  <a:lnTo>
                    <a:pt x="4184192" y="2119520"/>
                  </a:lnTo>
                  <a:lnTo>
                    <a:pt x="0" y="211952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84191" cy="2157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67153" y="3301880"/>
            <a:ext cx="11820847" cy="6985120"/>
            <a:chOff x="0" y="0"/>
            <a:chExt cx="3113310" cy="18397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13310" cy="1839702"/>
            </a:xfrm>
            <a:custGeom>
              <a:avLst/>
              <a:gdLst/>
              <a:ahLst/>
              <a:cxnLst/>
              <a:rect l="l" t="t" r="r" b="b"/>
              <a:pathLst>
                <a:path w="3113310" h="1839702">
                  <a:moveTo>
                    <a:pt x="0" y="0"/>
                  </a:moveTo>
                  <a:lnTo>
                    <a:pt x="3113310" y="0"/>
                  </a:lnTo>
                  <a:lnTo>
                    <a:pt x="3113310" y="1839702"/>
                  </a:lnTo>
                  <a:lnTo>
                    <a:pt x="0" y="1839702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113310" cy="18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84369" y="4825985"/>
            <a:ext cx="9057274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85"/>
              </a:lnSpc>
              <a:spcBef>
                <a:spcPct val="0"/>
              </a:spcBef>
            </a:pPr>
            <a:r>
              <a:rPr lang="en-US" sz="8490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调整与改进</a:t>
            </a:r>
            <a:endParaRPr lang="en-US"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98655" y="4035410"/>
            <a:ext cx="3412379" cy="367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95"/>
              </a:lnSpc>
              <a:spcBef>
                <a:spcPct val="0"/>
              </a:spcBef>
            </a:pPr>
            <a:r>
              <a:rPr lang="en-US" sz="18425" b="1" spc="-1123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98655" y="1998199"/>
            <a:ext cx="7440280" cy="217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30"/>
              </a:lnSpc>
              <a:spcBef>
                <a:spcPct val="0"/>
              </a:spcBef>
            </a:pPr>
            <a:r>
              <a:rPr lang="en-US" sz="10950">
                <a:solidFill>
                  <a:srgbClr val="374756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PART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调整</a:t>
            </a: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Arial" panose="020B0604020202020204" pitchFamily="34" charset="0"/>
                <a:sym typeface="字由点字倔强黑" panose="00020600040101010101" charset="-122"/>
              </a:rPr>
              <a:t>改进</a:t>
            </a:r>
            <a:r>
              <a:rPr 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概述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38323" y="4449315"/>
            <a:ext cx="3311086" cy="4234815"/>
            <a:chOff x="0" y="0"/>
            <a:chExt cx="872056" cy="111534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2056" cy="1115342"/>
            </a:xfrm>
            <a:custGeom>
              <a:avLst/>
              <a:gdLst/>
              <a:ahLst/>
              <a:cxnLst/>
              <a:rect l="l" t="t" r="r" b="b"/>
              <a:pathLst>
                <a:path w="872056" h="1115342">
                  <a:moveTo>
                    <a:pt x="46764" y="0"/>
                  </a:moveTo>
                  <a:lnTo>
                    <a:pt x="825292" y="0"/>
                  </a:lnTo>
                  <a:cubicBezTo>
                    <a:pt x="851119" y="0"/>
                    <a:pt x="872056" y="20937"/>
                    <a:pt x="872056" y="46764"/>
                  </a:cubicBezTo>
                  <a:lnTo>
                    <a:pt x="872056" y="1068579"/>
                  </a:lnTo>
                  <a:cubicBezTo>
                    <a:pt x="872056" y="1080981"/>
                    <a:pt x="867129" y="1092876"/>
                    <a:pt x="858359" y="1101646"/>
                  </a:cubicBezTo>
                  <a:cubicBezTo>
                    <a:pt x="849589" y="1110415"/>
                    <a:pt x="837695" y="1115342"/>
                    <a:pt x="825292" y="1115342"/>
                  </a:cubicBezTo>
                  <a:lnTo>
                    <a:pt x="46764" y="1115342"/>
                  </a:lnTo>
                  <a:cubicBezTo>
                    <a:pt x="20937" y="1115342"/>
                    <a:pt x="0" y="1094405"/>
                    <a:pt x="0" y="1068579"/>
                  </a:cubicBezTo>
                  <a:lnTo>
                    <a:pt x="0" y="46764"/>
                  </a:lnTo>
                  <a:cubicBezTo>
                    <a:pt x="0" y="20937"/>
                    <a:pt x="20937" y="0"/>
                    <a:pt x="467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39BB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72056" cy="1162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68617" y="4449315"/>
            <a:ext cx="3311086" cy="4234815"/>
            <a:chOff x="0" y="0"/>
            <a:chExt cx="872056" cy="11153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2056" cy="1115342"/>
            </a:xfrm>
            <a:custGeom>
              <a:avLst/>
              <a:gdLst/>
              <a:ahLst/>
              <a:cxnLst/>
              <a:rect l="l" t="t" r="r" b="b"/>
              <a:pathLst>
                <a:path w="872056" h="1115342">
                  <a:moveTo>
                    <a:pt x="46764" y="0"/>
                  </a:moveTo>
                  <a:lnTo>
                    <a:pt x="825292" y="0"/>
                  </a:lnTo>
                  <a:cubicBezTo>
                    <a:pt x="851119" y="0"/>
                    <a:pt x="872056" y="20937"/>
                    <a:pt x="872056" y="46764"/>
                  </a:cubicBezTo>
                  <a:lnTo>
                    <a:pt x="872056" y="1068579"/>
                  </a:lnTo>
                  <a:cubicBezTo>
                    <a:pt x="872056" y="1080981"/>
                    <a:pt x="867129" y="1092876"/>
                    <a:pt x="858359" y="1101646"/>
                  </a:cubicBezTo>
                  <a:cubicBezTo>
                    <a:pt x="849589" y="1110415"/>
                    <a:pt x="837695" y="1115342"/>
                    <a:pt x="825292" y="1115342"/>
                  </a:cubicBezTo>
                  <a:lnTo>
                    <a:pt x="46764" y="1115342"/>
                  </a:lnTo>
                  <a:cubicBezTo>
                    <a:pt x="20937" y="1115342"/>
                    <a:pt x="0" y="1094405"/>
                    <a:pt x="0" y="1068579"/>
                  </a:cubicBezTo>
                  <a:lnTo>
                    <a:pt x="0" y="46764"/>
                  </a:lnTo>
                  <a:cubicBezTo>
                    <a:pt x="0" y="20937"/>
                    <a:pt x="20937" y="0"/>
                    <a:pt x="467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39BB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72056" cy="1162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03604" y="4449315"/>
            <a:ext cx="3311086" cy="4234815"/>
            <a:chOff x="0" y="0"/>
            <a:chExt cx="872056" cy="11153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2056" cy="1115342"/>
            </a:xfrm>
            <a:custGeom>
              <a:avLst/>
              <a:gdLst/>
              <a:ahLst/>
              <a:cxnLst/>
              <a:rect l="l" t="t" r="r" b="b"/>
              <a:pathLst>
                <a:path w="872056" h="1115342">
                  <a:moveTo>
                    <a:pt x="46764" y="0"/>
                  </a:moveTo>
                  <a:lnTo>
                    <a:pt x="825292" y="0"/>
                  </a:lnTo>
                  <a:cubicBezTo>
                    <a:pt x="851119" y="0"/>
                    <a:pt x="872056" y="20937"/>
                    <a:pt x="872056" y="46764"/>
                  </a:cubicBezTo>
                  <a:lnTo>
                    <a:pt x="872056" y="1068579"/>
                  </a:lnTo>
                  <a:cubicBezTo>
                    <a:pt x="872056" y="1080981"/>
                    <a:pt x="867129" y="1092876"/>
                    <a:pt x="858359" y="1101646"/>
                  </a:cubicBezTo>
                  <a:cubicBezTo>
                    <a:pt x="849589" y="1110415"/>
                    <a:pt x="837695" y="1115342"/>
                    <a:pt x="825292" y="1115342"/>
                  </a:cubicBezTo>
                  <a:lnTo>
                    <a:pt x="46764" y="1115342"/>
                  </a:lnTo>
                  <a:cubicBezTo>
                    <a:pt x="20937" y="1115342"/>
                    <a:pt x="0" y="1094405"/>
                    <a:pt x="0" y="1068579"/>
                  </a:cubicBezTo>
                  <a:lnTo>
                    <a:pt x="0" y="46764"/>
                  </a:lnTo>
                  <a:cubicBezTo>
                    <a:pt x="0" y="20937"/>
                    <a:pt x="20937" y="0"/>
                    <a:pt x="467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39BB2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72056" cy="1162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538590" y="4449315"/>
            <a:ext cx="3311086" cy="4234815"/>
            <a:chOff x="0" y="0"/>
            <a:chExt cx="872056" cy="11153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2056" cy="1115342"/>
            </a:xfrm>
            <a:custGeom>
              <a:avLst/>
              <a:gdLst/>
              <a:ahLst/>
              <a:cxnLst/>
              <a:rect l="l" t="t" r="r" b="b"/>
              <a:pathLst>
                <a:path w="872056" h="1115342">
                  <a:moveTo>
                    <a:pt x="46764" y="0"/>
                  </a:moveTo>
                  <a:lnTo>
                    <a:pt x="825292" y="0"/>
                  </a:lnTo>
                  <a:cubicBezTo>
                    <a:pt x="851119" y="0"/>
                    <a:pt x="872056" y="20937"/>
                    <a:pt x="872056" y="46764"/>
                  </a:cubicBezTo>
                  <a:lnTo>
                    <a:pt x="872056" y="1068579"/>
                  </a:lnTo>
                  <a:cubicBezTo>
                    <a:pt x="872056" y="1080981"/>
                    <a:pt x="867129" y="1092876"/>
                    <a:pt x="858359" y="1101646"/>
                  </a:cubicBezTo>
                  <a:cubicBezTo>
                    <a:pt x="849589" y="1110415"/>
                    <a:pt x="837695" y="1115342"/>
                    <a:pt x="825292" y="1115342"/>
                  </a:cubicBezTo>
                  <a:lnTo>
                    <a:pt x="46764" y="1115342"/>
                  </a:lnTo>
                  <a:cubicBezTo>
                    <a:pt x="20937" y="1115342"/>
                    <a:pt x="0" y="1094405"/>
                    <a:pt x="0" y="1068579"/>
                  </a:cubicBezTo>
                  <a:lnTo>
                    <a:pt x="0" y="46764"/>
                  </a:lnTo>
                  <a:cubicBezTo>
                    <a:pt x="0" y="20937"/>
                    <a:pt x="20937" y="0"/>
                    <a:pt x="467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839BB2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72056" cy="1162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9024475" y="-3726392"/>
            <a:ext cx="239049" cy="16516059"/>
            <a:chOff x="0" y="0"/>
            <a:chExt cx="62959" cy="43499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959" cy="4349909"/>
            </a:xfrm>
            <a:custGeom>
              <a:avLst/>
              <a:gdLst/>
              <a:ahLst/>
              <a:cxnLst/>
              <a:rect l="l" t="t" r="r" b="b"/>
              <a:pathLst>
                <a:path w="62959" h="4349909">
                  <a:moveTo>
                    <a:pt x="0" y="0"/>
                  </a:moveTo>
                  <a:lnTo>
                    <a:pt x="62959" y="0"/>
                  </a:lnTo>
                  <a:lnTo>
                    <a:pt x="62959" y="4349909"/>
                  </a:lnTo>
                  <a:lnTo>
                    <a:pt x="0" y="4349909"/>
                  </a:lnTo>
                  <a:close/>
                </a:path>
              </a:pathLst>
            </a:custGeom>
            <a:solidFill>
              <a:srgbClr val="37475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62959" cy="4397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47491" y="2955293"/>
            <a:ext cx="1270315" cy="127031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w="38100" cap="rnd">
              <a:solidFill>
                <a:srgbClr val="839BB2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77785" y="2955293"/>
            <a:ext cx="1270315" cy="127031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w="38100" cap="rnd">
              <a:solidFill>
                <a:srgbClr val="839BB2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79446" y="2955293"/>
            <a:ext cx="1270315" cy="1270315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w="38100" cap="rnd">
              <a:solidFill>
                <a:srgbClr val="839BB2"/>
              </a:solidFill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551822" y="2955293"/>
            <a:ext cx="1270315" cy="1270315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w="38100" cap="rnd">
              <a:solidFill>
                <a:srgbClr val="839BB2"/>
              </a:solidFill>
              <a:prstDash val="solid"/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867544" y="3385027"/>
            <a:ext cx="430207" cy="410848"/>
          </a:xfrm>
          <a:custGeom>
            <a:avLst/>
            <a:gdLst/>
            <a:ahLst/>
            <a:cxnLst/>
            <a:rect l="l" t="t" r="r" b="b"/>
            <a:pathLst>
              <a:path w="430207" h="410848">
                <a:moveTo>
                  <a:pt x="0" y="0"/>
                </a:moveTo>
                <a:lnTo>
                  <a:pt x="430208" y="0"/>
                </a:lnTo>
                <a:lnTo>
                  <a:pt x="430208" y="410848"/>
                </a:lnTo>
                <a:lnTo>
                  <a:pt x="0" y="410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886189" y="3331305"/>
            <a:ext cx="453505" cy="518292"/>
          </a:xfrm>
          <a:custGeom>
            <a:avLst/>
            <a:gdLst/>
            <a:ahLst/>
            <a:cxnLst/>
            <a:rect l="l" t="t" r="r" b="b"/>
            <a:pathLst>
              <a:path w="453505" h="518292">
                <a:moveTo>
                  <a:pt x="0" y="0"/>
                </a:moveTo>
                <a:lnTo>
                  <a:pt x="453506" y="0"/>
                </a:lnTo>
                <a:lnTo>
                  <a:pt x="453506" y="518292"/>
                </a:lnTo>
                <a:lnTo>
                  <a:pt x="0" y="5182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4" name="Freeform 44"/>
          <p:cNvSpPr/>
          <p:nvPr/>
        </p:nvSpPr>
        <p:spPr>
          <a:xfrm>
            <a:off x="9954066" y="3367040"/>
            <a:ext cx="521075" cy="446821"/>
          </a:xfrm>
          <a:custGeom>
            <a:avLst/>
            <a:gdLst/>
            <a:ahLst/>
            <a:cxnLst/>
            <a:rect l="l" t="t" r="r" b="b"/>
            <a:pathLst>
              <a:path w="521075" h="446821">
                <a:moveTo>
                  <a:pt x="0" y="0"/>
                </a:moveTo>
                <a:lnTo>
                  <a:pt x="521075" y="0"/>
                </a:lnTo>
                <a:lnTo>
                  <a:pt x="521075" y="446821"/>
                </a:lnTo>
                <a:lnTo>
                  <a:pt x="0" y="4468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5" name="Freeform 45"/>
          <p:cNvSpPr/>
          <p:nvPr/>
        </p:nvSpPr>
        <p:spPr>
          <a:xfrm>
            <a:off x="13935710" y="3339182"/>
            <a:ext cx="502538" cy="502538"/>
          </a:xfrm>
          <a:custGeom>
            <a:avLst/>
            <a:gdLst/>
            <a:ahLst/>
            <a:cxnLst/>
            <a:rect l="l" t="t" r="r" b="b"/>
            <a:pathLst>
              <a:path w="502538" h="502538">
                <a:moveTo>
                  <a:pt x="0" y="0"/>
                </a:moveTo>
                <a:lnTo>
                  <a:pt x="502539" y="0"/>
                </a:lnTo>
                <a:lnTo>
                  <a:pt x="502539" y="502538"/>
                </a:lnTo>
                <a:lnTo>
                  <a:pt x="0" y="502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6" name="TextBox 46"/>
          <p:cNvSpPr txBox="1"/>
          <p:nvPr/>
        </p:nvSpPr>
        <p:spPr>
          <a:xfrm>
            <a:off x="1788326" y="5885966"/>
            <a:ext cx="2803789" cy="2485642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3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细化</a:t>
            </a:r>
            <a:r>
              <a:rPr lang="zh-CN" altLang="en-US" sz="24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背景调查，市场调研落地，收集问卷数据，行业动态与态势寻找校内二手平台项目定位与价值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endParaRPr lang="en-US" sz="24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5818620" y="5885966"/>
            <a:ext cx="2810300" cy="24856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70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优化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平台技术架构，合理化平台用户认证与交易流程，平台功能模块化并落地（见计划书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3.1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）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853607" y="5885966"/>
            <a:ext cx="2611081" cy="230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垂直</a:t>
            </a:r>
            <a:r>
              <a:rPr lang="zh-CN" altLang="en-US" sz="20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客群个性服务，通过平台技术改进匹配标签用户。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组织架构构建，明确考核标准以及工作激励机制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3888558" y="5885997"/>
            <a:ext cx="2640179" cy="2271322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风险</a:t>
            </a:r>
            <a:r>
              <a:rPr lang="zh-CN" altLang="en-US" sz="20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分析明晰，备用紧急预案，对可能市场以及资金风险做事前预期分析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2783467" y="3045288"/>
            <a:ext cx="1074299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zh-CN" altLang="en-US" sz="6000" b="1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一</a:t>
            </a:r>
            <a:endParaRPr lang="en-US" sz="6000" b="1">
              <a:solidFill>
                <a:srgbClr val="374756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813761" y="3045288"/>
            <a:ext cx="1074299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zh-CN" altLang="en-US" sz="6000" b="1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二</a:t>
            </a:r>
            <a:endParaRPr lang="en-US" sz="6000" b="1">
              <a:solidFill>
                <a:srgbClr val="374756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915423" y="3045288"/>
            <a:ext cx="1017820" cy="1095321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7200"/>
              </a:lnSpc>
            </a:pPr>
            <a:r>
              <a:rPr lang="zh-CN" altLang="en-US" sz="6000" b="1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三</a:t>
            </a:r>
            <a:endParaRPr lang="en-US" sz="6000" b="1">
              <a:solidFill>
                <a:srgbClr val="374756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4887799" y="3045288"/>
            <a:ext cx="1074299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zh-CN" altLang="en-US" sz="6000" b="1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四</a:t>
            </a:r>
            <a:endParaRPr lang="en-US" sz="6000" b="1">
              <a:solidFill>
                <a:srgbClr val="374756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788326" y="5313904"/>
            <a:ext cx="2290964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尽职调查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5818620" y="5313904"/>
            <a:ext cx="2254398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配套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改进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853607" y="5313904"/>
            <a:ext cx="2425037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亮点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创新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3888593" y="5313904"/>
            <a:ext cx="243722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预案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准备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行业</a:t>
            </a: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Arial" panose="020B0604020202020204" pitchFamily="34" charset="0"/>
                <a:sym typeface="字由点字倔强黑" panose="00020600040101010101" charset="-122"/>
              </a:rPr>
              <a:t>发展分析</a:t>
            </a:r>
            <a:endParaRPr lang="en-US" sz="4480" spc="309">
              <a:solidFill>
                <a:srgbClr val="FFFFFF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915907" y="4574934"/>
            <a:ext cx="5882840" cy="0"/>
          </a:xfrm>
          <a:prstGeom prst="line">
            <a:avLst/>
          </a:prstGeom>
          <a:ln w="19050" cap="flat">
            <a:solidFill>
              <a:srgbClr val="2B2A2A">
                <a:alpha val="2588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0814136" y="2002669"/>
            <a:ext cx="3986384" cy="60271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市场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规模持续增大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814136" y="2605368"/>
            <a:ext cx="5881627" cy="1795084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艾瑞咨询发布的《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2015-2023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年中国二手电商行业交易规模》《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2023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年中国网民交易二手商品方式偏好》《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2023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年中国线上二手交易平台受访卖家主要售出商品品类》显示，中国二手交易市场在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2023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年交易规模已突破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5000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亿元，年复合增长率达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14.25%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。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814073" y="4954747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多元化与专业化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98486" y="5457050"/>
            <a:ext cx="6227940" cy="11517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市场参与者不断细分赛道，围绕不同品类、消费人群与服务场景展开差异化布局，主要包括二手买卖，二手置换，二手回收等。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898508" y="6772806"/>
            <a:ext cx="5882840" cy="0"/>
          </a:xfrm>
          <a:prstGeom prst="line">
            <a:avLst/>
          </a:prstGeom>
          <a:ln w="19050" cap="flat">
            <a:solidFill>
              <a:srgbClr val="2B2A2A">
                <a:alpha val="2588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0856290" y="7087131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社区化趋势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856290" y="7715752"/>
            <a:ext cx="6124488" cy="76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如闲鱼开始尝试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闲鱼小站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社区团购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等线下联动，但在高校场景的渗透仍非常有限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pic>
        <p:nvPicPr>
          <p:cNvPr id="2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96" y="2002600"/>
            <a:ext cx="6380722" cy="58425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平台</a:t>
            </a: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Arial" panose="020B0604020202020204" pitchFamily="34" charset="0"/>
                <a:sym typeface="字由点字倔强黑" panose="00020600040101010101" charset="-122"/>
              </a:rPr>
              <a:t>配套改进</a:t>
            </a:r>
            <a:endParaRPr lang="en-US" sz="4480" spc="309">
              <a:solidFill>
                <a:srgbClr val="FFFFFF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"/>
            </p:custDataLst>
          </p:nvPr>
        </p:nvSpPr>
        <p:spPr>
          <a:xfrm>
            <a:off x="6246026" y="1803640"/>
            <a:ext cx="4904899" cy="633333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技术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架构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2"/>
            </p:custDataLst>
          </p:nvPr>
        </p:nvSpPr>
        <p:spPr>
          <a:xfrm>
            <a:off x="2287256" y="2436973"/>
            <a:ext cx="13719551" cy="14701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采用了前后端分离的架构（计划书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3.1.1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），利用技术增强平台稳定性与兼容性，采用分布式、微服务等技术架构，保障了平台的稳定性和可扩展性，能够应对校园用户在高峰时段的访问需求。</a:t>
            </a:r>
          </a:p>
        </p:txBody>
      </p:sp>
      <p:sp>
        <p:nvSpPr>
          <p:cNvPr id="20" name="TextBox 20"/>
          <p:cNvSpPr txBox="1"/>
          <p:nvPr>
            <p:custDataLst>
              <p:tags r:id="rId3"/>
            </p:custDataLst>
          </p:nvPr>
        </p:nvSpPr>
        <p:spPr>
          <a:xfrm>
            <a:off x="7137014" y="3756911"/>
            <a:ext cx="3399945" cy="47166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功能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模块划分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4"/>
            </p:custDataLst>
          </p:nvPr>
        </p:nvSpPr>
        <p:spPr>
          <a:xfrm>
            <a:off x="2792439" y="4825613"/>
            <a:ext cx="13367454" cy="1197626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包含用户认证与管理，商品信息核实，交易流程管理，信用与评价系统，智能匹配系统，移动应用平台适配等，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与通用的二手交易平台相比，其在校园场景下的适配性和专业性更强，能够更好地解决高校二手交易中的痛点问题，如信任保障、物流配送等。</a:t>
            </a:r>
          </a:p>
        </p:txBody>
      </p:sp>
      <p:sp>
        <p:nvSpPr>
          <p:cNvPr id="23" name="TextBox 23"/>
          <p:cNvSpPr txBox="1"/>
          <p:nvPr>
            <p:custDataLst>
              <p:tags r:id="rId5"/>
            </p:custDataLst>
          </p:nvPr>
        </p:nvSpPr>
        <p:spPr>
          <a:xfrm>
            <a:off x="7247236" y="6624024"/>
            <a:ext cx="3043255" cy="50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rPr>
              <a:t>环保</a:t>
            </a:r>
            <a:r>
              <a:rPr lang="zh-CN" altLang="en-US" sz="2800" b="1" spc="279">
                <a:solidFill>
                  <a:srgbClr val="374756"/>
                </a:solidFill>
                <a:latin typeface="思源黑体 2 Bold" panose="020B0600000000000000" charset="-122"/>
                <a:ea typeface="思源黑体 2 Bold" panose="020B0600000000000000" charset="-122"/>
                <a:cs typeface="Arial" panose="020B0604020202020204" pitchFamily="34" charset="0"/>
                <a:sym typeface="思源黑体 2 Bold" panose="020B0600000000000000" charset="-122"/>
              </a:rPr>
              <a:t>激励机制</a:t>
            </a:r>
            <a:endParaRPr lang="en-US" sz="2800" b="1" spc="279">
              <a:solidFill>
                <a:srgbClr val="374756"/>
              </a:solidFill>
              <a:latin typeface="思源黑体 2 Bold" panose="020B0600000000000000" charset="-122"/>
              <a:ea typeface="思源黑体 2 Bold" panose="020B0600000000000000" charset="-122"/>
              <a:cs typeface="思源黑体 2 Bold" panose="020B0600000000000000" charset="-122"/>
              <a:sym typeface="思源黑体 2 Bold" panose="020B0600000000000000" charset="-122"/>
            </a:endParaRPr>
          </a:p>
        </p:txBody>
      </p:sp>
      <p:sp>
        <p:nvSpPr>
          <p:cNvPr id="24" name="TextBox 24"/>
          <p:cNvSpPr txBox="1"/>
          <p:nvPr>
            <p:custDataLst>
              <p:tags r:id="rId6"/>
            </p:custDataLst>
          </p:nvPr>
        </p:nvSpPr>
        <p:spPr>
          <a:xfrm>
            <a:off x="2484209" y="7294703"/>
            <a:ext cx="13901248" cy="1399781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引入低碳积分激励体系，将闲置物品交易与环保理念相结合，通过积分兑换校园福利等方式，鼓励大学生积极参与闲置物品的循环利用，响应了国家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双碳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战略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字由点字倔强黑" panose="00020600040101010101" charset="-122"/>
                <a:sym typeface="字由点字倔强黑" panose="00020600040101010101" charset="-122"/>
              </a:rPr>
              <a:t>商业增长潜力</a:t>
            </a:r>
          </a:p>
        </p:txBody>
      </p:sp>
      <p:graphicFrame>
        <p:nvGraphicFramePr>
          <p:cNvPr id="15" name="图示 14"/>
          <p:cNvGraphicFramePr/>
          <p:nvPr/>
        </p:nvGraphicFramePr>
        <p:xfrm>
          <a:off x="3138170" y="1905635"/>
          <a:ext cx="11553190" cy="679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7815580" y="5617210"/>
            <a:ext cx="3959860" cy="2870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高校数量庞大，仅普通高等学校就有近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3000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所，每所高校都有数量可观的学生群体，这为校易通提供了海量的潜在用户。随着平台在不同高校的逐步推广和覆盖，用户规模有望实现快速增长。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506200" y="3848100"/>
            <a:ext cx="3481070" cy="864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社交传播效应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2115800" y="4610735"/>
            <a:ext cx="4491355" cy="3802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以校园为单位，大学生之间具有较强的社交传播效应。一旦平台在某个高校获得一部分种子用户的认可和使用，其通过口碑传播、社交推荐等方式，能够迅速在校园内扩散开来，吸引更多学生加入平台，形成用户增长的良性循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95435" cy="2925849"/>
            <a:chOff x="0" y="0"/>
            <a:chExt cx="1842419" cy="770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419" cy="770594"/>
            </a:xfrm>
            <a:custGeom>
              <a:avLst/>
              <a:gdLst/>
              <a:ahLst/>
              <a:cxnLst/>
              <a:rect l="l" t="t" r="r" b="b"/>
              <a:pathLst>
                <a:path w="1842419" h="770594">
                  <a:moveTo>
                    <a:pt x="0" y="0"/>
                  </a:moveTo>
                  <a:lnTo>
                    <a:pt x="1842419" y="0"/>
                  </a:lnTo>
                  <a:lnTo>
                    <a:pt x="1842419" y="770594"/>
                  </a:lnTo>
                  <a:lnTo>
                    <a:pt x="0" y="770594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2419" cy="808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574" y="1119724"/>
            <a:ext cx="15886852" cy="8047552"/>
            <a:chOff x="0" y="0"/>
            <a:chExt cx="4184191" cy="2119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4192" cy="2119520"/>
            </a:xfrm>
            <a:custGeom>
              <a:avLst/>
              <a:gdLst/>
              <a:ahLst/>
              <a:cxnLst/>
              <a:rect l="l" t="t" r="r" b="b"/>
              <a:pathLst>
                <a:path w="4184192" h="2119520">
                  <a:moveTo>
                    <a:pt x="0" y="0"/>
                  </a:moveTo>
                  <a:lnTo>
                    <a:pt x="4184192" y="0"/>
                  </a:lnTo>
                  <a:lnTo>
                    <a:pt x="4184192" y="2119520"/>
                  </a:lnTo>
                  <a:lnTo>
                    <a:pt x="0" y="211952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84191" cy="2157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67153" y="3301880"/>
            <a:ext cx="11820847" cy="6985120"/>
            <a:chOff x="0" y="0"/>
            <a:chExt cx="3113310" cy="18397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13310" cy="1839702"/>
            </a:xfrm>
            <a:custGeom>
              <a:avLst/>
              <a:gdLst/>
              <a:ahLst/>
              <a:cxnLst/>
              <a:rect l="l" t="t" r="r" b="b"/>
              <a:pathLst>
                <a:path w="3113310" h="1839702">
                  <a:moveTo>
                    <a:pt x="0" y="0"/>
                  </a:moveTo>
                  <a:lnTo>
                    <a:pt x="3113310" y="0"/>
                  </a:lnTo>
                  <a:lnTo>
                    <a:pt x="3113310" y="1839702"/>
                  </a:lnTo>
                  <a:lnTo>
                    <a:pt x="0" y="1839702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113310" cy="18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84369" y="4825985"/>
            <a:ext cx="9057274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85"/>
              </a:lnSpc>
              <a:spcBef>
                <a:spcPct val="0"/>
              </a:spcBef>
            </a:pPr>
            <a:r>
              <a:rPr lang="zh-CN" altLang="en-US" sz="9600" b="1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重点</a:t>
            </a:r>
            <a:r>
              <a:rPr lang="zh-CN" altLang="en-US" sz="9600" b="1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Arial" panose="020B0604020202020204" pitchFamily="34" charset="0"/>
                <a:sym typeface="字由点字倔强黑" panose="00020600040101010101" charset="-122"/>
              </a:rPr>
              <a:t>章节</a:t>
            </a:r>
            <a:endParaRPr lang="en-US" sz="9600" b="1">
              <a:solidFill>
                <a:srgbClr val="FFFFFF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98655" y="4035410"/>
            <a:ext cx="3868498" cy="367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95"/>
              </a:lnSpc>
              <a:spcBef>
                <a:spcPct val="0"/>
              </a:spcBef>
            </a:pPr>
            <a:r>
              <a:rPr lang="en-US" sz="18425" b="1" spc="-1123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98655" y="1998199"/>
            <a:ext cx="9998368" cy="217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30"/>
              </a:lnSpc>
              <a:spcBef>
                <a:spcPct val="0"/>
              </a:spcBef>
            </a:pPr>
            <a:r>
              <a:rPr lang="en-US" sz="10950">
                <a:solidFill>
                  <a:srgbClr val="374756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PART TWO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产品服务</a:t>
            </a:r>
            <a:endParaRPr lang="en-US" sz="4480" spc="309">
              <a:solidFill>
                <a:srgbClr val="FFFFFF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1179895" y="2591886"/>
            <a:ext cx="5800884" cy="6257002"/>
            <a:chOff x="0" y="0"/>
            <a:chExt cx="7734512" cy="834266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/>
            <a:srcRect r="30467"/>
            <a:stretch>
              <a:fillRect/>
            </a:stretch>
          </p:blipFill>
          <p:spPr>
            <a:xfrm>
              <a:off x="0" y="0"/>
              <a:ext cx="7734512" cy="8342669"/>
            </a:xfrm>
            <a:prstGeom prst="rect">
              <a:avLst/>
            </a:prstGeom>
          </p:spPr>
        </p:pic>
      </p:grpSp>
      <p:sp>
        <p:nvSpPr>
          <p:cNvPr id="18" name="Freeform 18"/>
          <p:cNvSpPr/>
          <p:nvPr/>
        </p:nvSpPr>
        <p:spPr>
          <a:xfrm>
            <a:off x="1133102" y="2623880"/>
            <a:ext cx="9839389" cy="4520399"/>
          </a:xfrm>
          <a:custGeom>
            <a:avLst/>
            <a:gdLst/>
            <a:ahLst/>
            <a:cxnLst/>
            <a:rect l="l" t="t" r="r" b="b"/>
            <a:pathLst>
              <a:path w="2491243" h="1161348">
                <a:moveTo>
                  <a:pt x="16370" y="0"/>
                </a:moveTo>
                <a:lnTo>
                  <a:pt x="2474873" y="0"/>
                </a:lnTo>
                <a:cubicBezTo>
                  <a:pt x="2483914" y="0"/>
                  <a:pt x="2491243" y="7329"/>
                  <a:pt x="2491243" y="16370"/>
                </a:cubicBezTo>
                <a:lnTo>
                  <a:pt x="2491243" y="1144978"/>
                </a:lnTo>
                <a:cubicBezTo>
                  <a:pt x="2491243" y="1149320"/>
                  <a:pt x="2489518" y="1153484"/>
                  <a:pt x="2486448" y="1156553"/>
                </a:cubicBezTo>
                <a:cubicBezTo>
                  <a:pt x="2483378" y="1159623"/>
                  <a:pt x="2479215" y="1161348"/>
                  <a:pt x="2474873" y="1161348"/>
                </a:cubicBezTo>
                <a:lnTo>
                  <a:pt x="16370" y="1161348"/>
                </a:lnTo>
                <a:cubicBezTo>
                  <a:pt x="7329" y="1161348"/>
                  <a:pt x="0" y="1154019"/>
                  <a:pt x="0" y="1144978"/>
                </a:cubicBezTo>
                <a:lnTo>
                  <a:pt x="0" y="16370"/>
                </a:lnTo>
                <a:cubicBezTo>
                  <a:pt x="0" y="12028"/>
                  <a:pt x="1725" y="7864"/>
                  <a:pt x="4795" y="4795"/>
                </a:cubicBezTo>
                <a:cubicBezTo>
                  <a:pt x="7864" y="1725"/>
                  <a:pt x="12028" y="0"/>
                  <a:pt x="16370" y="0"/>
                </a:cubicBezTo>
                <a:close/>
              </a:path>
            </a:pathLst>
          </a:custGeom>
          <a:solidFill>
            <a:srgbClr val="839BB2">
              <a:alpha val="9804"/>
            </a:srgbClr>
          </a:solid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1307221" y="3289604"/>
            <a:ext cx="9458938" cy="30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“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校易通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聚焦高校场景打造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C2C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闲置交易平台，围绕学生需求构建全流程产品服务体系，核心功能覆盖交易全链条并融入校园特色。平台支持教材、数码、服饰等多品类闲置物品的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C2C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买卖与租赁，提供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毕业季代卖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服务解决毕业生大件物品处理难题。依托智能化工具优化交易效率，如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一键转卖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同步购物平台订单快速发布商品，输入课程代码智能推荐二手教材，结合用户行为数据实现个性化商品推荐，搭配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Elasticsearch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全文检索功能提升供需匹配速度。交易流程涵盖发布、沟通、支付、物流跟踪等环节，并提供交易担保保障资金安全。</a:t>
            </a:r>
            <a:endParaRPr lang="en-US" sz="24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优势</a:t>
            </a:r>
            <a:r>
              <a:rPr 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分析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7250" y="2693758"/>
            <a:ext cx="14315052" cy="47547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相比通用二手平台，校易通聚焦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校园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+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垂直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+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高频小额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交易场景，优势独特显著。</a:t>
            </a: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36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用户方面，专一地为高校学生群体服务，有效解决当下二手交易市场混乱无序、买卖家匹配困难等问题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。</a:t>
            </a: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en-US" altLang="zh-CN" sz="36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场景设计上，采用校内身份认证、校区定向推荐、线下自提点部署等垂直化设计，让交易范围精准可控、安全可靠。</a:t>
            </a: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36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信任保障上，构建起基于学生真实身份的信用积分体系与互评机制，交易前需通过学信网等进行高校认证，能解决陌生人交易信任障碍，且双方互评影响下次交易匹配。</a:t>
            </a: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36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运营模式上，联合校内社团、学生组织开展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换季换物节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”“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毕业清仓周</a:t>
            </a:r>
            <a:r>
              <a:rPr lang="en-US" altLang="zh-CN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等活动，形成高频流通机制，持续激发交易活跃度。</a:t>
            </a: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36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· </a:t>
            </a:r>
            <a:r>
              <a:rPr lang="zh-CN" altLang="en-US" sz="24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技术层面，系统模块化设计，可快速复制部署到不同高校，便于拓展区域市场。此外，平台优先推荐同校买卖家，支持线下物品交换，能免除物流费用。</a:t>
            </a:r>
            <a:endParaRPr lang="en-US" sz="24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307250" y="1884755"/>
            <a:ext cx="3034275" cy="511791"/>
            <a:chOff x="0" y="-16160"/>
            <a:chExt cx="4045700" cy="682389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045700" cy="666229"/>
              <a:chOff x="0" y="0"/>
              <a:chExt cx="1039241" cy="1711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39241" cy="171138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38">
                    <a:moveTo>
                      <a:pt x="85569" y="0"/>
                    </a:moveTo>
                    <a:lnTo>
                      <a:pt x="953672" y="0"/>
                    </a:lnTo>
                    <a:cubicBezTo>
                      <a:pt x="976367" y="0"/>
                      <a:pt x="998132" y="9015"/>
                      <a:pt x="1014179" y="25063"/>
                    </a:cubicBezTo>
                    <a:cubicBezTo>
                      <a:pt x="1030226" y="41110"/>
                      <a:pt x="1039241" y="62875"/>
                      <a:pt x="1039241" y="85569"/>
                    </a:cubicBezTo>
                    <a:lnTo>
                      <a:pt x="1039241" y="85569"/>
                    </a:lnTo>
                    <a:cubicBezTo>
                      <a:pt x="1039241" y="132827"/>
                      <a:pt x="1000931" y="171138"/>
                      <a:pt x="953672" y="171138"/>
                    </a:cubicBezTo>
                    <a:lnTo>
                      <a:pt x="85569" y="171138"/>
                    </a:lnTo>
                    <a:cubicBezTo>
                      <a:pt x="62875" y="171138"/>
                      <a:pt x="41110" y="162123"/>
                      <a:pt x="25063" y="146075"/>
                    </a:cubicBezTo>
                    <a:cubicBezTo>
                      <a:pt x="9015" y="130028"/>
                      <a:pt x="0" y="108263"/>
                      <a:pt x="0" y="85569"/>
                    </a:cubicBezTo>
                    <a:lnTo>
                      <a:pt x="0" y="85569"/>
                    </a:lnTo>
                    <a:cubicBezTo>
                      <a:pt x="0" y="62875"/>
                      <a:pt x="9015" y="41110"/>
                      <a:pt x="25063" y="25063"/>
                    </a:cubicBezTo>
                    <a:cubicBezTo>
                      <a:pt x="41110" y="9015"/>
                      <a:pt x="62875" y="0"/>
                      <a:pt x="85569" y="0"/>
                    </a:cubicBezTo>
                    <a:close/>
                  </a:path>
                </a:pathLst>
              </a:custGeom>
              <a:solidFill>
                <a:srgbClr val="839BB2"/>
              </a:solidFill>
              <a:ln w="9525" cap="rnd">
                <a:solidFill>
                  <a:srgbClr val="374756"/>
                </a:solidFill>
                <a:prstDash val="solid"/>
                <a:round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1039241" cy="218763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b="1" spc="279">
                  <a:solidFill>
                    <a:srgbClr val="FFFFFF"/>
                  </a:solidFill>
                  <a:latin typeface="思源黑体 2 Bold" panose="020B0600000000000000" charset="-122"/>
                  <a:ea typeface="思源黑体 2 Bold" panose="020B0600000000000000" charset="-122"/>
                  <a:cs typeface="思源黑体 2 Bold" panose="020B0600000000000000" charset="-122"/>
                  <a:sym typeface="思源黑体 2 Bold" panose="020B0600000000000000" charset="-122"/>
                </a:rPr>
                <a:t>核心竞争优势</a:t>
              </a:r>
              <a:endParaRPr lang="en-US" sz="2800" b="1" spc="279">
                <a:solidFill>
                  <a:srgbClr val="FFFFFF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85971" y="756917"/>
            <a:ext cx="16516059" cy="877316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90550" y="695119"/>
            <a:ext cx="4506901" cy="915692"/>
            <a:chOff x="0" y="0"/>
            <a:chExt cx="1513373" cy="307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3373" cy="307480"/>
            </a:xfrm>
            <a:custGeom>
              <a:avLst/>
              <a:gdLst/>
              <a:ahLst/>
              <a:cxnLst/>
              <a:rect l="l" t="t" r="r" b="b"/>
              <a:pathLst>
                <a:path w="1513373" h="307480">
                  <a:moveTo>
                    <a:pt x="0" y="0"/>
                  </a:moveTo>
                  <a:lnTo>
                    <a:pt x="1513373" y="0"/>
                  </a:lnTo>
                  <a:lnTo>
                    <a:pt x="1513373" y="307480"/>
                  </a:lnTo>
                  <a:lnTo>
                    <a:pt x="0" y="307480"/>
                  </a:lnTo>
                  <a:close/>
                </a:path>
              </a:pathLst>
            </a:custGeom>
            <a:solidFill>
              <a:srgbClr val="839BB2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513373" cy="336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137025" y="719866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营销</a:t>
            </a: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Arial" panose="020B0604020202020204" pitchFamily="34" charset="0"/>
                <a:sym typeface="字由点字倔强黑" panose="00020600040101010101" charset="-122"/>
              </a:rPr>
              <a:t>分析</a:t>
            </a:r>
            <a:endParaRPr lang="en-US" sz="4480" spc="309">
              <a:solidFill>
                <a:srgbClr val="FFFFFF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15" name="AutoShape 15"/>
          <p:cNvSpPr/>
          <p:nvPr/>
        </p:nvSpPr>
        <p:spPr>
          <a:xfrm flipV="1">
            <a:off x="2885382" y="1907820"/>
            <a:ext cx="0" cy="5068493"/>
          </a:xfrm>
          <a:prstGeom prst="line">
            <a:avLst/>
          </a:prstGeom>
          <a:ln w="9525" cap="flat">
            <a:solidFill>
              <a:srgbClr val="0F1647"/>
            </a:solidFill>
            <a:prstDash val="lgDash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2226146" y="1610801"/>
            <a:ext cx="1137754" cy="113775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28600"/>
              <a:ext cx="660400" cy="508000"/>
            </a:xfrm>
            <a:prstGeom prst="rect">
              <a:avLst/>
            </a:prstGeom>
          </p:spPr>
          <p:txBody>
            <a:bodyPr lIns="43657" tIns="43657" rIns="43657" bIns="43657" rtlCol="0" anchor="ctr"/>
            <a:lstStyle/>
            <a:p>
              <a:pPr algn="ctr">
                <a:lnSpc>
                  <a:spcPts val="1085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511785" y="1957656"/>
            <a:ext cx="566623" cy="444091"/>
          </a:xfrm>
          <a:custGeom>
            <a:avLst/>
            <a:gdLst/>
            <a:ahLst/>
            <a:cxnLst/>
            <a:rect l="l" t="t" r="r" b="b"/>
            <a:pathLst>
              <a:path w="566623" h="444091">
                <a:moveTo>
                  <a:pt x="0" y="0"/>
                </a:moveTo>
                <a:lnTo>
                  <a:pt x="566623" y="0"/>
                </a:lnTo>
                <a:lnTo>
                  <a:pt x="566623" y="444091"/>
                </a:lnTo>
                <a:lnTo>
                  <a:pt x="0" y="444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2268967" y="3452246"/>
            <a:ext cx="1137754" cy="113775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28600"/>
              <a:ext cx="660400" cy="508000"/>
            </a:xfrm>
            <a:prstGeom prst="rect">
              <a:avLst/>
            </a:prstGeom>
          </p:spPr>
          <p:txBody>
            <a:bodyPr lIns="43657" tIns="43657" rIns="43657" bIns="43657" rtlCol="0" anchor="ctr"/>
            <a:lstStyle/>
            <a:p>
              <a:pPr algn="ctr">
                <a:lnSpc>
                  <a:spcPts val="1085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32825" y="5619916"/>
            <a:ext cx="1137754" cy="113775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28600"/>
              <a:ext cx="660400" cy="508000"/>
            </a:xfrm>
            <a:prstGeom prst="rect">
              <a:avLst/>
            </a:prstGeom>
          </p:spPr>
          <p:txBody>
            <a:bodyPr lIns="43657" tIns="43657" rIns="43657" bIns="43657" rtlCol="0" anchor="ctr"/>
            <a:lstStyle/>
            <a:p>
              <a:pPr algn="ctr">
                <a:lnSpc>
                  <a:spcPts val="1085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2566313" y="3721190"/>
            <a:ext cx="566623" cy="412218"/>
          </a:xfrm>
          <a:custGeom>
            <a:avLst/>
            <a:gdLst/>
            <a:ahLst/>
            <a:cxnLst/>
            <a:rect l="l" t="t" r="r" b="b"/>
            <a:pathLst>
              <a:path w="566623" h="412218">
                <a:moveTo>
                  <a:pt x="0" y="0"/>
                </a:moveTo>
                <a:lnTo>
                  <a:pt x="566623" y="0"/>
                </a:lnTo>
                <a:lnTo>
                  <a:pt x="566623" y="412218"/>
                </a:lnTo>
                <a:lnTo>
                  <a:pt x="0" y="4122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2673062" y="5912345"/>
            <a:ext cx="457326" cy="516753"/>
          </a:xfrm>
          <a:custGeom>
            <a:avLst/>
            <a:gdLst/>
            <a:ahLst/>
            <a:cxnLst/>
            <a:rect l="l" t="t" r="r" b="b"/>
            <a:pathLst>
              <a:path w="457326" h="516753">
                <a:moveTo>
                  <a:pt x="0" y="0"/>
                </a:moveTo>
                <a:lnTo>
                  <a:pt x="457326" y="0"/>
                </a:lnTo>
                <a:lnTo>
                  <a:pt x="457326" y="516753"/>
                </a:lnTo>
                <a:lnTo>
                  <a:pt x="0" y="5167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TextBox 37"/>
          <p:cNvSpPr txBox="1"/>
          <p:nvPr/>
        </p:nvSpPr>
        <p:spPr>
          <a:xfrm>
            <a:off x="3678593" y="2323631"/>
            <a:ext cx="11616205" cy="19234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本产品主要聚焦于高校学生二手交易市场，主要覆盖教材、电子产品、宿舍用品、服饰等高频闲置物品交易场景。与其他综合二手平台（如闲鱼、转转）不同，本平台对市场更有针对性，通过校园封闭场景和强社交属性构建差异化竞争壁垒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91652" y="4218964"/>
            <a:ext cx="12186849" cy="158099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Arial" panose="020B0604020202020204" pitchFamily="34" charset="0"/>
                <a:sym typeface="思源黑体 2" panose="020B0500000000000000" charset="-122"/>
              </a:rPr>
              <a:t> 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我们的营销渠道分线上、线下。初期以线上为主，搭建微信小程序，在视频号、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B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站、抖音、小红书等大学生集中平台发布宣传视频。还将与毕业的知名校园博主（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KOC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）合作，拍摄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毕业季二手交易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短视频。</a:t>
            </a:r>
            <a:endParaRPr lang="en-US" altLang="zh-CN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线下方面，校园推广团队在新生入学季和毕业季，于宿舍楼、食堂等高流量区设展位，开展扫码注册送大礼包、随机抽奖送免费代卖服务等活动，助力学生认识平台并注册账号。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678534" y="6534719"/>
            <a:ext cx="12947708" cy="5386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首先我们会在在互联网各个平台、户外场所投放广告，增强曝光率。并且在各个高校开展讲座，向学生们讲解二手物品交易的重要性（提高物品利用率等），在这期间宣传我们的产品。同时还可以与学校合作，评选出为二手交易贡献最多的学生，给予其奖金与表扬等奖励。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在我们自己的平台上，为鼓励新用户注册，我们提供首单补贴活动，以及邀请新用户补贴活动，鼓励用户帮助我们平台进行宣传。并且可以不时抽取幸运用户进行免费代卖服务，吸引卖家群体发布闲置用品。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   在小红书、抖音等社交平台上，我们会针对买卖家用户各发布主题为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二手物品处理方案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以及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校园省钱秘籍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等文章与视频，为需要这类服务的用户点明二手物品交易这条道路，并且吸引其来我们的平台进行交易，达到良好的引流效果。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3678593" y="1821303"/>
            <a:ext cx="3034275" cy="502285"/>
            <a:chOff x="79" y="-1361686"/>
            <a:chExt cx="4045700" cy="669714"/>
          </a:xfrm>
        </p:grpSpPr>
        <p:sp>
          <p:nvSpPr>
            <p:cNvPr id="43" name="Freeform 43"/>
            <p:cNvSpPr/>
            <p:nvPr/>
          </p:nvSpPr>
          <p:spPr>
            <a:xfrm>
              <a:off x="79" y="-1358201"/>
              <a:ext cx="4045700" cy="666229"/>
            </a:xfrm>
            <a:custGeom>
              <a:avLst/>
              <a:gdLst/>
              <a:ahLst/>
              <a:cxnLst/>
              <a:rect l="l" t="t" r="r" b="b"/>
              <a:pathLst>
                <a:path w="1039241" h="171138">
                  <a:moveTo>
                    <a:pt x="85569" y="0"/>
                  </a:moveTo>
                  <a:lnTo>
                    <a:pt x="953672" y="0"/>
                  </a:lnTo>
                  <a:cubicBezTo>
                    <a:pt x="976367" y="0"/>
                    <a:pt x="998132" y="9015"/>
                    <a:pt x="1014179" y="25063"/>
                  </a:cubicBezTo>
                  <a:cubicBezTo>
                    <a:pt x="1030226" y="41110"/>
                    <a:pt x="1039241" y="62875"/>
                    <a:pt x="1039241" y="85569"/>
                  </a:cubicBezTo>
                  <a:lnTo>
                    <a:pt x="1039241" y="85569"/>
                  </a:lnTo>
                  <a:cubicBezTo>
                    <a:pt x="1039241" y="132827"/>
                    <a:pt x="1000931" y="171138"/>
                    <a:pt x="953672" y="171138"/>
                  </a:cubicBezTo>
                  <a:lnTo>
                    <a:pt x="85569" y="171138"/>
                  </a:lnTo>
                  <a:cubicBezTo>
                    <a:pt x="62875" y="171138"/>
                    <a:pt x="41110" y="162123"/>
                    <a:pt x="25063" y="146075"/>
                  </a:cubicBezTo>
                  <a:cubicBezTo>
                    <a:pt x="9015" y="130028"/>
                    <a:pt x="0" y="108263"/>
                    <a:pt x="0" y="85569"/>
                  </a:cubicBezTo>
                  <a:lnTo>
                    <a:pt x="0" y="85569"/>
                  </a:lnTo>
                  <a:cubicBezTo>
                    <a:pt x="0" y="62875"/>
                    <a:pt x="9015" y="41110"/>
                    <a:pt x="25063" y="25063"/>
                  </a:cubicBezTo>
                  <a:cubicBezTo>
                    <a:pt x="41110" y="9015"/>
                    <a:pt x="62875" y="0"/>
                    <a:pt x="85569" y="0"/>
                  </a:cubicBezTo>
                  <a:close/>
                </a:path>
              </a:pathLst>
            </a:custGeom>
            <a:solidFill>
              <a:srgbClr val="839BB2"/>
            </a:solidFill>
            <a:ln w="9525" cap="rnd">
              <a:solidFill>
                <a:srgbClr val="374756"/>
              </a:soli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92164" y="-1361686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b="1" spc="279">
                  <a:solidFill>
                    <a:srgbClr val="FFFFFF"/>
                  </a:solidFill>
                  <a:latin typeface="思源黑体 2 Bold" panose="020B0600000000000000" charset="-122"/>
                  <a:ea typeface="思源黑体 2 Bold" panose="020B0600000000000000" charset="-122"/>
                  <a:cs typeface="思源黑体 2 Bold" panose="020B0600000000000000" charset="-122"/>
                  <a:sym typeface="思源黑体 2 Bold" panose="020B0600000000000000" charset="-122"/>
                </a:rPr>
                <a:t>目标市场</a:t>
              </a:r>
              <a:endParaRPr lang="en-US" sz="2800" b="1" spc="279">
                <a:solidFill>
                  <a:srgbClr val="FFFFFF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78593" y="3676217"/>
            <a:ext cx="3034275" cy="511791"/>
            <a:chOff x="0" y="-16160"/>
            <a:chExt cx="4045700" cy="682389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045700" cy="666229"/>
              <a:chOff x="0" y="0"/>
              <a:chExt cx="1039241" cy="17113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039241" cy="171138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38">
                    <a:moveTo>
                      <a:pt x="85569" y="0"/>
                    </a:moveTo>
                    <a:lnTo>
                      <a:pt x="953672" y="0"/>
                    </a:lnTo>
                    <a:cubicBezTo>
                      <a:pt x="976367" y="0"/>
                      <a:pt x="998132" y="9015"/>
                      <a:pt x="1014179" y="25063"/>
                    </a:cubicBezTo>
                    <a:cubicBezTo>
                      <a:pt x="1030226" y="41110"/>
                      <a:pt x="1039241" y="62875"/>
                      <a:pt x="1039241" y="85569"/>
                    </a:cubicBezTo>
                    <a:lnTo>
                      <a:pt x="1039241" y="85569"/>
                    </a:lnTo>
                    <a:cubicBezTo>
                      <a:pt x="1039241" y="132827"/>
                      <a:pt x="1000931" y="171138"/>
                      <a:pt x="953672" y="171138"/>
                    </a:cubicBezTo>
                    <a:lnTo>
                      <a:pt x="85569" y="171138"/>
                    </a:lnTo>
                    <a:cubicBezTo>
                      <a:pt x="62875" y="171138"/>
                      <a:pt x="41110" y="162123"/>
                      <a:pt x="25063" y="146075"/>
                    </a:cubicBezTo>
                    <a:cubicBezTo>
                      <a:pt x="9015" y="130028"/>
                      <a:pt x="0" y="108263"/>
                      <a:pt x="0" y="85569"/>
                    </a:cubicBezTo>
                    <a:lnTo>
                      <a:pt x="0" y="85569"/>
                    </a:lnTo>
                    <a:cubicBezTo>
                      <a:pt x="0" y="62875"/>
                      <a:pt x="9015" y="41110"/>
                      <a:pt x="25063" y="25063"/>
                    </a:cubicBezTo>
                    <a:cubicBezTo>
                      <a:pt x="41110" y="9015"/>
                      <a:pt x="62875" y="0"/>
                      <a:pt x="85569" y="0"/>
                    </a:cubicBezTo>
                    <a:close/>
                  </a:path>
                </a:pathLst>
              </a:custGeom>
              <a:solidFill>
                <a:srgbClr val="839BB2"/>
              </a:solidFill>
              <a:ln w="9525" cap="rnd">
                <a:solidFill>
                  <a:srgbClr val="374756"/>
                </a:solidFill>
                <a:prstDash val="solid"/>
                <a:round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1039241" cy="218763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b="1" spc="279">
                  <a:solidFill>
                    <a:srgbClr val="FFFFFF"/>
                  </a:solidFill>
                  <a:latin typeface="思源黑体 2 Bold" panose="020B0600000000000000" charset="-122"/>
                  <a:ea typeface="思源黑体 2 Bold" panose="020B0600000000000000" charset="-122"/>
                  <a:cs typeface="思源黑体 2 Bold" panose="020B0600000000000000" charset="-122"/>
                  <a:sym typeface="思源黑体 2 Bold" panose="020B0600000000000000" charset="-122"/>
                </a:rPr>
                <a:t>营销渠道</a:t>
              </a:r>
              <a:endParaRPr lang="en-US" sz="2800" b="1" spc="279">
                <a:solidFill>
                  <a:srgbClr val="FFFFFF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678534" y="5926881"/>
            <a:ext cx="3731729" cy="511791"/>
            <a:chOff x="0" y="-16160"/>
            <a:chExt cx="4045700" cy="682389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4045700" cy="666229"/>
              <a:chOff x="0" y="0"/>
              <a:chExt cx="1039241" cy="17113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039241" cy="171138"/>
              </a:xfrm>
              <a:custGeom>
                <a:avLst/>
                <a:gdLst/>
                <a:ahLst/>
                <a:cxnLst/>
                <a:rect l="l" t="t" r="r" b="b"/>
                <a:pathLst>
                  <a:path w="1039241" h="171138">
                    <a:moveTo>
                      <a:pt x="85569" y="0"/>
                    </a:moveTo>
                    <a:lnTo>
                      <a:pt x="953672" y="0"/>
                    </a:lnTo>
                    <a:cubicBezTo>
                      <a:pt x="976367" y="0"/>
                      <a:pt x="998132" y="9015"/>
                      <a:pt x="1014179" y="25063"/>
                    </a:cubicBezTo>
                    <a:cubicBezTo>
                      <a:pt x="1030226" y="41110"/>
                      <a:pt x="1039241" y="62875"/>
                      <a:pt x="1039241" y="85569"/>
                    </a:cubicBezTo>
                    <a:lnTo>
                      <a:pt x="1039241" y="85569"/>
                    </a:lnTo>
                    <a:cubicBezTo>
                      <a:pt x="1039241" y="132827"/>
                      <a:pt x="1000931" y="171138"/>
                      <a:pt x="953672" y="171138"/>
                    </a:cubicBezTo>
                    <a:lnTo>
                      <a:pt x="85569" y="171138"/>
                    </a:lnTo>
                    <a:cubicBezTo>
                      <a:pt x="62875" y="171138"/>
                      <a:pt x="41110" y="162123"/>
                      <a:pt x="25063" y="146075"/>
                    </a:cubicBezTo>
                    <a:cubicBezTo>
                      <a:pt x="9015" y="130028"/>
                      <a:pt x="0" y="108263"/>
                      <a:pt x="0" y="85569"/>
                    </a:cubicBezTo>
                    <a:lnTo>
                      <a:pt x="0" y="85569"/>
                    </a:lnTo>
                    <a:cubicBezTo>
                      <a:pt x="0" y="62875"/>
                      <a:pt x="9015" y="41110"/>
                      <a:pt x="25063" y="25063"/>
                    </a:cubicBezTo>
                    <a:cubicBezTo>
                      <a:pt x="41110" y="9015"/>
                      <a:pt x="62875" y="0"/>
                      <a:pt x="85569" y="0"/>
                    </a:cubicBezTo>
                    <a:close/>
                  </a:path>
                </a:pathLst>
              </a:custGeom>
              <a:solidFill>
                <a:srgbClr val="839BB2"/>
              </a:solidFill>
              <a:ln w="9525" cap="rnd">
                <a:solidFill>
                  <a:srgbClr val="374756"/>
                </a:solidFill>
                <a:prstDash val="solid"/>
                <a:round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1039241" cy="218763"/>
              </a:xfrm>
              <a:prstGeom prst="rect">
                <a:avLst/>
              </a:prstGeom>
            </p:spPr>
            <p:txBody>
              <a:bodyPr lIns="34493" tIns="34493" rIns="34493" bIns="34493" rtlCol="0" anchor="ctr"/>
              <a:lstStyle/>
              <a:p>
                <a:pPr marL="0" lvl="0" indent="0" algn="ctr">
                  <a:lnSpc>
                    <a:spcPts val="289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92086" y="-16160"/>
              <a:ext cx="3461527" cy="66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  <a:spcBef>
                  <a:spcPct val="0"/>
                </a:spcBef>
              </a:pPr>
              <a:r>
                <a:rPr lang="zh-CN" altLang="en-US" sz="2800" b="1" spc="279">
                  <a:solidFill>
                    <a:srgbClr val="FFFFFF"/>
                  </a:solidFill>
                  <a:latin typeface="思源黑体 2 Bold" panose="020B0600000000000000" charset="-122"/>
                  <a:ea typeface="思源黑体 2 Bold" panose="020B0600000000000000" charset="-122"/>
                  <a:cs typeface="思源黑体 2 Bold" panose="020B0600000000000000" charset="-122"/>
                  <a:sym typeface="思源黑体 2 Bold" panose="020B0600000000000000" charset="-122"/>
                </a:rPr>
                <a:t>广告与促销策略</a:t>
              </a:r>
              <a:endParaRPr lang="en-US" sz="2800" b="1" spc="279">
                <a:solidFill>
                  <a:srgbClr val="FFFFFF"/>
                </a:solidFill>
                <a:latin typeface="思源黑体 2 Bold" panose="020B0600000000000000" charset="-122"/>
                <a:ea typeface="思源黑体 2 Bold" panose="020B0600000000000000" charset="-122"/>
                <a:cs typeface="思源黑体 2 Bold" panose="020B0600000000000000" charset="-122"/>
                <a:sym typeface="思源黑体 2 Bold" panose="020B0600000000000000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62881" y="376488"/>
            <a:ext cx="17646649" cy="9544806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011537" y="554107"/>
            <a:ext cx="4507230" cy="915670"/>
          </a:xfrm>
          <a:custGeom>
            <a:avLst/>
            <a:gdLst/>
            <a:ahLst/>
            <a:cxnLst/>
            <a:rect l="l" t="t" r="r" b="b"/>
            <a:pathLst>
              <a:path w="1513373" h="307480">
                <a:moveTo>
                  <a:pt x="0" y="0"/>
                </a:moveTo>
                <a:lnTo>
                  <a:pt x="1513373" y="0"/>
                </a:lnTo>
                <a:lnTo>
                  <a:pt x="1513373" y="307480"/>
                </a:lnTo>
                <a:lnTo>
                  <a:pt x="0" y="307480"/>
                </a:lnTo>
                <a:close/>
              </a:path>
            </a:pathLst>
          </a:custGeom>
          <a:solidFill>
            <a:srgbClr val="839BB2"/>
          </a:solid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7296952" y="609955"/>
            <a:ext cx="4013951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zh-CN" altLang="en-US" sz="4480" spc="309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盈利模式</a:t>
            </a:r>
            <a:endParaRPr lang="en-US" sz="4480" spc="309">
              <a:solidFill>
                <a:srgbClr val="FFFFFF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5961383" y="2604627"/>
            <a:ext cx="6244261" cy="624426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39BB2">
                  <a:alpha val="81961"/>
                </a:srgbClr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378794" y="3022037"/>
            <a:ext cx="5409440" cy="5409440"/>
          </a:xfrm>
          <a:custGeom>
            <a:avLst/>
            <a:gdLst/>
            <a:ahLst/>
            <a:cxnLst/>
            <a:rect l="l" t="t" r="r" b="b"/>
            <a:pathLst>
              <a:path w="5409440" h="5409440">
                <a:moveTo>
                  <a:pt x="0" y="0"/>
                </a:moveTo>
                <a:lnTo>
                  <a:pt x="5409440" y="0"/>
                </a:lnTo>
                <a:lnTo>
                  <a:pt x="5409440" y="5409440"/>
                </a:lnTo>
                <a:lnTo>
                  <a:pt x="0" y="5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6648184" y="3291437"/>
            <a:ext cx="4870661" cy="4870641"/>
            <a:chOff x="0" y="0"/>
            <a:chExt cx="6350000" cy="6349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r="-49952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6546714" y="2719112"/>
            <a:ext cx="1006227" cy="981884"/>
            <a:chOff x="0" y="0"/>
            <a:chExt cx="812800" cy="7931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93136"/>
            </a:xfrm>
            <a:custGeom>
              <a:avLst/>
              <a:gdLst/>
              <a:ahLst/>
              <a:cxnLst/>
              <a:rect l="l" t="t" r="r" b="b"/>
              <a:pathLst>
                <a:path w="812800" h="793136">
                  <a:moveTo>
                    <a:pt x="406400" y="0"/>
                  </a:moveTo>
                  <a:cubicBezTo>
                    <a:pt x="181951" y="0"/>
                    <a:pt x="0" y="177550"/>
                    <a:pt x="0" y="396568"/>
                  </a:cubicBezTo>
                  <a:cubicBezTo>
                    <a:pt x="0" y="615587"/>
                    <a:pt x="181951" y="793136"/>
                    <a:pt x="406400" y="793136"/>
                  </a:cubicBezTo>
                  <a:cubicBezTo>
                    <a:pt x="630849" y="793136"/>
                    <a:pt x="812800" y="615587"/>
                    <a:pt x="812800" y="396568"/>
                  </a:cubicBezTo>
                  <a:cubicBezTo>
                    <a:pt x="812800" y="177550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36257"/>
              <a:ext cx="660400" cy="68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802636" y="2763978"/>
            <a:ext cx="494391" cy="79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FFFFFF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372622" y="5711714"/>
            <a:ext cx="1006227" cy="981884"/>
            <a:chOff x="0" y="0"/>
            <a:chExt cx="812800" cy="7931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793136"/>
            </a:xfrm>
            <a:custGeom>
              <a:avLst/>
              <a:gdLst/>
              <a:ahLst/>
              <a:cxnLst/>
              <a:rect l="l" t="t" r="r" b="b"/>
              <a:pathLst>
                <a:path w="812800" h="793136">
                  <a:moveTo>
                    <a:pt x="406400" y="0"/>
                  </a:moveTo>
                  <a:cubicBezTo>
                    <a:pt x="181951" y="0"/>
                    <a:pt x="0" y="177550"/>
                    <a:pt x="0" y="396568"/>
                  </a:cubicBezTo>
                  <a:cubicBezTo>
                    <a:pt x="0" y="615587"/>
                    <a:pt x="181951" y="793136"/>
                    <a:pt x="406400" y="793136"/>
                  </a:cubicBezTo>
                  <a:cubicBezTo>
                    <a:pt x="630849" y="793136"/>
                    <a:pt x="812800" y="615587"/>
                    <a:pt x="812800" y="396568"/>
                  </a:cubicBezTo>
                  <a:cubicBezTo>
                    <a:pt x="812800" y="177550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cap="rnd">
              <a:noFill/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36257"/>
              <a:ext cx="660400" cy="68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628536" y="5756530"/>
            <a:ext cx="494391" cy="79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4000" b="1" u="none" strike="noStrike">
                <a:solidFill>
                  <a:srgbClr val="FFFFFF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2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613971" y="2669969"/>
            <a:ext cx="1006227" cy="981884"/>
            <a:chOff x="0" y="0"/>
            <a:chExt cx="812800" cy="7931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793136"/>
            </a:xfrm>
            <a:custGeom>
              <a:avLst/>
              <a:gdLst/>
              <a:ahLst/>
              <a:cxnLst/>
              <a:rect l="l" t="t" r="r" b="b"/>
              <a:pathLst>
                <a:path w="812800" h="793136">
                  <a:moveTo>
                    <a:pt x="406400" y="0"/>
                  </a:moveTo>
                  <a:cubicBezTo>
                    <a:pt x="181951" y="0"/>
                    <a:pt x="0" y="177550"/>
                    <a:pt x="0" y="396568"/>
                  </a:cubicBezTo>
                  <a:cubicBezTo>
                    <a:pt x="0" y="615587"/>
                    <a:pt x="181951" y="793136"/>
                    <a:pt x="406400" y="793136"/>
                  </a:cubicBezTo>
                  <a:cubicBezTo>
                    <a:pt x="630849" y="793136"/>
                    <a:pt x="812800" y="615587"/>
                    <a:pt x="812800" y="396568"/>
                  </a:cubicBezTo>
                  <a:cubicBezTo>
                    <a:pt x="812800" y="177550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cap="rnd">
              <a:noFill/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36257"/>
              <a:ext cx="660400" cy="68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869905" y="2802136"/>
            <a:ext cx="49439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FFFFFF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3</a:t>
            </a:r>
            <a:endParaRPr lang="en-US" sz="4000" b="1" u="none" strike="noStrike">
              <a:solidFill>
                <a:srgbClr val="FFFFFF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1199528" y="6648769"/>
            <a:ext cx="1006227" cy="981884"/>
            <a:chOff x="0" y="0"/>
            <a:chExt cx="812800" cy="79313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793136"/>
            </a:xfrm>
            <a:custGeom>
              <a:avLst/>
              <a:gdLst/>
              <a:ahLst/>
              <a:cxnLst/>
              <a:rect l="l" t="t" r="r" b="b"/>
              <a:pathLst>
                <a:path w="812800" h="793136">
                  <a:moveTo>
                    <a:pt x="406400" y="0"/>
                  </a:moveTo>
                  <a:cubicBezTo>
                    <a:pt x="181951" y="0"/>
                    <a:pt x="0" y="177550"/>
                    <a:pt x="0" y="396568"/>
                  </a:cubicBezTo>
                  <a:cubicBezTo>
                    <a:pt x="0" y="615587"/>
                    <a:pt x="181951" y="793136"/>
                    <a:pt x="406400" y="793136"/>
                  </a:cubicBezTo>
                  <a:cubicBezTo>
                    <a:pt x="630849" y="793136"/>
                    <a:pt x="812800" y="615587"/>
                    <a:pt x="812800" y="396568"/>
                  </a:cubicBezTo>
                  <a:cubicBezTo>
                    <a:pt x="812800" y="177550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839BB2"/>
            </a:solidFill>
            <a:ln cap="rnd">
              <a:noFill/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36257"/>
              <a:ext cx="660400" cy="68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9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55371" y="6693655"/>
            <a:ext cx="49439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FFFFFF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4</a:t>
            </a:r>
            <a:endParaRPr lang="en-US" sz="4000" b="1" u="none" strike="noStrike">
              <a:solidFill>
                <a:srgbClr val="FFFFFF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34366" y="3458261"/>
            <a:ext cx="5327115" cy="2102502"/>
          </a:xfrm>
          <a:prstGeom prst="rect">
            <a:avLst/>
          </a:prstGeom>
          <a:ln w="19050" cmpd="sng">
            <a:solidFill>
              <a:srgbClr val="2E75B6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核心来源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：对平台内达成的交易订单收取服务佣金。</a:t>
            </a:r>
            <a:endParaRPr lang="en-US" altLang="zh-CN" sz="2000" u="none" strike="noStrike">
              <a:solidFill>
                <a:srgbClr val="37475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2" panose="020B0500000000000000" charset="-122"/>
            </a:endParaRP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收费标准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：单价超过</a:t>
            </a:r>
            <a:r>
              <a:rPr lang="en-US" altLang="zh-CN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50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元的订单，收取</a:t>
            </a:r>
            <a:r>
              <a:rPr lang="en-US" altLang="zh-CN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5% 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交易佣金；毕业季</a:t>
            </a:r>
            <a:r>
              <a:rPr lang="en-US" altLang="zh-CN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 “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代卖服务</a:t>
            </a:r>
            <a:r>
              <a:rPr lang="en-US" altLang="zh-CN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”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（如代理出售自行车、洗衣机等大件物品），收取</a:t>
            </a:r>
            <a:r>
              <a:rPr lang="en-US" altLang="zh-CN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10% </a:t>
            </a:r>
            <a:r>
              <a:rPr lang="zh-CN" altLang="en-US" sz="2000" u="none" strike="noStrike">
                <a:solidFill>
                  <a:srgbClr val="37475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思源黑体 2" panose="020B0500000000000000" charset="-122"/>
              </a:rPr>
              <a:t>代卖抽成。</a:t>
            </a:r>
            <a:endParaRPr lang="en-US" sz="2000" u="none" strike="noStrike">
              <a:solidFill>
                <a:srgbClr val="37475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思源黑体 2" panose="020B0500000000000000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34361" y="6693655"/>
            <a:ext cx="5326967" cy="2851635"/>
          </a:xfrm>
          <a:prstGeom prst="rect">
            <a:avLst/>
          </a:prstGeom>
          <a:ln w="19050" cmpd="sng">
            <a:solidFill>
              <a:srgbClr val="2E75B6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衍生收入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：向校内商户提供精准广告投放服务。</a:t>
            </a:r>
            <a:endParaRPr lang="en-US" altLang="zh-CN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合作对象：校园内奶茶店、打印店、数码维修店等高频触达学生的商家。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变现形式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：在平台首页、商品详情页等位置设置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banner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广告位，按展示次数或时长收费；结合促销活动推出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定向推广（如商家优惠券、活动信息推送），收取营销服务费。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51" name="圆角矩形 50"/>
          <p:cNvSpPr/>
          <p:nvPr userDrawn="1"/>
        </p:nvSpPr>
        <p:spPr>
          <a:xfrm>
            <a:off x="4635215" y="2824212"/>
            <a:ext cx="1743635" cy="538942"/>
          </a:xfrm>
          <a:prstGeom prst="roundRect">
            <a:avLst/>
          </a:prstGeom>
          <a:solidFill>
            <a:srgbClr val="E2E6ED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</a:rPr>
              <a:t>交易佣金收入</a:t>
            </a:r>
          </a:p>
        </p:txBody>
      </p:sp>
      <p:sp>
        <p:nvSpPr>
          <p:cNvPr id="52" name="圆角矩形 51"/>
          <p:cNvSpPr/>
          <p:nvPr userDrawn="1"/>
        </p:nvSpPr>
        <p:spPr>
          <a:xfrm>
            <a:off x="2933382" y="6011248"/>
            <a:ext cx="2266725" cy="538942"/>
          </a:xfrm>
          <a:prstGeom prst="roundRect">
            <a:avLst/>
          </a:prstGeom>
          <a:solidFill>
            <a:srgbClr val="E2E6ED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</a:rPr>
              <a:t>校内商家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</a:rPr>
              <a:t>广告收入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3" name="圆角矩形 52"/>
          <p:cNvSpPr/>
          <p:nvPr userDrawn="1"/>
        </p:nvSpPr>
        <p:spPr>
          <a:xfrm>
            <a:off x="11788185" y="2867935"/>
            <a:ext cx="2266725" cy="538942"/>
          </a:xfrm>
          <a:prstGeom prst="roundRect">
            <a:avLst/>
          </a:prstGeom>
          <a:solidFill>
            <a:srgbClr val="E2E6ED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</a:rPr>
              <a:t>增值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</a:rPr>
              <a:t>服务收入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4" name="TextBox 46"/>
          <p:cNvSpPr txBox="1"/>
          <p:nvPr/>
        </p:nvSpPr>
        <p:spPr>
          <a:xfrm>
            <a:off x="11979720" y="7411239"/>
            <a:ext cx="5898082" cy="2378841"/>
          </a:xfrm>
          <a:prstGeom prst="rect">
            <a:avLst/>
          </a:prstGeom>
          <a:ln w="19050" cmpd="sng">
            <a:solidFill>
              <a:srgbClr val="2E75B6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毕业季专项服务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：推出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行李寄存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+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物流打包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增值服务，与快递公司分成利润；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校园服务入口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：集成校园卡充值、打印预约等功能，通过服务导流收取佣金；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环保积分商业化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：与校外环保企业合作，将用户积累的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低碳积分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兑换为品牌商品，从中抽取渠道分成。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  <p:sp>
        <p:nvSpPr>
          <p:cNvPr id="55" name="圆角矩形 54"/>
          <p:cNvSpPr/>
          <p:nvPr userDrawn="1"/>
        </p:nvSpPr>
        <p:spPr>
          <a:xfrm>
            <a:off x="12305305" y="6782897"/>
            <a:ext cx="2266725" cy="538942"/>
          </a:xfrm>
          <a:prstGeom prst="roundRect">
            <a:avLst/>
          </a:prstGeom>
          <a:solidFill>
            <a:srgbClr val="E2E6ED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>
                <a:solidFill>
                  <a:srgbClr val="000000"/>
                </a:solidFill>
              </a:rPr>
              <a:t>长期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</a:rPr>
              <a:t>盈利增长点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6" name="TextBox 46"/>
          <p:cNvSpPr txBox="1"/>
          <p:nvPr/>
        </p:nvSpPr>
        <p:spPr>
          <a:xfrm>
            <a:off x="12432299" y="3585284"/>
            <a:ext cx="5445445" cy="2806824"/>
          </a:xfrm>
          <a:prstGeom prst="rect">
            <a:avLst/>
          </a:prstGeom>
          <a:ln w="19050" cmpd="sng">
            <a:solidFill>
              <a:srgbClr val="2E75B6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en-US" altLang="zh-CN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VIP </a:t>
            </a: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推广服务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：为卖家提供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商品优先展示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权益，按周期（如周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/ 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月）收取费用，适用于急需变现的闲置物品（如毕业季大件商品）。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品牌合作服务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：与校外品牌联合推出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 “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校园专属活动</a:t>
            </a:r>
            <a:r>
              <a:rPr lang="en-US" altLang="zh-CN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”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，收取活动策划与流量曝光费用。</a:t>
            </a:r>
          </a:p>
          <a:p>
            <a:pPr marL="0" lvl="0" indent="0" algn="l">
              <a:lnSpc>
                <a:spcPts val="3000"/>
              </a:lnSpc>
              <a:spcBef>
                <a:spcPct val="0"/>
              </a:spcBef>
            </a:pPr>
            <a:r>
              <a:rPr lang="zh-CN" altLang="en-US" sz="2000" b="1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数据服务</a:t>
            </a:r>
            <a:r>
              <a:rPr lang="zh-CN" altLang="en-US" sz="2000" u="none" strike="noStrike">
                <a:solidFill>
                  <a:srgbClr val="374756"/>
                </a:solidFill>
                <a:latin typeface="思源黑体 2" panose="020B0500000000000000" charset="-122"/>
                <a:ea typeface="思源黑体 2" panose="020B0500000000000000" charset="-122"/>
                <a:cs typeface="思源黑体 2" panose="020B0500000000000000" charset="-122"/>
                <a:sym typeface="思源黑体 2" panose="020B0500000000000000" charset="-122"/>
              </a:rPr>
              <a:t>：向校内商家开放匿名交易数据分析报告，收取数据咨询费</a:t>
            </a:r>
            <a:endParaRPr lang="en-US" sz="2000" u="none" strike="noStrike">
              <a:solidFill>
                <a:srgbClr val="374756"/>
              </a:solidFill>
              <a:latin typeface="思源黑体 2" panose="020B0500000000000000" charset="-122"/>
              <a:ea typeface="思源黑体 2" panose="020B0500000000000000" charset="-122"/>
              <a:cs typeface="思源黑体 2" panose="020B0500000000000000" charset="-122"/>
              <a:sym typeface="思源黑体 2" panose="020B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95435" cy="2925849"/>
            <a:chOff x="0" y="0"/>
            <a:chExt cx="1842419" cy="770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419" cy="770594"/>
            </a:xfrm>
            <a:custGeom>
              <a:avLst/>
              <a:gdLst/>
              <a:ahLst/>
              <a:cxnLst/>
              <a:rect l="l" t="t" r="r" b="b"/>
              <a:pathLst>
                <a:path w="1842419" h="770594">
                  <a:moveTo>
                    <a:pt x="0" y="0"/>
                  </a:moveTo>
                  <a:lnTo>
                    <a:pt x="1842419" y="0"/>
                  </a:lnTo>
                  <a:lnTo>
                    <a:pt x="1842419" y="770594"/>
                  </a:lnTo>
                  <a:lnTo>
                    <a:pt x="0" y="770594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2419" cy="808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574" y="1119724"/>
            <a:ext cx="15886852" cy="8047552"/>
            <a:chOff x="0" y="0"/>
            <a:chExt cx="4184191" cy="2119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4192" cy="2119520"/>
            </a:xfrm>
            <a:custGeom>
              <a:avLst/>
              <a:gdLst/>
              <a:ahLst/>
              <a:cxnLst/>
              <a:rect l="l" t="t" r="r" b="b"/>
              <a:pathLst>
                <a:path w="4184192" h="2119520">
                  <a:moveTo>
                    <a:pt x="0" y="0"/>
                  </a:moveTo>
                  <a:lnTo>
                    <a:pt x="4184192" y="0"/>
                  </a:lnTo>
                  <a:lnTo>
                    <a:pt x="4184192" y="2119520"/>
                  </a:lnTo>
                  <a:lnTo>
                    <a:pt x="0" y="211952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84191" cy="2157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67153" y="3301880"/>
            <a:ext cx="11820847" cy="6985120"/>
            <a:chOff x="0" y="0"/>
            <a:chExt cx="3113310" cy="18397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13310" cy="1839702"/>
            </a:xfrm>
            <a:custGeom>
              <a:avLst/>
              <a:gdLst/>
              <a:ahLst/>
              <a:cxnLst/>
              <a:rect l="l" t="t" r="r" b="b"/>
              <a:pathLst>
                <a:path w="3113310" h="1839702">
                  <a:moveTo>
                    <a:pt x="0" y="0"/>
                  </a:moveTo>
                  <a:lnTo>
                    <a:pt x="3113310" y="0"/>
                  </a:lnTo>
                  <a:lnTo>
                    <a:pt x="3113310" y="1839702"/>
                  </a:lnTo>
                  <a:lnTo>
                    <a:pt x="0" y="1839702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113310" cy="18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684369" y="4825985"/>
            <a:ext cx="9057274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885"/>
              </a:lnSpc>
              <a:spcBef>
                <a:spcPct val="0"/>
              </a:spcBef>
            </a:pPr>
            <a:r>
              <a:rPr lang="en-US" sz="9600" b="1">
                <a:solidFill>
                  <a:srgbClr val="FFFFFF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商业模式画布</a:t>
            </a:r>
            <a:endParaRPr lang="en-US" sz="9600" b="1"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598655" y="4035410"/>
            <a:ext cx="3868498" cy="367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95"/>
              </a:lnSpc>
              <a:spcBef>
                <a:spcPct val="0"/>
              </a:spcBef>
            </a:pPr>
            <a:r>
              <a:rPr lang="en-US" sz="18425" b="1" spc="-1123">
                <a:solidFill>
                  <a:srgbClr val="374756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98655" y="1998199"/>
            <a:ext cx="9998368" cy="2174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30"/>
              </a:lnSpc>
              <a:spcBef>
                <a:spcPct val="0"/>
              </a:spcBef>
            </a:pPr>
            <a:r>
              <a:rPr lang="en-US" sz="10950">
                <a:solidFill>
                  <a:srgbClr val="374756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PART THREE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592071" cy="2075243"/>
            <a:chOff x="0" y="0"/>
            <a:chExt cx="1209434" cy="54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9434" cy="546566"/>
            </a:xfrm>
            <a:custGeom>
              <a:avLst/>
              <a:gdLst/>
              <a:ahLst/>
              <a:cxnLst/>
              <a:rect l="l" t="t" r="r" b="b"/>
              <a:pathLst>
                <a:path w="1209434" h="546566">
                  <a:moveTo>
                    <a:pt x="0" y="0"/>
                  </a:moveTo>
                  <a:lnTo>
                    <a:pt x="1209434" y="0"/>
                  </a:lnTo>
                  <a:lnTo>
                    <a:pt x="1209434" y="546566"/>
                  </a:lnTo>
                  <a:lnTo>
                    <a:pt x="0" y="54656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09434" cy="584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09935" y="8862878"/>
            <a:ext cx="3478065" cy="1424122"/>
            <a:chOff x="0" y="0"/>
            <a:chExt cx="916034" cy="375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34" cy="375077"/>
            </a:xfrm>
            <a:custGeom>
              <a:avLst/>
              <a:gdLst/>
              <a:ahLst/>
              <a:cxnLst/>
              <a:rect l="l" t="t" r="r" b="b"/>
              <a:pathLst>
                <a:path w="916034" h="375077">
                  <a:moveTo>
                    <a:pt x="0" y="0"/>
                  </a:moveTo>
                  <a:lnTo>
                    <a:pt x="916034" y="0"/>
                  </a:lnTo>
                  <a:lnTo>
                    <a:pt x="916034" y="375077"/>
                  </a:lnTo>
                  <a:lnTo>
                    <a:pt x="0" y="375077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6034" cy="413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217" y="131549"/>
            <a:ext cx="17809924" cy="10002337"/>
            <a:chOff x="0" y="0"/>
            <a:chExt cx="4349908" cy="2310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49909" cy="2310628"/>
            </a:xfrm>
            <a:custGeom>
              <a:avLst/>
              <a:gdLst/>
              <a:ahLst/>
              <a:cxnLst/>
              <a:rect l="l" t="t" r="r" b="b"/>
              <a:pathLst>
                <a:path w="4349909" h="2310628">
                  <a:moveTo>
                    <a:pt x="0" y="0"/>
                  </a:moveTo>
                  <a:lnTo>
                    <a:pt x="4349909" y="0"/>
                  </a:lnTo>
                  <a:lnTo>
                    <a:pt x="4349909" y="2310628"/>
                  </a:lnTo>
                  <a:lnTo>
                    <a:pt x="0" y="2310628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49908" cy="2348728"/>
            </a:xfrm>
            <a:prstGeom prst="rect">
              <a:avLst/>
            </a:prstGeom>
            <a:solidFill>
              <a:srgbClr val="DEEBF7">
                <a:alpha val="100000"/>
              </a:srgb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9" name="图片 58" descr="upload_post_object_v2_12052449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535" y="0"/>
            <a:ext cx="15214373" cy="10133979"/>
          </a:xfrm>
          <a:prstGeom prst="rect">
            <a:avLst/>
          </a:prstGeom>
        </p:spPr>
      </p:pic>
      <p:sp>
        <p:nvSpPr>
          <p:cNvPr id="60" name="文本框 59"/>
          <p:cNvSpPr txBox="1"/>
          <p:nvPr userDrawn="1"/>
        </p:nvSpPr>
        <p:spPr>
          <a:xfrm>
            <a:off x="8085360" y="1283644"/>
            <a:ext cx="2932760" cy="514880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>
                <a:highlight>
                  <a:srgbClr val="FFFF00"/>
                </a:highlight>
              </a:rPr>
              <a:t>核心功能</a:t>
            </a:r>
            <a:r>
              <a:rPr lang="zh-CN" altLang="en-US"/>
              <a:t>：为高校学生提供</a:t>
            </a:r>
            <a:r>
              <a:rPr lang="en-US" altLang="zh-CN"/>
              <a:t> “</a:t>
            </a:r>
            <a:r>
              <a:rPr lang="zh-CN" altLang="en-US"/>
              <a:t>线上交易</a:t>
            </a:r>
            <a:r>
              <a:rPr lang="en-US" altLang="zh-CN"/>
              <a:t> + </a:t>
            </a:r>
            <a:r>
              <a:rPr lang="zh-CN" altLang="en-US"/>
              <a:t>线下验货</a:t>
            </a:r>
            <a:r>
              <a:rPr lang="en-US" altLang="zh-CN"/>
              <a:t>” </a:t>
            </a:r>
            <a:r>
              <a:rPr lang="zh-CN" altLang="en-US"/>
              <a:t>的</a:t>
            </a:r>
            <a:r>
              <a:rPr lang="en-US" altLang="zh-CN"/>
              <a:t> C2C </a:t>
            </a:r>
            <a:r>
              <a:rPr lang="zh-CN" altLang="en-US"/>
              <a:t>闲置交易平台，涵盖教材、数码、服饰等品类，支持一键转卖、智能匹配、信用评分及毕业季代卖服务。</a:t>
            </a:r>
          </a:p>
          <a:p>
            <a:r>
              <a:rPr lang="zh-CN" altLang="en-US">
                <a:highlight>
                  <a:srgbClr val="FFFF00"/>
                </a:highlight>
              </a:rPr>
              <a:t>校园垂直服务</a:t>
            </a:r>
            <a:r>
              <a:rPr lang="zh-CN" altLang="en-US"/>
              <a:t>：学号绑定</a:t>
            </a:r>
            <a:r>
              <a:rPr lang="en-US" altLang="zh-CN"/>
              <a:t> + </a:t>
            </a:r>
            <a:r>
              <a:rPr lang="zh-CN" altLang="en-US"/>
              <a:t>实名认证，线下验货点与校内物流协同，优先推荐同校用户，实现</a:t>
            </a:r>
            <a:r>
              <a:rPr lang="en-US" altLang="zh-CN"/>
              <a:t> “</a:t>
            </a:r>
            <a:r>
              <a:rPr lang="zh-CN" altLang="en-US"/>
              <a:t>近场交易</a:t>
            </a:r>
            <a:r>
              <a:rPr lang="en-US" altLang="zh-CN"/>
              <a:t>”</a:t>
            </a:r>
            <a:r>
              <a:rPr lang="zh-CN" altLang="en-US"/>
              <a:t>。</a:t>
            </a:r>
          </a:p>
          <a:p>
            <a:r>
              <a:rPr lang="zh-CN" altLang="en-US">
                <a:highlight>
                  <a:srgbClr val="FFFF00"/>
                </a:highlight>
              </a:rPr>
              <a:t>信任机制</a:t>
            </a:r>
            <a:r>
              <a:rPr lang="zh-CN" altLang="en-US"/>
              <a:t>：基于真实身份的信用积分与互评体系，投诉功能规避不良交易。</a:t>
            </a:r>
          </a:p>
          <a:p>
            <a:r>
              <a:rPr lang="zh-CN" altLang="en-US">
                <a:highlight>
                  <a:srgbClr val="FFFF00"/>
                </a:highlight>
              </a:rPr>
              <a:t>环保激励</a:t>
            </a:r>
            <a:r>
              <a:rPr lang="zh-CN" altLang="en-US"/>
              <a:t>：低碳积分兑换校园福利，推动闲置循环与绿色校园建设。</a:t>
            </a:r>
          </a:p>
          <a:p>
            <a:r>
              <a:rPr lang="zh-CN" altLang="en-US">
                <a:highlight>
                  <a:srgbClr val="FFFF00"/>
                </a:highlight>
              </a:rPr>
              <a:t>用户价值</a:t>
            </a:r>
            <a:r>
              <a:rPr lang="zh-CN" altLang="en-US"/>
              <a:t>：提升交易效率、增强安全信任、降低物流成本、促进资源环保。</a:t>
            </a:r>
          </a:p>
        </p:txBody>
      </p:sp>
      <p:sp>
        <p:nvSpPr>
          <p:cNvPr id="61" name="文本框 60"/>
          <p:cNvSpPr txBox="1"/>
          <p:nvPr userDrawn="1"/>
        </p:nvSpPr>
        <p:spPr>
          <a:xfrm>
            <a:off x="14341007" y="1283729"/>
            <a:ext cx="2523036" cy="40591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>
                <a:highlight>
                  <a:srgbClr val="FFFF00"/>
                </a:highlight>
              </a:rPr>
              <a:t>核心用户</a:t>
            </a:r>
          </a:p>
          <a:p>
            <a:r>
              <a:rPr lang="zh-CN" altLang="en-US" sz="2000"/>
              <a:t>高校在校生（本专科生、研究生），覆盖新生（采购刚需）、毕业生（处理闲置）及高频交易用户（如数码爱好者、社团组织者）。</a:t>
            </a:r>
          </a:p>
          <a:p>
            <a:endParaRPr lang="zh-CN" altLang="en-US" sz="2000"/>
          </a:p>
          <a:p>
            <a:r>
              <a:rPr lang="zh-CN" altLang="en-US" sz="2400">
                <a:highlight>
                  <a:srgbClr val="FFFF00"/>
                </a:highlight>
              </a:rPr>
              <a:t>次级用户</a:t>
            </a:r>
          </a:p>
          <a:p>
            <a:r>
              <a:rPr lang="zh-CN" altLang="en-US" sz="2000"/>
              <a:t>校内商户（如打印店、奶茶店，通过平台推广）、学生社团（转让活动物资）。</a:t>
            </a:r>
          </a:p>
        </p:txBody>
      </p:sp>
      <p:sp>
        <p:nvSpPr>
          <p:cNvPr id="62" name="文本框 61"/>
          <p:cNvSpPr txBox="1"/>
          <p:nvPr userDrawn="1"/>
        </p:nvSpPr>
        <p:spPr>
          <a:xfrm>
            <a:off x="11169071" y="945689"/>
            <a:ext cx="2997453" cy="258445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>
                <a:highlight>
                  <a:srgbClr val="FFFF00"/>
                </a:highlight>
              </a:rPr>
              <a:t>信任维护</a:t>
            </a:r>
            <a:r>
              <a:rPr lang="zh-CN" altLang="en-US"/>
              <a:t>：通过学号认证、信用评分、投诉处理机制建立长期可信关系。</a:t>
            </a:r>
          </a:p>
          <a:p>
            <a:r>
              <a:rPr lang="zh-CN" altLang="en-US">
                <a:highlight>
                  <a:srgbClr val="FFFF00"/>
                </a:highlight>
              </a:rPr>
              <a:t>社区运营</a:t>
            </a:r>
            <a:r>
              <a:rPr lang="zh-CN" altLang="en-US"/>
              <a:t>：推出</a:t>
            </a:r>
            <a:r>
              <a:rPr lang="en-US" altLang="zh-CN"/>
              <a:t> “</a:t>
            </a:r>
            <a:r>
              <a:rPr lang="zh-CN" altLang="en-US"/>
              <a:t>环保贡献榜</a:t>
            </a:r>
            <a:r>
              <a:rPr lang="en-US" altLang="zh-CN"/>
              <a:t>”</a:t>
            </a:r>
            <a:r>
              <a:rPr lang="zh-CN" altLang="en-US"/>
              <a:t>、用户互动活动，增强用户粘性与归属感。</a:t>
            </a:r>
          </a:p>
          <a:p>
            <a:r>
              <a:rPr lang="zh-CN" altLang="en-US">
                <a:highlight>
                  <a:srgbClr val="FFFF00"/>
                </a:highlight>
              </a:rPr>
              <a:t>服务响应</a:t>
            </a:r>
            <a:r>
              <a:rPr lang="zh-CN" altLang="en-US"/>
              <a:t>：客服团队及时处理交易纠纷，仲裁机制快速解决争议订单。</a:t>
            </a: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11018185" y="4319147"/>
            <a:ext cx="3040582" cy="27997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1600">
                <a:highlight>
                  <a:srgbClr val="FFFF00"/>
                </a:highlight>
              </a:rPr>
              <a:t>线上渠道</a:t>
            </a:r>
            <a:r>
              <a:rPr lang="zh-CN" altLang="en-US" sz="1600"/>
              <a:t>：</a:t>
            </a:r>
          </a:p>
          <a:p>
            <a:r>
              <a:rPr lang="zh-CN" altLang="en-US" sz="1600"/>
              <a:t>利用微信小程序等应用，提供商品发布、交易管理、智能推荐等功能；在</a:t>
            </a:r>
            <a:r>
              <a:rPr lang="en-US" altLang="zh-CN" sz="1600"/>
              <a:t>B </a:t>
            </a:r>
            <a:r>
              <a:rPr lang="zh-CN" altLang="en-US" sz="1600"/>
              <a:t>站、抖音、小红书等大学生聚集平台发布宣传内容。</a:t>
            </a:r>
          </a:p>
          <a:p>
            <a:r>
              <a:rPr lang="zh-CN" altLang="en-US" sz="1600">
                <a:highlight>
                  <a:srgbClr val="FFFF00"/>
                </a:highlight>
              </a:rPr>
              <a:t>线下渠道</a:t>
            </a:r>
            <a:r>
              <a:rPr lang="zh-CN" altLang="en-US" sz="1600"/>
              <a:t>：</a:t>
            </a:r>
          </a:p>
          <a:p>
            <a:r>
              <a:rPr lang="zh-CN" altLang="en-US" sz="1600"/>
              <a:t>新生入学季、毕业季在宿舍楼、食堂设展位，通过扫码注册送礼包、免费代卖抽奖等活动吸引用户；与学校后勤、社团联动，接入校园公告栏、新生手册等资源。</a:t>
            </a:r>
          </a:p>
        </p:txBody>
      </p:sp>
      <p:sp>
        <p:nvSpPr>
          <p:cNvPr id="64" name="文本框 63"/>
          <p:cNvSpPr txBox="1"/>
          <p:nvPr userDrawn="1"/>
        </p:nvSpPr>
        <p:spPr>
          <a:xfrm>
            <a:off x="5086096" y="1075076"/>
            <a:ext cx="2745644" cy="286131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>
                <a:highlight>
                  <a:srgbClr val="FFFF00"/>
                </a:highlight>
              </a:rPr>
              <a:t>平台开发与维护</a:t>
            </a:r>
            <a:r>
              <a:rPr lang="zh-CN" altLang="en-US"/>
              <a:t>：持续迭代功能，保障系统稳定性与用户体验。</a:t>
            </a:r>
          </a:p>
          <a:p>
            <a:r>
              <a:rPr lang="zh-CN" altLang="en-US">
                <a:highlight>
                  <a:srgbClr val="FFFF00"/>
                </a:highlight>
              </a:rPr>
              <a:t>用户增长运营</a:t>
            </a:r>
            <a:r>
              <a:rPr lang="zh-CN" altLang="en-US"/>
              <a:t>：线上线下结合的拉新活动、用户留存策略。</a:t>
            </a:r>
          </a:p>
          <a:p>
            <a:r>
              <a:rPr lang="zh-CN" altLang="en-US">
                <a:highlight>
                  <a:srgbClr val="FFFF00"/>
                </a:highlight>
              </a:rPr>
              <a:t>校园生态合作</a:t>
            </a:r>
            <a:r>
              <a:rPr lang="zh-CN" altLang="en-US"/>
              <a:t>：与校内商家、社团、后勤部门建立合作，拓展服务场景。</a:t>
            </a:r>
          </a:p>
        </p:txBody>
      </p:sp>
      <p:sp>
        <p:nvSpPr>
          <p:cNvPr id="66" name="文本框 65"/>
          <p:cNvSpPr txBox="1"/>
          <p:nvPr userDrawn="1"/>
        </p:nvSpPr>
        <p:spPr>
          <a:xfrm>
            <a:off x="2153620" y="1328696"/>
            <a:ext cx="2773964" cy="401411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000">
                <a:highlight>
                  <a:srgbClr val="FFFF00"/>
                </a:highlight>
              </a:rPr>
              <a:t>高校合作方</a:t>
            </a:r>
            <a:r>
              <a:rPr lang="zh-CN" altLang="en-US" sz="2000"/>
              <a:t>：提供学号认证接口、线下场地（验货点、展位）及政策支持。</a:t>
            </a: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技术供应商</a:t>
            </a:r>
            <a:r>
              <a:rPr lang="zh-CN" altLang="en-US" sz="2000"/>
              <a:t>：云服务厂商（阿里云</a:t>
            </a:r>
            <a:r>
              <a:rPr lang="en-US" altLang="zh-CN" sz="2000"/>
              <a:t> / </a:t>
            </a:r>
            <a:r>
              <a:rPr lang="zh-CN" altLang="en-US" sz="2000"/>
              <a:t>腾讯云提供服务器）、物流平台（美团闪送</a:t>
            </a:r>
            <a:r>
              <a:rPr lang="en-US" altLang="zh-CN" sz="2000"/>
              <a:t> / </a:t>
            </a:r>
            <a:r>
              <a:rPr lang="zh-CN" altLang="en-US" sz="2000"/>
              <a:t>顺丰支持中远程配送）。</a:t>
            </a: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校园推广团队</a:t>
            </a:r>
            <a:r>
              <a:rPr lang="zh-CN" altLang="en-US" sz="2000"/>
              <a:t>：学生兼职团队负责地推、社群运营及口碑传播。</a:t>
            </a:r>
          </a:p>
        </p:txBody>
      </p:sp>
      <p:sp>
        <p:nvSpPr>
          <p:cNvPr id="67" name="文本框 66"/>
          <p:cNvSpPr txBox="1"/>
          <p:nvPr userDrawn="1"/>
        </p:nvSpPr>
        <p:spPr>
          <a:xfrm>
            <a:off x="2914478" y="7621631"/>
            <a:ext cx="6055167" cy="203009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000">
                <a:highlight>
                  <a:srgbClr val="FFFF00"/>
                </a:highlight>
              </a:rPr>
              <a:t>固定成本</a:t>
            </a:r>
            <a:r>
              <a:rPr lang="zh-CN" altLang="en-US" sz="2000"/>
              <a:t>：平台开发（</a:t>
            </a:r>
            <a:r>
              <a:rPr lang="en-US" altLang="zh-CN" sz="2000"/>
              <a:t>5 </a:t>
            </a:r>
            <a:r>
              <a:rPr lang="zh-CN" altLang="en-US" sz="2000"/>
              <a:t>万元）、服务器租赁（约</a:t>
            </a:r>
            <a:r>
              <a:rPr lang="en-US" altLang="zh-CN" sz="2000"/>
              <a:t> 2000 </a:t>
            </a:r>
            <a:r>
              <a:rPr lang="zh-CN" altLang="en-US" sz="2000"/>
              <a:t>元</a:t>
            </a:r>
            <a:r>
              <a:rPr lang="en-US" altLang="zh-CN" sz="2000"/>
              <a:t> / </a:t>
            </a:r>
            <a:r>
              <a:rPr lang="zh-CN" altLang="en-US" sz="2000"/>
              <a:t>月）、办公场地租赁。</a:t>
            </a: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变动成本</a:t>
            </a:r>
            <a:r>
              <a:rPr lang="zh-CN" altLang="en-US" sz="2000"/>
              <a:t>：线下推广费用（如展位布置、物料制作，约</a:t>
            </a:r>
            <a:r>
              <a:rPr lang="en-US" altLang="zh-CN" sz="2000"/>
              <a:t> 1000 </a:t>
            </a:r>
            <a:r>
              <a:rPr lang="zh-CN" altLang="en-US" sz="2000"/>
              <a:t>元</a:t>
            </a:r>
            <a:r>
              <a:rPr lang="en-US" altLang="zh-CN" sz="2000"/>
              <a:t> / </a:t>
            </a:r>
            <a:r>
              <a:rPr lang="zh-CN" altLang="en-US" sz="2000"/>
              <a:t>月）、运营人力成本（客服、技术维护）、物流补贴（众包配送佣金）。</a:t>
            </a:r>
          </a:p>
        </p:txBody>
      </p:sp>
      <p:sp>
        <p:nvSpPr>
          <p:cNvPr id="68" name="文本框 67"/>
          <p:cNvSpPr txBox="1"/>
          <p:nvPr userDrawn="1"/>
        </p:nvSpPr>
        <p:spPr>
          <a:xfrm>
            <a:off x="5263874" y="4427774"/>
            <a:ext cx="2710559" cy="27997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1600">
                <a:highlight>
                  <a:srgbClr val="FFFF00"/>
                </a:highlight>
              </a:rPr>
              <a:t>技术资源</a:t>
            </a:r>
            <a:r>
              <a:rPr lang="zh-CN" altLang="en-US" sz="1600"/>
              <a:t>：前后端分离架构、智能匹配算法、信用评分系统、低碳积分体系。</a:t>
            </a:r>
          </a:p>
          <a:p>
            <a:r>
              <a:rPr lang="zh-CN" altLang="en-US" sz="1600">
                <a:highlight>
                  <a:srgbClr val="FFFF00"/>
                </a:highlight>
              </a:rPr>
              <a:t>校园资源</a:t>
            </a:r>
            <a:r>
              <a:rPr lang="zh-CN" altLang="en-US" sz="1600"/>
              <a:t>：高校合作关系（支持学号认证、线下验货点部署）、学生团队（校园推广与配送众包）。</a:t>
            </a:r>
          </a:p>
          <a:p>
            <a:r>
              <a:rPr lang="zh-CN" altLang="en-US" sz="1600">
                <a:highlight>
                  <a:srgbClr val="FFFF00"/>
                </a:highlight>
              </a:rPr>
              <a:t>数据资源</a:t>
            </a:r>
            <a:r>
              <a:rPr lang="zh-CN" altLang="en-US" sz="1600"/>
              <a:t>：用户交易行为数据（优化推荐逻辑）、高校课程信息（教材匹配）。</a:t>
            </a:r>
          </a:p>
        </p:txBody>
      </p:sp>
      <p:sp>
        <p:nvSpPr>
          <p:cNvPr id="69" name="文本框 68"/>
          <p:cNvSpPr txBox="1"/>
          <p:nvPr userDrawn="1"/>
        </p:nvSpPr>
        <p:spPr>
          <a:xfrm>
            <a:off x="10364553" y="7478924"/>
            <a:ext cx="6007614" cy="257206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000">
                <a:highlight>
                  <a:srgbClr val="FFFF00"/>
                </a:highlight>
              </a:rPr>
              <a:t>交易佣金</a:t>
            </a:r>
            <a:r>
              <a:rPr lang="zh-CN" altLang="en-US" sz="2000"/>
              <a:t>：对单价</a:t>
            </a:r>
            <a:r>
              <a:rPr lang="en-US" altLang="zh-CN" sz="2000"/>
              <a:t> &gt; 50 </a:t>
            </a:r>
            <a:r>
              <a:rPr lang="zh-CN" altLang="en-US" sz="2000"/>
              <a:t>元的订单收取</a:t>
            </a:r>
            <a:r>
              <a:rPr lang="en-US" altLang="zh-CN" sz="2000"/>
              <a:t> 5% </a:t>
            </a:r>
            <a:r>
              <a:rPr lang="zh-CN" altLang="en-US" sz="2000"/>
              <a:t>佣金，代卖服务抽成</a:t>
            </a:r>
            <a:r>
              <a:rPr lang="en-US" altLang="zh-CN" sz="2000"/>
              <a:t> 10%</a:t>
            </a:r>
            <a:r>
              <a:rPr lang="zh-CN" altLang="en-US" sz="2000"/>
              <a:t>。</a:t>
            </a: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广告收入</a:t>
            </a:r>
            <a:r>
              <a:rPr lang="zh-CN" altLang="en-US" sz="2000"/>
              <a:t>：校内商家（如打印店、奶茶店）付费投放</a:t>
            </a:r>
            <a:r>
              <a:rPr lang="en-US" altLang="zh-CN" sz="2000"/>
              <a:t> banner </a:t>
            </a:r>
            <a:r>
              <a:rPr lang="zh-CN" altLang="en-US" sz="2000"/>
              <a:t>广告或促销信息。</a:t>
            </a:r>
          </a:p>
          <a:p>
            <a:endParaRPr lang="zh-CN" altLang="en-US" sz="2000"/>
          </a:p>
          <a:p>
            <a:r>
              <a:rPr lang="zh-CN" altLang="en-US" sz="2000">
                <a:highlight>
                  <a:srgbClr val="FFFF00"/>
                </a:highlight>
              </a:rPr>
              <a:t>增值服务</a:t>
            </a:r>
            <a:r>
              <a:rPr lang="zh-CN" altLang="en-US" sz="2000"/>
              <a:t>：卖家</a:t>
            </a:r>
            <a:r>
              <a:rPr lang="en-US" altLang="zh-CN" sz="2000"/>
              <a:t> VIP </a:t>
            </a:r>
            <a:r>
              <a:rPr lang="zh-CN" altLang="en-US" sz="2000"/>
              <a:t>推广（商品优先展示）、与品牌合作的定向营销活动。</a:t>
            </a:r>
          </a:p>
        </p:txBody>
      </p:sp>
      <p:sp>
        <p:nvSpPr>
          <p:cNvPr id="11" name="圆角矩形 10"/>
          <p:cNvSpPr/>
          <p:nvPr userDrawn="1"/>
        </p:nvSpPr>
        <p:spPr>
          <a:xfrm>
            <a:off x="552646" y="330069"/>
            <a:ext cx="1014478" cy="3199999"/>
          </a:xfrm>
          <a:prstGeom prst="roundRect">
            <a:avLst/>
          </a:prstGeom>
          <a:solidFill>
            <a:srgbClr val="9DC3E6">
              <a:alpha val="100000"/>
            </a:srgbClr>
          </a:solidFill>
          <a:ln w="25400" cap="flat" cmpd="sng" algn="ctr">
            <a:solidFill>
              <a:srgbClr val="AEB5C0">
                <a:alpha val="10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717865" y="654973"/>
            <a:ext cx="675005" cy="3059286"/>
          </a:xfrm>
          <a:prstGeom prst="rect">
            <a:avLst/>
          </a:prstGeom>
        </p:spPr>
        <p:txBody>
          <a:bodyPr vert="eaVert" wrap="square" rtlCol="0">
            <a:spAutoFit/>
          </a:bodyPr>
          <a:lstStyle/>
          <a:p>
            <a:r>
              <a:rPr lang="zh-CN" altLang="en-US" sz="3200">
                <a:solidFill>
                  <a:srgbClr val="1F4E79"/>
                </a:solidFill>
              </a:rPr>
              <a:t>商业</a:t>
            </a:r>
            <a:r>
              <a:rPr lang="zh-CN" altLang="en-US" sz="3200">
                <a:solidFill>
                  <a:srgbClr val="1F4E79"/>
                </a:solidFill>
                <a:cs typeface="Arial" panose="020B0604020202020204" pitchFamily="34" charset="0"/>
              </a:rPr>
              <a:t>模式画布</a:t>
            </a:r>
            <a:endParaRPr lang="zh-CN" altLang="en-US" sz="3200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95435" cy="5623558"/>
            <a:chOff x="0" y="0"/>
            <a:chExt cx="1842419" cy="14811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419" cy="1481102"/>
            </a:xfrm>
            <a:custGeom>
              <a:avLst/>
              <a:gdLst/>
              <a:ahLst/>
              <a:cxnLst/>
              <a:rect l="l" t="t" r="r" b="b"/>
              <a:pathLst>
                <a:path w="1842419" h="1481102">
                  <a:moveTo>
                    <a:pt x="0" y="0"/>
                  </a:moveTo>
                  <a:lnTo>
                    <a:pt x="1842419" y="0"/>
                  </a:lnTo>
                  <a:lnTo>
                    <a:pt x="1842419" y="1481102"/>
                  </a:lnTo>
                  <a:lnTo>
                    <a:pt x="0" y="1481102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2419" cy="1519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574" y="1119724"/>
            <a:ext cx="15886852" cy="8047552"/>
            <a:chOff x="0" y="0"/>
            <a:chExt cx="4184191" cy="2119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4192" cy="2119520"/>
            </a:xfrm>
            <a:custGeom>
              <a:avLst/>
              <a:gdLst/>
              <a:ahLst/>
              <a:cxnLst/>
              <a:rect l="l" t="t" r="r" b="b"/>
              <a:pathLst>
                <a:path w="4184192" h="2119520">
                  <a:moveTo>
                    <a:pt x="0" y="0"/>
                  </a:moveTo>
                  <a:lnTo>
                    <a:pt x="4184192" y="0"/>
                  </a:lnTo>
                  <a:lnTo>
                    <a:pt x="4184192" y="2119520"/>
                  </a:lnTo>
                  <a:lnTo>
                    <a:pt x="0" y="211952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84191" cy="2157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29416" y="6310669"/>
            <a:ext cx="3528060" cy="731520"/>
          </a:xfrm>
          <a:custGeom>
            <a:avLst/>
            <a:gdLst/>
            <a:ahLst/>
            <a:cxnLst/>
            <a:rect l="l" t="t" r="r" b="b"/>
            <a:pathLst>
              <a:path w="929288" h="192710">
                <a:moveTo>
                  <a:pt x="0" y="0"/>
                </a:moveTo>
                <a:lnTo>
                  <a:pt x="929288" y="0"/>
                </a:lnTo>
                <a:lnTo>
                  <a:pt x="929288" y="192710"/>
                </a:lnTo>
                <a:lnTo>
                  <a:pt x="0" y="192710"/>
                </a:lnTo>
                <a:close/>
              </a:path>
            </a:pathLst>
          </a:custGeom>
          <a:solidFill>
            <a:srgbClr val="839BB2"/>
          </a:solidFill>
          <a:ln cap="sq">
            <a:noFill/>
            <a:prstDash val="solid"/>
            <a:miter/>
          </a:ln>
        </p:spPr>
      </p:sp>
      <p:grpSp>
        <p:nvGrpSpPr>
          <p:cNvPr id="14" name="Group 14"/>
          <p:cNvGrpSpPr/>
          <p:nvPr/>
        </p:nvGrpSpPr>
        <p:grpSpPr>
          <a:xfrm>
            <a:off x="15707329" y="8552148"/>
            <a:ext cx="2580671" cy="1734852"/>
            <a:chOff x="0" y="0"/>
            <a:chExt cx="679683" cy="4569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9683" cy="456916"/>
            </a:xfrm>
            <a:custGeom>
              <a:avLst/>
              <a:gdLst/>
              <a:ahLst/>
              <a:cxnLst/>
              <a:rect l="l" t="t" r="r" b="b"/>
              <a:pathLst>
                <a:path w="679683" h="456916">
                  <a:moveTo>
                    <a:pt x="0" y="0"/>
                  </a:moveTo>
                  <a:lnTo>
                    <a:pt x="679683" y="0"/>
                  </a:lnTo>
                  <a:lnTo>
                    <a:pt x="679683" y="456916"/>
                  </a:lnTo>
                  <a:lnTo>
                    <a:pt x="0" y="456916"/>
                  </a:lnTo>
                  <a:close/>
                </a:path>
              </a:pathLst>
            </a:custGeom>
            <a:solidFill>
              <a:srgbClr val="839BB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79683" cy="495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851870" y="6310689"/>
            <a:ext cx="2405669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zh-CN" altLang="en-US" sz="30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第</a:t>
            </a:r>
            <a:r>
              <a:rPr lang="en-US" altLang="zh-CN" sz="30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14</a:t>
            </a:r>
            <a:r>
              <a:rPr lang="zh-CN" altLang="en-US" sz="3000">
                <a:solidFill>
                  <a:srgbClr val="FFFFFF"/>
                </a:solidFill>
                <a:latin typeface="思源黑体 1" panose="020B0500000000000000" charset="-122"/>
                <a:ea typeface="思源黑体 1" panose="020B0500000000000000" charset="-122"/>
                <a:cs typeface="思源黑体 1" panose="020B0500000000000000" charset="-122"/>
                <a:sym typeface="思源黑体 1" panose="020B0500000000000000" charset="-122"/>
              </a:rPr>
              <a:t>组</a:t>
            </a:r>
            <a:endParaRPr lang="en-US" sz="3000">
              <a:solidFill>
                <a:srgbClr val="FFFFFF"/>
              </a:solidFill>
              <a:latin typeface="思源黑体 1" panose="020B0500000000000000" charset="-122"/>
              <a:ea typeface="思源黑体 1" panose="020B0500000000000000" charset="-122"/>
              <a:cs typeface="思源黑体 1" panose="020B0500000000000000" charset="-122"/>
              <a:sym typeface="思源黑体 1" panose="020B05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140330" y="3444652"/>
            <a:ext cx="14007341" cy="206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00"/>
              </a:lnSpc>
              <a:spcBef>
                <a:spcPct val="0"/>
              </a:spcBef>
            </a:pPr>
            <a:r>
              <a:rPr lang="en-US" sz="12000" spc="719">
                <a:solidFill>
                  <a:srgbClr val="374756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非常感谢您的观看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11211" y="5457195"/>
            <a:ext cx="11065578" cy="74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5"/>
              </a:lnSpc>
              <a:spcBef>
                <a:spcPct val="0"/>
              </a:spcBef>
            </a:pPr>
            <a:r>
              <a:rPr lang="en-US" sz="3760" b="1" spc="225">
                <a:solidFill>
                  <a:srgbClr val="374756">
                    <a:alpha val="64706"/>
                  </a:srgbClr>
                </a:solidFill>
                <a:latin typeface="Agrandir Medium" panose="00000600000000000000"/>
                <a:ea typeface="Agrandir Medium" panose="00000600000000000000"/>
                <a:cs typeface="Agrandir Medium" panose="00000600000000000000"/>
                <a:sym typeface="Agrandir Medium" panose="00000600000000000000"/>
              </a:rPr>
              <a:t>THANK YOU SO MUCH FOR WATCHING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5861417322834,&quot;left&quot;:180.09889763779526,&quot;top&quot;:142.01889763779528,&quot;width&quot;:1110.094566929133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5861417322834,&quot;left&quot;:180.09889763779526,&quot;top&quot;:142.01889763779528,&quot;width&quot;:1110.094566929133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5861417322834,&quot;left&quot;:180.09889763779526,&quot;top&quot;:142.01889763779528,&quot;width&quot;:1110.094566929133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5861417322834,&quot;left&quot;:180.09889763779526,&quot;top&quot;:142.01889763779528,&quot;width&quot;:1110.094566929133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5861417322834,&quot;left&quot;:180.09889763779526,&quot;top&quot;:142.01889763779528,&quot;width&quot;:1110.094566929133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2.5861417322834,&quot;left&quot;:180.09889763779526,&quot;top&quot;:142.01889763779528,&quot;width&quot;:1110.0945669291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2330</Words>
  <Application>Microsoft Office PowerPoint</Application>
  <PresentationFormat>自定义</PresentationFormat>
  <Paragraphs>126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Calibri</vt:lpstr>
      <vt:lpstr>Agrandir</vt:lpstr>
      <vt:lpstr>思源黑体 2 Bold</vt:lpstr>
      <vt:lpstr>思源黑体 1</vt:lpstr>
      <vt:lpstr>Arial</vt:lpstr>
      <vt:lpstr>Agrandir Medium</vt:lpstr>
      <vt:lpstr>黑体</vt:lpstr>
      <vt:lpstr>微软雅黑</vt:lpstr>
      <vt:lpstr>字由点字倔强黑</vt:lpstr>
      <vt:lpstr>思源黑体 2</vt:lpstr>
      <vt:lpstr>Agrandir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个人工作汇报总结</dc:title>
  <dc:creator>何泽辉</dc:creator>
  <cp:lastModifiedBy>泽辉</cp:lastModifiedBy>
  <cp:revision>4</cp:revision>
  <dcterms:created xsi:type="dcterms:W3CDTF">2025-05-29T14:24:00Z</dcterms:created>
  <dcterms:modified xsi:type="dcterms:W3CDTF">2026-03-19T08:13:45Z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950038CBE54D4B2CA2EA48F7D1665A0B_13</vt:lpwstr>
  </property>
  <property fmtid="{D5CDD505-2E9C-101B-9397-08002B2CF9AE}" pid="3" name="KSOProductBuildVer">
    <vt:lpwstr>2052-12.1.0.21171</vt:lpwstr>
  </property>
</Properties>
</file>