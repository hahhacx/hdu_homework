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heme/theme2.xml" ContentType="application/vnd.openxmlformats-officedocument.them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xml" ContentType="application/vnd.openxmlformats-officedocument.presentationml.notesSlide+xml"/>
  <Override PartName="/ppt/tags/tag150.xml" ContentType="application/vnd.openxmlformats-officedocument.presentationml.tags+xml"/>
  <Override PartName="/ppt/notesSlides/notesSlide2.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3.xml" ContentType="application/vnd.openxmlformats-officedocument.presentationml.notesSlide+xml"/>
  <Override PartName="/ppt/tags/tag154.xml" ContentType="application/vnd.openxmlformats-officedocument.presentationml.tags+xml"/>
  <Override PartName="/ppt/notesSlides/notesSlide4.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5.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tags/tag161.xml" ContentType="application/vnd.openxmlformats-officedocument.presentationml.tags+xml"/>
  <Override PartName="/ppt/tags/tag162.xml" ContentType="application/vnd.openxmlformats-officedocument.presentationml.tags+xml"/>
  <Override PartName="/ppt/notesSlides/notesSlide7.xml" ContentType="application/vnd.openxmlformats-officedocument.presentationml.notesSlide+xml"/>
  <Override PartName="/ppt/charts/chart2.xml" ContentType="application/vnd.openxmlformats-officedocument.drawingml.chart+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66.xml" ContentType="application/vnd.openxmlformats-officedocument.presentationml.tags+xml"/>
  <Override PartName="/ppt/notesSlides/notesSlide9.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0.xml" ContentType="application/vnd.openxmlformats-officedocument.presentationml.notesSlide+xml"/>
  <Override PartName="/ppt/tags/tag170.xml" ContentType="application/vnd.openxmlformats-officedocument.presentationml.tag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71.xml" ContentType="application/vnd.openxmlformats-officedocument.presentationml.tags+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7" r:id="rId2"/>
    <p:sldId id="258" r:id="rId3"/>
    <p:sldId id="260" r:id="rId4"/>
    <p:sldId id="259" r:id="rId5"/>
    <p:sldId id="261" r:id="rId6"/>
    <p:sldId id="262" r:id="rId7"/>
    <p:sldId id="276" r:id="rId8"/>
    <p:sldId id="275" r:id="rId9"/>
    <p:sldId id="263" r:id="rId10"/>
    <p:sldId id="264" r:id="rId11"/>
    <p:sldId id="265" r:id="rId12"/>
    <p:sldId id="266" r:id="rId13"/>
    <p:sldId id="267" r:id="rId14"/>
    <p:sldId id="269" r:id="rId15"/>
    <p:sldId id="268" r:id="rId16"/>
    <p:sldId id="270" r:id="rId17"/>
    <p:sldId id="271" r:id="rId18"/>
    <p:sldId id="274" r:id="rId19"/>
    <p:sldId id="273" r:id="rId20"/>
    <p:sldId id="272" r:id="rId21"/>
    <p:sldId id="256"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泽辉" initials="泽辉"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B2BBF"/>
    <a:srgbClr val="2092BA"/>
    <a:srgbClr val="D0C1B8"/>
    <a:srgbClr val="E5DCD7"/>
    <a:srgbClr val="C7A6F2"/>
    <a:srgbClr val="AE2C5A"/>
    <a:srgbClr val="5E38A2"/>
    <a:srgbClr val="FFCC66"/>
    <a:srgbClr val="FF9999"/>
    <a:srgbClr val="66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9" d="100"/>
          <a:sy n="99" d="100"/>
        </p:scale>
        <p:origin x="568" y="5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2160" b="1" i="0" u="none" strike="noStrike" kern="1200" baseline="0">
                <a:solidFill>
                  <a:schemeClr val="tx1"/>
                </a:solidFill>
                <a:latin typeface="+mn-lt"/>
                <a:ea typeface="+mn-ea"/>
                <a:cs typeface="+mn-cs"/>
              </a:defRPr>
            </a:pPr>
            <a:r>
              <a:rPr lang="zh-CN" altLang="en-US"/>
              <a:t>中国二手交易市场规模持续扩大</a:t>
            </a:r>
          </a:p>
        </c:rich>
      </c:tx>
      <c:overlay val="0"/>
    </c:title>
    <c:autoTitleDeleted val="0"/>
    <c:plotArea>
      <c:layout>
        <c:manualLayout>
          <c:layoutTarget val="inner"/>
          <c:xMode val="edge"/>
          <c:yMode val="edge"/>
          <c:x val="0.110590476190476"/>
          <c:y val="4.6397585816672998E-2"/>
          <c:w val="0.85843332357818702"/>
          <c:h val="0.59356037151702801"/>
        </c:manualLayout>
      </c:layout>
      <c:barChart>
        <c:barDir val="col"/>
        <c:grouping val="clustered"/>
        <c:varyColors val="0"/>
        <c:ser>
          <c:idx val="0"/>
          <c:order val="0"/>
          <c:tx>
            <c:strRef>
              <c:f>Sheet1!$B$1</c:f>
              <c:strCache>
                <c:ptCount val="1"/>
                <c:pt idx="0">
                  <c:v>中国二手交易市场规模（亿元）</c:v>
                </c:pt>
              </c:strCache>
            </c:strRef>
          </c:tx>
          <c:invertIfNegative val="0"/>
          <c:cat>
            <c:strRef>
              <c:f>Sheet1!$A$2:$A$6</c:f>
              <c:strCache>
                <c:ptCount val="5"/>
                <c:pt idx="0">
                  <c:v>2019年</c:v>
                </c:pt>
                <c:pt idx="1">
                  <c:v>2020年</c:v>
                </c:pt>
                <c:pt idx="2">
                  <c:v>2021年</c:v>
                </c:pt>
                <c:pt idx="3">
                  <c:v>2022年</c:v>
                </c:pt>
                <c:pt idx="4">
                  <c:v>2023年</c:v>
                </c:pt>
              </c:strCache>
            </c:strRef>
          </c:cat>
          <c:val>
            <c:numRef>
              <c:f>Sheet1!$B$2:$B$6</c:f>
              <c:numCache>
                <c:formatCode>General</c:formatCode>
                <c:ptCount val="5"/>
                <c:pt idx="0">
                  <c:v>2590</c:v>
                </c:pt>
                <c:pt idx="1">
                  <c:v>3050</c:v>
                </c:pt>
                <c:pt idx="2">
                  <c:v>3600</c:v>
                </c:pt>
                <c:pt idx="3">
                  <c:v>4200</c:v>
                </c:pt>
                <c:pt idx="4">
                  <c:v>5000</c:v>
                </c:pt>
              </c:numCache>
            </c:numRef>
          </c:val>
          <c:extLst>
            <c:ext xmlns:c16="http://schemas.microsoft.com/office/drawing/2014/chart" uri="{C3380CC4-5D6E-409C-BE32-E72D297353CC}">
              <c16:uniqueId val="{00000000-68EE-4B8C-88B8-38FC83ABE5E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113994440"/>
        <c:crosses val="autoZero"/>
        <c:auto val="1"/>
        <c:lblAlgn val="ctr"/>
        <c:lblOffset val="100"/>
        <c:noMultiLvlLbl val="0"/>
      </c:catAx>
      <c:valAx>
        <c:axId val="-2113994440"/>
        <c:scaling>
          <c:orientation val="minMax"/>
          <c:max val="6000"/>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8027336"/>
        <c:crosses val="autoZero"/>
        <c:crossBetween val="between"/>
      </c:valAx>
    </c:plotArea>
    <c:plotVisOnly val="1"/>
    <c:dispBlanksAs val="gap"/>
    <c:showDLblsOverMax val="0"/>
    <c:extLst>
      <c:ext uri="{0b15fc19-7d7d-44ad-8c2d-2c3a37ce22c3}">
        <chartProps xmlns="https://web.wps.cn/et/2018/main" chartId="{db22ed17-f29e-421f-a574-db22cabd4479}"/>
      </c:ext>
    </c:extLst>
  </c:chart>
  <c:txPr>
    <a:bodyPr/>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endParaRPr lang="zh-CN" altLang="en-US"/>
          </a:p>
        </c:rich>
      </c:tx>
      <c:layout>
        <c:manualLayout>
          <c:xMode val="edge"/>
          <c:yMode val="edge"/>
          <c:x val="0.12732364028002199"/>
          <c:y val="3.1933578157432498E-3"/>
        </c:manualLayout>
      </c:layout>
      <c:overlay val="0"/>
    </c:title>
    <c:autoTitleDeleted val="0"/>
    <c:plotArea>
      <c:layout>
        <c:manualLayout>
          <c:layoutTarget val="inner"/>
          <c:xMode val="edge"/>
          <c:yMode val="edge"/>
          <c:x val="7.2326460000254403E-2"/>
          <c:y val="0.17814310014696999"/>
          <c:w val="0.92767361111111102"/>
          <c:h val="0.58391975308641997"/>
        </c:manualLayout>
      </c:layout>
      <c:barChart>
        <c:barDir val="col"/>
        <c:grouping val="clustered"/>
        <c:varyColors val="0"/>
        <c:ser>
          <c:idx val="0"/>
          <c:order val="0"/>
          <c:tx>
            <c:strRef>
              <c:f>Sheet1!$B$1</c:f>
              <c:strCache>
                <c:ptCount val="1"/>
                <c:pt idx="0">
                  <c:v>闲鱼</c:v>
                </c:pt>
              </c:strCache>
            </c:strRef>
          </c:tx>
          <c:invertIfNegative val="0"/>
          <c:cat>
            <c:strRef>
              <c:f>Sheet1!$A$2:$A$5</c:f>
              <c:strCache>
                <c:ptCount val="4"/>
                <c:pt idx="0">
                  <c:v>交易安全</c:v>
                </c:pt>
                <c:pt idx="1">
                  <c:v>同校匹配</c:v>
                </c:pt>
                <c:pt idx="2">
                  <c:v>服务定制</c:v>
                </c:pt>
                <c:pt idx="3">
                  <c:v>推广场景</c:v>
                </c:pt>
              </c:strCache>
            </c:strRef>
          </c:cat>
          <c:val>
            <c:numRef>
              <c:f>Sheet1!$B$2:$B$5</c:f>
              <c:numCache>
                <c:formatCode>General</c:formatCode>
                <c:ptCount val="4"/>
                <c:pt idx="0">
                  <c:v>2</c:v>
                </c:pt>
                <c:pt idx="1">
                  <c:v>1</c:v>
                </c:pt>
                <c:pt idx="2">
                  <c:v>2</c:v>
                </c:pt>
                <c:pt idx="3">
                  <c:v>2</c:v>
                </c:pt>
              </c:numCache>
            </c:numRef>
          </c:val>
          <c:extLst>
            <c:ext xmlns:c16="http://schemas.microsoft.com/office/drawing/2014/chart" uri="{C3380CC4-5D6E-409C-BE32-E72D297353CC}">
              <c16:uniqueId val="{00000000-24B0-4AAB-8B38-5F43870AB864}"/>
            </c:ext>
          </c:extLst>
        </c:ser>
        <c:ser>
          <c:idx val="1"/>
          <c:order val="1"/>
          <c:tx>
            <c:strRef>
              <c:f>Sheet1!$C$1</c:f>
              <c:strCache>
                <c:ptCount val="1"/>
                <c:pt idx="0">
                  <c:v>转转</c:v>
                </c:pt>
              </c:strCache>
            </c:strRef>
          </c:tx>
          <c:invertIfNegative val="0"/>
          <c:cat>
            <c:strRef>
              <c:f>Sheet1!$A$2:$A$5</c:f>
              <c:strCache>
                <c:ptCount val="4"/>
                <c:pt idx="0">
                  <c:v>交易安全</c:v>
                </c:pt>
                <c:pt idx="1">
                  <c:v>同校匹配</c:v>
                </c:pt>
                <c:pt idx="2">
                  <c:v>服务定制</c:v>
                </c:pt>
                <c:pt idx="3">
                  <c:v>推广场景</c:v>
                </c:pt>
              </c:strCache>
            </c:strRef>
          </c:cat>
          <c:val>
            <c:numRef>
              <c:f>Sheet1!$C$2:$C$5</c:f>
              <c:numCache>
                <c:formatCode>General</c:formatCode>
                <c:ptCount val="4"/>
                <c:pt idx="0">
                  <c:v>3</c:v>
                </c:pt>
                <c:pt idx="1">
                  <c:v>1</c:v>
                </c:pt>
                <c:pt idx="2">
                  <c:v>2</c:v>
                </c:pt>
                <c:pt idx="3">
                  <c:v>1</c:v>
                </c:pt>
              </c:numCache>
            </c:numRef>
          </c:val>
          <c:extLst>
            <c:ext xmlns:c16="http://schemas.microsoft.com/office/drawing/2014/chart" uri="{C3380CC4-5D6E-409C-BE32-E72D297353CC}">
              <c16:uniqueId val="{00000001-24B0-4AAB-8B38-5F43870AB864}"/>
            </c:ext>
          </c:extLst>
        </c:ser>
        <c:ser>
          <c:idx val="2"/>
          <c:order val="2"/>
          <c:tx>
            <c:strRef>
              <c:f>Sheet1!$D$1</c:f>
              <c:strCache>
                <c:ptCount val="1"/>
                <c:pt idx="0">
                  <c:v>校易通</c:v>
                </c:pt>
              </c:strCache>
            </c:strRef>
          </c:tx>
          <c:invertIfNegative val="0"/>
          <c:cat>
            <c:strRef>
              <c:f>Sheet1!$A$2:$A$5</c:f>
              <c:strCache>
                <c:ptCount val="4"/>
                <c:pt idx="0">
                  <c:v>交易安全</c:v>
                </c:pt>
                <c:pt idx="1">
                  <c:v>同校匹配</c:v>
                </c:pt>
                <c:pt idx="2">
                  <c:v>服务定制</c:v>
                </c:pt>
                <c:pt idx="3">
                  <c:v>推广场景</c:v>
                </c:pt>
              </c:strCache>
            </c:strRef>
          </c:cat>
          <c:val>
            <c:numRef>
              <c:f>Sheet1!$D$2:$D$5</c:f>
              <c:numCache>
                <c:formatCode>General</c:formatCode>
                <c:ptCount val="4"/>
                <c:pt idx="0">
                  <c:v>5</c:v>
                </c:pt>
                <c:pt idx="1">
                  <c:v>5</c:v>
                </c:pt>
                <c:pt idx="2">
                  <c:v>5</c:v>
                </c:pt>
                <c:pt idx="3">
                  <c:v>5</c:v>
                </c:pt>
              </c:numCache>
            </c:numRef>
          </c:val>
          <c:extLst>
            <c:ext xmlns:c16="http://schemas.microsoft.com/office/drawing/2014/chart" uri="{C3380CC4-5D6E-409C-BE32-E72D297353CC}">
              <c16:uniqueId val="{00000002-24B0-4AAB-8B38-5F43870AB86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113994440"/>
        <c:crosses val="autoZero"/>
        <c:auto val="1"/>
        <c:lblAlgn val="ctr"/>
        <c:lblOffset val="100"/>
        <c:noMultiLvlLbl val="0"/>
      </c:catAx>
      <c:valAx>
        <c:axId val="-2113994440"/>
        <c:scaling>
          <c:orientation val="minMax"/>
          <c:max val="5"/>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crossAx val="-2068027336"/>
        <c:crosses val="autoZero"/>
        <c:crossBetween val="between"/>
      </c:valAx>
    </c:plotArea>
    <c:legend>
      <c:legendPos val="b"/>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2fc7faed-ce78-4e65-bf73-1c3743261c90}"/>
      </c:ext>
    </c:extLst>
  </c:chart>
  <c:txPr>
    <a:bodyPr/>
    <a:lstStyle/>
    <a:p>
      <a:pPr>
        <a:defRPr lang="zh-CN"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4CA7B40-9EB7-4C77-8556-119F053A3BC1}" type="doc">
      <dgm:prSet loTypeId="urn:microsoft.com/office/officeart/2005/8/layout/process2" loCatId="process" qsTypeId="urn:microsoft.com/office/officeart/2005/8/quickstyle/simple1#1" qsCatId="simple" csTypeId="urn:microsoft.com/office/officeart/2005/8/colors/accent1_2#1" csCatId="accent1" phldr="0"/>
      <dgm:spPr/>
    </dgm:pt>
    <dgm:pt modelId="{7166A9DB-20D7-41DA-B6C7-4E91D46FE0EA}">
      <dgm:prSet phldrT="[文本]" phldr="0" custT="0"/>
      <dgm:spPr/>
      <dgm:t>
        <a:bodyPr vert="horz" wrap="square"/>
        <a:lstStyle/>
        <a:p>
          <a:pPr>
            <a:lnSpc>
              <a:spcPct val="100000"/>
            </a:lnSpc>
            <a:spcBef>
              <a:spcPct val="0"/>
            </a:spcBef>
            <a:spcAft>
              <a:spcPct val="35000"/>
            </a:spcAft>
          </a:pPr>
          <a:r>
            <a:rPr lang="zh-CN" altLang="en-US"/>
            <a:t>前期</a:t>
          </a:r>
        </a:p>
      </dgm:t>
    </dgm:pt>
    <dgm:pt modelId="{408890A2-EC03-4CB7-8006-30F7A6F0770D}" type="parTrans" cxnId="{CA1006CA-109E-40F8-941B-A9937E1CDC03}">
      <dgm:prSet/>
      <dgm:spPr/>
    </dgm:pt>
    <dgm:pt modelId="{581D0B67-AC66-4DBF-B99A-8C26BE060068}" type="sibTrans" cxnId="{CA1006CA-109E-40F8-941B-A9937E1CDC03}">
      <dgm:prSet/>
      <dgm:spPr/>
      <dgm:t>
        <a:bodyPr/>
        <a:lstStyle/>
        <a:p>
          <a:endParaRPr lang="zh-CN" altLang="en-US"/>
        </a:p>
      </dgm:t>
    </dgm:pt>
    <dgm:pt modelId="{6185F46A-CE7B-4D19-AD38-021F06F11723}">
      <dgm:prSet phldrT="[文本]" phldr="0" custT="0"/>
      <dgm:spPr/>
      <dgm:t>
        <a:bodyPr vert="horz" wrap="square"/>
        <a:lstStyle/>
        <a:p>
          <a:pPr>
            <a:lnSpc>
              <a:spcPct val="100000"/>
            </a:lnSpc>
            <a:spcBef>
              <a:spcPct val="0"/>
            </a:spcBef>
            <a:spcAft>
              <a:spcPct val="35000"/>
            </a:spcAft>
          </a:pPr>
          <a:r>
            <a:rPr lang="zh-CN" altLang="en-US"/>
            <a:t>中期</a:t>
          </a:r>
        </a:p>
      </dgm:t>
    </dgm:pt>
    <dgm:pt modelId="{ED707A62-C95F-489D-A288-204A854541E1}" type="parTrans" cxnId="{B1345341-D3A5-4BC8-9ADA-AD4472763EB4}">
      <dgm:prSet/>
      <dgm:spPr/>
    </dgm:pt>
    <dgm:pt modelId="{209F9C23-F1DF-401B-A4AD-306C9EB4247C}" type="sibTrans" cxnId="{B1345341-D3A5-4BC8-9ADA-AD4472763EB4}">
      <dgm:prSet/>
      <dgm:spPr/>
      <dgm:t>
        <a:bodyPr/>
        <a:lstStyle/>
        <a:p>
          <a:endParaRPr lang="zh-CN" altLang="en-US"/>
        </a:p>
      </dgm:t>
    </dgm:pt>
    <dgm:pt modelId="{9D4F7890-BC71-471E-AB1B-9F598D752858}">
      <dgm:prSet phldrT="[文本]" phldr="0" custT="0"/>
      <dgm:spPr/>
      <dgm:t>
        <a:bodyPr vert="horz" wrap="square"/>
        <a:lstStyle/>
        <a:p>
          <a:pPr>
            <a:lnSpc>
              <a:spcPct val="100000"/>
            </a:lnSpc>
            <a:spcBef>
              <a:spcPct val="0"/>
            </a:spcBef>
            <a:spcAft>
              <a:spcPct val="35000"/>
            </a:spcAft>
          </a:pPr>
          <a:r>
            <a:rPr lang="zh-CN" altLang="en-US"/>
            <a:t>后期</a:t>
          </a:r>
        </a:p>
      </dgm:t>
    </dgm:pt>
    <dgm:pt modelId="{8A81A9A1-3D17-4B5E-823A-F4C61634A717}" type="parTrans" cxnId="{E9C09AC7-71F3-45E1-8513-A14DC8972B7F}">
      <dgm:prSet/>
      <dgm:spPr/>
    </dgm:pt>
    <dgm:pt modelId="{A02D4AB0-BE01-45C2-BD3E-6766ADB3B021}" type="sibTrans" cxnId="{E9C09AC7-71F3-45E1-8513-A14DC8972B7F}">
      <dgm:prSet/>
      <dgm:spPr/>
    </dgm:pt>
    <dgm:pt modelId="{7E3F7EC5-1729-4088-BB09-36E02E33A0BF}" type="pres">
      <dgm:prSet presAssocID="{A4CA7B40-9EB7-4C77-8556-119F053A3BC1}" presName="linearFlow" presStyleCnt="0">
        <dgm:presLayoutVars>
          <dgm:resizeHandles val="exact"/>
        </dgm:presLayoutVars>
      </dgm:prSet>
      <dgm:spPr/>
    </dgm:pt>
    <dgm:pt modelId="{E17E57AF-0587-449A-A755-B1B96DEF2BD2}" type="pres">
      <dgm:prSet presAssocID="{7166A9DB-20D7-41DA-B6C7-4E91D46FE0EA}" presName="node" presStyleLbl="node1" presStyleIdx="0" presStyleCnt="3">
        <dgm:presLayoutVars>
          <dgm:bulletEnabled val="1"/>
        </dgm:presLayoutVars>
      </dgm:prSet>
      <dgm:spPr/>
    </dgm:pt>
    <dgm:pt modelId="{11477A19-6F59-488F-BD44-5E3FBE8E3386}" type="pres">
      <dgm:prSet presAssocID="{581D0B67-AC66-4DBF-B99A-8C26BE060068}" presName="sibTrans" presStyleLbl="sibTrans2D1" presStyleIdx="0" presStyleCnt="2"/>
      <dgm:spPr/>
    </dgm:pt>
    <dgm:pt modelId="{1FA9844B-FD2C-4DAF-BE12-A8E3C3B7E384}" type="pres">
      <dgm:prSet presAssocID="{581D0B67-AC66-4DBF-B99A-8C26BE060068}" presName="connectorText" presStyleLbl="sibTrans2D1" presStyleIdx="0" presStyleCnt="2"/>
      <dgm:spPr/>
    </dgm:pt>
    <dgm:pt modelId="{353C71C7-5E8B-4565-86BF-B755B524B25E}" type="pres">
      <dgm:prSet presAssocID="{6185F46A-CE7B-4D19-AD38-021F06F11723}" presName="node" presStyleLbl="node1" presStyleIdx="1" presStyleCnt="3">
        <dgm:presLayoutVars>
          <dgm:bulletEnabled val="1"/>
        </dgm:presLayoutVars>
      </dgm:prSet>
      <dgm:spPr/>
    </dgm:pt>
    <dgm:pt modelId="{06ECC167-6368-4F79-84C6-65D90B9BC4A6}" type="pres">
      <dgm:prSet presAssocID="{209F9C23-F1DF-401B-A4AD-306C9EB4247C}" presName="sibTrans" presStyleLbl="sibTrans2D1" presStyleIdx="1" presStyleCnt="2"/>
      <dgm:spPr/>
    </dgm:pt>
    <dgm:pt modelId="{1AF533A8-48F1-4B19-9CD9-5A2DB7199B85}" type="pres">
      <dgm:prSet presAssocID="{209F9C23-F1DF-401B-A4AD-306C9EB4247C}" presName="connectorText" presStyleLbl="sibTrans2D1" presStyleIdx="1" presStyleCnt="2"/>
      <dgm:spPr/>
    </dgm:pt>
    <dgm:pt modelId="{93DEFB83-998E-4F52-9267-01422D869D93}" type="pres">
      <dgm:prSet presAssocID="{9D4F7890-BC71-471E-AB1B-9F598D752858}" presName="node" presStyleLbl="node1" presStyleIdx="2" presStyleCnt="3">
        <dgm:presLayoutVars>
          <dgm:bulletEnabled val="1"/>
        </dgm:presLayoutVars>
      </dgm:prSet>
      <dgm:spPr/>
    </dgm:pt>
  </dgm:ptLst>
  <dgm:cxnLst>
    <dgm:cxn modelId="{692E2709-3814-47AA-AD70-6EFB750D9800}" type="presOf" srcId="{209F9C23-F1DF-401B-A4AD-306C9EB4247C}" destId="{06ECC167-6368-4F79-84C6-65D90B9BC4A6}" srcOrd="0" destOrd="0" presId="urn:microsoft.com/office/officeart/2005/8/layout/process2"/>
    <dgm:cxn modelId="{A70AFF2A-B566-42C4-A491-3BC51DEA8263}" type="presOf" srcId="{6185F46A-CE7B-4D19-AD38-021F06F11723}" destId="{353C71C7-5E8B-4565-86BF-B755B524B25E}" srcOrd="0" destOrd="0" presId="urn:microsoft.com/office/officeart/2005/8/layout/process2"/>
    <dgm:cxn modelId="{A49A732F-099A-43A4-8DD4-A02F847BB408}" type="presOf" srcId="{9D4F7890-BC71-471E-AB1B-9F598D752858}" destId="{93DEFB83-998E-4F52-9267-01422D869D93}" srcOrd="0" destOrd="0" presId="urn:microsoft.com/office/officeart/2005/8/layout/process2"/>
    <dgm:cxn modelId="{20BF1732-5EF1-406A-9CE4-A64C8C70A45E}" type="presOf" srcId="{581D0B67-AC66-4DBF-B99A-8C26BE060068}" destId="{11477A19-6F59-488F-BD44-5E3FBE8E3386}" srcOrd="0" destOrd="0" presId="urn:microsoft.com/office/officeart/2005/8/layout/process2"/>
    <dgm:cxn modelId="{29E01F35-1851-4CB2-A712-C1931D56FE32}" type="presOf" srcId="{581D0B67-AC66-4DBF-B99A-8C26BE060068}" destId="{1FA9844B-FD2C-4DAF-BE12-A8E3C3B7E384}" srcOrd="1" destOrd="0" presId="urn:microsoft.com/office/officeart/2005/8/layout/process2"/>
    <dgm:cxn modelId="{B1345341-D3A5-4BC8-9ADA-AD4472763EB4}" srcId="{A4CA7B40-9EB7-4C77-8556-119F053A3BC1}" destId="{6185F46A-CE7B-4D19-AD38-021F06F11723}" srcOrd="1" destOrd="0" parTransId="{ED707A62-C95F-489D-A288-204A854541E1}" sibTransId="{209F9C23-F1DF-401B-A4AD-306C9EB4247C}"/>
    <dgm:cxn modelId="{CACDA172-78F8-4DA4-9E09-44A6FEF631ED}" type="presOf" srcId="{209F9C23-F1DF-401B-A4AD-306C9EB4247C}" destId="{1AF533A8-48F1-4B19-9CD9-5A2DB7199B85}" srcOrd="1" destOrd="0" presId="urn:microsoft.com/office/officeart/2005/8/layout/process2"/>
    <dgm:cxn modelId="{D57C9755-9373-4FCA-9057-92E435E65967}" type="presOf" srcId="{A4CA7B40-9EB7-4C77-8556-119F053A3BC1}" destId="{7E3F7EC5-1729-4088-BB09-36E02E33A0BF}" srcOrd="0" destOrd="0" presId="urn:microsoft.com/office/officeart/2005/8/layout/process2"/>
    <dgm:cxn modelId="{6FCA15B9-C1D8-451B-A787-3312C515E980}" type="presOf" srcId="{7166A9DB-20D7-41DA-B6C7-4E91D46FE0EA}" destId="{E17E57AF-0587-449A-A755-B1B96DEF2BD2}" srcOrd="0" destOrd="0" presId="urn:microsoft.com/office/officeart/2005/8/layout/process2"/>
    <dgm:cxn modelId="{E9C09AC7-71F3-45E1-8513-A14DC8972B7F}" srcId="{A4CA7B40-9EB7-4C77-8556-119F053A3BC1}" destId="{9D4F7890-BC71-471E-AB1B-9F598D752858}" srcOrd="2" destOrd="0" parTransId="{8A81A9A1-3D17-4B5E-823A-F4C61634A717}" sibTransId="{A02D4AB0-BE01-45C2-BD3E-6766ADB3B021}"/>
    <dgm:cxn modelId="{CA1006CA-109E-40F8-941B-A9937E1CDC03}" srcId="{A4CA7B40-9EB7-4C77-8556-119F053A3BC1}" destId="{7166A9DB-20D7-41DA-B6C7-4E91D46FE0EA}" srcOrd="0" destOrd="0" parTransId="{408890A2-EC03-4CB7-8006-30F7A6F0770D}" sibTransId="{581D0B67-AC66-4DBF-B99A-8C26BE060068}"/>
    <dgm:cxn modelId="{A950FF7E-5112-401B-85AB-140E84D917A3}" type="presParOf" srcId="{7E3F7EC5-1729-4088-BB09-36E02E33A0BF}" destId="{E17E57AF-0587-449A-A755-B1B96DEF2BD2}" srcOrd="0" destOrd="0" presId="urn:microsoft.com/office/officeart/2005/8/layout/process2"/>
    <dgm:cxn modelId="{35E14662-E71D-4247-9CD8-8178F5E4F71A}" type="presParOf" srcId="{7E3F7EC5-1729-4088-BB09-36E02E33A0BF}" destId="{11477A19-6F59-488F-BD44-5E3FBE8E3386}" srcOrd="1" destOrd="0" presId="urn:microsoft.com/office/officeart/2005/8/layout/process2"/>
    <dgm:cxn modelId="{C9C7BF16-D829-4164-9FE3-61AAD186B38D}" type="presParOf" srcId="{11477A19-6F59-488F-BD44-5E3FBE8E3386}" destId="{1FA9844B-FD2C-4DAF-BE12-A8E3C3B7E384}" srcOrd="0" destOrd="0" presId="urn:microsoft.com/office/officeart/2005/8/layout/process2"/>
    <dgm:cxn modelId="{4399CB42-3AFE-4523-BE46-C8DA18E283F9}" type="presParOf" srcId="{7E3F7EC5-1729-4088-BB09-36E02E33A0BF}" destId="{353C71C7-5E8B-4565-86BF-B755B524B25E}" srcOrd="2" destOrd="0" presId="urn:microsoft.com/office/officeart/2005/8/layout/process2"/>
    <dgm:cxn modelId="{451286F2-6C1E-437A-955F-BCE3DEF6495F}" type="presParOf" srcId="{7E3F7EC5-1729-4088-BB09-36E02E33A0BF}" destId="{06ECC167-6368-4F79-84C6-65D90B9BC4A6}" srcOrd="3" destOrd="0" presId="urn:microsoft.com/office/officeart/2005/8/layout/process2"/>
    <dgm:cxn modelId="{C3E04BBF-9694-44C9-A40B-63375D442850}" type="presParOf" srcId="{06ECC167-6368-4F79-84C6-65D90B9BC4A6}" destId="{1AF533A8-48F1-4B19-9CD9-5A2DB7199B85}" srcOrd="0" destOrd="0" presId="urn:microsoft.com/office/officeart/2005/8/layout/process2"/>
    <dgm:cxn modelId="{9181EC18-22F0-4817-9601-1CB38A88C281}" type="presParOf" srcId="{7E3F7EC5-1729-4088-BB09-36E02E33A0BF}" destId="{93DEFB83-998E-4F52-9267-01422D869D93}" srcOrd="4"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829FD-DD90-4EE7-BCD7-4AF299D6F45A}" type="doc">
      <dgm:prSet loTypeId="urn:microsoft.com/office/officeart/2005/8/layout/chevron2" loCatId="process" qsTypeId="urn:microsoft.com/office/officeart/2005/8/quickstyle/simple1#1" qsCatId="simple" csTypeId="urn:microsoft.com/office/officeart/2005/8/colors/accent1_2#1" csCatId="accent1" phldr="1"/>
      <dgm:spPr/>
      <dgm:t>
        <a:bodyPr/>
        <a:lstStyle/>
        <a:p>
          <a:endParaRPr lang="zh-CN" altLang="en-US"/>
        </a:p>
      </dgm:t>
    </dgm:pt>
    <dgm:pt modelId="{FCC504F5-317D-4294-815B-28489BDC5845}">
      <dgm:prSet phldrT="[文本]" phldr="0" custT="0"/>
      <dgm:spPr/>
      <dgm:t>
        <a:bodyPr vert="horz" wrap="square"/>
        <a:lstStyle/>
        <a:p>
          <a:pPr>
            <a:lnSpc>
              <a:spcPct val="100000"/>
            </a:lnSpc>
            <a:spcBef>
              <a:spcPct val="0"/>
            </a:spcBef>
            <a:spcAft>
              <a:spcPct val="35000"/>
            </a:spcAft>
          </a:pPr>
          <a:r>
            <a:rPr lang="zh-CN" altLang="en-US"/>
            <a:t>计划书</a:t>
          </a:r>
        </a:p>
      </dgm:t>
    </dgm:pt>
    <dgm:pt modelId="{8F05BE86-1921-41BD-B82E-72272E9475E9}" type="parTrans" cxnId="{2F616994-A79F-43D2-8F17-BC79E59DB3B8}">
      <dgm:prSet/>
      <dgm:spPr/>
      <dgm:t>
        <a:bodyPr/>
        <a:lstStyle/>
        <a:p>
          <a:endParaRPr lang="zh-CN" altLang="en-US"/>
        </a:p>
      </dgm:t>
    </dgm:pt>
    <dgm:pt modelId="{67223200-D196-44B3-9DFD-D095DDBC10AB}" type="sibTrans" cxnId="{2F616994-A79F-43D2-8F17-BC79E59DB3B8}">
      <dgm:prSet/>
      <dgm:spPr/>
      <dgm:t>
        <a:bodyPr/>
        <a:lstStyle/>
        <a:p>
          <a:endParaRPr lang="zh-CN" altLang="en-US"/>
        </a:p>
      </dgm:t>
    </dgm:pt>
    <dgm:pt modelId="{F3F66F6A-184E-4CBB-A544-AC2BF2A74FC0}">
      <dgm:prSet phldrT="[文本]" phldr="0" custT="0"/>
      <dgm:spPr/>
      <dgm:t>
        <a:bodyPr vert="horz" wrap="square"/>
        <a:lstStyle/>
        <a:p>
          <a:pPr>
            <a:lnSpc>
              <a:spcPct val="100000"/>
            </a:lnSpc>
            <a:spcBef>
              <a:spcPct val="0"/>
            </a:spcBef>
            <a:spcAft>
              <a:spcPct val="15000"/>
            </a:spcAft>
          </a:pPr>
          <a:r>
            <a:rPr lang="zh-CN" altLang="en-US"/>
            <a:t> </a:t>
          </a:r>
          <a:r>
            <a:rPr lang="en-US" altLang="zh-CN"/>
            <a:t>xx </a:t>
          </a:r>
          <a:r>
            <a:rPr lang="zh-CN" b="0"/>
            <a:t>项目背景调查与市场分析</a:t>
          </a:r>
          <a:endParaRPr lang="zh-CN" altLang="en-US" b="0"/>
        </a:p>
      </dgm:t>
    </dgm:pt>
    <dgm:pt modelId="{7A0C70B0-5DAE-45AB-9915-863AC3FA4D2D}" type="parTrans" cxnId="{9BCCC00E-E8F1-43C2-806E-7DA428EBC63F}">
      <dgm:prSet/>
      <dgm:spPr/>
      <dgm:t>
        <a:bodyPr/>
        <a:lstStyle/>
        <a:p>
          <a:endParaRPr lang="zh-CN" altLang="en-US"/>
        </a:p>
      </dgm:t>
    </dgm:pt>
    <dgm:pt modelId="{47DD308A-8526-455B-A37F-FEE2CC1C75AF}" type="sibTrans" cxnId="{9BCCC00E-E8F1-43C2-806E-7DA428EBC63F}">
      <dgm:prSet/>
      <dgm:spPr/>
      <dgm:t>
        <a:bodyPr/>
        <a:lstStyle/>
        <a:p>
          <a:endParaRPr lang="zh-CN" altLang="en-US"/>
        </a:p>
      </dgm:t>
    </dgm:pt>
    <dgm:pt modelId="{858CAA20-2B41-4EA9-91F2-892D63332A81}">
      <dgm:prSet phldr="0" custT="0"/>
      <dgm:spPr/>
      <dgm:t>
        <a:bodyPr vert="horz" wrap="square"/>
        <a:lstStyle/>
        <a:p>
          <a:pPr>
            <a:lnSpc>
              <a:spcPct val="100000"/>
            </a:lnSpc>
            <a:spcBef>
              <a:spcPct val="0"/>
            </a:spcBef>
            <a:spcAft>
              <a:spcPct val="15000"/>
            </a:spcAft>
          </a:pPr>
          <a:r>
            <a:rPr lang="en-US" altLang="zh-CN" b="0"/>
            <a:t>xx</a:t>
          </a:r>
          <a:r>
            <a:rPr lang="zh-CN" altLang="en-US" b="0"/>
            <a:t> </a:t>
          </a:r>
          <a:r>
            <a:rPr lang="zh-CN" b="0"/>
            <a:t>商业计划书总体初稿撰写</a:t>
          </a:r>
          <a:endParaRPr lang="zh-CN" altLang="en-US" b="0"/>
        </a:p>
      </dgm:t>
    </dgm:pt>
    <dgm:pt modelId="{81CDDBF3-E9D9-43E6-83AF-106145854228}" type="parTrans" cxnId="{0E1E365C-E9B0-44F9-A10D-9B6B5370F711}">
      <dgm:prSet/>
      <dgm:spPr/>
      <dgm:t>
        <a:bodyPr/>
        <a:lstStyle/>
        <a:p>
          <a:endParaRPr lang="zh-CN" altLang="en-US"/>
        </a:p>
      </dgm:t>
    </dgm:pt>
    <dgm:pt modelId="{8B2F5AC0-8EAB-4B27-9055-1B47732ED7DC}" type="sibTrans" cxnId="{0E1E365C-E9B0-44F9-A10D-9B6B5370F711}">
      <dgm:prSet/>
      <dgm:spPr/>
      <dgm:t>
        <a:bodyPr/>
        <a:lstStyle/>
        <a:p>
          <a:endParaRPr lang="zh-CN" altLang="en-US"/>
        </a:p>
      </dgm:t>
    </dgm:pt>
    <dgm:pt modelId="{780FAED3-C4BD-4FF1-8B67-8499CCFAE2ED}">
      <dgm:prSet phldrT="[文本]" phldr="0" custT="0"/>
      <dgm:spPr/>
      <dgm:t>
        <a:bodyPr vert="horz" wrap="square"/>
        <a:lstStyle/>
        <a:p>
          <a:pPr>
            <a:lnSpc>
              <a:spcPct val="100000"/>
            </a:lnSpc>
            <a:spcBef>
              <a:spcPct val="0"/>
            </a:spcBef>
            <a:spcAft>
              <a:spcPct val="35000"/>
            </a:spcAft>
          </a:pPr>
          <a:r>
            <a:rPr lang="zh-CN" altLang="en-US"/>
            <a:t>展示</a:t>
          </a:r>
        </a:p>
      </dgm:t>
    </dgm:pt>
    <dgm:pt modelId="{88C57C74-C9C4-46CF-A10B-13A1A1E7714C}" type="parTrans" cxnId="{9FE23E48-5743-4C99-80D8-F2CD3BF20644}">
      <dgm:prSet/>
      <dgm:spPr/>
      <dgm:t>
        <a:bodyPr/>
        <a:lstStyle/>
        <a:p>
          <a:endParaRPr lang="zh-CN" altLang="en-US"/>
        </a:p>
      </dgm:t>
    </dgm:pt>
    <dgm:pt modelId="{34435F2A-D730-405E-99D5-BBC9FB7499FA}" type="sibTrans" cxnId="{9FE23E48-5743-4C99-80D8-F2CD3BF20644}">
      <dgm:prSet/>
      <dgm:spPr/>
      <dgm:t>
        <a:bodyPr/>
        <a:lstStyle/>
        <a:p>
          <a:endParaRPr lang="zh-CN" altLang="en-US"/>
        </a:p>
      </dgm:t>
    </dgm:pt>
    <dgm:pt modelId="{3E6D5D4F-935E-467F-A6CA-DFB49E904BF2}">
      <dgm:prSet phldrT="[文本]" phldr="0" custT="0"/>
      <dgm:spPr/>
      <dgm:t>
        <a:bodyPr vert="horz" wrap="square"/>
        <a:lstStyle/>
        <a:p>
          <a:pPr>
            <a:lnSpc>
              <a:spcPct val="100000"/>
            </a:lnSpc>
            <a:spcBef>
              <a:spcPct val="0"/>
            </a:spcBef>
            <a:spcAft>
              <a:spcPct val="15000"/>
            </a:spcAft>
          </a:pPr>
          <a:r>
            <a:rPr lang="en-US" altLang="zh-CN"/>
            <a:t>xx</a:t>
          </a:r>
          <a:r>
            <a:rPr lang="zh-CN" altLang="en-US"/>
            <a:t> </a:t>
          </a:r>
          <a:r>
            <a:rPr lang="zh-CN" b="0"/>
            <a:t>商业模式规划与分析</a:t>
          </a:r>
          <a:endParaRPr lang="zh-CN" altLang="en-US" b="0"/>
        </a:p>
      </dgm:t>
    </dgm:pt>
    <dgm:pt modelId="{DFE6860A-9AF6-4E3A-8810-968954321458}" type="parTrans" cxnId="{E96C5B5E-43A7-4415-B765-BA760C41487D}">
      <dgm:prSet/>
      <dgm:spPr/>
      <dgm:t>
        <a:bodyPr/>
        <a:lstStyle/>
        <a:p>
          <a:endParaRPr lang="zh-CN" altLang="en-US"/>
        </a:p>
      </dgm:t>
    </dgm:pt>
    <dgm:pt modelId="{F6E211F9-5728-4C1B-B4EC-036ED0730A63}" type="sibTrans" cxnId="{E96C5B5E-43A7-4415-B765-BA760C41487D}">
      <dgm:prSet/>
      <dgm:spPr/>
      <dgm:t>
        <a:bodyPr/>
        <a:lstStyle/>
        <a:p>
          <a:endParaRPr lang="zh-CN" altLang="en-US"/>
        </a:p>
      </dgm:t>
    </dgm:pt>
    <dgm:pt modelId="{0E760798-E8BA-4BC7-A3B5-30EA6BD2D1DB}">
      <dgm:prSet phldr="0" custT="0"/>
      <dgm:spPr/>
      <dgm:t>
        <a:bodyPr vert="horz" wrap="square"/>
        <a:lstStyle/>
        <a:p>
          <a:pPr>
            <a:lnSpc>
              <a:spcPct val="100000"/>
            </a:lnSpc>
            <a:spcBef>
              <a:spcPct val="0"/>
            </a:spcBef>
            <a:spcAft>
              <a:spcPct val="15000"/>
            </a:spcAft>
          </a:pPr>
          <a:r>
            <a:rPr lang="en-US" altLang="zh-CN"/>
            <a:t>xx</a:t>
          </a:r>
          <a:r>
            <a:rPr lang="zh-CN" altLang="en-US"/>
            <a:t> </a:t>
          </a:r>
          <a:r>
            <a:rPr lang="zh-CN" b="0"/>
            <a:t>撰写计划书中“市场营销策略”部分</a:t>
          </a:r>
          <a:endParaRPr lang="zh-CN" altLang="en-US" b="0"/>
        </a:p>
      </dgm:t>
    </dgm:pt>
    <dgm:pt modelId="{94BECE9B-B807-45BB-AA1C-6F6BF61140F9}" type="parTrans" cxnId="{5AE0C798-1C89-4804-8DE4-F26FC3E7E3CA}">
      <dgm:prSet/>
      <dgm:spPr/>
      <dgm:t>
        <a:bodyPr/>
        <a:lstStyle/>
        <a:p>
          <a:endParaRPr lang="zh-CN" altLang="en-US"/>
        </a:p>
      </dgm:t>
    </dgm:pt>
    <dgm:pt modelId="{135A542F-3518-473B-843E-F108F06787BB}" type="sibTrans" cxnId="{5AE0C798-1C89-4804-8DE4-F26FC3E7E3CA}">
      <dgm:prSet/>
      <dgm:spPr/>
      <dgm:t>
        <a:bodyPr/>
        <a:lstStyle/>
        <a:p>
          <a:endParaRPr lang="zh-CN" altLang="en-US"/>
        </a:p>
      </dgm:t>
    </dgm:pt>
    <dgm:pt modelId="{F7278C8C-D6A6-4318-91ED-BF4A98CFD806}">
      <dgm:prSet phldr="0" custT="0"/>
      <dgm:spPr/>
      <dgm:t>
        <a:bodyPr vert="horz" wrap="square"/>
        <a:lstStyle/>
        <a:p>
          <a:pPr>
            <a:lnSpc>
              <a:spcPct val="100000"/>
            </a:lnSpc>
            <a:spcBef>
              <a:spcPct val="0"/>
            </a:spcBef>
            <a:spcAft>
              <a:spcPct val="15000"/>
            </a:spcAft>
          </a:pPr>
          <a:r>
            <a:rPr lang="en-US" altLang="zh-CN"/>
            <a:t>xx</a:t>
          </a:r>
          <a:r>
            <a:rPr lang="zh-CN" altLang="en-US"/>
            <a:t> </a:t>
          </a:r>
          <a:r>
            <a:rPr lang="zh-CN" b="0"/>
            <a:t>市场营销分析与讨论过程记录</a:t>
          </a:r>
          <a:endParaRPr lang="zh-CN" altLang="en-US" b="0"/>
        </a:p>
      </dgm:t>
    </dgm:pt>
    <dgm:pt modelId="{908B1E13-BB35-4238-8D5F-6BB1084AEF7B}" type="parTrans" cxnId="{CF78B65D-66DC-4290-8972-3BFBAD2D436A}">
      <dgm:prSet/>
      <dgm:spPr/>
      <dgm:t>
        <a:bodyPr/>
        <a:lstStyle/>
        <a:p>
          <a:endParaRPr lang="zh-CN" altLang="en-US"/>
        </a:p>
      </dgm:t>
    </dgm:pt>
    <dgm:pt modelId="{04130A73-C679-49B4-A9E4-268136E6CE55}" type="sibTrans" cxnId="{CF78B65D-66DC-4290-8972-3BFBAD2D436A}">
      <dgm:prSet/>
      <dgm:spPr/>
      <dgm:t>
        <a:bodyPr/>
        <a:lstStyle/>
        <a:p>
          <a:endParaRPr lang="zh-CN" altLang="en-US"/>
        </a:p>
      </dgm:t>
    </dgm:pt>
    <dgm:pt modelId="{1D70B282-9875-47E1-864B-0DB9F83A3309}">
      <dgm:prSet phldrT="[文本]" phldr="0" custT="0"/>
      <dgm:spPr/>
      <dgm:t>
        <a:bodyPr vert="horz" wrap="square"/>
        <a:lstStyle/>
        <a:p>
          <a:pPr>
            <a:lnSpc>
              <a:spcPct val="100000"/>
            </a:lnSpc>
            <a:spcBef>
              <a:spcPct val="0"/>
            </a:spcBef>
            <a:spcAft>
              <a:spcPct val="35000"/>
            </a:spcAft>
          </a:pPr>
          <a:r>
            <a:rPr lang="zh-CN" altLang="en-US"/>
            <a:t>汇报</a:t>
          </a:r>
        </a:p>
      </dgm:t>
    </dgm:pt>
    <dgm:pt modelId="{4682E278-8387-4875-A48B-989607C0A09E}" type="parTrans" cxnId="{273930E9-7977-4813-9FE6-AA4EC4C15F16}">
      <dgm:prSet/>
      <dgm:spPr/>
      <dgm:t>
        <a:bodyPr/>
        <a:lstStyle/>
        <a:p>
          <a:endParaRPr lang="zh-CN" altLang="en-US"/>
        </a:p>
      </dgm:t>
    </dgm:pt>
    <dgm:pt modelId="{DF77052B-043C-4E4A-8039-9D1D7DFB40F4}" type="sibTrans" cxnId="{273930E9-7977-4813-9FE6-AA4EC4C15F16}">
      <dgm:prSet/>
      <dgm:spPr/>
      <dgm:t>
        <a:bodyPr/>
        <a:lstStyle/>
        <a:p>
          <a:endParaRPr lang="zh-CN" altLang="en-US"/>
        </a:p>
      </dgm:t>
    </dgm:pt>
    <dgm:pt modelId="{30BE85C4-8BB0-4C0C-B58F-618B83FFA907}">
      <dgm:prSet phldrT="[文本]" phldr="0" custT="0"/>
      <dgm:spPr/>
      <dgm:t>
        <a:bodyPr vert="horz" wrap="square"/>
        <a:lstStyle/>
        <a:p>
          <a:pPr>
            <a:lnSpc>
              <a:spcPct val="100000"/>
            </a:lnSpc>
            <a:spcBef>
              <a:spcPct val="0"/>
            </a:spcBef>
            <a:spcAft>
              <a:spcPct val="15000"/>
            </a:spcAft>
          </a:pPr>
          <a:r>
            <a:rPr lang="en-US" altLang="zh-CN"/>
            <a:t>xx</a:t>
          </a:r>
          <a:r>
            <a:rPr lang="zh-CN" altLang="en-US"/>
            <a:t>（组长）分配任务、</a:t>
          </a:r>
          <a:r>
            <a:rPr lang="en-US" altLang="en-US"/>
            <a:t>ppt</a:t>
          </a:r>
          <a:r>
            <a:rPr lang="zh-CN" altLang="en-US"/>
            <a:t>汇报</a:t>
          </a:r>
        </a:p>
      </dgm:t>
    </dgm:pt>
    <dgm:pt modelId="{99A19955-80B2-46DE-B74C-C0C8C4D708F2}" type="parTrans" cxnId="{494FFEAB-67D0-4B32-9643-0CA070F3BC09}">
      <dgm:prSet/>
      <dgm:spPr/>
      <dgm:t>
        <a:bodyPr/>
        <a:lstStyle/>
        <a:p>
          <a:endParaRPr lang="zh-CN" altLang="en-US"/>
        </a:p>
      </dgm:t>
    </dgm:pt>
    <dgm:pt modelId="{CB48F5C6-507D-451D-9B2B-7C607BFEAF95}" type="sibTrans" cxnId="{494FFEAB-67D0-4B32-9643-0CA070F3BC09}">
      <dgm:prSet/>
      <dgm:spPr/>
      <dgm:t>
        <a:bodyPr/>
        <a:lstStyle/>
        <a:p>
          <a:endParaRPr lang="zh-CN" altLang="en-US"/>
        </a:p>
      </dgm:t>
    </dgm:pt>
    <dgm:pt modelId="{4678C038-4E65-45D9-8D4C-76497D07E63D}">
      <dgm:prSet phldr="0" custT="0"/>
      <dgm:spPr/>
      <dgm:t>
        <a:bodyPr vert="horz" wrap="square"/>
        <a:lstStyle/>
        <a:p>
          <a:pPr>
            <a:lnSpc>
              <a:spcPct val="100000"/>
            </a:lnSpc>
            <a:spcBef>
              <a:spcPct val="0"/>
            </a:spcBef>
            <a:spcAft>
              <a:spcPct val="15000"/>
            </a:spcAft>
          </a:pPr>
          <a:r>
            <a:rPr lang="en-US" altLang="zh-CN"/>
            <a:t>xx</a:t>
          </a:r>
          <a:r>
            <a:rPr lang="zh-CN" altLang="en-US"/>
            <a:t> </a:t>
          </a:r>
          <a:r>
            <a:rPr lang="en-US" b="0"/>
            <a:t>ppt</a:t>
          </a:r>
          <a:r>
            <a:rPr lang="zh-CN" b="0"/>
            <a:t>内容修改和汇报</a:t>
          </a:r>
          <a:endParaRPr lang="zh-CN" altLang="en-US" b="0"/>
        </a:p>
      </dgm:t>
    </dgm:pt>
    <dgm:pt modelId="{FE170720-1CD8-4A40-8F81-5900165DC8EE}" type="parTrans" cxnId="{52EF14FF-EA4B-45C4-8935-403B29DFE9E7}">
      <dgm:prSet/>
      <dgm:spPr/>
      <dgm:t>
        <a:bodyPr/>
        <a:lstStyle/>
        <a:p>
          <a:endParaRPr lang="zh-CN" altLang="en-US"/>
        </a:p>
      </dgm:t>
    </dgm:pt>
    <dgm:pt modelId="{8B4761D0-0298-4703-8832-4B14A7429F76}" type="sibTrans" cxnId="{52EF14FF-EA4B-45C4-8935-403B29DFE9E7}">
      <dgm:prSet/>
      <dgm:spPr/>
      <dgm:t>
        <a:bodyPr/>
        <a:lstStyle/>
        <a:p>
          <a:endParaRPr lang="zh-CN" altLang="en-US"/>
        </a:p>
      </dgm:t>
    </dgm:pt>
    <dgm:pt modelId="{7BB0B505-7D43-42E4-8FC0-6C91316CBFEB}" type="pres">
      <dgm:prSet presAssocID="{DF9829FD-DD90-4EE7-BCD7-4AF299D6F45A}" presName="linearFlow" presStyleCnt="0">
        <dgm:presLayoutVars>
          <dgm:dir/>
          <dgm:animLvl val="lvl"/>
          <dgm:resizeHandles val="exact"/>
        </dgm:presLayoutVars>
      </dgm:prSet>
      <dgm:spPr/>
    </dgm:pt>
    <dgm:pt modelId="{97F2BEE4-0E0F-4FCA-A4B0-E20AD8C04C13}" type="pres">
      <dgm:prSet presAssocID="{FCC504F5-317D-4294-815B-28489BDC5845}" presName="composite" presStyleCnt="0"/>
      <dgm:spPr/>
    </dgm:pt>
    <dgm:pt modelId="{A16E3110-57E1-4619-A55C-DCD0DD5CE084}" type="pres">
      <dgm:prSet presAssocID="{FCC504F5-317D-4294-815B-28489BDC5845}" presName="parentText" presStyleLbl="alignNode1" presStyleIdx="0" presStyleCnt="3">
        <dgm:presLayoutVars>
          <dgm:chMax val="1"/>
          <dgm:bulletEnabled val="1"/>
        </dgm:presLayoutVars>
      </dgm:prSet>
      <dgm:spPr/>
    </dgm:pt>
    <dgm:pt modelId="{544D3F38-216B-445A-B1B9-8008AEDB7A9D}" type="pres">
      <dgm:prSet presAssocID="{FCC504F5-317D-4294-815B-28489BDC5845}" presName="descendantText" presStyleLbl="alignAcc1" presStyleIdx="0" presStyleCnt="3">
        <dgm:presLayoutVars>
          <dgm:bulletEnabled val="1"/>
        </dgm:presLayoutVars>
      </dgm:prSet>
      <dgm:spPr/>
    </dgm:pt>
    <dgm:pt modelId="{D3A691E5-F443-4F8D-81BB-9D15C0875E8C}" type="pres">
      <dgm:prSet presAssocID="{67223200-D196-44B3-9DFD-D095DDBC10AB}" presName="sp" presStyleCnt="0"/>
      <dgm:spPr/>
    </dgm:pt>
    <dgm:pt modelId="{D4BECBBB-7CE2-4791-839D-9FE6F36B775D}" type="pres">
      <dgm:prSet presAssocID="{780FAED3-C4BD-4FF1-8B67-8499CCFAE2ED}" presName="composite" presStyleCnt="0"/>
      <dgm:spPr/>
    </dgm:pt>
    <dgm:pt modelId="{722E1094-83C7-45E2-B20F-DB9D09AD94F0}" type="pres">
      <dgm:prSet presAssocID="{780FAED3-C4BD-4FF1-8B67-8499CCFAE2ED}" presName="parentText" presStyleLbl="alignNode1" presStyleIdx="1" presStyleCnt="3">
        <dgm:presLayoutVars>
          <dgm:chMax val="1"/>
          <dgm:bulletEnabled val="1"/>
        </dgm:presLayoutVars>
      </dgm:prSet>
      <dgm:spPr/>
    </dgm:pt>
    <dgm:pt modelId="{AC67BBE6-9B82-4D3D-BF22-48713AF46E9C}" type="pres">
      <dgm:prSet presAssocID="{780FAED3-C4BD-4FF1-8B67-8499CCFAE2ED}" presName="descendantText" presStyleLbl="alignAcc1" presStyleIdx="1" presStyleCnt="3">
        <dgm:presLayoutVars>
          <dgm:bulletEnabled val="1"/>
        </dgm:presLayoutVars>
      </dgm:prSet>
      <dgm:spPr/>
    </dgm:pt>
    <dgm:pt modelId="{5C381A65-34D3-41B1-9499-0884AAA35FC6}" type="pres">
      <dgm:prSet presAssocID="{34435F2A-D730-405E-99D5-BBC9FB7499FA}" presName="sp" presStyleCnt="0"/>
      <dgm:spPr/>
    </dgm:pt>
    <dgm:pt modelId="{C1BF0EA4-CB4D-4391-82EF-EC1874A282F9}" type="pres">
      <dgm:prSet presAssocID="{1D70B282-9875-47E1-864B-0DB9F83A3309}" presName="composite" presStyleCnt="0"/>
      <dgm:spPr/>
    </dgm:pt>
    <dgm:pt modelId="{95C8A2DE-C1F8-4D5A-A3A4-1DC2FA1C0073}" type="pres">
      <dgm:prSet presAssocID="{1D70B282-9875-47E1-864B-0DB9F83A3309}" presName="parentText" presStyleLbl="alignNode1" presStyleIdx="2" presStyleCnt="3">
        <dgm:presLayoutVars>
          <dgm:chMax val="1"/>
          <dgm:bulletEnabled val="1"/>
        </dgm:presLayoutVars>
      </dgm:prSet>
      <dgm:spPr/>
    </dgm:pt>
    <dgm:pt modelId="{BE17FEF5-EEE1-41BB-96FD-8FBB3FCF3860}" type="pres">
      <dgm:prSet presAssocID="{1D70B282-9875-47E1-864B-0DB9F83A3309}" presName="descendantText" presStyleLbl="alignAcc1" presStyleIdx="2" presStyleCnt="3">
        <dgm:presLayoutVars>
          <dgm:bulletEnabled val="1"/>
        </dgm:presLayoutVars>
      </dgm:prSet>
      <dgm:spPr/>
    </dgm:pt>
  </dgm:ptLst>
  <dgm:cxnLst>
    <dgm:cxn modelId="{9BCCC00E-E8F1-43C2-806E-7DA428EBC63F}" srcId="{FCC504F5-317D-4294-815B-28489BDC5845}" destId="{F3F66F6A-184E-4CBB-A544-AC2BF2A74FC0}" srcOrd="0" destOrd="0" parTransId="{7A0C70B0-5DAE-45AB-9915-863AC3FA4D2D}" sibTransId="{47DD308A-8526-455B-A37F-FEE2CC1C75AF}"/>
    <dgm:cxn modelId="{3B9AEF1E-6D64-4720-AE88-4B7ED5E5D76D}" type="presOf" srcId="{858CAA20-2B41-4EA9-91F2-892D63332A81}" destId="{544D3F38-216B-445A-B1B9-8008AEDB7A9D}" srcOrd="0" destOrd="1" presId="urn:microsoft.com/office/officeart/2005/8/layout/chevron2"/>
    <dgm:cxn modelId="{0E1E365C-E9B0-44F9-A10D-9B6B5370F711}" srcId="{FCC504F5-317D-4294-815B-28489BDC5845}" destId="{858CAA20-2B41-4EA9-91F2-892D63332A81}" srcOrd="1" destOrd="0" parTransId="{81CDDBF3-E9D9-43E6-83AF-106145854228}" sibTransId="{8B2F5AC0-8EAB-4B27-9055-1B47732ED7DC}"/>
    <dgm:cxn modelId="{CF78B65D-66DC-4290-8972-3BFBAD2D436A}" srcId="{780FAED3-C4BD-4FF1-8B67-8499CCFAE2ED}" destId="{F7278C8C-D6A6-4318-91ED-BF4A98CFD806}" srcOrd="2" destOrd="0" parTransId="{908B1E13-BB35-4238-8D5F-6BB1084AEF7B}" sibTransId="{04130A73-C679-49B4-A9E4-268136E6CE55}"/>
    <dgm:cxn modelId="{E96C5B5E-43A7-4415-B765-BA760C41487D}" srcId="{780FAED3-C4BD-4FF1-8B67-8499CCFAE2ED}" destId="{3E6D5D4F-935E-467F-A6CA-DFB49E904BF2}" srcOrd="0" destOrd="0" parTransId="{DFE6860A-9AF6-4E3A-8810-968954321458}" sibTransId="{F6E211F9-5728-4C1B-B4EC-036ED0730A63}"/>
    <dgm:cxn modelId="{82F4495E-70A6-4C28-B97D-46E1B6D66C91}" type="presOf" srcId="{34435F2A-D730-405E-99D5-BBC9FB7499FA}" destId="{5C381A65-34D3-41B1-9499-0884AAA35FC6}" srcOrd="0" destOrd="0" presId="urn:microsoft.com/office/officeart/2005/8/layout/chevron2"/>
    <dgm:cxn modelId="{9FE23E48-5743-4C99-80D8-F2CD3BF20644}" srcId="{DF9829FD-DD90-4EE7-BCD7-4AF299D6F45A}" destId="{780FAED3-C4BD-4FF1-8B67-8499CCFAE2ED}" srcOrd="1" destOrd="0" parTransId="{88C57C74-C9C4-46CF-A10B-13A1A1E7714C}" sibTransId="{34435F2A-D730-405E-99D5-BBC9FB7499FA}"/>
    <dgm:cxn modelId="{29307159-702A-4AB3-B748-6CDCD2D07AA3}" type="presOf" srcId="{780FAED3-C4BD-4FF1-8B67-8499CCFAE2ED}" destId="{722E1094-83C7-45E2-B20F-DB9D09AD94F0}" srcOrd="0" destOrd="0" presId="urn:microsoft.com/office/officeart/2005/8/layout/chevron2"/>
    <dgm:cxn modelId="{9B0F187C-CC7D-44EA-80C7-0B5395993006}" type="presOf" srcId="{4678C038-4E65-45D9-8D4C-76497D07E63D}" destId="{BE17FEF5-EEE1-41BB-96FD-8FBB3FCF3860}" srcOrd="0" destOrd="1" presId="urn:microsoft.com/office/officeart/2005/8/layout/chevron2"/>
    <dgm:cxn modelId="{CD639091-D577-4C7C-98B2-2C8AA39C7C32}" type="presOf" srcId="{3E6D5D4F-935E-467F-A6CA-DFB49E904BF2}" destId="{AC67BBE6-9B82-4D3D-BF22-48713AF46E9C}" srcOrd="0" destOrd="0" presId="urn:microsoft.com/office/officeart/2005/8/layout/chevron2"/>
    <dgm:cxn modelId="{2F616994-A79F-43D2-8F17-BC79E59DB3B8}" srcId="{DF9829FD-DD90-4EE7-BCD7-4AF299D6F45A}" destId="{FCC504F5-317D-4294-815B-28489BDC5845}" srcOrd="0" destOrd="0" parTransId="{8F05BE86-1921-41BD-B82E-72272E9475E9}" sibTransId="{67223200-D196-44B3-9DFD-D095DDBC10AB}"/>
    <dgm:cxn modelId="{5AE0C798-1C89-4804-8DE4-F26FC3E7E3CA}" srcId="{780FAED3-C4BD-4FF1-8B67-8499CCFAE2ED}" destId="{0E760798-E8BA-4BC7-A3B5-30EA6BD2D1DB}" srcOrd="1" destOrd="0" parTransId="{94BECE9B-B807-45BB-AA1C-6F6BF61140F9}" sibTransId="{135A542F-3518-473B-843E-F108F06787BB}"/>
    <dgm:cxn modelId="{EA6DFA98-F4FA-477D-B0EB-12B237C43A46}" type="presOf" srcId="{F7278C8C-D6A6-4318-91ED-BF4A98CFD806}" destId="{AC67BBE6-9B82-4D3D-BF22-48713AF46E9C}" srcOrd="0" destOrd="2" presId="urn:microsoft.com/office/officeart/2005/8/layout/chevron2"/>
    <dgm:cxn modelId="{A3E3F199-DDB1-49C0-881A-370A8042F7B3}" type="presOf" srcId="{30BE85C4-8BB0-4C0C-B58F-618B83FFA907}" destId="{BE17FEF5-EEE1-41BB-96FD-8FBB3FCF3860}" srcOrd="0" destOrd="0" presId="urn:microsoft.com/office/officeart/2005/8/layout/chevron2"/>
    <dgm:cxn modelId="{494FFEAB-67D0-4B32-9643-0CA070F3BC09}" srcId="{1D70B282-9875-47E1-864B-0DB9F83A3309}" destId="{30BE85C4-8BB0-4C0C-B58F-618B83FFA907}" srcOrd="0" destOrd="0" parTransId="{99A19955-80B2-46DE-B74C-C0C8C4D708F2}" sibTransId="{CB48F5C6-507D-451D-9B2B-7C607BFEAF95}"/>
    <dgm:cxn modelId="{D52E85BC-168F-4F9E-A1D9-FA8B324EAF33}" type="presOf" srcId="{DF9829FD-DD90-4EE7-BCD7-4AF299D6F45A}" destId="{7BB0B505-7D43-42E4-8FC0-6C91316CBFEB}" srcOrd="0" destOrd="0" presId="urn:microsoft.com/office/officeart/2005/8/layout/chevron2"/>
    <dgm:cxn modelId="{D1A9DDBD-9A1D-40A1-B052-3FE5685C72DC}" type="presOf" srcId="{1D70B282-9875-47E1-864B-0DB9F83A3309}" destId="{95C8A2DE-C1F8-4D5A-A3A4-1DC2FA1C0073}" srcOrd="0" destOrd="0" presId="urn:microsoft.com/office/officeart/2005/8/layout/chevron2"/>
    <dgm:cxn modelId="{44AE10C8-10D1-4E03-90ED-DA2EA86127A0}" type="presOf" srcId="{67223200-D196-44B3-9DFD-D095DDBC10AB}" destId="{D3A691E5-F443-4F8D-81BB-9D15C0875E8C}" srcOrd="0" destOrd="0" presId="urn:microsoft.com/office/officeart/2005/8/layout/chevron2"/>
    <dgm:cxn modelId="{765E97C8-CB9C-4CCE-BA97-ABE8AC73130E}" type="presOf" srcId="{F3F66F6A-184E-4CBB-A544-AC2BF2A74FC0}" destId="{544D3F38-216B-445A-B1B9-8008AEDB7A9D}" srcOrd="0" destOrd="0" presId="urn:microsoft.com/office/officeart/2005/8/layout/chevron2"/>
    <dgm:cxn modelId="{273930E9-7977-4813-9FE6-AA4EC4C15F16}" srcId="{DF9829FD-DD90-4EE7-BCD7-4AF299D6F45A}" destId="{1D70B282-9875-47E1-864B-0DB9F83A3309}" srcOrd="2" destOrd="0" parTransId="{4682E278-8387-4875-A48B-989607C0A09E}" sibTransId="{DF77052B-043C-4E4A-8039-9D1D7DFB40F4}"/>
    <dgm:cxn modelId="{2ABD96F4-8929-4074-8565-534A73A53C9B}" type="presOf" srcId="{0E760798-E8BA-4BC7-A3B5-30EA6BD2D1DB}" destId="{AC67BBE6-9B82-4D3D-BF22-48713AF46E9C}" srcOrd="0" destOrd="1" presId="urn:microsoft.com/office/officeart/2005/8/layout/chevron2"/>
    <dgm:cxn modelId="{ED02C6F4-6E6C-4D6B-BF60-CA7AA58724DA}" type="presOf" srcId="{FCC504F5-317D-4294-815B-28489BDC5845}" destId="{A16E3110-57E1-4619-A55C-DCD0DD5CE084}" srcOrd="0" destOrd="0" presId="urn:microsoft.com/office/officeart/2005/8/layout/chevron2"/>
    <dgm:cxn modelId="{52EF14FF-EA4B-45C4-8935-403B29DFE9E7}" srcId="{1D70B282-9875-47E1-864B-0DB9F83A3309}" destId="{4678C038-4E65-45D9-8D4C-76497D07E63D}" srcOrd="1" destOrd="0" parTransId="{FE170720-1CD8-4A40-8F81-5900165DC8EE}" sibTransId="{8B4761D0-0298-4703-8832-4B14A7429F76}"/>
    <dgm:cxn modelId="{4A471AB1-195F-4E05-A161-3AABAD74E913}" type="presParOf" srcId="{7BB0B505-7D43-42E4-8FC0-6C91316CBFEB}" destId="{97F2BEE4-0E0F-4FCA-A4B0-E20AD8C04C13}" srcOrd="0" destOrd="0" presId="urn:microsoft.com/office/officeart/2005/8/layout/chevron2"/>
    <dgm:cxn modelId="{6CC0C164-30C0-4D4D-A12E-DA698345A060}" type="presParOf" srcId="{97F2BEE4-0E0F-4FCA-A4B0-E20AD8C04C13}" destId="{A16E3110-57E1-4619-A55C-DCD0DD5CE084}" srcOrd="0" destOrd="0" presId="urn:microsoft.com/office/officeart/2005/8/layout/chevron2"/>
    <dgm:cxn modelId="{EB11E9B4-01A6-47B3-9E0C-6BA7D9630019}" type="presParOf" srcId="{97F2BEE4-0E0F-4FCA-A4B0-E20AD8C04C13}" destId="{544D3F38-216B-445A-B1B9-8008AEDB7A9D}" srcOrd="1" destOrd="0" presId="urn:microsoft.com/office/officeart/2005/8/layout/chevron2"/>
    <dgm:cxn modelId="{68445FB0-2CA1-4B6A-AC82-C1FB7D76B6FB}" type="presParOf" srcId="{7BB0B505-7D43-42E4-8FC0-6C91316CBFEB}" destId="{D3A691E5-F443-4F8D-81BB-9D15C0875E8C}" srcOrd="1" destOrd="0" presId="urn:microsoft.com/office/officeart/2005/8/layout/chevron2"/>
    <dgm:cxn modelId="{35BD345A-E09F-4C4B-8DA5-7CB701F0BF61}" type="presParOf" srcId="{7BB0B505-7D43-42E4-8FC0-6C91316CBFEB}" destId="{D4BECBBB-7CE2-4791-839D-9FE6F36B775D}" srcOrd="2" destOrd="0" presId="urn:microsoft.com/office/officeart/2005/8/layout/chevron2"/>
    <dgm:cxn modelId="{28D43A3F-EC71-4734-951C-413833E3B536}" type="presParOf" srcId="{D4BECBBB-7CE2-4791-839D-9FE6F36B775D}" destId="{722E1094-83C7-45E2-B20F-DB9D09AD94F0}" srcOrd="0" destOrd="0" presId="urn:microsoft.com/office/officeart/2005/8/layout/chevron2"/>
    <dgm:cxn modelId="{B39D9A28-AB92-4A38-BDD0-E47872EC091E}" type="presParOf" srcId="{D4BECBBB-7CE2-4791-839D-9FE6F36B775D}" destId="{AC67BBE6-9B82-4D3D-BF22-48713AF46E9C}" srcOrd="1" destOrd="0" presId="urn:microsoft.com/office/officeart/2005/8/layout/chevron2"/>
    <dgm:cxn modelId="{563A9616-E994-46F8-B589-DBFA572F8D4D}" type="presParOf" srcId="{7BB0B505-7D43-42E4-8FC0-6C91316CBFEB}" destId="{5C381A65-34D3-41B1-9499-0884AAA35FC6}" srcOrd="3" destOrd="0" presId="urn:microsoft.com/office/officeart/2005/8/layout/chevron2"/>
    <dgm:cxn modelId="{153BE496-E54C-4577-8400-705292C39C8F}" type="presParOf" srcId="{7BB0B505-7D43-42E4-8FC0-6C91316CBFEB}" destId="{C1BF0EA4-CB4D-4391-82EF-EC1874A282F9}" srcOrd="4" destOrd="0" presId="urn:microsoft.com/office/officeart/2005/8/layout/chevron2"/>
    <dgm:cxn modelId="{0BA49845-3583-402A-B51F-90D0D0901FAC}" type="presParOf" srcId="{C1BF0EA4-CB4D-4391-82EF-EC1874A282F9}" destId="{95C8A2DE-C1F8-4D5A-A3A4-1DC2FA1C0073}" srcOrd="0" destOrd="0" presId="urn:microsoft.com/office/officeart/2005/8/layout/chevron2"/>
    <dgm:cxn modelId="{36E63C82-70BB-498A-B82B-1604DEA66BBA}" type="presParOf" srcId="{C1BF0EA4-CB4D-4391-82EF-EC1874A282F9}" destId="{BE17FEF5-EEE1-41BB-96FD-8FBB3FCF3860}"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DB5165-29DA-40E4-8CF1-67AA1017F4DF}" type="doc">
      <dgm:prSet loTypeId="urn:microsoft.com/office/officeart/2009/layout/CircleArrowProcess#1" loCatId="process" qsTypeId="urn:microsoft.com/office/officeart/2005/8/quickstyle/simple1#2" qsCatId="simple" csTypeId="urn:microsoft.com/office/officeart/2005/8/colors/accent1_2#2" csCatId="accent1" phldr="0"/>
      <dgm:spPr/>
      <dgm:t>
        <a:bodyPr/>
        <a:lstStyle/>
        <a:p>
          <a:endParaRPr lang="zh-CN" altLang="en-US"/>
        </a:p>
      </dgm:t>
    </dgm:pt>
    <dgm:pt modelId="{1F18B811-B6C4-4E9E-B75F-E68888D2B754}">
      <dgm:prSet phldrT="[文本]" phldr="0" custT="0"/>
      <dgm:spPr/>
      <dgm:t>
        <a:bodyPr vert="horz" wrap="square"/>
        <a:lstStyle/>
        <a:p>
          <a:pPr>
            <a:lnSpc>
              <a:spcPct val="100000"/>
            </a:lnSpc>
            <a:spcBef>
              <a:spcPct val="0"/>
            </a:spcBef>
            <a:spcAft>
              <a:spcPct val="35000"/>
            </a:spcAft>
          </a:pPr>
          <a:r>
            <a:rPr lang="zh-CN" altLang="en-US"/>
            <a:t>校园</a:t>
          </a:r>
        </a:p>
      </dgm:t>
    </dgm:pt>
    <dgm:pt modelId="{39F221A0-D930-4524-B286-5041480B8FA5}" type="parTrans" cxnId="{50E1924B-7411-4320-837E-3E26611D5824}">
      <dgm:prSet/>
      <dgm:spPr/>
      <dgm:t>
        <a:bodyPr/>
        <a:lstStyle/>
        <a:p>
          <a:endParaRPr lang="zh-CN" altLang="en-US"/>
        </a:p>
      </dgm:t>
    </dgm:pt>
    <dgm:pt modelId="{808440FA-46F9-4FB5-9A52-0D4B96A1C329}" type="sibTrans" cxnId="{50E1924B-7411-4320-837E-3E26611D5824}">
      <dgm:prSet/>
      <dgm:spPr/>
      <dgm:t>
        <a:bodyPr/>
        <a:lstStyle/>
        <a:p>
          <a:endParaRPr lang="zh-CN" altLang="en-US"/>
        </a:p>
      </dgm:t>
    </dgm:pt>
    <dgm:pt modelId="{0EC68BAA-45B4-43C2-A277-337EA6F9C30A}">
      <dgm:prSet phldrT="[文本]" phldr="0" custT="0"/>
      <dgm:spPr/>
      <dgm:t>
        <a:bodyPr vert="horz" wrap="square"/>
        <a:lstStyle/>
        <a:p>
          <a:pPr>
            <a:lnSpc>
              <a:spcPct val="100000"/>
            </a:lnSpc>
            <a:spcBef>
              <a:spcPct val="0"/>
            </a:spcBef>
            <a:spcAft>
              <a:spcPct val="35000"/>
            </a:spcAft>
          </a:pPr>
          <a:r>
            <a:rPr lang="zh-CN" altLang="en-US"/>
            <a:t>平台</a:t>
          </a:r>
        </a:p>
      </dgm:t>
    </dgm:pt>
    <dgm:pt modelId="{74E1C1F9-DBE5-45DE-ABCA-4EAB89E7BD46}" type="parTrans" cxnId="{F84D7F47-9FCE-4359-BA32-F559F932EEE4}">
      <dgm:prSet/>
      <dgm:spPr/>
      <dgm:t>
        <a:bodyPr/>
        <a:lstStyle/>
        <a:p>
          <a:endParaRPr lang="zh-CN" altLang="en-US"/>
        </a:p>
      </dgm:t>
    </dgm:pt>
    <dgm:pt modelId="{B14E47DD-7335-43B1-AA39-9A37DC959B2D}" type="sibTrans" cxnId="{F84D7F47-9FCE-4359-BA32-F559F932EEE4}">
      <dgm:prSet/>
      <dgm:spPr/>
      <dgm:t>
        <a:bodyPr/>
        <a:lstStyle/>
        <a:p>
          <a:endParaRPr lang="zh-CN" altLang="en-US"/>
        </a:p>
      </dgm:t>
    </dgm:pt>
    <dgm:pt modelId="{9191245A-08B2-492B-8F4C-F0BB23674A76}">
      <dgm:prSet phldrT="[文本]" phldr="0" custT="0"/>
      <dgm:spPr/>
      <dgm:t>
        <a:bodyPr vert="horz" wrap="square"/>
        <a:lstStyle/>
        <a:p>
          <a:pPr>
            <a:lnSpc>
              <a:spcPct val="100000"/>
            </a:lnSpc>
            <a:spcBef>
              <a:spcPct val="0"/>
            </a:spcBef>
            <a:spcAft>
              <a:spcPct val="35000"/>
            </a:spcAft>
          </a:pPr>
          <a:r>
            <a:rPr lang="zh-CN" altLang="en-US"/>
            <a:t>交易者</a:t>
          </a:r>
        </a:p>
      </dgm:t>
    </dgm:pt>
    <dgm:pt modelId="{88B912E5-FDBE-47AD-B6CC-5D82B19F2810}" type="parTrans" cxnId="{88575707-6D05-4BD5-96B8-F1748619036D}">
      <dgm:prSet/>
      <dgm:spPr/>
      <dgm:t>
        <a:bodyPr/>
        <a:lstStyle/>
        <a:p>
          <a:endParaRPr lang="zh-CN" altLang="en-US"/>
        </a:p>
      </dgm:t>
    </dgm:pt>
    <dgm:pt modelId="{BDF1CE3D-63BD-4B26-AEBD-1516CE58D66C}" type="sibTrans" cxnId="{88575707-6D05-4BD5-96B8-F1748619036D}">
      <dgm:prSet/>
      <dgm:spPr/>
      <dgm:t>
        <a:bodyPr/>
        <a:lstStyle/>
        <a:p>
          <a:endParaRPr lang="zh-CN" altLang="en-US"/>
        </a:p>
      </dgm:t>
    </dgm:pt>
    <dgm:pt modelId="{FC7D71FE-C5B8-49A0-8DAE-85BE5AE974BC}" type="pres">
      <dgm:prSet presAssocID="{3ADB5165-29DA-40E4-8CF1-67AA1017F4DF}" presName="Name0" presStyleCnt="0">
        <dgm:presLayoutVars>
          <dgm:chMax val="7"/>
          <dgm:chPref val="7"/>
          <dgm:dir/>
          <dgm:animLvl val="lvl"/>
        </dgm:presLayoutVars>
      </dgm:prSet>
      <dgm:spPr/>
    </dgm:pt>
    <dgm:pt modelId="{AECC728B-0484-4C16-8415-E924988BF362}" type="pres">
      <dgm:prSet presAssocID="{1F18B811-B6C4-4E9E-B75F-E68888D2B754}" presName="Accent1" presStyleCnt="0"/>
      <dgm:spPr/>
    </dgm:pt>
    <dgm:pt modelId="{2B58B044-31E5-4900-BEF2-0561C35E9287}" type="pres">
      <dgm:prSet presAssocID="{1F18B811-B6C4-4E9E-B75F-E68888D2B754}" presName="Accent" presStyleLbl="node1" presStyleIdx="0" presStyleCnt="3"/>
      <dgm:spPr/>
    </dgm:pt>
    <dgm:pt modelId="{868A1768-D971-44A0-9296-883AA6C351ED}" type="pres">
      <dgm:prSet presAssocID="{1F18B811-B6C4-4E9E-B75F-E68888D2B754}" presName="Parent1" presStyleLbl="revTx" presStyleIdx="0" presStyleCnt="3">
        <dgm:presLayoutVars>
          <dgm:chMax val="1"/>
          <dgm:chPref val="1"/>
          <dgm:bulletEnabled val="1"/>
        </dgm:presLayoutVars>
      </dgm:prSet>
      <dgm:spPr/>
    </dgm:pt>
    <dgm:pt modelId="{2C8DF182-23DB-4A36-BE33-8CDFC15EB7DF}" type="pres">
      <dgm:prSet presAssocID="{0EC68BAA-45B4-43C2-A277-337EA6F9C30A}" presName="Accent2" presStyleCnt="0"/>
      <dgm:spPr/>
    </dgm:pt>
    <dgm:pt modelId="{82F5C82C-3C8C-44AC-B495-DCAFE372B3B8}" type="pres">
      <dgm:prSet presAssocID="{0EC68BAA-45B4-43C2-A277-337EA6F9C30A}" presName="Accent" presStyleLbl="node1" presStyleIdx="1" presStyleCnt="3"/>
      <dgm:spPr/>
    </dgm:pt>
    <dgm:pt modelId="{A51B79B2-94EA-48E8-9F5B-CCC2F37FE992}" type="pres">
      <dgm:prSet presAssocID="{0EC68BAA-45B4-43C2-A277-337EA6F9C30A}" presName="Parent2" presStyleLbl="revTx" presStyleIdx="1" presStyleCnt="3">
        <dgm:presLayoutVars>
          <dgm:chMax val="1"/>
          <dgm:chPref val="1"/>
          <dgm:bulletEnabled val="1"/>
        </dgm:presLayoutVars>
      </dgm:prSet>
      <dgm:spPr/>
    </dgm:pt>
    <dgm:pt modelId="{C863CCF9-412A-484D-B839-E1C116F89683}" type="pres">
      <dgm:prSet presAssocID="{9191245A-08B2-492B-8F4C-F0BB23674A76}" presName="Accent3" presStyleCnt="0"/>
      <dgm:spPr/>
    </dgm:pt>
    <dgm:pt modelId="{D8B093BC-2378-41D5-BB68-CF2D7261907B}" type="pres">
      <dgm:prSet presAssocID="{9191245A-08B2-492B-8F4C-F0BB23674A76}" presName="Accent" presStyleLbl="node1" presStyleIdx="2" presStyleCnt="3"/>
      <dgm:spPr/>
    </dgm:pt>
    <dgm:pt modelId="{69052E6C-D2A5-4989-93EA-93D0C254E4EB}" type="pres">
      <dgm:prSet presAssocID="{9191245A-08B2-492B-8F4C-F0BB23674A76}" presName="Parent3" presStyleLbl="revTx" presStyleIdx="2" presStyleCnt="3">
        <dgm:presLayoutVars>
          <dgm:chMax val="1"/>
          <dgm:chPref val="1"/>
          <dgm:bulletEnabled val="1"/>
        </dgm:presLayoutVars>
      </dgm:prSet>
      <dgm:spPr/>
    </dgm:pt>
  </dgm:ptLst>
  <dgm:cxnLst>
    <dgm:cxn modelId="{88575707-6D05-4BD5-96B8-F1748619036D}" srcId="{3ADB5165-29DA-40E4-8CF1-67AA1017F4DF}" destId="{9191245A-08B2-492B-8F4C-F0BB23674A76}" srcOrd="2" destOrd="0" parTransId="{88B912E5-FDBE-47AD-B6CC-5D82B19F2810}" sibTransId="{BDF1CE3D-63BD-4B26-AEBD-1516CE58D66C}"/>
    <dgm:cxn modelId="{1AC03323-92CA-40DF-9EEC-CC37523A13B3}" type="presOf" srcId="{1F18B811-B6C4-4E9E-B75F-E68888D2B754}" destId="{868A1768-D971-44A0-9296-883AA6C351ED}" srcOrd="0" destOrd="0" presId="urn:microsoft.com/office/officeart/2009/layout/CircleArrowProcess#1"/>
    <dgm:cxn modelId="{4FE71961-BD12-4895-AE53-ACFD2DA8B9BA}" type="presOf" srcId="{9191245A-08B2-492B-8F4C-F0BB23674A76}" destId="{69052E6C-D2A5-4989-93EA-93D0C254E4EB}" srcOrd="0" destOrd="0" presId="urn:microsoft.com/office/officeart/2009/layout/CircleArrowProcess#1"/>
    <dgm:cxn modelId="{F84D7F47-9FCE-4359-BA32-F559F932EEE4}" srcId="{3ADB5165-29DA-40E4-8CF1-67AA1017F4DF}" destId="{0EC68BAA-45B4-43C2-A277-337EA6F9C30A}" srcOrd="1" destOrd="0" parTransId="{74E1C1F9-DBE5-45DE-ABCA-4EAB89E7BD46}" sibTransId="{B14E47DD-7335-43B1-AA39-9A37DC959B2D}"/>
    <dgm:cxn modelId="{50E1924B-7411-4320-837E-3E26611D5824}" srcId="{3ADB5165-29DA-40E4-8CF1-67AA1017F4DF}" destId="{1F18B811-B6C4-4E9E-B75F-E68888D2B754}" srcOrd="0" destOrd="0" parTransId="{39F221A0-D930-4524-B286-5041480B8FA5}" sibTransId="{808440FA-46F9-4FB5-9A52-0D4B96A1C329}"/>
    <dgm:cxn modelId="{F4DDFCA7-25B4-4A99-B36D-74047C9C6889}" type="presOf" srcId="{3ADB5165-29DA-40E4-8CF1-67AA1017F4DF}" destId="{FC7D71FE-C5B8-49A0-8DAE-85BE5AE974BC}" srcOrd="0" destOrd="0" presId="urn:microsoft.com/office/officeart/2009/layout/CircleArrowProcess#1"/>
    <dgm:cxn modelId="{A3D508F2-46B8-4C14-93AF-82CC207E1E1D}" type="presOf" srcId="{0EC68BAA-45B4-43C2-A277-337EA6F9C30A}" destId="{A51B79B2-94EA-48E8-9F5B-CCC2F37FE992}" srcOrd="0" destOrd="0" presId="urn:microsoft.com/office/officeart/2009/layout/CircleArrowProcess#1"/>
    <dgm:cxn modelId="{BAD060A9-DFA9-433A-B27A-81C6B9D609A3}" type="presParOf" srcId="{FC7D71FE-C5B8-49A0-8DAE-85BE5AE974BC}" destId="{AECC728B-0484-4C16-8415-E924988BF362}" srcOrd="0" destOrd="0" presId="urn:microsoft.com/office/officeart/2009/layout/CircleArrowProcess#1"/>
    <dgm:cxn modelId="{87CEA228-5194-416D-B29E-1704B0180777}" type="presParOf" srcId="{AECC728B-0484-4C16-8415-E924988BF362}" destId="{2B58B044-31E5-4900-BEF2-0561C35E9287}" srcOrd="0" destOrd="0" presId="urn:microsoft.com/office/officeart/2009/layout/CircleArrowProcess#1"/>
    <dgm:cxn modelId="{AEAD1F5A-E7B7-4B10-BCEC-1B1B7CCD27C6}" type="presParOf" srcId="{FC7D71FE-C5B8-49A0-8DAE-85BE5AE974BC}" destId="{868A1768-D971-44A0-9296-883AA6C351ED}" srcOrd="1" destOrd="0" presId="urn:microsoft.com/office/officeart/2009/layout/CircleArrowProcess#1"/>
    <dgm:cxn modelId="{60C558F3-347B-47B3-8215-980E69646E1A}" type="presParOf" srcId="{FC7D71FE-C5B8-49A0-8DAE-85BE5AE974BC}" destId="{2C8DF182-23DB-4A36-BE33-8CDFC15EB7DF}" srcOrd="2" destOrd="0" presId="urn:microsoft.com/office/officeart/2009/layout/CircleArrowProcess#1"/>
    <dgm:cxn modelId="{42DD3023-B1BD-4CB4-AF79-A99D2DE44EFA}" type="presParOf" srcId="{2C8DF182-23DB-4A36-BE33-8CDFC15EB7DF}" destId="{82F5C82C-3C8C-44AC-B495-DCAFE372B3B8}" srcOrd="0" destOrd="0" presId="urn:microsoft.com/office/officeart/2009/layout/CircleArrowProcess#1"/>
    <dgm:cxn modelId="{0194BB14-BD7C-4A12-A839-B1BB16088000}" type="presParOf" srcId="{FC7D71FE-C5B8-49A0-8DAE-85BE5AE974BC}" destId="{A51B79B2-94EA-48E8-9F5B-CCC2F37FE992}" srcOrd="3" destOrd="0" presId="urn:microsoft.com/office/officeart/2009/layout/CircleArrowProcess#1"/>
    <dgm:cxn modelId="{72F9B2A5-7EE4-4FCF-A459-68914D55F5B9}" type="presParOf" srcId="{FC7D71FE-C5B8-49A0-8DAE-85BE5AE974BC}" destId="{C863CCF9-412A-484D-B839-E1C116F89683}" srcOrd="4" destOrd="0" presId="urn:microsoft.com/office/officeart/2009/layout/CircleArrowProcess#1"/>
    <dgm:cxn modelId="{197885A2-9F7B-4262-ACD9-1A2FC09D1C68}" type="presParOf" srcId="{C863CCF9-412A-484D-B839-E1C116F89683}" destId="{D8B093BC-2378-41D5-BB68-CF2D7261907B}" srcOrd="0" destOrd="0" presId="urn:microsoft.com/office/officeart/2009/layout/CircleArrowProcess#1"/>
    <dgm:cxn modelId="{E1A68946-2633-4108-8BD3-95369AC95A0C}" type="presParOf" srcId="{FC7D71FE-C5B8-49A0-8DAE-85BE5AE974BC}" destId="{69052E6C-D2A5-4989-93EA-93D0C254E4EB}" srcOrd="5" destOrd="0" presId="urn:microsoft.com/office/officeart/2009/layout/CircleArrow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C3FF9A-D14D-4FEF-AB1B-9A37301A6284}" type="doc">
      <dgm:prSet loTypeId="urn:microsoft.com/office/officeart/2005/8/layout/arrow2#1" loCatId="process" qsTypeId="urn:microsoft.com/office/officeart/2005/8/quickstyle/simple1#1" qsCatId="simple" csTypeId="urn:microsoft.com/office/officeart/2005/8/colors/accent1_2#1" csCatId="accent1" phldr="0"/>
      <dgm:spPr/>
    </dgm:pt>
    <dgm:pt modelId="{1034FEB5-A03A-4CA2-A076-E8EC6ED5FE3D}">
      <dgm:prSet phldrT="[文本]" phldr="0" custT="1"/>
      <dgm:spPr/>
      <dgm:t>
        <a:bodyPr vert="horz" wrap="square"/>
        <a:lstStyle/>
        <a:p>
          <a:pPr>
            <a:lnSpc>
              <a:spcPct val="100000"/>
            </a:lnSpc>
            <a:spcBef>
              <a:spcPct val="0"/>
            </a:spcBef>
            <a:spcAft>
              <a:spcPct val="35000"/>
            </a:spcAft>
          </a:pPr>
          <a:r>
            <a:rPr lang="zh-CN" altLang="en-US" sz="4400"/>
            <a:t>机制设置合理有效</a:t>
          </a:r>
        </a:p>
      </dgm:t>
    </dgm:pt>
    <dgm:pt modelId="{02FFF727-8F6D-4C0C-8965-23714FFE0D46}" type="parTrans" cxnId="{AE158359-DB02-4EBC-BA58-FBAD5B11A4FD}">
      <dgm:prSet/>
      <dgm:spPr/>
    </dgm:pt>
    <dgm:pt modelId="{27627A2C-C31B-48C3-8561-218EEA6BB751}" type="sibTrans" cxnId="{AE158359-DB02-4EBC-BA58-FBAD5B11A4FD}">
      <dgm:prSet/>
      <dgm:spPr/>
    </dgm:pt>
    <dgm:pt modelId="{07804D65-B857-43DC-8AF8-F5310C8A9254}">
      <dgm:prSet phldrT="[文本]" phldr="0" custT="1"/>
      <dgm:spPr/>
      <dgm:t>
        <a:bodyPr vert="horz" wrap="square"/>
        <a:lstStyle/>
        <a:p>
          <a:pPr>
            <a:lnSpc>
              <a:spcPct val="100000"/>
            </a:lnSpc>
            <a:spcBef>
              <a:spcPct val="0"/>
            </a:spcBef>
            <a:spcAft>
              <a:spcPct val="35000"/>
            </a:spcAft>
          </a:pPr>
          <a:r>
            <a:rPr lang="zh-CN" altLang="en-US" sz="3600">
              <a:latin typeface="微软雅黑" panose="020B0503020204020204" charset="-122"/>
              <a:ea typeface="微软雅黑" panose="020B0503020204020204" charset="-122"/>
            </a:rPr>
            <a:t>市场空缺大</a:t>
          </a:r>
        </a:p>
      </dgm:t>
    </dgm:pt>
    <dgm:pt modelId="{B0C8065F-D400-41C9-B576-EDC25611F23D}" type="parTrans" cxnId="{C68A8775-9E24-47BE-A168-5618552F9F50}">
      <dgm:prSet/>
      <dgm:spPr/>
    </dgm:pt>
    <dgm:pt modelId="{033D64D5-CC10-4917-BAD2-C3D556F9C854}" type="sibTrans" cxnId="{C68A8775-9E24-47BE-A168-5618552F9F50}">
      <dgm:prSet/>
      <dgm:spPr/>
    </dgm:pt>
    <dgm:pt modelId="{8606FE70-AF6E-4175-8F14-FE0F24E767EB}">
      <dgm:prSet phldrT="[文本]" phldr="0" custT="1"/>
      <dgm:spPr/>
      <dgm:t>
        <a:bodyPr vert="horz" wrap="square"/>
        <a:lstStyle/>
        <a:p>
          <a:pPr>
            <a:lnSpc>
              <a:spcPct val="100000"/>
            </a:lnSpc>
            <a:spcBef>
              <a:spcPct val="0"/>
            </a:spcBef>
            <a:spcAft>
              <a:spcPct val="35000"/>
            </a:spcAft>
          </a:pPr>
          <a:endParaRPr lang="zh-CN" altLang="en-US" sz="4400">
            <a:latin typeface="微软雅黑" panose="020B0503020204020204" charset="-122"/>
            <a:ea typeface="微软雅黑" panose="020B0503020204020204" charset="-122"/>
          </a:endParaRPr>
        </a:p>
      </dgm:t>
    </dgm:pt>
    <dgm:pt modelId="{A7135B97-5F0E-4193-8AE0-86BE29E17076}" type="parTrans" cxnId="{B44AF6BC-941D-49AD-A121-10FE15D20037}">
      <dgm:prSet/>
      <dgm:spPr/>
    </dgm:pt>
    <dgm:pt modelId="{BE7B0713-70AB-4DA3-B6EB-D54F04680FC9}" type="sibTrans" cxnId="{B44AF6BC-941D-49AD-A121-10FE15D20037}">
      <dgm:prSet/>
      <dgm:spPr/>
    </dgm:pt>
    <dgm:pt modelId="{559C2B3A-379F-4C35-A339-5499CB042C33}" type="pres">
      <dgm:prSet presAssocID="{00C3FF9A-D14D-4FEF-AB1B-9A37301A6284}" presName="arrowDiagram" presStyleCnt="0">
        <dgm:presLayoutVars>
          <dgm:chMax val="5"/>
          <dgm:dir/>
          <dgm:resizeHandles val="exact"/>
        </dgm:presLayoutVars>
      </dgm:prSet>
      <dgm:spPr/>
    </dgm:pt>
    <dgm:pt modelId="{A7714133-905D-4994-BEED-F8C5B479726D}" type="pres">
      <dgm:prSet presAssocID="{00C3FF9A-D14D-4FEF-AB1B-9A37301A6284}" presName="arrow" presStyleLbl="bgShp" presStyleIdx="0" presStyleCnt="1"/>
      <dgm:spPr/>
    </dgm:pt>
    <dgm:pt modelId="{052832B6-721F-41BC-BB07-0E7200FF9BB3}" type="pres">
      <dgm:prSet presAssocID="{00C3FF9A-D14D-4FEF-AB1B-9A37301A6284}" presName="arrowDiagram3" presStyleCnt="0"/>
      <dgm:spPr/>
    </dgm:pt>
    <dgm:pt modelId="{CE869124-7AF6-4161-807B-EED43EBB4DDA}" type="pres">
      <dgm:prSet presAssocID="{1034FEB5-A03A-4CA2-A076-E8EC6ED5FE3D}" presName="bullet3a" presStyleLbl="node1" presStyleIdx="0" presStyleCnt="3"/>
      <dgm:spPr/>
    </dgm:pt>
    <dgm:pt modelId="{BA26A4E9-4AE2-42DB-AE25-A9132A5F87A8}" type="pres">
      <dgm:prSet presAssocID="{1034FEB5-A03A-4CA2-A076-E8EC6ED5FE3D}" presName="textBox3a" presStyleLbl="revTx" presStyleIdx="0" presStyleCnt="3">
        <dgm:presLayoutVars>
          <dgm:bulletEnabled val="1"/>
        </dgm:presLayoutVars>
      </dgm:prSet>
      <dgm:spPr/>
    </dgm:pt>
    <dgm:pt modelId="{133B1644-2587-4D7F-B67D-6D81855D4046}" type="pres">
      <dgm:prSet presAssocID="{07804D65-B857-43DC-8AF8-F5310C8A9254}" presName="bullet3b" presStyleLbl="node1" presStyleIdx="1" presStyleCnt="3"/>
      <dgm:spPr/>
    </dgm:pt>
    <dgm:pt modelId="{EBBDF3BA-41CE-430B-B3E9-E71FAE47D0E3}" type="pres">
      <dgm:prSet presAssocID="{07804D65-B857-43DC-8AF8-F5310C8A9254}" presName="textBox3b" presStyleLbl="revTx" presStyleIdx="1" presStyleCnt="3">
        <dgm:presLayoutVars>
          <dgm:bulletEnabled val="1"/>
        </dgm:presLayoutVars>
      </dgm:prSet>
      <dgm:spPr/>
    </dgm:pt>
    <dgm:pt modelId="{61ECD666-B2E5-46DC-8842-3B7561C8DC34}" type="pres">
      <dgm:prSet presAssocID="{8606FE70-AF6E-4175-8F14-FE0F24E767EB}" presName="bullet3c" presStyleLbl="node1" presStyleIdx="2" presStyleCnt="3"/>
      <dgm:spPr/>
    </dgm:pt>
    <dgm:pt modelId="{DF0CDB76-03D3-4BEF-AA13-668011A3FA1A}" type="pres">
      <dgm:prSet presAssocID="{8606FE70-AF6E-4175-8F14-FE0F24E767EB}" presName="textBox3c" presStyleLbl="revTx" presStyleIdx="2" presStyleCnt="3">
        <dgm:presLayoutVars>
          <dgm:bulletEnabled val="1"/>
        </dgm:presLayoutVars>
      </dgm:prSet>
      <dgm:spPr/>
    </dgm:pt>
  </dgm:ptLst>
  <dgm:cxnLst>
    <dgm:cxn modelId="{1FE75211-4A10-4F04-B35F-7472306DD11C}" type="presOf" srcId="{00C3FF9A-D14D-4FEF-AB1B-9A37301A6284}" destId="{559C2B3A-379F-4C35-A339-5499CB042C33}" srcOrd="0" destOrd="0" presId="urn:microsoft.com/office/officeart/2005/8/layout/arrow2#1"/>
    <dgm:cxn modelId="{5F04645D-CAFA-47D0-A656-49D086301540}" type="presOf" srcId="{07804D65-B857-43DC-8AF8-F5310C8A9254}" destId="{EBBDF3BA-41CE-430B-B3E9-E71FAE47D0E3}" srcOrd="0" destOrd="0" presId="urn:microsoft.com/office/officeart/2005/8/layout/arrow2#1"/>
    <dgm:cxn modelId="{C68A8775-9E24-47BE-A168-5618552F9F50}" srcId="{00C3FF9A-D14D-4FEF-AB1B-9A37301A6284}" destId="{07804D65-B857-43DC-8AF8-F5310C8A9254}" srcOrd="1" destOrd="0" parTransId="{B0C8065F-D400-41C9-B576-EDC25611F23D}" sibTransId="{033D64D5-CC10-4917-BAD2-C3D556F9C854}"/>
    <dgm:cxn modelId="{AE158359-DB02-4EBC-BA58-FBAD5B11A4FD}" srcId="{00C3FF9A-D14D-4FEF-AB1B-9A37301A6284}" destId="{1034FEB5-A03A-4CA2-A076-E8EC6ED5FE3D}" srcOrd="0" destOrd="0" parTransId="{02FFF727-8F6D-4C0C-8965-23714FFE0D46}" sibTransId="{27627A2C-C31B-48C3-8561-218EEA6BB751}"/>
    <dgm:cxn modelId="{1145D879-0462-4413-8B94-0223996F1DCA}" type="presOf" srcId="{8606FE70-AF6E-4175-8F14-FE0F24E767EB}" destId="{DF0CDB76-03D3-4BEF-AA13-668011A3FA1A}" srcOrd="0" destOrd="0" presId="urn:microsoft.com/office/officeart/2005/8/layout/arrow2#1"/>
    <dgm:cxn modelId="{EA141780-2097-4B63-B54A-D5B7ADCBBF06}" type="presOf" srcId="{1034FEB5-A03A-4CA2-A076-E8EC6ED5FE3D}" destId="{BA26A4E9-4AE2-42DB-AE25-A9132A5F87A8}" srcOrd="0" destOrd="0" presId="urn:microsoft.com/office/officeart/2005/8/layout/arrow2#1"/>
    <dgm:cxn modelId="{B44AF6BC-941D-49AD-A121-10FE15D20037}" srcId="{00C3FF9A-D14D-4FEF-AB1B-9A37301A6284}" destId="{8606FE70-AF6E-4175-8F14-FE0F24E767EB}" srcOrd="2" destOrd="0" parTransId="{A7135B97-5F0E-4193-8AE0-86BE29E17076}" sibTransId="{BE7B0713-70AB-4DA3-B6EB-D54F04680FC9}"/>
    <dgm:cxn modelId="{6C5CF801-5B84-4704-AC18-C5896C13E3F0}" type="presParOf" srcId="{559C2B3A-379F-4C35-A339-5499CB042C33}" destId="{A7714133-905D-4994-BEED-F8C5B479726D}" srcOrd="0" destOrd="0" presId="urn:microsoft.com/office/officeart/2005/8/layout/arrow2#1"/>
    <dgm:cxn modelId="{CD740B0C-C4C0-49D5-A103-B7CCBA6790B5}" type="presParOf" srcId="{559C2B3A-379F-4C35-A339-5499CB042C33}" destId="{052832B6-721F-41BC-BB07-0E7200FF9BB3}" srcOrd="1" destOrd="0" presId="urn:microsoft.com/office/officeart/2005/8/layout/arrow2#1"/>
    <dgm:cxn modelId="{187BD5B8-86A1-48C1-896F-359BDDEE7D10}" type="presParOf" srcId="{052832B6-721F-41BC-BB07-0E7200FF9BB3}" destId="{CE869124-7AF6-4161-807B-EED43EBB4DDA}" srcOrd="0" destOrd="0" presId="urn:microsoft.com/office/officeart/2005/8/layout/arrow2#1"/>
    <dgm:cxn modelId="{1ECD17A6-D0A5-48AF-AE80-E460F12A54F5}" type="presParOf" srcId="{052832B6-721F-41BC-BB07-0E7200FF9BB3}" destId="{BA26A4E9-4AE2-42DB-AE25-A9132A5F87A8}" srcOrd="1" destOrd="0" presId="urn:microsoft.com/office/officeart/2005/8/layout/arrow2#1"/>
    <dgm:cxn modelId="{8F734D74-4D8A-45C8-9E54-3623A05C9C17}" type="presParOf" srcId="{052832B6-721F-41BC-BB07-0E7200FF9BB3}" destId="{133B1644-2587-4D7F-B67D-6D81855D4046}" srcOrd="2" destOrd="0" presId="urn:microsoft.com/office/officeart/2005/8/layout/arrow2#1"/>
    <dgm:cxn modelId="{6C7F9B86-FA06-441E-A6DF-7960E1101D5C}" type="presParOf" srcId="{052832B6-721F-41BC-BB07-0E7200FF9BB3}" destId="{EBBDF3BA-41CE-430B-B3E9-E71FAE47D0E3}" srcOrd="3" destOrd="0" presId="urn:microsoft.com/office/officeart/2005/8/layout/arrow2#1"/>
    <dgm:cxn modelId="{A02CF486-3222-4F67-AA43-137F218618DC}" type="presParOf" srcId="{052832B6-721F-41BC-BB07-0E7200FF9BB3}" destId="{61ECD666-B2E5-46DC-8842-3B7561C8DC34}" srcOrd="4" destOrd="0" presId="urn:microsoft.com/office/officeart/2005/8/layout/arrow2#1"/>
    <dgm:cxn modelId="{385252F8-E285-4F4C-B24D-2F6FB7D38FAB}" type="presParOf" srcId="{052832B6-721F-41BC-BB07-0E7200FF9BB3}" destId="{DF0CDB76-03D3-4BEF-AA13-668011A3FA1A}" srcOrd="5" destOrd="0" presId="urn:microsoft.com/office/officeart/2005/8/layout/arrow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E57AF-0587-449A-A755-B1B96DEF2BD2}">
      <dsp:nvSpPr>
        <dsp:cNvPr id="0" name=""/>
        <dsp:cNvSpPr/>
      </dsp:nvSpPr>
      <dsp:spPr>
        <a:xfrm>
          <a:off x="343408" y="0"/>
          <a:ext cx="2140838" cy="11893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zh-CN" altLang="en-US" sz="3800" kern="1200"/>
            <a:t>前期</a:t>
          </a:r>
        </a:p>
      </dsp:txBody>
      <dsp:txXfrm>
        <a:off x="378243" y="34835"/>
        <a:ext cx="2071168" cy="1119684"/>
      </dsp:txXfrm>
    </dsp:sp>
    <dsp:sp modelId="{11477A19-6F59-488F-BD44-5E3FBE8E3386}">
      <dsp:nvSpPr>
        <dsp:cNvPr id="0" name=""/>
        <dsp:cNvSpPr/>
      </dsp:nvSpPr>
      <dsp:spPr>
        <a:xfrm rot="5400000">
          <a:off x="1190823" y="1219088"/>
          <a:ext cx="446008" cy="5352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CN" altLang="en-US" sz="2300" kern="1200"/>
        </a:p>
      </dsp:txBody>
      <dsp:txXfrm rot="-5400000">
        <a:off x="1253265" y="1263688"/>
        <a:ext cx="321125" cy="312206"/>
      </dsp:txXfrm>
    </dsp:sp>
    <dsp:sp modelId="{353C71C7-5E8B-4565-86BF-B755B524B25E}">
      <dsp:nvSpPr>
        <dsp:cNvPr id="0" name=""/>
        <dsp:cNvSpPr/>
      </dsp:nvSpPr>
      <dsp:spPr>
        <a:xfrm>
          <a:off x="343408" y="1784032"/>
          <a:ext cx="2140838" cy="11893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zh-CN" altLang="en-US" sz="3800" kern="1200"/>
            <a:t>中期</a:t>
          </a:r>
        </a:p>
      </dsp:txBody>
      <dsp:txXfrm>
        <a:off x="378243" y="1818867"/>
        <a:ext cx="2071168" cy="1119684"/>
      </dsp:txXfrm>
    </dsp:sp>
    <dsp:sp modelId="{06ECC167-6368-4F79-84C6-65D90B9BC4A6}">
      <dsp:nvSpPr>
        <dsp:cNvPr id="0" name=""/>
        <dsp:cNvSpPr/>
      </dsp:nvSpPr>
      <dsp:spPr>
        <a:xfrm rot="5400000">
          <a:off x="1190823" y="3003121"/>
          <a:ext cx="446008" cy="5352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zh-CN" altLang="en-US" sz="2300" kern="1200"/>
        </a:p>
      </dsp:txBody>
      <dsp:txXfrm rot="-5400000">
        <a:off x="1253265" y="3047721"/>
        <a:ext cx="321125" cy="312206"/>
      </dsp:txXfrm>
    </dsp:sp>
    <dsp:sp modelId="{93DEFB83-998E-4F52-9267-01422D869D93}">
      <dsp:nvSpPr>
        <dsp:cNvPr id="0" name=""/>
        <dsp:cNvSpPr/>
      </dsp:nvSpPr>
      <dsp:spPr>
        <a:xfrm>
          <a:off x="343408" y="3568064"/>
          <a:ext cx="2140838" cy="11893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100000"/>
            </a:lnSpc>
            <a:spcBef>
              <a:spcPct val="0"/>
            </a:spcBef>
            <a:spcAft>
              <a:spcPct val="35000"/>
            </a:spcAft>
            <a:buNone/>
          </a:pPr>
          <a:r>
            <a:rPr lang="zh-CN" altLang="en-US" sz="3800" kern="1200"/>
            <a:t>后期</a:t>
          </a:r>
        </a:p>
      </dsp:txBody>
      <dsp:txXfrm>
        <a:off x="378243" y="3602899"/>
        <a:ext cx="2071168" cy="1119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E3110-57E1-4619-A55C-DCD0DD5CE084}">
      <dsp:nvSpPr>
        <dsp:cNvPr id="0" name=""/>
        <dsp:cNvSpPr/>
      </dsp:nvSpPr>
      <dsp:spPr>
        <a:xfrm rot="5400000">
          <a:off x="-290182" y="292968"/>
          <a:ext cx="1934551" cy="13541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100000"/>
            </a:lnSpc>
            <a:spcBef>
              <a:spcPct val="0"/>
            </a:spcBef>
            <a:spcAft>
              <a:spcPct val="35000"/>
            </a:spcAft>
            <a:buNone/>
          </a:pPr>
          <a:r>
            <a:rPr lang="zh-CN" altLang="en-US" sz="2500" kern="1200"/>
            <a:t>计划书</a:t>
          </a:r>
        </a:p>
      </dsp:txBody>
      <dsp:txXfrm rot="-5400000">
        <a:off x="1" y="679878"/>
        <a:ext cx="1354186" cy="580365"/>
      </dsp:txXfrm>
    </dsp:sp>
    <dsp:sp modelId="{544D3F38-216B-445A-B1B9-8008AEDB7A9D}">
      <dsp:nvSpPr>
        <dsp:cNvPr id="0" name=""/>
        <dsp:cNvSpPr/>
      </dsp:nvSpPr>
      <dsp:spPr>
        <a:xfrm rot="5400000">
          <a:off x="4505746" y="-3148774"/>
          <a:ext cx="1257458" cy="7560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00000"/>
            </a:lnSpc>
            <a:spcBef>
              <a:spcPct val="0"/>
            </a:spcBef>
            <a:spcAft>
              <a:spcPct val="15000"/>
            </a:spcAft>
            <a:buChar char="•"/>
          </a:pPr>
          <a:r>
            <a:rPr lang="zh-CN" altLang="en-US" sz="1500" kern="1200"/>
            <a:t> </a:t>
          </a:r>
          <a:r>
            <a:rPr lang="en-US" altLang="zh-CN" sz="1500" kern="1200"/>
            <a:t>xx </a:t>
          </a:r>
          <a:r>
            <a:rPr lang="zh-CN" sz="1500" b="0" kern="1200"/>
            <a:t>项目背景调查与市场分析</a:t>
          </a:r>
          <a:endParaRPr lang="zh-CN" altLang="en-US" sz="1500" b="0" kern="1200"/>
        </a:p>
        <a:p>
          <a:pPr marL="114300" lvl="1" indent="-114300" algn="l" defTabSz="666750">
            <a:lnSpc>
              <a:spcPct val="100000"/>
            </a:lnSpc>
            <a:spcBef>
              <a:spcPct val="0"/>
            </a:spcBef>
            <a:spcAft>
              <a:spcPct val="15000"/>
            </a:spcAft>
            <a:buChar char="•"/>
          </a:pPr>
          <a:r>
            <a:rPr lang="en-US" altLang="zh-CN" sz="1500" b="0" kern="1200"/>
            <a:t>xx</a:t>
          </a:r>
          <a:r>
            <a:rPr lang="zh-CN" altLang="en-US" sz="1500" b="0" kern="1200"/>
            <a:t> </a:t>
          </a:r>
          <a:r>
            <a:rPr lang="zh-CN" sz="1500" b="0" kern="1200"/>
            <a:t>商业计划书总体初稿撰写</a:t>
          </a:r>
          <a:endParaRPr lang="zh-CN" altLang="en-US" sz="1500" b="0" kern="1200"/>
        </a:p>
      </dsp:txBody>
      <dsp:txXfrm rot="-5400000">
        <a:off x="1354186" y="64170"/>
        <a:ext cx="7499194" cy="1134690"/>
      </dsp:txXfrm>
    </dsp:sp>
    <dsp:sp modelId="{722E1094-83C7-45E2-B20F-DB9D09AD94F0}">
      <dsp:nvSpPr>
        <dsp:cNvPr id="0" name=""/>
        <dsp:cNvSpPr/>
      </dsp:nvSpPr>
      <dsp:spPr>
        <a:xfrm rot="5400000">
          <a:off x="-290182" y="2036579"/>
          <a:ext cx="1934551" cy="13541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100000"/>
            </a:lnSpc>
            <a:spcBef>
              <a:spcPct val="0"/>
            </a:spcBef>
            <a:spcAft>
              <a:spcPct val="35000"/>
            </a:spcAft>
            <a:buNone/>
          </a:pPr>
          <a:r>
            <a:rPr lang="zh-CN" altLang="en-US" sz="2500" kern="1200"/>
            <a:t>展示</a:t>
          </a:r>
        </a:p>
      </dsp:txBody>
      <dsp:txXfrm rot="-5400000">
        <a:off x="1" y="2423489"/>
        <a:ext cx="1354186" cy="580365"/>
      </dsp:txXfrm>
    </dsp:sp>
    <dsp:sp modelId="{AC67BBE6-9B82-4D3D-BF22-48713AF46E9C}">
      <dsp:nvSpPr>
        <dsp:cNvPr id="0" name=""/>
        <dsp:cNvSpPr/>
      </dsp:nvSpPr>
      <dsp:spPr>
        <a:xfrm rot="5400000">
          <a:off x="4505746" y="-1405163"/>
          <a:ext cx="1257458" cy="7560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00000"/>
            </a:lnSpc>
            <a:spcBef>
              <a:spcPct val="0"/>
            </a:spcBef>
            <a:spcAft>
              <a:spcPct val="15000"/>
            </a:spcAft>
            <a:buChar char="•"/>
          </a:pPr>
          <a:r>
            <a:rPr lang="en-US" altLang="zh-CN" sz="1500" kern="1200"/>
            <a:t>xx</a:t>
          </a:r>
          <a:r>
            <a:rPr lang="zh-CN" altLang="en-US" sz="1500" kern="1200"/>
            <a:t> </a:t>
          </a:r>
          <a:r>
            <a:rPr lang="zh-CN" sz="1500" b="0" kern="1200"/>
            <a:t>商业模式规划与分析</a:t>
          </a:r>
          <a:endParaRPr lang="zh-CN" altLang="en-US" sz="1500" b="0" kern="1200"/>
        </a:p>
        <a:p>
          <a:pPr marL="114300" lvl="1" indent="-114300" algn="l" defTabSz="666750">
            <a:lnSpc>
              <a:spcPct val="100000"/>
            </a:lnSpc>
            <a:spcBef>
              <a:spcPct val="0"/>
            </a:spcBef>
            <a:spcAft>
              <a:spcPct val="15000"/>
            </a:spcAft>
            <a:buChar char="•"/>
          </a:pPr>
          <a:r>
            <a:rPr lang="en-US" altLang="zh-CN" sz="1500" kern="1200"/>
            <a:t>xx</a:t>
          </a:r>
          <a:r>
            <a:rPr lang="zh-CN" altLang="en-US" sz="1500" kern="1200"/>
            <a:t> </a:t>
          </a:r>
          <a:r>
            <a:rPr lang="zh-CN" sz="1500" b="0" kern="1200"/>
            <a:t>撰写计划书中“市场营销策略”部分</a:t>
          </a:r>
          <a:endParaRPr lang="zh-CN" altLang="en-US" sz="1500" b="0" kern="1200"/>
        </a:p>
        <a:p>
          <a:pPr marL="114300" lvl="1" indent="-114300" algn="l" defTabSz="666750">
            <a:lnSpc>
              <a:spcPct val="100000"/>
            </a:lnSpc>
            <a:spcBef>
              <a:spcPct val="0"/>
            </a:spcBef>
            <a:spcAft>
              <a:spcPct val="15000"/>
            </a:spcAft>
            <a:buChar char="•"/>
          </a:pPr>
          <a:r>
            <a:rPr lang="en-US" altLang="zh-CN" sz="1500" kern="1200"/>
            <a:t>xx</a:t>
          </a:r>
          <a:r>
            <a:rPr lang="zh-CN" altLang="en-US" sz="1500" kern="1200"/>
            <a:t> </a:t>
          </a:r>
          <a:r>
            <a:rPr lang="zh-CN" sz="1500" b="0" kern="1200"/>
            <a:t>市场营销分析与讨论过程记录</a:t>
          </a:r>
          <a:endParaRPr lang="zh-CN" altLang="en-US" sz="1500" b="0" kern="1200"/>
        </a:p>
      </dsp:txBody>
      <dsp:txXfrm rot="-5400000">
        <a:off x="1354186" y="1807781"/>
        <a:ext cx="7499194" cy="1134690"/>
      </dsp:txXfrm>
    </dsp:sp>
    <dsp:sp modelId="{95C8A2DE-C1F8-4D5A-A3A4-1DC2FA1C0073}">
      <dsp:nvSpPr>
        <dsp:cNvPr id="0" name=""/>
        <dsp:cNvSpPr/>
      </dsp:nvSpPr>
      <dsp:spPr>
        <a:xfrm rot="5400000">
          <a:off x="-290182" y="3780190"/>
          <a:ext cx="1934551" cy="135418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100000"/>
            </a:lnSpc>
            <a:spcBef>
              <a:spcPct val="0"/>
            </a:spcBef>
            <a:spcAft>
              <a:spcPct val="35000"/>
            </a:spcAft>
            <a:buNone/>
          </a:pPr>
          <a:r>
            <a:rPr lang="zh-CN" altLang="en-US" sz="2500" kern="1200"/>
            <a:t>汇报</a:t>
          </a:r>
        </a:p>
      </dsp:txBody>
      <dsp:txXfrm rot="-5400000">
        <a:off x="1" y="4167100"/>
        <a:ext cx="1354186" cy="580365"/>
      </dsp:txXfrm>
    </dsp:sp>
    <dsp:sp modelId="{BE17FEF5-EEE1-41BB-96FD-8FBB3FCF3860}">
      <dsp:nvSpPr>
        <dsp:cNvPr id="0" name=""/>
        <dsp:cNvSpPr/>
      </dsp:nvSpPr>
      <dsp:spPr>
        <a:xfrm rot="5400000">
          <a:off x="4505746" y="338447"/>
          <a:ext cx="1257458" cy="756057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00000"/>
            </a:lnSpc>
            <a:spcBef>
              <a:spcPct val="0"/>
            </a:spcBef>
            <a:spcAft>
              <a:spcPct val="15000"/>
            </a:spcAft>
            <a:buChar char="•"/>
          </a:pPr>
          <a:r>
            <a:rPr lang="en-US" altLang="zh-CN" sz="1500" kern="1200"/>
            <a:t>xx</a:t>
          </a:r>
          <a:r>
            <a:rPr lang="zh-CN" altLang="en-US" sz="1500" kern="1200"/>
            <a:t>（组长）分配任务、</a:t>
          </a:r>
          <a:r>
            <a:rPr lang="en-US" altLang="en-US" sz="1500" kern="1200"/>
            <a:t>ppt</a:t>
          </a:r>
          <a:r>
            <a:rPr lang="zh-CN" altLang="en-US" sz="1500" kern="1200"/>
            <a:t>汇报</a:t>
          </a:r>
        </a:p>
        <a:p>
          <a:pPr marL="114300" lvl="1" indent="-114300" algn="l" defTabSz="666750">
            <a:lnSpc>
              <a:spcPct val="100000"/>
            </a:lnSpc>
            <a:spcBef>
              <a:spcPct val="0"/>
            </a:spcBef>
            <a:spcAft>
              <a:spcPct val="15000"/>
            </a:spcAft>
            <a:buChar char="•"/>
          </a:pPr>
          <a:r>
            <a:rPr lang="en-US" altLang="zh-CN" sz="1500" kern="1200"/>
            <a:t>xx</a:t>
          </a:r>
          <a:r>
            <a:rPr lang="zh-CN" altLang="en-US" sz="1500" kern="1200"/>
            <a:t> </a:t>
          </a:r>
          <a:r>
            <a:rPr lang="en-US" sz="1500" b="0" kern="1200"/>
            <a:t>ppt</a:t>
          </a:r>
          <a:r>
            <a:rPr lang="zh-CN" sz="1500" b="0" kern="1200"/>
            <a:t>内容修改和汇报</a:t>
          </a:r>
          <a:endParaRPr lang="zh-CN" altLang="en-US" sz="1500" b="0" kern="1200"/>
        </a:p>
      </dsp:txBody>
      <dsp:txXfrm rot="-5400000">
        <a:off x="1354186" y="3551391"/>
        <a:ext cx="7499194" cy="11346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58B044-31E5-4900-BEF2-0561C35E9287}">
      <dsp:nvSpPr>
        <dsp:cNvPr id="0" name=""/>
        <dsp:cNvSpPr/>
      </dsp:nvSpPr>
      <dsp:spPr>
        <a:xfrm>
          <a:off x="995900" y="173704"/>
          <a:ext cx="1723486" cy="1723749"/>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8A1768-D971-44A0-9296-883AA6C351ED}">
      <dsp:nvSpPr>
        <dsp:cNvPr id="0" name=""/>
        <dsp:cNvSpPr/>
      </dsp:nvSpPr>
      <dsp:spPr bwMode="white">
        <a:xfrm>
          <a:off x="1376847" y="796030"/>
          <a:ext cx="957708" cy="47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zh-CN" altLang="en-US" sz="2000" kern="1200"/>
            <a:t>校园</a:t>
          </a:r>
        </a:p>
      </dsp:txBody>
      <dsp:txXfrm>
        <a:off x="1376847" y="796030"/>
        <a:ext cx="957708" cy="478739"/>
      </dsp:txXfrm>
    </dsp:sp>
    <dsp:sp modelId="{82F5C82C-3C8C-44AC-B495-DCAFE372B3B8}">
      <dsp:nvSpPr>
        <dsp:cNvPr id="0" name=""/>
        <dsp:cNvSpPr/>
      </dsp:nvSpPr>
      <dsp:spPr>
        <a:xfrm>
          <a:off x="517207" y="1164126"/>
          <a:ext cx="1723486" cy="1723749"/>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1B79B2-94EA-48E8-9F5B-CCC2F37FE992}">
      <dsp:nvSpPr>
        <dsp:cNvPr id="0" name=""/>
        <dsp:cNvSpPr/>
      </dsp:nvSpPr>
      <dsp:spPr bwMode="white">
        <a:xfrm>
          <a:off x="900097" y="1792181"/>
          <a:ext cx="957708" cy="47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zh-CN" altLang="en-US" sz="2000" kern="1200"/>
            <a:t>平台</a:t>
          </a:r>
        </a:p>
      </dsp:txBody>
      <dsp:txXfrm>
        <a:off x="900097" y="1792181"/>
        <a:ext cx="957708" cy="478739"/>
      </dsp:txXfrm>
    </dsp:sp>
    <dsp:sp modelId="{D8B093BC-2378-41D5-BB68-CF2D7261907B}">
      <dsp:nvSpPr>
        <dsp:cNvPr id="0" name=""/>
        <dsp:cNvSpPr/>
      </dsp:nvSpPr>
      <dsp:spPr>
        <a:xfrm>
          <a:off x="1118567" y="2273069"/>
          <a:ext cx="1480742" cy="1481335"/>
        </a:xfrm>
        <a:prstGeom prst="blockArc">
          <a:avLst>
            <a:gd name="adj1" fmla="val 13500000"/>
            <a:gd name="adj2" fmla="val 10800000"/>
            <a:gd name="adj3" fmla="val 1274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052E6C-D2A5-4989-93EA-93D0C254E4EB}">
      <dsp:nvSpPr>
        <dsp:cNvPr id="0" name=""/>
        <dsp:cNvSpPr/>
      </dsp:nvSpPr>
      <dsp:spPr bwMode="white">
        <a:xfrm>
          <a:off x="1379113" y="2789764"/>
          <a:ext cx="957708" cy="47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100000"/>
            </a:lnSpc>
            <a:spcBef>
              <a:spcPct val="0"/>
            </a:spcBef>
            <a:spcAft>
              <a:spcPct val="35000"/>
            </a:spcAft>
            <a:buNone/>
          </a:pPr>
          <a:r>
            <a:rPr lang="zh-CN" altLang="en-US" sz="2000" kern="1200"/>
            <a:t>交易者</a:t>
          </a:r>
        </a:p>
      </dsp:txBody>
      <dsp:txXfrm>
        <a:off x="1379113" y="2789764"/>
        <a:ext cx="957708" cy="4787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714133-905D-4994-BEED-F8C5B479726D}">
      <dsp:nvSpPr>
        <dsp:cNvPr id="0" name=""/>
        <dsp:cNvSpPr/>
      </dsp:nvSpPr>
      <dsp:spPr>
        <a:xfrm>
          <a:off x="228685" y="0"/>
          <a:ext cx="7244756" cy="4527972"/>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869124-7AF6-4161-807B-EED43EBB4DDA}">
      <dsp:nvSpPr>
        <dsp:cNvPr id="0" name=""/>
        <dsp:cNvSpPr/>
      </dsp:nvSpPr>
      <dsp:spPr>
        <a:xfrm>
          <a:off x="1148769" y="3125206"/>
          <a:ext cx="188363" cy="18836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26A4E9-4AE2-42DB-AE25-A9132A5F87A8}">
      <dsp:nvSpPr>
        <dsp:cNvPr id="0" name=""/>
        <dsp:cNvSpPr/>
      </dsp:nvSpPr>
      <dsp:spPr bwMode="white">
        <a:xfrm>
          <a:off x="1242951" y="3219388"/>
          <a:ext cx="1688028" cy="1308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810" tIns="0" rIns="0" bIns="0" numCol="1" spcCol="1270" anchor="t" anchorCtr="0">
          <a:noAutofit/>
        </a:bodyPr>
        <a:lstStyle/>
        <a:p>
          <a:pPr marL="0" lvl="0" indent="0" algn="l" defTabSz="1955800">
            <a:lnSpc>
              <a:spcPct val="100000"/>
            </a:lnSpc>
            <a:spcBef>
              <a:spcPct val="0"/>
            </a:spcBef>
            <a:spcAft>
              <a:spcPct val="35000"/>
            </a:spcAft>
            <a:buNone/>
          </a:pPr>
          <a:r>
            <a:rPr lang="zh-CN" altLang="en-US" sz="4400" kern="1200"/>
            <a:t>机制设置合理有效</a:t>
          </a:r>
        </a:p>
      </dsp:txBody>
      <dsp:txXfrm>
        <a:off x="1242951" y="3219388"/>
        <a:ext cx="1688028" cy="1308584"/>
      </dsp:txXfrm>
    </dsp:sp>
    <dsp:sp modelId="{133B1644-2587-4D7F-B67D-6D81855D4046}">
      <dsp:nvSpPr>
        <dsp:cNvPr id="0" name=""/>
        <dsp:cNvSpPr/>
      </dsp:nvSpPr>
      <dsp:spPr>
        <a:xfrm>
          <a:off x="2811440" y="1894503"/>
          <a:ext cx="340503" cy="34050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BDF3BA-41CE-430B-B3E9-E71FAE47D0E3}">
      <dsp:nvSpPr>
        <dsp:cNvPr id="0" name=""/>
        <dsp:cNvSpPr/>
      </dsp:nvSpPr>
      <dsp:spPr bwMode="white">
        <a:xfrm>
          <a:off x="2981692" y="2064755"/>
          <a:ext cx="1738741" cy="24632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426" tIns="0" rIns="0" bIns="0" numCol="1" spcCol="1270" anchor="t" anchorCtr="0">
          <a:noAutofit/>
        </a:bodyPr>
        <a:lstStyle/>
        <a:p>
          <a:pPr marL="0" lvl="0" indent="0" algn="l" defTabSz="1600200">
            <a:lnSpc>
              <a:spcPct val="100000"/>
            </a:lnSpc>
            <a:spcBef>
              <a:spcPct val="0"/>
            </a:spcBef>
            <a:spcAft>
              <a:spcPct val="35000"/>
            </a:spcAft>
            <a:buNone/>
          </a:pPr>
          <a:r>
            <a:rPr lang="zh-CN" altLang="en-US" sz="3600" kern="1200">
              <a:latin typeface="微软雅黑" panose="020B0503020204020204" charset="-122"/>
              <a:ea typeface="微软雅黑" panose="020B0503020204020204" charset="-122"/>
            </a:rPr>
            <a:t>市场空缺大</a:t>
          </a:r>
        </a:p>
      </dsp:txBody>
      <dsp:txXfrm>
        <a:off x="2981692" y="2064755"/>
        <a:ext cx="1738741" cy="2463217"/>
      </dsp:txXfrm>
    </dsp:sp>
    <dsp:sp modelId="{61ECD666-B2E5-46DC-8842-3B7561C8DC34}">
      <dsp:nvSpPr>
        <dsp:cNvPr id="0" name=""/>
        <dsp:cNvSpPr/>
      </dsp:nvSpPr>
      <dsp:spPr>
        <a:xfrm>
          <a:off x="4810993" y="1145577"/>
          <a:ext cx="470909" cy="47090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0CDB76-03D3-4BEF-AA13-668011A3FA1A}">
      <dsp:nvSpPr>
        <dsp:cNvPr id="0" name=""/>
        <dsp:cNvSpPr/>
      </dsp:nvSpPr>
      <dsp:spPr bwMode="white">
        <a:xfrm>
          <a:off x="5046448" y="1381031"/>
          <a:ext cx="1738741" cy="3146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9525" tIns="0" rIns="0" bIns="0" numCol="1" spcCol="1270" anchor="t" anchorCtr="0">
          <a:noAutofit/>
        </a:bodyPr>
        <a:lstStyle/>
        <a:p>
          <a:pPr marL="0" lvl="0" indent="0" algn="l" defTabSz="1955800">
            <a:lnSpc>
              <a:spcPct val="100000"/>
            </a:lnSpc>
            <a:spcBef>
              <a:spcPct val="0"/>
            </a:spcBef>
            <a:spcAft>
              <a:spcPct val="35000"/>
            </a:spcAft>
            <a:buNone/>
          </a:pPr>
          <a:endParaRPr lang="zh-CN" altLang="en-US" sz="4400" kern="1200">
            <a:latin typeface="微软雅黑" panose="020B0503020204020204" charset="-122"/>
            <a:ea typeface="微软雅黑" panose="020B0503020204020204" charset="-122"/>
          </a:endParaRPr>
        </a:p>
      </dsp:txBody>
      <dsp:txXfrm>
        <a:off x="5046448" y="1381031"/>
        <a:ext cx="1738741" cy="31469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layout/CircleArrowProcess#1">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arrow2#1">
  <dgm:title val=""/>
  <dgm:desc val=""/>
  <dgm:catLst>
    <dgm:cat type="process" pri="2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可以做成竖着的</a:t>
            </a:r>
            <a:r>
              <a:rPr lang="en-US" altLang="zh-CN"/>
              <a:t>1234 </a:t>
            </a:r>
            <a:r>
              <a:rPr lang="zh-CN" altLang="en-US"/>
              <a:t>那样子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可以下面放张图</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挑几个写吧</a:t>
            </a:r>
            <a:r>
              <a:rPr lang="en-US" altLang="zh-CN"/>
              <a:t>  </a:t>
            </a:r>
            <a:r>
              <a:rPr lang="zh-CN" altLang="en-US"/>
              <a:t>就提供服务</a:t>
            </a:r>
            <a:r>
              <a:rPr lang="en-US" altLang="zh-CN"/>
              <a:t>--</a:t>
            </a:r>
            <a:r>
              <a:rPr lang="zh-CN" altLang="en-US"/>
              <a:t>解决问题这样一一对应摆出来</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挑几个写吧</a:t>
            </a:r>
            <a:r>
              <a:rPr lang="en-US" altLang="zh-CN"/>
              <a:t>  </a:t>
            </a:r>
            <a:r>
              <a:rPr lang="zh-CN" altLang="en-US"/>
              <a:t>就提供服务</a:t>
            </a:r>
            <a:r>
              <a:rPr lang="en-US" altLang="zh-CN"/>
              <a:t>--</a:t>
            </a:r>
            <a:r>
              <a:rPr lang="zh-CN" altLang="en-US"/>
              <a:t>解决问题这样一一对应摆出来</a:t>
            </a:r>
          </a:p>
        </p:txBody>
      </p:sp>
    </p:spTree>
    <p:extLst>
      <p:ext uri="{BB962C8B-B14F-4D97-AF65-F5344CB8AC3E}">
        <p14:creationId xmlns:p14="http://schemas.microsoft.com/office/powerpoint/2010/main" val="3850402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这里可以做个表格？</a:t>
            </a:r>
            <a:r>
              <a:rPr lang="en-US" altLang="zh-CN"/>
              <a:t> </a:t>
            </a:r>
            <a:r>
              <a:rPr lang="zh-CN" altLang="en-US"/>
              <a:t>不做也行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摆交流截图（老师要求）</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可以写个财务分析</a:t>
            </a:r>
            <a:r>
              <a:rPr lang="en-US" altLang="zh-CN"/>
              <a:t> </a:t>
            </a:r>
            <a:r>
              <a:rPr lang="zh-CN" altLang="en-US"/>
              <a:t>融资，收入期望这类的，我不太懂就没写内容</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不知道需不需要</a:t>
            </a: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file:///C:\Users\D69LXP2\Desktop\400px_tools/pic_temp/pic_sup.png" TargetMode="External"/><Relationship Id="rId4" Type="http://schemas.openxmlformats.org/officeDocument/2006/relationships/tags" Target="../tags/tag11.xml"/><Relationship Id="rId9"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10" Type="http://schemas.openxmlformats.org/officeDocument/2006/relationships/image" Target="file:///C:\Users\D69LXP2\Desktop\400px_tools/pic_temp/pic_sup.png" TargetMode="External"/><Relationship Id="rId4" Type="http://schemas.openxmlformats.org/officeDocument/2006/relationships/tags" Target="../tags/tag18.xml"/><Relationship Id="rId9"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4.xml"/><Relationship Id="rId7" Type="http://schemas.openxmlformats.org/officeDocument/2006/relationships/tags" Target="../tags/tag28.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10" Type="http://schemas.openxmlformats.org/officeDocument/2006/relationships/image" Target="file:///C:\Users\D69LXP2\Desktop\400px_tools/pic_temp/pic_sup.png" TargetMode="External"/><Relationship Id="rId4" Type="http://schemas.openxmlformats.org/officeDocument/2006/relationships/tags" Target="../tags/tag25.xml"/><Relationship Id="rId9"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file:///C:\Users\D69LXP2\Desktop\400px_tools/pic_temp/pic_sup.png" TargetMode="External"/><Relationship Id="rId5" Type="http://schemas.openxmlformats.org/officeDocument/2006/relationships/tags" Target="../tags/tag33.xml"/><Relationship Id="rId10" Type="http://schemas.openxmlformats.org/officeDocument/2006/relationships/image" Target="../media/image2.jpeg"/><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image" Target="file:///C:\Users\D69LXP2\Desktop\400px_tools/pic_temp/pic_sup.png" TargetMode="External"/><Relationship Id="rId3" Type="http://schemas.openxmlformats.org/officeDocument/2006/relationships/tags" Target="../tags/tag39.xml"/><Relationship Id="rId7" Type="http://schemas.openxmlformats.org/officeDocument/2006/relationships/tags" Target="../tags/tag43.xml"/><Relationship Id="rId12" Type="http://schemas.openxmlformats.org/officeDocument/2006/relationships/image" Target="../media/image2.jpe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slideMaster" Target="../slideMasters/slideMaster1.xml"/><Relationship Id="rId5" Type="http://schemas.openxmlformats.org/officeDocument/2006/relationships/tags" Target="../tags/tag41.xml"/><Relationship Id="rId10" Type="http://schemas.openxmlformats.org/officeDocument/2006/relationships/tags" Target="../tags/tag46.xml"/><Relationship Id="rId4" Type="http://schemas.openxmlformats.org/officeDocument/2006/relationships/tags" Target="../tags/tag40.xml"/><Relationship Id="rId9" Type="http://schemas.openxmlformats.org/officeDocument/2006/relationships/tags" Target="../tags/tag45.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9.xml"/><Relationship Id="rId7" Type="http://schemas.openxmlformats.org/officeDocument/2006/relationships/tags" Target="../tags/tag53.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10" Type="http://schemas.openxmlformats.org/officeDocument/2006/relationships/image" Target="file:///C:\Users\D69LXP2\Desktop\400px_tools/pic_temp/whole_pic.png" TargetMode="External"/><Relationship Id="rId4" Type="http://schemas.openxmlformats.org/officeDocument/2006/relationships/tags" Target="../tags/tag50.xml"/><Relationship Id="rId9"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image" Target="file:///C:\Users\D69LXP2\Desktop\400px_tools/pic_temp/pic_sup.png" TargetMode="External"/><Relationship Id="rId5" Type="http://schemas.openxmlformats.org/officeDocument/2006/relationships/tags" Target="../tags/tag61.xml"/><Relationship Id="rId10" Type="http://schemas.openxmlformats.org/officeDocument/2006/relationships/image" Target="../media/image2.jpeg"/><Relationship Id="rId4" Type="http://schemas.openxmlformats.org/officeDocument/2006/relationships/tags" Target="../tags/tag60.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image" Target="file:///C:\Users\D69LXP2\Desktop\400px_tools/pic_temp/pic_sup.png" TargetMode="External"/><Relationship Id="rId4" Type="http://schemas.openxmlformats.org/officeDocument/2006/relationships/tags" Target="../tags/tag68.xml"/><Relationship Id="rId9"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74.xml"/><Relationship Id="rId7" Type="http://schemas.openxmlformats.org/officeDocument/2006/relationships/slideMaster" Target="../slideMasters/slideMaster1.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9" Type="http://schemas.openxmlformats.org/officeDocument/2006/relationships/image" Target="file:///C:\Users\D69LXP2\Desktop\400px_tools/pic_temp/pic_sup.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file:///C:\Users\D69LXP2\Desktop\400px_tools/pic_temp/pic_sup.png" TargetMode="External"/><Relationship Id="rId5" Type="http://schemas.openxmlformats.org/officeDocument/2006/relationships/tags" Target="../tags/tag82.xml"/><Relationship Id="rId10" Type="http://schemas.openxmlformats.org/officeDocument/2006/relationships/image" Target="../media/image2.jpeg"/><Relationship Id="rId4" Type="http://schemas.openxmlformats.org/officeDocument/2006/relationships/tags" Target="../tags/tag81.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88.xml"/><Relationship Id="rId7" Type="http://schemas.openxmlformats.org/officeDocument/2006/relationships/slideMaster" Target="../slideMasters/slideMaster1.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9" Type="http://schemas.openxmlformats.org/officeDocument/2006/relationships/image" Target="file:///C:\Users\D69LXP2\Desktop\400px_tools/pic_temp/pic_sup.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4.xml"/><Relationship Id="rId7" Type="http://schemas.openxmlformats.org/officeDocument/2006/relationships/tags" Target="../tags/tag98.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5" Type="http://schemas.openxmlformats.org/officeDocument/2006/relationships/tags" Target="../tags/tag96.xml"/><Relationship Id="rId10" Type="http://schemas.openxmlformats.org/officeDocument/2006/relationships/image" Target="file:///C:\Users\D69LXP2\Desktop\400px_tools/pic_temp/pic_sup.png" TargetMode="External"/><Relationship Id="rId4" Type="http://schemas.openxmlformats.org/officeDocument/2006/relationships/tags" Target="../tags/tag95.xml"/><Relationship Id="rId9"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6.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image" Target="file:///C:\Users\D69LXP2\Desktop\400px_tools/pic_temp/pic_sup.png" TargetMode="Externa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image" Target="../media/image2.jpeg"/><Relationship Id="rId5" Type="http://schemas.openxmlformats.org/officeDocument/2006/relationships/tags" Target="../tags/tag103.xml"/><Relationship Id="rId10" Type="http://schemas.openxmlformats.org/officeDocument/2006/relationships/slideMaster" Target="../slideMasters/slideMaster1.xml"/><Relationship Id="rId4" Type="http://schemas.openxmlformats.org/officeDocument/2006/relationships/tags" Target="../tags/tag102.xml"/><Relationship Id="rId9" Type="http://schemas.openxmlformats.org/officeDocument/2006/relationships/tags" Target="../tags/tag107.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image" Target="file:///C:\Users\D69LXP2\Desktop\400px_tools/pic_temp/pic_sup.png" TargetMode="Externa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image" Target="../media/image2.jpeg"/><Relationship Id="rId5" Type="http://schemas.openxmlformats.org/officeDocument/2006/relationships/tags" Target="../tags/tag112.xml"/><Relationship Id="rId10" Type="http://schemas.openxmlformats.org/officeDocument/2006/relationships/slideMaster" Target="../slideMasters/slideMaster1.xml"/><Relationship Id="rId4" Type="http://schemas.openxmlformats.org/officeDocument/2006/relationships/tags" Target="../tags/tag111.xml"/><Relationship Id="rId9" Type="http://schemas.openxmlformats.org/officeDocument/2006/relationships/tags" Target="../tags/tag116.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4.xml"/><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image" Target="file:///C:\Users\D69LXP2\Desktop\400px_tools/pic_temp/pic_sup.png" TargetMode="Externa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image" Target="../media/image2.jpeg"/><Relationship Id="rId5" Type="http://schemas.openxmlformats.org/officeDocument/2006/relationships/tags" Target="../tags/tag121.xml"/><Relationship Id="rId10" Type="http://schemas.openxmlformats.org/officeDocument/2006/relationships/slideMaster" Target="../slideMasters/slideMaster1.xml"/><Relationship Id="rId4" Type="http://schemas.openxmlformats.org/officeDocument/2006/relationships/tags" Target="../tags/tag120.xml"/><Relationship Id="rId9" Type="http://schemas.openxmlformats.org/officeDocument/2006/relationships/tags" Target="../tags/tag125.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image" Target="../media/image2.jpeg"/><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slideMaster" Target="../slideMasters/slideMaster1.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tags" Target="../tags/tag136.xml"/><Relationship Id="rId5" Type="http://schemas.openxmlformats.org/officeDocument/2006/relationships/tags" Target="../tags/tag130.xml"/><Relationship Id="rId10" Type="http://schemas.openxmlformats.org/officeDocument/2006/relationships/tags" Target="../tags/tag135.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image" Target="file:///C:\Users\D69LXP2\Desktop\400px_tools/pic_temp/pic_sup.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5" Type="http://schemas.openxmlformats.org/officeDocument/2006/relationships/tags" Target="../tags/tag141.xml"/><Relationship Id="rId10" Type="http://schemas.openxmlformats.org/officeDocument/2006/relationships/image" Target="file:///C:\Users\D69LXP2\Desktop\400px_tools/pic_temp/pic_sup.png" TargetMode="External"/><Relationship Id="rId4" Type="http://schemas.openxmlformats.org/officeDocument/2006/relationships/tags" Target="../tags/tag140.xml"/><Relationship Id="rId9"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9" r:link="rId10" cstate="email"/>
          <a:stretch>
            <a:fillRect/>
          </a:stretch>
        </p:blipFill>
        <p:spPr>
          <a:xfrm>
            <a:off x="292075" y="303809"/>
            <a:ext cx="11607851" cy="6250381"/>
          </a:xfrm>
          <a:prstGeom prst="rect">
            <a:avLst/>
          </a:prstGeom>
        </p:spPr>
      </p:pic>
      <p:sp>
        <p:nvSpPr>
          <p:cNvPr id="5" name="矩形 4"/>
          <p:cNvSpPr/>
          <p:nvPr userDrawn="1">
            <p:custDataLst>
              <p:tags r:id="rId2"/>
            </p:custDataLst>
          </p:nvPr>
        </p:nvSpPr>
        <p:spPr>
          <a:xfrm>
            <a:off x="292075" y="303809"/>
            <a:ext cx="11607851" cy="6250382"/>
          </a:xfrm>
          <a:prstGeom prst="rect">
            <a:avLst/>
          </a:prstGeom>
          <a:solidFill>
            <a:schemeClr val="dk1">
              <a:alpha val="40000"/>
            </a:schemeClr>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6" name="日期占位符 15"/>
          <p:cNvSpPr>
            <a:spLocks noGrp="1"/>
          </p:cNvSpPr>
          <p:nvPr>
            <p:ph type="dt" sz="half" idx="10"/>
            <p:custDataLst>
              <p:tags r:id="rId3"/>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17" name="页脚占位符 16"/>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18" name="灯片编号占位符 17"/>
          <p:cNvSpPr>
            <a:spLocks noGrp="1"/>
          </p:cNvSpPr>
          <p:nvPr>
            <p:ph type="sldNum" sz="quarter" idx="12"/>
            <p:custDataLst>
              <p:tags r:id="rId5"/>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3" name="副标题 2"/>
          <p:cNvSpPr>
            <a:spLocks noGrp="1"/>
          </p:cNvSpPr>
          <p:nvPr>
            <p:ph type="subTitle" idx="14" hasCustomPrompt="1"/>
            <p:custDataLst>
              <p:tags r:id="rId6"/>
            </p:custDataLst>
          </p:nvPr>
        </p:nvSpPr>
        <p:spPr>
          <a:xfrm>
            <a:off x="2921000" y="4297681"/>
            <a:ext cx="6350000" cy="490856"/>
          </a:xfrm>
        </p:spPr>
        <p:txBody>
          <a:bodyPr vert="horz" wrap="square" lIns="91440" tIns="45720" rIns="91440" bIns="4572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2400" b="0" spc="200">
                <a:solidFill>
                  <a:schemeClr val="bg1"/>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p>
        </p:txBody>
      </p:sp>
      <p:sp>
        <p:nvSpPr>
          <p:cNvPr id="2" name="标题 1"/>
          <p:cNvSpPr>
            <a:spLocks noGrp="1"/>
          </p:cNvSpPr>
          <p:nvPr>
            <p:ph type="ctrTitle" idx="13" hasCustomPrompt="1"/>
            <p:custDataLst>
              <p:tags r:id="rId7"/>
            </p:custDataLst>
          </p:nvPr>
        </p:nvSpPr>
        <p:spPr>
          <a:xfrm>
            <a:off x="2921000" y="2825116"/>
            <a:ext cx="6350000" cy="1398905"/>
          </a:xfrm>
        </p:spPr>
        <p:txBody>
          <a:bodyPr vert="horz" wrap="square" lIns="91440" tIns="45720" rIns="91440" bIns="45720" anchor="ctr" anchorCtr="0">
            <a:normAutofit/>
          </a:bodyPr>
          <a:lstStyle>
            <a:lvl1pPr marL="0" marR="0" indent="0" algn="dist" defTabSz="914400" rtl="0" eaLnBrk="1" fontAlgn="auto" latinLnBrk="0" hangingPunct="1">
              <a:lnSpc>
                <a:spcPct val="100000"/>
              </a:lnSpc>
              <a:spcBef>
                <a:spcPct val="0"/>
              </a:spcBef>
              <a:spcAft>
                <a:spcPts val="0"/>
              </a:spcAft>
              <a:buClrTx/>
              <a:buSzPts val="7200"/>
              <a:buNone/>
              <a:defRPr sz="7200" b="0" spc="700">
                <a:solidFill>
                  <a:schemeClr val="bg1"/>
                </a:solidFill>
                <a:latin typeface="Arial" panose="020B0604020202020204" pitchFamily="34" charset="0"/>
                <a:ea typeface="汉仪旗黑-85S" panose="00020600040101010101" pitchFamily="18" charset="-122"/>
              </a:defRPr>
            </a:lvl1pPr>
          </a:lstStyle>
          <a:p>
            <a:r>
              <a:rPr lang="zh-CN" altLang="en-US" dirty="0"/>
              <a:t>编辑标题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7" name="矩形 6"/>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7" name="矩形 6"/>
          <p:cNvSpPr/>
          <p:nvPr userDrawn="1">
            <p:custDataLst>
              <p:tags r:id="rId2"/>
            </p:custDataLst>
          </p:nvPr>
        </p:nvSpPr>
        <p:spPr>
          <a:xfrm>
            <a:off x="0" y="953691"/>
            <a:ext cx="12192000" cy="4950618"/>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4" name="日期占位符 3"/>
          <p:cNvSpPr>
            <a:spLocks noGrp="1"/>
          </p:cNvSpPr>
          <p:nvPr>
            <p:ph type="dt" sz="half" idx="10"/>
            <p:custDataLst>
              <p:tags r:id="rId3"/>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5" name="页脚占位符 4"/>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6"/>
            </p:custDataLst>
          </p:nvPr>
        </p:nvSpPr>
        <p:spPr>
          <a:xfrm>
            <a:off x="2827655" y="3618309"/>
            <a:ext cx="6536690" cy="910829"/>
          </a:xfrm>
        </p:spPr>
        <p:txBody>
          <a:bodyPr vert="horz" wrap="square" lIns="91440" tIns="45720" rIns="91440" bIns="45720" anchor="b" anchorCtr="0">
            <a:normAutofit/>
          </a:bodyPr>
          <a:lstStyle>
            <a:lvl1pPr marL="0" marR="0" indent="0" algn="ctr" defTabSz="914400" rtl="0" eaLnBrk="1" fontAlgn="auto" latinLnBrk="0" hangingPunct="1">
              <a:lnSpc>
                <a:spcPct val="100000"/>
              </a:lnSpc>
              <a:spcBef>
                <a:spcPct val="0"/>
              </a:spcBef>
              <a:spcAft>
                <a:spcPts val="0"/>
              </a:spcAft>
              <a:buClrTx/>
              <a:buSzPts val="4400"/>
              <a:buFont typeface="Arial" panose="020B0604020202020204" pitchFamily="34" charset="0"/>
              <a:buNone/>
              <a:defRPr sz="4800" b="0" spc="4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7"/>
            </p:custDataLst>
          </p:nvPr>
        </p:nvSpPr>
        <p:spPr>
          <a:xfrm>
            <a:off x="2827655" y="4572000"/>
            <a:ext cx="6536690" cy="507682"/>
          </a:xfrm>
        </p:spPr>
        <p:txBody>
          <a:bodyPr vert="horz" wrap="square" lIns="91440" tIns="45720" rIns="91440" bIns="45720" anchor="t" anchorCtr="0">
            <a:normAutofit/>
          </a:bodyPr>
          <a:lstStyle>
            <a:lvl1pPr marL="0" marR="0" indent="0" algn="ctr" defTabSz="914400" rtl="0" eaLnBrk="1" fontAlgn="auto" latinLnBrk="0" hangingPunct="1">
              <a:lnSpc>
                <a:spcPct val="100000"/>
              </a:lnSpc>
              <a:spcBef>
                <a:spcPts val="0"/>
              </a:spcBef>
              <a:spcAft>
                <a:spcPts val="0"/>
              </a:spcAft>
              <a:buClrTx/>
              <a:buSzPts val="1600"/>
              <a:buFont typeface="Arial" panose="020B0604020202020204" pitchFamily="34" charset="0"/>
              <a:buNone/>
              <a:defRPr sz="2400" b="0" spc="200">
                <a:solidFill>
                  <a:schemeClr val="tx1">
                    <a:lumMod val="85000"/>
                    <a:lumOff val="15000"/>
                  </a:schemeClr>
                </a:solidFill>
                <a:latin typeface="Arial" panose="020B0604020202020204" pitchFamily="34" charset="0"/>
                <a:ea typeface="微软雅黑" panose="020B050302020402020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a:stretch>
            <a:fillRect/>
          </a:stretch>
        </p:blipFill>
        <p:spPr>
          <a:xfrm>
            <a:off x="0" y="0"/>
            <a:ext cx="12192000" cy="6858000"/>
          </a:xfrm>
          <a:prstGeom prst="rect">
            <a:avLst/>
          </a:prstGeom>
        </p:spPr>
      </p:pic>
      <p:sp>
        <p:nvSpPr>
          <p:cNvPr id="8" name="矩形 7"/>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a:stretch>
            <a:fillRect/>
          </a:stretch>
        </p:blipFill>
        <p:spPr>
          <a:xfrm>
            <a:off x="0" y="0"/>
            <a:ext cx="12192000" cy="6858000"/>
          </a:xfrm>
          <a:prstGeom prst="rect">
            <a:avLst/>
          </a:prstGeom>
        </p:spPr>
      </p:pic>
      <p:sp>
        <p:nvSpPr>
          <p:cNvPr id="10" name="矩形 9"/>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8" name="页脚占位符 7"/>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7" name="矩形 6"/>
          <p:cNvSpPr/>
          <p:nvPr userDrawn="1">
            <p:custDataLst>
              <p:tags r:id="rId2"/>
            </p:custDataLst>
          </p:nvPr>
        </p:nvSpPr>
        <p:spPr>
          <a:xfrm>
            <a:off x="0" y="0"/>
            <a:ext cx="12192000" cy="6858000"/>
          </a:xfrm>
          <a:prstGeom prst="rect">
            <a:avLst/>
          </a:prstGeom>
          <a:solidFill>
            <a:schemeClr val="dk1">
              <a:alpha val="40000"/>
            </a:schemeClr>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6" name="矩形 5"/>
          <p:cNvSpPr/>
          <p:nvPr userDrawn="1">
            <p:custDataLst>
              <p:tags r:id="rId3"/>
            </p:custDataLst>
          </p:nvPr>
        </p:nvSpPr>
        <p:spPr>
          <a:xfrm>
            <a:off x="4320540" y="0"/>
            <a:ext cx="7866984"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4"/>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3" name="页脚占位符 2"/>
          <p:cNvSpPr>
            <a:spLocks noGrp="1"/>
          </p:cNvSpPr>
          <p:nvPr>
            <p:ph type="ftr" sz="quarter" idx="11"/>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a:stretch>
            <a:fillRect/>
          </a:stretch>
        </p:blipFill>
        <p:spPr>
          <a:xfrm>
            <a:off x="0" y="0"/>
            <a:ext cx="12192000" cy="6858000"/>
          </a:xfrm>
          <a:prstGeom prst="rect">
            <a:avLst/>
          </a:prstGeom>
        </p:spPr>
      </p:pic>
      <p:sp>
        <p:nvSpPr>
          <p:cNvPr id="8" name="矩形 7"/>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9EFD9D74-47D9-4702-A33C-335B63B48DBF}" type="datetimeFigureOut">
              <a:rPr lang="zh-CN" altLang="en-US" smtClean="0"/>
              <a:t>2026/3/19</a:t>
            </a:fld>
            <a:endParaRPr lang="zh-CN" altLang="en-US"/>
          </a:p>
        </p:txBody>
      </p:sp>
      <p:sp>
        <p:nvSpPr>
          <p:cNvPr id="6" name="页脚占位符 5"/>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7" name="矩形 6"/>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a:stretch>
            <a:fillRect/>
          </a:stretch>
        </p:blipFill>
        <p:spPr>
          <a:xfrm>
            <a:off x="0" y="0"/>
            <a:ext cx="12192000" cy="6858000"/>
          </a:xfrm>
          <a:prstGeom prst="rect">
            <a:avLst/>
          </a:prstGeom>
        </p:spPr>
      </p:pic>
      <p:sp>
        <p:nvSpPr>
          <p:cNvPr id="6" name="矩形 5"/>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3" name="日期占位符 2"/>
          <p:cNvSpPr>
            <a:spLocks noGrp="1"/>
          </p:cNvSpPr>
          <p:nvPr>
            <p:ph type="dt" sz="half" idx="10"/>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10" r:link="rId11"/>
          <a:stretch>
            <a:fillRect/>
          </a:stretch>
        </p:blipFill>
        <p:spPr>
          <a:xfrm>
            <a:off x="0" y="0"/>
            <a:ext cx="12192000" cy="6858000"/>
          </a:xfrm>
          <a:prstGeom prst="rect">
            <a:avLst/>
          </a:prstGeom>
        </p:spPr>
      </p:pic>
      <p:sp>
        <p:nvSpPr>
          <p:cNvPr id="6" name="矩形 5"/>
          <p:cNvSpPr/>
          <p:nvPr userDrawn="1">
            <p:custDataLst>
              <p:tags r:id="rId2"/>
            </p:custDataLst>
          </p:nvPr>
        </p:nvSpPr>
        <p:spPr>
          <a:xfrm>
            <a:off x="1378972" y="1569796"/>
            <a:ext cx="9436780" cy="271834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3" name="日期占位符 2"/>
          <p:cNvSpPr>
            <a:spLocks noGrp="1"/>
          </p:cNvSpPr>
          <p:nvPr>
            <p:ph type="dt" sz="half" idx="10"/>
            <p:custDataLst>
              <p:tags r:id="rId3"/>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9" name="直接连接符 8"/>
          <p:cNvCxnSpPr/>
          <p:nvPr userDrawn="1">
            <p:custDataLst>
              <p:tags r:id="rId6"/>
            </p:custDataLst>
          </p:nvPr>
        </p:nvCxnSpPr>
        <p:spPr>
          <a:xfrm>
            <a:off x="3355975" y="3418522"/>
            <a:ext cx="5480050"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文本占位符 7"/>
          <p:cNvSpPr>
            <a:spLocks noGrp="1"/>
          </p:cNvSpPr>
          <p:nvPr>
            <p:ph type="body" idx="14" hasCustomPrompt="1"/>
            <p:custDataLst>
              <p:tags r:id="rId7"/>
            </p:custDataLst>
          </p:nvPr>
        </p:nvSpPr>
        <p:spPr>
          <a:xfrm>
            <a:off x="3413760" y="3497585"/>
            <a:ext cx="5365115" cy="622997"/>
          </a:xfrm>
        </p:spPr>
        <p:txBody>
          <a:bodyPr vert="horz" wrap="square" lIns="91440" tIns="45720" rIns="91440" bIns="45720" anchor="t" anchorCtr="0">
            <a:normAutofit/>
          </a:bodyPr>
          <a:lstStyle>
            <a:lvl1pPr marL="0" marR="0" indent="0" algn="ctr" rtl="0" eaLnBrk="1" fontAlgn="auto">
              <a:lnSpc>
                <a:spcPct val="100000"/>
              </a:lnSpc>
              <a:spcBef>
                <a:spcPts val="0"/>
              </a:spcBef>
              <a:spcAft>
                <a:spcPts val="0"/>
              </a:spcAft>
              <a:buClrTx/>
              <a:buSzPts val="2000"/>
              <a:buFont typeface="Arial" panose="020B0604020202020204" pitchFamily="34" charset="0"/>
              <a:buNone/>
              <a:defRPr sz="2400" b="0" spc="200">
                <a:solidFill>
                  <a:schemeClr val="tx1">
                    <a:lumMod val="85000"/>
                    <a:lumOff val="15000"/>
                  </a:schemeClr>
                </a:solidFill>
                <a:latin typeface="Arial" panose="020B0604020202020204" pitchFamily="34" charset="0"/>
                <a:ea typeface="微软雅黑" panose="020B0503020204020204"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20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8"/>
            </p:custDataLst>
          </p:nvPr>
        </p:nvSpPr>
        <p:spPr>
          <a:xfrm>
            <a:off x="3413125" y="1884363"/>
            <a:ext cx="5365750" cy="1398905"/>
          </a:xfrm>
        </p:spPr>
        <p:txBody>
          <a:bodyPr vert="horz" wrap="square" lIns="91440" tIns="45720" rIns="91440" bIns="45720" anchor="ctr" anchorCtr="0">
            <a:normAutofit/>
          </a:bodyPr>
          <a:lstStyle>
            <a:lvl1pPr marL="0" marR="0" indent="0" algn="dist" defTabSz="914400" rtl="0" eaLnBrk="1" fontAlgn="auto" latinLnBrk="0" hangingPunct="1">
              <a:lnSpc>
                <a:spcPct val="100000"/>
              </a:lnSpc>
              <a:spcBef>
                <a:spcPct val="0"/>
              </a:spcBef>
              <a:spcAft>
                <a:spcPts val="0"/>
              </a:spcAft>
              <a:buClrTx/>
              <a:buSzPts val="8000"/>
              <a:buNone/>
              <a:defRPr sz="8000" b="0" spc="10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a:stretch>
            <a:fillRect/>
          </a:stretch>
        </p:blipFill>
        <p:spPr>
          <a:xfrm>
            <a:off x="0" y="0"/>
            <a:ext cx="12192000" cy="6858000"/>
          </a:xfrm>
          <a:prstGeom prst="rect">
            <a:avLst/>
          </a:prstGeom>
        </p:spPr>
      </p:pic>
      <p:sp>
        <p:nvSpPr>
          <p:cNvPr id="6" name="矩形 5"/>
          <p:cNvSpPr/>
          <p:nvPr userDrawn="1">
            <p:custDataLst>
              <p:tags r:id="rId2"/>
            </p:custDataLst>
          </p:nvPr>
        </p:nvSpPr>
        <p:spPr>
          <a:xfrm>
            <a:off x="291636" y="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3"/>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8" name="矩形 7"/>
          <p:cNvSpPr/>
          <p:nvPr userDrawn="1">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hasCustomPrompt="1"/>
            <p:custDataLst>
              <p:tags r:id="rId3"/>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10" name="矩形 9"/>
          <p:cNvSpPr/>
          <p:nvPr userDrawn="1">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8" name="矩形 7"/>
          <p:cNvSpPr/>
          <p:nvPr userDrawn="1">
            <p:custDataLst>
              <p:tags r:id="rId3"/>
            </p:custDataLst>
          </p:nvPr>
        </p:nvSpPr>
        <p:spPr>
          <a:xfrm>
            <a:off x="0" y="0"/>
            <a:ext cx="4824603"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hasCustomPrompt="1"/>
            <p:custDataLst>
              <p:tags r:id="rId4"/>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sz="quarter" idx="13"/>
            <p:custDataLst>
              <p:tags r:id="rId8"/>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10" name="矩形 9"/>
          <p:cNvSpPr/>
          <p:nvPr userDrawn="1">
            <p:custDataLst>
              <p:tags r:id="rId2"/>
            </p:custDataLst>
          </p:nvPr>
        </p:nvSpPr>
        <p:spPr>
          <a:xfrm>
            <a:off x="0" y="0"/>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8" name="矩形 7"/>
          <p:cNvSpPr/>
          <p:nvPr userDrawn="1">
            <p:custDataLst>
              <p:tags r:id="rId3"/>
            </p:custDataLst>
          </p:nvPr>
        </p:nvSpPr>
        <p:spPr>
          <a:xfrm>
            <a:off x="0" y="0"/>
            <a:ext cx="12192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10" name="矩形 9"/>
          <p:cNvSpPr/>
          <p:nvPr userDrawn="1">
            <p:custDataLst>
              <p:tags r:id="rId2"/>
            </p:custDataLst>
          </p:nvPr>
        </p:nvSpPr>
        <p:spPr>
          <a:xfrm>
            <a:off x="0" y="302438"/>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8" name="矩形 7"/>
          <p:cNvSpPr/>
          <p:nvPr userDrawn="1">
            <p:custDataLst>
              <p:tags r:id="rId3"/>
            </p:custDataLst>
          </p:nvPr>
        </p:nvSpPr>
        <p:spPr>
          <a:xfrm>
            <a:off x="0" y="5028971"/>
            <a:ext cx="12192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4" name="图片 13"/>
          <p:cNvPicPr/>
          <p:nvPr userDrawn="1">
            <p:custDataLst>
              <p:tags r:id="rId1"/>
            </p:custDataLst>
          </p:nvPr>
        </p:nvPicPr>
        <p:blipFill>
          <a:blip r:embed="rId13" r:link="rId14"/>
          <a:stretch>
            <a:fillRect/>
          </a:stretch>
        </p:blipFill>
        <p:spPr>
          <a:xfrm>
            <a:off x="0" y="0"/>
            <a:ext cx="12192000" cy="6858000"/>
          </a:xfrm>
          <a:prstGeom prst="rect">
            <a:avLst/>
          </a:prstGeom>
        </p:spPr>
      </p:pic>
      <p:sp>
        <p:nvSpPr>
          <p:cNvPr id="12" name="矩形 11"/>
          <p:cNvSpPr/>
          <p:nvPr userDrawn="1">
            <p:custDataLst>
              <p:tags r:id="rId2"/>
            </p:custDataLst>
          </p:nvPr>
        </p:nvSpPr>
        <p:spPr>
          <a:xfrm>
            <a:off x="0" y="0"/>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矩形 9"/>
          <p:cNvSpPr/>
          <p:nvPr userDrawn="1">
            <p:custDataLst>
              <p:tags r:id="rId3"/>
            </p:custDataLst>
          </p:nvPr>
        </p:nvSpPr>
        <p:spPr>
          <a:xfrm>
            <a:off x="0" y="0"/>
            <a:ext cx="12192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8" name="矩形 7"/>
          <p:cNvSpPr/>
          <p:nvPr userDrawn="1">
            <p:custDataLst>
              <p:tags r:id="rId2"/>
            </p:custDataLst>
          </p:nvPr>
        </p:nvSpPr>
        <p:spPr>
          <a:xfrm>
            <a:off x="0" y="953691"/>
            <a:ext cx="12192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hasCustomPrompt="1"/>
            <p:custDataLst>
              <p:tags r:id="rId3"/>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4"/>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4" name="页脚占位符 3"/>
          <p:cNvSpPr>
            <a:spLocks noGrp="1"/>
          </p:cNvSpPr>
          <p:nvPr>
            <p:ph type="ftr" sz="quarter" idx="11"/>
            <p:custDataLst>
              <p:tags r:id="rId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wrap="square">
            <a:normAutofit/>
          </a:bodyPr>
          <a:lstStyle>
            <a:lvl1pPr>
              <a:defRPr>
                <a:solidFill>
                  <a:schemeClr val="dk1">
                    <a:tint val="75000"/>
                    <a:lumMod val="85000"/>
                    <a:lumOff val="1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文本占位符 6"/>
          <p:cNvSpPr>
            <a:spLocks noGrp="1"/>
          </p:cNvSpPr>
          <p:nvPr>
            <p:ph type="body" sz="quarter" idx="13"/>
            <p:custDataLst>
              <p:tags r:id="rId7"/>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t>2026/3/19</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48.xml"/><Relationship Id="rId1" Type="http://schemas.openxmlformats.org/officeDocument/2006/relationships/tags" Target="../tags/tag147.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notesSlide" Target="../notesSlides/notesSlide1.xml"/><Relationship Id="rId7"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149.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2.xml"/><Relationship Id="rId1" Type="http://schemas.openxmlformats.org/officeDocument/2006/relationships/tags" Target="../tags/tag15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6.xml"/><Relationship Id="rId1" Type="http://schemas.openxmlformats.org/officeDocument/2006/relationships/tags" Target="../tags/tag15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59.xml"/><Relationship Id="rId1" Type="http://schemas.openxmlformats.org/officeDocument/2006/relationships/tags" Target="../tags/tag15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60.xml"/><Relationship Id="rId6" Type="http://schemas.openxmlformats.org/officeDocument/2006/relationships/image" Target="../media/image11.png"/><Relationship Id="rId5" Type="http://schemas.openxmlformats.org/officeDocument/2006/relationships/chart" Target="../charts/char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chart" Target="../charts/chart2.xml"/><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64.xml"/><Relationship Id="rId1" Type="http://schemas.openxmlformats.org/officeDocument/2006/relationships/tags" Target="../tags/tag163.xml"/></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8.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16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68.xml"/><Relationship Id="rId1" Type="http://schemas.openxmlformats.org/officeDocument/2006/relationships/tags" Target="../tags/tag167.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10.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6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1.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17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12.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17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slideLayout" Target="../slideLayouts/slideLayout7.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5"/>
          <p:cNvSpPr>
            <a:spLocks noGrp="1"/>
          </p:cNvSpPr>
          <p:nvPr>
            <p:ph type="subTitle" idx="14"/>
            <p:custDataLst>
              <p:tags r:id="rId2"/>
            </p:custDataLst>
          </p:nvPr>
        </p:nvSpPr>
        <p:spPr>
          <a:xfrm>
            <a:off x="2921000" y="4297681"/>
            <a:ext cx="6350000" cy="490856"/>
          </a:xfrm>
        </p:spPr>
        <p:txBody>
          <a:bodyPr/>
          <a:lstStyle/>
          <a:p>
            <a:r>
              <a:rPr lang="zh-CN" altLang="en-US">
                <a:solidFill>
                  <a:schemeClr val="lt1"/>
                </a:solidFill>
                <a:sym typeface="Arial" panose="020B0604020202020204" pitchFamily="34" charset="0"/>
              </a:rPr>
              <a:t>第</a:t>
            </a:r>
            <a:r>
              <a:rPr lang="en-US" altLang="zh-CN">
                <a:solidFill>
                  <a:schemeClr val="lt1"/>
                </a:solidFill>
                <a:sym typeface="Arial" panose="020B0604020202020204" pitchFamily="34" charset="0"/>
              </a:rPr>
              <a:t>14</a:t>
            </a:r>
            <a:r>
              <a:rPr lang="zh-CN" altLang="en-US">
                <a:solidFill>
                  <a:schemeClr val="lt1"/>
                </a:solidFill>
                <a:sym typeface="Arial" panose="020B0604020202020204" pitchFamily="34" charset="0"/>
              </a:rPr>
              <a:t>组</a:t>
            </a:r>
          </a:p>
        </p:txBody>
      </p:sp>
      <p:sp>
        <p:nvSpPr>
          <p:cNvPr id="7" name="标题 6"/>
          <p:cNvSpPr>
            <a:spLocks noGrp="1"/>
          </p:cNvSpPr>
          <p:nvPr>
            <p:ph type="ctrTitle" idx="13"/>
            <p:custDataLst>
              <p:tags r:id="rId3"/>
            </p:custDataLst>
          </p:nvPr>
        </p:nvSpPr>
        <p:spPr>
          <a:xfrm>
            <a:off x="2921000" y="2825116"/>
            <a:ext cx="6350000" cy="1398905"/>
          </a:xfrm>
        </p:spPr>
        <p:txBody>
          <a:bodyPr>
            <a:noAutofit/>
          </a:bodyPr>
          <a:lstStyle/>
          <a:p>
            <a:pPr algn="ctr"/>
            <a:r>
              <a:rPr lang="en-US" altLang="zh-CN" sz="4400">
                <a:solidFill>
                  <a:schemeClr val="lt1"/>
                </a:solidFill>
                <a:sym typeface="Arial" panose="020B0604020202020204" pitchFamily="34" charset="0"/>
              </a:rPr>
              <a:t>专注高校场景的C2C闲置交易平台</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alpha val="30000"/>
          </a:schemeClr>
        </a:solidFill>
        <a:effectLst/>
      </p:bgPr>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平台概述</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8727" y="642878"/>
            <a:ext cx="6369050" cy="2862322"/>
          </a:xfrm>
          <a:prstGeom prst="rect">
            <a:avLst/>
          </a:prstGeom>
          <a:noFill/>
        </p:spPr>
        <p:txBody>
          <a:bodyPr wrap="square" rtlCol="0">
            <a:spAutoFit/>
          </a:bodyPr>
          <a:lstStyle/>
          <a:p>
            <a:pPr lvl="1"/>
            <a:r>
              <a:rPr lang="zh-CN" altLang="en-US"/>
              <a:t>项目背景：随着大学生消费能力的提升和生活节奏的加快，校园内闲置物品的流通需求日益增长。我们团队在日常生活中发现并整理了如下问题：</a:t>
            </a:r>
            <a:endParaRPr lang="zh-CN"/>
          </a:p>
          <a:p>
            <a:pPr lvl="1"/>
            <a:r>
              <a:rPr lang="en-US" altLang="zh-CN"/>
              <a:t>1</a:t>
            </a:r>
            <a:r>
              <a:rPr lang="zh-CN" altLang="en-US"/>
              <a:t>、学生闲置物品多（教材、电子产品、代步工具等）</a:t>
            </a:r>
          </a:p>
          <a:p>
            <a:pPr lvl="1"/>
            <a:r>
              <a:rPr lang="en-US" altLang="zh-CN"/>
              <a:t>2</a:t>
            </a:r>
            <a:r>
              <a:rPr lang="zh-CN" altLang="en-US"/>
              <a:t>、微信群、</a:t>
            </a:r>
            <a:r>
              <a:rPr lang="en-US" altLang="zh-CN"/>
              <a:t>QQ</a:t>
            </a:r>
            <a:r>
              <a:rPr lang="zh-CN" altLang="en-US"/>
              <a:t>频道等渠道信息杂乱、无保障、不便利</a:t>
            </a:r>
          </a:p>
          <a:p>
            <a:pPr lvl="1"/>
            <a:r>
              <a:rPr lang="en-US" altLang="zh-CN"/>
              <a:t>3</a:t>
            </a:r>
            <a:r>
              <a:rPr lang="zh-CN" altLang="en-US"/>
              <a:t>、同类平台缺乏校园垂直服务（如验货、校内物流）</a:t>
            </a:r>
          </a:p>
          <a:p>
            <a:pPr lvl="1"/>
            <a:r>
              <a:rPr lang="en-US" altLang="zh-CN"/>
              <a:t>4</a:t>
            </a:r>
            <a:r>
              <a:rPr lang="zh-CN" altLang="en-US"/>
              <a:t>、学生担心与校外人员交易被骗</a:t>
            </a:r>
          </a:p>
          <a:p>
            <a:pPr lvl="1"/>
            <a:r>
              <a:rPr lang="en-US" altLang="zh-CN"/>
              <a:t>5</a:t>
            </a:r>
            <a:r>
              <a:rPr lang="zh-CN" altLang="en-US"/>
              <a:t>、课本、球拍等物品遗弃情况严重</a:t>
            </a:r>
          </a:p>
          <a:p>
            <a:pPr lvl="1"/>
            <a:endParaRPr lang="zh-CN" altLang="en-US"/>
          </a:p>
          <a:p>
            <a:pPr lvl="1"/>
            <a:endParaRPr lang="zh-CN" altLang="en-US"/>
          </a:p>
        </p:txBody>
      </p:sp>
      <p:sp>
        <p:nvSpPr>
          <p:cNvPr id="8" name="Oval 7"/>
          <p:cNvSpPr/>
          <p:nvPr/>
        </p:nvSpPr>
        <p:spPr>
          <a:xfrm>
            <a:off x="4915371" y="5447292"/>
            <a:ext cx="2286000" cy="914400"/>
          </a:xfrm>
          <a:prstGeom prst="ellipse">
            <a:avLst/>
          </a:prstGeom>
          <a:solidFill>
            <a:srgbClr val="FF6666"/>
          </a:solidFill>
        </p:spPr>
        <p:style>
          <a:lnRef idx="1">
            <a:schemeClr val="accent1"/>
          </a:lnRef>
          <a:fillRef idx="3">
            <a:schemeClr val="accent1"/>
          </a:fillRef>
          <a:effectRef idx="2">
            <a:schemeClr val="accent1"/>
          </a:effectRef>
          <a:fontRef idx="minor">
            <a:schemeClr val="lt1"/>
          </a:fontRef>
        </p:style>
        <p:txBody>
          <a:bodyPr rtlCol="0" anchor="ctr"/>
          <a:lstStyle/>
          <a:p>
            <a:pPr algn="ctr"/>
            <a:r>
              <a:t>身份不明</a:t>
            </a:r>
          </a:p>
          <a:p>
            <a:pPr algn="ctr"/>
            <a:r>
              <a:t>频发被骗</a:t>
            </a:r>
          </a:p>
        </p:txBody>
      </p:sp>
      <p:sp>
        <p:nvSpPr>
          <p:cNvPr id="7" name="Oval 6"/>
          <p:cNvSpPr/>
          <p:nvPr/>
        </p:nvSpPr>
        <p:spPr>
          <a:xfrm>
            <a:off x="4953000" y="3272209"/>
            <a:ext cx="2286000" cy="914400"/>
          </a:xfrm>
          <a:prstGeom prst="ellipse">
            <a:avLst/>
          </a:prstGeom>
          <a:solidFill>
            <a:srgbClr val="FF9966"/>
          </a:solidFill>
        </p:spPr>
        <p:style>
          <a:lnRef idx="1">
            <a:schemeClr val="accent1"/>
          </a:lnRef>
          <a:fillRef idx="3">
            <a:schemeClr val="accent1"/>
          </a:fillRef>
          <a:effectRef idx="2">
            <a:schemeClr val="accent1"/>
          </a:effectRef>
          <a:fontRef idx="minor">
            <a:schemeClr val="lt1"/>
          </a:fontRef>
        </p:style>
        <p:txBody>
          <a:bodyPr rtlCol="0" anchor="ctr"/>
          <a:lstStyle/>
          <a:p>
            <a:pPr algn="ctr"/>
            <a:r>
              <a:t>线下找人难</a:t>
            </a:r>
          </a:p>
          <a:p>
            <a:pPr algn="ctr"/>
            <a:r>
              <a:t>发布渠道零散</a:t>
            </a:r>
          </a:p>
        </p:txBody>
      </p:sp>
      <p:sp>
        <p:nvSpPr>
          <p:cNvPr id="9" name="Oval 8"/>
          <p:cNvSpPr/>
          <p:nvPr/>
        </p:nvSpPr>
        <p:spPr>
          <a:xfrm>
            <a:off x="4915371" y="4308683"/>
            <a:ext cx="2286000" cy="914400"/>
          </a:xfrm>
          <a:prstGeom prst="ellipse">
            <a:avLst/>
          </a:prstGeom>
          <a:solidFill>
            <a:srgbClr val="FFCC66"/>
          </a:solidFill>
        </p:spPr>
        <p:style>
          <a:lnRef idx="1">
            <a:schemeClr val="accent1"/>
          </a:lnRef>
          <a:fillRef idx="3">
            <a:schemeClr val="accent1"/>
          </a:fillRef>
          <a:effectRef idx="2">
            <a:schemeClr val="accent1"/>
          </a:effectRef>
          <a:fontRef idx="minor">
            <a:schemeClr val="lt1"/>
          </a:fontRef>
        </p:style>
        <p:txBody>
          <a:bodyPr rtlCol="0" anchor="ctr"/>
          <a:lstStyle/>
          <a:p>
            <a:pPr algn="ctr"/>
            <a:r>
              <a:t>低效匹配</a:t>
            </a:r>
          </a:p>
          <a:p>
            <a:pPr algn="ctr"/>
            <a:r>
              <a:t>重复发布</a:t>
            </a:r>
          </a:p>
        </p:txBody>
      </p:sp>
      <p:grpSp>
        <p:nvGrpSpPr>
          <p:cNvPr id="11" name="组合 10"/>
          <p:cNvGrpSpPr/>
          <p:nvPr/>
        </p:nvGrpSpPr>
        <p:grpSpPr>
          <a:xfrm>
            <a:off x="6264275" y="207327"/>
            <a:ext cx="1160780" cy="368300"/>
            <a:chOff x="8564" y="332"/>
            <a:chExt cx="1828" cy="580"/>
          </a:xfrm>
        </p:grpSpPr>
        <p:sp>
          <p:nvSpPr>
            <p:cNvPr id="12" name="流程图: 终止 11"/>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平台概述</a:t>
              </a:r>
            </a:p>
          </p:txBody>
        </p:sp>
        <p:grpSp>
          <p:nvGrpSpPr>
            <p:cNvPr id="13" name="组合 12"/>
            <p:cNvGrpSpPr/>
            <p:nvPr/>
          </p:nvGrpSpPr>
          <p:grpSpPr>
            <a:xfrm>
              <a:off x="10095" y="494"/>
              <a:ext cx="258" cy="256"/>
              <a:chOff x="13432" y="491"/>
              <a:chExt cx="258" cy="256"/>
            </a:xfrm>
          </p:grpSpPr>
          <p:sp>
            <p:nvSpPr>
              <p:cNvPr id="14" name="椭圆 13"/>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15" name="组合 14"/>
              <p:cNvGrpSpPr/>
              <p:nvPr/>
            </p:nvGrpSpPr>
            <p:grpSpPr>
              <a:xfrm>
                <a:off x="13516" y="535"/>
                <a:ext cx="134" cy="168"/>
                <a:chOff x="13507" y="548"/>
                <a:chExt cx="134" cy="168"/>
              </a:xfrm>
            </p:grpSpPr>
            <p:cxnSp>
              <p:nvCxnSpPr>
                <p:cNvPr id="16" name="直接连接符 15"/>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8" name="组合 17"/>
          <p:cNvGrpSpPr/>
          <p:nvPr/>
        </p:nvGrpSpPr>
        <p:grpSpPr>
          <a:xfrm>
            <a:off x="7465060" y="216217"/>
            <a:ext cx="899160" cy="359410"/>
            <a:chOff x="10314" y="342"/>
            <a:chExt cx="1416" cy="566"/>
          </a:xfrm>
        </p:grpSpPr>
        <p:sp>
          <p:nvSpPr>
            <p:cNvPr id="19" name="流程图: 终止 18"/>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20" name="直接连接符 19"/>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200390" y="206692"/>
            <a:ext cx="937260" cy="360045"/>
            <a:chOff x="11503" y="342"/>
            <a:chExt cx="1476" cy="567"/>
          </a:xfrm>
        </p:grpSpPr>
        <p:sp>
          <p:nvSpPr>
            <p:cNvPr id="22" name="流程图: 终止 21"/>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23" name="直接连接符 22"/>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9016365" y="215582"/>
            <a:ext cx="905510" cy="360045"/>
            <a:chOff x="12733" y="342"/>
            <a:chExt cx="1426" cy="567"/>
          </a:xfrm>
        </p:grpSpPr>
        <p:sp>
          <p:nvSpPr>
            <p:cNvPr id="25" name="流程图: 终止 24"/>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26" name="直接连接符 25"/>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800590" y="206692"/>
            <a:ext cx="886460" cy="360045"/>
            <a:chOff x="14049" y="346"/>
            <a:chExt cx="1396" cy="567"/>
          </a:xfrm>
        </p:grpSpPr>
        <p:sp>
          <p:nvSpPr>
            <p:cNvPr id="28" name="流程图: 终止 27"/>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9" name="直接连接符 28"/>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10565765" y="215582"/>
            <a:ext cx="923290" cy="360045"/>
            <a:chOff x="15251" y="346"/>
            <a:chExt cx="1454" cy="567"/>
          </a:xfrm>
        </p:grpSpPr>
        <p:sp>
          <p:nvSpPr>
            <p:cNvPr id="31" name="流程图: 终止 30"/>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32" name="直接连接符 31"/>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3" name="Picture 2" descr="3D小人问号图片素材免费下载 - 觅知网"/>
          <p:cNvPicPr>
            <a:picLocks noChangeAspect="1" noChangeArrowheads="1"/>
          </p:cNvPicPr>
          <p:nvPr/>
        </p:nvPicPr>
        <p:blipFill>
          <a:blip r:embed="rId4" cstate="print">
            <a:clrChange>
              <a:clrFrom>
                <a:srgbClr val="FEFEFE">
                  <a:alpha val="100000"/>
                </a:srgbClr>
              </a:clrFrom>
              <a:clrTo>
                <a:srgbClr val="FEFEFE">
                  <a:alpha val="100000"/>
                  <a:alpha val="0"/>
                </a:srgbClr>
              </a:clrTo>
            </a:clrChange>
            <a:extLst>
              <a:ext uri="{28A0092B-C50C-407E-A947-70E740481C1C}">
                <a14:useLocalDpi xmlns:a14="http://schemas.microsoft.com/office/drawing/2010/main" val="0"/>
              </a:ext>
            </a:extLst>
          </a:blip>
          <a:srcRect/>
          <a:stretch>
            <a:fillRect/>
          </a:stretch>
        </p:blipFill>
        <p:spPr bwMode="auto">
          <a:xfrm>
            <a:off x="323531" y="4521193"/>
            <a:ext cx="1902037" cy="2375540"/>
          </a:xfrm>
          <a:prstGeom prst="rect">
            <a:avLst/>
          </a:prstGeom>
          <a:noFill/>
          <a:extLst>
            <a:ext uri="{909E8E84-426E-40DD-AFC4-6F175D3DCCD1}">
              <a14:hiddenFill xmlns:a14="http://schemas.microsoft.com/office/drawing/2010/main">
                <a:solidFill>
                  <a:srgbClr val="FFFFFF"/>
                </a:solidFill>
              </a14:hiddenFill>
            </a:ext>
          </a:extLst>
        </p:spPr>
      </p:pic>
      <p:pic>
        <p:nvPicPr>
          <p:cNvPr id="34" name="图片 33">
            <a:extLst>
              <a:ext uri="{FF2B5EF4-FFF2-40B4-BE49-F238E27FC236}">
                <a16:creationId xmlns:a16="http://schemas.microsoft.com/office/drawing/2014/main" id="{B186B5B8-7C7C-4842-888F-A0161C0814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04150" y="3017256"/>
            <a:ext cx="1677682" cy="3786770"/>
          </a:xfrm>
          <a:prstGeom prst="rect">
            <a:avLst/>
          </a:prstGeom>
        </p:spPr>
      </p:pic>
      <p:pic>
        <p:nvPicPr>
          <p:cNvPr id="36" name="图片 35">
            <a:extLst>
              <a:ext uri="{FF2B5EF4-FFF2-40B4-BE49-F238E27FC236}">
                <a16:creationId xmlns:a16="http://schemas.microsoft.com/office/drawing/2014/main" id="{C669178D-0B8F-4574-8410-1DCC8F3EFE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56067" y="2785796"/>
            <a:ext cx="1732988" cy="3911600"/>
          </a:xfrm>
          <a:prstGeom prst="rect">
            <a:avLst/>
          </a:prstGeom>
        </p:spPr>
      </p:pic>
      <p:pic>
        <p:nvPicPr>
          <p:cNvPr id="6" name="图片 5">
            <a:extLst>
              <a:ext uri="{FF2B5EF4-FFF2-40B4-BE49-F238E27FC236}">
                <a16:creationId xmlns:a16="http://schemas.microsoft.com/office/drawing/2014/main" id="{2201643C-8F9F-4307-8DCC-9719D1874CE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98545" y="661881"/>
            <a:ext cx="1469570" cy="3317030"/>
          </a:xfrm>
          <a:prstGeom prst="rect">
            <a:avLst/>
          </a:prstGeom>
        </p:spPr>
      </p:pic>
      <p:pic>
        <p:nvPicPr>
          <p:cNvPr id="3" name="图片 2">
            <a:extLst>
              <a:ext uri="{FF2B5EF4-FFF2-40B4-BE49-F238E27FC236}">
                <a16:creationId xmlns:a16="http://schemas.microsoft.com/office/drawing/2014/main" id="{AA01E9AF-80C6-4070-9829-7EAF5BD5B4B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08122" y="630131"/>
            <a:ext cx="1552982" cy="3505304"/>
          </a:xfrm>
          <a:prstGeom prst="rect">
            <a:avLst/>
          </a:prstGeom>
        </p:spPr>
      </p:pic>
      <p:sp>
        <p:nvSpPr>
          <p:cNvPr id="37" name="矩形 36">
            <a:extLst>
              <a:ext uri="{FF2B5EF4-FFF2-40B4-BE49-F238E27FC236}">
                <a16:creationId xmlns:a16="http://schemas.microsoft.com/office/drawing/2014/main" id="{7728C551-74DF-446D-8915-7C4FE994F845}"/>
              </a:ext>
            </a:extLst>
          </p:cNvPr>
          <p:cNvSpPr/>
          <p:nvPr/>
        </p:nvSpPr>
        <p:spPr>
          <a:xfrm>
            <a:off x="7508122" y="3505200"/>
            <a:ext cx="933145" cy="3894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2E16B5BF-F9D4-4586-85EF-97ED1CF477EE}"/>
              </a:ext>
            </a:extLst>
          </p:cNvPr>
          <p:cNvSpPr/>
          <p:nvPr/>
        </p:nvSpPr>
        <p:spPr>
          <a:xfrm>
            <a:off x="7787005" y="6166959"/>
            <a:ext cx="933145" cy="3894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0C02D411-981F-4549-BB64-61D76FC19E36}"/>
              </a:ext>
            </a:extLst>
          </p:cNvPr>
          <p:cNvSpPr/>
          <p:nvPr/>
        </p:nvSpPr>
        <p:spPr>
          <a:xfrm>
            <a:off x="9379772" y="2882742"/>
            <a:ext cx="933145" cy="3894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DC7CE32E-8CE8-4C4A-BB87-75450FB88905}"/>
              </a:ext>
            </a:extLst>
          </p:cNvPr>
          <p:cNvSpPr/>
          <p:nvPr/>
        </p:nvSpPr>
        <p:spPr>
          <a:xfrm>
            <a:off x="7847211" y="5156200"/>
            <a:ext cx="1280808" cy="38946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E61A3466-E70F-4E8A-A077-01CCCAD5A42F}"/>
              </a:ext>
            </a:extLst>
          </p:cNvPr>
          <p:cNvSpPr/>
          <p:nvPr/>
        </p:nvSpPr>
        <p:spPr>
          <a:xfrm>
            <a:off x="9714541" y="4843384"/>
            <a:ext cx="1280808" cy="38946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DEA975C0-6F7D-472D-80E2-FD0D3BC03312}"/>
              </a:ext>
            </a:extLst>
          </p:cNvPr>
          <p:cNvSpPr/>
          <p:nvPr/>
        </p:nvSpPr>
        <p:spPr>
          <a:xfrm>
            <a:off x="9714541" y="4326460"/>
            <a:ext cx="1280808" cy="38946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DB8D0F4-3966-4077-9306-035AD41C112A}"/>
              </a:ext>
            </a:extLst>
          </p:cNvPr>
          <p:cNvPicPr>
            <a:picLocks noChangeAspect="1"/>
          </p:cNvPicPr>
          <p:nvPr/>
        </p:nvPicPr>
        <p:blipFill>
          <a:blip r:embed="rId9"/>
          <a:stretch>
            <a:fillRect/>
          </a:stretch>
        </p:blipFill>
        <p:spPr>
          <a:xfrm>
            <a:off x="764211" y="3098800"/>
            <a:ext cx="4188789" cy="1346200"/>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3"/>
          <p:cNvSpPr/>
          <p:nvPr/>
        </p:nvSpPr>
        <p:spPr>
          <a:xfrm>
            <a:off x="6178867" y="901170"/>
            <a:ext cx="1304290" cy="1272857"/>
          </a:xfrm>
          <a:prstGeom prst="ellipse">
            <a:avLst/>
          </a:prstGeom>
          <a:solidFill>
            <a:srgbClr val="66CCFF"/>
          </a:solidFill>
        </p:spPr>
        <p:style>
          <a:lnRef idx="1">
            <a:schemeClr val="accent1"/>
          </a:lnRef>
          <a:fillRef idx="3">
            <a:schemeClr val="accent1"/>
          </a:fillRef>
          <a:effectRef idx="2">
            <a:schemeClr val="accent1"/>
          </a:effectRef>
          <a:fontRef idx="minor">
            <a:schemeClr val="lt1"/>
          </a:fontRef>
        </p:style>
        <p:txBody>
          <a:bodyPr rtlCol="0" anchor="ctr"/>
          <a:lstStyle/>
          <a:p>
            <a:pPr algn="ctr"/>
            <a:r>
              <a:t>校园定位精准</a:t>
            </a:r>
          </a:p>
        </p:txBody>
      </p:sp>
      <p:sp>
        <p:nvSpPr>
          <p:cNvPr id="6" name="Oval 4"/>
          <p:cNvSpPr/>
          <p:nvPr/>
        </p:nvSpPr>
        <p:spPr>
          <a:xfrm>
            <a:off x="6188075" y="2283851"/>
            <a:ext cx="1276985" cy="1276985"/>
          </a:xfrm>
          <a:prstGeom prst="ellipse">
            <a:avLst/>
          </a:prstGeom>
          <a:solidFill>
            <a:srgbClr val="66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t>功能集成全面</a:t>
            </a:r>
          </a:p>
        </p:txBody>
      </p:sp>
      <p:sp>
        <p:nvSpPr>
          <p:cNvPr id="7" name="Oval 5"/>
          <p:cNvSpPr/>
          <p:nvPr/>
        </p:nvSpPr>
        <p:spPr>
          <a:xfrm>
            <a:off x="6192202" y="3698467"/>
            <a:ext cx="1277620" cy="1277620"/>
          </a:xfrm>
          <a:prstGeom prst="ellipse">
            <a:avLst/>
          </a:prstGeom>
          <a:solidFill>
            <a:srgbClr val="FFCC66"/>
          </a:solidFill>
        </p:spPr>
        <p:style>
          <a:lnRef idx="1">
            <a:schemeClr val="accent1"/>
          </a:lnRef>
          <a:fillRef idx="3">
            <a:schemeClr val="accent1"/>
          </a:fillRef>
          <a:effectRef idx="2">
            <a:schemeClr val="accent1"/>
          </a:effectRef>
          <a:fontRef idx="minor">
            <a:schemeClr val="lt1"/>
          </a:fontRef>
        </p:style>
        <p:txBody>
          <a:bodyPr rtlCol="0" anchor="ctr"/>
          <a:lstStyle/>
          <a:p>
            <a:pPr algn="ctr"/>
            <a:r>
              <a:t>服务体验优化</a:t>
            </a:r>
          </a:p>
        </p:txBody>
      </p:sp>
      <p:sp>
        <p:nvSpPr>
          <p:cNvPr id="8" name="Oval 6"/>
          <p:cNvSpPr/>
          <p:nvPr/>
        </p:nvSpPr>
        <p:spPr>
          <a:xfrm>
            <a:off x="6214964" y="5095298"/>
            <a:ext cx="1259400" cy="1259400"/>
          </a:xfrm>
          <a:prstGeom prst="ellipse">
            <a:avLst/>
          </a:prstGeom>
          <a:solidFill>
            <a:srgbClr val="FF99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err="1"/>
              <a:t>绿色可持续</a:t>
            </a:r>
          </a:p>
        </p:txBody>
      </p:sp>
      <p:grpSp>
        <p:nvGrpSpPr>
          <p:cNvPr id="83" name="组合 82"/>
          <p:cNvGrpSpPr/>
          <p:nvPr/>
        </p:nvGrpSpPr>
        <p:grpSpPr>
          <a:xfrm>
            <a:off x="6264275" y="207327"/>
            <a:ext cx="1160780" cy="368300"/>
            <a:chOff x="8564" y="332"/>
            <a:chExt cx="1828" cy="580"/>
          </a:xfrm>
        </p:grpSpPr>
        <p:sp>
          <p:nvSpPr>
            <p:cNvPr id="84" name="流程图: 终止 83"/>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平台概述</a:t>
              </a:r>
            </a:p>
          </p:txBody>
        </p:sp>
        <p:grpSp>
          <p:nvGrpSpPr>
            <p:cNvPr id="85" name="组合 84"/>
            <p:cNvGrpSpPr/>
            <p:nvPr/>
          </p:nvGrpSpPr>
          <p:grpSpPr>
            <a:xfrm>
              <a:off x="10095" y="494"/>
              <a:ext cx="258" cy="256"/>
              <a:chOff x="13432" y="491"/>
              <a:chExt cx="258" cy="256"/>
            </a:xfrm>
          </p:grpSpPr>
          <p:sp>
            <p:nvSpPr>
              <p:cNvPr id="86" name="椭圆 85"/>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87" name="组合 86"/>
              <p:cNvGrpSpPr/>
              <p:nvPr/>
            </p:nvGrpSpPr>
            <p:grpSpPr>
              <a:xfrm>
                <a:off x="13516" y="535"/>
                <a:ext cx="134" cy="168"/>
                <a:chOff x="13507" y="548"/>
                <a:chExt cx="134" cy="168"/>
              </a:xfrm>
            </p:grpSpPr>
            <p:cxnSp>
              <p:nvCxnSpPr>
                <p:cNvPr id="88" name="直接连接符 87"/>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90" name="组合 89"/>
          <p:cNvGrpSpPr/>
          <p:nvPr/>
        </p:nvGrpSpPr>
        <p:grpSpPr>
          <a:xfrm>
            <a:off x="7465060" y="216217"/>
            <a:ext cx="899160" cy="359410"/>
            <a:chOff x="10314" y="342"/>
            <a:chExt cx="1416" cy="566"/>
          </a:xfrm>
        </p:grpSpPr>
        <p:sp>
          <p:nvSpPr>
            <p:cNvPr id="91" name="流程图: 终止 90"/>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92" name="直接连接符 91"/>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8200390" y="206692"/>
            <a:ext cx="937260" cy="360045"/>
            <a:chOff x="11503" y="342"/>
            <a:chExt cx="1476" cy="567"/>
          </a:xfrm>
        </p:grpSpPr>
        <p:sp>
          <p:nvSpPr>
            <p:cNvPr id="94" name="流程图: 终止 93"/>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95" name="直接连接符 94"/>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6" name="组合 95"/>
          <p:cNvGrpSpPr/>
          <p:nvPr/>
        </p:nvGrpSpPr>
        <p:grpSpPr>
          <a:xfrm>
            <a:off x="9016365" y="215582"/>
            <a:ext cx="905510" cy="360045"/>
            <a:chOff x="12733" y="342"/>
            <a:chExt cx="1426" cy="567"/>
          </a:xfrm>
        </p:grpSpPr>
        <p:sp>
          <p:nvSpPr>
            <p:cNvPr id="97" name="流程图: 终止 96"/>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98" name="直接连接符 97"/>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99" name="组合 98"/>
          <p:cNvGrpSpPr/>
          <p:nvPr/>
        </p:nvGrpSpPr>
        <p:grpSpPr>
          <a:xfrm>
            <a:off x="9800590" y="206692"/>
            <a:ext cx="886460" cy="360045"/>
            <a:chOff x="14049" y="346"/>
            <a:chExt cx="1396" cy="567"/>
          </a:xfrm>
        </p:grpSpPr>
        <p:sp>
          <p:nvSpPr>
            <p:cNvPr id="100" name="流程图: 终止 99"/>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101" name="直接连接符 100"/>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2" name="组合 101"/>
          <p:cNvGrpSpPr/>
          <p:nvPr/>
        </p:nvGrpSpPr>
        <p:grpSpPr>
          <a:xfrm>
            <a:off x="10565765" y="215582"/>
            <a:ext cx="923290" cy="360045"/>
            <a:chOff x="15251" y="346"/>
            <a:chExt cx="1454" cy="567"/>
          </a:xfrm>
        </p:grpSpPr>
        <p:sp>
          <p:nvSpPr>
            <p:cNvPr id="103" name="流程图: 终止 102"/>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104" name="直接连接符 103"/>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5" name="矩形 24">
            <a:extLst>
              <a:ext uri="{FF2B5EF4-FFF2-40B4-BE49-F238E27FC236}">
                <a16:creationId xmlns:a16="http://schemas.microsoft.com/office/drawing/2014/main" id="{FB61651D-4176-4CCD-994E-D3BED28BBED6}"/>
              </a:ext>
            </a:extLst>
          </p:cNvPr>
          <p:cNvSpPr/>
          <p:nvPr/>
        </p:nvSpPr>
        <p:spPr>
          <a:xfrm>
            <a:off x="536776" y="766975"/>
            <a:ext cx="4568298" cy="5587723"/>
          </a:xfrm>
          <a:prstGeom prst="rect">
            <a:avLst/>
          </a:prstGeom>
          <a:solidFill>
            <a:schemeClr val="accent1">
              <a:lumMod val="40000"/>
              <a:lumOff val="6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8883705B-8E17-4380-B810-50A5FA4C9184}"/>
              </a:ext>
            </a:extLst>
          </p:cNvPr>
          <p:cNvSpPr txBox="1"/>
          <p:nvPr/>
        </p:nvSpPr>
        <p:spPr>
          <a:xfrm>
            <a:off x="588886" y="3662633"/>
            <a:ext cx="1214047" cy="646331"/>
          </a:xfrm>
          <a:prstGeom prst="rect">
            <a:avLst/>
          </a:prstGeom>
          <a:noFill/>
        </p:spPr>
        <p:txBody>
          <a:bodyPr wrap="square" rtlCol="0">
            <a:spAutoFit/>
          </a:bodyPr>
          <a:lstStyle/>
          <a:p>
            <a:r>
              <a:rPr lang="zh-CN" altLang="en-US"/>
              <a:t>面向用户：</a:t>
            </a:r>
            <a:endParaRPr lang="en-US" altLang="zh-CN"/>
          </a:p>
          <a:p>
            <a:r>
              <a:rPr lang="en-US" altLang="zh-CN"/>
              <a:t>       </a:t>
            </a:r>
            <a:endParaRPr lang="zh-CN" altLang="en-US"/>
          </a:p>
        </p:txBody>
      </p:sp>
      <p:sp>
        <p:nvSpPr>
          <p:cNvPr id="26" name="文本框 25">
            <a:extLst>
              <a:ext uri="{FF2B5EF4-FFF2-40B4-BE49-F238E27FC236}">
                <a16:creationId xmlns:a16="http://schemas.microsoft.com/office/drawing/2014/main" id="{491727E1-6E8C-48FA-8EF3-70E926C1AF2E}"/>
              </a:ext>
            </a:extLst>
          </p:cNvPr>
          <p:cNvSpPr txBox="1"/>
          <p:nvPr/>
        </p:nvSpPr>
        <p:spPr>
          <a:xfrm>
            <a:off x="536775" y="1002684"/>
            <a:ext cx="1410021" cy="646331"/>
          </a:xfrm>
          <a:prstGeom prst="rect">
            <a:avLst/>
          </a:prstGeom>
          <a:noFill/>
        </p:spPr>
        <p:txBody>
          <a:bodyPr wrap="square" rtlCol="0">
            <a:spAutoFit/>
          </a:bodyPr>
          <a:lstStyle/>
          <a:p>
            <a:r>
              <a:rPr lang="zh-CN" altLang="en-US"/>
              <a:t>服务内容：</a:t>
            </a:r>
          </a:p>
          <a:p>
            <a:endParaRPr lang="zh-CN" altLang="en-US"/>
          </a:p>
        </p:txBody>
      </p:sp>
      <p:sp>
        <p:nvSpPr>
          <p:cNvPr id="27" name="文本框 26">
            <a:extLst>
              <a:ext uri="{FF2B5EF4-FFF2-40B4-BE49-F238E27FC236}">
                <a16:creationId xmlns:a16="http://schemas.microsoft.com/office/drawing/2014/main" id="{BF7EBDE0-E0DC-4337-8B86-2B14F3405CBD}"/>
              </a:ext>
            </a:extLst>
          </p:cNvPr>
          <p:cNvSpPr txBox="1"/>
          <p:nvPr/>
        </p:nvSpPr>
        <p:spPr>
          <a:xfrm>
            <a:off x="839821" y="4149202"/>
            <a:ext cx="3875218" cy="1200329"/>
          </a:xfrm>
          <a:prstGeom prst="rect">
            <a:avLst/>
          </a:prstGeom>
          <a:noFill/>
        </p:spPr>
        <p:txBody>
          <a:bodyPr wrap="square" rtlCol="0">
            <a:spAutoFit/>
          </a:bodyPr>
          <a:lstStyle/>
          <a:p>
            <a:r>
              <a:rPr lang="zh-CN" altLang="en-US"/>
              <a:t>大学生个人：出售或购买闲置物品</a:t>
            </a:r>
            <a:endParaRPr lang="en-US" altLang="zh-CN"/>
          </a:p>
          <a:p>
            <a:r>
              <a:rPr lang="zh-CN" altLang="en-US"/>
              <a:t>学生社团：发布活动物资的二手信息</a:t>
            </a:r>
            <a:endParaRPr lang="en-US" altLang="zh-CN"/>
          </a:p>
          <a:p>
            <a:r>
              <a:rPr lang="zh-CN" altLang="en-US"/>
              <a:t>校内商家：推广商品或服务，触达精准用户群体</a:t>
            </a:r>
          </a:p>
        </p:txBody>
      </p:sp>
      <p:sp>
        <p:nvSpPr>
          <p:cNvPr id="28" name="文本框 27">
            <a:extLst>
              <a:ext uri="{FF2B5EF4-FFF2-40B4-BE49-F238E27FC236}">
                <a16:creationId xmlns:a16="http://schemas.microsoft.com/office/drawing/2014/main" id="{78C1AF63-9ED8-4C31-A57B-BE2940347DFD}"/>
              </a:ext>
            </a:extLst>
          </p:cNvPr>
          <p:cNvSpPr txBox="1"/>
          <p:nvPr/>
        </p:nvSpPr>
        <p:spPr>
          <a:xfrm>
            <a:off x="467679" y="1418176"/>
            <a:ext cx="4338062" cy="2308324"/>
          </a:xfrm>
          <a:prstGeom prst="rect">
            <a:avLst/>
          </a:prstGeom>
          <a:noFill/>
        </p:spPr>
        <p:txBody>
          <a:bodyPr wrap="square" rtlCol="0">
            <a:spAutoFit/>
          </a:bodyPr>
          <a:lstStyle/>
          <a:p>
            <a:pPr lvl="1"/>
            <a:r>
              <a:rPr lang="zh-CN" altLang="en-US"/>
              <a:t>针对传统二手交易方式（校园群聊与咸鱼等）的弊端，我们搭建了主要面向高校场景的</a:t>
            </a:r>
            <a:r>
              <a:rPr lang="en-US" altLang="zh-CN"/>
              <a:t>C2C</a:t>
            </a:r>
            <a:r>
              <a:rPr lang="zh-CN" altLang="en-US"/>
              <a:t>闲置交易平台</a:t>
            </a:r>
            <a:r>
              <a:rPr lang="en-US" altLang="zh-CN"/>
              <a:t>—</a:t>
            </a:r>
            <a:r>
              <a:rPr lang="zh-CN" altLang="en-US"/>
              <a:t>校易通。旨在为大学生及大学相关商家提供一个更加专用更加便利的交易平台。提供“线上交易+线下验货+学生配送”一体化服务。</a:t>
            </a:r>
          </a:p>
          <a:p>
            <a:endParaRPr lang="zh-CN" altLang="en-US"/>
          </a:p>
        </p:txBody>
      </p:sp>
      <p:sp>
        <p:nvSpPr>
          <p:cNvPr id="12" name="箭头: 五边形 11">
            <a:extLst>
              <a:ext uri="{FF2B5EF4-FFF2-40B4-BE49-F238E27FC236}">
                <a16:creationId xmlns:a16="http://schemas.microsoft.com/office/drawing/2014/main" id="{DE42D178-4F7F-4AE6-8A83-37AEF8B9B99A}"/>
              </a:ext>
            </a:extLst>
          </p:cNvPr>
          <p:cNvSpPr/>
          <p:nvPr/>
        </p:nvSpPr>
        <p:spPr>
          <a:xfrm rot="10800000">
            <a:off x="7483157" y="1117540"/>
            <a:ext cx="3600366" cy="922926"/>
          </a:xfrm>
          <a:prstGeom prst="homePlate">
            <a:avLst/>
          </a:prstGeom>
          <a:solidFill>
            <a:srgbClr val="66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五边形 45">
            <a:extLst>
              <a:ext uri="{FF2B5EF4-FFF2-40B4-BE49-F238E27FC236}">
                <a16:creationId xmlns:a16="http://schemas.microsoft.com/office/drawing/2014/main" id="{56859F67-4595-48AC-9A80-EBB1E41A9842}"/>
              </a:ext>
            </a:extLst>
          </p:cNvPr>
          <p:cNvSpPr/>
          <p:nvPr/>
        </p:nvSpPr>
        <p:spPr>
          <a:xfrm rot="10800000">
            <a:off x="7483157" y="3905206"/>
            <a:ext cx="3600366" cy="922926"/>
          </a:xfrm>
          <a:prstGeom prst="homePlate">
            <a:avLst/>
          </a:prstGeom>
          <a:solidFill>
            <a:srgbClr val="FFCC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五边形 46">
            <a:extLst>
              <a:ext uri="{FF2B5EF4-FFF2-40B4-BE49-F238E27FC236}">
                <a16:creationId xmlns:a16="http://schemas.microsoft.com/office/drawing/2014/main" id="{6207B834-3BFE-408A-812A-BF0385CB4746}"/>
              </a:ext>
            </a:extLst>
          </p:cNvPr>
          <p:cNvSpPr/>
          <p:nvPr/>
        </p:nvSpPr>
        <p:spPr>
          <a:xfrm rot="10800000">
            <a:off x="7483157" y="2460880"/>
            <a:ext cx="3600366" cy="922926"/>
          </a:xfrm>
          <a:prstGeom prst="homePlate">
            <a:avLst/>
          </a:prstGeom>
          <a:solidFill>
            <a:srgbClr val="66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五边形 47">
            <a:extLst>
              <a:ext uri="{FF2B5EF4-FFF2-40B4-BE49-F238E27FC236}">
                <a16:creationId xmlns:a16="http://schemas.microsoft.com/office/drawing/2014/main" id="{CF1384B6-2444-4A0E-AB51-0C38343B6E43}"/>
              </a:ext>
            </a:extLst>
          </p:cNvPr>
          <p:cNvSpPr/>
          <p:nvPr/>
        </p:nvSpPr>
        <p:spPr>
          <a:xfrm rot="10800000">
            <a:off x="7483157" y="5263535"/>
            <a:ext cx="3600366" cy="922926"/>
          </a:xfrm>
          <a:prstGeom prst="homePlate">
            <a:avLst/>
          </a:prstGeom>
          <a:solidFill>
            <a:srgbClr val="FF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0F8196D1-D96C-49A6-9108-D63227BDC257}"/>
              </a:ext>
            </a:extLst>
          </p:cNvPr>
          <p:cNvSpPr txBox="1"/>
          <p:nvPr/>
        </p:nvSpPr>
        <p:spPr>
          <a:xfrm>
            <a:off x="7849235" y="1270511"/>
            <a:ext cx="3119120" cy="707886"/>
          </a:xfrm>
          <a:prstGeom prst="rect">
            <a:avLst/>
          </a:prstGeom>
          <a:noFill/>
        </p:spPr>
        <p:txBody>
          <a:bodyPr wrap="square">
            <a:spAutoFit/>
          </a:bodyPr>
          <a:lstStyle/>
          <a:p>
            <a:r>
              <a:rPr lang="zh-CN" altLang="en-US" sz="1000">
                <a:solidFill>
                  <a:schemeClr val="bg1"/>
                </a:solidFill>
              </a:rPr>
              <a:t>校易通专为高校场景设计，聚焦大学生群体，结合学号绑定、校内物流、课程教材匹配等功能，深度嵌入校园生态，满足大学生真实需求，避免传统平台“泛用不精”的问题。</a:t>
            </a:r>
          </a:p>
        </p:txBody>
      </p:sp>
      <p:sp>
        <p:nvSpPr>
          <p:cNvPr id="54" name="文本框 53">
            <a:extLst>
              <a:ext uri="{FF2B5EF4-FFF2-40B4-BE49-F238E27FC236}">
                <a16:creationId xmlns:a16="http://schemas.microsoft.com/office/drawing/2014/main" id="{DEC54DCA-189F-4A3E-8DCA-6DD481E10A77}"/>
              </a:ext>
            </a:extLst>
          </p:cNvPr>
          <p:cNvSpPr txBox="1"/>
          <p:nvPr/>
        </p:nvSpPr>
        <p:spPr>
          <a:xfrm>
            <a:off x="7900670" y="2591270"/>
            <a:ext cx="3067685" cy="707886"/>
          </a:xfrm>
          <a:prstGeom prst="rect">
            <a:avLst/>
          </a:prstGeom>
          <a:noFill/>
        </p:spPr>
        <p:txBody>
          <a:bodyPr wrap="square">
            <a:spAutoFit/>
          </a:bodyPr>
          <a:lstStyle/>
          <a:p>
            <a:r>
              <a:rPr lang="zh-CN" altLang="en-US" sz="1000">
                <a:solidFill>
                  <a:schemeClr val="bg1"/>
                </a:solidFill>
              </a:rPr>
              <a:t>平台集商品发布、信用评分、代卖服务、物品租赁、智能推荐等核心功能于一体，覆盖“买卖</a:t>
            </a:r>
            <a:r>
              <a:rPr lang="en-US" altLang="zh-CN" sz="1000">
                <a:solidFill>
                  <a:schemeClr val="bg1"/>
                </a:solidFill>
              </a:rPr>
              <a:t>-</a:t>
            </a:r>
            <a:r>
              <a:rPr lang="zh-CN" altLang="en-US" sz="1000">
                <a:solidFill>
                  <a:schemeClr val="bg1"/>
                </a:solidFill>
              </a:rPr>
              <a:t>租赁</a:t>
            </a:r>
            <a:r>
              <a:rPr lang="en-US" altLang="zh-CN" sz="1000">
                <a:solidFill>
                  <a:schemeClr val="bg1"/>
                </a:solidFill>
              </a:rPr>
              <a:t>-</a:t>
            </a:r>
            <a:r>
              <a:rPr lang="zh-CN" altLang="en-US" sz="1000">
                <a:solidFill>
                  <a:schemeClr val="bg1"/>
                </a:solidFill>
              </a:rPr>
              <a:t>服务”全链路，简化操作流程，提升交易效率，打造一站式校园二手平台。</a:t>
            </a:r>
          </a:p>
        </p:txBody>
      </p:sp>
      <p:sp>
        <p:nvSpPr>
          <p:cNvPr id="55" name="文本框 54">
            <a:extLst>
              <a:ext uri="{FF2B5EF4-FFF2-40B4-BE49-F238E27FC236}">
                <a16:creationId xmlns:a16="http://schemas.microsoft.com/office/drawing/2014/main" id="{EAD5943E-7CBA-4662-9027-83B2236E60A0}"/>
              </a:ext>
            </a:extLst>
          </p:cNvPr>
          <p:cNvSpPr txBox="1"/>
          <p:nvPr/>
        </p:nvSpPr>
        <p:spPr>
          <a:xfrm>
            <a:off x="7880666" y="4041480"/>
            <a:ext cx="3036253" cy="707886"/>
          </a:xfrm>
          <a:prstGeom prst="rect">
            <a:avLst/>
          </a:prstGeom>
          <a:noFill/>
        </p:spPr>
        <p:txBody>
          <a:bodyPr wrap="square">
            <a:spAutoFit/>
          </a:bodyPr>
          <a:lstStyle/>
          <a:p>
            <a:r>
              <a:rPr lang="zh-CN" altLang="en-US" sz="1000">
                <a:solidFill>
                  <a:schemeClr val="bg1"/>
                </a:solidFill>
              </a:rPr>
              <a:t>通过线下验货点、学生认证体系、校内配送、自提柜服务等，提升交易的安全性、便捷性与响应速度，构建高效可信的交易环境，专注解决大学生最关心的“效率</a:t>
            </a:r>
            <a:r>
              <a:rPr lang="en-US" altLang="zh-CN" sz="1000">
                <a:solidFill>
                  <a:schemeClr val="bg1"/>
                </a:solidFill>
              </a:rPr>
              <a:t>+</a:t>
            </a:r>
            <a:r>
              <a:rPr lang="zh-CN" altLang="en-US" sz="1000">
                <a:solidFill>
                  <a:schemeClr val="bg1"/>
                </a:solidFill>
              </a:rPr>
              <a:t>信任”痛点。</a:t>
            </a:r>
          </a:p>
        </p:txBody>
      </p:sp>
      <p:sp>
        <p:nvSpPr>
          <p:cNvPr id="57" name="文本框 56">
            <a:extLst>
              <a:ext uri="{FF2B5EF4-FFF2-40B4-BE49-F238E27FC236}">
                <a16:creationId xmlns:a16="http://schemas.microsoft.com/office/drawing/2014/main" id="{8EEE3EA9-6944-4E1F-B4B9-B6D811E55222}"/>
              </a:ext>
            </a:extLst>
          </p:cNvPr>
          <p:cNvSpPr txBox="1"/>
          <p:nvPr/>
        </p:nvSpPr>
        <p:spPr>
          <a:xfrm>
            <a:off x="7914957" y="5371055"/>
            <a:ext cx="3036253" cy="707886"/>
          </a:xfrm>
          <a:prstGeom prst="rect">
            <a:avLst/>
          </a:prstGeom>
          <a:noFill/>
        </p:spPr>
        <p:txBody>
          <a:bodyPr wrap="square">
            <a:spAutoFit/>
          </a:bodyPr>
          <a:lstStyle/>
          <a:p>
            <a:r>
              <a:rPr lang="zh-CN" altLang="en-US" sz="1000">
                <a:solidFill>
                  <a:schemeClr val="bg1"/>
                </a:solidFill>
              </a:rPr>
              <a:t>平台通过低碳积分系统鼓励闲置物品循环使用，积分可兑换校园福利，有效降低资源浪费，倡导环保理念，响应国家“双碳”战略目标，打造绿色校园交易文化。</a:t>
            </a:r>
          </a:p>
        </p:txBody>
      </p:sp>
      <p:sp>
        <p:nvSpPr>
          <p:cNvPr id="16" name="文本框 15">
            <a:extLst>
              <a:ext uri="{FF2B5EF4-FFF2-40B4-BE49-F238E27FC236}">
                <a16:creationId xmlns:a16="http://schemas.microsoft.com/office/drawing/2014/main" id="{6C4E6255-B1F8-4818-98F7-E1EC43414223}"/>
              </a:ext>
            </a:extLst>
          </p:cNvPr>
          <p:cNvSpPr txBox="1"/>
          <p:nvPr/>
        </p:nvSpPr>
        <p:spPr>
          <a:xfrm>
            <a:off x="5257847" y="715869"/>
            <a:ext cx="1109884" cy="369332"/>
          </a:xfrm>
          <a:prstGeom prst="rect">
            <a:avLst/>
          </a:prstGeom>
          <a:noFill/>
        </p:spPr>
        <p:txBody>
          <a:bodyPr wrap="square" rtlCol="0">
            <a:spAutoFit/>
          </a:bodyPr>
          <a:lstStyle/>
          <a:p>
            <a:r>
              <a:rPr lang="zh-CN" altLang="en-US"/>
              <a:t>平台优势</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平台特点</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a:t>
            </a:r>
            <a:r>
              <a:rPr lang="en-US" altLang="zh-CN"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2</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881630" y="1557020"/>
            <a:ext cx="7052310" cy="3138170"/>
          </a:xfrm>
          <a:prstGeom prst="rect">
            <a:avLst/>
          </a:prstGeom>
          <a:noFill/>
        </p:spPr>
        <p:txBody>
          <a:bodyPr wrap="square" rtlCol="0">
            <a:spAutoFit/>
          </a:bodyPr>
          <a:lstStyle/>
          <a:p>
            <a:pPr lvl="1"/>
            <a:r>
              <a:rPr lang="zh-CN" altLang="en-US"/>
              <a:t>本平台提供了</a:t>
            </a:r>
          </a:p>
          <a:p>
            <a:pPr lvl="1"/>
            <a:r>
              <a:rPr lang="zh-CN" altLang="en-US"/>
              <a:t>学生身份认证：学号绑定，杜绝虚假账号；</a:t>
            </a:r>
          </a:p>
          <a:p>
            <a:pPr lvl="1"/>
            <a:r>
              <a:rPr lang="zh-CN" altLang="en-US"/>
              <a:t>线下验货点：宿舍区设立验货站，解决信任问题；</a:t>
            </a:r>
          </a:p>
          <a:p>
            <a:pPr lvl="1"/>
            <a:r>
              <a:rPr lang="zh-CN" altLang="en-US"/>
              <a:t>低碳积分体系：交易成功获积分，兑换校园福利。</a:t>
            </a:r>
          </a:p>
          <a:p>
            <a:pPr lvl="1"/>
            <a:r>
              <a:rPr err="1"/>
              <a:t>商品发布：分类标签（教材</a:t>
            </a:r>
            <a:r>
              <a:t>/</a:t>
            </a:r>
            <a:r>
              <a:rPr err="1"/>
              <a:t>数码</a:t>
            </a:r>
            <a:r>
              <a:t>/</a:t>
            </a:r>
            <a:r>
              <a:rPr err="1"/>
              <a:t>服饰等</a:t>
            </a:r>
            <a:r>
              <a:t>）、</a:t>
            </a:r>
            <a:r>
              <a:rPr err="1"/>
              <a:t>一键转卖（接入学生常用购物平台</a:t>
            </a:r>
            <a:r>
              <a:t>）；	</a:t>
            </a:r>
          </a:p>
          <a:p>
            <a:pPr lvl="1"/>
            <a:r>
              <a:rPr err="1"/>
              <a:t>智能匹配：输入课程代码自动推荐二手教材</a:t>
            </a:r>
            <a:r>
              <a:t>；</a:t>
            </a:r>
          </a:p>
          <a:p>
            <a:pPr lvl="1"/>
            <a:r>
              <a:rPr err="1"/>
              <a:t>信用评分：买卖双方互评生成信用分</a:t>
            </a:r>
            <a:r>
              <a:t>。</a:t>
            </a:r>
          </a:p>
          <a:p>
            <a:pPr lvl="1"/>
            <a:r>
              <a:rPr err="1"/>
              <a:t>毕业季“代卖”服务：平台代理毕业生出售大件物品（如自行车、洗衣机</a:t>
            </a:r>
            <a:r>
              <a:t>）；</a:t>
            </a:r>
          </a:p>
          <a:p>
            <a:pPr lvl="1"/>
            <a:r>
              <a:rPr err="1"/>
              <a:t>租赁专区：考试计算器、正装等低频使用物品</a:t>
            </a:r>
            <a:r>
              <a:t>。</a:t>
            </a:r>
          </a:p>
        </p:txBody>
      </p:sp>
      <p:sp>
        <p:nvSpPr>
          <p:cNvPr id="3" name="Rounded Rectangle 3"/>
          <p:cNvSpPr/>
          <p:nvPr/>
        </p:nvSpPr>
        <p:spPr>
          <a:xfrm>
            <a:off x="669925" y="1322070"/>
            <a:ext cx="2011680" cy="1097280"/>
          </a:xfrm>
          <a:prstGeom prst="roundRect">
            <a:avLst/>
          </a:prstGeom>
          <a:solidFill>
            <a:srgbClr val="66CCFF"/>
          </a:solidFill>
        </p:spPr>
        <p:style>
          <a:lnRef idx="1">
            <a:schemeClr val="accent1"/>
          </a:lnRef>
          <a:fillRef idx="3">
            <a:schemeClr val="accent1"/>
          </a:fillRef>
          <a:effectRef idx="2">
            <a:schemeClr val="accent1"/>
          </a:effectRef>
          <a:fontRef idx="minor">
            <a:schemeClr val="lt1"/>
          </a:fontRef>
        </p:style>
        <p:txBody>
          <a:bodyPr rtlCol="0" anchor="ctr"/>
          <a:lstStyle/>
          <a:p>
            <a:pPr algn="ctr"/>
            <a:r>
              <a:t>提交闲置</a:t>
            </a:r>
          </a:p>
        </p:txBody>
      </p:sp>
      <p:sp>
        <p:nvSpPr>
          <p:cNvPr id="5" name="Rounded Rectangle 4"/>
          <p:cNvSpPr/>
          <p:nvPr/>
        </p:nvSpPr>
        <p:spPr>
          <a:xfrm>
            <a:off x="669925" y="3108960"/>
            <a:ext cx="2011680" cy="1097280"/>
          </a:xfrm>
          <a:prstGeom prst="roundRect">
            <a:avLst/>
          </a:prstGeom>
          <a:solidFill>
            <a:srgbClr val="66FFCC"/>
          </a:solidFill>
        </p:spPr>
        <p:style>
          <a:lnRef idx="1">
            <a:schemeClr val="accent1"/>
          </a:lnRef>
          <a:fillRef idx="3">
            <a:schemeClr val="accent1"/>
          </a:fillRef>
          <a:effectRef idx="2">
            <a:schemeClr val="accent1"/>
          </a:effectRef>
          <a:fontRef idx="minor">
            <a:schemeClr val="lt1"/>
          </a:fontRef>
        </p:style>
        <p:txBody>
          <a:bodyPr rtlCol="0" anchor="ctr"/>
          <a:lstStyle/>
          <a:p>
            <a:pPr algn="ctr"/>
            <a:r>
              <a:t>平台代卖</a:t>
            </a:r>
          </a:p>
        </p:txBody>
      </p:sp>
      <p:sp>
        <p:nvSpPr>
          <p:cNvPr id="7" name="Rounded Rectangle 6"/>
          <p:cNvSpPr/>
          <p:nvPr/>
        </p:nvSpPr>
        <p:spPr>
          <a:xfrm>
            <a:off x="669925" y="4895850"/>
            <a:ext cx="2011680" cy="1097280"/>
          </a:xfrm>
          <a:prstGeom prst="roundRect">
            <a:avLst/>
          </a:prstGeom>
          <a:solidFill>
            <a:srgbClr val="CC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t>交易完成</a:t>
            </a:r>
          </a:p>
        </p:txBody>
      </p:sp>
      <p:sp>
        <p:nvSpPr>
          <p:cNvPr id="9" name="Rounded Rectangle 8"/>
          <p:cNvSpPr/>
          <p:nvPr/>
        </p:nvSpPr>
        <p:spPr>
          <a:xfrm>
            <a:off x="3709035" y="4895850"/>
            <a:ext cx="2011680" cy="1097280"/>
          </a:xfrm>
          <a:prstGeom prst="roundRect">
            <a:avLst/>
          </a:prstGeom>
          <a:solidFill>
            <a:srgbClr val="FFCC66"/>
          </a:solidFill>
        </p:spPr>
        <p:style>
          <a:lnRef idx="1">
            <a:schemeClr val="accent1"/>
          </a:lnRef>
          <a:fillRef idx="3">
            <a:schemeClr val="accent1"/>
          </a:fillRef>
          <a:effectRef idx="2">
            <a:schemeClr val="accent1"/>
          </a:effectRef>
          <a:fontRef idx="minor">
            <a:schemeClr val="lt1"/>
          </a:fontRef>
        </p:style>
        <p:txBody>
          <a:bodyPr rtlCol="0" anchor="ctr"/>
          <a:lstStyle/>
          <a:p>
            <a:pPr algn="ctr"/>
            <a:r>
              <a:t>积分到账</a:t>
            </a:r>
          </a:p>
        </p:txBody>
      </p:sp>
      <p:sp>
        <p:nvSpPr>
          <p:cNvPr id="6" name="Right Arrow 5"/>
          <p:cNvSpPr/>
          <p:nvPr/>
        </p:nvSpPr>
        <p:spPr>
          <a:xfrm>
            <a:off x="1387475" y="2581275"/>
            <a:ext cx="457200" cy="365760"/>
          </a:xfrm>
          <a:prstGeom prst="downArrow">
            <a:avLst/>
          </a:prstGeom>
          <a:solidFill>
            <a:srgbClr val="C8C8C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5"/>
          <p:cNvSpPr/>
          <p:nvPr/>
        </p:nvSpPr>
        <p:spPr>
          <a:xfrm>
            <a:off x="1447165" y="4368165"/>
            <a:ext cx="457200" cy="365760"/>
          </a:xfrm>
          <a:prstGeom prst="downArrow">
            <a:avLst/>
          </a:prstGeom>
          <a:solidFill>
            <a:srgbClr val="C8C8C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5"/>
          <p:cNvSpPr/>
          <p:nvPr/>
        </p:nvSpPr>
        <p:spPr>
          <a:xfrm>
            <a:off x="2966720" y="5261610"/>
            <a:ext cx="457200" cy="365760"/>
          </a:xfrm>
          <a:prstGeom prst="rightArrow">
            <a:avLst/>
          </a:prstGeom>
          <a:solidFill>
            <a:srgbClr val="C8C8C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6" name="组合 35"/>
          <p:cNvGrpSpPr/>
          <p:nvPr/>
        </p:nvGrpSpPr>
        <p:grpSpPr>
          <a:xfrm>
            <a:off x="7058660" y="204888"/>
            <a:ext cx="1160780" cy="368300"/>
            <a:chOff x="8564" y="332"/>
            <a:chExt cx="1828" cy="580"/>
          </a:xfrm>
        </p:grpSpPr>
        <p:sp>
          <p:nvSpPr>
            <p:cNvPr id="37" name="流程图: 终止 36"/>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平台特点</a:t>
              </a:r>
            </a:p>
          </p:txBody>
        </p:sp>
        <p:grpSp>
          <p:nvGrpSpPr>
            <p:cNvPr id="38" name="组合 37"/>
            <p:cNvGrpSpPr/>
            <p:nvPr/>
          </p:nvGrpSpPr>
          <p:grpSpPr>
            <a:xfrm>
              <a:off x="10095" y="494"/>
              <a:ext cx="258" cy="256"/>
              <a:chOff x="13432" y="491"/>
              <a:chExt cx="258" cy="256"/>
            </a:xfrm>
          </p:grpSpPr>
          <p:sp>
            <p:nvSpPr>
              <p:cNvPr id="39" name="椭圆 38"/>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40" name="组合 39"/>
              <p:cNvGrpSpPr/>
              <p:nvPr/>
            </p:nvGrpSpPr>
            <p:grpSpPr>
              <a:xfrm>
                <a:off x="13516" y="535"/>
                <a:ext cx="134" cy="168"/>
                <a:chOff x="13507" y="548"/>
                <a:chExt cx="134" cy="168"/>
              </a:xfrm>
            </p:grpSpPr>
            <p:cxnSp>
              <p:nvCxnSpPr>
                <p:cNvPr id="41" name="直接连接符 40"/>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43" name="组合 42"/>
          <p:cNvGrpSpPr/>
          <p:nvPr/>
        </p:nvGrpSpPr>
        <p:grpSpPr>
          <a:xfrm>
            <a:off x="8195310" y="204888"/>
            <a:ext cx="937260" cy="360045"/>
            <a:chOff x="11503" y="342"/>
            <a:chExt cx="1476" cy="567"/>
          </a:xfrm>
        </p:grpSpPr>
        <p:sp>
          <p:nvSpPr>
            <p:cNvPr id="44" name="流程图: 终止 43"/>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45" name="直接连接符 44"/>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9011285" y="213778"/>
            <a:ext cx="905510" cy="360045"/>
            <a:chOff x="12733" y="342"/>
            <a:chExt cx="1426" cy="567"/>
          </a:xfrm>
        </p:grpSpPr>
        <p:sp>
          <p:nvSpPr>
            <p:cNvPr id="47" name="流程图: 终止 46"/>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48" name="直接连接符 47"/>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9795510" y="204888"/>
            <a:ext cx="886460" cy="360045"/>
            <a:chOff x="14049" y="346"/>
            <a:chExt cx="1396" cy="567"/>
          </a:xfrm>
        </p:grpSpPr>
        <p:sp>
          <p:nvSpPr>
            <p:cNvPr id="50" name="流程图: 终止 49"/>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51" name="直接连接符 50"/>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10560685" y="213778"/>
            <a:ext cx="923290" cy="360045"/>
            <a:chOff x="15251" y="346"/>
            <a:chExt cx="1454" cy="567"/>
          </a:xfrm>
        </p:grpSpPr>
        <p:sp>
          <p:nvSpPr>
            <p:cNvPr id="53" name="流程图: 终止 52"/>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54" name="直接连接符 53"/>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6191250" y="207428"/>
            <a:ext cx="899160" cy="359410"/>
            <a:chOff x="10314" y="342"/>
            <a:chExt cx="1416" cy="566"/>
          </a:xfrm>
        </p:grpSpPr>
        <p:sp>
          <p:nvSpPr>
            <p:cNvPr id="56" name="流程图: 终止 55"/>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57" name="直接连接符 56"/>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7058660" y="204888"/>
            <a:ext cx="1160780" cy="368300"/>
            <a:chOff x="8564" y="332"/>
            <a:chExt cx="1828" cy="580"/>
          </a:xfrm>
        </p:grpSpPr>
        <p:sp>
          <p:nvSpPr>
            <p:cNvPr id="37" name="流程图: 终止 36"/>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平台特点</a:t>
              </a:r>
            </a:p>
          </p:txBody>
        </p:sp>
        <p:grpSp>
          <p:nvGrpSpPr>
            <p:cNvPr id="38" name="组合 37"/>
            <p:cNvGrpSpPr/>
            <p:nvPr/>
          </p:nvGrpSpPr>
          <p:grpSpPr>
            <a:xfrm>
              <a:off x="10095" y="494"/>
              <a:ext cx="258" cy="256"/>
              <a:chOff x="13432" y="491"/>
              <a:chExt cx="258" cy="256"/>
            </a:xfrm>
          </p:grpSpPr>
          <p:sp>
            <p:nvSpPr>
              <p:cNvPr id="39" name="椭圆 38"/>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40" name="组合 39"/>
              <p:cNvGrpSpPr/>
              <p:nvPr/>
            </p:nvGrpSpPr>
            <p:grpSpPr>
              <a:xfrm>
                <a:off x="13516" y="535"/>
                <a:ext cx="134" cy="168"/>
                <a:chOff x="13507" y="548"/>
                <a:chExt cx="134" cy="168"/>
              </a:xfrm>
            </p:grpSpPr>
            <p:cxnSp>
              <p:nvCxnSpPr>
                <p:cNvPr id="41" name="直接连接符 40"/>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43" name="组合 42"/>
          <p:cNvGrpSpPr/>
          <p:nvPr/>
        </p:nvGrpSpPr>
        <p:grpSpPr>
          <a:xfrm>
            <a:off x="8195310" y="204888"/>
            <a:ext cx="937260" cy="360045"/>
            <a:chOff x="11503" y="342"/>
            <a:chExt cx="1476" cy="567"/>
          </a:xfrm>
        </p:grpSpPr>
        <p:sp>
          <p:nvSpPr>
            <p:cNvPr id="44" name="流程图: 终止 43"/>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45" name="直接连接符 44"/>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9011285" y="213778"/>
            <a:ext cx="905510" cy="360045"/>
            <a:chOff x="12733" y="342"/>
            <a:chExt cx="1426" cy="567"/>
          </a:xfrm>
        </p:grpSpPr>
        <p:sp>
          <p:nvSpPr>
            <p:cNvPr id="47" name="流程图: 终止 46"/>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48" name="直接连接符 47"/>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9795510" y="204888"/>
            <a:ext cx="886460" cy="360045"/>
            <a:chOff x="14049" y="346"/>
            <a:chExt cx="1396" cy="567"/>
          </a:xfrm>
        </p:grpSpPr>
        <p:sp>
          <p:nvSpPr>
            <p:cNvPr id="50" name="流程图: 终止 49"/>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51" name="直接连接符 50"/>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10560685" y="213778"/>
            <a:ext cx="923290" cy="360045"/>
            <a:chOff x="15251" y="346"/>
            <a:chExt cx="1454" cy="567"/>
          </a:xfrm>
        </p:grpSpPr>
        <p:sp>
          <p:nvSpPr>
            <p:cNvPr id="53" name="流程图: 终止 52"/>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54" name="直接连接符 53"/>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6191250" y="207428"/>
            <a:ext cx="899160" cy="359410"/>
            <a:chOff x="10314" y="342"/>
            <a:chExt cx="1416" cy="566"/>
          </a:xfrm>
        </p:grpSpPr>
        <p:sp>
          <p:nvSpPr>
            <p:cNvPr id="56" name="流程图: 终止 55"/>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57" name="直接连接符 56"/>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34" name="标题 1">
            <a:extLst>
              <a:ext uri="{FF2B5EF4-FFF2-40B4-BE49-F238E27FC236}">
                <a16:creationId xmlns:a16="http://schemas.microsoft.com/office/drawing/2014/main" id="{0431DC68-0848-40C0-AF85-AED2040499FD}"/>
              </a:ext>
            </a:extLst>
          </p:cNvPr>
          <p:cNvSpPr txBox="1">
            <a:spLocks/>
          </p:cNvSpPr>
          <p:nvPr/>
        </p:nvSpPr>
        <p:spPr>
          <a:xfrm>
            <a:off x="668655" y="663443"/>
            <a:ext cx="2032212" cy="488024"/>
          </a:xfrm>
          <a:prstGeom prst="rect">
            <a:avLst/>
          </a:prstGeom>
        </p:spPr>
        <p:txBody>
          <a:bodyPr/>
          <a:lst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cs typeface="+mj-cs"/>
              </a:defRPr>
            </a:lvl1pPr>
          </a:lstStyle>
          <a:p>
            <a:r>
              <a:rPr lang="zh-CN" altLang="en-US"/>
              <a:t>项目创新点：</a:t>
            </a:r>
          </a:p>
        </p:txBody>
      </p:sp>
      <p:sp>
        <p:nvSpPr>
          <p:cNvPr id="35" name="稻壳儿搜索【幻雨工作室】_2">
            <a:extLst>
              <a:ext uri="{FF2B5EF4-FFF2-40B4-BE49-F238E27FC236}">
                <a16:creationId xmlns:a16="http://schemas.microsoft.com/office/drawing/2014/main" id="{F5FF0221-EF87-44BC-B425-F5F0EBC3ED89}"/>
              </a:ext>
            </a:extLst>
          </p:cNvPr>
          <p:cNvSpPr/>
          <p:nvPr/>
        </p:nvSpPr>
        <p:spPr bwMode="auto">
          <a:xfrm>
            <a:off x="1203432" y="1634587"/>
            <a:ext cx="1296144" cy="1296144"/>
          </a:xfrm>
          <a:prstGeom prst="ellipse">
            <a:avLst/>
          </a:prstGeom>
          <a:solidFill>
            <a:srgbClr val="C7A6F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2"/>
              </a:solidFill>
              <a:effectLst/>
              <a:latin typeface="Arial" panose="020B0604020202020204" pitchFamily="34" charset="0"/>
              <a:ea typeface="宋体" panose="02010600030101010101" pitchFamily="2" charset="-122"/>
            </a:endParaRPr>
          </a:p>
        </p:txBody>
      </p:sp>
      <p:sp>
        <p:nvSpPr>
          <p:cNvPr id="59" name="文本框 58">
            <a:extLst>
              <a:ext uri="{FF2B5EF4-FFF2-40B4-BE49-F238E27FC236}">
                <a16:creationId xmlns:a16="http://schemas.microsoft.com/office/drawing/2014/main" id="{354BFC9B-3840-4BC0-8EE7-FD432BA83968}"/>
              </a:ext>
            </a:extLst>
          </p:cNvPr>
          <p:cNvSpPr txBox="1"/>
          <p:nvPr/>
        </p:nvSpPr>
        <p:spPr>
          <a:xfrm>
            <a:off x="1409907" y="1959493"/>
            <a:ext cx="990599" cy="646331"/>
          </a:xfrm>
          <a:prstGeom prst="rect">
            <a:avLst/>
          </a:prstGeom>
          <a:noFill/>
        </p:spPr>
        <p:txBody>
          <a:bodyPr wrap="square">
            <a:spAutoFit/>
          </a:bodyPr>
          <a:lstStyle/>
          <a:p>
            <a:r>
              <a:rPr lang="zh-CN" altLang="en-US">
                <a:solidFill>
                  <a:schemeClr val="bg2"/>
                </a:solidFill>
              </a:rPr>
              <a:t>校园垂直服务</a:t>
            </a:r>
          </a:p>
        </p:txBody>
      </p:sp>
      <p:sp>
        <p:nvSpPr>
          <p:cNvPr id="60" name="稻壳儿搜索【幻雨工作室】_2">
            <a:extLst>
              <a:ext uri="{FF2B5EF4-FFF2-40B4-BE49-F238E27FC236}">
                <a16:creationId xmlns:a16="http://schemas.microsoft.com/office/drawing/2014/main" id="{AE461093-4E7B-4F5F-87E8-17FE6A665A53}"/>
              </a:ext>
            </a:extLst>
          </p:cNvPr>
          <p:cNvSpPr/>
          <p:nvPr/>
        </p:nvSpPr>
        <p:spPr bwMode="auto">
          <a:xfrm>
            <a:off x="3717660" y="1634586"/>
            <a:ext cx="1296144" cy="1296144"/>
          </a:xfrm>
          <a:prstGeom prst="ellipse">
            <a:avLst/>
          </a:prstGeom>
          <a:solidFill>
            <a:srgbClr val="D0C1B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2"/>
              </a:solidFill>
              <a:effectLst/>
              <a:latin typeface="Arial" panose="020B0604020202020204" pitchFamily="34" charset="0"/>
              <a:ea typeface="宋体" panose="02010600030101010101" pitchFamily="2" charset="-122"/>
            </a:endParaRPr>
          </a:p>
        </p:txBody>
      </p:sp>
      <p:sp>
        <p:nvSpPr>
          <p:cNvPr id="61" name="稻壳儿搜索【幻雨工作室】_2">
            <a:extLst>
              <a:ext uri="{FF2B5EF4-FFF2-40B4-BE49-F238E27FC236}">
                <a16:creationId xmlns:a16="http://schemas.microsoft.com/office/drawing/2014/main" id="{711E6D6D-642F-4CA9-9BDE-C84AC237B5EB}"/>
              </a:ext>
            </a:extLst>
          </p:cNvPr>
          <p:cNvSpPr/>
          <p:nvPr/>
        </p:nvSpPr>
        <p:spPr bwMode="auto">
          <a:xfrm>
            <a:off x="6231888" y="1634586"/>
            <a:ext cx="1296144" cy="1296144"/>
          </a:xfrm>
          <a:prstGeom prst="ellipse">
            <a:avLst/>
          </a:prstGeom>
          <a:solidFill>
            <a:srgbClr val="2092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2"/>
              </a:solidFill>
              <a:effectLst/>
              <a:latin typeface="Arial" panose="020B0604020202020204" pitchFamily="34" charset="0"/>
              <a:ea typeface="宋体" panose="02010600030101010101" pitchFamily="2" charset="-122"/>
            </a:endParaRPr>
          </a:p>
        </p:txBody>
      </p:sp>
      <p:sp>
        <p:nvSpPr>
          <p:cNvPr id="62" name="稻壳儿搜索【幻雨工作室】_2">
            <a:extLst>
              <a:ext uri="{FF2B5EF4-FFF2-40B4-BE49-F238E27FC236}">
                <a16:creationId xmlns:a16="http://schemas.microsoft.com/office/drawing/2014/main" id="{5482724F-30A9-4B98-A553-32D713F61F7F}"/>
              </a:ext>
            </a:extLst>
          </p:cNvPr>
          <p:cNvSpPr/>
          <p:nvPr/>
        </p:nvSpPr>
        <p:spPr bwMode="auto">
          <a:xfrm>
            <a:off x="8832106" y="1634586"/>
            <a:ext cx="1296144" cy="1296144"/>
          </a:xfrm>
          <a:prstGeom prst="ellipse">
            <a:avLst/>
          </a:prstGeom>
          <a:solidFill>
            <a:srgbClr val="1B2BB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bg2"/>
              </a:solidFill>
              <a:effectLst/>
              <a:latin typeface="Arial" panose="020B0604020202020204" pitchFamily="34" charset="0"/>
              <a:ea typeface="宋体" panose="02010600030101010101" pitchFamily="2" charset="-122"/>
            </a:endParaRPr>
          </a:p>
        </p:txBody>
      </p:sp>
      <p:sp>
        <p:nvSpPr>
          <p:cNvPr id="63" name="文本框 62">
            <a:extLst>
              <a:ext uri="{FF2B5EF4-FFF2-40B4-BE49-F238E27FC236}">
                <a16:creationId xmlns:a16="http://schemas.microsoft.com/office/drawing/2014/main" id="{998AE224-07E6-4F71-BBDD-7E51637888FE}"/>
              </a:ext>
            </a:extLst>
          </p:cNvPr>
          <p:cNvSpPr txBox="1"/>
          <p:nvPr/>
        </p:nvSpPr>
        <p:spPr>
          <a:xfrm>
            <a:off x="4037132" y="1959493"/>
            <a:ext cx="824578" cy="646331"/>
          </a:xfrm>
          <a:prstGeom prst="rect">
            <a:avLst/>
          </a:prstGeom>
          <a:noFill/>
        </p:spPr>
        <p:txBody>
          <a:bodyPr wrap="square">
            <a:spAutoFit/>
          </a:bodyPr>
          <a:lstStyle/>
          <a:p>
            <a:r>
              <a:rPr lang="zh-CN" altLang="en-US">
                <a:solidFill>
                  <a:schemeClr val="bg2"/>
                </a:solidFill>
              </a:rPr>
              <a:t>信任机制</a:t>
            </a:r>
          </a:p>
        </p:txBody>
      </p:sp>
      <p:sp>
        <p:nvSpPr>
          <p:cNvPr id="64" name="文本框 63">
            <a:extLst>
              <a:ext uri="{FF2B5EF4-FFF2-40B4-BE49-F238E27FC236}">
                <a16:creationId xmlns:a16="http://schemas.microsoft.com/office/drawing/2014/main" id="{93F75AF3-3AD7-4982-AB97-3A477574154F}"/>
              </a:ext>
            </a:extLst>
          </p:cNvPr>
          <p:cNvSpPr txBox="1"/>
          <p:nvPr/>
        </p:nvSpPr>
        <p:spPr>
          <a:xfrm>
            <a:off x="6581346" y="1962793"/>
            <a:ext cx="824578" cy="646331"/>
          </a:xfrm>
          <a:prstGeom prst="rect">
            <a:avLst/>
          </a:prstGeom>
          <a:noFill/>
        </p:spPr>
        <p:txBody>
          <a:bodyPr wrap="square">
            <a:spAutoFit/>
          </a:bodyPr>
          <a:lstStyle/>
          <a:p>
            <a:r>
              <a:rPr lang="zh-CN" altLang="en-US">
                <a:solidFill>
                  <a:schemeClr val="bg2"/>
                </a:solidFill>
              </a:rPr>
              <a:t>环保激励</a:t>
            </a:r>
          </a:p>
        </p:txBody>
      </p:sp>
      <p:sp>
        <p:nvSpPr>
          <p:cNvPr id="65" name="文本框 64">
            <a:extLst>
              <a:ext uri="{FF2B5EF4-FFF2-40B4-BE49-F238E27FC236}">
                <a16:creationId xmlns:a16="http://schemas.microsoft.com/office/drawing/2014/main" id="{BAAC6F41-2AED-468C-85F3-8E30D1134D90}"/>
              </a:ext>
            </a:extLst>
          </p:cNvPr>
          <p:cNvSpPr txBox="1"/>
          <p:nvPr/>
        </p:nvSpPr>
        <p:spPr>
          <a:xfrm>
            <a:off x="9162876" y="1959492"/>
            <a:ext cx="824578" cy="646331"/>
          </a:xfrm>
          <a:prstGeom prst="rect">
            <a:avLst/>
          </a:prstGeom>
          <a:noFill/>
        </p:spPr>
        <p:txBody>
          <a:bodyPr wrap="square">
            <a:spAutoFit/>
          </a:bodyPr>
          <a:lstStyle/>
          <a:p>
            <a:r>
              <a:rPr lang="zh-CN" altLang="en-US">
                <a:solidFill>
                  <a:schemeClr val="bg2"/>
                </a:solidFill>
              </a:rPr>
              <a:t>智能匹配</a:t>
            </a:r>
          </a:p>
        </p:txBody>
      </p:sp>
      <p:sp>
        <p:nvSpPr>
          <p:cNvPr id="15" name="矩形: 圆角 14">
            <a:extLst>
              <a:ext uri="{FF2B5EF4-FFF2-40B4-BE49-F238E27FC236}">
                <a16:creationId xmlns:a16="http://schemas.microsoft.com/office/drawing/2014/main" id="{FCB064CF-FB56-4697-9F5A-2B29DE4C94BC}"/>
              </a:ext>
            </a:extLst>
          </p:cNvPr>
          <p:cNvSpPr/>
          <p:nvPr/>
        </p:nvSpPr>
        <p:spPr>
          <a:xfrm>
            <a:off x="832234" y="3255637"/>
            <a:ext cx="2190938" cy="3106631"/>
          </a:xfrm>
          <a:prstGeom prst="roundRect">
            <a:avLst/>
          </a:prstGeom>
          <a:solidFill>
            <a:srgbClr val="C7A6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67" name="矩形: 圆角 66">
            <a:extLst>
              <a:ext uri="{FF2B5EF4-FFF2-40B4-BE49-F238E27FC236}">
                <a16:creationId xmlns:a16="http://schemas.microsoft.com/office/drawing/2014/main" id="{F892C7A1-5813-48CA-A0A2-6626EB4D3038}"/>
              </a:ext>
            </a:extLst>
          </p:cNvPr>
          <p:cNvSpPr/>
          <p:nvPr/>
        </p:nvSpPr>
        <p:spPr>
          <a:xfrm>
            <a:off x="3353952" y="3255636"/>
            <a:ext cx="2190938" cy="3106631"/>
          </a:xfrm>
          <a:prstGeom prst="roundRect">
            <a:avLst/>
          </a:prstGeom>
          <a:solidFill>
            <a:srgbClr val="D0C1B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68" name="矩形: 圆角 67">
            <a:extLst>
              <a:ext uri="{FF2B5EF4-FFF2-40B4-BE49-F238E27FC236}">
                <a16:creationId xmlns:a16="http://schemas.microsoft.com/office/drawing/2014/main" id="{5ED57106-B7B6-45D8-BC3C-9FBB0C0D9BE6}"/>
              </a:ext>
            </a:extLst>
          </p:cNvPr>
          <p:cNvSpPr/>
          <p:nvPr/>
        </p:nvSpPr>
        <p:spPr>
          <a:xfrm>
            <a:off x="5898166" y="3283982"/>
            <a:ext cx="2190938" cy="3106631"/>
          </a:xfrm>
          <a:prstGeom prst="roundRect">
            <a:avLst/>
          </a:prstGeom>
          <a:solidFill>
            <a:srgbClr val="2092B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69" name="矩形: 圆角 68">
            <a:extLst>
              <a:ext uri="{FF2B5EF4-FFF2-40B4-BE49-F238E27FC236}">
                <a16:creationId xmlns:a16="http://schemas.microsoft.com/office/drawing/2014/main" id="{8897EE8B-E56E-4FD4-BED6-BC2F64696B8B}"/>
              </a:ext>
            </a:extLst>
          </p:cNvPr>
          <p:cNvSpPr/>
          <p:nvPr/>
        </p:nvSpPr>
        <p:spPr>
          <a:xfrm>
            <a:off x="8442380" y="3283981"/>
            <a:ext cx="2190938" cy="3106631"/>
          </a:xfrm>
          <a:prstGeom prst="roundRect">
            <a:avLst/>
          </a:prstGeom>
          <a:solidFill>
            <a:srgbClr val="1B2BB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70" name="文本框 69">
            <a:extLst>
              <a:ext uri="{FF2B5EF4-FFF2-40B4-BE49-F238E27FC236}">
                <a16:creationId xmlns:a16="http://schemas.microsoft.com/office/drawing/2014/main" id="{D50542AC-FD3E-497E-ACB6-1C1D9FBE833C}"/>
              </a:ext>
            </a:extLst>
          </p:cNvPr>
          <p:cNvSpPr txBox="1"/>
          <p:nvPr/>
        </p:nvSpPr>
        <p:spPr>
          <a:xfrm>
            <a:off x="998730" y="3298666"/>
            <a:ext cx="1812955" cy="3108543"/>
          </a:xfrm>
          <a:prstGeom prst="rect">
            <a:avLst/>
          </a:prstGeom>
          <a:noFill/>
        </p:spPr>
        <p:txBody>
          <a:bodyPr wrap="square">
            <a:spAutoFit/>
          </a:bodyPr>
          <a:lstStyle/>
          <a:p>
            <a:r>
              <a:rPr lang="zh-CN" altLang="en-US" sz="1400">
                <a:solidFill>
                  <a:schemeClr val="bg2"/>
                </a:solidFill>
              </a:rPr>
              <a:t>校易通深耕高校场景，通过在宿舍区和快递点设立线下验货点，实现线上商品的实物验证；并结合学号绑定的学生配送网络，为同校、邻校和跨区交易提供分层级的物流选项（当面自送、美团闪送、顺丰快递），高效解决“最后一公里”难题，提升交易速度与用户粘性。</a:t>
            </a:r>
          </a:p>
        </p:txBody>
      </p:sp>
      <p:sp>
        <p:nvSpPr>
          <p:cNvPr id="71" name="文本框 70">
            <a:extLst>
              <a:ext uri="{FF2B5EF4-FFF2-40B4-BE49-F238E27FC236}">
                <a16:creationId xmlns:a16="http://schemas.microsoft.com/office/drawing/2014/main" id="{0E7B4941-3781-4280-880E-57C545081FB5}"/>
              </a:ext>
            </a:extLst>
          </p:cNvPr>
          <p:cNvSpPr txBox="1"/>
          <p:nvPr/>
        </p:nvSpPr>
        <p:spPr>
          <a:xfrm>
            <a:off x="6079853" y="3417683"/>
            <a:ext cx="1812955" cy="2893100"/>
          </a:xfrm>
          <a:prstGeom prst="rect">
            <a:avLst/>
          </a:prstGeom>
          <a:noFill/>
        </p:spPr>
        <p:txBody>
          <a:bodyPr wrap="square">
            <a:spAutoFit/>
          </a:bodyPr>
          <a:lstStyle/>
          <a:p>
            <a:r>
              <a:rPr lang="zh-CN" altLang="en-US" sz="1400">
                <a:solidFill>
                  <a:schemeClr val="bg2"/>
                </a:solidFill>
              </a:rPr>
              <a:t>校易通引入低碳积分体系，用户完成交易或租赁均可获得积分，积分可兑换打印券、食堂优惠券等校园福利。平台实时统计并展示用户的环保贡献（如节约碳排放量），通过“环保贡献榜”等形式激励更多学生参与闲置循环，打造绿色、可持续的低碳校园文化。</a:t>
            </a:r>
          </a:p>
        </p:txBody>
      </p:sp>
      <p:sp>
        <p:nvSpPr>
          <p:cNvPr id="72" name="文本框 71">
            <a:extLst>
              <a:ext uri="{FF2B5EF4-FFF2-40B4-BE49-F238E27FC236}">
                <a16:creationId xmlns:a16="http://schemas.microsoft.com/office/drawing/2014/main" id="{8C9D1C8A-7377-4829-A6B6-E3C1603353D6}"/>
              </a:ext>
            </a:extLst>
          </p:cNvPr>
          <p:cNvSpPr txBox="1"/>
          <p:nvPr/>
        </p:nvSpPr>
        <p:spPr>
          <a:xfrm>
            <a:off x="3568354" y="3577844"/>
            <a:ext cx="1812955" cy="2462213"/>
          </a:xfrm>
          <a:prstGeom prst="rect">
            <a:avLst/>
          </a:prstGeom>
          <a:noFill/>
        </p:spPr>
        <p:txBody>
          <a:bodyPr wrap="square">
            <a:spAutoFit/>
          </a:bodyPr>
          <a:lstStyle/>
          <a:p>
            <a:r>
              <a:rPr lang="zh-CN" altLang="en-US" sz="1400">
                <a:solidFill>
                  <a:schemeClr val="bg2"/>
                </a:solidFill>
              </a:rPr>
              <a:t>平台强制学号绑定＋实名认证，杜绝虚假账号，并通过交易后买卖双方互评与投诉审核，建立动态信用评分体系。系统对多次不良交易者予以限制和标识，帮助学生快速识别风险卖家</a:t>
            </a:r>
            <a:r>
              <a:rPr lang="en-US" altLang="zh-CN" sz="1400">
                <a:solidFill>
                  <a:schemeClr val="bg2"/>
                </a:solidFill>
              </a:rPr>
              <a:t>/</a:t>
            </a:r>
            <a:r>
              <a:rPr lang="zh-CN" altLang="en-US" sz="1400">
                <a:solidFill>
                  <a:schemeClr val="bg2"/>
                </a:solidFill>
              </a:rPr>
              <a:t>买家，形成校园内可信赖的信用经济环境。</a:t>
            </a:r>
          </a:p>
        </p:txBody>
      </p:sp>
      <p:sp>
        <p:nvSpPr>
          <p:cNvPr id="73" name="文本框 72">
            <a:extLst>
              <a:ext uri="{FF2B5EF4-FFF2-40B4-BE49-F238E27FC236}">
                <a16:creationId xmlns:a16="http://schemas.microsoft.com/office/drawing/2014/main" id="{18235D09-E8DC-45C1-AFFB-23D7F1C39874}"/>
              </a:ext>
            </a:extLst>
          </p:cNvPr>
          <p:cNvSpPr txBox="1"/>
          <p:nvPr/>
        </p:nvSpPr>
        <p:spPr>
          <a:xfrm>
            <a:off x="8631371" y="3498468"/>
            <a:ext cx="1812955" cy="2677656"/>
          </a:xfrm>
          <a:prstGeom prst="rect">
            <a:avLst/>
          </a:prstGeom>
          <a:noFill/>
        </p:spPr>
        <p:txBody>
          <a:bodyPr wrap="square">
            <a:spAutoFit/>
          </a:bodyPr>
          <a:lstStyle/>
          <a:p>
            <a:r>
              <a:rPr lang="zh-CN" altLang="en-US" sz="1400">
                <a:solidFill>
                  <a:schemeClr val="bg2"/>
                </a:solidFill>
              </a:rPr>
              <a:t>基于课程名称、编号和教师信息，校易通内置二手教材智能检索与推荐系统；并结合用户历史行为进行个性化物品推送。配合“一键转卖”功能，将常用购物平台订单同步发布，实现“买入即卖出”的闭环，精准匹配需求，最大化校园资源利用效率。</a:t>
            </a:r>
          </a:p>
        </p:txBody>
      </p:sp>
    </p:spTree>
    <p:custDataLst>
      <p:tags r:id="rId1"/>
    </p:custDataLst>
    <p:extLst>
      <p:ext uri="{BB962C8B-B14F-4D97-AF65-F5344CB8AC3E}">
        <p14:creationId xmlns:p14="http://schemas.microsoft.com/office/powerpoint/2010/main" val="344828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技术实现</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a:t>
            </a:r>
            <a:r>
              <a:rPr lang="en-US" altLang="zh-CN" sz="3200" spc="400">
                <a:solidFill>
                  <a:schemeClr val="tx1">
                    <a:lumMod val="85000"/>
                    <a:lumOff val="15000"/>
                  </a:schemeClr>
                </a:solidFill>
                <a:latin typeface="Arial" panose="020B0604020202020204" pitchFamily="34" charset="0"/>
                <a:ea typeface="汉仪旗黑-85S" panose="00020600040101010101" pitchFamily="18" charset="-122"/>
                <a:cs typeface="+mj-cs"/>
                <a:sym typeface="+mn-lt"/>
              </a:rPr>
              <a:t>3</a:t>
            </a:r>
            <a:endParaRPr lang="en-US" altLang="zh-CN"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18640" y="958850"/>
            <a:ext cx="8498840" cy="5208270"/>
          </a:xfrm>
          <a:prstGeom prst="rect">
            <a:avLst/>
          </a:prstGeom>
          <a:noFill/>
        </p:spPr>
        <p:txBody>
          <a:bodyPr wrap="square" rtlCol="0">
            <a:noAutofit/>
          </a:bodyPr>
          <a:lstStyle/>
          <a:p>
            <a:pPr lvl="1">
              <a:lnSpc>
                <a:spcPct val="180000"/>
              </a:lnSpc>
            </a:pPr>
            <a:r>
              <a:rPr lang="en-US" altLang="zh-CN"/>
              <a:t>1</a:t>
            </a:r>
            <a:r>
              <a:rPr lang="zh-CN" altLang="en-US"/>
              <a:t>、计算机技术人员：需要负责平台的功能模块设计。确保商品模块、购买模块、用户模块、咨询模块等功能正常使用。可以依托现有平台开发如微信</a:t>
            </a:r>
          </a:p>
          <a:p>
            <a:pPr lvl="1">
              <a:lnSpc>
                <a:spcPct val="180000"/>
              </a:lnSpc>
            </a:pPr>
            <a:endParaRPr lang="zh-CN" altLang="en-US"/>
          </a:p>
          <a:p>
            <a:pPr lvl="1">
              <a:lnSpc>
                <a:spcPct val="180000"/>
              </a:lnSpc>
            </a:pPr>
            <a:r>
              <a:rPr lang="en-US" altLang="zh-CN"/>
              <a:t>2</a:t>
            </a:r>
            <a:r>
              <a:rPr lang="zh-CN" altLang="en-US"/>
              <a:t>、平台运营与维护人员：制定推广策略，利用校园内的宣传渠道进行推广。定期收集用户反馈，对平台进行优化和改进。根据市场变化和用户需求，更新平台功能，保持平台的竞争力。</a:t>
            </a:r>
          </a:p>
          <a:p>
            <a:pPr lvl="1">
              <a:lnSpc>
                <a:spcPct val="180000"/>
              </a:lnSpc>
            </a:pPr>
            <a:endParaRPr lang="zh-CN" altLang="en-US"/>
          </a:p>
          <a:p>
            <a:pPr lvl="1">
              <a:lnSpc>
                <a:spcPct val="180000"/>
              </a:lnSpc>
            </a:pPr>
            <a:r>
              <a:rPr lang="en-US" altLang="zh-CN"/>
              <a:t>3</a:t>
            </a:r>
            <a:r>
              <a:rPr lang="zh-CN" altLang="en-US"/>
              <a:t>、后端开发人员：</a:t>
            </a:r>
            <a:r>
              <a:rPr lang="en-US" altLang="zh-CN" err="1"/>
              <a:t>选择合适的后端框架（如SpringBoot）搭建后端服务</a:t>
            </a:r>
            <a:r>
              <a:rPr lang="zh-CN" altLang="en-US"/>
              <a:t>。设计并创建数据库，包含用户表、商品表、交易记录表等。确定表之间的关系，如用户与商品的关联、交易记录与用户和商品的关联等。</a:t>
            </a:r>
          </a:p>
        </p:txBody>
      </p:sp>
      <p:grpSp>
        <p:nvGrpSpPr>
          <p:cNvPr id="7" name="组合 6"/>
          <p:cNvGrpSpPr/>
          <p:nvPr/>
        </p:nvGrpSpPr>
        <p:grpSpPr>
          <a:xfrm>
            <a:off x="7873048" y="196632"/>
            <a:ext cx="1160780" cy="368300"/>
            <a:chOff x="8564" y="332"/>
            <a:chExt cx="1828" cy="580"/>
          </a:xfrm>
        </p:grpSpPr>
        <p:sp>
          <p:nvSpPr>
            <p:cNvPr id="8" name="流程图: 终止 7"/>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技术实现</a:t>
              </a:r>
            </a:p>
          </p:txBody>
        </p:sp>
        <p:grpSp>
          <p:nvGrpSpPr>
            <p:cNvPr id="9" name="组合 8"/>
            <p:cNvGrpSpPr/>
            <p:nvPr/>
          </p:nvGrpSpPr>
          <p:grpSpPr>
            <a:xfrm>
              <a:off x="10095" y="494"/>
              <a:ext cx="258" cy="256"/>
              <a:chOff x="13432" y="491"/>
              <a:chExt cx="258" cy="256"/>
            </a:xfrm>
          </p:grpSpPr>
          <p:sp>
            <p:nvSpPr>
              <p:cNvPr id="10" name="椭圆 9"/>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11" name="组合 10"/>
              <p:cNvGrpSpPr/>
              <p:nvPr/>
            </p:nvGrpSpPr>
            <p:grpSpPr>
              <a:xfrm>
                <a:off x="13516" y="535"/>
                <a:ext cx="134" cy="168"/>
                <a:chOff x="13507" y="548"/>
                <a:chExt cx="134" cy="168"/>
              </a:xfrm>
            </p:grpSpPr>
            <p:cxnSp>
              <p:nvCxnSpPr>
                <p:cNvPr id="12" name="直接连接符 11"/>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4" name="组合 13"/>
          <p:cNvGrpSpPr/>
          <p:nvPr/>
        </p:nvGrpSpPr>
        <p:grpSpPr>
          <a:xfrm>
            <a:off x="6981825" y="204887"/>
            <a:ext cx="937260" cy="360045"/>
            <a:chOff x="11503" y="342"/>
            <a:chExt cx="1476" cy="567"/>
          </a:xfrm>
        </p:grpSpPr>
        <p:sp>
          <p:nvSpPr>
            <p:cNvPr id="15" name="流程图: 终止 14"/>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6" name="直接连接符 15"/>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9011285" y="213778"/>
            <a:ext cx="905510" cy="360045"/>
            <a:chOff x="12733" y="342"/>
            <a:chExt cx="1426" cy="567"/>
          </a:xfrm>
        </p:grpSpPr>
        <p:sp>
          <p:nvSpPr>
            <p:cNvPr id="18" name="流程图: 终止 17"/>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19" name="直接连接符 18"/>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9795510" y="204888"/>
            <a:ext cx="886460" cy="360045"/>
            <a:chOff x="14049" y="346"/>
            <a:chExt cx="1396" cy="567"/>
          </a:xfrm>
        </p:grpSpPr>
        <p:sp>
          <p:nvSpPr>
            <p:cNvPr id="21" name="流程图: 终止 20"/>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2" name="直接连接符 21"/>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10560685" y="213778"/>
            <a:ext cx="923290" cy="360045"/>
            <a:chOff x="15251" y="346"/>
            <a:chExt cx="1454" cy="567"/>
          </a:xfrm>
        </p:grpSpPr>
        <p:sp>
          <p:nvSpPr>
            <p:cNvPr id="24" name="流程图: 终止 23"/>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25" name="直接连接符 24"/>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191250" y="207428"/>
            <a:ext cx="899160" cy="359410"/>
            <a:chOff x="10314" y="342"/>
            <a:chExt cx="1416" cy="566"/>
          </a:xfrm>
        </p:grpSpPr>
        <p:sp>
          <p:nvSpPr>
            <p:cNvPr id="27" name="流程图: 终止 26"/>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8" name="直接连接符 27"/>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竞争对手</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a:t>
            </a:r>
            <a:r>
              <a:rPr lang="en-US" altLang="zh-CN" sz="3200" spc="400">
                <a:solidFill>
                  <a:schemeClr val="tx1">
                    <a:lumMod val="85000"/>
                    <a:lumOff val="15000"/>
                  </a:schemeClr>
                </a:solidFill>
                <a:latin typeface="Arial" panose="020B0604020202020204" pitchFamily="34" charset="0"/>
                <a:ea typeface="汉仪旗黑-85S" panose="00020600040101010101" pitchFamily="18" charset="-122"/>
                <a:cs typeface="+mj-cs"/>
                <a:sym typeface="+mn-lt"/>
              </a:rPr>
              <a:t>4</a:t>
            </a:r>
            <a:endParaRPr lang="en-US" altLang="zh-CN"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443234"/>
            <a:ext cx="1810851" cy="441964"/>
          </a:xfrm>
        </p:spPr>
        <p:txBody>
          <a:bodyPr>
            <a:normAutofit fontScale="90000"/>
          </a:bodyPr>
          <a:lstStyle/>
          <a:p>
            <a:r>
              <a:rPr lang="zh-CN" altLang="en-US"/>
              <a:t>机会和市场</a:t>
            </a:r>
          </a:p>
        </p:txBody>
      </p:sp>
      <p:pic>
        <p:nvPicPr>
          <p:cNvPr id="3" name="图片 2" descr="QQ_1744007066240"/>
          <p:cNvPicPr>
            <a:picLocks noChangeAspect="1"/>
          </p:cNvPicPr>
          <p:nvPr/>
        </p:nvPicPr>
        <p:blipFill>
          <a:blip r:embed="rId4"/>
          <a:stretch>
            <a:fillRect/>
          </a:stretch>
        </p:blipFill>
        <p:spPr>
          <a:xfrm>
            <a:off x="7694930" y="1511617"/>
            <a:ext cx="4083685" cy="2384425"/>
          </a:xfrm>
          <a:prstGeom prst="rect">
            <a:avLst/>
          </a:prstGeom>
        </p:spPr>
      </p:pic>
      <p:sp>
        <p:nvSpPr>
          <p:cNvPr id="5" name="文本框 4"/>
          <p:cNvSpPr txBox="1"/>
          <p:nvPr/>
        </p:nvSpPr>
        <p:spPr>
          <a:xfrm>
            <a:off x="1019175" y="1175385"/>
            <a:ext cx="6579235" cy="1630045"/>
          </a:xfrm>
          <a:prstGeom prst="rect">
            <a:avLst/>
          </a:prstGeom>
          <a:noFill/>
        </p:spPr>
        <p:txBody>
          <a:bodyPr wrap="none" rtlCol="0">
            <a:spAutoFit/>
          </a:bodyPr>
          <a:lstStyle/>
          <a:p>
            <a:pPr algn="l"/>
            <a:r>
              <a:rPr sz="2000">
                <a:sym typeface="+mn-ea"/>
              </a:rPr>
              <a:t>• 中国二手电商市场规模超3000亿，年增速超15%</a:t>
            </a:r>
          </a:p>
          <a:p>
            <a:pPr algn="l"/>
            <a:r>
              <a:rPr sz="2000">
                <a:sym typeface="+mn-ea"/>
              </a:rPr>
              <a:t>• 高校校园二手交易仍处于低渗透、低集中状态</a:t>
            </a:r>
          </a:p>
          <a:p>
            <a:pPr algn="l"/>
            <a:r>
              <a:rPr sz="2000">
                <a:sym typeface="+mn-ea"/>
              </a:rPr>
              <a:t>• 数字化工具与实名制技术为校园 C2C 平台提供落地可能</a:t>
            </a:r>
          </a:p>
          <a:p>
            <a:pPr algn="l"/>
            <a:r>
              <a:rPr sz="2000">
                <a:sym typeface="+mn-ea"/>
              </a:rPr>
              <a:t>• 存量市场巨大，尤其毕业季、入学季呈爆发式增长</a:t>
            </a:r>
          </a:p>
          <a:p>
            <a:endParaRPr lang="zh-CN" altLang="en-US" sz="2000"/>
          </a:p>
        </p:txBody>
      </p:sp>
      <p:graphicFrame>
        <p:nvGraphicFramePr>
          <p:cNvPr id="7" name="Chart 3"/>
          <p:cNvGraphicFramePr>
            <a:graphicFrameLocks noGrp="1"/>
          </p:cNvGraphicFramePr>
          <p:nvPr>
            <p:extLst>
              <p:ext uri="{D42A27DB-BD31-4B8C-83A1-F6EECF244321}">
                <p14:modId xmlns:p14="http://schemas.microsoft.com/office/powerpoint/2010/main" val="3345198318"/>
              </p:ext>
            </p:extLst>
          </p:nvPr>
        </p:nvGraphicFramePr>
        <p:xfrm>
          <a:off x="413385" y="2914121"/>
          <a:ext cx="6717030" cy="3644265"/>
        </p:xfrm>
        <a:graphic>
          <a:graphicData uri="http://schemas.openxmlformats.org/drawingml/2006/chart">
            <c:chart xmlns:c="http://schemas.openxmlformats.org/drawingml/2006/chart" xmlns:r="http://schemas.openxmlformats.org/officeDocument/2006/relationships" r:id="rId5"/>
          </a:graphicData>
        </a:graphic>
      </p:graphicFrame>
      <p:grpSp>
        <p:nvGrpSpPr>
          <p:cNvPr id="8" name="组合 7"/>
          <p:cNvGrpSpPr/>
          <p:nvPr/>
        </p:nvGrpSpPr>
        <p:grpSpPr>
          <a:xfrm>
            <a:off x="8680873" y="187742"/>
            <a:ext cx="1160780" cy="368300"/>
            <a:chOff x="8564" y="332"/>
            <a:chExt cx="1828" cy="580"/>
          </a:xfrm>
        </p:grpSpPr>
        <p:sp>
          <p:nvSpPr>
            <p:cNvPr id="9" name="流程图: 终止 8"/>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竞争对手</a:t>
              </a:r>
            </a:p>
          </p:txBody>
        </p:sp>
        <p:grpSp>
          <p:nvGrpSpPr>
            <p:cNvPr id="10" name="组合 9"/>
            <p:cNvGrpSpPr/>
            <p:nvPr/>
          </p:nvGrpSpPr>
          <p:grpSpPr>
            <a:xfrm>
              <a:off x="10095" y="494"/>
              <a:ext cx="258" cy="256"/>
              <a:chOff x="13432" y="491"/>
              <a:chExt cx="258" cy="256"/>
            </a:xfrm>
          </p:grpSpPr>
          <p:sp>
            <p:nvSpPr>
              <p:cNvPr id="11" name="椭圆 10"/>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12" name="组合 11"/>
              <p:cNvGrpSpPr/>
              <p:nvPr/>
            </p:nvGrpSpPr>
            <p:grpSpPr>
              <a:xfrm>
                <a:off x="13516" y="535"/>
                <a:ext cx="134" cy="168"/>
                <a:chOff x="13507" y="548"/>
                <a:chExt cx="134" cy="168"/>
              </a:xfrm>
            </p:grpSpPr>
            <p:cxnSp>
              <p:nvCxnSpPr>
                <p:cNvPr id="13" name="直接连接符 12"/>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5" name="组合 14"/>
          <p:cNvGrpSpPr/>
          <p:nvPr/>
        </p:nvGrpSpPr>
        <p:grpSpPr>
          <a:xfrm>
            <a:off x="6981825" y="204887"/>
            <a:ext cx="937260" cy="360045"/>
            <a:chOff x="11503" y="342"/>
            <a:chExt cx="1476" cy="567"/>
          </a:xfrm>
        </p:grpSpPr>
        <p:sp>
          <p:nvSpPr>
            <p:cNvPr id="16" name="流程图: 终止 15"/>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7" name="直接连接符 16"/>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798435" y="195997"/>
            <a:ext cx="905510" cy="360045"/>
            <a:chOff x="12733" y="342"/>
            <a:chExt cx="1426" cy="567"/>
          </a:xfrm>
        </p:grpSpPr>
        <p:sp>
          <p:nvSpPr>
            <p:cNvPr id="19" name="流程图: 终止 18"/>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20" name="直接连接符 19"/>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9795510" y="204888"/>
            <a:ext cx="886460" cy="360045"/>
            <a:chOff x="14049" y="346"/>
            <a:chExt cx="1396" cy="567"/>
          </a:xfrm>
        </p:grpSpPr>
        <p:sp>
          <p:nvSpPr>
            <p:cNvPr id="22" name="流程图: 终止 21"/>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3" name="直接连接符 22"/>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0560685" y="213778"/>
            <a:ext cx="923290" cy="360045"/>
            <a:chOff x="15251" y="346"/>
            <a:chExt cx="1454" cy="567"/>
          </a:xfrm>
        </p:grpSpPr>
        <p:sp>
          <p:nvSpPr>
            <p:cNvPr id="25" name="流程图: 终止 24"/>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26" name="直接连接符 25"/>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6191250" y="207428"/>
            <a:ext cx="899160" cy="359410"/>
            <a:chOff x="10314" y="342"/>
            <a:chExt cx="1416" cy="566"/>
          </a:xfrm>
        </p:grpSpPr>
        <p:sp>
          <p:nvSpPr>
            <p:cNvPr id="28" name="流程图: 终止 27"/>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9" name="直接连接符 28"/>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pic>
        <p:nvPicPr>
          <p:cNvPr id="30" name="图片 29" descr="2021年中国二手交易平台市场分析报告-产业竞争格局与未来动向研究_观研报告网">
            <a:extLst>
              <a:ext uri="{FF2B5EF4-FFF2-40B4-BE49-F238E27FC236}">
                <a16:creationId xmlns:a16="http://schemas.microsoft.com/office/drawing/2014/main" id="{64690C53-A9A5-47EC-90D7-8AEFF181A9EE}"/>
              </a:ext>
            </a:extLst>
          </p:cNvPr>
          <p:cNvPicPr/>
          <p:nvPr/>
        </p:nvPicPr>
        <p:blipFill>
          <a:blip r:embed="rId6">
            <a:extLst>
              <a:ext uri="{28A0092B-C50C-407E-A947-70E740481C1C}">
                <a14:useLocalDpi xmlns:a14="http://schemas.microsoft.com/office/drawing/2010/main" val="0"/>
              </a:ext>
            </a:extLst>
          </a:blip>
          <a:srcRect/>
          <a:stretch>
            <a:fillRect/>
          </a:stretch>
        </p:blipFill>
        <p:spPr bwMode="auto">
          <a:xfrm>
            <a:off x="7450137" y="4220215"/>
            <a:ext cx="4169622" cy="2384426"/>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3" y="443234"/>
            <a:ext cx="1675384" cy="441964"/>
          </a:xfrm>
        </p:spPr>
        <p:txBody>
          <a:bodyPr>
            <a:normAutofit fontScale="90000"/>
          </a:bodyPr>
          <a:lstStyle/>
          <a:p>
            <a:r>
              <a:rPr lang="zh-CN" altLang="en-US"/>
              <a:t>竞争对手</a:t>
            </a:r>
          </a:p>
        </p:txBody>
      </p:sp>
      <p:sp>
        <p:nvSpPr>
          <p:cNvPr id="4" name="文本框 3"/>
          <p:cNvSpPr txBox="1"/>
          <p:nvPr/>
        </p:nvSpPr>
        <p:spPr>
          <a:xfrm>
            <a:off x="274955" y="1080135"/>
            <a:ext cx="5511800" cy="2348865"/>
          </a:xfrm>
          <a:prstGeom prst="rect">
            <a:avLst/>
          </a:prstGeom>
          <a:noFill/>
        </p:spPr>
        <p:txBody>
          <a:bodyPr wrap="square" rtlCol="0">
            <a:noAutofit/>
          </a:bodyPr>
          <a:lstStyle/>
          <a:p>
            <a:pPr lvl="1"/>
            <a:r>
              <a:rPr lang="zh-CN" altLang="en-US"/>
              <a:t>闲鱼：交易类别综合性高，面向群体广，</a:t>
            </a:r>
          </a:p>
          <a:p>
            <a:pPr lvl="1"/>
            <a:r>
              <a:rPr>
                <a:sym typeface="+mn-ea"/>
              </a:rPr>
              <a:t>但信息杂乱、身份不清</a:t>
            </a:r>
            <a:r>
              <a:rPr lang="zh-CN">
                <a:sym typeface="+mn-ea"/>
              </a:rPr>
              <a:t>。信息搜集成本高</a:t>
            </a:r>
            <a:endParaRPr lang="zh-CN" altLang="en-US"/>
          </a:p>
          <a:p>
            <a:pPr lvl="1"/>
            <a:r>
              <a:rPr lang="zh-CN" altLang="en-US"/>
              <a:t>转转：</a:t>
            </a:r>
            <a:r>
              <a:rPr lang="zh-CN" altLang="en-US">
                <a:sym typeface="+mn-ea"/>
              </a:rPr>
              <a:t>主要面向二手电器交易，</a:t>
            </a:r>
            <a:r>
              <a:rPr>
                <a:sym typeface="+mn-ea"/>
              </a:rPr>
              <a:t>校园适配度低</a:t>
            </a:r>
            <a:r>
              <a:rPr lang="zh-CN" altLang="en-US">
                <a:sym typeface="+mn-ea"/>
              </a:rPr>
              <a:t>。</a:t>
            </a:r>
          </a:p>
          <a:p>
            <a:pPr lvl="1"/>
            <a:r>
              <a:rPr lang="zh-CN" altLang="en-US"/>
              <a:t>瓜子二手车：资源丰富，面向车辆交易，提供验车服务。</a:t>
            </a:r>
          </a:p>
          <a:p>
            <a:pPr lvl="1"/>
            <a:r>
              <a:rPr lang="zh-CN" altLang="en-US"/>
              <a:t>旧书街：专注于二手书交易，用户群体明确</a:t>
            </a:r>
          </a:p>
          <a:p>
            <a:pPr lvl="1"/>
            <a:r>
              <a:rPr>
                <a:sym typeface="+mn-ea"/>
              </a:rPr>
              <a:t>校易通：专注高校场景，定位清晰，</a:t>
            </a:r>
          </a:p>
          <a:p>
            <a:pPr lvl="1"/>
            <a:r>
              <a:rPr>
                <a:sym typeface="+mn-ea"/>
              </a:rPr>
              <a:t>身份可信、服务定制化</a:t>
            </a:r>
          </a:p>
          <a:p>
            <a:pPr lvl="1"/>
            <a:endParaRPr lang="zh-CN" altLang="en-US"/>
          </a:p>
        </p:txBody>
      </p:sp>
      <p:graphicFrame>
        <p:nvGraphicFramePr>
          <p:cNvPr id="3" name="Table 3"/>
          <p:cNvGraphicFramePr>
            <a:graphicFrameLocks noGrp="1"/>
          </p:cNvGraphicFramePr>
          <p:nvPr>
            <p:custDataLst>
              <p:tags r:id="rId2"/>
            </p:custDataLst>
          </p:nvPr>
        </p:nvGraphicFramePr>
        <p:xfrm>
          <a:off x="1061085" y="4554855"/>
          <a:ext cx="7820025" cy="1480820"/>
        </p:xfrm>
        <a:graphic>
          <a:graphicData uri="http://schemas.openxmlformats.org/drawingml/2006/table">
            <a:tbl>
              <a:tblPr firstRow="1" bandRow="1">
                <a:tableStyleId>{5C22544A-7EE6-4342-B048-85BDC9FD1C3A}</a:tableStyleId>
              </a:tblPr>
              <a:tblGrid>
                <a:gridCol w="1757045">
                  <a:extLst>
                    <a:ext uri="{9D8B030D-6E8A-4147-A177-3AD203B41FA5}">
                      <a16:colId xmlns:a16="http://schemas.microsoft.com/office/drawing/2014/main" val="20000"/>
                    </a:ext>
                  </a:extLst>
                </a:gridCol>
                <a:gridCol w="2021205">
                  <a:extLst>
                    <a:ext uri="{9D8B030D-6E8A-4147-A177-3AD203B41FA5}">
                      <a16:colId xmlns:a16="http://schemas.microsoft.com/office/drawing/2014/main" val="20001"/>
                    </a:ext>
                  </a:extLst>
                </a:gridCol>
                <a:gridCol w="2020570">
                  <a:extLst>
                    <a:ext uri="{9D8B030D-6E8A-4147-A177-3AD203B41FA5}">
                      <a16:colId xmlns:a16="http://schemas.microsoft.com/office/drawing/2014/main" val="20002"/>
                    </a:ext>
                  </a:extLst>
                </a:gridCol>
                <a:gridCol w="2021205">
                  <a:extLst>
                    <a:ext uri="{9D8B030D-6E8A-4147-A177-3AD203B41FA5}">
                      <a16:colId xmlns:a16="http://schemas.microsoft.com/office/drawing/2014/main" val="20003"/>
                    </a:ext>
                  </a:extLst>
                </a:gridCol>
              </a:tblGrid>
              <a:tr h="370205">
                <a:tc>
                  <a:txBody>
                    <a:bodyPr/>
                    <a:lstStyle/>
                    <a:p>
                      <a:pPr algn="ctr">
                        <a:defRPr sz="1400"/>
                      </a:pPr>
                      <a:r>
                        <a:t>平台</a:t>
                      </a:r>
                    </a:p>
                  </a:txBody>
                  <a:tcPr/>
                </a:tc>
                <a:tc>
                  <a:txBody>
                    <a:bodyPr/>
                    <a:lstStyle/>
                    <a:p>
                      <a:pPr algn="ctr">
                        <a:defRPr sz="1400"/>
                      </a:pPr>
                      <a:r>
                        <a:t>校园适配度</a:t>
                      </a:r>
                    </a:p>
                  </a:txBody>
                  <a:tcPr/>
                </a:tc>
                <a:tc>
                  <a:txBody>
                    <a:bodyPr/>
                    <a:lstStyle/>
                    <a:p>
                      <a:pPr algn="ctr">
                        <a:defRPr sz="1400"/>
                      </a:pPr>
                      <a:r>
                        <a:t>交易安全性</a:t>
                      </a:r>
                    </a:p>
                  </a:txBody>
                  <a:tcPr/>
                </a:tc>
                <a:tc>
                  <a:txBody>
                    <a:bodyPr/>
                    <a:lstStyle/>
                    <a:p>
                      <a:pPr algn="ctr">
                        <a:defRPr sz="1400"/>
                      </a:pPr>
                      <a:r>
                        <a:t>服务多样性</a:t>
                      </a:r>
                    </a:p>
                  </a:txBody>
                  <a:tcPr/>
                </a:tc>
                <a:extLst>
                  <a:ext uri="{0D108BD9-81ED-4DB2-BD59-A6C34878D82A}">
                    <a16:rowId xmlns:a16="http://schemas.microsoft.com/office/drawing/2014/main" val="10000"/>
                  </a:ext>
                </a:extLst>
              </a:tr>
              <a:tr h="370205">
                <a:tc>
                  <a:txBody>
                    <a:bodyPr/>
                    <a:lstStyle/>
                    <a:p>
                      <a:pPr algn="ctr">
                        <a:defRPr sz="1400"/>
                      </a:pPr>
                      <a:r>
                        <a:t>闲鱼</a:t>
                      </a:r>
                    </a:p>
                  </a:txBody>
                  <a:tcPr/>
                </a:tc>
                <a:tc>
                  <a:txBody>
                    <a:bodyPr/>
                    <a:lstStyle/>
                    <a:p>
                      <a:pPr algn="ctr">
                        <a:defRPr sz="1400"/>
                      </a:pPr>
                      <a:r>
                        <a:t>中</a:t>
                      </a:r>
                    </a:p>
                  </a:txBody>
                  <a:tcPr/>
                </a:tc>
                <a:tc>
                  <a:txBody>
                    <a:bodyPr/>
                    <a:lstStyle/>
                    <a:p>
                      <a:pPr algn="ctr">
                        <a:defRPr sz="1400"/>
                      </a:pPr>
                      <a:r>
                        <a:t>低</a:t>
                      </a:r>
                    </a:p>
                  </a:txBody>
                  <a:tcPr/>
                </a:tc>
                <a:tc>
                  <a:txBody>
                    <a:bodyPr/>
                    <a:lstStyle/>
                    <a:p>
                      <a:pPr algn="ctr">
                        <a:defRPr sz="1400"/>
                      </a:pPr>
                      <a:r>
                        <a:t>高</a:t>
                      </a:r>
                    </a:p>
                  </a:txBody>
                  <a:tcPr/>
                </a:tc>
                <a:extLst>
                  <a:ext uri="{0D108BD9-81ED-4DB2-BD59-A6C34878D82A}">
                    <a16:rowId xmlns:a16="http://schemas.microsoft.com/office/drawing/2014/main" val="10001"/>
                  </a:ext>
                </a:extLst>
              </a:tr>
              <a:tr h="370205">
                <a:tc>
                  <a:txBody>
                    <a:bodyPr/>
                    <a:lstStyle/>
                    <a:p>
                      <a:pPr algn="ctr">
                        <a:defRPr sz="1400"/>
                      </a:pPr>
                      <a:r>
                        <a:t>转转</a:t>
                      </a:r>
                    </a:p>
                  </a:txBody>
                  <a:tcPr/>
                </a:tc>
                <a:tc>
                  <a:txBody>
                    <a:bodyPr/>
                    <a:lstStyle/>
                    <a:p>
                      <a:pPr algn="ctr">
                        <a:defRPr sz="1400"/>
                      </a:pPr>
                      <a:r>
                        <a:t>低</a:t>
                      </a:r>
                    </a:p>
                  </a:txBody>
                  <a:tcPr/>
                </a:tc>
                <a:tc>
                  <a:txBody>
                    <a:bodyPr/>
                    <a:lstStyle/>
                    <a:p>
                      <a:pPr algn="ctr">
                        <a:defRPr sz="1400"/>
                      </a:pPr>
                      <a:r>
                        <a:t>中</a:t>
                      </a:r>
                    </a:p>
                  </a:txBody>
                  <a:tcPr/>
                </a:tc>
                <a:tc>
                  <a:txBody>
                    <a:bodyPr/>
                    <a:lstStyle/>
                    <a:p>
                      <a:pPr algn="ctr">
                        <a:defRPr sz="1400"/>
                      </a:pPr>
                      <a:r>
                        <a:t>中</a:t>
                      </a:r>
                    </a:p>
                  </a:txBody>
                  <a:tcPr/>
                </a:tc>
                <a:extLst>
                  <a:ext uri="{0D108BD9-81ED-4DB2-BD59-A6C34878D82A}">
                    <a16:rowId xmlns:a16="http://schemas.microsoft.com/office/drawing/2014/main" val="10002"/>
                  </a:ext>
                </a:extLst>
              </a:tr>
              <a:tr h="370205">
                <a:tc>
                  <a:txBody>
                    <a:bodyPr/>
                    <a:lstStyle/>
                    <a:p>
                      <a:pPr algn="ctr">
                        <a:defRPr sz="1400"/>
                      </a:pPr>
                      <a:r>
                        <a:t>校易通</a:t>
                      </a:r>
                    </a:p>
                  </a:txBody>
                  <a:tcPr/>
                </a:tc>
                <a:tc>
                  <a:txBody>
                    <a:bodyPr/>
                    <a:lstStyle/>
                    <a:p>
                      <a:pPr algn="ctr">
                        <a:defRPr sz="1400"/>
                      </a:pPr>
                      <a:r>
                        <a:t>高</a:t>
                      </a:r>
                    </a:p>
                  </a:txBody>
                  <a:tcPr/>
                </a:tc>
                <a:tc>
                  <a:txBody>
                    <a:bodyPr/>
                    <a:lstStyle/>
                    <a:p>
                      <a:pPr algn="ctr">
                        <a:defRPr sz="1400"/>
                      </a:pPr>
                      <a:r>
                        <a:t>高</a:t>
                      </a:r>
                    </a:p>
                  </a:txBody>
                  <a:tcPr/>
                </a:tc>
                <a:tc>
                  <a:txBody>
                    <a:bodyPr/>
                    <a:lstStyle/>
                    <a:p>
                      <a:pPr algn="ctr">
                        <a:defRPr sz="1400"/>
                      </a:pPr>
                      <a:r>
                        <a:t>高</a:t>
                      </a:r>
                    </a:p>
                  </a:txBody>
                  <a:tcPr/>
                </a:tc>
                <a:extLst>
                  <a:ext uri="{0D108BD9-81ED-4DB2-BD59-A6C34878D82A}">
                    <a16:rowId xmlns:a16="http://schemas.microsoft.com/office/drawing/2014/main" val="10003"/>
                  </a:ext>
                </a:extLst>
              </a:tr>
            </a:tbl>
          </a:graphicData>
        </a:graphic>
      </p:graphicFrame>
      <p:graphicFrame>
        <p:nvGraphicFramePr>
          <p:cNvPr id="5" name="Chart 3"/>
          <p:cNvGraphicFramePr>
            <a:graphicFrameLocks noGrp="1"/>
          </p:cNvGraphicFramePr>
          <p:nvPr/>
        </p:nvGraphicFramePr>
        <p:xfrm>
          <a:off x="5659120" y="443230"/>
          <a:ext cx="5895975" cy="3977005"/>
        </p:xfrm>
        <a:graphic>
          <a:graphicData uri="http://schemas.openxmlformats.org/drawingml/2006/chart">
            <c:chart xmlns:c="http://schemas.openxmlformats.org/drawingml/2006/chart" xmlns:r="http://schemas.openxmlformats.org/officeDocument/2006/relationships" r:id="rId5"/>
          </a:graphicData>
        </a:graphic>
      </p:graphicFrame>
      <p:sp>
        <p:nvSpPr>
          <p:cNvPr id="6" name="标题 1"/>
          <p:cNvSpPr txBox="1"/>
          <p:nvPr/>
        </p:nvSpPr>
        <p:spPr>
          <a:xfrm>
            <a:off x="5659120" y="601343"/>
            <a:ext cx="6274012" cy="441964"/>
          </a:xfrm>
          <a:prstGeom prst="rect">
            <a:avLst/>
          </a:prstGeom>
        </p:spPr>
        <p:txBody>
          <a:bodyPr vert="horz" wrap="square" lIns="90170" tIns="46990" rIns="90170" bIns="46990" rtlCol="0" anchor="ctr" anchorCtr="0">
            <a:noAutofit/>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algn="ctr" rtl="0">
              <a:defRPr lang="zh-CN" sz="2160" b="1" i="0" u="none" strike="noStrike" kern="1200" baseline="0">
                <a:solidFill>
                  <a:srgbClr val="000000"/>
                </a:solidFill>
                <a:latin typeface="+mn-lt"/>
                <a:ea typeface="+mn-ea"/>
                <a:cs typeface="+mn-cs"/>
              </a:defRPr>
            </a:pPr>
            <a:r>
              <a:rPr lang="zh-CN" altLang="en-US">
                <a:latin typeface="+mj-ea"/>
                <a:ea typeface="+mj-ea"/>
              </a:rPr>
              <a:t>校园</a:t>
            </a:r>
            <a:r>
              <a:rPr lang="en-US" altLang="zh-CN">
                <a:latin typeface="+mj-ea"/>
                <a:ea typeface="+mj-ea"/>
              </a:rPr>
              <a:t>C2C</a:t>
            </a:r>
            <a:r>
              <a:rPr lang="zh-CN" altLang="en-US">
                <a:latin typeface="+mj-ea"/>
                <a:ea typeface="+mj-ea"/>
              </a:rPr>
              <a:t>平台功能评分对比（满分</a:t>
            </a:r>
            <a:r>
              <a:rPr lang="en-US" altLang="zh-CN">
                <a:latin typeface="+mj-ea"/>
                <a:ea typeface="+mj-ea"/>
              </a:rPr>
              <a:t>5</a:t>
            </a:r>
            <a:r>
              <a:rPr lang="zh-CN" altLang="en-US">
                <a:latin typeface="+mj-ea"/>
                <a:ea typeface="+mj-ea"/>
              </a:rPr>
              <a:t>分）</a:t>
            </a:r>
          </a:p>
        </p:txBody>
      </p:sp>
      <p:grpSp>
        <p:nvGrpSpPr>
          <p:cNvPr id="8" name="组合 7"/>
          <p:cNvGrpSpPr/>
          <p:nvPr/>
        </p:nvGrpSpPr>
        <p:grpSpPr>
          <a:xfrm>
            <a:off x="8683942" y="195997"/>
            <a:ext cx="1160780" cy="368300"/>
            <a:chOff x="8564" y="332"/>
            <a:chExt cx="1828" cy="580"/>
          </a:xfrm>
        </p:grpSpPr>
        <p:sp>
          <p:nvSpPr>
            <p:cNvPr id="9" name="流程图: 终止 8"/>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竞争对手</a:t>
              </a:r>
            </a:p>
          </p:txBody>
        </p:sp>
        <p:grpSp>
          <p:nvGrpSpPr>
            <p:cNvPr id="10" name="组合 9"/>
            <p:cNvGrpSpPr/>
            <p:nvPr/>
          </p:nvGrpSpPr>
          <p:grpSpPr>
            <a:xfrm>
              <a:off x="10095" y="494"/>
              <a:ext cx="258" cy="256"/>
              <a:chOff x="13432" y="491"/>
              <a:chExt cx="258" cy="256"/>
            </a:xfrm>
          </p:grpSpPr>
          <p:sp>
            <p:nvSpPr>
              <p:cNvPr id="11" name="椭圆 10"/>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12" name="组合 11"/>
              <p:cNvGrpSpPr/>
              <p:nvPr/>
            </p:nvGrpSpPr>
            <p:grpSpPr>
              <a:xfrm>
                <a:off x="13516" y="535"/>
                <a:ext cx="134" cy="168"/>
                <a:chOff x="13507" y="548"/>
                <a:chExt cx="134" cy="168"/>
              </a:xfrm>
            </p:grpSpPr>
            <p:cxnSp>
              <p:nvCxnSpPr>
                <p:cNvPr id="13" name="直接连接符 12"/>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5" name="组合 14"/>
          <p:cNvGrpSpPr/>
          <p:nvPr/>
        </p:nvGrpSpPr>
        <p:grpSpPr>
          <a:xfrm>
            <a:off x="6981825" y="204887"/>
            <a:ext cx="937260" cy="360045"/>
            <a:chOff x="11503" y="342"/>
            <a:chExt cx="1476" cy="567"/>
          </a:xfrm>
        </p:grpSpPr>
        <p:sp>
          <p:nvSpPr>
            <p:cNvPr id="16" name="流程图: 终止 15"/>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7" name="直接连接符 16"/>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7767003" y="204252"/>
            <a:ext cx="905510" cy="360045"/>
            <a:chOff x="12733" y="342"/>
            <a:chExt cx="1426" cy="567"/>
          </a:xfrm>
        </p:grpSpPr>
        <p:sp>
          <p:nvSpPr>
            <p:cNvPr id="19" name="流程图: 终止 18"/>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20" name="直接连接符 19"/>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9795510" y="204888"/>
            <a:ext cx="886460" cy="360045"/>
            <a:chOff x="14049" y="346"/>
            <a:chExt cx="1396" cy="567"/>
          </a:xfrm>
        </p:grpSpPr>
        <p:sp>
          <p:nvSpPr>
            <p:cNvPr id="22" name="流程图: 终止 21"/>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3" name="直接连接符 22"/>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10560685" y="213778"/>
            <a:ext cx="923290" cy="360045"/>
            <a:chOff x="15251" y="346"/>
            <a:chExt cx="1454" cy="567"/>
          </a:xfrm>
        </p:grpSpPr>
        <p:sp>
          <p:nvSpPr>
            <p:cNvPr id="25" name="流程图: 终止 24"/>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26" name="直接连接符 25"/>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6191250" y="207428"/>
            <a:ext cx="899160" cy="359410"/>
            <a:chOff x="10314" y="342"/>
            <a:chExt cx="1416" cy="566"/>
          </a:xfrm>
        </p:grpSpPr>
        <p:sp>
          <p:nvSpPr>
            <p:cNvPr id="28" name="流程图: 终止 27"/>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9" name="直接连接符 28"/>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市场营销</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a:t>
            </a:r>
            <a:r>
              <a:rPr lang="en-US" altLang="zh-CN" sz="3200" spc="400">
                <a:solidFill>
                  <a:schemeClr val="tx1">
                    <a:lumMod val="85000"/>
                    <a:lumOff val="15000"/>
                  </a:schemeClr>
                </a:solidFill>
                <a:latin typeface="Arial" panose="020B0604020202020204" pitchFamily="34" charset="0"/>
                <a:ea typeface="汉仪旗黑-85S" panose="00020600040101010101" pitchFamily="18" charset="-122"/>
                <a:cs typeface="+mj-cs"/>
                <a:sym typeface="+mn-lt"/>
              </a:rPr>
              <a:t>5</a:t>
            </a:r>
            <a:endParaRPr lang="en-US" altLang="zh-CN"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443234"/>
            <a:ext cx="1472185" cy="441964"/>
          </a:xfrm>
        </p:spPr>
        <p:txBody>
          <a:bodyPr>
            <a:normAutofit fontScale="90000"/>
          </a:bodyPr>
          <a:lstStyle/>
          <a:p>
            <a:r>
              <a:rPr lang="zh-CN" altLang="en-US"/>
              <a:t>基本盈利</a:t>
            </a:r>
          </a:p>
        </p:txBody>
      </p:sp>
      <p:sp>
        <p:nvSpPr>
          <p:cNvPr id="100" name="文本框 99"/>
          <p:cNvSpPr txBox="1"/>
          <p:nvPr/>
        </p:nvSpPr>
        <p:spPr>
          <a:xfrm>
            <a:off x="3150235" y="1230630"/>
            <a:ext cx="8160385" cy="5035550"/>
          </a:xfrm>
          <a:prstGeom prst="rect">
            <a:avLst/>
          </a:prstGeom>
          <a:noFill/>
          <a:ln w="9525">
            <a:noFill/>
          </a:ln>
        </p:spPr>
        <p:txBody>
          <a:bodyPr wrap="square">
            <a:noAutofit/>
          </a:bodyPr>
          <a:lstStyle/>
          <a:p>
            <a:pPr lvl="1" algn="l">
              <a:lnSpc>
                <a:spcPct val="110000"/>
              </a:lnSpc>
              <a:buClrTx/>
              <a:buSzTx/>
              <a:buNone/>
            </a:pPr>
            <a:r>
              <a:rPr lang="zh-CN" altLang="en-US" sz="2400" b="0"/>
              <a:t>收取交易手续费，</a:t>
            </a:r>
            <a:r>
              <a:rPr sz="2400">
                <a:sym typeface="+mn-ea"/>
              </a:rPr>
              <a:t>每单抽取一定比例（如2%）</a:t>
            </a:r>
            <a:r>
              <a:rPr lang="zh-CN" sz="2400">
                <a:sym typeface="+mn-ea"/>
              </a:rPr>
              <a:t>，</a:t>
            </a:r>
            <a:r>
              <a:rPr lang="zh-CN" altLang="en-US" sz="2400" b="0"/>
              <a:t>提供卖家付费推广服务。并开展</a:t>
            </a:r>
            <a:r>
              <a:rPr sz="2400" err="1">
                <a:sym typeface="+mn-ea"/>
              </a:rPr>
              <a:t>广告位收入</a:t>
            </a:r>
            <a:r>
              <a:rPr lang="zh-CN" sz="2400">
                <a:sym typeface="+mn-ea"/>
              </a:rPr>
              <a:t>，</a:t>
            </a:r>
            <a:r>
              <a:rPr sz="2400" err="1">
                <a:sym typeface="+mn-ea"/>
              </a:rPr>
              <a:t>校内商家</a:t>
            </a:r>
            <a:r>
              <a:rPr sz="2400">
                <a:sym typeface="+mn-ea"/>
              </a:rPr>
              <a:t>/</a:t>
            </a:r>
            <a:r>
              <a:rPr sz="2400" err="1">
                <a:sym typeface="+mn-ea"/>
              </a:rPr>
              <a:t>活动推广资源变现</a:t>
            </a:r>
            <a:endParaRPr lang="zh-CN" altLang="en-US" sz="2400" b="0"/>
          </a:p>
          <a:p>
            <a:pPr lvl="1" algn="l">
              <a:lnSpc>
                <a:spcPct val="110000"/>
              </a:lnSpc>
              <a:buClrTx/>
              <a:buSzTx/>
              <a:buNone/>
            </a:pPr>
            <a:endParaRPr lang="zh-CN" altLang="en-US" sz="2400" b="0"/>
          </a:p>
          <a:p>
            <a:pPr lvl="1" algn="l">
              <a:lnSpc>
                <a:spcPct val="110000"/>
              </a:lnSpc>
              <a:buClrTx/>
              <a:buSzTx/>
              <a:buNone/>
            </a:pPr>
            <a:endParaRPr lang="zh-CN" altLang="en-US" sz="2400" b="0"/>
          </a:p>
          <a:p>
            <a:pPr lvl="1" algn="l">
              <a:lnSpc>
                <a:spcPct val="110000"/>
              </a:lnSpc>
              <a:buClrTx/>
              <a:buSzTx/>
              <a:buNone/>
            </a:pPr>
            <a:r>
              <a:rPr lang="zh-CN" altLang="en-US" sz="2400" b="0"/>
              <a:t>与校内商家（或学校）进行合作联名，赚取广告费。关联校外平台交易</a:t>
            </a:r>
          </a:p>
          <a:p>
            <a:pPr lvl="1" algn="l">
              <a:lnSpc>
                <a:spcPct val="110000"/>
              </a:lnSpc>
              <a:buClrTx/>
              <a:buSzTx/>
              <a:buNone/>
            </a:pPr>
            <a:endParaRPr lang="zh-CN" altLang="en-US" sz="2400" b="0"/>
          </a:p>
          <a:p>
            <a:pPr lvl="1" algn="l">
              <a:lnSpc>
                <a:spcPct val="110000"/>
              </a:lnSpc>
              <a:buClrTx/>
              <a:buSzTx/>
              <a:buNone/>
            </a:pPr>
            <a:endParaRPr lang="zh-CN" altLang="en-US" sz="2400" b="0"/>
          </a:p>
          <a:p>
            <a:pPr lvl="1" algn="l">
              <a:lnSpc>
                <a:spcPct val="110000"/>
              </a:lnSpc>
              <a:buClrTx/>
              <a:buSzTx/>
              <a:buNone/>
            </a:pPr>
            <a:r>
              <a:rPr lang="zh-CN" altLang="en-US" sz="2400" b="0"/>
              <a:t>扩展平台服务，提供</a:t>
            </a:r>
            <a:r>
              <a:rPr lang="en-US" altLang="zh-CN" sz="2400" b="0" err="1"/>
              <a:t>vip</a:t>
            </a:r>
            <a:r>
              <a:rPr lang="zh-CN" altLang="en-US" sz="2400" b="0"/>
              <a:t>会员服务（</a:t>
            </a:r>
            <a:r>
              <a:rPr sz="2400" err="1">
                <a:sym typeface="+mn-ea"/>
              </a:rPr>
              <a:t>解锁优先推荐、曝光排名等特权</a:t>
            </a:r>
            <a:r>
              <a:rPr lang="zh-CN" altLang="en-US" sz="2400" b="0"/>
              <a:t>），或代卖服务（</a:t>
            </a:r>
            <a:r>
              <a:rPr sz="2400" err="1">
                <a:sym typeface="+mn-ea"/>
              </a:rPr>
              <a:t>提供上门收物、统一销售服务</a:t>
            </a:r>
            <a:r>
              <a:rPr lang="zh-CN" altLang="en-US" sz="2400" b="0"/>
              <a:t>）</a:t>
            </a:r>
            <a:r>
              <a:rPr lang="zh-CN" altLang="en-US" b="0"/>
              <a:t>。</a:t>
            </a:r>
          </a:p>
        </p:txBody>
      </p:sp>
      <p:graphicFrame>
        <p:nvGraphicFramePr>
          <p:cNvPr id="3" name="图示 2"/>
          <p:cNvGraphicFramePr/>
          <p:nvPr/>
        </p:nvGraphicFramePr>
        <p:xfrm>
          <a:off x="600075" y="1230630"/>
          <a:ext cx="2827655" cy="47574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3" name="组合 12"/>
          <p:cNvGrpSpPr/>
          <p:nvPr/>
        </p:nvGrpSpPr>
        <p:grpSpPr>
          <a:xfrm>
            <a:off x="9482666" y="209650"/>
            <a:ext cx="1160780" cy="368300"/>
            <a:chOff x="8564" y="332"/>
            <a:chExt cx="1828" cy="580"/>
          </a:xfrm>
        </p:grpSpPr>
        <p:sp>
          <p:nvSpPr>
            <p:cNvPr id="14" name="流程图: 终止 13"/>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市场营销</a:t>
              </a:r>
            </a:p>
          </p:txBody>
        </p:sp>
        <p:grpSp>
          <p:nvGrpSpPr>
            <p:cNvPr id="15" name="组合 14"/>
            <p:cNvGrpSpPr/>
            <p:nvPr/>
          </p:nvGrpSpPr>
          <p:grpSpPr>
            <a:xfrm>
              <a:off x="10095" y="494"/>
              <a:ext cx="258" cy="256"/>
              <a:chOff x="13432" y="491"/>
              <a:chExt cx="258" cy="256"/>
            </a:xfrm>
          </p:grpSpPr>
          <p:sp>
            <p:nvSpPr>
              <p:cNvPr id="16" name="椭圆 15"/>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17" name="组合 16"/>
              <p:cNvGrpSpPr/>
              <p:nvPr/>
            </p:nvGrpSpPr>
            <p:grpSpPr>
              <a:xfrm>
                <a:off x="13516" y="535"/>
                <a:ext cx="134" cy="168"/>
                <a:chOff x="13507" y="548"/>
                <a:chExt cx="134" cy="168"/>
              </a:xfrm>
            </p:grpSpPr>
            <p:cxnSp>
              <p:nvCxnSpPr>
                <p:cNvPr id="18" name="直接连接符 17"/>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20" name="组合 19"/>
          <p:cNvGrpSpPr/>
          <p:nvPr/>
        </p:nvGrpSpPr>
        <p:grpSpPr>
          <a:xfrm>
            <a:off x="6981825" y="204887"/>
            <a:ext cx="937260" cy="360045"/>
            <a:chOff x="11503" y="342"/>
            <a:chExt cx="1476" cy="567"/>
          </a:xfrm>
        </p:grpSpPr>
        <p:sp>
          <p:nvSpPr>
            <p:cNvPr id="21" name="流程图: 终止 20"/>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22" name="直接连接符 21"/>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7832405" y="199164"/>
            <a:ext cx="905510" cy="360045"/>
            <a:chOff x="12733" y="342"/>
            <a:chExt cx="1426" cy="567"/>
          </a:xfrm>
        </p:grpSpPr>
        <p:sp>
          <p:nvSpPr>
            <p:cNvPr id="24" name="流程图: 终止 23"/>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25" name="直接连接符 24"/>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8654626" y="201705"/>
            <a:ext cx="886460" cy="360045"/>
            <a:chOff x="14049" y="346"/>
            <a:chExt cx="1396" cy="567"/>
          </a:xfrm>
        </p:grpSpPr>
        <p:sp>
          <p:nvSpPr>
            <p:cNvPr id="27" name="流程图: 终止 26"/>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28" name="直接连接符 27"/>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10560685" y="213778"/>
            <a:ext cx="923290" cy="360045"/>
            <a:chOff x="15251" y="346"/>
            <a:chExt cx="1454" cy="567"/>
          </a:xfrm>
        </p:grpSpPr>
        <p:sp>
          <p:nvSpPr>
            <p:cNvPr id="30" name="流程图: 终止 29"/>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31" name="直接连接符 30"/>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6191250" y="207428"/>
            <a:ext cx="899160" cy="359410"/>
            <a:chOff x="10314" y="342"/>
            <a:chExt cx="1416" cy="566"/>
          </a:xfrm>
        </p:grpSpPr>
        <p:sp>
          <p:nvSpPr>
            <p:cNvPr id="33" name="流程图: 终止 32"/>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34" name="直接连接符 33"/>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营销策略</a:t>
            </a:r>
          </a:p>
        </p:txBody>
      </p:sp>
      <p:sp>
        <p:nvSpPr>
          <p:cNvPr id="100" name="文本框 99"/>
          <p:cNvSpPr txBox="1"/>
          <p:nvPr/>
        </p:nvSpPr>
        <p:spPr>
          <a:xfrm>
            <a:off x="1420495" y="1104900"/>
            <a:ext cx="8979535" cy="5028565"/>
          </a:xfrm>
          <a:prstGeom prst="rect">
            <a:avLst/>
          </a:prstGeom>
          <a:noFill/>
          <a:ln w="9525">
            <a:noFill/>
          </a:ln>
        </p:spPr>
        <p:txBody>
          <a:bodyPr wrap="square">
            <a:noAutofit/>
          </a:bodyPr>
          <a:lstStyle/>
          <a:p>
            <a:pPr lvl="1" algn="l">
              <a:buClrTx/>
              <a:buSzTx/>
              <a:buNone/>
            </a:pPr>
            <a:r>
              <a:rPr lang="zh-CN" altLang="en-US" sz="2400" b="0"/>
              <a:t>种子用户获取：联合学生会举办“毕业季清仓大促”，免费帮毕业生寄卖；</a:t>
            </a:r>
          </a:p>
          <a:p>
            <a:pPr lvl="1" algn="l">
              <a:buClrTx/>
              <a:buSzTx/>
              <a:buNone/>
            </a:pPr>
            <a:endParaRPr lang="zh-CN" altLang="en-US" sz="2400" b="0"/>
          </a:p>
          <a:p>
            <a:pPr lvl="1" algn="l">
              <a:buClrTx/>
              <a:buSzTx/>
              <a:buNone/>
            </a:pPr>
            <a:r>
              <a:rPr sz="2400" err="1">
                <a:sym typeface="+mn-ea"/>
              </a:rPr>
              <a:t>校园大使计划：覆盖多所高校，深入班级社团</a:t>
            </a:r>
            <a:endParaRPr sz="2400">
              <a:sym typeface="+mn-ea"/>
            </a:endParaRPr>
          </a:p>
          <a:p>
            <a:pPr lvl="1" algn="l">
              <a:buClrTx/>
              <a:buSzTx/>
              <a:buNone/>
            </a:pPr>
            <a:endParaRPr sz="2400">
              <a:sym typeface="+mn-ea"/>
            </a:endParaRPr>
          </a:p>
          <a:p>
            <a:pPr lvl="1" algn="l">
              <a:buClrTx/>
              <a:buSzTx/>
              <a:buNone/>
            </a:pPr>
            <a:r>
              <a:rPr sz="2400" err="1">
                <a:sym typeface="+mn-ea"/>
              </a:rPr>
              <a:t>新生礼包机制：注册即送代金券，引导首次下单</a:t>
            </a:r>
            <a:endParaRPr sz="2400">
              <a:sym typeface="+mn-ea"/>
            </a:endParaRPr>
          </a:p>
          <a:p>
            <a:pPr lvl="1" algn="l">
              <a:buClrTx/>
              <a:buSzTx/>
              <a:buNone/>
            </a:pPr>
            <a:r>
              <a:rPr sz="2400" err="1">
                <a:sym typeface="+mn-ea"/>
              </a:rPr>
              <a:t>毕业季集中投放：线下摆摊、线上引流联动</a:t>
            </a:r>
            <a:endParaRPr sz="2400">
              <a:sym typeface="+mn-ea"/>
            </a:endParaRPr>
          </a:p>
          <a:p>
            <a:pPr lvl="1" algn="l">
              <a:buClrTx/>
              <a:buSzTx/>
              <a:buNone/>
            </a:pPr>
            <a:r>
              <a:rPr lang="zh-CN" altLang="en-US" sz="2400" b="0"/>
              <a:t>裂变机制：</a:t>
            </a:r>
            <a:r>
              <a:rPr sz="2400" err="1">
                <a:sym typeface="+mn-ea"/>
              </a:rPr>
              <a:t>转发立减、邀请返现机制</a:t>
            </a:r>
            <a:r>
              <a:rPr lang="zh-CN" sz="2400">
                <a:sym typeface="+mn-ea"/>
              </a:rPr>
              <a:t>，如</a:t>
            </a:r>
            <a:r>
              <a:rPr lang="zh-CN" altLang="en-US" sz="2400" b="0"/>
              <a:t>邀请3名好友注册得</a:t>
            </a:r>
            <a:r>
              <a:rPr lang="en-US" altLang="zh-CN" sz="2400" b="0"/>
              <a:t>5</a:t>
            </a:r>
            <a:r>
              <a:rPr lang="zh-CN" altLang="en-US" sz="2400" b="0"/>
              <a:t>元无门槛优惠券。</a:t>
            </a:r>
          </a:p>
          <a:p>
            <a:pPr lvl="1" algn="l">
              <a:buClrTx/>
              <a:buSzTx/>
              <a:buNone/>
            </a:pPr>
            <a:endParaRPr lang="zh-CN" altLang="en-US" sz="2400" b="0"/>
          </a:p>
          <a:p>
            <a:pPr lvl="1" algn="l">
              <a:buClrTx/>
              <a:buSzTx/>
              <a:buNone/>
            </a:pPr>
            <a:r>
              <a:rPr lang="zh-CN" altLang="en-US" sz="2400" b="0"/>
              <a:t>招募学生兼职配送员（每单3元，当日达）；</a:t>
            </a:r>
          </a:p>
          <a:p>
            <a:pPr lvl="1" algn="l">
              <a:buClrTx/>
              <a:buSzTx/>
              <a:buNone/>
            </a:pPr>
            <a:endParaRPr lang="zh-CN" altLang="en-US" sz="2400" b="0"/>
          </a:p>
          <a:p>
            <a:pPr lvl="1" algn="l">
              <a:buClrTx/>
              <a:buSzTx/>
              <a:buNone/>
            </a:pPr>
            <a:r>
              <a:rPr lang="zh-CN" altLang="en-US" sz="2400" b="0"/>
              <a:t>自提柜投放：在教学楼、宿舍区设智能柜，减少配送成本。</a:t>
            </a:r>
          </a:p>
        </p:txBody>
      </p:sp>
      <p:grpSp>
        <p:nvGrpSpPr>
          <p:cNvPr id="5" name="组合 4"/>
          <p:cNvGrpSpPr/>
          <p:nvPr/>
        </p:nvGrpSpPr>
        <p:grpSpPr>
          <a:xfrm>
            <a:off x="9482666" y="209650"/>
            <a:ext cx="1160780" cy="368300"/>
            <a:chOff x="8564" y="332"/>
            <a:chExt cx="1828" cy="580"/>
          </a:xfrm>
        </p:grpSpPr>
        <p:sp>
          <p:nvSpPr>
            <p:cNvPr id="6" name="流程图: 终止 5"/>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市场营销</a:t>
              </a:r>
            </a:p>
          </p:txBody>
        </p:sp>
        <p:grpSp>
          <p:nvGrpSpPr>
            <p:cNvPr id="7" name="组合 6"/>
            <p:cNvGrpSpPr/>
            <p:nvPr/>
          </p:nvGrpSpPr>
          <p:grpSpPr>
            <a:xfrm>
              <a:off x="10095" y="494"/>
              <a:ext cx="258" cy="256"/>
              <a:chOff x="13432" y="491"/>
              <a:chExt cx="258" cy="256"/>
            </a:xfrm>
          </p:grpSpPr>
          <p:sp>
            <p:nvSpPr>
              <p:cNvPr id="8" name="椭圆 7"/>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9" name="组合 8"/>
              <p:cNvGrpSpPr/>
              <p:nvPr/>
            </p:nvGrpSpPr>
            <p:grpSpPr>
              <a:xfrm>
                <a:off x="13516" y="535"/>
                <a:ext cx="134" cy="168"/>
                <a:chOff x="13507" y="548"/>
                <a:chExt cx="134" cy="168"/>
              </a:xfrm>
            </p:grpSpPr>
            <p:cxnSp>
              <p:nvCxnSpPr>
                <p:cNvPr id="10" name="直接连接符 9"/>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2" name="组合 11"/>
          <p:cNvGrpSpPr/>
          <p:nvPr/>
        </p:nvGrpSpPr>
        <p:grpSpPr>
          <a:xfrm>
            <a:off x="6981825" y="204887"/>
            <a:ext cx="937260" cy="360045"/>
            <a:chOff x="11503" y="342"/>
            <a:chExt cx="1476" cy="567"/>
          </a:xfrm>
        </p:grpSpPr>
        <p:sp>
          <p:nvSpPr>
            <p:cNvPr id="13" name="流程图: 终止 12"/>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4" name="直接连接符 13"/>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7832405" y="199164"/>
            <a:ext cx="905510" cy="360045"/>
            <a:chOff x="12733" y="342"/>
            <a:chExt cx="1426" cy="567"/>
          </a:xfrm>
        </p:grpSpPr>
        <p:sp>
          <p:nvSpPr>
            <p:cNvPr id="16" name="流程图: 终止 15"/>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17" name="直接连接符 16"/>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8654626" y="201705"/>
            <a:ext cx="886460" cy="360045"/>
            <a:chOff x="14049" y="346"/>
            <a:chExt cx="1396" cy="567"/>
          </a:xfrm>
        </p:grpSpPr>
        <p:sp>
          <p:nvSpPr>
            <p:cNvPr id="19" name="流程图: 终止 18"/>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20" name="直接连接符 19"/>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10560685" y="213778"/>
            <a:ext cx="923290" cy="360045"/>
            <a:chOff x="15251" y="346"/>
            <a:chExt cx="1454" cy="567"/>
          </a:xfrm>
        </p:grpSpPr>
        <p:sp>
          <p:nvSpPr>
            <p:cNvPr id="22" name="流程图: 终止 21"/>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团队介绍</a:t>
              </a:r>
            </a:p>
          </p:txBody>
        </p:sp>
        <p:cxnSp>
          <p:nvCxnSpPr>
            <p:cNvPr id="23" name="直接连接符 22"/>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6191250" y="207428"/>
            <a:ext cx="899160" cy="359410"/>
            <a:chOff x="10314" y="342"/>
            <a:chExt cx="1416" cy="566"/>
          </a:xfrm>
        </p:grpSpPr>
        <p:sp>
          <p:nvSpPr>
            <p:cNvPr id="25" name="流程图: 终止 24"/>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6" name="直接连接符 25"/>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p:txBody>
          <a:bodyPr/>
          <a:lstStyle/>
          <a:p>
            <a:r>
              <a:rPr lang="zh-CN" altLang="en-US"/>
              <a:t>团队介绍</a:t>
            </a:r>
          </a:p>
        </p:txBody>
      </p:sp>
      <p:sp>
        <p:nvSpPr>
          <p:cNvPr id="4" name="矩形 3"/>
          <p:cNvSpPr/>
          <p:nvPr>
            <p:custDataLst>
              <p:tags r:id="rId2"/>
            </p:custDataLst>
          </p:nvPr>
        </p:nvSpPr>
        <p:spPr>
          <a:xfrm>
            <a:off x="5186369" y="2010607"/>
            <a:ext cx="1896317" cy="583565"/>
          </a:xfrm>
          <a:prstGeom prst="rect">
            <a:avLst/>
          </a:prstGeom>
        </p:spPr>
        <p:txBody>
          <a:bodyPr wrap="square">
            <a:spAutoFit/>
          </a:bodyPr>
          <a:lstStyle/>
          <a:p>
            <a:pPr algn="ctr"/>
            <a:r>
              <a:rPr lang="zh-CN" altLang="en-US"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rPr>
              <a:t>Part 0</a:t>
            </a:r>
            <a:r>
              <a:rPr lang="en-US" altLang="zh-CN" sz="3200" spc="400">
                <a:solidFill>
                  <a:schemeClr val="tx1">
                    <a:lumMod val="85000"/>
                    <a:lumOff val="15000"/>
                  </a:schemeClr>
                </a:solidFill>
                <a:latin typeface="Arial" panose="020B0604020202020204" pitchFamily="34" charset="0"/>
                <a:ea typeface="汉仪旗黑-85S" panose="00020600040101010101" pitchFamily="18" charset="-122"/>
                <a:cs typeface="+mj-cs"/>
                <a:sym typeface="+mn-lt"/>
              </a:rPr>
              <a:t>6</a:t>
            </a:r>
            <a:endParaRPr lang="en-US" altLang="zh-CN" sz="3200" spc="400">
              <a:solidFill>
                <a:schemeClr val="tx1">
                  <a:lumMod val="85000"/>
                  <a:lumOff val="15000"/>
                </a:schemeClr>
              </a:solidFill>
              <a:uFillTx/>
              <a:latin typeface="Arial" panose="020B0604020202020204" pitchFamily="34" charset="0"/>
              <a:ea typeface="汉仪旗黑-85S" panose="00020600040101010101" pitchFamily="18" charset="-122"/>
              <a:cs typeface="+mj-cs"/>
              <a:sym typeface="+mn-l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381722" y="207428"/>
            <a:ext cx="1160780" cy="368300"/>
            <a:chOff x="8564" y="332"/>
            <a:chExt cx="1828" cy="580"/>
          </a:xfrm>
        </p:grpSpPr>
        <p:sp>
          <p:nvSpPr>
            <p:cNvPr id="4" name="流程图: 终止 3"/>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团队介绍</a:t>
              </a:r>
            </a:p>
          </p:txBody>
        </p:sp>
        <p:grpSp>
          <p:nvGrpSpPr>
            <p:cNvPr id="5" name="组合 4"/>
            <p:cNvGrpSpPr/>
            <p:nvPr/>
          </p:nvGrpSpPr>
          <p:grpSpPr>
            <a:xfrm>
              <a:off x="10095" y="494"/>
              <a:ext cx="258" cy="256"/>
              <a:chOff x="13432" y="491"/>
              <a:chExt cx="258" cy="256"/>
            </a:xfrm>
          </p:grpSpPr>
          <p:sp>
            <p:nvSpPr>
              <p:cNvPr id="6" name="椭圆 5"/>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7" name="组合 6"/>
              <p:cNvGrpSpPr/>
              <p:nvPr/>
            </p:nvGrpSpPr>
            <p:grpSpPr>
              <a:xfrm>
                <a:off x="13516" y="535"/>
                <a:ext cx="134" cy="168"/>
                <a:chOff x="13507" y="548"/>
                <a:chExt cx="134" cy="168"/>
              </a:xfrm>
            </p:grpSpPr>
            <p:cxnSp>
              <p:nvCxnSpPr>
                <p:cNvPr id="8" name="直接连接符 7"/>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0" name="组合 9"/>
          <p:cNvGrpSpPr/>
          <p:nvPr/>
        </p:nvGrpSpPr>
        <p:grpSpPr>
          <a:xfrm>
            <a:off x="6981825" y="204887"/>
            <a:ext cx="937260" cy="360045"/>
            <a:chOff x="11503" y="342"/>
            <a:chExt cx="1476" cy="567"/>
          </a:xfrm>
        </p:grpSpPr>
        <p:sp>
          <p:nvSpPr>
            <p:cNvPr id="11" name="流程图: 终止 10"/>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2" name="直接连接符 11"/>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7832405" y="199164"/>
            <a:ext cx="905510" cy="360045"/>
            <a:chOff x="12733" y="342"/>
            <a:chExt cx="1426" cy="567"/>
          </a:xfrm>
        </p:grpSpPr>
        <p:sp>
          <p:nvSpPr>
            <p:cNvPr id="14" name="流程图: 终止 13"/>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15" name="直接连接符 14"/>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8654626" y="201705"/>
            <a:ext cx="886460" cy="360045"/>
            <a:chOff x="14049" y="346"/>
            <a:chExt cx="1396" cy="567"/>
          </a:xfrm>
        </p:grpSpPr>
        <p:sp>
          <p:nvSpPr>
            <p:cNvPr id="17" name="流程图: 终止 16"/>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18" name="直接连接符 17"/>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9458432" y="203595"/>
            <a:ext cx="923290" cy="360045"/>
            <a:chOff x="15251" y="346"/>
            <a:chExt cx="1454" cy="567"/>
          </a:xfrm>
        </p:grpSpPr>
        <p:sp>
          <p:nvSpPr>
            <p:cNvPr id="20" name="流程图: 终止 19"/>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1" name="直接连接符 20"/>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6191250" y="207428"/>
            <a:ext cx="899160" cy="359410"/>
            <a:chOff x="10314" y="342"/>
            <a:chExt cx="1416" cy="566"/>
          </a:xfrm>
        </p:grpSpPr>
        <p:sp>
          <p:nvSpPr>
            <p:cNvPr id="23" name="流程图: 终止 22"/>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4" name="直接连接符 23"/>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702945" y="445770"/>
            <a:ext cx="3265805" cy="593725"/>
          </a:xfrm>
          <a:prstGeom prst="rect">
            <a:avLst/>
          </a:prstGeom>
          <a:noFill/>
        </p:spPr>
        <p:txBody>
          <a:bodyPr wrap="square" rtlCol="0">
            <a:noAutofit/>
          </a:bodyPr>
          <a:lstStyle/>
          <a:p>
            <a:r>
              <a:rPr lang="zh-CN" altLang="en-US" sz="3600" b="1">
                <a:latin typeface="+mj-ea"/>
                <a:ea typeface="+mj-ea"/>
              </a:rPr>
              <a:t>讨论</a:t>
            </a:r>
          </a:p>
        </p:txBody>
      </p:sp>
      <p:pic>
        <p:nvPicPr>
          <p:cNvPr id="25" name="图片 24"/>
          <p:cNvPicPr>
            <a:picLocks noChangeAspect="1"/>
          </p:cNvPicPr>
          <p:nvPr/>
        </p:nvPicPr>
        <p:blipFill>
          <a:blip r:embed="rId4"/>
          <a:stretch>
            <a:fillRect/>
          </a:stretch>
        </p:blipFill>
        <p:spPr>
          <a:xfrm>
            <a:off x="919480" y="1181100"/>
            <a:ext cx="1736725" cy="2441575"/>
          </a:xfrm>
          <a:prstGeom prst="rect">
            <a:avLst/>
          </a:prstGeom>
        </p:spPr>
      </p:pic>
      <p:pic>
        <p:nvPicPr>
          <p:cNvPr id="26" name="图片 25"/>
          <p:cNvPicPr>
            <a:picLocks noChangeAspect="1"/>
          </p:cNvPicPr>
          <p:nvPr/>
        </p:nvPicPr>
        <p:blipFill>
          <a:blip r:embed="rId4"/>
          <a:stretch>
            <a:fillRect/>
          </a:stretch>
        </p:blipFill>
        <p:spPr>
          <a:xfrm>
            <a:off x="997585" y="3622675"/>
            <a:ext cx="1658620" cy="2331720"/>
          </a:xfrm>
          <a:prstGeom prst="rect">
            <a:avLst/>
          </a:prstGeom>
        </p:spPr>
      </p:pic>
      <p:sp>
        <p:nvSpPr>
          <p:cNvPr id="27" name="文本框 26"/>
          <p:cNvSpPr txBox="1"/>
          <p:nvPr/>
        </p:nvSpPr>
        <p:spPr>
          <a:xfrm>
            <a:off x="6072505" y="861695"/>
            <a:ext cx="2994660" cy="736600"/>
          </a:xfrm>
          <a:prstGeom prst="rect">
            <a:avLst/>
          </a:prstGeom>
          <a:noFill/>
        </p:spPr>
        <p:txBody>
          <a:bodyPr wrap="square" rtlCol="0">
            <a:noAutofit/>
          </a:bodyPr>
          <a:lstStyle/>
          <a:p>
            <a:r>
              <a:rPr lang="zh-CN" altLang="en-US" sz="2000"/>
              <a:t>小组进行了两次电话线上讨论以及多次文字讨论</a:t>
            </a:r>
          </a:p>
        </p:txBody>
      </p:sp>
      <p:pic>
        <p:nvPicPr>
          <p:cNvPr id="28" name="图片 27"/>
          <p:cNvPicPr>
            <a:picLocks noChangeAspect="1"/>
          </p:cNvPicPr>
          <p:nvPr/>
        </p:nvPicPr>
        <p:blipFill>
          <a:blip r:embed="rId5"/>
          <a:stretch>
            <a:fillRect/>
          </a:stretch>
        </p:blipFill>
        <p:spPr>
          <a:xfrm>
            <a:off x="9122410" y="739775"/>
            <a:ext cx="2615565" cy="5895975"/>
          </a:xfrm>
          <a:prstGeom prst="rect">
            <a:avLst/>
          </a:prstGeom>
        </p:spPr>
      </p:pic>
      <p:pic>
        <p:nvPicPr>
          <p:cNvPr id="29" name="图片 28"/>
          <p:cNvPicPr>
            <a:picLocks noChangeAspect="1"/>
          </p:cNvPicPr>
          <p:nvPr/>
        </p:nvPicPr>
        <p:blipFill>
          <a:blip r:embed="rId6"/>
          <a:stretch>
            <a:fillRect/>
          </a:stretch>
        </p:blipFill>
        <p:spPr>
          <a:xfrm>
            <a:off x="7134225" y="1755775"/>
            <a:ext cx="1965960" cy="4879975"/>
          </a:xfrm>
          <a:prstGeom prst="rect">
            <a:avLst/>
          </a:prstGeom>
        </p:spPr>
      </p:pic>
      <p:pic>
        <p:nvPicPr>
          <p:cNvPr id="30" name="图片 29"/>
          <p:cNvPicPr>
            <a:picLocks noChangeAspect="1"/>
          </p:cNvPicPr>
          <p:nvPr/>
        </p:nvPicPr>
        <p:blipFill>
          <a:blip r:embed="rId7"/>
          <a:stretch>
            <a:fillRect/>
          </a:stretch>
        </p:blipFill>
        <p:spPr>
          <a:xfrm>
            <a:off x="2656205" y="269240"/>
            <a:ext cx="2785745" cy="6497955"/>
          </a:xfrm>
          <a:prstGeom prst="rect">
            <a:avLst/>
          </a:prstGeom>
        </p:spPr>
      </p:pic>
      <p:pic>
        <p:nvPicPr>
          <p:cNvPr id="31" name="图片 30"/>
          <p:cNvPicPr>
            <a:picLocks noChangeAspect="1"/>
          </p:cNvPicPr>
          <p:nvPr/>
        </p:nvPicPr>
        <p:blipFill>
          <a:blip r:embed="rId8"/>
          <a:stretch>
            <a:fillRect/>
          </a:stretch>
        </p:blipFill>
        <p:spPr>
          <a:xfrm>
            <a:off x="5441950" y="1862455"/>
            <a:ext cx="1798955" cy="476186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0381722" y="207428"/>
            <a:ext cx="1160780" cy="368300"/>
            <a:chOff x="8564" y="332"/>
            <a:chExt cx="1828" cy="580"/>
          </a:xfrm>
        </p:grpSpPr>
        <p:sp>
          <p:nvSpPr>
            <p:cNvPr id="4" name="流程图: 终止 3"/>
            <p:cNvSpPr/>
            <p:nvPr/>
          </p:nvSpPr>
          <p:spPr>
            <a:xfrm>
              <a:off x="8564" y="332"/>
              <a:ext cx="1828" cy="580"/>
            </a:xfrm>
            <a:prstGeom prst="flowChartTerminator">
              <a:avLst/>
            </a:prstGeom>
            <a:gradFill>
              <a:gsLst>
                <a:gs pos="10000">
                  <a:srgbClr val="002060"/>
                </a:gs>
                <a:gs pos="31000">
                  <a:schemeClr val="accent1">
                    <a:lumMod val="75000"/>
                    <a:alpha val="100000"/>
                  </a:schemeClr>
                </a:gs>
                <a:gs pos="68000">
                  <a:schemeClr val="accent1">
                    <a:lumMod val="40000"/>
                    <a:lumOff val="60000"/>
                  </a:schemeClr>
                </a:gs>
                <a:gs pos="100000">
                  <a:srgbClr val="2E54A1"/>
                </a:gs>
              </a:gsLst>
              <a:lin ang="2112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600" b="1">
                  <a:solidFill>
                    <a:schemeClr val="bg1"/>
                  </a:solidFill>
                  <a:latin typeface="微软雅黑" panose="020B0503020204020204" charset="-122"/>
                  <a:ea typeface="微软雅黑" panose="020B0503020204020204" charset="-122"/>
                  <a:sym typeface="+mn-ea"/>
                </a:rPr>
                <a:t>团队介绍</a:t>
              </a:r>
            </a:p>
          </p:txBody>
        </p:sp>
        <p:grpSp>
          <p:nvGrpSpPr>
            <p:cNvPr id="5" name="组合 4"/>
            <p:cNvGrpSpPr/>
            <p:nvPr/>
          </p:nvGrpSpPr>
          <p:grpSpPr>
            <a:xfrm>
              <a:off x="10095" y="494"/>
              <a:ext cx="258" cy="256"/>
              <a:chOff x="13432" y="491"/>
              <a:chExt cx="258" cy="256"/>
            </a:xfrm>
          </p:grpSpPr>
          <p:sp>
            <p:nvSpPr>
              <p:cNvPr id="6" name="椭圆 5"/>
              <p:cNvSpPr>
                <a:spLocks noChangeAspect="1"/>
              </p:cNvSpPr>
              <p:nvPr/>
            </p:nvSpPr>
            <p:spPr>
              <a:xfrm>
                <a:off x="13432" y="491"/>
                <a:ext cx="258" cy="256"/>
              </a:xfrm>
              <a:prstGeom prst="ellipse">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000" b="1">
                  <a:solidFill>
                    <a:schemeClr val="tx1"/>
                  </a:solidFill>
                  <a:latin typeface="微软雅黑" panose="020B0503020204020204" charset="-122"/>
                  <a:ea typeface="微软雅黑" panose="020B0503020204020204" charset="-122"/>
                </a:endParaRPr>
              </a:p>
            </p:txBody>
          </p:sp>
          <p:grpSp>
            <p:nvGrpSpPr>
              <p:cNvPr id="7" name="组合 6"/>
              <p:cNvGrpSpPr/>
              <p:nvPr/>
            </p:nvGrpSpPr>
            <p:grpSpPr>
              <a:xfrm>
                <a:off x="13516" y="535"/>
                <a:ext cx="134" cy="168"/>
                <a:chOff x="13507" y="548"/>
                <a:chExt cx="134" cy="168"/>
              </a:xfrm>
            </p:grpSpPr>
            <p:cxnSp>
              <p:nvCxnSpPr>
                <p:cNvPr id="8" name="直接连接符 7"/>
                <p:cNvCxnSpPr/>
                <p:nvPr/>
              </p:nvCxnSpPr>
              <p:spPr>
                <a:xfrm>
                  <a:off x="13511" y="548"/>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3507" y="634"/>
                  <a:ext cx="131" cy="83"/>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grpSp>
        </p:grpSp>
      </p:grpSp>
      <p:grpSp>
        <p:nvGrpSpPr>
          <p:cNvPr id="10" name="组合 9"/>
          <p:cNvGrpSpPr/>
          <p:nvPr/>
        </p:nvGrpSpPr>
        <p:grpSpPr>
          <a:xfrm>
            <a:off x="6981825" y="204887"/>
            <a:ext cx="937260" cy="360045"/>
            <a:chOff x="11503" y="342"/>
            <a:chExt cx="1476" cy="567"/>
          </a:xfrm>
        </p:grpSpPr>
        <p:sp>
          <p:nvSpPr>
            <p:cNvPr id="11" name="流程图: 终止 10"/>
            <p:cNvSpPr/>
            <p:nvPr/>
          </p:nvSpPr>
          <p:spPr>
            <a:xfrm>
              <a:off x="11503" y="342"/>
              <a:ext cx="147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平台特点</a:t>
              </a:r>
            </a:p>
          </p:txBody>
        </p:sp>
        <p:cxnSp>
          <p:nvCxnSpPr>
            <p:cNvPr id="12" name="直接连接符 11"/>
            <p:cNvCxnSpPr/>
            <p:nvPr/>
          </p:nvCxnSpPr>
          <p:spPr>
            <a:xfrm flipV="1">
              <a:off x="12066"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7832405" y="199164"/>
            <a:ext cx="905510" cy="360045"/>
            <a:chOff x="12733" y="342"/>
            <a:chExt cx="1426" cy="567"/>
          </a:xfrm>
        </p:grpSpPr>
        <p:sp>
          <p:nvSpPr>
            <p:cNvPr id="14" name="流程图: 终止 13"/>
            <p:cNvSpPr/>
            <p:nvPr/>
          </p:nvSpPr>
          <p:spPr>
            <a:xfrm>
              <a:off x="12733" y="342"/>
              <a:ext cx="142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技术实现</a:t>
              </a:r>
            </a:p>
          </p:txBody>
        </p:sp>
        <p:cxnSp>
          <p:nvCxnSpPr>
            <p:cNvPr id="15" name="直接连接符 14"/>
            <p:cNvCxnSpPr/>
            <p:nvPr/>
          </p:nvCxnSpPr>
          <p:spPr>
            <a:xfrm flipV="1">
              <a:off x="13272"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8654626" y="201705"/>
            <a:ext cx="886460" cy="360045"/>
            <a:chOff x="14049" y="346"/>
            <a:chExt cx="1396" cy="567"/>
          </a:xfrm>
        </p:grpSpPr>
        <p:sp>
          <p:nvSpPr>
            <p:cNvPr id="17" name="流程图: 终止 16"/>
            <p:cNvSpPr/>
            <p:nvPr/>
          </p:nvSpPr>
          <p:spPr>
            <a:xfrm>
              <a:off x="14049" y="346"/>
              <a:ext cx="1396"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竞争对手</a:t>
              </a:r>
            </a:p>
          </p:txBody>
        </p:sp>
        <p:cxnSp>
          <p:nvCxnSpPr>
            <p:cNvPr id="18" name="直接连接符 17"/>
            <p:cNvCxnSpPr/>
            <p:nvPr/>
          </p:nvCxnSpPr>
          <p:spPr>
            <a:xfrm flipV="1">
              <a:off x="14573"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9458432" y="203595"/>
            <a:ext cx="923290" cy="360045"/>
            <a:chOff x="15251" y="346"/>
            <a:chExt cx="1454" cy="567"/>
          </a:xfrm>
        </p:grpSpPr>
        <p:sp>
          <p:nvSpPr>
            <p:cNvPr id="20" name="流程图: 终止 19"/>
            <p:cNvSpPr/>
            <p:nvPr/>
          </p:nvSpPr>
          <p:spPr>
            <a:xfrm>
              <a:off x="15251" y="346"/>
              <a:ext cx="1454"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市场营销</a:t>
              </a:r>
            </a:p>
          </p:txBody>
        </p:sp>
        <p:cxnSp>
          <p:nvCxnSpPr>
            <p:cNvPr id="21" name="直接连接符 20"/>
            <p:cNvCxnSpPr/>
            <p:nvPr/>
          </p:nvCxnSpPr>
          <p:spPr>
            <a:xfrm flipV="1">
              <a:off x="15804"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6191250" y="207428"/>
            <a:ext cx="899160" cy="359410"/>
            <a:chOff x="10314" y="342"/>
            <a:chExt cx="1416" cy="566"/>
          </a:xfrm>
        </p:grpSpPr>
        <p:sp>
          <p:nvSpPr>
            <p:cNvPr id="23" name="流程图: 终止 22"/>
            <p:cNvSpPr/>
            <p:nvPr/>
          </p:nvSpPr>
          <p:spPr>
            <a:xfrm>
              <a:off x="10314" y="342"/>
              <a:ext cx="1417" cy="567"/>
            </a:xfrm>
            <a:prstGeom prst="flowChartTerminator">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a:solidFill>
                    <a:schemeClr val="tx1"/>
                  </a:solidFill>
                  <a:latin typeface="微软雅黑" panose="020B0503020204020204" charset="-122"/>
                  <a:ea typeface="微软雅黑" panose="020B0503020204020204" charset="-122"/>
                  <a:sym typeface="+mn-ea"/>
                </a:rPr>
                <a:t>平台概述</a:t>
              </a:r>
            </a:p>
          </p:txBody>
        </p:sp>
        <p:cxnSp>
          <p:nvCxnSpPr>
            <p:cNvPr id="24" name="直接连接符 23"/>
            <p:cNvCxnSpPr/>
            <p:nvPr/>
          </p:nvCxnSpPr>
          <p:spPr>
            <a:xfrm flipV="1">
              <a:off x="10848" y="829"/>
              <a:ext cx="349" cy="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702945" y="445770"/>
            <a:ext cx="5066030" cy="706755"/>
          </a:xfrm>
          <a:prstGeom prst="rect">
            <a:avLst/>
          </a:prstGeom>
          <a:noFill/>
        </p:spPr>
        <p:txBody>
          <a:bodyPr wrap="square" rtlCol="0">
            <a:spAutoFit/>
            <a:scene3d>
              <a:camera prst="orthographicFront"/>
              <a:lightRig rig="threePt" dir="t"/>
            </a:scene3d>
          </a:bodyPr>
          <a:lstStyle/>
          <a:p>
            <a:r>
              <a:rPr lang="zh-CN" altLang="en-US" sz="4000" b="1">
                <a:ln/>
                <a:solidFill>
                  <a:schemeClr val="tx1"/>
                </a:solidFill>
                <a:effectLst>
                  <a:outerShdw blurRad="38100" dist="19050" dir="2700000" algn="tl" rotWithShape="0">
                    <a:schemeClr val="dk1">
                      <a:alpha val="40000"/>
                    </a:schemeClr>
                  </a:outerShdw>
                </a:effectLst>
                <a:latin typeface="+mj-ea"/>
                <a:ea typeface="+mj-ea"/>
              </a:rPr>
              <a:t>组内分工</a:t>
            </a:r>
          </a:p>
        </p:txBody>
      </p:sp>
      <p:graphicFrame>
        <p:nvGraphicFramePr>
          <p:cNvPr id="26" name="图示 25"/>
          <p:cNvGraphicFramePr/>
          <p:nvPr>
            <p:extLst>
              <p:ext uri="{D42A27DB-BD31-4B8C-83A1-F6EECF244321}">
                <p14:modId xmlns:p14="http://schemas.microsoft.com/office/powerpoint/2010/main" val="2998698282"/>
              </p:ext>
            </p:extLst>
          </p:nvPr>
        </p:nvGraphicFramePr>
        <p:xfrm>
          <a:off x="2032000" y="1152525"/>
          <a:ext cx="8914765" cy="54273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15010" y="176530"/>
            <a:ext cx="3662680" cy="787400"/>
          </a:xfrm>
          <a:prstGeom prst="rect">
            <a:avLst/>
          </a:prstGeom>
          <a:noFill/>
        </p:spPr>
        <p:txBody>
          <a:bodyPr wrap="square" rtlCol="0">
            <a:noAutofit/>
          </a:bodyPr>
          <a:lstStyle/>
          <a:p>
            <a:r>
              <a:rPr lang="zh-CN" altLang="en-US" sz="3200" b="1"/>
              <a:t>总结</a:t>
            </a:r>
            <a:endParaRPr lang="en-US" altLang="zh-CN" sz="3200" b="1"/>
          </a:p>
        </p:txBody>
      </p:sp>
      <p:sp>
        <p:nvSpPr>
          <p:cNvPr id="3" name="文本框 2"/>
          <p:cNvSpPr txBox="1"/>
          <p:nvPr/>
        </p:nvSpPr>
        <p:spPr>
          <a:xfrm>
            <a:off x="4004310" y="1191260"/>
            <a:ext cx="7464425" cy="4996815"/>
          </a:xfrm>
          <a:prstGeom prst="rect">
            <a:avLst/>
          </a:prstGeom>
          <a:noFill/>
        </p:spPr>
        <p:txBody>
          <a:bodyPr wrap="square" rtlCol="0">
            <a:noAutofit/>
          </a:bodyPr>
          <a:lstStyle/>
          <a:p>
            <a:pPr>
              <a:lnSpc>
                <a:spcPct val="180000"/>
              </a:lnSpc>
            </a:pPr>
            <a:r>
              <a:rPr lang="zh-CN" altLang="en-US"/>
              <a:t>该</a:t>
            </a:r>
            <a:r>
              <a:rPr lang="en-US" altLang="zh-CN"/>
              <a:t>c2c</a:t>
            </a:r>
            <a:r>
              <a:rPr lang="zh-CN" altLang="en-US"/>
              <a:t>平台在校园实践场景下有效填补校园二手交易空白。随着高校学生群体规模的持续扩大，校园二手交易</a:t>
            </a:r>
            <a:r>
              <a:rPr lang="en-US" altLang="zh-CN"/>
              <a:t>C2C</a:t>
            </a:r>
            <a:r>
              <a:rPr lang="zh-CN" altLang="en-US"/>
              <a:t>平台面临着巨大的市场机遇。传统二手交易平台在校园场景中覆盖不足，无法满足学生群体的特定需求，存在明显的市场空白。校园二手交易平台通过精准定位学生用户，提供便捷、高效的交易服务，可以有效激活校园二手物品流通市场。此外，学生群体具有较强的消费能力和替换需求，二手物品的交易潜力巨大。未来，随着学生用户对二手交易接受度的提升，校园二手交易</a:t>
            </a:r>
            <a:r>
              <a:rPr lang="en-US" altLang="zh-CN"/>
              <a:t>C2C</a:t>
            </a:r>
            <a:r>
              <a:rPr lang="zh-CN" altLang="en-US"/>
              <a:t>平台有望实现规模化运营和盈利，成为校园经济中不可或缺的重要组成部分。</a:t>
            </a:r>
          </a:p>
        </p:txBody>
      </p:sp>
      <p:graphicFrame>
        <p:nvGraphicFramePr>
          <p:cNvPr id="4" name="图示 3"/>
          <p:cNvGraphicFramePr/>
          <p:nvPr/>
        </p:nvGraphicFramePr>
        <p:xfrm>
          <a:off x="640080" y="1384300"/>
          <a:ext cx="3236595" cy="39281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0"/>
            <a:ext cx="12192000" cy="6858000"/>
          </a:xfrm>
          <a:prstGeom prst="rect">
            <a:avLst/>
          </a:prstGeom>
          <a:solidFill>
            <a:schemeClr val="accent1">
              <a:lumMod val="40000"/>
              <a:lumOff val="60000"/>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14"/>
          </p:nvPr>
        </p:nvSpPr>
        <p:spPr>
          <a:xfrm>
            <a:off x="2827655" y="2518171"/>
            <a:ext cx="6536690" cy="910829"/>
          </a:xfrm>
        </p:spPr>
        <p:txBody>
          <a:bodyPr/>
          <a:lstStyle/>
          <a:p>
            <a:r>
              <a:rPr lang="zh-CN" altLang="en-US"/>
              <a:t>感谢！</a:t>
            </a:r>
          </a:p>
        </p:txBody>
      </p:sp>
      <p:sp>
        <p:nvSpPr>
          <p:cNvPr id="3" name="Rectangle 1"/>
          <p:cNvSpPr>
            <a:spLocks noGrp="1" noChangeArrowheads="1"/>
          </p:cNvSpPr>
          <p:nvPr/>
        </p:nvSpPr>
        <p:spPr bwMode="auto">
          <a:xfrm>
            <a:off x="4076827" y="4792362"/>
            <a:ext cx="5178021" cy="9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algn="l" defTabSz="914400" rtl="0" latinLnBrk="0">
              <a:lnSpc>
                <a:spcPct val="150000"/>
              </a:lnSpc>
              <a:spcBef>
                <a:spcPts val="0"/>
              </a:spcBef>
              <a:spcAft>
                <a:spcPts val="0"/>
              </a:spcAft>
              <a:buClrTx/>
              <a:buSzTx/>
              <a:buFontTx/>
              <a:buNone/>
            </a:pPr>
            <a:r>
              <a:rPr kumimoji="0" lang="zh-CN" altLang="en-US" sz="1800" b="1" i="0" u="none" strike="noStrike" kern="0" cap="none" normalizeH="0" baseline="0" noProof="0">
                <a:solidFill>
                  <a:schemeClr val="tx1"/>
                </a:solidFill>
                <a:latin typeface="方正公文小标宋" panose="02000500000000000000" charset="-122"/>
                <a:ea typeface="方正公文小标宋" panose="02000500000000000000" charset="-122"/>
                <a:cs typeface="Times New Roman" panose="02020603050405020304" pitchFamily="18" charset="0"/>
              </a:rPr>
              <a:t>团队成员：</a:t>
            </a:r>
            <a:r>
              <a:rPr kumimoji="0" lang="en-US" altLang="zh-CN" sz="2000" b="1" i="0" u="none" strike="noStrike" kern="0" cap="none" normalizeH="0" baseline="0" noProof="0">
                <a:gradFill>
                  <a:gsLst>
                    <a:gs pos="63000">
                      <a:srgbClr val="3E6AC1">
                        <a:alpha val="100000"/>
                      </a:srgbClr>
                    </a:gs>
                    <a:gs pos="100000">
                      <a:srgbClr val="08C5AA"/>
                    </a:gs>
                    <a:gs pos="35000">
                      <a:schemeClr val="accent1"/>
                    </a:gs>
                    <a:gs pos="0">
                      <a:schemeClr val="accent1">
                        <a:lumMod val="25000"/>
                        <a:lumOff val="75000"/>
                      </a:schemeClr>
                    </a:gs>
                    <a:gs pos="69000">
                      <a:schemeClr val="accent1">
                        <a:lumMod val="85000"/>
                      </a:schemeClr>
                    </a:gs>
                  </a:gsLst>
                  <a:lin ang="5400000" scaled="0"/>
                </a:gradFill>
                <a:latin typeface="方正公文小标宋" panose="02000500000000000000" charset="-122"/>
                <a:ea typeface="方正公文小标宋" panose="02000500000000000000" charset="-122"/>
                <a:cs typeface="Times New Roman" panose="02020603050405020304" pitchFamily="18" charset="0"/>
              </a:rPr>
              <a:t>xx</a:t>
            </a:r>
            <a:endParaRPr kumimoji="0" lang="zh-CN" altLang="en-US" sz="2000" b="1" i="0" u="none" strike="noStrike" kern="0" cap="none" normalizeH="0" baseline="0" noProof="0">
              <a:gradFill>
                <a:gsLst>
                  <a:gs pos="63000">
                    <a:srgbClr val="3E6AC1">
                      <a:alpha val="100000"/>
                    </a:srgbClr>
                  </a:gs>
                  <a:gs pos="100000">
                    <a:srgbClr val="08C5AA"/>
                  </a:gs>
                  <a:gs pos="35000">
                    <a:schemeClr val="accent1"/>
                  </a:gs>
                  <a:gs pos="0">
                    <a:schemeClr val="accent1">
                      <a:lumMod val="25000"/>
                      <a:lumOff val="75000"/>
                    </a:schemeClr>
                  </a:gs>
                  <a:gs pos="69000">
                    <a:schemeClr val="accent1">
                      <a:lumMod val="85000"/>
                    </a:schemeClr>
                  </a:gs>
                </a:gsLst>
                <a:lin ang="5400000" scaled="0"/>
              </a:gradFill>
              <a:latin typeface="方正公文小标宋" panose="02000500000000000000" charset="-122"/>
              <a:ea typeface="方正公文小标宋" panose="02000500000000000000" charset="-122"/>
              <a:cs typeface="Times New Roman" panose="02020603050405020304" pitchFamily="18" charset="0"/>
            </a:endParaRPr>
          </a:p>
          <a:p>
            <a:pPr marL="0" marR="0" lvl="0" algn="l" defTabSz="914400" rtl="0" latinLnBrk="0">
              <a:lnSpc>
                <a:spcPct val="150000"/>
              </a:lnSpc>
              <a:spcBef>
                <a:spcPts val="0"/>
              </a:spcBef>
              <a:spcAft>
                <a:spcPts val="0"/>
              </a:spcAft>
              <a:buClrTx/>
              <a:buSzTx/>
              <a:buFontTx/>
              <a:buNone/>
            </a:pPr>
            <a:r>
              <a:rPr lang="zh-CN" altLang="en-US" sz="1800" b="1" kern="0">
                <a:latin typeface="方正公文小标宋" panose="02000500000000000000" charset="-122"/>
                <a:ea typeface="方正公文小标宋" panose="02000500000000000000" charset="-122"/>
                <a:cs typeface="Times New Roman" panose="02020603050405020304" pitchFamily="18" charset="0"/>
              </a:rPr>
              <a:t>项目</a:t>
            </a:r>
            <a:r>
              <a:rPr kumimoji="0" lang="zh-CN" altLang="en-US" sz="1800" b="1" i="0" u="none" strike="noStrike" kern="0" cap="none" normalizeH="0" baseline="0" noProof="0">
                <a:latin typeface="方正公文小标宋" panose="02000500000000000000" charset="-122"/>
                <a:ea typeface="方正公文小标宋" panose="02000500000000000000" charset="-122"/>
                <a:cs typeface="Times New Roman" panose="02020603050405020304" pitchFamily="18" charset="0"/>
              </a:rPr>
              <a:t>名称：</a:t>
            </a:r>
            <a:r>
              <a:rPr kumimoji="0" lang="zh-CN" altLang="en-US" sz="2000" b="1" i="0" u="none" strike="noStrike" kern="0" cap="none" normalizeH="0" baseline="0" noProof="0">
                <a:gradFill>
                  <a:gsLst>
                    <a:gs pos="63000">
                      <a:srgbClr val="3E6AC1">
                        <a:alpha val="100000"/>
                      </a:srgbClr>
                    </a:gs>
                    <a:gs pos="100000">
                      <a:srgbClr val="08C5AA"/>
                    </a:gs>
                    <a:gs pos="35000">
                      <a:schemeClr val="accent1"/>
                    </a:gs>
                    <a:gs pos="0">
                      <a:schemeClr val="accent1">
                        <a:lumMod val="25000"/>
                        <a:lumOff val="75000"/>
                      </a:schemeClr>
                    </a:gs>
                    <a:gs pos="69000">
                      <a:schemeClr val="accent1">
                        <a:lumMod val="85000"/>
                      </a:schemeClr>
                    </a:gs>
                  </a:gsLst>
                  <a:lin ang="5400000" scaled="0"/>
                </a:gradFill>
                <a:latin typeface="方正公文小标宋" panose="02000500000000000000" charset="-122"/>
                <a:ea typeface="方正公文小标宋" panose="02000500000000000000" charset="-122"/>
                <a:cs typeface="Times New Roman" panose="02020603050405020304" pitchFamily="18" charset="0"/>
              </a:rPr>
              <a:t>专注高校场景的</a:t>
            </a:r>
            <a:r>
              <a:rPr kumimoji="0" lang="en-US" altLang="zh-CN" sz="2000" b="1" i="0" u="none" strike="noStrike" kern="0" cap="none" normalizeH="0" baseline="0" noProof="0">
                <a:gradFill>
                  <a:gsLst>
                    <a:gs pos="63000">
                      <a:srgbClr val="3E6AC1">
                        <a:alpha val="100000"/>
                      </a:srgbClr>
                    </a:gs>
                    <a:gs pos="100000">
                      <a:srgbClr val="08C5AA"/>
                    </a:gs>
                    <a:gs pos="35000">
                      <a:schemeClr val="accent1"/>
                    </a:gs>
                    <a:gs pos="0">
                      <a:schemeClr val="accent1">
                        <a:lumMod val="25000"/>
                        <a:lumOff val="75000"/>
                      </a:schemeClr>
                    </a:gs>
                    <a:gs pos="69000">
                      <a:schemeClr val="accent1">
                        <a:lumMod val="85000"/>
                      </a:schemeClr>
                    </a:gs>
                  </a:gsLst>
                  <a:lin ang="5400000" scaled="0"/>
                </a:gradFill>
                <a:latin typeface="方正公文小标宋" panose="02000500000000000000" charset="-122"/>
                <a:ea typeface="方正公文小标宋" panose="02000500000000000000" charset="-122"/>
                <a:cs typeface="Times New Roman" panose="02020603050405020304" pitchFamily="18" charset="0"/>
              </a:rPr>
              <a:t>C2C</a:t>
            </a:r>
            <a:r>
              <a:rPr kumimoji="0" lang="zh-CN" altLang="en-US" sz="2000" b="1" i="0" u="none" strike="noStrike" kern="0" cap="none" normalizeH="0" baseline="0" noProof="0">
                <a:gradFill>
                  <a:gsLst>
                    <a:gs pos="63000">
                      <a:srgbClr val="3E6AC1">
                        <a:alpha val="100000"/>
                      </a:srgbClr>
                    </a:gs>
                    <a:gs pos="100000">
                      <a:srgbClr val="08C5AA"/>
                    </a:gs>
                    <a:gs pos="35000">
                      <a:schemeClr val="accent1"/>
                    </a:gs>
                    <a:gs pos="0">
                      <a:schemeClr val="accent1">
                        <a:lumMod val="25000"/>
                        <a:lumOff val="75000"/>
                      </a:schemeClr>
                    </a:gs>
                    <a:gs pos="69000">
                      <a:schemeClr val="accent1">
                        <a:lumMod val="85000"/>
                      </a:schemeClr>
                    </a:gs>
                  </a:gsLst>
                  <a:lin ang="5400000" scaled="0"/>
                </a:gradFill>
                <a:latin typeface="方正公文小标宋" panose="02000500000000000000" charset="-122"/>
                <a:ea typeface="方正公文小标宋" panose="02000500000000000000" charset="-122"/>
                <a:cs typeface="Times New Roman" panose="02020603050405020304" pitchFamily="18" charset="0"/>
              </a:rPr>
              <a:t>闲置交易平台</a:t>
            </a:r>
          </a:p>
        </p:txBody>
      </p:sp>
      <p:cxnSp>
        <p:nvCxnSpPr>
          <p:cNvPr id="7" name="直接连接符 6"/>
          <p:cNvCxnSpPr/>
          <p:nvPr/>
        </p:nvCxnSpPr>
        <p:spPr>
          <a:xfrm>
            <a:off x="3946525" y="5018193"/>
            <a:ext cx="0" cy="633095"/>
          </a:xfrm>
          <a:prstGeom prst="line">
            <a:avLst/>
          </a:prstGeom>
          <a:ln w="22225">
            <a:solidFill>
              <a:schemeClr val="accent1">
                <a:lumMod val="75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4663623" cy="3749039"/>
            <a:chOff x="0" y="0"/>
            <a:chExt cx="1842419" cy="1481102"/>
          </a:xfrm>
        </p:grpSpPr>
        <p:sp>
          <p:nvSpPr>
            <p:cNvPr id="3" name="Freeform 3"/>
            <p:cNvSpPr/>
            <p:nvPr/>
          </p:nvSpPr>
          <p:spPr>
            <a:xfrm>
              <a:off x="0" y="0"/>
              <a:ext cx="1842419" cy="1481102"/>
            </a:xfrm>
            <a:custGeom>
              <a:avLst/>
              <a:gdLst/>
              <a:ahLst/>
              <a:cxnLst/>
              <a:rect l="l" t="t" r="r" b="b"/>
              <a:pathLst>
                <a:path w="1842419" h="1481102">
                  <a:moveTo>
                    <a:pt x="0" y="0"/>
                  </a:moveTo>
                  <a:lnTo>
                    <a:pt x="1842419" y="0"/>
                  </a:lnTo>
                  <a:lnTo>
                    <a:pt x="1842419" y="1481102"/>
                  </a:lnTo>
                  <a:lnTo>
                    <a:pt x="0" y="1481102"/>
                  </a:lnTo>
                  <a:close/>
                </a:path>
              </a:pathLst>
            </a:custGeom>
            <a:solidFill>
              <a:srgbClr val="839BB2"/>
            </a:solidFill>
          </p:spPr>
        </p:sp>
        <p:sp>
          <p:nvSpPr>
            <p:cNvPr id="4" name="TextBox 4"/>
            <p:cNvSpPr txBox="1"/>
            <p:nvPr/>
          </p:nvSpPr>
          <p:spPr>
            <a:xfrm>
              <a:off x="0" y="-38100"/>
              <a:ext cx="1842419" cy="1519202"/>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800382" y="746482"/>
            <a:ext cx="10591235" cy="5365035"/>
            <a:chOff x="0" y="0"/>
            <a:chExt cx="4184191" cy="2119520"/>
          </a:xfrm>
        </p:grpSpPr>
        <p:sp>
          <p:nvSpPr>
            <p:cNvPr id="6" name="Freeform 6"/>
            <p:cNvSpPr/>
            <p:nvPr/>
          </p:nvSpPr>
          <p:spPr>
            <a:xfrm>
              <a:off x="0" y="0"/>
              <a:ext cx="4184192" cy="2119520"/>
            </a:xfrm>
            <a:custGeom>
              <a:avLst/>
              <a:gdLst/>
              <a:ahLst/>
              <a:cxnLst/>
              <a:rect l="l" t="t" r="r" b="b"/>
              <a:pathLst>
                <a:path w="4184192" h="2119520">
                  <a:moveTo>
                    <a:pt x="0" y="0"/>
                  </a:moveTo>
                  <a:lnTo>
                    <a:pt x="4184192" y="0"/>
                  </a:lnTo>
                  <a:lnTo>
                    <a:pt x="4184192" y="2119520"/>
                  </a:lnTo>
                  <a:lnTo>
                    <a:pt x="0" y="2119520"/>
                  </a:lnTo>
                  <a:close/>
                </a:path>
              </a:pathLst>
            </a:custGeom>
            <a:solidFill>
              <a:srgbClr val="E6E6E6"/>
            </a:solidFill>
          </p:spPr>
        </p:sp>
        <p:sp>
          <p:nvSpPr>
            <p:cNvPr id="7" name="TextBox 7"/>
            <p:cNvSpPr txBox="1"/>
            <p:nvPr/>
          </p:nvSpPr>
          <p:spPr>
            <a:xfrm>
              <a:off x="0" y="-38100"/>
              <a:ext cx="4184191" cy="215762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4919870" y="4838724"/>
            <a:ext cx="2352261" cy="487798"/>
            <a:chOff x="0" y="0"/>
            <a:chExt cx="929288" cy="192710"/>
          </a:xfrm>
        </p:grpSpPr>
        <p:sp>
          <p:nvSpPr>
            <p:cNvPr id="9" name="Freeform 9"/>
            <p:cNvSpPr/>
            <p:nvPr/>
          </p:nvSpPr>
          <p:spPr>
            <a:xfrm>
              <a:off x="0" y="0"/>
              <a:ext cx="929288" cy="192710"/>
            </a:xfrm>
            <a:custGeom>
              <a:avLst/>
              <a:gdLst/>
              <a:ahLst/>
              <a:cxnLst/>
              <a:rect l="l" t="t" r="r" b="b"/>
              <a:pathLst>
                <a:path w="929288" h="192710">
                  <a:moveTo>
                    <a:pt x="0" y="0"/>
                  </a:moveTo>
                  <a:lnTo>
                    <a:pt x="929288" y="0"/>
                  </a:lnTo>
                  <a:lnTo>
                    <a:pt x="929288" y="192710"/>
                  </a:lnTo>
                  <a:lnTo>
                    <a:pt x="0" y="192710"/>
                  </a:lnTo>
                  <a:close/>
                </a:path>
              </a:pathLst>
            </a:custGeom>
            <a:solidFill>
              <a:srgbClr val="839BB2"/>
            </a:solidFill>
            <a:ln cap="sq">
              <a:noFill/>
              <a:prstDash val="solid"/>
              <a:miter/>
            </a:ln>
          </p:spPr>
        </p:sp>
        <p:sp>
          <p:nvSpPr>
            <p:cNvPr id="10" name="TextBox 10"/>
            <p:cNvSpPr txBox="1"/>
            <p:nvPr/>
          </p:nvSpPr>
          <p:spPr>
            <a:xfrm>
              <a:off x="0" y="-28575"/>
              <a:ext cx="929288" cy="221285"/>
            </a:xfrm>
            <a:prstGeom prst="rect">
              <a:avLst/>
            </a:prstGeom>
          </p:spPr>
          <p:txBody>
            <a:bodyPr lIns="33867" tIns="33867" rIns="33867" bIns="33867" rtlCol="0" anchor="ctr"/>
            <a:lstStyle/>
            <a:p>
              <a:pPr algn="ctr">
                <a:lnSpc>
                  <a:spcPts val="1773"/>
                </a:lnSpc>
              </a:pPr>
              <a:endParaRPr sz="1200"/>
            </a:p>
          </p:txBody>
        </p:sp>
      </p:grpSp>
      <p:grpSp>
        <p:nvGrpSpPr>
          <p:cNvPr id="11" name="Group 11"/>
          <p:cNvGrpSpPr/>
          <p:nvPr/>
        </p:nvGrpSpPr>
        <p:grpSpPr>
          <a:xfrm>
            <a:off x="10471553" y="5701432"/>
            <a:ext cx="1720447" cy="1156568"/>
            <a:chOff x="0" y="0"/>
            <a:chExt cx="679683" cy="456916"/>
          </a:xfrm>
        </p:grpSpPr>
        <p:sp>
          <p:nvSpPr>
            <p:cNvPr id="12" name="Freeform 12"/>
            <p:cNvSpPr/>
            <p:nvPr/>
          </p:nvSpPr>
          <p:spPr>
            <a:xfrm>
              <a:off x="0" y="0"/>
              <a:ext cx="679683" cy="456916"/>
            </a:xfrm>
            <a:custGeom>
              <a:avLst/>
              <a:gdLst/>
              <a:ahLst/>
              <a:cxnLst/>
              <a:rect l="l" t="t" r="r" b="b"/>
              <a:pathLst>
                <a:path w="679683" h="456916">
                  <a:moveTo>
                    <a:pt x="0" y="0"/>
                  </a:moveTo>
                  <a:lnTo>
                    <a:pt x="679683" y="0"/>
                  </a:lnTo>
                  <a:lnTo>
                    <a:pt x="679683" y="456916"/>
                  </a:lnTo>
                  <a:lnTo>
                    <a:pt x="0" y="456916"/>
                  </a:lnTo>
                  <a:close/>
                </a:path>
              </a:pathLst>
            </a:custGeom>
            <a:solidFill>
              <a:srgbClr val="839BB2"/>
            </a:solidFill>
          </p:spPr>
        </p:sp>
        <p:sp>
          <p:nvSpPr>
            <p:cNvPr id="13" name="TextBox 13"/>
            <p:cNvSpPr txBox="1"/>
            <p:nvPr/>
          </p:nvSpPr>
          <p:spPr>
            <a:xfrm>
              <a:off x="0" y="-38100"/>
              <a:ext cx="679683" cy="49501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4" name="Group 14"/>
          <p:cNvGrpSpPr/>
          <p:nvPr/>
        </p:nvGrpSpPr>
        <p:grpSpPr>
          <a:xfrm>
            <a:off x="4180638" y="1556164"/>
            <a:ext cx="3830725" cy="778310"/>
            <a:chOff x="0" y="0"/>
            <a:chExt cx="1513373" cy="307480"/>
          </a:xfrm>
        </p:grpSpPr>
        <p:sp>
          <p:nvSpPr>
            <p:cNvPr id="15" name="Freeform 15"/>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6" name="TextBox 16"/>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7" name="TextBox 17"/>
          <p:cNvSpPr txBox="1"/>
          <p:nvPr/>
        </p:nvSpPr>
        <p:spPr>
          <a:xfrm>
            <a:off x="5151624" y="4885789"/>
            <a:ext cx="1888754" cy="330347"/>
          </a:xfrm>
          <a:prstGeom prst="rect">
            <a:avLst/>
          </a:prstGeom>
        </p:spPr>
        <p:txBody>
          <a:bodyPr lIns="0" tIns="0" rIns="0" bIns="0" rtlCol="0" anchor="t">
            <a:spAutoFit/>
          </a:bodyPr>
          <a:lstStyle/>
          <a:p>
            <a:pPr>
              <a:lnSpc>
                <a:spcPts val="2800"/>
              </a:lnSpc>
            </a:pPr>
            <a:r>
              <a:rPr lang="en-US" sz="20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汇报人：xx</a:t>
            </a:r>
          </a:p>
        </p:txBody>
      </p:sp>
      <p:sp>
        <p:nvSpPr>
          <p:cNvPr id="18" name="TextBox 18"/>
          <p:cNvSpPr txBox="1"/>
          <p:nvPr/>
        </p:nvSpPr>
        <p:spPr>
          <a:xfrm>
            <a:off x="1426887" y="2201124"/>
            <a:ext cx="9338227" cy="2303387"/>
          </a:xfrm>
          <a:prstGeom prst="rect">
            <a:avLst/>
          </a:prstGeom>
        </p:spPr>
        <p:txBody>
          <a:bodyPr lIns="0" tIns="0" rIns="0" bIns="0" rtlCol="0" anchor="t">
            <a:spAutoFit/>
          </a:bodyPr>
          <a:lstStyle/>
          <a:p>
            <a:pPr algn="ctr">
              <a:lnSpc>
                <a:spcPts val="9614"/>
              </a:lnSpc>
              <a:spcBef>
                <a:spcPct val="0"/>
              </a:spcBef>
            </a:pPr>
            <a:r>
              <a:rPr lang="en-US" sz="6867" spc="412">
                <a:solidFill>
                  <a:srgbClr val="374756"/>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专注高校场景的C2C闲置交易平台</a:t>
            </a:r>
          </a:p>
        </p:txBody>
      </p:sp>
      <p:sp>
        <p:nvSpPr>
          <p:cNvPr id="19" name="TextBox 19"/>
          <p:cNvSpPr txBox="1"/>
          <p:nvPr/>
        </p:nvSpPr>
        <p:spPr>
          <a:xfrm>
            <a:off x="4303440" y="1573861"/>
            <a:ext cx="3585121" cy="625428"/>
          </a:xfrm>
          <a:prstGeom prst="rect">
            <a:avLst/>
          </a:prstGeom>
        </p:spPr>
        <p:txBody>
          <a:bodyPr lIns="0" tIns="0" rIns="0" bIns="0" rtlCol="0" anchor="t">
            <a:spAutoFit/>
          </a:bodyPr>
          <a:lstStyle/>
          <a:p>
            <a:pPr algn="ctr">
              <a:lnSpc>
                <a:spcPts val="5600"/>
              </a:lnSpc>
            </a:pPr>
            <a:r>
              <a:rPr lang="en-US" sz="4000" spc="275">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第14组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4663623" cy="1950566"/>
            <a:chOff x="0" y="0"/>
            <a:chExt cx="1842419" cy="770594"/>
          </a:xfrm>
        </p:grpSpPr>
        <p:sp>
          <p:nvSpPr>
            <p:cNvPr id="3" name="Freeform 3"/>
            <p:cNvSpPr/>
            <p:nvPr/>
          </p:nvSpPr>
          <p:spPr>
            <a:xfrm>
              <a:off x="0" y="0"/>
              <a:ext cx="1842419" cy="770594"/>
            </a:xfrm>
            <a:custGeom>
              <a:avLst/>
              <a:gdLst/>
              <a:ahLst/>
              <a:cxnLst/>
              <a:rect l="l" t="t" r="r" b="b"/>
              <a:pathLst>
                <a:path w="1842419" h="770594">
                  <a:moveTo>
                    <a:pt x="0" y="0"/>
                  </a:moveTo>
                  <a:lnTo>
                    <a:pt x="1842419" y="0"/>
                  </a:lnTo>
                  <a:lnTo>
                    <a:pt x="1842419" y="770594"/>
                  </a:lnTo>
                  <a:lnTo>
                    <a:pt x="0" y="770594"/>
                  </a:lnTo>
                  <a:close/>
                </a:path>
              </a:pathLst>
            </a:custGeom>
            <a:solidFill>
              <a:srgbClr val="839BB2"/>
            </a:solidFill>
          </p:spPr>
        </p:sp>
        <p:sp>
          <p:nvSpPr>
            <p:cNvPr id="4" name="TextBox 4"/>
            <p:cNvSpPr txBox="1"/>
            <p:nvPr/>
          </p:nvSpPr>
          <p:spPr>
            <a:xfrm>
              <a:off x="0" y="-38100"/>
              <a:ext cx="1842419" cy="808694"/>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800383" y="746483"/>
            <a:ext cx="10591235" cy="5365035"/>
            <a:chOff x="0" y="0"/>
            <a:chExt cx="4184191" cy="2119520"/>
          </a:xfrm>
        </p:grpSpPr>
        <p:sp>
          <p:nvSpPr>
            <p:cNvPr id="6" name="Freeform 6"/>
            <p:cNvSpPr/>
            <p:nvPr/>
          </p:nvSpPr>
          <p:spPr>
            <a:xfrm>
              <a:off x="0" y="0"/>
              <a:ext cx="4184192" cy="2119520"/>
            </a:xfrm>
            <a:custGeom>
              <a:avLst/>
              <a:gdLst/>
              <a:ahLst/>
              <a:cxnLst/>
              <a:rect l="l" t="t" r="r" b="b"/>
              <a:pathLst>
                <a:path w="4184192" h="2119520">
                  <a:moveTo>
                    <a:pt x="0" y="0"/>
                  </a:moveTo>
                  <a:lnTo>
                    <a:pt x="4184192" y="0"/>
                  </a:lnTo>
                  <a:lnTo>
                    <a:pt x="4184192" y="2119520"/>
                  </a:lnTo>
                  <a:lnTo>
                    <a:pt x="0" y="2119520"/>
                  </a:lnTo>
                  <a:close/>
                </a:path>
              </a:pathLst>
            </a:custGeom>
            <a:solidFill>
              <a:srgbClr val="E6E6E6"/>
            </a:solidFill>
          </p:spPr>
        </p:sp>
        <p:sp>
          <p:nvSpPr>
            <p:cNvPr id="7" name="TextBox 7"/>
            <p:cNvSpPr txBox="1"/>
            <p:nvPr/>
          </p:nvSpPr>
          <p:spPr>
            <a:xfrm>
              <a:off x="0" y="-38100"/>
              <a:ext cx="4184191" cy="215762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4311436" y="2201253"/>
            <a:ext cx="7880565" cy="4656747"/>
            <a:chOff x="0" y="0"/>
            <a:chExt cx="3113310" cy="1839702"/>
          </a:xfrm>
        </p:grpSpPr>
        <p:sp>
          <p:nvSpPr>
            <p:cNvPr id="9" name="Freeform 9"/>
            <p:cNvSpPr/>
            <p:nvPr/>
          </p:nvSpPr>
          <p:spPr>
            <a:xfrm>
              <a:off x="0" y="0"/>
              <a:ext cx="3113310" cy="1839702"/>
            </a:xfrm>
            <a:custGeom>
              <a:avLst/>
              <a:gdLst/>
              <a:ahLst/>
              <a:cxnLst/>
              <a:rect l="l" t="t" r="r" b="b"/>
              <a:pathLst>
                <a:path w="3113310" h="1839702">
                  <a:moveTo>
                    <a:pt x="0" y="0"/>
                  </a:moveTo>
                  <a:lnTo>
                    <a:pt x="3113310" y="0"/>
                  </a:lnTo>
                  <a:lnTo>
                    <a:pt x="3113310" y="1839702"/>
                  </a:lnTo>
                  <a:lnTo>
                    <a:pt x="0" y="1839702"/>
                  </a:lnTo>
                  <a:close/>
                </a:path>
              </a:pathLst>
            </a:custGeom>
            <a:solidFill>
              <a:srgbClr val="839BB2"/>
            </a:solidFill>
          </p:spPr>
        </p:sp>
        <p:sp>
          <p:nvSpPr>
            <p:cNvPr id="10" name="TextBox 10"/>
            <p:cNvSpPr txBox="1"/>
            <p:nvPr/>
          </p:nvSpPr>
          <p:spPr>
            <a:xfrm>
              <a:off x="0" y="-38100"/>
              <a:ext cx="3113310" cy="1877802"/>
            </a:xfrm>
            <a:prstGeom prst="rect">
              <a:avLst/>
            </a:prstGeom>
          </p:spPr>
          <p:txBody>
            <a:bodyPr lIns="33867" tIns="33867" rIns="33867" bIns="33867" rtlCol="0" anchor="ctr"/>
            <a:lstStyle/>
            <a:p>
              <a:pPr algn="ctr">
                <a:lnSpc>
                  <a:spcPts val="1773"/>
                </a:lnSpc>
                <a:spcBef>
                  <a:spcPct val="0"/>
                </a:spcBef>
              </a:pPr>
              <a:endParaRPr sz="1200"/>
            </a:p>
          </p:txBody>
        </p:sp>
      </p:grpSp>
      <p:sp>
        <p:nvSpPr>
          <p:cNvPr id="11" name="TextBox 11"/>
          <p:cNvSpPr txBox="1"/>
          <p:nvPr/>
        </p:nvSpPr>
        <p:spPr>
          <a:xfrm>
            <a:off x="5122913" y="3217324"/>
            <a:ext cx="6038183" cy="882614"/>
          </a:xfrm>
          <a:prstGeom prst="rect">
            <a:avLst/>
          </a:prstGeom>
        </p:spPr>
        <p:txBody>
          <a:bodyPr lIns="0" tIns="0" rIns="0" bIns="0" rtlCol="0" anchor="t">
            <a:spAutoFit/>
          </a:bodyPr>
          <a:lstStyle/>
          <a:p>
            <a:pPr>
              <a:lnSpc>
                <a:spcPts val="7924"/>
              </a:lnSpc>
              <a:spcBef>
                <a:spcPct val="0"/>
              </a:spcBef>
            </a:pPr>
            <a:r>
              <a:rPr lang="en-US" sz="5660">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调整与改进</a:t>
            </a:r>
            <a:endParaRPr lang="en-US" sz="1200">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3" name="TextBox 13"/>
          <p:cNvSpPr txBox="1"/>
          <p:nvPr/>
        </p:nvSpPr>
        <p:spPr>
          <a:xfrm>
            <a:off x="1732437" y="2690274"/>
            <a:ext cx="2274919" cy="2070182"/>
          </a:xfrm>
          <a:prstGeom prst="rect">
            <a:avLst/>
          </a:prstGeom>
        </p:spPr>
        <p:txBody>
          <a:bodyPr lIns="0" tIns="0" rIns="0" bIns="0" rtlCol="0" anchor="t">
            <a:spAutoFit/>
          </a:bodyPr>
          <a:lstStyle/>
          <a:p>
            <a:pPr>
              <a:lnSpc>
                <a:spcPts val="17198"/>
              </a:lnSpc>
              <a:spcBef>
                <a:spcPct val="0"/>
              </a:spcBef>
            </a:pPr>
            <a:r>
              <a:rPr lang="en-US" sz="12284" b="1" spc="-749">
                <a:solidFill>
                  <a:srgbClr val="374756"/>
                </a:solidFill>
                <a:latin typeface="Agrandir Bold" panose="00000800000000000000"/>
                <a:ea typeface="Agrandir Bold" panose="00000800000000000000"/>
                <a:cs typeface="Agrandir Bold" panose="00000800000000000000"/>
                <a:sym typeface="Agrandir Bold" panose="00000800000000000000"/>
              </a:rPr>
              <a:t>01</a:t>
            </a:r>
          </a:p>
        </p:txBody>
      </p:sp>
      <p:sp>
        <p:nvSpPr>
          <p:cNvPr id="14" name="TextBox 14"/>
          <p:cNvSpPr txBox="1"/>
          <p:nvPr/>
        </p:nvSpPr>
        <p:spPr>
          <a:xfrm>
            <a:off x="1732437" y="1332133"/>
            <a:ext cx="4960187" cy="1228221"/>
          </a:xfrm>
          <a:prstGeom prst="rect">
            <a:avLst/>
          </a:prstGeom>
        </p:spPr>
        <p:txBody>
          <a:bodyPr lIns="0" tIns="0" rIns="0" bIns="0" rtlCol="0" anchor="t">
            <a:spAutoFit/>
          </a:bodyPr>
          <a:lstStyle/>
          <a:p>
            <a:pPr>
              <a:lnSpc>
                <a:spcPts val="10221"/>
              </a:lnSpc>
              <a:spcBef>
                <a:spcPct val="0"/>
              </a:spcBef>
            </a:pPr>
            <a:r>
              <a:rPr lang="en-US" sz="7300">
                <a:solidFill>
                  <a:srgbClr val="374756"/>
                </a:solidFill>
                <a:latin typeface="Agrandir" panose="00000500000000000000"/>
                <a:ea typeface="Agrandir" panose="00000500000000000000"/>
                <a:cs typeface="Agrandir" panose="00000500000000000000"/>
                <a:sym typeface="Agrandir" panose="00000500000000000000"/>
              </a:rPr>
              <a:t>PART 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调整</a:t>
            </a:r>
            <a:r>
              <a:rPr lang="zh-CN" altLang="en-US" sz="2987" spc="206">
                <a:solidFill>
                  <a:srgbClr val="FFFFFF"/>
                </a:solidFill>
                <a:latin typeface="字由点字倔强黑" panose="00020600040101010101" charset="-122"/>
                <a:ea typeface="字由点字倔强黑" panose="00020600040101010101" charset="-122"/>
                <a:cs typeface="Arial" panose="020B0604020202020204" pitchFamily="34" charset="0"/>
                <a:sym typeface="字由点字倔强黑" panose="00020600040101010101" charset="-122"/>
              </a:rPr>
              <a:t>改进</a:t>
            </a:r>
            <a:r>
              <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概述</a:t>
            </a:r>
          </a:p>
        </p:txBody>
      </p:sp>
      <p:grpSp>
        <p:nvGrpSpPr>
          <p:cNvPr id="15" name="Group 15"/>
          <p:cNvGrpSpPr/>
          <p:nvPr/>
        </p:nvGrpSpPr>
        <p:grpSpPr>
          <a:xfrm>
            <a:off x="958882" y="2966210"/>
            <a:ext cx="2207391" cy="2823210"/>
            <a:chOff x="0" y="0"/>
            <a:chExt cx="872056" cy="1115342"/>
          </a:xfrm>
        </p:grpSpPr>
        <p:sp>
          <p:nvSpPr>
            <p:cNvPr id="16" name="Freeform 16"/>
            <p:cNvSpPr/>
            <p:nvPr/>
          </p:nvSpPr>
          <p:spPr>
            <a:xfrm>
              <a:off x="0" y="0"/>
              <a:ext cx="872056" cy="1115342"/>
            </a:xfrm>
            <a:custGeom>
              <a:avLst/>
              <a:gdLst/>
              <a:ahLst/>
              <a:cxnLst/>
              <a:rect l="l" t="t" r="r" b="b"/>
              <a:pathLst>
                <a:path w="872056" h="1115342">
                  <a:moveTo>
                    <a:pt x="46764" y="0"/>
                  </a:moveTo>
                  <a:lnTo>
                    <a:pt x="825292" y="0"/>
                  </a:lnTo>
                  <a:cubicBezTo>
                    <a:pt x="851119" y="0"/>
                    <a:pt x="872056" y="20937"/>
                    <a:pt x="872056" y="46764"/>
                  </a:cubicBezTo>
                  <a:lnTo>
                    <a:pt x="872056" y="1068579"/>
                  </a:lnTo>
                  <a:cubicBezTo>
                    <a:pt x="872056" y="1080981"/>
                    <a:pt x="867129" y="1092876"/>
                    <a:pt x="858359" y="1101646"/>
                  </a:cubicBezTo>
                  <a:cubicBezTo>
                    <a:pt x="849589" y="1110415"/>
                    <a:pt x="837695" y="1115342"/>
                    <a:pt x="825292" y="1115342"/>
                  </a:cubicBezTo>
                  <a:lnTo>
                    <a:pt x="46764" y="1115342"/>
                  </a:lnTo>
                  <a:cubicBezTo>
                    <a:pt x="20937" y="1115342"/>
                    <a:pt x="0" y="1094405"/>
                    <a:pt x="0" y="1068579"/>
                  </a:cubicBezTo>
                  <a:lnTo>
                    <a:pt x="0" y="46764"/>
                  </a:lnTo>
                  <a:cubicBezTo>
                    <a:pt x="0" y="20937"/>
                    <a:pt x="20937" y="0"/>
                    <a:pt x="46764" y="0"/>
                  </a:cubicBezTo>
                  <a:close/>
                </a:path>
              </a:pathLst>
            </a:custGeom>
            <a:solidFill>
              <a:srgbClr val="FFFFFF"/>
            </a:solidFill>
            <a:ln w="19050" cap="sq">
              <a:solidFill>
                <a:srgbClr val="839BB2"/>
              </a:solidFill>
              <a:prstDash val="solid"/>
              <a:miter/>
            </a:ln>
          </p:spPr>
        </p:sp>
        <p:sp>
          <p:nvSpPr>
            <p:cNvPr id="17" name="TextBox 17"/>
            <p:cNvSpPr txBox="1"/>
            <p:nvPr/>
          </p:nvSpPr>
          <p:spPr>
            <a:xfrm>
              <a:off x="0" y="-47625"/>
              <a:ext cx="872056" cy="1162967"/>
            </a:xfrm>
            <a:prstGeom prst="rect">
              <a:avLst/>
            </a:prstGeom>
          </p:spPr>
          <p:txBody>
            <a:bodyPr lIns="33867" tIns="33867" rIns="33867" bIns="33867" rtlCol="0" anchor="ctr"/>
            <a:lstStyle/>
            <a:p>
              <a:pPr algn="ctr">
                <a:lnSpc>
                  <a:spcPts val="1773"/>
                </a:lnSpc>
              </a:pPr>
              <a:endParaRPr sz="1200"/>
            </a:p>
          </p:txBody>
        </p:sp>
      </p:grpSp>
      <p:grpSp>
        <p:nvGrpSpPr>
          <p:cNvPr id="18" name="Group 18"/>
          <p:cNvGrpSpPr/>
          <p:nvPr/>
        </p:nvGrpSpPr>
        <p:grpSpPr>
          <a:xfrm>
            <a:off x="3645745" y="2966210"/>
            <a:ext cx="2207391" cy="2823210"/>
            <a:chOff x="0" y="0"/>
            <a:chExt cx="872056" cy="1115342"/>
          </a:xfrm>
        </p:grpSpPr>
        <p:sp>
          <p:nvSpPr>
            <p:cNvPr id="19" name="Freeform 19"/>
            <p:cNvSpPr/>
            <p:nvPr/>
          </p:nvSpPr>
          <p:spPr>
            <a:xfrm>
              <a:off x="0" y="0"/>
              <a:ext cx="872056" cy="1115342"/>
            </a:xfrm>
            <a:custGeom>
              <a:avLst/>
              <a:gdLst/>
              <a:ahLst/>
              <a:cxnLst/>
              <a:rect l="l" t="t" r="r" b="b"/>
              <a:pathLst>
                <a:path w="872056" h="1115342">
                  <a:moveTo>
                    <a:pt x="46764" y="0"/>
                  </a:moveTo>
                  <a:lnTo>
                    <a:pt x="825292" y="0"/>
                  </a:lnTo>
                  <a:cubicBezTo>
                    <a:pt x="851119" y="0"/>
                    <a:pt x="872056" y="20937"/>
                    <a:pt x="872056" y="46764"/>
                  </a:cubicBezTo>
                  <a:lnTo>
                    <a:pt x="872056" y="1068579"/>
                  </a:lnTo>
                  <a:cubicBezTo>
                    <a:pt x="872056" y="1080981"/>
                    <a:pt x="867129" y="1092876"/>
                    <a:pt x="858359" y="1101646"/>
                  </a:cubicBezTo>
                  <a:cubicBezTo>
                    <a:pt x="849589" y="1110415"/>
                    <a:pt x="837695" y="1115342"/>
                    <a:pt x="825292" y="1115342"/>
                  </a:cubicBezTo>
                  <a:lnTo>
                    <a:pt x="46764" y="1115342"/>
                  </a:lnTo>
                  <a:cubicBezTo>
                    <a:pt x="20937" y="1115342"/>
                    <a:pt x="0" y="1094405"/>
                    <a:pt x="0" y="1068579"/>
                  </a:cubicBezTo>
                  <a:lnTo>
                    <a:pt x="0" y="46764"/>
                  </a:lnTo>
                  <a:cubicBezTo>
                    <a:pt x="0" y="20937"/>
                    <a:pt x="20937" y="0"/>
                    <a:pt x="46764" y="0"/>
                  </a:cubicBezTo>
                  <a:close/>
                </a:path>
              </a:pathLst>
            </a:custGeom>
            <a:solidFill>
              <a:srgbClr val="FFFFFF"/>
            </a:solidFill>
            <a:ln w="19050" cap="sq">
              <a:solidFill>
                <a:srgbClr val="839BB2"/>
              </a:solidFill>
              <a:prstDash val="solid"/>
              <a:miter/>
            </a:ln>
          </p:spPr>
        </p:sp>
        <p:sp>
          <p:nvSpPr>
            <p:cNvPr id="20" name="TextBox 20"/>
            <p:cNvSpPr txBox="1"/>
            <p:nvPr/>
          </p:nvSpPr>
          <p:spPr>
            <a:xfrm>
              <a:off x="0" y="-47625"/>
              <a:ext cx="872056" cy="116296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21" name="Group 21"/>
          <p:cNvGrpSpPr/>
          <p:nvPr/>
        </p:nvGrpSpPr>
        <p:grpSpPr>
          <a:xfrm>
            <a:off x="6335736" y="2966210"/>
            <a:ext cx="2207391" cy="2823210"/>
            <a:chOff x="0" y="0"/>
            <a:chExt cx="872056" cy="1115342"/>
          </a:xfrm>
        </p:grpSpPr>
        <p:sp>
          <p:nvSpPr>
            <p:cNvPr id="22" name="Freeform 22"/>
            <p:cNvSpPr/>
            <p:nvPr/>
          </p:nvSpPr>
          <p:spPr>
            <a:xfrm>
              <a:off x="0" y="0"/>
              <a:ext cx="872056" cy="1115342"/>
            </a:xfrm>
            <a:custGeom>
              <a:avLst/>
              <a:gdLst/>
              <a:ahLst/>
              <a:cxnLst/>
              <a:rect l="l" t="t" r="r" b="b"/>
              <a:pathLst>
                <a:path w="872056" h="1115342">
                  <a:moveTo>
                    <a:pt x="46764" y="0"/>
                  </a:moveTo>
                  <a:lnTo>
                    <a:pt x="825292" y="0"/>
                  </a:lnTo>
                  <a:cubicBezTo>
                    <a:pt x="851119" y="0"/>
                    <a:pt x="872056" y="20937"/>
                    <a:pt x="872056" y="46764"/>
                  </a:cubicBezTo>
                  <a:lnTo>
                    <a:pt x="872056" y="1068579"/>
                  </a:lnTo>
                  <a:cubicBezTo>
                    <a:pt x="872056" y="1080981"/>
                    <a:pt x="867129" y="1092876"/>
                    <a:pt x="858359" y="1101646"/>
                  </a:cubicBezTo>
                  <a:cubicBezTo>
                    <a:pt x="849589" y="1110415"/>
                    <a:pt x="837695" y="1115342"/>
                    <a:pt x="825292" y="1115342"/>
                  </a:cubicBezTo>
                  <a:lnTo>
                    <a:pt x="46764" y="1115342"/>
                  </a:lnTo>
                  <a:cubicBezTo>
                    <a:pt x="20937" y="1115342"/>
                    <a:pt x="0" y="1094405"/>
                    <a:pt x="0" y="1068579"/>
                  </a:cubicBezTo>
                  <a:lnTo>
                    <a:pt x="0" y="46764"/>
                  </a:lnTo>
                  <a:cubicBezTo>
                    <a:pt x="0" y="20937"/>
                    <a:pt x="20937" y="0"/>
                    <a:pt x="46764" y="0"/>
                  </a:cubicBezTo>
                  <a:close/>
                </a:path>
              </a:pathLst>
            </a:custGeom>
            <a:solidFill>
              <a:srgbClr val="FFFFFF"/>
            </a:solidFill>
            <a:ln w="19050" cap="sq">
              <a:solidFill>
                <a:srgbClr val="839BB2"/>
              </a:solidFill>
              <a:prstDash val="solid"/>
              <a:miter/>
            </a:ln>
          </p:spPr>
        </p:sp>
        <p:sp>
          <p:nvSpPr>
            <p:cNvPr id="23" name="TextBox 23"/>
            <p:cNvSpPr txBox="1"/>
            <p:nvPr/>
          </p:nvSpPr>
          <p:spPr>
            <a:xfrm>
              <a:off x="0" y="-47625"/>
              <a:ext cx="872056" cy="1162967"/>
            </a:xfrm>
            <a:prstGeom prst="rect">
              <a:avLst/>
            </a:prstGeom>
          </p:spPr>
          <p:txBody>
            <a:bodyPr lIns="33867" tIns="33867" rIns="33867" bIns="33867" rtlCol="0" anchor="ctr"/>
            <a:lstStyle/>
            <a:p>
              <a:pPr algn="ctr">
                <a:lnSpc>
                  <a:spcPts val="1773"/>
                </a:lnSpc>
              </a:pPr>
              <a:endParaRPr sz="1200"/>
            </a:p>
          </p:txBody>
        </p:sp>
      </p:grpSp>
      <p:grpSp>
        <p:nvGrpSpPr>
          <p:cNvPr id="24" name="Group 24"/>
          <p:cNvGrpSpPr/>
          <p:nvPr/>
        </p:nvGrpSpPr>
        <p:grpSpPr>
          <a:xfrm>
            <a:off x="9025727" y="2966210"/>
            <a:ext cx="2207391" cy="2823210"/>
            <a:chOff x="0" y="0"/>
            <a:chExt cx="872056" cy="1115342"/>
          </a:xfrm>
        </p:grpSpPr>
        <p:sp>
          <p:nvSpPr>
            <p:cNvPr id="25" name="Freeform 25"/>
            <p:cNvSpPr/>
            <p:nvPr/>
          </p:nvSpPr>
          <p:spPr>
            <a:xfrm>
              <a:off x="0" y="0"/>
              <a:ext cx="872056" cy="1115342"/>
            </a:xfrm>
            <a:custGeom>
              <a:avLst/>
              <a:gdLst/>
              <a:ahLst/>
              <a:cxnLst/>
              <a:rect l="l" t="t" r="r" b="b"/>
              <a:pathLst>
                <a:path w="872056" h="1115342">
                  <a:moveTo>
                    <a:pt x="46764" y="0"/>
                  </a:moveTo>
                  <a:lnTo>
                    <a:pt x="825292" y="0"/>
                  </a:lnTo>
                  <a:cubicBezTo>
                    <a:pt x="851119" y="0"/>
                    <a:pt x="872056" y="20937"/>
                    <a:pt x="872056" y="46764"/>
                  </a:cubicBezTo>
                  <a:lnTo>
                    <a:pt x="872056" y="1068579"/>
                  </a:lnTo>
                  <a:cubicBezTo>
                    <a:pt x="872056" y="1080981"/>
                    <a:pt x="867129" y="1092876"/>
                    <a:pt x="858359" y="1101646"/>
                  </a:cubicBezTo>
                  <a:cubicBezTo>
                    <a:pt x="849589" y="1110415"/>
                    <a:pt x="837695" y="1115342"/>
                    <a:pt x="825292" y="1115342"/>
                  </a:cubicBezTo>
                  <a:lnTo>
                    <a:pt x="46764" y="1115342"/>
                  </a:lnTo>
                  <a:cubicBezTo>
                    <a:pt x="20937" y="1115342"/>
                    <a:pt x="0" y="1094405"/>
                    <a:pt x="0" y="1068579"/>
                  </a:cubicBezTo>
                  <a:lnTo>
                    <a:pt x="0" y="46764"/>
                  </a:lnTo>
                  <a:cubicBezTo>
                    <a:pt x="0" y="20937"/>
                    <a:pt x="20937" y="0"/>
                    <a:pt x="46764" y="0"/>
                  </a:cubicBezTo>
                  <a:close/>
                </a:path>
              </a:pathLst>
            </a:custGeom>
            <a:solidFill>
              <a:srgbClr val="FFFFFF"/>
            </a:solidFill>
            <a:ln w="19050" cap="sq">
              <a:solidFill>
                <a:srgbClr val="839BB2"/>
              </a:solidFill>
              <a:prstDash val="solid"/>
              <a:miter/>
            </a:ln>
          </p:spPr>
        </p:sp>
        <p:sp>
          <p:nvSpPr>
            <p:cNvPr id="26" name="TextBox 26"/>
            <p:cNvSpPr txBox="1"/>
            <p:nvPr/>
          </p:nvSpPr>
          <p:spPr>
            <a:xfrm>
              <a:off x="0" y="-47625"/>
              <a:ext cx="872056" cy="1162967"/>
            </a:xfrm>
            <a:prstGeom prst="rect">
              <a:avLst/>
            </a:prstGeom>
          </p:spPr>
          <p:txBody>
            <a:bodyPr lIns="33867" tIns="33867" rIns="33867" bIns="33867" rtlCol="0" anchor="ctr"/>
            <a:lstStyle/>
            <a:p>
              <a:pPr algn="ctr">
                <a:lnSpc>
                  <a:spcPts val="1773"/>
                </a:lnSpc>
              </a:pPr>
              <a:endParaRPr sz="1200"/>
            </a:p>
          </p:txBody>
        </p:sp>
      </p:grpSp>
      <p:grpSp>
        <p:nvGrpSpPr>
          <p:cNvPr id="27" name="Group 27"/>
          <p:cNvGrpSpPr/>
          <p:nvPr/>
        </p:nvGrpSpPr>
        <p:grpSpPr>
          <a:xfrm rot="5400000">
            <a:off x="6016317" y="-2484261"/>
            <a:ext cx="159366" cy="11010706"/>
            <a:chOff x="0" y="0"/>
            <a:chExt cx="62959" cy="4349908"/>
          </a:xfrm>
        </p:grpSpPr>
        <p:sp>
          <p:nvSpPr>
            <p:cNvPr id="28" name="Freeform 28"/>
            <p:cNvSpPr/>
            <p:nvPr/>
          </p:nvSpPr>
          <p:spPr>
            <a:xfrm>
              <a:off x="0" y="0"/>
              <a:ext cx="62959" cy="4349909"/>
            </a:xfrm>
            <a:custGeom>
              <a:avLst/>
              <a:gdLst/>
              <a:ahLst/>
              <a:cxnLst/>
              <a:rect l="l" t="t" r="r" b="b"/>
              <a:pathLst>
                <a:path w="62959" h="4349909">
                  <a:moveTo>
                    <a:pt x="0" y="0"/>
                  </a:moveTo>
                  <a:lnTo>
                    <a:pt x="62959" y="0"/>
                  </a:lnTo>
                  <a:lnTo>
                    <a:pt x="62959" y="4349909"/>
                  </a:lnTo>
                  <a:lnTo>
                    <a:pt x="0" y="4349909"/>
                  </a:lnTo>
                  <a:close/>
                </a:path>
              </a:pathLst>
            </a:custGeom>
            <a:solidFill>
              <a:srgbClr val="374756"/>
            </a:solidFill>
          </p:spPr>
        </p:sp>
        <p:sp>
          <p:nvSpPr>
            <p:cNvPr id="29" name="TextBox 29"/>
            <p:cNvSpPr txBox="1"/>
            <p:nvPr/>
          </p:nvSpPr>
          <p:spPr>
            <a:xfrm>
              <a:off x="0" y="-47625"/>
              <a:ext cx="62959" cy="4397533"/>
            </a:xfrm>
            <a:prstGeom prst="rect">
              <a:avLst/>
            </a:prstGeom>
          </p:spPr>
          <p:txBody>
            <a:bodyPr lIns="33867" tIns="33867" rIns="33867" bIns="33867" rtlCol="0" anchor="ctr"/>
            <a:lstStyle/>
            <a:p>
              <a:pPr algn="ctr">
                <a:lnSpc>
                  <a:spcPts val="1773"/>
                </a:lnSpc>
              </a:pPr>
              <a:endParaRPr sz="1200"/>
            </a:p>
          </p:txBody>
        </p:sp>
      </p:grpSp>
      <p:grpSp>
        <p:nvGrpSpPr>
          <p:cNvPr id="30" name="Group 30"/>
          <p:cNvGrpSpPr/>
          <p:nvPr/>
        </p:nvGrpSpPr>
        <p:grpSpPr>
          <a:xfrm>
            <a:off x="964994" y="1970196"/>
            <a:ext cx="846877" cy="84687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839BB2"/>
            </a:solidFill>
            <a:ln w="38100" cap="rnd">
              <a:solidFill>
                <a:srgbClr val="839BB2"/>
              </a:solidFill>
              <a:prstDash val="solid"/>
              <a:round/>
            </a:ln>
          </p:spPr>
        </p:sp>
        <p:sp>
          <p:nvSpPr>
            <p:cNvPr id="32" name="TextBox 32"/>
            <p:cNvSpPr txBox="1"/>
            <p:nvPr/>
          </p:nvSpPr>
          <p:spPr>
            <a:xfrm>
              <a:off x="76200" y="28575"/>
              <a:ext cx="660400" cy="708025"/>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33" name="Group 33"/>
          <p:cNvGrpSpPr/>
          <p:nvPr/>
        </p:nvGrpSpPr>
        <p:grpSpPr>
          <a:xfrm>
            <a:off x="3651857" y="1970196"/>
            <a:ext cx="846877" cy="846877"/>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839BB2"/>
            </a:solidFill>
            <a:ln w="38100" cap="rnd">
              <a:solidFill>
                <a:srgbClr val="839BB2"/>
              </a:solidFill>
              <a:prstDash val="solid"/>
              <a:round/>
            </a:ln>
          </p:spPr>
        </p:sp>
        <p:sp>
          <p:nvSpPr>
            <p:cNvPr id="35" name="TextBox 35"/>
            <p:cNvSpPr txBox="1"/>
            <p:nvPr/>
          </p:nvSpPr>
          <p:spPr>
            <a:xfrm>
              <a:off x="76200" y="28575"/>
              <a:ext cx="660400" cy="708025"/>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36" name="Group 36"/>
          <p:cNvGrpSpPr/>
          <p:nvPr/>
        </p:nvGrpSpPr>
        <p:grpSpPr>
          <a:xfrm>
            <a:off x="6386298" y="1970196"/>
            <a:ext cx="846877" cy="846877"/>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839BB2"/>
            </a:solidFill>
            <a:ln w="38100" cap="rnd">
              <a:solidFill>
                <a:srgbClr val="839BB2"/>
              </a:solidFill>
              <a:prstDash val="solid"/>
              <a:round/>
            </a:ln>
          </p:spPr>
        </p:sp>
        <p:sp>
          <p:nvSpPr>
            <p:cNvPr id="38" name="TextBox 38"/>
            <p:cNvSpPr txBox="1"/>
            <p:nvPr/>
          </p:nvSpPr>
          <p:spPr>
            <a:xfrm>
              <a:off x="76200" y="28575"/>
              <a:ext cx="660400" cy="708025"/>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39" name="Group 39"/>
          <p:cNvGrpSpPr/>
          <p:nvPr/>
        </p:nvGrpSpPr>
        <p:grpSpPr>
          <a:xfrm>
            <a:off x="9034548" y="1970196"/>
            <a:ext cx="846877" cy="846877"/>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839BB2"/>
            </a:solidFill>
            <a:ln w="38100" cap="rnd">
              <a:solidFill>
                <a:srgbClr val="839BB2"/>
              </a:solidFill>
              <a:prstDash val="solid"/>
              <a:round/>
            </a:ln>
          </p:spPr>
        </p:sp>
        <p:sp>
          <p:nvSpPr>
            <p:cNvPr id="41" name="TextBox 41"/>
            <p:cNvSpPr txBox="1"/>
            <p:nvPr/>
          </p:nvSpPr>
          <p:spPr>
            <a:xfrm>
              <a:off x="76200" y="28575"/>
              <a:ext cx="660400" cy="708025"/>
            </a:xfrm>
            <a:prstGeom prst="rect">
              <a:avLst/>
            </a:prstGeom>
          </p:spPr>
          <p:txBody>
            <a:bodyPr lIns="33867" tIns="33867" rIns="33867" bIns="33867" rtlCol="0" anchor="ctr"/>
            <a:lstStyle/>
            <a:p>
              <a:pPr algn="ctr">
                <a:lnSpc>
                  <a:spcPts val="1773"/>
                </a:lnSpc>
                <a:spcBef>
                  <a:spcPct val="0"/>
                </a:spcBef>
              </a:pPr>
              <a:endParaRPr sz="1200"/>
            </a:p>
          </p:txBody>
        </p:sp>
      </p:grpSp>
      <p:sp>
        <p:nvSpPr>
          <p:cNvPr id="42" name="Freeform 42"/>
          <p:cNvSpPr/>
          <p:nvPr/>
        </p:nvSpPr>
        <p:spPr>
          <a:xfrm>
            <a:off x="1245030" y="2256685"/>
            <a:ext cx="286805" cy="273899"/>
          </a:xfrm>
          <a:custGeom>
            <a:avLst/>
            <a:gdLst/>
            <a:ahLst/>
            <a:cxnLst/>
            <a:rect l="l" t="t" r="r" b="b"/>
            <a:pathLst>
              <a:path w="430207" h="410848">
                <a:moveTo>
                  <a:pt x="0" y="0"/>
                </a:moveTo>
                <a:lnTo>
                  <a:pt x="430208" y="0"/>
                </a:lnTo>
                <a:lnTo>
                  <a:pt x="430208" y="410848"/>
                </a:lnTo>
                <a:lnTo>
                  <a:pt x="0" y="4108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Freeform 43"/>
          <p:cNvSpPr/>
          <p:nvPr/>
        </p:nvSpPr>
        <p:spPr>
          <a:xfrm>
            <a:off x="3924126" y="2220870"/>
            <a:ext cx="302337" cy="345528"/>
          </a:xfrm>
          <a:custGeom>
            <a:avLst/>
            <a:gdLst/>
            <a:ahLst/>
            <a:cxnLst/>
            <a:rect l="l" t="t" r="r" b="b"/>
            <a:pathLst>
              <a:path w="453505" h="518292">
                <a:moveTo>
                  <a:pt x="0" y="0"/>
                </a:moveTo>
                <a:lnTo>
                  <a:pt x="453506" y="0"/>
                </a:lnTo>
                <a:lnTo>
                  <a:pt x="453506" y="518292"/>
                </a:lnTo>
                <a:lnTo>
                  <a:pt x="0" y="51829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4" name="Freeform 44"/>
          <p:cNvSpPr/>
          <p:nvPr/>
        </p:nvSpPr>
        <p:spPr>
          <a:xfrm>
            <a:off x="6636045" y="2244694"/>
            <a:ext cx="347383" cy="297881"/>
          </a:xfrm>
          <a:custGeom>
            <a:avLst/>
            <a:gdLst/>
            <a:ahLst/>
            <a:cxnLst/>
            <a:rect l="l" t="t" r="r" b="b"/>
            <a:pathLst>
              <a:path w="521075" h="446821">
                <a:moveTo>
                  <a:pt x="0" y="0"/>
                </a:moveTo>
                <a:lnTo>
                  <a:pt x="521075" y="0"/>
                </a:lnTo>
                <a:lnTo>
                  <a:pt x="521075" y="446821"/>
                </a:lnTo>
                <a:lnTo>
                  <a:pt x="0" y="446821"/>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45" name="Freeform 45"/>
          <p:cNvSpPr/>
          <p:nvPr/>
        </p:nvSpPr>
        <p:spPr>
          <a:xfrm>
            <a:off x="9290474" y="2226122"/>
            <a:ext cx="335025" cy="335025"/>
          </a:xfrm>
          <a:custGeom>
            <a:avLst/>
            <a:gdLst/>
            <a:ahLst/>
            <a:cxnLst/>
            <a:rect l="l" t="t" r="r" b="b"/>
            <a:pathLst>
              <a:path w="502538" h="502538">
                <a:moveTo>
                  <a:pt x="0" y="0"/>
                </a:moveTo>
                <a:lnTo>
                  <a:pt x="502539" y="0"/>
                </a:lnTo>
                <a:lnTo>
                  <a:pt x="502539" y="502538"/>
                </a:lnTo>
                <a:lnTo>
                  <a:pt x="0" y="502538"/>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46" name="TextBox 46"/>
          <p:cNvSpPr txBox="1"/>
          <p:nvPr/>
        </p:nvSpPr>
        <p:spPr>
          <a:xfrm>
            <a:off x="1192218" y="3923977"/>
            <a:ext cx="1869193" cy="1657095"/>
          </a:xfrm>
          <a:prstGeom prst="rect">
            <a:avLst/>
          </a:prstGeom>
        </p:spPr>
        <p:txBody>
          <a:bodyPr wrap="square" lIns="0" tIns="0" rIns="0" bIns="0" rtlCol="0" anchor="t">
            <a:noAutofit/>
          </a:bodyPr>
          <a:lstStyle/>
          <a:p>
            <a:pPr>
              <a:lnSpc>
                <a:spcPct val="130000"/>
              </a:lnSpc>
              <a:spcBef>
                <a:spcPct val="0"/>
              </a:spcBef>
            </a:pP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细化</a:t>
            </a:r>
            <a:r>
              <a:rPr lang="zh-CN" altLang="en-US" sz="1600">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背景调查，市场调研落地，收集问卷数据，行业动态与态势寻找校内二手平台项目定位与价值</a:t>
            </a:r>
          </a:p>
          <a:p>
            <a:pPr>
              <a:lnSpc>
                <a:spcPts val="2000"/>
              </a:lnSpc>
              <a:spcBef>
                <a:spcPct val="0"/>
              </a:spcBef>
            </a:pPr>
            <a:endParaRPr 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47" name="TextBox 47"/>
          <p:cNvSpPr txBox="1"/>
          <p:nvPr/>
        </p:nvSpPr>
        <p:spPr>
          <a:xfrm>
            <a:off x="3879080" y="3923978"/>
            <a:ext cx="1873533" cy="1657123"/>
          </a:xfrm>
          <a:prstGeom prst="rect">
            <a:avLst/>
          </a:prstGeom>
        </p:spPr>
        <p:txBody>
          <a:bodyPr wrap="square" lIns="0" tIns="0" rIns="0" bIns="0" rtlCol="0" anchor="t">
            <a:noAutofit/>
          </a:bodyPr>
          <a:lstStyle/>
          <a:p>
            <a:pPr>
              <a:lnSpc>
                <a:spcPct val="170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优化</a:t>
            </a:r>
            <a:r>
              <a:rPr lang="zh-CN" altLang="en-US"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平台技术架构，合理化平台用户认证与交易流程，平台功能模块化并落地（见计划书</a:t>
            </a:r>
            <a:r>
              <a:rPr lang="en-US" altLang="zh-CN"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3.1</a:t>
            </a:r>
            <a:r>
              <a:rPr lang="zh-CN" altLang="en-US"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48" name="TextBox 48"/>
          <p:cNvSpPr txBox="1"/>
          <p:nvPr/>
        </p:nvSpPr>
        <p:spPr>
          <a:xfrm>
            <a:off x="6569072" y="3923978"/>
            <a:ext cx="1740721" cy="1515479"/>
          </a:xfrm>
          <a:prstGeom prst="rect">
            <a:avLst/>
          </a:prstGeom>
        </p:spPr>
        <p:txBody>
          <a:bodyPr lIns="0" tIns="0" rIns="0" bIns="0" rtlCol="0" anchor="t">
            <a:spAutoFit/>
          </a:bodyPr>
          <a:lstStyle/>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垂直</a:t>
            </a:r>
            <a:r>
              <a:rPr lang="zh-CN" altLang="en-US"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客群个性服务，通过平台技术改进匹配标签用户。</a:t>
            </a:r>
          </a:p>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组织架构构建，明确考核标准以及工作激励机制</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49" name="TextBox 49"/>
          <p:cNvSpPr txBox="1"/>
          <p:nvPr/>
        </p:nvSpPr>
        <p:spPr>
          <a:xfrm>
            <a:off x="9259039" y="3923998"/>
            <a:ext cx="1760119" cy="1514215"/>
          </a:xfrm>
          <a:prstGeom prst="rect">
            <a:avLst/>
          </a:prstGeom>
        </p:spPr>
        <p:txBody>
          <a:bodyPr wrap="square" lIns="0" tIns="0" rIns="0" bIns="0" rtlCol="0" anchor="t">
            <a:noAutofit/>
          </a:bodyPr>
          <a:lstStyle/>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风险</a:t>
            </a:r>
            <a:r>
              <a:rPr lang="zh-CN" altLang="en-US"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分析明晰，备用紧急预案，对可能市场以及资金风险做事前预期分析</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50" name="TextBox 50"/>
          <p:cNvSpPr txBox="1"/>
          <p:nvPr/>
        </p:nvSpPr>
        <p:spPr>
          <a:xfrm>
            <a:off x="1855645" y="2030192"/>
            <a:ext cx="716199" cy="615553"/>
          </a:xfrm>
          <a:prstGeom prst="rect">
            <a:avLst/>
          </a:prstGeom>
        </p:spPr>
        <p:txBody>
          <a:bodyPr lIns="0" tIns="0" rIns="0" bIns="0" rtlCol="0" anchor="t">
            <a:spAutoFit/>
          </a:bodyPr>
          <a:lstStyle/>
          <a:p>
            <a:pPr algn="ctr">
              <a:lnSpc>
                <a:spcPts val="4800"/>
              </a:lnSpc>
            </a:pPr>
            <a:r>
              <a:rPr lang="zh-CN" altLang="en-US" sz="4000" b="1">
                <a:solidFill>
                  <a:srgbClr val="374756"/>
                </a:solidFill>
                <a:latin typeface="Agrandir Bold" panose="00000800000000000000"/>
                <a:ea typeface="Agrandir Bold" panose="00000800000000000000"/>
                <a:cs typeface="Agrandir Bold" panose="00000800000000000000"/>
                <a:sym typeface="Agrandir Bold" panose="00000800000000000000"/>
              </a:rPr>
              <a:t>一</a:t>
            </a:r>
            <a:endParaRPr lang="en-US" sz="4000" b="1">
              <a:solidFill>
                <a:srgbClr val="374756"/>
              </a:solidFill>
              <a:latin typeface="Agrandir Bold" panose="00000800000000000000"/>
              <a:ea typeface="Agrandir Bold" panose="00000800000000000000"/>
              <a:cs typeface="Agrandir Bold" panose="00000800000000000000"/>
              <a:sym typeface="Agrandir Bold" panose="00000800000000000000"/>
            </a:endParaRPr>
          </a:p>
        </p:txBody>
      </p:sp>
      <p:sp>
        <p:nvSpPr>
          <p:cNvPr id="51" name="TextBox 51"/>
          <p:cNvSpPr txBox="1"/>
          <p:nvPr/>
        </p:nvSpPr>
        <p:spPr>
          <a:xfrm>
            <a:off x="4542508" y="2030192"/>
            <a:ext cx="716199" cy="615553"/>
          </a:xfrm>
          <a:prstGeom prst="rect">
            <a:avLst/>
          </a:prstGeom>
        </p:spPr>
        <p:txBody>
          <a:bodyPr lIns="0" tIns="0" rIns="0" bIns="0" rtlCol="0" anchor="t">
            <a:spAutoFit/>
          </a:bodyPr>
          <a:lstStyle/>
          <a:p>
            <a:pPr algn="ctr">
              <a:lnSpc>
                <a:spcPts val="4800"/>
              </a:lnSpc>
            </a:pPr>
            <a:r>
              <a:rPr lang="zh-CN" altLang="en-US" sz="4000" b="1">
                <a:solidFill>
                  <a:srgbClr val="374756"/>
                </a:solidFill>
                <a:latin typeface="Agrandir Bold" panose="00000800000000000000"/>
                <a:ea typeface="Agrandir Bold" panose="00000800000000000000"/>
                <a:cs typeface="Agrandir Bold" panose="00000800000000000000"/>
                <a:sym typeface="Agrandir Bold" panose="00000800000000000000"/>
              </a:rPr>
              <a:t>二</a:t>
            </a:r>
            <a:endParaRPr lang="en-US" sz="4000" b="1">
              <a:solidFill>
                <a:srgbClr val="374756"/>
              </a:solidFill>
              <a:latin typeface="Agrandir Bold" panose="00000800000000000000"/>
              <a:ea typeface="Agrandir Bold" panose="00000800000000000000"/>
              <a:cs typeface="Agrandir Bold" panose="00000800000000000000"/>
              <a:sym typeface="Agrandir Bold" panose="00000800000000000000"/>
            </a:endParaRPr>
          </a:p>
        </p:txBody>
      </p:sp>
      <p:sp>
        <p:nvSpPr>
          <p:cNvPr id="52" name="TextBox 52"/>
          <p:cNvSpPr txBox="1"/>
          <p:nvPr/>
        </p:nvSpPr>
        <p:spPr>
          <a:xfrm>
            <a:off x="7276949" y="2030192"/>
            <a:ext cx="678547" cy="730214"/>
          </a:xfrm>
          <a:prstGeom prst="rect">
            <a:avLst/>
          </a:prstGeom>
        </p:spPr>
        <p:txBody>
          <a:bodyPr wrap="square" lIns="0" tIns="0" rIns="0" bIns="0" rtlCol="0" anchor="t">
            <a:noAutofit/>
          </a:bodyPr>
          <a:lstStyle/>
          <a:p>
            <a:pPr algn="ctr">
              <a:lnSpc>
                <a:spcPts val="4800"/>
              </a:lnSpc>
            </a:pPr>
            <a:r>
              <a:rPr lang="zh-CN" altLang="en-US" sz="4000" b="1">
                <a:solidFill>
                  <a:srgbClr val="374756"/>
                </a:solidFill>
                <a:latin typeface="Agrandir Bold" panose="00000800000000000000"/>
                <a:ea typeface="Agrandir Bold" panose="00000800000000000000"/>
                <a:cs typeface="Agrandir Bold" panose="00000800000000000000"/>
                <a:sym typeface="Agrandir Bold" panose="00000800000000000000"/>
              </a:rPr>
              <a:t>三</a:t>
            </a:r>
            <a:endParaRPr lang="en-US" sz="4000" b="1">
              <a:solidFill>
                <a:srgbClr val="374756"/>
              </a:solidFill>
              <a:latin typeface="Agrandir Bold" panose="00000800000000000000"/>
              <a:ea typeface="Agrandir Bold" panose="00000800000000000000"/>
              <a:cs typeface="Agrandir Bold" panose="00000800000000000000"/>
              <a:sym typeface="Agrandir Bold" panose="00000800000000000000"/>
            </a:endParaRPr>
          </a:p>
        </p:txBody>
      </p:sp>
      <p:sp>
        <p:nvSpPr>
          <p:cNvPr id="53" name="TextBox 53"/>
          <p:cNvSpPr txBox="1"/>
          <p:nvPr/>
        </p:nvSpPr>
        <p:spPr>
          <a:xfrm>
            <a:off x="9925200" y="2030192"/>
            <a:ext cx="716199" cy="615553"/>
          </a:xfrm>
          <a:prstGeom prst="rect">
            <a:avLst/>
          </a:prstGeom>
        </p:spPr>
        <p:txBody>
          <a:bodyPr lIns="0" tIns="0" rIns="0" bIns="0" rtlCol="0" anchor="t">
            <a:spAutoFit/>
          </a:bodyPr>
          <a:lstStyle/>
          <a:p>
            <a:pPr algn="ctr">
              <a:lnSpc>
                <a:spcPts val="4800"/>
              </a:lnSpc>
            </a:pPr>
            <a:r>
              <a:rPr lang="zh-CN" altLang="en-US" sz="4000" b="1">
                <a:solidFill>
                  <a:srgbClr val="374756"/>
                </a:solidFill>
                <a:latin typeface="Agrandir Bold" panose="00000800000000000000"/>
                <a:ea typeface="Agrandir Bold" panose="00000800000000000000"/>
                <a:cs typeface="Agrandir Bold" panose="00000800000000000000"/>
                <a:sym typeface="Agrandir Bold" panose="00000800000000000000"/>
              </a:rPr>
              <a:t>四</a:t>
            </a:r>
            <a:endParaRPr lang="en-US" sz="4000" b="1">
              <a:solidFill>
                <a:srgbClr val="374756"/>
              </a:solidFill>
              <a:latin typeface="Agrandir Bold" panose="00000800000000000000"/>
              <a:ea typeface="Agrandir Bold" panose="00000800000000000000"/>
              <a:cs typeface="Agrandir Bold" panose="00000800000000000000"/>
              <a:sym typeface="Agrandir Bold" panose="00000800000000000000"/>
            </a:endParaRPr>
          </a:p>
        </p:txBody>
      </p:sp>
      <p:sp>
        <p:nvSpPr>
          <p:cNvPr id="54" name="TextBox 54"/>
          <p:cNvSpPr txBox="1"/>
          <p:nvPr/>
        </p:nvSpPr>
        <p:spPr>
          <a:xfrm>
            <a:off x="1192218" y="3542603"/>
            <a:ext cx="1527309"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尽职调查</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55" name="TextBox 55"/>
          <p:cNvSpPr txBox="1"/>
          <p:nvPr/>
        </p:nvSpPr>
        <p:spPr>
          <a:xfrm>
            <a:off x="3879080" y="3542603"/>
            <a:ext cx="1502932"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配套</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改进</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56" name="TextBox 56"/>
          <p:cNvSpPr txBox="1"/>
          <p:nvPr/>
        </p:nvSpPr>
        <p:spPr>
          <a:xfrm>
            <a:off x="6569072" y="3542603"/>
            <a:ext cx="1616691"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亮点</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创新</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57" name="TextBox 57"/>
          <p:cNvSpPr txBox="1"/>
          <p:nvPr/>
        </p:nvSpPr>
        <p:spPr>
          <a:xfrm>
            <a:off x="9259062" y="3542603"/>
            <a:ext cx="1624817"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预案</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准备</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行业</a:t>
            </a:r>
            <a:r>
              <a:rPr lang="zh-CN" altLang="en-US" sz="2987" spc="206">
                <a:solidFill>
                  <a:srgbClr val="FFFFFF"/>
                </a:solidFill>
                <a:latin typeface="字由点字倔强黑" panose="00020600040101010101" charset="-122"/>
                <a:ea typeface="字由点字倔强黑" panose="00020600040101010101" charset="-122"/>
                <a:cs typeface="Arial" panose="020B0604020202020204" pitchFamily="34" charset="0"/>
                <a:sym typeface="字由点字倔强黑" panose="00020600040101010101" charset="-122"/>
              </a:rPr>
              <a:t>发展分析</a:t>
            </a:r>
            <a:endPar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7" name="AutoShape 17"/>
          <p:cNvSpPr/>
          <p:nvPr/>
        </p:nvSpPr>
        <p:spPr>
          <a:xfrm>
            <a:off x="7277272" y="3049956"/>
            <a:ext cx="3921893" cy="0"/>
          </a:xfrm>
          <a:prstGeom prst="line">
            <a:avLst/>
          </a:prstGeom>
          <a:ln w="19050" cap="flat">
            <a:solidFill>
              <a:srgbClr val="2B2A2A">
                <a:alpha val="25882"/>
              </a:srgbClr>
            </a:solidFill>
            <a:prstDash val="solid"/>
            <a:headEnd type="none" w="sm" len="sm"/>
            <a:tailEnd type="none" w="sm" len="sm"/>
          </a:ln>
        </p:spPr>
      </p:sp>
      <p:sp>
        <p:nvSpPr>
          <p:cNvPr id="18" name="TextBox 18"/>
          <p:cNvSpPr txBox="1"/>
          <p:nvPr/>
        </p:nvSpPr>
        <p:spPr>
          <a:xfrm>
            <a:off x="7209424" y="1335113"/>
            <a:ext cx="2657589" cy="401811"/>
          </a:xfrm>
          <a:prstGeom prst="rect">
            <a:avLst/>
          </a:prstGeom>
        </p:spPr>
        <p:txBody>
          <a:bodyPr wrap="square" lIns="0" tIns="0" rIns="0" bIns="0" rtlCol="0" anchor="t">
            <a:no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市场</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规模持续增大</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19" name="TextBox 19"/>
          <p:cNvSpPr txBox="1"/>
          <p:nvPr/>
        </p:nvSpPr>
        <p:spPr>
          <a:xfrm>
            <a:off x="7209424" y="1736912"/>
            <a:ext cx="3921085" cy="1196723"/>
          </a:xfrm>
          <a:prstGeom prst="rect">
            <a:avLst/>
          </a:prstGeom>
        </p:spPr>
        <p:txBody>
          <a:bodyPr wrap="square" lIns="0" tIns="0" rIns="0" bIns="0" rtlCol="0" anchor="t">
            <a:noAutofit/>
          </a:bodyPr>
          <a:lstStyle/>
          <a:p>
            <a:pPr algn="just">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艾瑞咨询发布的《</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2015-2023</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年中国二手电商行业交易规模》《</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2023</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年中国网民交易二手商品方式偏好》《</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2023</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年中国线上二手交易平台受访卖家主要售出商品品类》显示，中国二手交易市场在</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2023</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年交易规模已突破</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5000</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亿元，年复合增长率达</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14.25%</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20" name="TextBox 20"/>
          <p:cNvSpPr txBox="1"/>
          <p:nvPr/>
        </p:nvSpPr>
        <p:spPr>
          <a:xfrm>
            <a:off x="7209382" y="3303165"/>
            <a:ext cx="2028837"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多元化与专业化</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21" name="TextBox 21"/>
          <p:cNvSpPr txBox="1"/>
          <p:nvPr/>
        </p:nvSpPr>
        <p:spPr>
          <a:xfrm>
            <a:off x="7265657" y="3638033"/>
            <a:ext cx="4151960" cy="767800"/>
          </a:xfrm>
          <a:prstGeom prst="rect">
            <a:avLst/>
          </a:prstGeom>
        </p:spPr>
        <p:txBody>
          <a:bodyPr wrap="square" lIns="0" tIns="0" rIns="0" bIns="0" rtlCol="0" anchor="t">
            <a:noAutofit/>
          </a:bodyPr>
          <a:lstStyle/>
          <a:p>
            <a:pPr algn="just">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市场参与者不断细分赛道，围绕不同品类、消费人群与服务场景展开差异化布局，主要包括二手买卖，二手置换，二手回收等。</a:t>
            </a:r>
          </a:p>
        </p:txBody>
      </p:sp>
      <p:sp>
        <p:nvSpPr>
          <p:cNvPr id="22" name="AutoShape 22"/>
          <p:cNvSpPr/>
          <p:nvPr/>
        </p:nvSpPr>
        <p:spPr>
          <a:xfrm>
            <a:off x="7265672" y="4515204"/>
            <a:ext cx="3921893" cy="0"/>
          </a:xfrm>
          <a:prstGeom prst="line">
            <a:avLst/>
          </a:prstGeom>
          <a:ln w="19050" cap="flat">
            <a:solidFill>
              <a:srgbClr val="2B2A2A">
                <a:alpha val="25882"/>
              </a:srgbClr>
            </a:solidFill>
            <a:prstDash val="solid"/>
            <a:headEnd type="none" w="sm" len="sm"/>
            <a:tailEnd type="none" w="sm" len="sm"/>
          </a:ln>
        </p:spPr>
      </p:sp>
      <p:sp>
        <p:nvSpPr>
          <p:cNvPr id="23" name="TextBox 23"/>
          <p:cNvSpPr txBox="1"/>
          <p:nvPr/>
        </p:nvSpPr>
        <p:spPr>
          <a:xfrm>
            <a:off x="7237527" y="4724755"/>
            <a:ext cx="2028837" cy="307007"/>
          </a:xfrm>
          <a:prstGeom prst="rect">
            <a:avLst/>
          </a:prstGeom>
        </p:spPr>
        <p:txBody>
          <a:bodyPr lIns="0" tIns="0" rIns="0" bIns="0" rtlCol="0" anchor="t">
            <a:spAutoFit/>
          </a:bodyPr>
          <a:lstStyle/>
          <a:p>
            <a:pP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社区化趋势</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24" name="TextBox 24"/>
          <p:cNvSpPr txBox="1"/>
          <p:nvPr/>
        </p:nvSpPr>
        <p:spPr>
          <a:xfrm>
            <a:off x="7237527" y="5143835"/>
            <a:ext cx="4082992" cy="489558"/>
          </a:xfrm>
          <a:prstGeom prst="rect">
            <a:avLst/>
          </a:prstGeom>
        </p:spPr>
        <p:txBody>
          <a:bodyPr lIns="0" tIns="0" rIns="0" bIns="0" rtlCol="0" anchor="t">
            <a:spAutoFit/>
          </a:bodyPr>
          <a:lstStyle/>
          <a:p>
            <a:pPr algn="just">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如闲鱼开始尝试</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闲鱼小站</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社区团购</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等线下联动，但在高校场景的渗透仍非常有限</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pic>
        <p:nvPicPr>
          <p:cNvPr id="25" name="图片 4"/>
          <p:cNvPicPr>
            <a:picLocks noChangeAspect="1"/>
          </p:cNvPicPr>
          <p:nvPr/>
        </p:nvPicPr>
        <p:blipFill>
          <a:blip r:embed="rId2"/>
          <a:stretch>
            <a:fillRect/>
          </a:stretch>
        </p:blipFill>
        <p:spPr>
          <a:xfrm>
            <a:off x="1056131" y="1335067"/>
            <a:ext cx="4253815" cy="38950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平台</a:t>
            </a:r>
            <a:r>
              <a:rPr lang="zh-CN" altLang="en-US" sz="2987" spc="206">
                <a:solidFill>
                  <a:srgbClr val="FFFFFF"/>
                </a:solidFill>
                <a:latin typeface="字由点字倔强黑" panose="00020600040101010101" charset="-122"/>
                <a:ea typeface="字由点字倔强黑" panose="00020600040101010101" charset="-122"/>
                <a:cs typeface="Arial" panose="020B0604020202020204" pitchFamily="34" charset="0"/>
                <a:sym typeface="字由点字倔强黑" panose="00020600040101010101" charset="-122"/>
              </a:rPr>
              <a:t>配套改进</a:t>
            </a:r>
            <a:endPar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8" name="TextBox 18"/>
          <p:cNvSpPr txBox="1"/>
          <p:nvPr>
            <p:custDataLst>
              <p:tags r:id="rId1"/>
            </p:custDataLst>
          </p:nvPr>
        </p:nvSpPr>
        <p:spPr>
          <a:xfrm>
            <a:off x="4164018" y="1202427"/>
            <a:ext cx="3269933" cy="422222"/>
          </a:xfrm>
          <a:prstGeom prst="rect">
            <a:avLst/>
          </a:prstGeom>
        </p:spPr>
        <p:txBody>
          <a:bodyPr wrap="square" lIns="0" tIns="0" rIns="0" bIns="0" rtlCol="0" anchor="t">
            <a:noAutofit/>
          </a:bodyPr>
          <a:lstStyle/>
          <a:p>
            <a:pPr algn="ct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技术</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架构</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19" name="TextBox 19"/>
          <p:cNvSpPr txBox="1"/>
          <p:nvPr>
            <p:custDataLst>
              <p:tags r:id="rId2"/>
            </p:custDataLst>
          </p:nvPr>
        </p:nvSpPr>
        <p:spPr>
          <a:xfrm>
            <a:off x="1524838" y="1624649"/>
            <a:ext cx="9146367" cy="980083"/>
          </a:xfrm>
          <a:prstGeom prst="rect">
            <a:avLst/>
          </a:prstGeom>
        </p:spPr>
        <p:txBody>
          <a:bodyPr wrap="square" lIns="0" tIns="0" rIns="0" bIns="0" rtlCol="0" anchor="t">
            <a:noAutofit/>
          </a:bodyPr>
          <a:lstStyle/>
          <a:p>
            <a:pPr algn="just">
              <a:lnSpc>
                <a:spcPts val="2000"/>
              </a:lnSpc>
              <a:spcBef>
                <a:spcPct val="0"/>
              </a:spcBef>
            </a:pP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采用了前后端分离的架构（计划书</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3.1.1</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），利用技术增强平台稳定性与兼容性，采用分布式、微服务等技术架构，保障了平台的稳定性和可扩展性，能够应对校园用户在高峰时段的访问需求。</a:t>
            </a:r>
          </a:p>
        </p:txBody>
      </p:sp>
      <p:sp>
        <p:nvSpPr>
          <p:cNvPr id="20" name="TextBox 20"/>
          <p:cNvSpPr txBox="1"/>
          <p:nvPr>
            <p:custDataLst>
              <p:tags r:id="rId3"/>
            </p:custDataLst>
          </p:nvPr>
        </p:nvSpPr>
        <p:spPr>
          <a:xfrm>
            <a:off x="4758010" y="2504608"/>
            <a:ext cx="2266630" cy="314445"/>
          </a:xfrm>
          <a:prstGeom prst="rect">
            <a:avLst/>
          </a:prstGeom>
        </p:spPr>
        <p:txBody>
          <a:bodyPr wrap="square" lIns="0" tIns="0" rIns="0" bIns="0" rtlCol="0" anchor="t">
            <a:noAutofit/>
          </a:bodyPr>
          <a:lstStyle/>
          <a:p>
            <a:pPr algn="ct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功能</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模块划分</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21" name="TextBox 21"/>
          <p:cNvSpPr txBox="1"/>
          <p:nvPr>
            <p:custDataLst>
              <p:tags r:id="rId4"/>
            </p:custDataLst>
          </p:nvPr>
        </p:nvSpPr>
        <p:spPr>
          <a:xfrm>
            <a:off x="1861626" y="3217076"/>
            <a:ext cx="8911636" cy="798417"/>
          </a:xfrm>
          <a:prstGeom prst="rect">
            <a:avLst/>
          </a:prstGeom>
        </p:spPr>
        <p:txBody>
          <a:bodyPr wrap="square" lIns="0" tIns="0" rIns="0" bIns="0" rtlCol="0" anchor="t">
            <a:noAutofit/>
          </a:bodyPr>
          <a:lstStyle/>
          <a:p>
            <a:pPr algn="just">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包含用户认证与管理，商品信息核实，交易流程管理，信用与评价系统，智能匹配系统，移动应用平台适配等，与通用的二手交易平台相比，其在校园场景下的适配性和专业性更强，能够更好地解决高校二手交易中的痛点问题，如信任保障、物流配送等。</a:t>
            </a:r>
          </a:p>
        </p:txBody>
      </p:sp>
      <p:sp>
        <p:nvSpPr>
          <p:cNvPr id="23" name="TextBox 23"/>
          <p:cNvSpPr txBox="1"/>
          <p:nvPr>
            <p:custDataLst>
              <p:tags r:id="rId5"/>
            </p:custDataLst>
          </p:nvPr>
        </p:nvSpPr>
        <p:spPr>
          <a:xfrm>
            <a:off x="4831491" y="4416017"/>
            <a:ext cx="2028837" cy="307007"/>
          </a:xfrm>
          <a:prstGeom prst="rect">
            <a:avLst/>
          </a:prstGeom>
        </p:spPr>
        <p:txBody>
          <a:bodyPr lIns="0" tIns="0" rIns="0" bIns="0" rtlCol="0" anchor="t">
            <a:spAutoFit/>
          </a:bodyPr>
          <a:lstStyle/>
          <a:p>
            <a:pPr algn="ctr">
              <a:lnSpc>
                <a:spcPts val="2613"/>
              </a:lnSpc>
              <a:spcBef>
                <a:spcPct val="0"/>
              </a:spcBef>
            </a:pPr>
            <a:r>
              <a:rPr lang="zh-CN" alt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环保</a:t>
            </a:r>
            <a:r>
              <a:rPr lang="zh-CN" altLang="en-US" sz="1867" b="1" spc="186">
                <a:solidFill>
                  <a:srgbClr val="374756"/>
                </a:solidFill>
                <a:latin typeface="思源黑体 2 Bold" panose="020B0600000000000000" charset="-122"/>
                <a:ea typeface="思源黑体 2 Bold" panose="020B0600000000000000" charset="-122"/>
                <a:cs typeface="Arial" panose="020B0604020202020204" pitchFamily="34" charset="0"/>
                <a:sym typeface="思源黑体 2 Bold" panose="020B0600000000000000" charset="-122"/>
              </a:rPr>
              <a:t>激励机制</a:t>
            </a:r>
            <a:endParaRPr lang="en-US" sz="1867" b="1" spc="186">
              <a:solidFill>
                <a:srgbClr val="374756"/>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sp>
        <p:nvSpPr>
          <p:cNvPr id="24" name="TextBox 24"/>
          <p:cNvSpPr txBox="1"/>
          <p:nvPr>
            <p:custDataLst>
              <p:tags r:id="rId6"/>
            </p:custDataLst>
          </p:nvPr>
        </p:nvSpPr>
        <p:spPr>
          <a:xfrm>
            <a:off x="1656139" y="4863136"/>
            <a:ext cx="9267499" cy="933187"/>
          </a:xfrm>
          <a:prstGeom prst="rect">
            <a:avLst/>
          </a:prstGeom>
        </p:spPr>
        <p:txBody>
          <a:bodyPr wrap="square" lIns="0" tIns="0" rIns="0" bIns="0" rtlCol="0" anchor="t">
            <a:noAutofit/>
          </a:bodyPr>
          <a:lstStyle/>
          <a:p>
            <a:pPr algn="just">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引入低碳积分激励体系，将闲置物品交易与环保理念相结合，通过积分兑换校园福利等方式，鼓励大学生积极参与闲置物品的循环利用，响应了国家</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双碳</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战略</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95136"/>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微软雅黑" panose="020B0503020204020204" charset="-122"/>
                <a:ea typeface="微软雅黑" panose="020B0503020204020204" charset="-122"/>
                <a:cs typeface="字由点字倔强黑" panose="00020600040101010101" charset="-122"/>
                <a:sym typeface="字由点字倔强黑" panose="00020600040101010101" charset="-122"/>
              </a:rPr>
              <a:t>商业增长潜力</a:t>
            </a:r>
          </a:p>
        </p:txBody>
      </p:sp>
      <p:graphicFrame>
        <p:nvGraphicFramePr>
          <p:cNvPr id="15" name="图示 14"/>
          <p:cNvGraphicFramePr/>
          <p:nvPr/>
        </p:nvGraphicFramePr>
        <p:xfrm>
          <a:off x="2092113" y="1270424"/>
          <a:ext cx="7702127" cy="4527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文本框 15"/>
          <p:cNvSpPr txBox="1"/>
          <p:nvPr/>
        </p:nvSpPr>
        <p:spPr>
          <a:xfrm>
            <a:off x="5210387" y="3744807"/>
            <a:ext cx="2639907" cy="1913890"/>
          </a:xfrm>
          <a:prstGeom prst="rect">
            <a:avLst/>
          </a:prstGeom>
          <a:noFill/>
        </p:spPr>
        <p:txBody>
          <a:bodyPr wrap="square" rtlCol="0">
            <a:noAutofit/>
          </a:bodyPr>
          <a:lstStyle/>
          <a:p>
            <a:pPr>
              <a:lnSpc>
                <a:spcPct val="130000"/>
              </a:lnSpc>
            </a:pPr>
            <a:r>
              <a:rPr lang="zh-CN" altLang="en-US" sz="1600">
                <a:latin typeface="微软雅黑" panose="020B0503020204020204" charset="-122"/>
                <a:ea typeface="微软雅黑" panose="020B0503020204020204" charset="-122"/>
                <a:cs typeface="微软雅黑" panose="020B0503020204020204" charset="-122"/>
              </a:rPr>
              <a:t>高校数量庞大，仅普通高等学校就有近</a:t>
            </a:r>
            <a:r>
              <a:rPr lang="en-US" altLang="zh-CN" sz="1600">
                <a:latin typeface="微软雅黑" panose="020B0503020204020204" charset="-122"/>
                <a:ea typeface="微软雅黑" panose="020B0503020204020204" charset="-122"/>
                <a:cs typeface="微软雅黑" panose="020B0503020204020204" charset="-122"/>
              </a:rPr>
              <a:t>3000</a:t>
            </a:r>
            <a:r>
              <a:rPr lang="zh-CN" altLang="en-US" sz="1600">
                <a:latin typeface="微软雅黑" panose="020B0503020204020204" charset="-122"/>
                <a:ea typeface="微软雅黑" panose="020B0503020204020204" charset="-122"/>
                <a:cs typeface="微软雅黑" panose="020B0503020204020204" charset="-122"/>
              </a:rPr>
              <a:t>所，每所高校都有数量可观的学生群体，这为校易通提供了海量的潜在用户。随着平台在不同高校的逐步推广和覆盖，用户规模有望实现快速增长。</a:t>
            </a:r>
          </a:p>
        </p:txBody>
      </p:sp>
      <p:sp>
        <p:nvSpPr>
          <p:cNvPr id="17" name="文本框 16"/>
          <p:cNvSpPr txBox="1"/>
          <p:nvPr/>
        </p:nvSpPr>
        <p:spPr>
          <a:xfrm>
            <a:off x="7670800" y="2565400"/>
            <a:ext cx="2320713" cy="576157"/>
          </a:xfrm>
          <a:prstGeom prst="rect">
            <a:avLst/>
          </a:prstGeom>
          <a:noFill/>
        </p:spPr>
        <p:txBody>
          <a:bodyPr wrap="square" rtlCol="0">
            <a:noAutofit/>
          </a:bodyPr>
          <a:lstStyle/>
          <a:p>
            <a:r>
              <a:rPr lang="zh-CN" altLang="en-US" sz="2667" b="1">
                <a:latin typeface="微软雅黑" panose="020B0503020204020204" charset="-122"/>
                <a:ea typeface="微软雅黑" panose="020B0503020204020204" charset="-122"/>
              </a:rPr>
              <a:t>社交传播效应</a:t>
            </a:r>
          </a:p>
        </p:txBody>
      </p:sp>
      <p:sp>
        <p:nvSpPr>
          <p:cNvPr id="22" name="文本框 21"/>
          <p:cNvSpPr txBox="1"/>
          <p:nvPr/>
        </p:nvSpPr>
        <p:spPr>
          <a:xfrm>
            <a:off x="8077200" y="3073823"/>
            <a:ext cx="2994237" cy="2534920"/>
          </a:xfrm>
          <a:prstGeom prst="rect">
            <a:avLst/>
          </a:prstGeom>
          <a:noFill/>
        </p:spPr>
        <p:txBody>
          <a:bodyPr wrap="square" rtlCol="0">
            <a:noAutofit/>
          </a:bodyPr>
          <a:lstStyle/>
          <a:p>
            <a:pPr>
              <a:lnSpc>
                <a:spcPct val="150000"/>
              </a:lnSpc>
            </a:pPr>
            <a:r>
              <a:rPr lang="zh-CN" altLang="en-US" sz="1333">
                <a:latin typeface="微软雅黑" panose="020B0503020204020204" charset="-122"/>
                <a:ea typeface="微软雅黑" panose="020B0503020204020204" charset="-122"/>
              </a:rPr>
              <a:t>以校园为单位，大学生之间具有较强的社交传播效应。一旦平台在某个高校获得一部分种子用户的认可和使用，其通过口碑传播、社交推荐等方式，能够迅速在校园内扩散开来，吸引更多学生加入平台，形成用户增长的良性循环。</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4663623" cy="1950566"/>
            <a:chOff x="0" y="0"/>
            <a:chExt cx="1842419" cy="770594"/>
          </a:xfrm>
        </p:grpSpPr>
        <p:sp>
          <p:nvSpPr>
            <p:cNvPr id="3" name="Freeform 3"/>
            <p:cNvSpPr/>
            <p:nvPr/>
          </p:nvSpPr>
          <p:spPr>
            <a:xfrm>
              <a:off x="0" y="0"/>
              <a:ext cx="1842419" cy="770594"/>
            </a:xfrm>
            <a:custGeom>
              <a:avLst/>
              <a:gdLst/>
              <a:ahLst/>
              <a:cxnLst/>
              <a:rect l="l" t="t" r="r" b="b"/>
              <a:pathLst>
                <a:path w="1842419" h="770594">
                  <a:moveTo>
                    <a:pt x="0" y="0"/>
                  </a:moveTo>
                  <a:lnTo>
                    <a:pt x="1842419" y="0"/>
                  </a:lnTo>
                  <a:lnTo>
                    <a:pt x="1842419" y="770594"/>
                  </a:lnTo>
                  <a:lnTo>
                    <a:pt x="0" y="770594"/>
                  </a:lnTo>
                  <a:close/>
                </a:path>
              </a:pathLst>
            </a:custGeom>
            <a:solidFill>
              <a:srgbClr val="839BB2"/>
            </a:solidFill>
          </p:spPr>
        </p:sp>
        <p:sp>
          <p:nvSpPr>
            <p:cNvPr id="4" name="TextBox 4"/>
            <p:cNvSpPr txBox="1"/>
            <p:nvPr/>
          </p:nvSpPr>
          <p:spPr>
            <a:xfrm>
              <a:off x="0" y="-38100"/>
              <a:ext cx="1842419" cy="808694"/>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800383" y="746483"/>
            <a:ext cx="10591235" cy="5365035"/>
            <a:chOff x="0" y="0"/>
            <a:chExt cx="4184191" cy="2119520"/>
          </a:xfrm>
        </p:grpSpPr>
        <p:sp>
          <p:nvSpPr>
            <p:cNvPr id="6" name="Freeform 6"/>
            <p:cNvSpPr/>
            <p:nvPr/>
          </p:nvSpPr>
          <p:spPr>
            <a:xfrm>
              <a:off x="0" y="0"/>
              <a:ext cx="4184192" cy="2119520"/>
            </a:xfrm>
            <a:custGeom>
              <a:avLst/>
              <a:gdLst/>
              <a:ahLst/>
              <a:cxnLst/>
              <a:rect l="l" t="t" r="r" b="b"/>
              <a:pathLst>
                <a:path w="4184192" h="2119520">
                  <a:moveTo>
                    <a:pt x="0" y="0"/>
                  </a:moveTo>
                  <a:lnTo>
                    <a:pt x="4184192" y="0"/>
                  </a:lnTo>
                  <a:lnTo>
                    <a:pt x="4184192" y="2119520"/>
                  </a:lnTo>
                  <a:lnTo>
                    <a:pt x="0" y="2119520"/>
                  </a:lnTo>
                  <a:close/>
                </a:path>
              </a:pathLst>
            </a:custGeom>
            <a:solidFill>
              <a:srgbClr val="E6E6E6"/>
            </a:solidFill>
          </p:spPr>
        </p:sp>
        <p:sp>
          <p:nvSpPr>
            <p:cNvPr id="7" name="TextBox 7"/>
            <p:cNvSpPr txBox="1"/>
            <p:nvPr/>
          </p:nvSpPr>
          <p:spPr>
            <a:xfrm>
              <a:off x="0" y="-38100"/>
              <a:ext cx="4184191" cy="215762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4311436" y="2201253"/>
            <a:ext cx="7880565" cy="4656747"/>
            <a:chOff x="0" y="0"/>
            <a:chExt cx="3113310" cy="1839702"/>
          </a:xfrm>
        </p:grpSpPr>
        <p:sp>
          <p:nvSpPr>
            <p:cNvPr id="9" name="Freeform 9"/>
            <p:cNvSpPr/>
            <p:nvPr/>
          </p:nvSpPr>
          <p:spPr>
            <a:xfrm>
              <a:off x="0" y="0"/>
              <a:ext cx="3113310" cy="1839702"/>
            </a:xfrm>
            <a:custGeom>
              <a:avLst/>
              <a:gdLst/>
              <a:ahLst/>
              <a:cxnLst/>
              <a:rect l="l" t="t" r="r" b="b"/>
              <a:pathLst>
                <a:path w="3113310" h="1839702">
                  <a:moveTo>
                    <a:pt x="0" y="0"/>
                  </a:moveTo>
                  <a:lnTo>
                    <a:pt x="3113310" y="0"/>
                  </a:lnTo>
                  <a:lnTo>
                    <a:pt x="3113310" y="1839702"/>
                  </a:lnTo>
                  <a:lnTo>
                    <a:pt x="0" y="1839702"/>
                  </a:lnTo>
                  <a:close/>
                </a:path>
              </a:pathLst>
            </a:custGeom>
            <a:solidFill>
              <a:srgbClr val="839BB2"/>
            </a:solidFill>
          </p:spPr>
        </p:sp>
        <p:sp>
          <p:nvSpPr>
            <p:cNvPr id="10" name="TextBox 10"/>
            <p:cNvSpPr txBox="1"/>
            <p:nvPr/>
          </p:nvSpPr>
          <p:spPr>
            <a:xfrm>
              <a:off x="0" y="-38100"/>
              <a:ext cx="3113310" cy="1877802"/>
            </a:xfrm>
            <a:prstGeom prst="rect">
              <a:avLst/>
            </a:prstGeom>
          </p:spPr>
          <p:txBody>
            <a:bodyPr lIns="33867" tIns="33867" rIns="33867" bIns="33867" rtlCol="0" anchor="ctr"/>
            <a:lstStyle/>
            <a:p>
              <a:pPr algn="ctr">
                <a:lnSpc>
                  <a:spcPts val="1773"/>
                </a:lnSpc>
                <a:spcBef>
                  <a:spcPct val="0"/>
                </a:spcBef>
              </a:pPr>
              <a:endParaRPr sz="1200"/>
            </a:p>
          </p:txBody>
        </p:sp>
      </p:grpSp>
      <p:sp>
        <p:nvSpPr>
          <p:cNvPr id="11" name="TextBox 11"/>
          <p:cNvSpPr txBox="1"/>
          <p:nvPr/>
        </p:nvSpPr>
        <p:spPr>
          <a:xfrm>
            <a:off x="5122913" y="3217323"/>
            <a:ext cx="6038183" cy="898708"/>
          </a:xfrm>
          <a:prstGeom prst="rect">
            <a:avLst/>
          </a:prstGeom>
        </p:spPr>
        <p:txBody>
          <a:bodyPr lIns="0" tIns="0" rIns="0" bIns="0" rtlCol="0" anchor="t">
            <a:spAutoFit/>
          </a:bodyPr>
          <a:lstStyle/>
          <a:p>
            <a:pPr>
              <a:lnSpc>
                <a:spcPts val="7924"/>
              </a:lnSpc>
              <a:spcBef>
                <a:spcPct val="0"/>
              </a:spcBef>
            </a:pPr>
            <a:r>
              <a:rPr lang="zh-CN" altLang="en-US" sz="6400" b="1">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重点</a:t>
            </a:r>
            <a:r>
              <a:rPr lang="zh-CN" altLang="en-US" sz="6400" b="1">
                <a:solidFill>
                  <a:srgbClr val="FFFFFF"/>
                </a:solidFill>
                <a:latin typeface="字由点字倔强黑" panose="00020600040101010101" charset="-122"/>
                <a:ea typeface="字由点字倔强黑" panose="00020600040101010101" charset="-122"/>
                <a:cs typeface="Arial" panose="020B0604020202020204" pitchFamily="34" charset="0"/>
                <a:sym typeface="字由点字倔强黑" panose="00020600040101010101" charset="-122"/>
              </a:rPr>
              <a:t>章节</a:t>
            </a:r>
            <a:endParaRPr lang="en-US" sz="6400" b="1">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3" name="TextBox 13"/>
          <p:cNvSpPr txBox="1"/>
          <p:nvPr/>
        </p:nvSpPr>
        <p:spPr>
          <a:xfrm>
            <a:off x="1732437" y="2690274"/>
            <a:ext cx="2578999" cy="2070182"/>
          </a:xfrm>
          <a:prstGeom prst="rect">
            <a:avLst/>
          </a:prstGeom>
        </p:spPr>
        <p:txBody>
          <a:bodyPr lIns="0" tIns="0" rIns="0" bIns="0" rtlCol="0" anchor="t">
            <a:spAutoFit/>
          </a:bodyPr>
          <a:lstStyle/>
          <a:p>
            <a:pPr>
              <a:lnSpc>
                <a:spcPts val="17198"/>
              </a:lnSpc>
              <a:spcBef>
                <a:spcPct val="0"/>
              </a:spcBef>
            </a:pPr>
            <a:r>
              <a:rPr lang="en-US" sz="12284" b="1" spc="-749">
                <a:solidFill>
                  <a:srgbClr val="374756"/>
                </a:solidFill>
                <a:latin typeface="Agrandir Bold" panose="00000800000000000000"/>
                <a:ea typeface="Agrandir Bold" panose="00000800000000000000"/>
                <a:cs typeface="Agrandir Bold" panose="00000800000000000000"/>
                <a:sym typeface="Agrandir Bold" panose="00000800000000000000"/>
              </a:rPr>
              <a:t>02</a:t>
            </a:r>
          </a:p>
        </p:txBody>
      </p:sp>
      <p:sp>
        <p:nvSpPr>
          <p:cNvPr id="14" name="TextBox 14"/>
          <p:cNvSpPr txBox="1"/>
          <p:nvPr/>
        </p:nvSpPr>
        <p:spPr>
          <a:xfrm>
            <a:off x="1732437" y="1332133"/>
            <a:ext cx="6665579" cy="1228221"/>
          </a:xfrm>
          <a:prstGeom prst="rect">
            <a:avLst/>
          </a:prstGeom>
        </p:spPr>
        <p:txBody>
          <a:bodyPr lIns="0" tIns="0" rIns="0" bIns="0" rtlCol="0" anchor="t">
            <a:spAutoFit/>
          </a:bodyPr>
          <a:lstStyle/>
          <a:p>
            <a:pPr>
              <a:lnSpc>
                <a:spcPts val="10221"/>
              </a:lnSpc>
              <a:spcBef>
                <a:spcPct val="0"/>
              </a:spcBef>
            </a:pPr>
            <a:r>
              <a:rPr lang="en-US" sz="7300">
                <a:solidFill>
                  <a:srgbClr val="374756"/>
                </a:solidFill>
                <a:latin typeface="Agrandir" panose="00000500000000000000"/>
                <a:ea typeface="Agrandir" panose="00000500000000000000"/>
                <a:cs typeface="Agrandir" panose="00000500000000000000"/>
                <a:sym typeface="Agrandir" panose="00000500000000000000"/>
              </a:rPr>
              <a:t>PART TWO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产品服务</a:t>
            </a:r>
            <a:endPar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grpSp>
        <p:nvGrpSpPr>
          <p:cNvPr id="15" name="Group 15"/>
          <p:cNvGrpSpPr/>
          <p:nvPr/>
        </p:nvGrpSpPr>
        <p:grpSpPr>
          <a:xfrm>
            <a:off x="7453263" y="1727924"/>
            <a:ext cx="3867256" cy="4171335"/>
            <a:chOff x="0" y="0"/>
            <a:chExt cx="7734512" cy="8342669"/>
          </a:xfrm>
        </p:grpSpPr>
        <p:pic>
          <p:nvPicPr>
            <p:cNvPr id="16" name="Picture 16"/>
            <p:cNvPicPr>
              <a:picLocks noChangeAspect="1"/>
            </p:cNvPicPr>
            <p:nvPr/>
          </p:nvPicPr>
          <p:blipFill>
            <a:blip r:embed="rId2"/>
            <a:srcRect r="30467"/>
            <a:stretch>
              <a:fillRect/>
            </a:stretch>
          </p:blipFill>
          <p:spPr>
            <a:xfrm>
              <a:off x="0" y="0"/>
              <a:ext cx="7734512" cy="8342669"/>
            </a:xfrm>
            <a:prstGeom prst="rect">
              <a:avLst/>
            </a:prstGeom>
          </p:spPr>
        </p:pic>
      </p:grpSp>
      <p:sp>
        <p:nvSpPr>
          <p:cNvPr id="18" name="Freeform 18"/>
          <p:cNvSpPr/>
          <p:nvPr/>
        </p:nvSpPr>
        <p:spPr>
          <a:xfrm>
            <a:off x="755402" y="1749254"/>
            <a:ext cx="6559593" cy="3013599"/>
          </a:xfrm>
          <a:custGeom>
            <a:avLst/>
            <a:gdLst/>
            <a:ahLst/>
            <a:cxnLst/>
            <a:rect l="l" t="t" r="r" b="b"/>
            <a:pathLst>
              <a:path w="2491243" h="1161348">
                <a:moveTo>
                  <a:pt x="16370" y="0"/>
                </a:moveTo>
                <a:lnTo>
                  <a:pt x="2474873" y="0"/>
                </a:lnTo>
                <a:cubicBezTo>
                  <a:pt x="2483914" y="0"/>
                  <a:pt x="2491243" y="7329"/>
                  <a:pt x="2491243" y="16370"/>
                </a:cubicBezTo>
                <a:lnTo>
                  <a:pt x="2491243" y="1144978"/>
                </a:lnTo>
                <a:cubicBezTo>
                  <a:pt x="2491243" y="1149320"/>
                  <a:pt x="2489518" y="1153484"/>
                  <a:pt x="2486448" y="1156553"/>
                </a:cubicBezTo>
                <a:cubicBezTo>
                  <a:pt x="2483378" y="1159623"/>
                  <a:pt x="2479215" y="1161348"/>
                  <a:pt x="2474873" y="1161348"/>
                </a:cubicBezTo>
                <a:lnTo>
                  <a:pt x="16370" y="1161348"/>
                </a:lnTo>
                <a:cubicBezTo>
                  <a:pt x="7329" y="1161348"/>
                  <a:pt x="0" y="1154019"/>
                  <a:pt x="0" y="1144978"/>
                </a:cubicBezTo>
                <a:lnTo>
                  <a:pt x="0" y="16370"/>
                </a:lnTo>
                <a:cubicBezTo>
                  <a:pt x="0" y="12028"/>
                  <a:pt x="1725" y="7864"/>
                  <a:pt x="4795" y="4795"/>
                </a:cubicBezTo>
                <a:cubicBezTo>
                  <a:pt x="7864" y="1725"/>
                  <a:pt x="12028" y="0"/>
                  <a:pt x="16370" y="0"/>
                </a:cubicBezTo>
                <a:close/>
              </a:path>
            </a:pathLst>
          </a:custGeom>
          <a:solidFill>
            <a:srgbClr val="839BB2">
              <a:alpha val="9804"/>
            </a:srgbClr>
          </a:solidFill>
          <a:ln cap="sq">
            <a:noFill/>
            <a:prstDash val="solid"/>
            <a:miter/>
          </a:ln>
        </p:spPr>
      </p:sp>
      <p:sp>
        <p:nvSpPr>
          <p:cNvPr id="21" name="TextBox 21"/>
          <p:cNvSpPr txBox="1"/>
          <p:nvPr/>
        </p:nvSpPr>
        <p:spPr>
          <a:xfrm>
            <a:off x="871481" y="2193069"/>
            <a:ext cx="6305959" cy="2036583"/>
          </a:xfrm>
          <a:prstGeom prst="rect">
            <a:avLst/>
          </a:prstGeom>
        </p:spPr>
        <p:txBody>
          <a:bodyPr lIns="0" tIns="0" rIns="0" bIns="0" rtlCol="0" anchor="t">
            <a:spAutoFit/>
          </a:bodyPr>
          <a:lstStyle/>
          <a:p>
            <a:pPr algn="just">
              <a:lnSpc>
                <a:spcPts val="2000"/>
              </a:lnSpc>
            </a:pP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校易通</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聚焦高校场景打造</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C2C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闲置交易平台，围绕学生需求构建全流程产品服务体系，核心功能覆盖交易全链条并融入校园特色。平台支持教材、数码、服饰等多品类闲置物品的</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C2C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买卖与租赁，提供</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毕业季代卖</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服务解决毕业生大件物品处理难题。依托智能化工具优化交易效率，如</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一键转卖</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同步购物平台订单快速发布商品，输入课程代码智能推荐二手教材，结合用户行为数据实现个性化商品推荐，搭配</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Elasticsearch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全文检索功能提升供需匹配速度。交易流程涵盖发布、沟通、支付、物流跟踪等环节，并提供交易担保保障资金安全。</a:t>
            </a:r>
            <a:endParaRPr 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优势</a:t>
            </a:r>
            <a:r>
              <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分析</a:t>
            </a:r>
          </a:p>
        </p:txBody>
      </p:sp>
      <p:sp>
        <p:nvSpPr>
          <p:cNvPr id="21" name="TextBox 21"/>
          <p:cNvSpPr txBox="1"/>
          <p:nvPr/>
        </p:nvSpPr>
        <p:spPr>
          <a:xfrm>
            <a:off x="871500" y="1795839"/>
            <a:ext cx="9543368" cy="3169820"/>
          </a:xfrm>
          <a:prstGeom prst="rect">
            <a:avLst/>
          </a:prstGeom>
        </p:spPr>
        <p:txBody>
          <a:bodyPr wrap="square" lIns="0" tIns="0" rIns="0" bIns="0" rtlCol="0" anchor="t">
            <a:noAutofit/>
          </a:bodyPr>
          <a:lstStyle/>
          <a:p>
            <a:pPr algn="just">
              <a:lnSpc>
                <a:spcPts val="2000"/>
              </a:lnSpc>
              <a:spcBef>
                <a:spcPct val="0"/>
              </a:spcBef>
            </a:pP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相比通用二手平台，校易通聚焦</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校园</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垂直</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高频小额</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交易场景，优势独特显著。</a:t>
            </a:r>
          </a:p>
          <a:p>
            <a:pPr algn="just">
              <a:lnSpc>
                <a:spcPts val="2000"/>
              </a:lnSpc>
              <a:spcBef>
                <a:spcPct val="0"/>
              </a:spcBef>
            </a:pPr>
            <a:r>
              <a:rPr lang="zh-CN" altLang="en-US" sz="24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用户方面，专一地为高校学生群体服务，有效解决当下二手交易市场混乱无序、买卖家匹配困难等问题</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p>
          <a:p>
            <a:pPr algn="just">
              <a:lnSpc>
                <a:spcPts val="2000"/>
              </a:lnSpc>
              <a:spcBef>
                <a:spcPct val="0"/>
              </a:spcBef>
            </a:pPr>
            <a:r>
              <a:rPr lang="en-US" altLang="zh-CN" sz="24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场景设计上，采用校内身份认证、校区定向推荐、线下自提点部署等垂直化设计，让交易范围精准可控、安全可靠。</a:t>
            </a:r>
          </a:p>
          <a:p>
            <a:pPr algn="just">
              <a:lnSpc>
                <a:spcPts val="2000"/>
              </a:lnSpc>
              <a:spcBef>
                <a:spcPct val="0"/>
              </a:spcBef>
            </a:pPr>
            <a:r>
              <a:rPr lang="zh-CN" altLang="en-US" sz="24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信任保障上，构建起基于学生真实身份的信用积分体系与互评机制，交易前需通过学信网等进行高校认证，能解决陌生人交易信任障碍，且双方互评影响下次交易匹配。</a:t>
            </a:r>
          </a:p>
          <a:p>
            <a:pPr algn="just">
              <a:lnSpc>
                <a:spcPts val="2000"/>
              </a:lnSpc>
              <a:spcBef>
                <a:spcPct val="0"/>
              </a:spcBef>
            </a:pPr>
            <a:r>
              <a:rPr lang="zh-CN" altLang="en-US" sz="24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运营模式上，联合校内社团、学生组织开展</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换季换物节</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毕业清仓周</a:t>
            </a:r>
            <a:r>
              <a:rPr lang="en-US" altLang="zh-CN"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等活动，形成高频流通机制，持续激发交易活跃度。</a:t>
            </a:r>
          </a:p>
          <a:p>
            <a:pPr algn="just">
              <a:lnSpc>
                <a:spcPts val="2000"/>
              </a:lnSpc>
              <a:spcBef>
                <a:spcPct val="0"/>
              </a:spcBef>
            </a:pPr>
            <a:r>
              <a:rPr lang="zh-CN" altLang="en-US" sz="24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技术层面，系统模块化设计，可快速复制部署到不同高校，便于拓展区域市场。此外，平台优先推荐同校买卖家，支持线下物品交换，能免除物流费用。</a:t>
            </a:r>
            <a:endParaRPr lang="en-US" sz="1600">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23" name="Group 23"/>
          <p:cNvGrpSpPr/>
          <p:nvPr/>
        </p:nvGrpSpPr>
        <p:grpSpPr>
          <a:xfrm>
            <a:off x="871500" y="1256504"/>
            <a:ext cx="2022850" cy="341194"/>
            <a:chOff x="0" y="-16160"/>
            <a:chExt cx="4045700" cy="682389"/>
          </a:xfrm>
        </p:grpSpPr>
        <p:grpSp>
          <p:nvGrpSpPr>
            <p:cNvPr id="24" name="Group 24"/>
            <p:cNvGrpSpPr/>
            <p:nvPr/>
          </p:nvGrpSpPr>
          <p:grpSpPr>
            <a:xfrm>
              <a:off x="0" y="0"/>
              <a:ext cx="4045700" cy="666229"/>
              <a:chOff x="0" y="0"/>
              <a:chExt cx="1039241" cy="171138"/>
            </a:xfrm>
          </p:grpSpPr>
          <p:sp>
            <p:nvSpPr>
              <p:cNvPr id="25" name="Freeform 25"/>
              <p:cNvSpPr/>
              <p:nvPr/>
            </p:nvSpPr>
            <p:spPr>
              <a:xfrm>
                <a:off x="0" y="0"/>
                <a:ext cx="1039241" cy="171138"/>
              </a:xfrm>
              <a:custGeom>
                <a:avLst/>
                <a:gdLst/>
                <a:ahLst/>
                <a:cxnLst/>
                <a:rect l="l" t="t" r="r" b="b"/>
                <a:pathLst>
                  <a:path w="1039241" h="171138">
                    <a:moveTo>
                      <a:pt x="85569" y="0"/>
                    </a:moveTo>
                    <a:lnTo>
                      <a:pt x="953672" y="0"/>
                    </a:lnTo>
                    <a:cubicBezTo>
                      <a:pt x="976367" y="0"/>
                      <a:pt x="998132" y="9015"/>
                      <a:pt x="1014179" y="25063"/>
                    </a:cubicBezTo>
                    <a:cubicBezTo>
                      <a:pt x="1030226" y="41110"/>
                      <a:pt x="1039241" y="62875"/>
                      <a:pt x="1039241" y="85569"/>
                    </a:cubicBezTo>
                    <a:lnTo>
                      <a:pt x="1039241" y="85569"/>
                    </a:lnTo>
                    <a:cubicBezTo>
                      <a:pt x="1039241" y="132827"/>
                      <a:pt x="1000931" y="171138"/>
                      <a:pt x="953672" y="171138"/>
                    </a:cubicBezTo>
                    <a:lnTo>
                      <a:pt x="85569" y="171138"/>
                    </a:lnTo>
                    <a:cubicBezTo>
                      <a:pt x="62875" y="171138"/>
                      <a:pt x="41110" y="162123"/>
                      <a:pt x="25063" y="146075"/>
                    </a:cubicBezTo>
                    <a:cubicBezTo>
                      <a:pt x="9015" y="130028"/>
                      <a:pt x="0" y="108263"/>
                      <a:pt x="0" y="85569"/>
                    </a:cubicBezTo>
                    <a:lnTo>
                      <a:pt x="0" y="85569"/>
                    </a:lnTo>
                    <a:cubicBezTo>
                      <a:pt x="0" y="62875"/>
                      <a:pt x="9015" y="41110"/>
                      <a:pt x="25063" y="25063"/>
                    </a:cubicBezTo>
                    <a:cubicBezTo>
                      <a:pt x="41110" y="9015"/>
                      <a:pt x="62875" y="0"/>
                      <a:pt x="85569" y="0"/>
                    </a:cubicBezTo>
                    <a:close/>
                  </a:path>
                </a:pathLst>
              </a:custGeom>
              <a:solidFill>
                <a:srgbClr val="839BB2"/>
              </a:solidFill>
              <a:ln w="9525" cap="rnd">
                <a:solidFill>
                  <a:srgbClr val="374756"/>
                </a:solidFill>
                <a:prstDash val="solid"/>
                <a:round/>
              </a:ln>
            </p:spPr>
          </p:sp>
          <p:sp>
            <p:nvSpPr>
              <p:cNvPr id="26" name="TextBox 26"/>
              <p:cNvSpPr txBox="1"/>
              <p:nvPr/>
            </p:nvSpPr>
            <p:spPr>
              <a:xfrm>
                <a:off x="0" y="-47625"/>
                <a:ext cx="1039241" cy="218763"/>
              </a:xfrm>
              <a:prstGeom prst="rect">
                <a:avLst/>
              </a:prstGeom>
            </p:spPr>
            <p:txBody>
              <a:bodyPr lIns="22995" tIns="22995" rIns="22995" bIns="22995" rtlCol="0" anchor="ctr"/>
              <a:lstStyle/>
              <a:p>
                <a:pPr algn="ctr">
                  <a:lnSpc>
                    <a:spcPts val="1930"/>
                  </a:lnSpc>
                  <a:spcBef>
                    <a:spcPct val="0"/>
                  </a:spcBef>
                </a:pPr>
                <a:endParaRPr sz="1200"/>
              </a:p>
            </p:txBody>
          </p:sp>
        </p:grpSp>
        <p:sp>
          <p:nvSpPr>
            <p:cNvPr id="27" name="TextBox 27"/>
            <p:cNvSpPr txBox="1"/>
            <p:nvPr/>
          </p:nvSpPr>
          <p:spPr>
            <a:xfrm>
              <a:off x="292088" y="-16160"/>
              <a:ext cx="3461528" cy="614015"/>
            </a:xfrm>
            <a:prstGeom prst="rect">
              <a:avLst/>
            </a:prstGeom>
          </p:spPr>
          <p:txBody>
            <a:bodyPr lIns="0" tIns="0" rIns="0" bIns="0" rtlCol="0" anchor="t">
              <a:spAutoFit/>
            </a:bodyPr>
            <a:lstStyle/>
            <a:p>
              <a:pPr algn="ctr">
                <a:lnSpc>
                  <a:spcPts val="2613"/>
                </a:lnSpc>
                <a:spcBef>
                  <a:spcPct val="0"/>
                </a:spcBef>
              </a:pPr>
              <a:r>
                <a:rPr lang="zh-CN" alt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核心竞争优势</a:t>
              </a:r>
              <a:endParaRPr 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590648" y="504612"/>
            <a:ext cx="11010706" cy="5848777"/>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1" name="Group 11"/>
          <p:cNvGrpSpPr/>
          <p:nvPr/>
        </p:nvGrpSpPr>
        <p:grpSpPr>
          <a:xfrm>
            <a:off x="4593700" y="463413"/>
            <a:ext cx="3004601" cy="610461"/>
            <a:chOff x="0" y="0"/>
            <a:chExt cx="1513373" cy="307480"/>
          </a:xfrm>
        </p:grpSpPr>
        <p:sp>
          <p:nvSpPr>
            <p:cNvPr id="12" name="Freeform 12"/>
            <p:cNvSpPr/>
            <p:nvPr/>
          </p:nvSpPr>
          <p:spPr>
            <a:xfrm>
              <a:off x="0" y="0"/>
              <a:ext cx="1513373" cy="307480"/>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3" name="TextBox 13"/>
            <p:cNvSpPr txBox="1"/>
            <p:nvPr/>
          </p:nvSpPr>
          <p:spPr>
            <a:xfrm>
              <a:off x="0" y="-28575"/>
              <a:ext cx="1513373" cy="336055"/>
            </a:xfrm>
            <a:prstGeom prst="rect">
              <a:avLst/>
            </a:prstGeom>
          </p:spPr>
          <p:txBody>
            <a:bodyPr lIns="33867" tIns="33867" rIns="33867" bIns="33867" rtlCol="0" anchor="ctr"/>
            <a:lstStyle/>
            <a:p>
              <a:pPr algn="ctr">
                <a:lnSpc>
                  <a:spcPts val="1773"/>
                </a:lnSpc>
              </a:pPr>
              <a:endParaRPr sz="1200"/>
            </a:p>
          </p:txBody>
        </p:sp>
      </p:grpSp>
      <p:sp>
        <p:nvSpPr>
          <p:cNvPr id="14" name="TextBox 14"/>
          <p:cNvSpPr txBox="1"/>
          <p:nvPr/>
        </p:nvSpPr>
        <p:spPr>
          <a:xfrm>
            <a:off x="4758017" y="479911"/>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营销</a:t>
            </a:r>
            <a:r>
              <a:rPr lang="zh-CN" altLang="en-US" sz="2987" spc="206">
                <a:solidFill>
                  <a:srgbClr val="FFFFFF"/>
                </a:solidFill>
                <a:latin typeface="字由点字倔强黑" panose="00020600040101010101" charset="-122"/>
                <a:ea typeface="字由点字倔强黑" panose="00020600040101010101" charset="-122"/>
                <a:cs typeface="Arial" panose="020B0604020202020204" pitchFamily="34" charset="0"/>
                <a:sym typeface="字由点字倔强黑" panose="00020600040101010101" charset="-122"/>
              </a:rPr>
              <a:t>分析</a:t>
            </a:r>
            <a:endPar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5" name="AutoShape 15"/>
          <p:cNvSpPr/>
          <p:nvPr/>
        </p:nvSpPr>
        <p:spPr>
          <a:xfrm flipV="1">
            <a:off x="1923588" y="1271881"/>
            <a:ext cx="0" cy="3378995"/>
          </a:xfrm>
          <a:prstGeom prst="line">
            <a:avLst/>
          </a:prstGeom>
          <a:ln w="9525" cap="flat">
            <a:solidFill>
              <a:srgbClr val="0F1647"/>
            </a:solidFill>
            <a:prstDash val="lgDash"/>
            <a:headEnd type="none" w="sm" len="sm"/>
            <a:tailEnd type="none" w="sm" len="sm"/>
          </a:ln>
        </p:spPr>
      </p:sp>
      <p:grpSp>
        <p:nvGrpSpPr>
          <p:cNvPr id="16" name="Group 16"/>
          <p:cNvGrpSpPr/>
          <p:nvPr/>
        </p:nvGrpSpPr>
        <p:grpSpPr>
          <a:xfrm>
            <a:off x="1484097" y="1073867"/>
            <a:ext cx="758503" cy="758503"/>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39BB2"/>
            </a:solidFill>
          </p:spPr>
        </p:sp>
        <p:sp>
          <p:nvSpPr>
            <p:cNvPr id="18" name="TextBox 18"/>
            <p:cNvSpPr txBox="1"/>
            <p:nvPr/>
          </p:nvSpPr>
          <p:spPr>
            <a:xfrm>
              <a:off x="76200" y="228600"/>
              <a:ext cx="660400" cy="508000"/>
            </a:xfrm>
            <a:prstGeom prst="rect">
              <a:avLst/>
            </a:prstGeom>
          </p:spPr>
          <p:txBody>
            <a:bodyPr lIns="29105" tIns="29105" rIns="29105" bIns="29105" rtlCol="0" anchor="ctr"/>
            <a:lstStyle/>
            <a:p>
              <a:pPr algn="ctr">
                <a:lnSpc>
                  <a:spcPts val="723"/>
                </a:lnSpc>
              </a:pPr>
              <a:endParaRPr sz="1200"/>
            </a:p>
          </p:txBody>
        </p:sp>
      </p:grpSp>
      <p:sp>
        <p:nvSpPr>
          <p:cNvPr id="19" name="Freeform 19"/>
          <p:cNvSpPr/>
          <p:nvPr/>
        </p:nvSpPr>
        <p:spPr>
          <a:xfrm>
            <a:off x="1674524" y="1305104"/>
            <a:ext cx="377749" cy="296061"/>
          </a:xfrm>
          <a:custGeom>
            <a:avLst/>
            <a:gdLst/>
            <a:ahLst/>
            <a:cxnLst/>
            <a:rect l="l" t="t" r="r" b="b"/>
            <a:pathLst>
              <a:path w="566623" h="444091">
                <a:moveTo>
                  <a:pt x="0" y="0"/>
                </a:moveTo>
                <a:lnTo>
                  <a:pt x="566623" y="0"/>
                </a:lnTo>
                <a:lnTo>
                  <a:pt x="566623" y="444091"/>
                </a:lnTo>
                <a:lnTo>
                  <a:pt x="0" y="4440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0" name="Group 20"/>
          <p:cNvGrpSpPr/>
          <p:nvPr/>
        </p:nvGrpSpPr>
        <p:grpSpPr>
          <a:xfrm>
            <a:off x="1512645" y="2301497"/>
            <a:ext cx="758503" cy="758503"/>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39BB2"/>
            </a:solidFill>
          </p:spPr>
        </p:sp>
        <p:sp>
          <p:nvSpPr>
            <p:cNvPr id="22" name="TextBox 22"/>
            <p:cNvSpPr txBox="1"/>
            <p:nvPr/>
          </p:nvSpPr>
          <p:spPr>
            <a:xfrm>
              <a:off x="76200" y="228600"/>
              <a:ext cx="660400" cy="508000"/>
            </a:xfrm>
            <a:prstGeom prst="rect">
              <a:avLst/>
            </a:prstGeom>
          </p:spPr>
          <p:txBody>
            <a:bodyPr lIns="29105" tIns="29105" rIns="29105" bIns="29105" rtlCol="0" anchor="ctr"/>
            <a:lstStyle/>
            <a:p>
              <a:pPr algn="ctr">
                <a:lnSpc>
                  <a:spcPts val="723"/>
                </a:lnSpc>
              </a:pPr>
              <a:endParaRPr sz="1200"/>
            </a:p>
          </p:txBody>
        </p:sp>
      </p:grpSp>
      <p:grpSp>
        <p:nvGrpSpPr>
          <p:cNvPr id="23" name="Group 23"/>
          <p:cNvGrpSpPr/>
          <p:nvPr/>
        </p:nvGrpSpPr>
        <p:grpSpPr>
          <a:xfrm>
            <a:off x="1555217" y="3746611"/>
            <a:ext cx="758503" cy="758503"/>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39BB2"/>
            </a:solidFill>
          </p:spPr>
        </p:sp>
        <p:sp>
          <p:nvSpPr>
            <p:cNvPr id="25" name="TextBox 25"/>
            <p:cNvSpPr txBox="1"/>
            <p:nvPr/>
          </p:nvSpPr>
          <p:spPr>
            <a:xfrm>
              <a:off x="76200" y="228600"/>
              <a:ext cx="660400" cy="508000"/>
            </a:xfrm>
            <a:prstGeom prst="rect">
              <a:avLst/>
            </a:prstGeom>
          </p:spPr>
          <p:txBody>
            <a:bodyPr lIns="29105" tIns="29105" rIns="29105" bIns="29105" rtlCol="0" anchor="ctr"/>
            <a:lstStyle/>
            <a:p>
              <a:pPr algn="ctr">
                <a:lnSpc>
                  <a:spcPts val="723"/>
                </a:lnSpc>
              </a:pPr>
              <a:endParaRPr sz="1200"/>
            </a:p>
          </p:txBody>
        </p:sp>
      </p:grpSp>
      <p:sp>
        <p:nvSpPr>
          <p:cNvPr id="29" name="Freeform 29"/>
          <p:cNvSpPr/>
          <p:nvPr/>
        </p:nvSpPr>
        <p:spPr>
          <a:xfrm>
            <a:off x="1710876" y="2480793"/>
            <a:ext cx="377749" cy="274812"/>
          </a:xfrm>
          <a:custGeom>
            <a:avLst/>
            <a:gdLst/>
            <a:ahLst/>
            <a:cxnLst/>
            <a:rect l="l" t="t" r="r" b="b"/>
            <a:pathLst>
              <a:path w="566623" h="412218">
                <a:moveTo>
                  <a:pt x="0" y="0"/>
                </a:moveTo>
                <a:lnTo>
                  <a:pt x="566623" y="0"/>
                </a:lnTo>
                <a:lnTo>
                  <a:pt x="566623" y="412218"/>
                </a:lnTo>
                <a:lnTo>
                  <a:pt x="0" y="412218"/>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30" name="Freeform 30"/>
          <p:cNvSpPr/>
          <p:nvPr/>
        </p:nvSpPr>
        <p:spPr>
          <a:xfrm>
            <a:off x="1782041" y="3941564"/>
            <a:ext cx="304884" cy="344502"/>
          </a:xfrm>
          <a:custGeom>
            <a:avLst/>
            <a:gdLst/>
            <a:ahLst/>
            <a:cxnLst/>
            <a:rect l="l" t="t" r="r" b="b"/>
            <a:pathLst>
              <a:path w="457326" h="516753">
                <a:moveTo>
                  <a:pt x="0" y="0"/>
                </a:moveTo>
                <a:lnTo>
                  <a:pt x="457326" y="0"/>
                </a:lnTo>
                <a:lnTo>
                  <a:pt x="457326" y="516753"/>
                </a:lnTo>
                <a:lnTo>
                  <a:pt x="0" y="516753"/>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37" name="TextBox 37"/>
          <p:cNvSpPr txBox="1"/>
          <p:nvPr/>
        </p:nvSpPr>
        <p:spPr>
          <a:xfrm>
            <a:off x="2452396" y="1549088"/>
            <a:ext cx="7744137" cy="1282277"/>
          </a:xfrm>
          <a:prstGeom prst="rect">
            <a:avLst/>
          </a:prstGeom>
        </p:spPr>
        <p:txBody>
          <a:bodyPr wrap="square" lIns="0" tIns="0" rIns="0" bIns="0" rtlCol="0" anchor="t">
            <a:noAutofit/>
          </a:bodyPr>
          <a:lstStyle/>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本产品主要聚焦于高校学生二手交易市场，主要覆盖教材、电子产品、宿舍用品、服饰等高频闲置物品交易场景。与其他综合二手平台（如闲鱼、转转）不同，本平台对市场更有针对性，通过校园封闭场景和强社交属性构建差异化竞争壁垒。</a:t>
            </a:r>
          </a:p>
        </p:txBody>
      </p:sp>
      <p:sp>
        <p:nvSpPr>
          <p:cNvPr id="38" name="TextBox 38"/>
          <p:cNvSpPr txBox="1"/>
          <p:nvPr/>
        </p:nvSpPr>
        <p:spPr>
          <a:xfrm>
            <a:off x="2527768" y="2812643"/>
            <a:ext cx="8124566" cy="1053999"/>
          </a:xfrm>
          <a:prstGeom prst="rect">
            <a:avLst/>
          </a:prstGeom>
        </p:spPr>
        <p:txBody>
          <a:bodyPr wrap="square" lIns="0" tIns="0" rIns="0" bIns="0" rtlCol="0" anchor="t">
            <a:noAutofit/>
          </a:bodyPr>
          <a:lstStyle/>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Arial" panose="020B0604020202020204" pitchFamily="34" charset="0"/>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我们的营销渠道分线上、线下。初期以线上为主，搭建微信小程序，在视频号、</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B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站、抖音、小红书等大学生集中平台发布宣传视频。还将与毕业的知名校园博主（</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KOC</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）合作，拍摄</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毕业季二手交易</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短视频。</a:t>
            </a:r>
            <a:endPar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线下方面，校园推广团队在新生入学季和毕业季，于宿舍楼、食堂等高流量区设展位，开展扫码注册送大礼包、随机抽奖送免费代卖服务等活动，助力学生认识平台并注册账号。</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39" name="TextBox 39"/>
          <p:cNvSpPr txBox="1"/>
          <p:nvPr/>
        </p:nvSpPr>
        <p:spPr>
          <a:xfrm>
            <a:off x="2452356" y="4356480"/>
            <a:ext cx="8631805" cy="3590713"/>
          </a:xfrm>
          <a:prstGeom prst="rect">
            <a:avLst/>
          </a:prstGeom>
        </p:spPr>
        <p:txBody>
          <a:bodyPr wrap="square" lIns="0" tIns="0" rIns="0" bIns="0" rtlCol="0" anchor="t">
            <a:noAutofit/>
          </a:bodyPr>
          <a:lstStyle/>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首先我们会在在互联网各个平台、户外场所投放广告，增强曝光率。并且在各个高校开展讲座，向学生们讲解二手物品交易的重要性（提高物品利用率等），在这期间宣传我们的产品。同时还可以与学校合作，评选出为二手交易贡献最多的学生，给予其奖金与表扬等奖励。</a:t>
            </a:r>
          </a:p>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在我们自己的平台上，为鼓励新用户注册，我们提供首单补贴活动，以及邀请新用户补贴活动，鼓励用户帮助我们平台进行宣传。并且可以不时抽取幸运用户进行免费代卖服务，吸引卖家群体发布闲置用品。</a:t>
            </a:r>
          </a:p>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在小红书、抖音等社交平台上，我们会针对买卖家用户各发布主题为</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二手物品处理方案</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以及</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校园省钱秘籍</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等文章与视频，为需要这类服务的用户点明二手物品交易这条道路，并且吸引其来我们的平台进行交易，达到良好的引流效果。</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grpSp>
        <p:nvGrpSpPr>
          <p:cNvPr id="41" name="Group 41"/>
          <p:cNvGrpSpPr/>
          <p:nvPr/>
        </p:nvGrpSpPr>
        <p:grpSpPr>
          <a:xfrm>
            <a:off x="2452396" y="1214202"/>
            <a:ext cx="2022850" cy="334857"/>
            <a:chOff x="79" y="-1361686"/>
            <a:chExt cx="4045700" cy="669714"/>
          </a:xfrm>
        </p:grpSpPr>
        <p:sp>
          <p:nvSpPr>
            <p:cNvPr id="43" name="Freeform 43"/>
            <p:cNvSpPr/>
            <p:nvPr/>
          </p:nvSpPr>
          <p:spPr>
            <a:xfrm>
              <a:off x="79" y="-1358201"/>
              <a:ext cx="4045700" cy="666229"/>
            </a:xfrm>
            <a:custGeom>
              <a:avLst/>
              <a:gdLst/>
              <a:ahLst/>
              <a:cxnLst/>
              <a:rect l="l" t="t" r="r" b="b"/>
              <a:pathLst>
                <a:path w="1039241" h="171138">
                  <a:moveTo>
                    <a:pt x="85569" y="0"/>
                  </a:moveTo>
                  <a:lnTo>
                    <a:pt x="953672" y="0"/>
                  </a:lnTo>
                  <a:cubicBezTo>
                    <a:pt x="976367" y="0"/>
                    <a:pt x="998132" y="9015"/>
                    <a:pt x="1014179" y="25063"/>
                  </a:cubicBezTo>
                  <a:cubicBezTo>
                    <a:pt x="1030226" y="41110"/>
                    <a:pt x="1039241" y="62875"/>
                    <a:pt x="1039241" y="85569"/>
                  </a:cubicBezTo>
                  <a:lnTo>
                    <a:pt x="1039241" y="85569"/>
                  </a:lnTo>
                  <a:cubicBezTo>
                    <a:pt x="1039241" y="132827"/>
                    <a:pt x="1000931" y="171138"/>
                    <a:pt x="953672" y="171138"/>
                  </a:cubicBezTo>
                  <a:lnTo>
                    <a:pt x="85569" y="171138"/>
                  </a:lnTo>
                  <a:cubicBezTo>
                    <a:pt x="62875" y="171138"/>
                    <a:pt x="41110" y="162123"/>
                    <a:pt x="25063" y="146075"/>
                  </a:cubicBezTo>
                  <a:cubicBezTo>
                    <a:pt x="9015" y="130028"/>
                    <a:pt x="0" y="108263"/>
                    <a:pt x="0" y="85569"/>
                  </a:cubicBezTo>
                  <a:lnTo>
                    <a:pt x="0" y="85569"/>
                  </a:lnTo>
                  <a:cubicBezTo>
                    <a:pt x="0" y="62875"/>
                    <a:pt x="9015" y="41110"/>
                    <a:pt x="25063" y="25063"/>
                  </a:cubicBezTo>
                  <a:cubicBezTo>
                    <a:pt x="41110" y="9015"/>
                    <a:pt x="62875" y="0"/>
                    <a:pt x="85569" y="0"/>
                  </a:cubicBezTo>
                  <a:close/>
                </a:path>
              </a:pathLst>
            </a:custGeom>
            <a:solidFill>
              <a:srgbClr val="839BB2"/>
            </a:solidFill>
            <a:ln w="9525" cap="rnd">
              <a:solidFill>
                <a:srgbClr val="374756"/>
              </a:solidFill>
              <a:prstDash val="solid"/>
              <a:round/>
            </a:ln>
          </p:spPr>
        </p:sp>
        <p:sp>
          <p:nvSpPr>
            <p:cNvPr id="45" name="TextBox 45"/>
            <p:cNvSpPr txBox="1"/>
            <p:nvPr/>
          </p:nvSpPr>
          <p:spPr>
            <a:xfrm>
              <a:off x="292165" y="-1361686"/>
              <a:ext cx="3461528" cy="614014"/>
            </a:xfrm>
            <a:prstGeom prst="rect">
              <a:avLst/>
            </a:prstGeom>
          </p:spPr>
          <p:txBody>
            <a:bodyPr lIns="0" tIns="0" rIns="0" bIns="0" rtlCol="0" anchor="t">
              <a:spAutoFit/>
            </a:bodyPr>
            <a:lstStyle/>
            <a:p>
              <a:pPr algn="ctr">
                <a:lnSpc>
                  <a:spcPts val="2613"/>
                </a:lnSpc>
                <a:spcBef>
                  <a:spcPct val="0"/>
                </a:spcBef>
              </a:pPr>
              <a:r>
                <a:rPr lang="zh-CN" alt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目标市场</a:t>
              </a:r>
              <a:endParaRPr 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grpSp>
      <p:grpSp>
        <p:nvGrpSpPr>
          <p:cNvPr id="46" name="Group 46"/>
          <p:cNvGrpSpPr/>
          <p:nvPr/>
        </p:nvGrpSpPr>
        <p:grpSpPr>
          <a:xfrm>
            <a:off x="2452396" y="2450812"/>
            <a:ext cx="2022850" cy="341194"/>
            <a:chOff x="0" y="-16160"/>
            <a:chExt cx="4045700" cy="682389"/>
          </a:xfrm>
        </p:grpSpPr>
        <p:grpSp>
          <p:nvGrpSpPr>
            <p:cNvPr id="47" name="Group 47"/>
            <p:cNvGrpSpPr/>
            <p:nvPr/>
          </p:nvGrpSpPr>
          <p:grpSpPr>
            <a:xfrm>
              <a:off x="0" y="0"/>
              <a:ext cx="4045700" cy="666229"/>
              <a:chOff x="0" y="0"/>
              <a:chExt cx="1039241" cy="171138"/>
            </a:xfrm>
          </p:grpSpPr>
          <p:sp>
            <p:nvSpPr>
              <p:cNvPr id="48" name="Freeform 48"/>
              <p:cNvSpPr/>
              <p:nvPr/>
            </p:nvSpPr>
            <p:spPr>
              <a:xfrm>
                <a:off x="0" y="0"/>
                <a:ext cx="1039241" cy="171138"/>
              </a:xfrm>
              <a:custGeom>
                <a:avLst/>
                <a:gdLst/>
                <a:ahLst/>
                <a:cxnLst/>
                <a:rect l="l" t="t" r="r" b="b"/>
                <a:pathLst>
                  <a:path w="1039241" h="171138">
                    <a:moveTo>
                      <a:pt x="85569" y="0"/>
                    </a:moveTo>
                    <a:lnTo>
                      <a:pt x="953672" y="0"/>
                    </a:lnTo>
                    <a:cubicBezTo>
                      <a:pt x="976367" y="0"/>
                      <a:pt x="998132" y="9015"/>
                      <a:pt x="1014179" y="25063"/>
                    </a:cubicBezTo>
                    <a:cubicBezTo>
                      <a:pt x="1030226" y="41110"/>
                      <a:pt x="1039241" y="62875"/>
                      <a:pt x="1039241" y="85569"/>
                    </a:cubicBezTo>
                    <a:lnTo>
                      <a:pt x="1039241" y="85569"/>
                    </a:lnTo>
                    <a:cubicBezTo>
                      <a:pt x="1039241" y="132827"/>
                      <a:pt x="1000931" y="171138"/>
                      <a:pt x="953672" y="171138"/>
                    </a:cubicBezTo>
                    <a:lnTo>
                      <a:pt x="85569" y="171138"/>
                    </a:lnTo>
                    <a:cubicBezTo>
                      <a:pt x="62875" y="171138"/>
                      <a:pt x="41110" y="162123"/>
                      <a:pt x="25063" y="146075"/>
                    </a:cubicBezTo>
                    <a:cubicBezTo>
                      <a:pt x="9015" y="130028"/>
                      <a:pt x="0" y="108263"/>
                      <a:pt x="0" y="85569"/>
                    </a:cubicBezTo>
                    <a:lnTo>
                      <a:pt x="0" y="85569"/>
                    </a:lnTo>
                    <a:cubicBezTo>
                      <a:pt x="0" y="62875"/>
                      <a:pt x="9015" y="41110"/>
                      <a:pt x="25063" y="25063"/>
                    </a:cubicBezTo>
                    <a:cubicBezTo>
                      <a:pt x="41110" y="9015"/>
                      <a:pt x="62875" y="0"/>
                      <a:pt x="85569" y="0"/>
                    </a:cubicBezTo>
                    <a:close/>
                  </a:path>
                </a:pathLst>
              </a:custGeom>
              <a:solidFill>
                <a:srgbClr val="839BB2"/>
              </a:solidFill>
              <a:ln w="9525" cap="rnd">
                <a:solidFill>
                  <a:srgbClr val="374756"/>
                </a:solidFill>
                <a:prstDash val="solid"/>
                <a:round/>
              </a:ln>
            </p:spPr>
          </p:sp>
          <p:sp>
            <p:nvSpPr>
              <p:cNvPr id="49" name="TextBox 49"/>
              <p:cNvSpPr txBox="1"/>
              <p:nvPr/>
            </p:nvSpPr>
            <p:spPr>
              <a:xfrm>
                <a:off x="0" y="-47625"/>
                <a:ext cx="1039241" cy="218763"/>
              </a:xfrm>
              <a:prstGeom prst="rect">
                <a:avLst/>
              </a:prstGeom>
            </p:spPr>
            <p:txBody>
              <a:bodyPr lIns="22995" tIns="22995" rIns="22995" bIns="22995" rtlCol="0" anchor="ctr"/>
              <a:lstStyle/>
              <a:p>
                <a:pPr algn="ctr">
                  <a:lnSpc>
                    <a:spcPts val="1930"/>
                  </a:lnSpc>
                  <a:spcBef>
                    <a:spcPct val="0"/>
                  </a:spcBef>
                </a:pPr>
                <a:endParaRPr sz="1200"/>
              </a:p>
            </p:txBody>
          </p:sp>
        </p:grpSp>
        <p:sp>
          <p:nvSpPr>
            <p:cNvPr id="50" name="TextBox 50"/>
            <p:cNvSpPr txBox="1"/>
            <p:nvPr/>
          </p:nvSpPr>
          <p:spPr>
            <a:xfrm>
              <a:off x="292088" y="-16160"/>
              <a:ext cx="3461528" cy="614015"/>
            </a:xfrm>
            <a:prstGeom prst="rect">
              <a:avLst/>
            </a:prstGeom>
          </p:spPr>
          <p:txBody>
            <a:bodyPr lIns="0" tIns="0" rIns="0" bIns="0" rtlCol="0" anchor="t">
              <a:spAutoFit/>
            </a:bodyPr>
            <a:lstStyle/>
            <a:p>
              <a:pPr algn="ctr">
                <a:lnSpc>
                  <a:spcPts val="2613"/>
                </a:lnSpc>
                <a:spcBef>
                  <a:spcPct val="0"/>
                </a:spcBef>
              </a:pPr>
              <a:r>
                <a:rPr lang="zh-CN" alt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营销渠道</a:t>
              </a:r>
              <a:endParaRPr 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grpSp>
      <p:grpSp>
        <p:nvGrpSpPr>
          <p:cNvPr id="51" name="Group 51"/>
          <p:cNvGrpSpPr/>
          <p:nvPr/>
        </p:nvGrpSpPr>
        <p:grpSpPr>
          <a:xfrm>
            <a:off x="2452357" y="3951254"/>
            <a:ext cx="2487819" cy="341194"/>
            <a:chOff x="0" y="-16160"/>
            <a:chExt cx="4045700" cy="682389"/>
          </a:xfrm>
        </p:grpSpPr>
        <p:grpSp>
          <p:nvGrpSpPr>
            <p:cNvPr id="52" name="Group 52"/>
            <p:cNvGrpSpPr/>
            <p:nvPr/>
          </p:nvGrpSpPr>
          <p:grpSpPr>
            <a:xfrm>
              <a:off x="0" y="0"/>
              <a:ext cx="4045700" cy="666229"/>
              <a:chOff x="0" y="0"/>
              <a:chExt cx="1039241" cy="171138"/>
            </a:xfrm>
          </p:grpSpPr>
          <p:sp>
            <p:nvSpPr>
              <p:cNvPr id="53" name="Freeform 53"/>
              <p:cNvSpPr/>
              <p:nvPr/>
            </p:nvSpPr>
            <p:spPr>
              <a:xfrm>
                <a:off x="0" y="0"/>
                <a:ext cx="1039241" cy="171138"/>
              </a:xfrm>
              <a:custGeom>
                <a:avLst/>
                <a:gdLst/>
                <a:ahLst/>
                <a:cxnLst/>
                <a:rect l="l" t="t" r="r" b="b"/>
                <a:pathLst>
                  <a:path w="1039241" h="171138">
                    <a:moveTo>
                      <a:pt x="85569" y="0"/>
                    </a:moveTo>
                    <a:lnTo>
                      <a:pt x="953672" y="0"/>
                    </a:lnTo>
                    <a:cubicBezTo>
                      <a:pt x="976367" y="0"/>
                      <a:pt x="998132" y="9015"/>
                      <a:pt x="1014179" y="25063"/>
                    </a:cubicBezTo>
                    <a:cubicBezTo>
                      <a:pt x="1030226" y="41110"/>
                      <a:pt x="1039241" y="62875"/>
                      <a:pt x="1039241" y="85569"/>
                    </a:cubicBezTo>
                    <a:lnTo>
                      <a:pt x="1039241" y="85569"/>
                    </a:lnTo>
                    <a:cubicBezTo>
                      <a:pt x="1039241" y="132827"/>
                      <a:pt x="1000931" y="171138"/>
                      <a:pt x="953672" y="171138"/>
                    </a:cubicBezTo>
                    <a:lnTo>
                      <a:pt x="85569" y="171138"/>
                    </a:lnTo>
                    <a:cubicBezTo>
                      <a:pt x="62875" y="171138"/>
                      <a:pt x="41110" y="162123"/>
                      <a:pt x="25063" y="146075"/>
                    </a:cubicBezTo>
                    <a:cubicBezTo>
                      <a:pt x="9015" y="130028"/>
                      <a:pt x="0" y="108263"/>
                      <a:pt x="0" y="85569"/>
                    </a:cubicBezTo>
                    <a:lnTo>
                      <a:pt x="0" y="85569"/>
                    </a:lnTo>
                    <a:cubicBezTo>
                      <a:pt x="0" y="62875"/>
                      <a:pt x="9015" y="41110"/>
                      <a:pt x="25063" y="25063"/>
                    </a:cubicBezTo>
                    <a:cubicBezTo>
                      <a:pt x="41110" y="9015"/>
                      <a:pt x="62875" y="0"/>
                      <a:pt x="85569" y="0"/>
                    </a:cubicBezTo>
                    <a:close/>
                  </a:path>
                </a:pathLst>
              </a:custGeom>
              <a:solidFill>
                <a:srgbClr val="839BB2"/>
              </a:solidFill>
              <a:ln w="9525" cap="rnd">
                <a:solidFill>
                  <a:srgbClr val="374756"/>
                </a:solidFill>
                <a:prstDash val="solid"/>
                <a:round/>
              </a:ln>
            </p:spPr>
          </p:sp>
          <p:sp>
            <p:nvSpPr>
              <p:cNvPr id="54" name="TextBox 54"/>
              <p:cNvSpPr txBox="1"/>
              <p:nvPr/>
            </p:nvSpPr>
            <p:spPr>
              <a:xfrm>
                <a:off x="0" y="-47625"/>
                <a:ext cx="1039241" cy="218763"/>
              </a:xfrm>
              <a:prstGeom prst="rect">
                <a:avLst/>
              </a:prstGeom>
            </p:spPr>
            <p:txBody>
              <a:bodyPr lIns="22995" tIns="22995" rIns="22995" bIns="22995" rtlCol="0" anchor="ctr"/>
              <a:lstStyle/>
              <a:p>
                <a:pPr algn="ctr">
                  <a:lnSpc>
                    <a:spcPts val="1930"/>
                  </a:lnSpc>
                  <a:spcBef>
                    <a:spcPct val="0"/>
                  </a:spcBef>
                </a:pPr>
                <a:endParaRPr sz="1200"/>
              </a:p>
            </p:txBody>
          </p:sp>
        </p:grpSp>
        <p:sp>
          <p:nvSpPr>
            <p:cNvPr id="55" name="TextBox 55"/>
            <p:cNvSpPr txBox="1"/>
            <p:nvPr/>
          </p:nvSpPr>
          <p:spPr>
            <a:xfrm>
              <a:off x="292086" y="-16160"/>
              <a:ext cx="3461527" cy="614015"/>
            </a:xfrm>
            <a:prstGeom prst="rect">
              <a:avLst/>
            </a:prstGeom>
          </p:spPr>
          <p:txBody>
            <a:bodyPr lIns="0" tIns="0" rIns="0" bIns="0" rtlCol="0" anchor="t">
              <a:spAutoFit/>
            </a:bodyPr>
            <a:lstStyle/>
            <a:p>
              <a:pPr algn="ctr">
                <a:lnSpc>
                  <a:spcPts val="2613"/>
                </a:lnSpc>
                <a:spcBef>
                  <a:spcPct val="0"/>
                </a:spcBef>
              </a:pPr>
              <a:r>
                <a:rPr lang="zh-CN" alt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rPr>
                <a:t>广告与促销策略</a:t>
              </a:r>
              <a:endParaRPr lang="en-US" sz="1867" b="1" spc="186">
                <a:solidFill>
                  <a:srgbClr val="FFFFFF"/>
                </a:solidFill>
                <a:latin typeface="思源黑体 2 Bold" panose="020B0600000000000000" charset="-122"/>
                <a:ea typeface="思源黑体 2 Bold" panose="020B0600000000000000" charset="-122"/>
                <a:cs typeface="思源黑体 2 Bold" panose="020B0600000000000000" charset="-122"/>
                <a:sym typeface="思源黑体 2 Bold" panose="020B0600000000000000"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241921" y="250992"/>
            <a:ext cx="11764433" cy="6363204"/>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p:spPr>
          <p:txBody>
            <a:bodyPr lIns="33867" tIns="33867" rIns="33867" bIns="33867" rtlCol="0" anchor="ctr"/>
            <a:lstStyle/>
            <a:p>
              <a:pPr algn="ctr">
                <a:lnSpc>
                  <a:spcPts val="1773"/>
                </a:lnSpc>
                <a:spcBef>
                  <a:spcPct val="0"/>
                </a:spcBef>
              </a:pPr>
              <a:endParaRPr sz="1200"/>
            </a:p>
          </p:txBody>
        </p:sp>
      </p:grpSp>
      <p:sp>
        <p:nvSpPr>
          <p:cNvPr id="12" name="Freeform 12"/>
          <p:cNvSpPr/>
          <p:nvPr/>
        </p:nvSpPr>
        <p:spPr>
          <a:xfrm>
            <a:off x="4674358" y="369405"/>
            <a:ext cx="3004820" cy="610447"/>
          </a:xfrm>
          <a:custGeom>
            <a:avLst/>
            <a:gdLst/>
            <a:ahLst/>
            <a:cxnLst/>
            <a:rect l="l" t="t" r="r" b="b"/>
            <a:pathLst>
              <a:path w="1513373" h="307480">
                <a:moveTo>
                  <a:pt x="0" y="0"/>
                </a:moveTo>
                <a:lnTo>
                  <a:pt x="1513373" y="0"/>
                </a:lnTo>
                <a:lnTo>
                  <a:pt x="1513373" y="307480"/>
                </a:lnTo>
                <a:lnTo>
                  <a:pt x="0" y="307480"/>
                </a:lnTo>
                <a:close/>
              </a:path>
            </a:pathLst>
          </a:custGeom>
          <a:solidFill>
            <a:srgbClr val="839BB2"/>
          </a:solidFill>
          <a:ln cap="sq">
            <a:noFill/>
            <a:prstDash val="solid"/>
            <a:miter/>
          </a:ln>
        </p:spPr>
      </p:sp>
      <p:sp>
        <p:nvSpPr>
          <p:cNvPr id="14" name="TextBox 14"/>
          <p:cNvSpPr txBox="1"/>
          <p:nvPr/>
        </p:nvSpPr>
        <p:spPr>
          <a:xfrm>
            <a:off x="4864635" y="406637"/>
            <a:ext cx="2675967" cy="468718"/>
          </a:xfrm>
          <a:prstGeom prst="rect">
            <a:avLst/>
          </a:prstGeom>
        </p:spPr>
        <p:txBody>
          <a:bodyPr lIns="0" tIns="0" rIns="0" bIns="0" rtlCol="0" anchor="t">
            <a:spAutoFit/>
          </a:bodyPr>
          <a:lstStyle/>
          <a:p>
            <a:pPr algn="ctr">
              <a:lnSpc>
                <a:spcPts val="4180"/>
              </a:lnSpc>
            </a:pPr>
            <a:r>
              <a:rPr lang="zh-CN" alt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盈利模式</a:t>
            </a:r>
            <a:endParaRPr lang="en-US" sz="2987" spc="206">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grpSp>
        <p:nvGrpSpPr>
          <p:cNvPr id="15" name="Group 15"/>
          <p:cNvGrpSpPr/>
          <p:nvPr/>
        </p:nvGrpSpPr>
        <p:grpSpPr>
          <a:xfrm>
            <a:off x="3974256" y="1736418"/>
            <a:ext cx="4162841" cy="416284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839BB2">
                  <a:alpha val="81961"/>
                </a:srgbClr>
              </a:solidFill>
              <a:prstDash val="solid"/>
              <a:miter/>
            </a:ln>
          </p:spPr>
        </p:sp>
        <p:sp>
          <p:nvSpPr>
            <p:cNvPr id="17" name="TextBox 17"/>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8" name="Freeform 18"/>
          <p:cNvSpPr/>
          <p:nvPr/>
        </p:nvSpPr>
        <p:spPr>
          <a:xfrm>
            <a:off x="4252530" y="2014692"/>
            <a:ext cx="3606293" cy="3606293"/>
          </a:xfrm>
          <a:custGeom>
            <a:avLst/>
            <a:gdLst/>
            <a:ahLst/>
            <a:cxnLst/>
            <a:rect l="l" t="t" r="r" b="b"/>
            <a:pathLst>
              <a:path w="5409440" h="5409440">
                <a:moveTo>
                  <a:pt x="0" y="0"/>
                </a:moveTo>
                <a:lnTo>
                  <a:pt x="5409440" y="0"/>
                </a:lnTo>
                <a:lnTo>
                  <a:pt x="5409440" y="5409440"/>
                </a:lnTo>
                <a:lnTo>
                  <a:pt x="0" y="54094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a:off x="4432123" y="2194292"/>
            <a:ext cx="3247107" cy="3247094"/>
            <a:chOff x="0" y="0"/>
            <a:chExt cx="6350000" cy="6349975"/>
          </a:xfrm>
        </p:grpSpPr>
        <p:sp>
          <p:nvSpPr>
            <p:cNvPr id="20" name="Freeform 20"/>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r="-49952"/>
              </a:stretch>
            </a:blipFill>
          </p:spPr>
        </p:sp>
      </p:grpSp>
      <p:grpSp>
        <p:nvGrpSpPr>
          <p:cNvPr id="21" name="Group 21"/>
          <p:cNvGrpSpPr/>
          <p:nvPr/>
        </p:nvGrpSpPr>
        <p:grpSpPr>
          <a:xfrm>
            <a:off x="4364476" y="1812742"/>
            <a:ext cx="670818" cy="654589"/>
            <a:chOff x="0" y="0"/>
            <a:chExt cx="812800" cy="793136"/>
          </a:xfrm>
        </p:grpSpPr>
        <p:sp>
          <p:nvSpPr>
            <p:cNvPr id="22" name="Freeform 22"/>
            <p:cNvSpPr/>
            <p:nvPr/>
          </p:nvSpPr>
          <p:spPr>
            <a:xfrm>
              <a:off x="0" y="0"/>
              <a:ext cx="812800" cy="793136"/>
            </a:xfrm>
            <a:custGeom>
              <a:avLst/>
              <a:gdLst/>
              <a:ahLst/>
              <a:cxnLst/>
              <a:rect l="l" t="t" r="r" b="b"/>
              <a:pathLst>
                <a:path w="812800" h="793136">
                  <a:moveTo>
                    <a:pt x="406400" y="0"/>
                  </a:moveTo>
                  <a:cubicBezTo>
                    <a:pt x="181951" y="0"/>
                    <a:pt x="0" y="177550"/>
                    <a:pt x="0" y="396568"/>
                  </a:cubicBezTo>
                  <a:cubicBezTo>
                    <a:pt x="0" y="615587"/>
                    <a:pt x="181951" y="793136"/>
                    <a:pt x="406400" y="793136"/>
                  </a:cubicBezTo>
                  <a:cubicBezTo>
                    <a:pt x="630849" y="793136"/>
                    <a:pt x="812800" y="615587"/>
                    <a:pt x="812800" y="396568"/>
                  </a:cubicBezTo>
                  <a:cubicBezTo>
                    <a:pt x="812800" y="177550"/>
                    <a:pt x="630849" y="0"/>
                    <a:pt x="406400" y="0"/>
                  </a:cubicBezTo>
                  <a:lnTo>
                    <a:pt x="406400" y="0"/>
                  </a:lnTo>
                  <a:close/>
                </a:path>
              </a:pathLst>
            </a:custGeom>
            <a:solidFill>
              <a:srgbClr val="839BB2"/>
            </a:solidFill>
            <a:ln cap="rnd">
              <a:noFill/>
              <a:prstDash val="solid"/>
              <a:round/>
            </a:ln>
          </p:spPr>
        </p:sp>
        <p:sp>
          <p:nvSpPr>
            <p:cNvPr id="23" name="TextBox 23"/>
            <p:cNvSpPr txBox="1"/>
            <p:nvPr/>
          </p:nvSpPr>
          <p:spPr>
            <a:xfrm>
              <a:off x="76200" y="36257"/>
              <a:ext cx="660400" cy="682523"/>
            </a:xfrm>
            <a:prstGeom prst="rect">
              <a:avLst/>
            </a:prstGeom>
          </p:spPr>
          <p:txBody>
            <a:bodyPr lIns="33867" tIns="33867" rIns="33867" bIns="33867" rtlCol="0" anchor="ctr"/>
            <a:lstStyle/>
            <a:p>
              <a:pPr algn="ctr">
                <a:lnSpc>
                  <a:spcPts val="1993"/>
                </a:lnSpc>
                <a:spcBef>
                  <a:spcPct val="0"/>
                </a:spcBef>
              </a:pPr>
              <a:endParaRPr sz="1200"/>
            </a:p>
          </p:txBody>
        </p:sp>
      </p:grpSp>
      <p:sp>
        <p:nvSpPr>
          <p:cNvPr id="24" name="TextBox 24"/>
          <p:cNvSpPr txBox="1"/>
          <p:nvPr/>
        </p:nvSpPr>
        <p:spPr>
          <a:xfrm>
            <a:off x="4535091" y="1842652"/>
            <a:ext cx="329594" cy="446148"/>
          </a:xfrm>
          <a:prstGeom prst="rect">
            <a:avLst/>
          </a:prstGeom>
        </p:spPr>
        <p:txBody>
          <a:bodyPr lIns="0" tIns="0" rIns="0" bIns="0" rtlCol="0" anchor="t">
            <a:spAutoFit/>
          </a:bodyPr>
          <a:lstStyle/>
          <a:p>
            <a:pPr algn="ctr">
              <a:lnSpc>
                <a:spcPts val="3734"/>
              </a:lnSpc>
              <a:spcBef>
                <a:spcPct val="0"/>
              </a:spcBef>
            </a:pPr>
            <a:r>
              <a:rPr lang="en-US" sz="2667" b="1">
                <a:solidFill>
                  <a:srgbClr val="FFFFFF"/>
                </a:solidFill>
                <a:latin typeface="Agrandir Bold" panose="00000800000000000000"/>
                <a:ea typeface="Agrandir Bold" panose="00000800000000000000"/>
                <a:cs typeface="Agrandir Bold" panose="00000800000000000000"/>
                <a:sym typeface="Agrandir Bold" panose="00000800000000000000"/>
              </a:rPr>
              <a:t>1</a:t>
            </a:r>
          </a:p>
        </p:txBody>
      </p:sp>
      <p:grpSp>
        <p:nvGrpSpPr>
          <p:cNvPr id="25" name="Group 25"/>
          <p:cNvGrpSpPr/>
          <p:nvPr/>
        </p:nvGrpSpPr>
        <p:grpSpPr>
          <a:xfrm>
            <a:off x="3581748" y="3807810"/>
            <a:ext cx="670818" cy="654589"/>
            <a:chOff x="0" y="0"/>
            <a:chExt cx="812800" cy="793136"/>
          </a:xfrm>
        </p:grpSpPr>
        <p:sp>
          <p:nvSpPr>
            <p:cNvPr id="26" name="Freeform 26"/>
            <p:cNvSpPr/>
            <p:nvPr/>
          </p:nvSpPr>
          <p:spPr>
            <a:xfrm>
              <a:off x="0" y="0"/>
              <a:ext cx="812800" cy="793136"/>
            </a:xfrm>
            <a:custGeom>
              <a:avLst/>
              <a:gdLst/>
              <a:ahLst/>
              <a:cxnLst/>
              <a:rect l="l" t="t" r="r" b="b"/>
              <a:pathLst>
                <a:path w="812800" h="793136">
                  <a:moveTo>
                    <a:pt x="406400" y="0"/>
                  </a:moveTo>
                  <a:cubicBezTo>
                    <a:pt x="181951" y="0"/>
                    <a:pt x="0" y="177550"/>
                    <a:pt x="0" y="396568"/>
                  </a:cubicBezTo>
                  <a:cubicBezTo>
                    <a:pt x="0" y="615587"/>
                    <a:pt x="181951" y="793136"/>
                    <a:pt x="406400" y="793136"/>
                  </a:cubicBezTo>
                  <a:cubicBezTo>
                    <a:pt x="630849" y="793136"/>
                    <a:pt x="812800" y="615587"/>
                    <a:pt x="812800" y="396568"/>
                  </a:cubicBezTo>
                  <a:cubicBezTo>
                    <a:pt x="812800" y="177550"/>
                    <a:pt x="630849" y="0"/>
                    <a:pt x="406400" y="0"/>
                  </a:cubicBezTo>
                  <a:lnTo>
                    <a:pt x="406400" y="0"/>
                  </a:lnTo>
                  <a:close/>
                </a:path>
              </a:pathLst>
            </a:custGeom>
            <a:solidFill>
              <a:srgbClr val="839BB2"/>
            </a:solidFill>
            <a:ln cap="rnd">
              <a:noFill/>
              <a:prstDash val="solid"/>
              <a:round/>
            </a:ln>
          </p:spPr>
        </p:sp>
        <p:sp>
          <p:nvSpPr>
            <p:cNvPr id="27" name="TextBox 27"/>
            <p:cNvSpPr txBox="1"/>
            <p:nvPr/>
          </p:nvSpPr>
          <p:spPr>
            <a:xfrm>
              <a:off x="76200" y="36257"/>
              <a:ext cx="660400" cy="682523"/>
            </a:xfrm>
            <a:prstGeom prst="rect">
              <a:avLst/>
            </a:prstGeom>
          </p:spPr>
          <p:txBody>
            <a:bodyPr lIns="33867" tIns="33867" rIns="33867" bIns="33867" rtlCol="0" anchor="ctr"/>
            <a:lstStyle/>
            <a:p>
              <a:pPr algn="ctr">
                <a:lnSpc>
                  <a:spcPts val="1993"/>
                </a:lnSpc>
                <a:spcBef>
                  <a:spcPct val="0"/>
                </a:spcBef>
              </a:pPr>
              <a:endParaRPr sz="1200"/>
            </a:p>
          </p:txBody>
        </p:sp>
      </p:grpSp>
      <p:sp>
        <p:nvSpPr>
          <p:cNvPr id="28" name="TextBox 28"/>
          <p:cNvSpPr txBox="1"/>
          <p:nvPr/>
        </p:nvSpPr>
        <p:spPr>
          <a:xfrm>
            <a:off x="3752358" y="3837687"/>
            <a:ext cx="329594" cy="446148"/>
          </a:xfrm>
          <a:prstGeom prst="rect">
            <a:avLst/>
          </a:prstGeom>
        </p:spPr>
        <p:txBody>
          <a:bodyPr lIns="0" tIns="0" rIns="0" bIns="0" rtlCol="0" anchor="t">
            <a:spAutoFit/>
          </a:bodyPr>
          <a:lstStyle/>
          <a:p>
            <a:pPr algn="ctr">
              <a:lnSpc>
                <a:spcPts val="3734"/>
              </a:lnSpc>
              <a:spcBef>
                <a:spcPct val="0"/>
              </a:spcBef>
            </a:pPr>
            <a:r>
              <a:rPr lang="en-US" sz="2667" b="1">
                <a:solidFill>
                  <a:srgbClr val="FFFFFF"/>
                </a:solidFill>
                <a:latin typeface="Agrandir Bold" panose="00000800000000000000"/>
                <a:ea typeface="Agrandir Bold" panose="00000800000000000000"/>
                <a:cs typeface="Agrandir Bold" panose="00000800000000000000"/>
                <a:sym typeface="Agrandir Bold" panose="00000800000000000000"/>
              </a:rPr>
              <a:t>2</a:t>
            </a:r>
          </a:p>
        </p:txBody>
      </p:sp>
      <p:grpSp>
        <p:nvGrpSpPr>
          <p:cNvPr id="33" name="Group 33"/>
          <p:cNvGrpSpPr/>
          <p:nvPr/>
        </p:nvGrpSpPr>
        <p:grpSpPr>
          <a:xfrm>
            <a:off x="7075981" y="1779980"/>
            <a:ext cx="670818" cy="654589"/>
            <a:chOff x="0" y="0"/>
            <a:chExt cx="812800" cy="793136"/>
          </a:xfrm>
        </p:grpSpPr>
        <p:sp>
          <p:nvSpPr>
            <p:cNvPr id="34" name="Freeform 34"/>
            <p:cNvSpPr/>
            <p:nvPr/>
          </p:nvSpPr>
          <p:spPr>
            <a:xfrm>
              <a:off x="0" y="0"/>
              <a:ext cx="812800" cy="793136"/>
            </a:xfrm>
            <a:custGeom>
              <a:avLst/>
              <a:gdLst/>
              <a:ahLst/>
              <a:cxnLst/>
              <a:rect l="l" t="t" r="r" b="b"/>
              <a:pathLst>
                <a:path w="812800" h="793136">
                  <a:moveTo>
                    <a:pt x="406400" y="0"/>
                  </a:moveTo>
                  <a:cubicBezTo>
                    <a:pt x="181951" y="0"/>
                    <a:pt x="0" y="177550"/>
                    <a:pt x="0" y="396568"/>
                  </a:cubicBezTo>
                  <a:cubicBezTo>
                    <a:pt x="0" y="615587"/>
                    <a:pt x="181951" y="793136"/>
                    <a:pt x="406400" y="793136"/>
                  </a:cubicBezTo>
                  <a:cubicBezTo>
                    <a:pt x="630849" y="793136"/>
                    <a:pt x="812800" y="615587"/>
                    <a:pt x="812800" y="396568"/>
                  </a:cubicBezTo>
                  <a:cubicBezTo>
                    <a:pt x="812800" y="177550"/>
                    <a:pt x="630849" y="0"/>
                    <a:pt x="406400" y="0"/>
                  </a:cubicBezTo>
                  <a:lnTo>
                    <a:pt x="406400" y="0"/>
                  </a:lnTo>
                  <a:close/>
                </a:path>
              </a:pathLst>
            </a:custGeom>
            <a:solidFill>
              <a:srgbClr val="839BB2"/>
            </a:solidFill>
            <a:ln cap="rnd">
              <a:noFill/>
              <a:prstDash val="solid"/>
              <a:round/>
            </a:ln>
          </p:spPr>
        </p:sp>
        <p:sp>
          <p:nvSpPr>
            <p:cNvPr id="35" name="TextBox 35"/>
            <p:cNvSpPr txBox="1"/>
            <p:nvPr/>
          </p:nvSpPr>
          <p:spPr>
            <a:xfrm>
              <a:off x="76200" y="36257"/>
              <a:ext cx="660400" cy="682523"/>
            </a:xfrm>
            <a:prstGeom prst="rect">
              <a:avLst/>
            </a:prstGeom>
          </p:spPr>
          <p:txBody>
            <a:bodyPr lIns="33867" tIns="33867" rIns="33867" bIns="33867" rtlCol="0" anchor="ctr"/>
            <a:lstStyle/>
            <a:p>
              <a:pPr algn="ctr">
                <a:lnSpc>
                  <a:spcPts val="1993"/>
                </a:lnSpc>
                <a:spcBef>
                  <a:spcPct val="0"/>
                </a:spcBef>
              </a:pPr>
              <a:endParaRPr sz="1200"/>
            </a:p>
          </p:txBody>
        </p:sp>
      </p:grpSp>
      <p:sp>
        <p:nvSpPr>
          <p:cNvPr id="36" name="TextBox 36"/>
          <p:cNvSpPr txBox="1"/>
          <p:nvPr/>
        </p:nvSpPr>
        <p:spPr>
          <a:xfrm>
            <a:off x="7246604" y="1868091"/>
            <a:ext cx="329594" cy="446148"/>
          </a:xfrm>
          <a:prstGeom prst="rect">
            <a:avLst/>
          </a:prstGeom>
        </p:spPr>
        <p:txBody>
          <a:bodyPr lIns="0" tIns="0" rIns="0" bIns="0" rtlCol="0" anchor="t">
            <a:spAutoFit/>
          </a:bodyPr>
          <a:lstStyle/>
          <a:p>
            <a:pPr algn="ctr">
              <a:lnSpc>
                <a:spcPts val="3734"/>
              </a:lnSpc>
              <a:spcBef>
                <a:spcPct val="0"/>
              </a:spcBef>
            </a:pPr>
            <a:r>
              <a:rPr lang="en-US" altLang="zh-CN" sz="2667" b="1">
                <a:solidFill>
                  <a:srgbClr val="FFFFFF"/>
                </a:solidFill>
                <a:latin typeface="Agrandir Bold" panose="00000800000000000000"/>
                <a:ea typeface="Agrandir Bold" panose="00000800000000000000"/>
                <a:cs typeface="Agrandir Bold" panose="00000800000000000000"/>
                <a:sym typeface="Agrandir Bold" panose="00000800000000000000"/>
              </a:rPr>
              <a:t>3</a:t>
            </a:r>
            <a:endParaRPr lang="en-US" sz="2667" b="1">
              <a:solidFill>
                <a:srgbClr val="FFFFFF"/>
              </a:solidFill>
              <a:latin typeface="Agrandir Bold" panose="00000800000000000000"/>
              <a:ea typeface="Agrandir Bold" panose="00000800000000000000"/>
              <a:cs typeface="Agrandir Bold" panose="00000800000000000000"/>
              <a:sym typeface="Agrandir Bold" panose="00000800000000000000"/>
            </a:endParaRPr>
          </a:p>
        </p:txBody>
      </p:sp>
      <p:grpSp>
        <p:nvGrpSpPr>
          <p:cNvPr id="37" name="Group 37"/>
          <p:cNvGrpSpPr/>
          <p:nvPr/>
        </p:nvGrpSpPr>
        <p:grpSpPr>
          <a:xfrm>
            <a:off x="7466352" y="4432513"/>
            <a:ext cx="670818" cy="654589"/>
            <a:chOff x="0" y="0"/>
            <a:chExt cx="812800" cy="793136"/>
          </a:xfrm>
        </p:grpSpPr>
        <p:sp>
          <p:nvSpPr>
            <p:cNvPr id="38" name="Freeform 38"/>
            <p:cNvSpPr/>
            <p:nvPr/>
          </p:nvSpPr>
          <p:spPr>
            <a:xfrm>
              <a:off x="0" y="0"/>
              <a:ext cx="812800" cy="793136"/>
            </a:xfrm>
            <a:custGeom>
              <a:avLst/>
              <a:gdLst/>
              <a:ahLst/>
              <a:cxnLst/>
              <a:rect l="l" t="t" r="r" b="b"/>
              <a:pathLst>
                <a:path w="812800" h="793136">
                  <a:moveTo>
                    <a:pt x="406400" y="0"/>
                  </a:moveTo>
                  <a:cubicBezTo>
                    <a:pt x="181951" y="0"/>
                    <a:pt x="0" y="177550"/>
                    <a:pt x="0" y="396568"/>
                  </a:cubicBezTo>
                  <a:cubicBezTo>
                    <a:pt x="0" y="615587"/>
                    <a:pt x="181951" y="793136"/>
                    <a:pt x="406400" y="793136"/>
                  </a:cubicBezTo>
                  <a:cubicBezTo>
                    <a:pt x="630849" y="793136"/>
                    <a:pt x="812800" y="615587"/>
                    <a:pt x="812800" y="396568"/>
                  </a:cubicBezTo>
                  <a:cubicBezTo>
                    <a:pt x="812800" y="177550"/>
                    <a:pt x="630849" y="0"/>
                    <a:pt x="406400" y="0"/>
                  </a:cubicBezTo>
                  <a:lnTo>
                    <a:pt x="406400" y="0"/>
                  </a:lnTo>
                  <a:close/>
                </a:path>
              </a:pathLst>
            </a:custGeom>
            <a:solidFill>
              <a:srgbClr val="839BB2"/>
            </a:solidFill>
            <a:ln cap="rnd">
              <a:noFill/>
              <a:prstDash val="solid"/>
              <a:round/>
            </a:ln>
          </p:spPr>
        </p:sp>
        <p:sp>
          <p:nvSpPr>
            <p:cNvPr id="39" name="TextBox 39"/>
            <p:cNvSpPr txBox="1"/>
            <p:nvPr/>
          </p:nvSpPr>
          <p:spPr>
            <a:xfrm>
              <a:off x="76200" y="36257"/>
              <a:ext cx="660400" cy="682523"/>
            </a:xfrm>
            <a:prstGeom prst="rect">
              <a:avLst/>
            </a:prstGeom>
          </p:spPr>
          <p:txBody>
            <a:bodyPr lIns="33867" tIns="33867" rIns="33867" bIns="33867" rtlCol="0" anchor="ctr"/>
            <a:lstStyle/>
            <a:p>
              <a:pPr algn="ctr">
                <a:lnSpc>
                  <a:spcPts val="1993"/>
                </a:lnSpc>
                <a:spcBef>
                  <a:spcPct val="0"/>
                </a:spcBef>
              </a:pPr>
              <a:endParaRPr sz="1200"/>
            </a:p>
          </p:txBody>
        </p:sp>
      </p:grpSp>
      <p:sp>
        <p:nvSpPr>
          <p:cNvPr id="40" name="TextBox 40"/>
          <p:cNvSpPr txBox="1"/>
          <p:nvPr/>
        </p:nvSpPr>
        <p:spPr>
          <a:xfrm>
            <a:off x="7636914" y="4462437"/>
            <a:ext cx="329594" cy="446148"/>
          </a:xfrm>
          <a:prstGeom prst="rect">
            <a:avLst/>
          </a:prstGeom>
        </p:spPr>
        <p:txBody>
          <a:bodyPr lIns="0" tIns="0" rIns="0" bIns="0" rtlCol="0" anchor="t">
            <a:spAutoFit/>
          </a:bodyPr>
          <a:lstStyle/>
          <a:p>
            <a:pPr algn="ctr">
              <a:lnSpc>
                <a:spcPts val="3734"/>
              </a:lnSpc>
              <a:spcBef>
                <a:spcPct val="0"/>
              </a:spcBef>
            </a:pPr>
            <a:r>
              <a:rPr lang="en-US" altLang="zh-CN" sz="2667" b="1">
                <a:solidFill>
                  <a:srgbClr val="FFFFFF"/>
                </a:solidFill>
                <a:latin typeface="Agrandir Bold" panose="00000800000000000000"/>
                <a:ea typeface="Agrandir Bold" panose="00000800000000000000"/>
                <a:cs typeface="Agrandir Bold" panose="00000800000000000000"/>
                <a:sym typeface="Agrandir Bold" panose="00000800000000000000"/>
              </a:rPr>
              <a:t>4</a:t>
            </a:r>
            <a:endParaRPr lang="en-US" sz="2667" b="1">
              <a:solidFill>
                <a:srgbClr val="FFFFFF"/>
              </a:solidFill>
              <a:latin typeface="Agrandir Bold" panose="00000800000000000000"/>
              <a:ea typeface="Agrandir Bold" panose="00000800000000000000"/>
              <a:cs typeface="Agrandir Bold" panose="00000800000000000000"/>
              <a:sym typeface="Agrandir Bold" panose="00000800000000000000"/>
            </a:endParaRPr>
          </a:p>
        </p:txBody>
      </p:sp>
      <p:sp>
        <p:nvSpPr>
          <p:cNvPr id="45" name="TextBox 45"/>
          <p:cNvSpPr txBox="1"/>
          <p:nvPr/>
        </p:nvSpPr>
        <p:spPr>
          <a:xfrm>
            <a:off x="422911" y="2305507"/>
            <a:ext cx="3551410" cy="1401668"/>
          </a:xfrm>
          <a:prstGeom prst="rect">
            <a:avLst/>
          </a:prstGeom>
          <a:ln w="19050" cmpd="sng">
            <a:solidFill>
              <a:srgbClr val="2E75B6"/>
            </a:solidFill>
            <a:prstDash val="dash"/>
          </a:ln>
        </p:spPr>
        <p:txBody>
          <a:bodyPr wrap="square" lIns="0" tIns="0" rIns="0" bIns="0" rtlCol="0" anchor="t">
            <a:noAutofit/>
          </a:bodyPr>
          <a:lstStyle/>
          <a:p>
            <a:pPr algn="just">
              <a:lnSpc>
                <a:spcPts val="2000"/>
              </a:lnSpc>
              <a:spcBef>
                <a:spcPct val="0"/>
              </a:spcBef>
            </a:pPr>
            <a:r>
              <a:rPr lang="zh-CN" altLang="en-US" sz="1333" b="1">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核心来源</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：对平台内达成的交易订单收取服务佣金。</a:t>
            </a:r>
            <a:endPar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endParaRPr>
          </a:p>
          <a:p>
            <a:pPr algn="just">
              <a:lnSpc>
                <a:spcPts val="2000"/>
              </a:lnSpc>
              <a:spcBef>
                <a:spcPct val="0"/>
              </a:spcBef>
            </a:pPr>
            <a:r>
              <a:rPr lang="zh-CN" altLang="en-US" sz="1333" b="1">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收费标准</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：单价超过</a:t>
            </a:r>
            <a:r>
              <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50</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元的订单，收取</a:t>
            </a:r>
            <a:r>
              <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5% </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交易佣金；毕业季</a:t>
            </a:r>
            <a:r>
              <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 “</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代卖服务</a:t>
            </a:r>
            <a:r>
              <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（如代理出售自行车、洗衣机等大件物品），收取</a:t>
            </a:r>
            <a:r>
              <a:rPr lang="en-US" altLang="zh-CN"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10% </a:t>
            </a:r>
            <a:r>
              <a:rPr lang="zh-CN" alt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rPr>
              <a:t>代卖抽成。</a:t>
            </a:r>
            <a:endParaRPr lang="en-US" sz="1333">
              <a:solidFill>
                <a:srgbClr val="374756"/>
              </a:solidFill>
              <a:latin typeface="黑体" panose="02010609060101010101" charset="-122"/>
              <a:ea typeface="黑体" panose="02010609060101010101" charset="-122"/>
              <a:cs typeface="黑体" panose="02010609060101010101" charset="-122"/>
              <a:sym typeface="思源黑体 2" panose="020B0500000000000000" charset="-122"/>
            </a:endParaRPr>
          </a:p>
        </p:txBody>
      </p:sp>
      <p:sp>
        <p:nvSpPr>
          <p:cNvPr id="46" name="TextBox 46"/>
          <p:cNvSpPr txBox="1"/>
          <p:nvPr/>
        </p:nvSpPr>
        <p:spPr>
          <a:xfrm>
            <a:off x="422908" y="4462437"/>
            <a:ext cx="3551311" cy="1901090"/>
          </a:xfrm>
          <a:prstGeom prst="rect">
            <a:avLst/>
          </a:prstGeom>
          <a:ln w="19050" cmpd="sng">
            <a:solidFill>
              <a:srgbClr val="2E75B6"/>
            </a:solidFill>
            <a:prstDash val="dash"/>
          </a:ln>
        </p:spPr>
        <p:txBody>
          <a:bodyPr wrap="square" lIns="0" tIns="0" rIns="0" bIns="0" rtlCol="0" anchor="t">
            <a:noAutofit/>
          </a:bodyPr>
          <a:lstStyle/>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衍生收入</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：向校内商户提供精准广告投放服务。</a:t>
            </a:r>
            <a:endPar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a:p>
            <a:pPr>
              <a:lnSpc>
                <a:spcPts val="2000"/>
              </a:lnSpc>
              <a:spcBef>
                <a:spcPct val="0"/>
              </a:spcBef>
            </a:pP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合作对象：校园内奶茶店、打印店、数码维修店等高频触达学生的商家。</a:t>
            </a:r>
          </a:p>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变现形式</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：在平台首页、商品详情页等位置设置</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banner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广告位，按展示次数或时长收费；结合促销活动推出</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定向推广（如商家优惠券、活动信息推送），收取营销服务费。</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51" name="圆角矩形 50"/>
          <p:cNvSpPr/>
          <p:nvPr userDrawn="1"/>
        </p:nvSpPr>
        <p:spPr>
          <a:xfrm>
            <a:off x="3090144" y="1882808"/>
            <a:ext cx="1162423" cy="359295"/>
          </a:xfrm>
          <a:prstGeom prst="roundRect">
            <a:avLst/>
          </a:prstGeom>
          <a:solidFill>
            <a:srgbClr val="E2E6ED">
              <a:alpha val="100000"/>
            </a:srgbClr>
          </a:solidFill>
          <a:ln w="25400" cap="flat" cmpd="sng" algn="ctr">
            <a:solidFill>
              <a:srgbClr val="AEB5C0">
                <a:alpha val="10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r>
              <a:rPr lang="zh-CN" altLang="en-US" sz="1200">
                <a:solidFill>
                  <a:srgbClr val="000000"/>
                </a:solidFill>
              </a:rPr>
              <a:t>交易佣金收入</a:t>
            </a:r>
          </a:p>
        </p:txBody>
      </p:sp>
      <p:sp>
        <p:nvSpPr>
          <p:cNvPr id="52" name="圆角矩形 51"/>
          <p:cNvSpPr/>
          <p:nvPr userDrawn="1"/>
        </p:nvSpPr>
        <p:spPr>
          <a:xfrm>
            <a:off x="1955588" y="4007499"/>
            <a:ext cx="1511150" cy="359295"/>
          </a:xfrm>
          <a:prstGeom prst="roundRect">
            <a:avLst/>
          </a:prstGeom>
          <a:solidFill>
            <a:srgbClr val="E2E6ED">
              <a:alpha val="100000"/>
            </a:srgbClr>
          </a:solidFill>
          <a:ln w="25400" cap="flat" cmpd="sng" algn="ctr">
            <a:solidFill>
              <a:srgbClr val="AEB5C0">
                <a:alpha val="10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r>
              <a:rPr lang="zh-CN" altLang="en-US" sz="1200">
                <a:solidFill>
                  <a:srgbClr val="000000"/>
                </a:solidFill>
              </a:rPr>
              <a:t>校内商家</a:t>
            </a:r>
            <a:r>
              <a:rPr lang="zh-CN" altLang="en-US" sz="1200">
                <a:solidFill>
                  <a:srgbClr val="000000"/>
                </a:solidFill>
                <a:cs typeface="Arial" panose="020B0604020202020204" pitchFamily="34" charset="0"/>
              </a:rPr>
              <a:t>广告收入</a:t>
            </a:r>
            <a:endParaRPr lang="zh-CN" altLang="en-US" sz="1200">
              <a:solidFill>
                <a:srgbClr val="000000"/>
              </a:solidFill>
            </a:endParaRPr>
          </a:p>
        </p:txBody>
      </p:sp>
      <p:sp>
        <p:nvSpPr>
          <p:cNvPr id="53" name="圆角矩形 52"/>
          <p:cNvSpPr/>
          <p:nvPr userDrawn="1"/>
        </p:nvSpPr>
        <p:spPr>
          <a:xfrm>
            <a:off x="7858790" y="1911957"/>
            <a:ext cx="1511150" cy="359295"/>
          </a:xfrm>
          <a:prstGeom prst="roundRect">
            <a:avLst/>
          </a:prstGeom>
          <a:solidFill>
            <a:srgbClr val="E2E6ED">
              <a:alpha val="100000"/>
            </a:srgbClr>
          </a:solidFill>
          <a:ln w="25400" cap="flat" cmpd="sng" algn="ctr">
            <a:solidFill>
              <a:srgbClr val="AEB5C0">
                <a:alpha val="10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r>
              <a:rPr lang="zh-CN" altLang="en-US" sz="1200">
                <a:solidFill>
                  <a:srgbClr val="000000"/>
                </a:solidFill>
              </a:rPr>
              <a:t>增值</a:t>
            </a:r>
            <a:r>
              <a:rPr lang="zh-CN" altLang="en-US" sz="1200">
                <a:solidFill>
                  <a:srgbClr val="000000"/>
                </a:solidFill>
                <a:cs typeface="Arial" panose="020B0604020202020204" pitchFamily="34" charset="0"/>
              </a:rPr>
              <a:t>服务收入</a:t>
            </a:r>
            <a:endParaRPr lang="zh-CN" altLang="en-US" sz="1200">
              <a:solidFill>
                <a:srgbClr val="000000"/>
              </a:solidFill>
            </a:endParaRPr>
          </a:p>
        </p:txBody>
      </p:sp>
      <p:sp>
        <p:nvSpPr>
          <p:cNvPr id="54" name="TextBox 46"/>
          <p:cNvSpPr txBox="1"/>
          <p:nvPr/>
        </p:nvSpPr>
        <p:spPr>
          <a:xfrm>
            <a:off x="7986480" y="4940826"/>
            <a:ext cx="3932055" cy="1585894"/>
          </a:xfrm>
          <a:prstGeom prst="rect">
            <a:avLst/>
          </a:prstGeom>
          <a:ln w="19050" cmpd="sng">
            <a:solidFill>
              <a:srgbClr val="2E75B6"/>
            </a:solidFill>
            <a:prstDash val="dash"/>
          </a:ln>
        </p:spPr>
        <p:txBody>
          <a:bodyPr wrap="square" lIns="0" tIns="0" rIns="0" bIns="0" rtlCol="0" anchor="t">
            <a:noAutofit/>
          </a:bodyPr>
          <a:lstStyle/>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毕业季专项服务</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：推出</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行李寄存</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物流打包</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增值服务，与快递公司分成利润；</a:t>
            </a:r>
          </a:p>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校园服务入口</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：集成校园卡充值、打印预约等功能，通过服务导流收取佣金；</a:t>
            </a:r>
          </a:p>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环保积分商业化</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：与校外环保企业合作，将用户积累的</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低碳积分</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兑换为品牌商品，从中抽取渠道分成。</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
        <p:nvSpPr>
          <p:cNvPr id="55" name="圆角矩形 54"/>
          <p:cNvSpPr/>
          <p:nvPr userDrawn="1"/>
        </p:nvSpPr>
        <p:spPr>
          <a:xfrm>
            <a:off x="8203537" y="4521931"/>
            <a:ext cx="1511150" cy="359295"/>
          </a:xfrm>
          <a:prstGeom prst="roundRect">
            <a:avLst/>
          </a:prstGeom>
          <a:solidFill>
            <a:srgbClr val="E2E6ED">
              <a:alpha val="100000"/>
            </a:srgbClr>
          </a:solidFill>
          <a:ln w="25400" cap="flat" cmpd="sng" algn="ctr">
            <a:solidFill>
              <a:srgbClr val="AEB5C0">
                <a:alpha val="10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r>
              <a:rPr lang="zh-CN" altLang="en-US" sz="1200">
                <a:solidFill>
                  <a:srgbClr val="000000"/>
                </a:solidFill>
              </a:rPr>
              <a:t>长期</a:t>
            </a:r>
            <a:r>
              <a:rPr lang="zh-CN" altLang="en-US" sz="1200">
                <a:solidFill>
                  <a:srgbClr val="000000"/>
                </a:solidFill>
                <a:cs typeface="Arial" panose="020B0604020202020204" pitchFamily="34" charset="0"/>
              </a:rPr>
              <a:t>盈利增长点</a:t>
            </a:r>
            <a:endParaRPr lang="zh-CN" altLang="en-US" sz="1200">
              <a:solidFill>
                <a:srgbClr val="000000"/>
              </a:solidFill>
            </a:endParaRPr>
          </a:p>
        </p:txBody>
      </p:sp>
      <p:sp>
        <p:nvSpPr>
          <p:cNvPr id="56" name="TextBox 46"/>
          <p:cNvSpPr txBox="1"/>
          <p:nvPr/>
        </p:nvSpPr>
        <p:spPr>
          <a:xfrm>
            <a:off x="8288200" y="2390189"/>
            <a:ext cx="3630297" cy="1871216"/>
          </a:xfrm>
          <a:prstGeom prst="rect">
            <a:avLst/>
          </a:prstGeom>
          <a:ln w="19050" cmpd="sng">
            <a:solidFill>
              <a:srgbClr val="2E75B6"/>
            </a:solidFill>
            <a:prstDash val="dash"/>
          </a:ln>
        </p:spPr>
        <p:txBody>
          <a:bodyPr wrap="square" lIns="0" tIns="0" rIns="0" bIns="0" rtlCol="0" anchor="t">
            <a:noAutofit/>
          </a:bodyPr>
          <a:lstStyle/>
          <a:p>
            <a:pPr>
              <a:lnSpc>
                <a:spcPts val="2000"/>
              </a:lnSpc>
              <a:spcBef>
                <a:spcPct val="0"/>
              </a:spcBef>
            </a:pPr>
            <a:r>
              <a:rPr lang="en-US" altLang="zh-CN"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VIP </a:t>
            </a: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推广服务</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：为卖家提供</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商品优先展示</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权益，按周期（如周</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月）收取费用，适用于急需变现的闲置物品（如毕业季大件商品）。</a:t>
            </a:r>
          </a:p>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品牌合作服务</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：与校外品牌联合推出</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 “</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校园专属活动</a:t>
            </a:r>
            <a:r>
              <a:rPr lang="en-US" altLang="zh-CN"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，收取活动策划与流量曝光费用。</a:t>
            </a:r>
          </a:p>
          <a:p>
            <a:pPr>
              <a:lnSpc>
                <a:spcPts val="2000"/>
              </a:lnSpc>
              <a:spcBef>
                <a:spcPct val="0"/>
              </a:spcBef>
            </a:pPr>
            <a:r>
              <a:rPr lang="zh-CN" altLang="en-US" sz="1333" b="1">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数据服务</a:t>
            </a:r>
            <a:r>
              <a:rPr lang="zh-CN" alt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rPr>
              <a:t>：向校内商家开放匿名交易数据分析报告，收取数据咨询费</a:t>
            </a:r>
            <a:endParaRPr lang="en-US" sz="1333">
              <a:solidFill>
                <a:srgbClr val="374756"/>
              </a:solidFill>
              <a:latin typeface="思源黑体 2" panose="020B0500000000000000" charset="-122"/>
              <a:ea typeface="思源黑体 2" panose="020B0500000000000000" charset="-122"/>
              <a:cs typeface="思源黑体 2" panose="020B0500000000000000" charset="-122"/>
              <a:sym typeface="思源黑体 2" panose="020B0500000000000000"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4663623" cy="1950566"/>
            <a:chOff x="0" y="0"/>
            <a:chExt cx="1842419" cy="770594"/>
          </a:xfrm>
        </p:grpSpPr>
        <p:sp>
          <p:nvSpPr>
            <p:cNvPr id="3" name="Freeform 3"/>
            <p:cNvSpPr/>
            <p:nvPr/>
          </p:nvSpPr>
          <p:spPr>
            <a:xfrm>
              <a:off x="0" y="0"/>
              <a:ext cx="1842419" cy="770594"/>
            </a:xfrm>
            <a:custGeom>
              <a:avLst/>
              <a:gdLst/>
              <a:ahLst/>
              <a:cxnLst/>
              <a:rect l="l" t="t" r="r" b="b"/>
              <a:pathLst>
                <a:path w="1842419" h="770594">
                  <a:moveTo>
                    <a:pt x="0" y="0"/>
                  </a:moveTo>
                  <a:lnTo>
                    <a:pt x="1842419" y="0"/>
                  </a:lnTo>
                  <a:lnTo>
                    <a:pt x="1842419" y="770594"/>
                  </a:lnTo>
                  <a:lnTo>
                    <a:pt x="0" y="770594"/>
                  </a:lnTo>
                  <a:close/>
                </a:path>
              </a:pathLst>
            </a:custGeom>
            <a:solidFill>
              <a:srgbClr val="839BB2"/>
            </a:solidFill>
          </p:spPr>
        </p:sp>
        <p:sp>
          <p:nvSpPr>
            <p:cNvPr id="4" name="TextBox 4"/>
            <p:cNvSpPr txBox="1"/>
            <p:nvPr/>
          </p:nvSpPr>
          <p:spPr>
            <a:xfrm>
              <a:off x="0" y="-38100"/>
              <a:ext cx="1842419" cy="808694"/>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800383" y="746483"/>
            <a:ext cx="10591235" cy="5365035"/>
            <a:chOff x="0" y="0"/>
            <a:chExt cx="4184191" cy="2119520"/>
          </a:xfrm>
        </p:grpSpPr>
        <p:sp>
          <p:nvSpPr>
            <p:cNvPr id="6" name="Freeform 6"/>
            <p:cNvSpPr/>
            <p:nvPr/>
          </p:nvSpPr>
          <p:spPr>
            <a:xfrm>
              <a:off x="0" y="0"/>
              <a:ext cx="4184192" cy="2119520"/>
            </a:xfrm>
            <a:custGeom>
              <a:avLst/>
              <a:gdLst/>
              <a:ahLst/>
              <a:cxnLst/>
              <a:rect l="l" t="t" r="r" b="b"/>
              <a:pathLst>
                <a:path w="4184192" h="2119520">
                  <a:moveTo>
                    <a:pt x="0" y="0"/>
                  </a:moveTo>
                  <a:lnTo>
                    <a:pt x="4184192" y="0"/>
                  </a:lnTo>
                  <a:lnTo>
                    <a:pt x="4184192" y="2119520"/>
                  </a:lnTo>
                  <a:lnTo>
                    <a:pt x="0" y="2119520"/>
                  </a:lnTo>
                  <a:close/>
                </a:path>
              </a:pathLst>
            </a:custGeom>
            <a:solidFill>
              <a:srgbClr val="E6E6E6"/>
            </a:solidFill>
          </p:spPr>
        </p:sp>
        <p:sp>
          <p:nvSpPr>
            <p:cNvPr id="7" name="TextBox 7"/>
            <p:cNvSpPr txBox="1"/>
            <p:nvPr/>
          </p:nvSpPr>
          <p:spPr>
            <a:xfrm>
              <a:off x="0" y="-38100"/>
              <a:ext cx="4184191" cy="215762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4311436" y="2201253"/>
            <a:ext cx="7880565" cy="4656747"/>
            <a:chOff x="0" y="0"/>
            <a:chExt cx="3113310" cy="1839702"/>
          </a:xfrm>
        </p:grpSpPr>
        <p:sp>
          <p:nvSpPr>
            <p:cNvPr id="9" name="Freeform 9"/>
            <p:cNvSpPr/>
            <p:nvPr/>
          </p:nvSpPr>
          <p:spPr>
            <a:xfrm>
              <a:off x="0" y="0"/>
              <a:ext cx="3113310" cy="1839702"/>
            </a:xfrm>
            <a:custGeom>
              <a:avLst/>
              <a:gdLst/>
              <a:ahLst/>
              <a:cxnLst/>
              <a:rect l="l" t="t" r="r" b="b"/>
              <a:pathLst>
                <a:path w="3113310" h="1839702">
                  <a:moveTo>
                    <a:pt x="0" y="0"/>
                  </a:moveTo>
                  <a:lnTo>
                    <a:pt x="3113310" y="0"/>
                  </a:lnTo>
                  <a:lnTo>
                    <a:pt x="3113310" y="1839702"/>
                  </a:lnTo>
                  <a:lnTo>
                    <a:pt x="0" y="1839702"/>
                  </a:lnTo>
                  <a:close/>
                </a:path>
              </a:pathLst>
            </a:custGeom>
            <a:solidFill>
              <a:srgbClr val="839BB2"/>
            </a:solidFill>
          </p:spPr>
        </p:sp>
        <p:sp>
          <p:nvSpPr>
            <p:cNvPr id="10" name="TextBox 10"/>
            <p:cNvSpPr txBox="1"/>
            <p:nvPr/>
          </p:nvSpPr>
          <p:spPr>
            <a:xfrm>
              <a:off x="0" y="-38100"/>
              <a:ext cx="3113310" cy="1877802"/>
            </a:xfrm>
            <a:prstGeom prst="rect">
              <a:avLst/>
            </a:prstGeom>
          </p:spPr>
          <p:txBody>
            <a:bodyPr lIns="33867" tIns="33867" rIns="33867" bIns="33867" rtlCol="0" anchor="ctr"/>
            <a:lstStyle/>
            <a:p>
              <a:pPr algn="ctr">
                <a:lnSpc>
                  <a:spcPts val="1773"/>
                </a:lnSpc>
                <a:spcBef>
                  <a:spcPct val="0"/>
                </a:spcBef>
              </a:pPr>
              <a:endParaRPr sz="1200"/>
            </a:p>
          </p:txBody>
        </p:sp>
      </p:grpSp>
      <p:sp>
        <p:nvSpPr>
          <p:cNvPr id="11" name="TextBox 11"/>
          <p:cNvSpPr txBox="1"/>
          <p:nvPr/>
        </p:nvSpPr>
        <p:spPr>
          <a:xfrm>
            <a:off x="5122913" y="3217323"/>
            <a:ext cx="6038183" cy="898708"/>
          </a:xfrm>
          <a:prstGeom prst="rect">
            <a:avLst/>
          </a:prstGeom>
        </p:spPr>
        <p:txBody>
          <a:bodyPr lIns="0" tIns="0" rIns="0" bIns="0" rtlCol="0" anchor="t">
            <a:spAutoFit/>
          </a:bodyPr>
          <a:lstStyle/>
          <a:p>
            <a:pPr>
              <a:lnSpc>
                <a:spcPts val="7924"/>
              </a:lnSpc>
              <a:spcBef>
                <a:spcPct val="0"/>
              </a:spcBef>
            </a:pPr>
            <a:r>
              <a:rPr lang="en-US" sz="6400" b="1">
                <a:solidFill>
                  <a:srgbClr val="FFFFFF"/>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商业模式画布</a:t>
            </a:r>
            <a:endParaRPr lang="en-US" sz="6400" b="1">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endParaRPr>
          </a:p>
        </p:txBody>
      </p:sp>
      <p:sp>
        <p:nvSpPr>
          <p:cNvPr id="13" name="TextBox 13"/>
          <p:cNvSpPr txBox="1"/>
          <p:nvPr/>
        </p:nvSpPr>
        <p:spPr>
          <a:xfrm>
            <a:off x="1732437" y="2690274"/>
            <a:ext cx="2578999" cy="2070182"/>
          </a:xfrm>
          <a:prstGeom prst="rect">
            <a:avLst/>
          </a:prstGeom>
        </p:spPr>
        <p:txBody>
          <a:bodyPr lIns="0" tIns="0" rIns="0" bIns="0" rtlCol="0" anchor="t">
            <a:spAutoFit/>
          </a:bodyPr>
          <a:lstStyle/>
          <a:p>
            <a:pPr>
              <a:lnSpc>
                <a:spcPts val="17198"/>
              </a:lnSpc>
              <a:spcBef>
                <a:spcPct val="0"/>
              </a:spcBef>
            </a:pPr>
            <a:r>
              <a:rPr lang="en-US" sz="12284" b="1" spc="-749">
                <a:solidFill>
                  <a:srgbClr val="374756"/>
                </a:solidFill>
                <a:latin typeface="Agrandir Bold" panose="00000800000000000000"/>
                <a:ea typeface="Agrandir Bold" panose="00000800000000000000"/>
                <a:cs typeface="Agrandir Bold" panose="00000800000000000000"/>
                <a:sym typeface="Agrandir Bold" panose="00000800000000000000"/>
              </a:rPr>
              <a:t>03</a:t>
            </a:r>
          </a:p>
        </p:txBody>
      </p:sp>
      <p:sp>
        <p:nvSpPr>
          <p:cNvPr id="14" name="TextBox 14"/>
          <p:cNvSpPr txBox="1"/>
          <p:nvPr/>
        </p:nvSpPr>
        <p:spPr>
          <a:xfrm>
            <a:off x="1732437" y="1332133"/>
            <a:ext cx="6665579" cy="1228221"/>
          </a:xfrm>
          <a:prstGeom prst="rect">
            <a:avLst/>
          </a:prstGeom>
        </p:spPr>
        <p:txBody>
          <a:bodyPr lIns="0" tIns="0" rIns="0" bIns="0" rtlCol="0" anchor="t">
            <a:spAutoFit/>
          </a:bodyPr>
          <a:lstStyle/>
          <a:p>
            <a:pPr>
              <a:lnSpc>
                <a:spcPts val="10221"/>
              </a:lnSpc>
              <a:spcBef>
                <a:spcPct val="0"/>
              </a:spcBef>
            </a:pPr>
            <a:r>
              <a:rPr lang="en-US" sz="7300">
                <a:solidFill>
                  <a:srgbClr val="374756"/>
                </a:solidFill>
                <a:latin typeface="Agrandir" panose="00000500000000000000"/>
                <a:ea typeface="Agrandir" panose="00000500000000000000"/>
                <a:cs typeface="Agrandir" panose="00000500000000000000"/>
                <a:sym typeface="Agrandir" panose="00000500000000000000"/>
              </a:rPr>
              <a:t>PART THREE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3061381" cy="1383495"/>
            <a:chOff x="0" y="0"/>
            <a:chExt cx="1209434" cy="546566"/>
          </a:xfrm>
        </p:grpSpPr>
        <p:sp>
          <p:nvSpPr>
            <p:cNvPr id="3" name="Freeform 3"/>
            <p:cNvSpPr/>
            <p:nvPr/>
          </p:nvSpPr>
          <p:spPr>
            <a:xfrm>
              <a:off x="0" y="0"/>
              <a:ext cx="1209434" cy="546566"/>
            </a:xfrm>
            <a:custGeom>
              <a:avLst/>
              <a:gdLst/>
              <a:ahLst/>
              <a:cxnLst/>
              <a:rect l="l" t="t" r="r" b="b"/>
              <a:pathLst>
                <a:path w="1209434" h="546566">
                  <a:moveTo>
                    <a:pt x="0" y="0"/>
                  </a:moveTo>
                  <a:lnTo>
                    <a:pt x="1209434" y="0"/>
                  </a:lnTo>
                  <a:lnTo>
                    <a:pt x="1209434" y="546566"/>
                  </a:lnTo>
                  <a:lnTo>
                    <a:pt x="0" y="546566"/>
                  </a:lnTo>
                  <a:close/>
                </a:path>
              </a:pathLst>
            </a:custGeom>
            <a:solidFill>
              <a:srgbClr val="839BB2"/>
            </a:solidFill>
          </p:spPr>
        </p:sp>
        <p:sp>
          <p:nvSpPr>
            <p:cNvPr id="4" name="TextBox 4"/>
            <p:cNvSpPr txBox="1"/>
            <p:nvPr/>
          </p:nvSpPr>
          <p:spPr>
            <a:xfrm>
              <a:off x="0" y="-38100"/>
              <a:ext cx="1209434" cy="58466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9873290" y="5908585"/>
            <a:ext cx="2318710" cy="949415"/>
            <a:chOff x="0" y="0"/>
            <a:chExt cx="916034" cy="375077"/>
          </a:xfrm>
        </p:grpSpPr>
        <p:sp>
          <p:nvSpPr>
            <p:cNvPr id="6" name="Freeform 6"/>
            <p:cNvSpPr/>
            <p:nvPr/>
          </p:nvSpPr>
          <p:spPr>
            <a:xfrm>
              <a:off x="0" y="0"/>
              <a:ext cx="916034" cy="375077"/>
            </a:xfrm>
            <a:custGeom>
              <a:avLst/>
              <a:gdLst/>
              <a:ahLst/>
              <a:cxnLst/>
              <a:rect l="l" t="t" r="r" b="b"/>
              <a:pathLst>
                <a:path w="916034" h="375077">
                  <a:moveTo>
                    <a:pt x="0" y="0"/>
                  </a:moveTo>
                  <a:lnTo>
                    <a:pt x="916034" y="0"/>
                  </a:lnTo>
                  <a:lnTo>
                    <a:pt x="916034" y="375077"/>
                  </a:lnTo>
                  <a:lnTo>
                    <a:pt x="0" y="375077"/>
                  </a:lnTo>
                  <a:close/>
                </a:path>
              </a:pathLst>
            </a:custGeom>
            <a:solidFill>
              <a:srgbClr val="839BB2"/>
            </a:solidFill>
          </p:spPr>
        </p:sp>
        <p:sp>
          <p:nvSpPr>
            <p:cNvPr id="7" name="TextBox 7"/>
            <p:cNvSpPr txBox="1"/>
            <p:nvPr/>
          </p:nvSpPr>
          <p:spPr>
            <a:xfrm>
              <a:off x="0" y="-38100"/>
              <a:ext cx="916034" cy="413177"/>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p:nvPr/>
        </p:nvGrpSpPr>
        <p:grpSpPr>
          <a:xfrm>
            <a:off x="87478" y="87700"/>
            <a:ext cx="11873283" cy="6668225"/>
            <a:chOff x="0" y="0"/>
            <a:chExt cx="4349908" cy="2310628"/>
          </a:xfrm>
        </p:grpSpPr>
        <p:sp>
          <p:nvSpPr>
            <p:cNvPr id="9" name="Freeform 9"/>
            <p:cNvSpPr/>
            <p:nvPr/>
          </p:nvSpPr>
          <p:spPr>
            <a:xfrm>
              <a:off x="0" y="0"/>
              <a:ext cx="4349909" cy="2310628"/>
            </a:xfrm>
            <a:custGeom>
              <a:avLst/>
              <a:gdLst/>
              <a:ahLst/>
              <a:cxnLst/>
              <a:rect l="l" t="t" r="r" b="b"/>
              <a:pathLst>
                <a:path w="4349909" h="2310628">
                  <a:moveTo>
                    <a:pt x="0" y="0"/>
                  </a:moveTo>
                  <a:lnTo>
                    <a:pt x="4349909" y="0"/>
                  </a:lnTo>
                  <a:lnTo>
                    <a:pt x="4349909" y="2310628"/>
                  </a:lnTo>
                  <a:lnTo>
                    <a:pt x="0" y="2310628"/>
                  </a:lnTo>
                  <a:close/>
                </a:path>
              </a:pathLst>
            </a:custGeom>
            <a:solidFill>
              <a:srgbClr val="E6E6E6"/>
            </a:solidFill>
          </p:spPr>
        </p:sp>
        <p:sp>
          <p:nvSpPr>
            <p:cNvPr id="10" name="TextBox 10"/>
            <p:cNvSpPr txBox="1"/>
            <p:nvPr/>
          </p:nvSpPr>
          <p:spPr>
            <a:xfrm>
              <a:off x="0" y="-38100"/>
              <a:ext cx="4349908" cy="2348728"/>
            </a:xfrm>
            <a:prstGeom prst="rect">
              <a:avLst/>
            </a:prstGeom>
            <a:solidFill>
              <a:srgbClr val="DEEBF7">
                <a:alpha val="100000"/>
              </a:srgbClr>
            </a:solidFill>
          </p:spPr>
          <p:txBody>
            <a:bodyPr lIns="33867" tIns="33867" rIns="33867" bIns="33867" rtlCol="0" anchor="ctr"/>
            <a:lstStyle/>
            <a:p>
              <a:pPr algn="ctr">
                <a:lnSpc>
                  <a:spcPts val="1773"/>
                </a:lnSpc>
                <a:spcBef>
                  <a:spcPct val="0"/>
                </a:spcBef>
              </a:pPr>
              <a:endParaRPr sz="1200"/>
            </a:p>
          </p:txBody>
        </p:sp>
      </p:grpSp>
      <p:pic>
        <p:nvPicPr>
          <p:cNvPr id="59" name="图片 58" descr="upload_post_object_v2_1205244927"/>
          <p:cNvPicPr>
            <a:picLocks noChangeAspect="1"/>
          </p:cNvPicPr>
          <p:nvPr/>
        </p:nvPicPr>
        <p:blipFill>
          <a:blip r:embed="rId2"/>
          <a:stretch>
            <a:fillRect/>
          </a:stretch>
        </p:blipFill>
        <p:spPr>
          <a:xfrm>
            <a:off x="1296357" y="0"/>
            <a:ext cx="10142915" cy="6755986"/>
          </a:xfrm>
          <a:prstGeom prst="rect">
            <a:avLst/>
          </a:prstGeom>
        </p:spPr>
      </p:pic>
      <p:sp>
        <p:nvSpPr>
          <p:cNvPr id="60" name="文本框 59"/>
          <p:cNvSpPr txBox="1"/>
          <p:nvPr userDrawn="1"/>
        </p:nvSpPr>
        <p:spPr>
          <a:xfrm>
            <a:off x="5390240" y="855763"/>
            <a:ext cx="1955173" cy="3432536"/>
          </a:xfrm>
          <a:prstGeom prst="rect">
            <a:avLst/>
          </a:prstGeom>
        </p:spPr>
        <p:txBody>
          <a:bodyPr wrap="square" rtlCol="0">
            <a:noAutofit/>
          </a:bodyPr>
          <a:lstStyle/>
          <a:p>
            <a:r>
              <a:rPr lang="zh-CN" altLang="en-US" sz="1200">
                <a:highlight>
                  <a:srgbClr val="FFFF00"/>
                </a:highlight>
              </a:rPr>
              <a:t>核心功能</a:t>
            </a:r>
            <a:r>
              <a:rPr lang="zh-CN" altLang="en-US" sz="1200"/>
              <a:t>：为高校学生提供</a:t>
            </a:r>
            <a:r>
              <a:rPr lang="en-US" altLang="zh-CN" sz="1200"/>
              <a:t> “</a:t>
            </a:r>
            <a:r>
              <a:rPr lang="zh-CN" altLang="en-US" sz="1200"/>
              <a:t>线上交易</a:t>
            </a:r>
            <a:r>
              <a:rPr lang="en-US" altLang="zh-CN" sz="1200"/>
              <a:t> + </a:t>
            </a:r>
            <a:r>
              <a:rPr lang="zh-CN" altLang="en-US" sz="1200"/>
              <a:t>线下验货</a:t>
            </a:r>
            <a:r>
              <a:rPr lang="en-US" altLang="zh-CN" sz="1200"/>
              <a:t>” </a:t>
            </a:r>
            <a:r>
              <a:rPr lang="zh-CN" altLang="en-US" sz="1200"/>
              <a:t>的</a:t>
            </a:r>
            <a:r>
              <a:rPr lang="en-US" altLang="zh-CN" sz="1200"/>
              <a:t> C2C </a:t>
            </a:r>
            <a:r>
              <a:rPr lang="zh-CN" altLang="en-US" sz="1200"/>
              <a:t>闲置交易平台，涵盖教材、数码、服饰等品类，支持一键转卖、智能匹配、信用评分及毕业季代卖服务。</a:t>
            </a:r>
          </a:p>
          <a:p>
            <a:r>
              <a:rPr lang="zh-CN" altLang="en-US" sz="1200">
                <a:highlight>
                  <a:srgbClr val="FFFF00"/>
                </a:highlight>
              </a:rPr>
              <a:t>校园垂直服务</a:t>
            </a:r>
            <a:r>
              <a:rPr lang="zh-CN" altLang="en-US" sz="1200"/>
              <a:t>：学号绑定</a:t>
            </a:r>
            <a:r>
              <a:rPr lang="en-US" altLang="zh-CN" sz="1200"/>
              <a:t> + </a:t>
            </a:r>
            <a:r>
              <a:rPr lang="zh-CN" altLang="en-US" sz="1200"/>
              <a:t>实名认证，线下验货点与校内物流协同，优先推荐同校用户，实现</a:t>
            </a:r>
            <a:r>
              <a:rPr lang="en-US" altLang="zh-CN" sz="1200"/>
              <a:t> “</a:t>
            </a:r>
            <a:r>
              <a:rPr lang="zh-CN" altLang="en-US" sz="1200"/>
              <a:t>近场交易</a:t>
            </a:r>
            <a:r>
              <a:rPr lang="en-US" altLang="zh-CN" sz="1200"/>
              <a:t>”</a:t>
            </a:r>
            <a:r>
              <a:rPr lang="zh-CN" altLang="en-US" sz="1200"/>
              <a:t>。</a:t>
            </a:r>
          </a:p>
          <a:p>
            <a:r>
              <a:rPr lang="zh-CN" altLang="en-US" sz="1200">
                <a:highlight>
                  <a:srgbClr val="FFFF00"/>
                </a:highlight>
              </a:rPr>
              <a:t>信任机制</a:t>
            </a:r>
            <a:r>
              <a:rPr lang="zh-CN" altLang="en-US" sz="1200"/>
              <a:t>：基于真实身份的信用积分与互评体系，投诉功能规避不良交易。</a:t>
            </a:r>
          </a:p>
          <a:p>
            <a:r>
              <a:rPr lang="zh-CN" altLang="en-US" sz="1200">
                <a:highlight>
                  <a:srgbClr val="FFFF00"/>
                </a:highlight>
              </a:rPr>
              <a:t>环保激励</a:t>
            </a:r>
            <a:r>
              <a:rPr lang="zh-CN" altLang="en-US" sz="1200"/>
              <a:t>：低碳积分兑换校园福利，推动闲置循环与绿色校园建设。</a:t>
            </a:r>
          </a:p>
          <a:p>
            <a:r>
              <a:rPr lang="zh-CN" altLang="en-US" sz="1200">
                <a:highlight>
                  <a:srgbClr val="FFFF00"/>
                </a:highlight>
              </a:rPr>
              <a:t>用户价值</a:t>
            </a:r>
            <a:r>
              <a:rPr lang="zh-CN" altLang="en-US" sz="1200"/>
              <a:t>：提升交易效率、增强安全信任、降低物流成本、促进资源环保。</a:t>
            </a:r>
          </a:p>
        </p:txBody>
      </p:sp>
      <p:sp>
        <p:nvSpPr>
          <p:cNvPr id="61" name="文本框 60"/>
          <p:cNvSpPr txBox="1"/>
          <p:nvPr userDrawn="1"/>
        </p:nvSpPr>
        <p:spPr>
          <a:xfrm>
            <a:off x="9560671" y="855819"/>
            <a:ext cx="1682024" cy="2706080"/>
          </a:xfrm>
          <a:prstGeom prst="rect">
            <a:avLst/>
          </a:prstGeom>
        </p:spPr>
        <p:txBody>
          <a:bodyPr wrap="square" rtlCol="0">
            <a:noAutofit/>
          </a:bodyPr>
          <a:lstStyle/>
          <a:p>
            <a:r>
              <a:rPr lang="zh-CN" altLang="en-US" sz="1600">
                <a:highlight>
                  <a:srgbClr val="FFFF00"/>
                </a:highlight>
              </a:rPr>
              <a:t>核心用户</a:t>
            </a:r>
          </a:p>
          <a:p>
            <a:r>
              <a:rPr lang="zh-CN" altLang="en-US" sz="1333"/>
              <a:t>高校在校生（本专科生、研究生），覆盖新生（采购刚需）、毕业生（处理闲置）及高频交易用户（如数码爱好者、社团组织者）。</a:t>
            </a:r>
          </a:p>
          <a:p>
            <a:endParaRPr lang="zh-CN" altLang="en-US" sz="1333"/>
          </a:p>
          <a:p>
            <a:r>
              <a:rPr lang="zh-CN" altLang="en-US" sz="1600">
                <a:highlight>
                  <a:srgbClr val="FFFF00"/>
                </a:highlight>
              </a:rPr>
              <a:t>次级用户</a:t>
            </a:r>
          </a:p>
          <a:p>
            <a:r>
              <a:rPr lang="zh-CN" altLang="en-US" sz="1333"/>
              <a:t>校内商户（如打印店、奶茶店，通过平台推广）、学生社团（转让活动物资）。</a:t>
            </a:r>
          </a:p>
        </p:txBody>
      </p:sp>
      <p:sp>
        <p:nvSpPr>
          <p:cNvPr id="62" name="文本框 61"/>
          <p:cNvSpPr txBox="1"/>
          <p:nvPr userDrawn="1"/>
        </p:nvSpPr>
        <p:spPr>
          <a:xfrm>
            <a:off x="7446048" y="630460"/>
            <a:ext cx="1998302" cy="1754326"/>
          </a:xfrm>
          <a:prstGeom prst="rect">
            <a:avLst/>
          </a:prstGeom>
        </p:spPr>
        <p:txBody>
          <a:bodyPr wrap="square" rtlCol="0">
            <a:spAutoFit/>
          </a:bodyPr>
          <a:lstStyle/>
          <a:p>
            <a:r>
              <a:rPr lang="zh-CN" altLang="en-US" sz="1200">
                <a:highlight>
                  <a:srgbClr val="FFFF00"/>
                </a:highlight>
              </a:rPr>
              <a:t>信任维护</a:t>
            </a:r>
            <a:r>
              <a:rPr lang="zh-CN" altLang="en-US" sz="1200"/>
              <a:t>：通过学号认证、信用评分、投诉处理机制建立长期可信关系。</a:t>
            </a:r>
          </a:p>
          <a:p>
            <a:r>
              <a:rPr lang="zh-CN" altLang="en-US" sz="1200">
                <a:highlight>
                  <a:srgbClr val="FFFF00"/>
                </a:highlight>
              </a:rPr>
              <a:t>社区运营</a:t>
            </a:r>
            <a:r>
              <a:rPr lang="zh-CN" altLang="en-US" sz="1200"/>
              <a:t>：推出</a:t>
            </a:r>
            <a:r>
              <a:rPr lang="en-US" altLang="zh-CN" sz="1200"/>
              <a:t> “</a:t>
            </a:r>
            <a:r>
              <a:rPr lang="zh-CN" altLang="en-US" sz="1200"/>
              <a:t>环保贡献榜</a:t>
            </a:r>
            <a:r>
              <a:rPr lang="en-US" altLang="zh-CN" sz="1200"/>
              <a:t>”</a:t>
            </a:r>
            <a:r>
              <a:rPr lang="zh-CN" altLang="en-US" sz="1200"/>
              <a:t>、用户互动活动，增强用户粘性与归属感。</a:t>
            </a:r>
          </a:p>
          <a:p>
            <a:r>
              <a:rPr lang="zh-CN" altLang="en-US" sz="1200">
                <a:highlight>
                  <a:srgbClr val="FFFF00"/>
                </a:highlight>
              </a:rPr>
              <a:t>服务响应</a:t>
            </a:r>
            <a:r>
              <a:rPr lang="zh-CN" altLang="en-US" sz="1200"/>
              <a:t>：客服团队及时处理交易纠纷，仲裁机制快速解决争议订单。</a:t>
            </a:r>
          </a:p>
        </p:txBody>
      </p:sp>
      <p:sp>
        <p:nvSpPr>
          <p:cNvPr id="63" name="文本框 62"/>
          <p:cNvSpPr txBox="1"/>
          <p:nvPr userDrawn="1"/>
        </p:nvSpPr>
        <p:spPr>
          <a:xfrm>
            <a:off x="7345457" y="2879432"/>
            <a:ext cx="2027055" cy="2227085"/>
          </a:xfrm>
          <a:prstGeom prst="rect">
            <a:avLst/>
          </a:prstGeom>
        </p:spPr>
        <p:txBody>
          <a:bodyPr wrap="square" rtlCol="0">
            <a:spAutoFit/>
          </a:bodyPr>
          <a:lstStyle/>
          <a:p>
            <a:r>
              <a:rPr lang="zh-CN" altLang="en-US" sz="1067">
                <a:highlight>
                  <a:srgbClr val="FFFF00"/>
                </a:highlight>
              </a:rPr>
              <a:t>线上渠道</a:t>
            </a:r>
            <a:r>
              <a:rPr lang="zh-CN" altLang="en-US" sz="1067"/>
              <a:t>：</a:t>
            </a:r>
          </a:p>
          <a:p>
            <a:r>
              <a:rPr lang="zh-CN" altLang="en-US" sz="1067"/>
              <a:t>利用微信小程序等应用，提供商品发布、交易管理、智能推荐等功能；在</a:t>
            </a:r>
            <a:r>
              <a:rPr lang="en-US" altLang="zh-CN" sz="1067"/>
              <a:t>B </a:t>
            </a:r>
            <a:r>
              <a:rPr lang="zh-CN" altLang="en-US" sz="1067"/>
              <a:t>站、抖音、小红书等大学生聚集平台发布宣传内容。</a:t>
            </a:r>
          </a:p>
          <a:p>
            <a:r>
              <a:rPr lang="zh-CN" altLang="en-US" sz="1067">
                <a:highlight>
                  <a:srgbClr val="FFFF00"/>
                </a:highlight>
              </a:rPr>
              <a:t>线下渠道</a:t>
            </a:r>
            <a:r>
              <a:rPr lang="zh-CN" altLang="en-US" sz="1067"/>
              <a:t>：</a:t>
            </a:r>
          </a:p>
          <a:p>
            <a:r>
              <a:rPr lang="zh-CN" altLang="en-US" sz="1067"/>
              <a:t>新生入学季、毕业季在宿舍楼、食堂设展位，通过扫码注册送礼包、免费代卖抽奖等活动吸引用户；与学校后勤、社团联动，接入校园公告栏、新生手册等资源。</a:t>
            </a:r>
          </a:p>
        </p:txBody>
      </p:sp>
      <p:sp>
        <p:nvSpPr>
          <p:cNvPr id="64" name="文本框 63"/>
          <p:cNvSpPr txBox="1"/>
          <p:nvPr userDrawn="1"/>
        </p:nvSpPr>
        <p:spPr>
          <a:xfrm>
            <a:off x="3390731" y="716717"/>
            <a:ext cx="1830429" cy="1907540"/>
          </a:xfrm>
          <a:prstGeom prst="rect">
            <a:avLst/>
          </a:prstGeom>
        </p:spPr>
        <p:txBody>
          <a:bodyPr wrap="square" rtlCol="0">
            <a:noAutofit/>
          </a:bodyPr>
          <a:lstStyle/>
          <a:p>
            <a:r>
              <a:rPr lang="zh-CN" altLang="en-US" sz="1200">
                <a:highlight>
                  <a:srgbClr val="FFFF00"/>
                </a:highlight>
              </a:rPr>
              <a:t>平台开发与维护</a:t>
            </a:r>
            <a:r>
              <a:rPr lang="zh-CN" altLang="en-US" sz="1200"/>
              <a:t>：持续迭代功能，保障系统稳定性与用户体验。</a:t>
            </a:r>
          </a:p>
          <a:p>
            <a:r>
              <a:rPr lang="zh-CN" altLang="en-US" sz="1200">
                <a:highlight>
                  <a:srgbClr val="FFFF00"/>
                </a:highlight>
              </a:rPr>
              <a:t>用户增长运营</a:t>
            </a:r>
            <a:r>
              <a:rPr lang="zh-CN" altLang="en-US" sz="1200"/>
              <a:t>：线上线下结合的拉新活动、用户留存策略。</a:t>
            </a:r>
          </a:p>
          <a:p>
            <a:r>
              <a:rPr lang="zh-CN" altLang="en-US" sz="1200">
                <a:highlight>
                  <a:srgbClr val="FFFF00"/>
                </a:highlight>
              </a:rPr>
              <a:t>校园生态合作</a:t>
            </a:r>
            <a:r>
              <a:rPr lang="zh-CN" altLang="en-US" sz="1200"/>
              <a:t>：与校内商家、社团、后勤部门建立合作，拓展服务场景。</a:t>
            </a:r>
          </a:p>
        </p:txBody>
      </p:sp>
      <p:sp>
        <p:nvSpPr>
          <p:cNvPr id="66" name="文本框 65"/>
          <p:cNvSpPr txBox="1"/>
          <p:nvPr userDrawn="1"/>
        </p:nvSpPr>
        <p:spPr>
          <a:xfrm>
            <a:off x="1435747" y="885797"/>
            <a:ext cx="1849309" cy="2676079"/>
          </a:xfrm>
          <a:prstGeom prst="rect">
            <a:avLst/>
          </a:prstGeom>
        </p:spPr>
        <p:txBody>
          <a:bodyPr wrap="square" rtlCol="0">
            <a:noAutofit/>
          </a:bodyPr>
          <a:lstStyle/>
          <a:p>
            <a:r>
              <a:rPr lang="zh-CN" altLang="en-US" sz="1333">
                <a:highlight>
                  <a:srgbClr val="FFFF00"/>
                </a:highlight>
              </a:rPr>
              <a:t>高校合作方</a:t>
            </a:r>
            <a:r>
              <a:rPr lang="zh-CN" altLang="en-US" sz="1333"/>
              <a:t>：提供学号认证接口、线下场地（验货点、展位）及政策支持。</a:t>
            </a:r>
          </a:p>
          <a:p>
            <a:endParaRPr lang="zh-CN" altLang="en-US" sz="1333"/>
          </a:p>
          <a:p>
            <a:r>
              <a:rPr lang="zh-CN" altLang="en-US" sz="1333">
                <a:highlight>
                  <a:srgbClr val="FFFF00"/>
                </a:highlight>
              </a:rPr>
              <a:t>技术供应商</a:t>
            </a:r>
            <a:r>
              <a:rPr lang="zh-CN" altLang="en-US" sz="1333"/>
              <a:t>：云服务厂商（阿里云</a:t>
            </a:r>
            <a:r>
              <a:rPr lang="en-US" altLang="zh-CN" sz="1333"/>
              <a:t> / </a:t>
            </a:r>
            <a:r>
              <a:rPr lang="zh-CN" altLang="en-US" sz="1333"/>
              <a:t>腾讯云提供服务器）、物流平台（美团闪送</a:t>
            </a:r>
            <a:r>
              <a:rPr lang="en-US" altLang="zh-CN" sz="1333"/>
              <a:t> / </a:t>
            </a:r>
            <a:r>
              <a:rPr lang="zh-CN" altLang="en-US" sz="1333"/>
              <a:t>顺丰支持中远程配送）。</a:t>
            </a:r>
          </a:p>
          <a:p>
            <a:endParaRPr lang="zh-CN" altLang="en-US" sz="1333"/>
          </a:p>
          <a:p>
            <a:r>
              <a:rPr lang="zh-CN" altLang="en-US" sz="1333">
                <a:highlight>
                  <a:srgbClr val="FFFF00"/>
                </a:highlight>
              </a:rPr>
              <a:t>校园推广团队</a:t>
            </a:r>
            <a:r>
              <a:rPr lang="zh-CN" altLang="en-US" sz="1333"/>
              <a:t>：学生兼职团队负责地推、社群运营及口碑传播。</a:t>
            </a:r>
          </a:p>
        </p:txBody>
      </p:sp>
      <p:sp>
        <p:nvSpPr>
          <p:cNvPr id="67" name="文本框 66"/>
          <p:cNvSpPr txBox="1"/>
          <p:nvPr userDrawn="1"/>
        </p:nvSpPr>
        <p:spPr>
          <a:xfrm>
            <a:off x="1942986" y="5081088"/>
            <a:ext cx="4036778" cy="1353397"/>
          </a:xfrm>
          <a:prstGeom prst="rect">
            <a:avLst/>
          </a:prstGeom>
        </p:spPr>
        <p:txBody>
          <a:bodyPr wrap="square" rtlCol="0">
            <a:noAutofit/>
          </a:bodyPr>
          <a:lstStyle/>
          <a:p>
            <a:r>
              <a:rPr lang="zh-CN" altLang="en-US" sz="1333">
                <a:highlight>
                  <a:srgbClr val="FFFF00"/>
                </a:highlight>
              </a:rPr>
              <a:t>固定成本</a:t>
            </a:r>
            <a:r>
              <a:rPr lang="zh-CN" altLang="en-US" sz="1333"/>
              <a:t>：平台开发（</a:t>
            </a:r>
            <a:r>
              <a:rPr lang="en-US" altLang="zh-CN" sz="1333"/>
              <a:t>5 </a:t>
            </a:r>
            <a:r>
              <a:rPr lang="zh-CN" altLang="en-US" sz="1333"/>
              <a:t>万元）、服务器租赁（约</a:t>
            </a:r>
            <a:r>
              <a:rPr lang="en-US" altLang="zh-CN" sz="1333"/>
              <a:t> 2000 </a:t>
            </a:r>
            <a:r>
              <a:rPr lang="zh-CN" altLang="en-US" sz="1333"/>
              <a:t>元</a:t>
            </a:r>
            <a:r>
              <a:rPr lang="en-US" altLang="zh-CN" sz="1333"/>
              <a:t> / </a:t>
            </a:r>
            <a:r>
              <a:rPr lang="zh-CN" altLang="en-US" sz="1333"/>
              <a:t>月）、办公场地租赁。</a:t>
            </a:r>
          </a:p>
          <a:p>
            <a:endParaRPr lang="zh-CN" altLang="en-US" sz="1333"/>
          </a:p>
          <a:p>
            <a:r>
              <a:rPr lang="zh-CN" altLang="en-US" sz="1333">
                <a:highlight>
                  <a:srgbClr val="FFFF00"/>
                </a:highlight>
              </a:rPr>
              <a:t>变动成本</a:t>
            </a:r>
            <a:r>
              <a:rPr lang="zh-CN" altLang="en-US" sz="1333"/>
              <a:t>：线下推广费用（如展位布置、物料制作，约</a:t>
            </a:r>
            <a:r>
              <a:rPr lang="en-US" altLang="zh-CN" sz="1333"/>
              <a:t> 1000 </a:t>
            </a:r>
            <a:r>
              <a:rPr lang="zh-CN" altLang="en-US" sz="1333"/>
              <a:t>元</a:t>
            </a:r>
            <a:r>
              <a:rPr lang="en-US" altLang="zh-CN" sz="1333"/>
              <a:t> / </a:t>
            </a:r>
            <a:r>
              <a:rPr lang="zh-CN" altLang="en-US" sz="1333"/>
              <a:t>月）、运营人力成本（客服、技术维护）、物流补贴（众包配送佣金）。</a:t>
            </a:r>
          </a:p>
        </p:txBody>
      </p:sp>
      <p:sp>
        <p:nvSpPr>
          <p:cNvPr id="68" name="文本框 67"/>
          <p:cNvSpPr txBox="1"/>
          <p:nvPr userDrawn="1"/>
        </p:nvSpPr>
        <p:spPr>
          <a:xfrm>
            <a:off x="3509250" y="2951850"/>
            <a:ext cx="1807039" cy="1866477"/>
          </a:xfrm>
          <a:prstGeom prst="rect">
            <a:avLst/>
          </a:prstGeom>
        </p:spPr>
        <p:txBody>
          <a:bodyPr wrap="square" rtlCol="0">
            <a:noAutofit/>
          </a:bodyPr>
          <a:lstStyle/>
          <a:p>
            <a:r>
              <a:rPr lang="zh-CN" altLang="en-US" sz="1067">
                <a:highlight>
                  <a:srgbClr val="FFFF00"/>
                </a:highlight>
              </a:rPr>
              <a:t>技术资源</a:t>
            </a:r>
            <a:r>
              <a:rPr lang="zh-CN" altLang="en-US" sz="1067"/>
              <a:t>：前后端分离架构、智能匹配算法、信用评分系统、低碳积分体系。</a:t>
            </a:r>
          </a:p>
          <a:p>
            <a:r>
              <a:rPr lang="zh-CN" altLang="en-US" sz="1067">
                <a:highlight>
                  <a:srgbClr val="FFFF00"/>
                </a:highlight>
              </a:rPr>
              <a:t>校园资源</a:t>
            </a:r>
            <a:r>
              <a:rPr lang="zh-CN" altLang="en-US" sz="1067"/>
              <a:t>：高校合作关系（支持学号认证、线下验货点部署）、学生团队（校园推广与配送众包）。</a:t>
            </a:r>
          </a:p>
          <a:p>
            <a:r>
              <a:rPr lang="zh-CN" altLang="en-US" sz="1067">
                <a:highlight>
                  <a:srgbClr val="FFFF00"/>
                </a:highlight>
              </a:rPr>
              <a:t>数据资源</a:t>
            </a:r>
            <a:r>
              <a:rPr lang="zh-CN" altLang="en-US" sz="1067"/>
              <a:t>：用户交易行为数据（优化推荐逻辑）、高校课程信息（教材匹配）。</a:t>
            </a:r>
          </a:p>
        </p:txBody>
      </p:sp>
      <p:sp>
        <p:nvSpPr>
          <p:cNvPr id="69" name="文本框 68"/>
          <p:cNvSpPr txBox="1"/>
          <p:nvPr userDrawn="1"/>
        </p:nvSpPr>
        <p:spPr>
          <a:xfrm>
            <a:off x="6909702" y="4985950"/>
            <a:ext cx="4005076" cy="1714713"/>
          </a:xfrm>
          <a:prstGeom prst="rect">
            <a:avLst/>
          </a:prstGeom>
        </p:spPr>
        <p:txBody>
          <a:bodyPr wrap="square" rtlCol="0">
            <a:noAutofit/>
          </a:bodyPr>
          <a:lstStyle/>
          <a:p>
            <a:r>
              <a:rPr lang="zh-CN" altLang="en-US" sz="1333">
                <a:highlight>
                  <a:srgbClr val="FFFF00"/>
                </a:highlight>
              </a:rPr>
              <a:t>交易佣金</a:t>
            </a:r>
            <a:r>
              <a:rPr lang="zh-CN" altLang="en-US" sz="1333"/>
              <a:t>：对单价</a:t>
            </a:r>
            <a:r>
              <a:rPr lang="en-US" altLang="zh-CN" sz="1333"/>
              <a:t> &gt; 50 </a:t>
            </a:r>
            <a:r>
              <a:rPr lang="zh-CN" altLang="en-US" sz="1333"/>
              <a:t>元的订单收取</a:t>
            </a:r>
            <a:r>
              <a:rPr lang="en-US" altLang="zh-CN" sz="1333"/>
              <a:t> 5% </a:t>
            </a:r>
            <a:r>
              <a:rPr lang="zh-CN" altLang="en-US" sz="1333"/>
              <a:t>佣金，代卖服务抽成</a:t>
            </a:r>
            <a:r>
              <a:rPr lang="en-US" altLang="zh-CN" sz="1333"/>
              <a:t> 10%</a:t>
            </a:r>
            <a:r>
              <a:rPr lang="zh-CN" altLang="en-US" sz="1333"/>
              <a:t>。</a:t>
            </a:r>
          </a:p>
          <a:p>
            <a:endParaRPr lang="zh-CN" altLang="en-US" sz="1333"/>
          </a:p>
          <a:p>
            <a:r>
              <a:rPr lang="zh-CN" altLang="en-US" sz="1333">
                <a:highlight>
                  <a:srgbClr val="FFFF00"/>
                </a:highlight>
              </a:rPr>
              <a:t>广告收入</a:t>
            </a:r>
            <a:r>
              <a:rPr lang="zh-CN" altLang="en-US" sz="1333"/>
              <a:t>：校内商家（如打印店、奶茶店）付费投放</a:t>
            </a:r>
            <a:r>
              <a:rPr lang="en-US" altLang="zh-CN" sz="1333"/>
              <a:t> banner </a:t>
            </a:r>
            <a:r>
              <a:rPr lang="zh-CN" altLang="en-US" sz="1333"/>
              <a:t>广告或促销信息。</a:t>
            </a:r>
          </a:p>
          <a:p>
            <a:endParaRPr lang="zh-CN" altLang="en-US" sz="1333"/>
          </a:p>
          <a:p>
            <a:r>
              <a:rPr lang="zh-CN" altLang="en-US" sz="1333">
                <a:highlight>
                  <a:srgbClr val="FFFF00"/>
                </a:highlight>
              </a:rPr>
              <a:t>增值服务</a:t>
            </a:r>
            <a:r>
              <a:rPr lang="zh-CN" altLang="en-US" sz="1333"/>
              <a:t>：卖家</a:t>
            </a:r>
            <a:r>
              <a:rPr lang="en-US" altLang="zh-CN" sz="1333"/>
              <a:t> VIP </a:t>
            </a:r>
            <a:r>
              <a:rPr lang="zh-CN" altLang="en-US" sz="1333"/>
              <a:t>推广（商品优先展示）、与品牌合作的定向营销活动。</a:t>
            </a:r>
          </a:p>
        </p:txBody>
      </p:sp>
      <p:sp>
        <p:nvSpPr>
          <p:cNvPr id="11" name="圆角矩形 10"/>
          <p:cNvSpPr/>
          <p:nvPr userDrawn="1"/>
        </p:nvSpPr>
        <p:spPr>
          <a:xfrm>
            <a:off x="368431" y="220046"/>
            <a:ext cx="676319" cy="2133333"/>
          </a:xfrm>
          <a:prstGeom prst="roundRect">
            <a:avLst/>
          </a:prstGeom>
          <a:solidFill>
            <a:srgbClr val="9DC3E6">
              <a:alpha val="100000"/>
            </a:srgbClr>
          </a:solidFill>
          <a:ln w="25400" cap="flat" cmpd="sng" algn="ctr">
            <a:solidFill>
              <a:srgbClr val="AEB5C0">
                <a:alpha val="100000"/>
              </a:srgb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sz="1200">
              <a:solidFill>
                <a:srgbClr val="000000"/>
              </a:solidFill>
            </a:endParaRPr>
          </a:p>
        </p:txBody>
      </p:sp>
      <p:sp>
        <p:nvSpPr>
          <p:cNvPr id="12" name="文本框 11"/>
          <p:cNvSpPr txBox="1"/>
          <p:nvPr userDrawn="1"/>
        </p:nvSpPr>
        <p:spPr>
          <a:xfrm>
            <a:off x="415683" y="436649"/>
            <a:ext cx="512897" cy="2039524"/>
          </a:xfrm>
          <a:prstGeom prst="rect">
            <a:avLst/>
          </a:prstGeom>
        </p:spPr>
        <p:txBody>
          <a:bodyPr vert="eaVert" wrap="square" rtlCol="0">
            <a:spAutoFit/>
          </a:bodyPr>
          <a:lstStyle/>
          <a:p>
            <a:r>
              <a:rPr lang="zh-CN" altLang="en-US" sz="2133">
                <a:solidFill>
                  <a:srgbClr val="1F4E79"/>
                </a:solidFill>
              </a:rPr>
              <a:t>商业</a:t>
            </a:r>
            <a:r>
              <a:rPr lang="zh-CN" altLang="en-US" sz="2133">
                <a:solidFill>
                  <a:srgbClr val="1F4E79"/>
                </a:solidFill>
                <a:cs typeface="Arial" panose="020B0604020202020204" pitchFamily="34" charset="0"/>
              </a:rPr>
              <a:t>模式画布</a:t>
            </a:r>
            <a:endParaRPr lang="zh-CN" altLang="en-US" sz="2133">
              <a:solidFill>
                <a:srgbClr val="1F4E7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4663623" cy="3749039"/>
            <a:chOff x="0" y="0"/>
            <a:chExt cx="1842419" cy="1481102"/>
          </a:xfrm>
        </p:grpSpPr>
        <p:sp>
          <p:nvSpPr>
            <p:cNvPr id="3" name="Freeform 3"/>
            <p:cNvSpPr/>
            <p:nvPr/>
          </p:nvSpPr>
          <p:spPr>
            <a:xfrm>
              <a:off x="0" y="0"/>
              <a:ext cx="1842419" cy="1481102"/>
            </a:xfrm>
            <a:custGeom>
              <a:avLst/>
              <a:gdLst/>
              <a:ahLst/>
              <a:cxnLst/>
              <a:rect l="l" t="t" r="r" b="b"/>
              <a:pathLst>
                <a:path w="1842419" h="1481102">
                  <a:moveTo>
                    <a:pt x="0" y="0"/>
                  </a:moveTo>
                  <a:lnTo>
                    <a:pt x="1842419" y="0"/>
                  </a:lnTo>
                  <a:lnTo>
                    <a:pt x="1842419" y="1481102"/>
                  </a:lnTo>
                  <a:lnTo>
                    <a:pt x="0" y="1481102"/>
                  </a:lnTo>
                  <a:close/>
                </a:path>
              </a:pathLst>
            </a:custGeom>
            <a:solidFill>
              <a:srgbClr val="839BB2"/>
            </a:solidFill>
          </p:spPr>
        </p:sp>
        <p:sp>
          <p:nvSpPr>
            <p:cNvPr id="4" name="TextBox 4"/>
            <p:cNvSpPr txBox="1"/>
            <p:nvPr/>
          </p:nvSpPr>
          <p:spPr>
            <a:xfrm>
              <a:off x="0" y="-38100"/>
              <a:ext cx="1842419" cy="1519202"/>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5" name="Group 5"/>
          <p:cNvGrpSpPr/>
          <p:nvPr/>
        </p:nvGrpSpPr>
        <p:grpSpPr>
          <a:xfrm>
            <a:off x="800383" y="746483"/>
            <a:ext cx="10591235" cy="5365035"/>
            <a:chOff x="0" y="0"/>
            <a:chExt cx="4184191" cy="2119520"/>
          </a:xfrm>
        </p:grpSpPr>
        <p:sp>
          <p:nvSpPr>
            <p:cNvPr id="6" name="Freeform 6"/>
            <p:cNvSpPr/>
            <p:nvPr/>
          </p:nvSpPr>
          <p:spPr>
            <a:xfrm>
              <a:off x="0" y="0"/>
              <a:ext cx="4184192" cy="2119520"/>
            </a:xfrm>
            <a:custGeom>
              <a:avLst/>
              <a:gdLst/>
              <a:ahLst/>
              <a:cxnLst/>
              <a:rect l="l" t="t" r="r" b="b"/>
              <a:pathLst>
                <a:path w="4184192" h="2119520">
                  <a:moveTo>
                    <a:pt x="0" y="0"/>
                  </a:moveTo>
                  <a:lnTo>
                    <a:pt x="4184192" y="0"/>
                  </a:lnTo>
                  <a:lnTo>
                    <a:pt x="4184192" y="2119520"/>
                  </a:lnTo>
                  <a:lnTo>
                    <a:pt x="0" y="2119520"/>
                  </a:lnTo>
                  <a:close/>
                </a:path>
              </a:pathLst>
            </a:custGeom>
            <a:solidFill>
              <a:srgbClr val="E6E6E6"/>
            </a:solidFill>
          </p:spPr>
        </p:sp>
        <p:sp>
          <p:nvSpPr>
            <p:cNvPr id="7" name="TextBox 7"/>
            <p:cNvSpPr txBox="1"/>
            <p:nvPr/>
          </p:nvSpPr>
          <p:spPr>
            <a:xfrm>
              <a:off x="0" y="-38100"/>
              <a:ext cx="4184191" cy="2157620"/>
            </a:xfrm>
            <a:prstGeom prst="rect">
              <a:avLst/>
            </a:prstGeom>
          </p:spPr>
          <p:txBody>
            <a:bodyPr lIns="33867" tIns="33867" rIns="33867" bIns="33867" rtlCol="0" anchor="ctr"/>
            <a:lstStyle/>
            <a:p>
              <a:pPr algn="ctr">
                <a:lnSpc>
                  <a:spcPts val="1773"/>
                </a:lnSpc>
                <a:spcBef>
                  <a:spcPct val="0"/>
                </a:spcBef>
              </a:pPr>
              <a:endParaRPr sz="1200"/>
            </a:p>
          </p:txBody>
        </p:sp>
      </p:grpSp>
      <p:sp>
        <p:nvSpPr>
          <p:cNvPr id="12" name="Freeform 12"/>
          <p:cNvSpPr/>
          <p:nvPr/>
        </p:nvSpPr>
        <p:spPr>
          <a:xfrm>
            <a:off x="5152944" y="4207113"/>
            <a:ext cx="2352040" cy="487680"/>
          </a:xfrm>
          <a:custGeom>
            <a:avLst/>
            <a:gdLst/>
            <a:ahLst/>
            <a:cxnLst/>
            <a:rect l="l" t="t" r="r" b="b"/>
            <a:pathLst>
              <a:path w="929288" h="192710">
                <a:moveTo>
                  <a:pt x="0" y="0"/>
                </a:moveTo>
                <a:lnTo>
                  <a:pt x="929288" y="0"/>
                </a:lnTo>
                <a:lnTo>
                  <a:pt x="929288" y="192710"/>
                </a:lnTo>
                <a:lnTo>
                  <a:pt x="0" y="192710"/>
                </a:lnTo>
                <a:close/>
              </a:path>
            </a:pathLst>
          </a:custGeom>
          <a:solidFill>
            <a:srgbClr val="839BB2"/>
          </a:solidFill>
          <a:ln cap="sq">
            <a:noFill/>
            <a:prstDash val="solid"/>
            <a:miter/>
          </a:ln>
        </p:spPr>
      </p:sp>
      <p:grpSp>
        <p:nvGrpSpPr>
          <p:cNvPr id="14" name="Group 14"/>
          <p:cNvGrpSpPr/>
          <p:nvPr/>
        </p:nvGrpSpPr>
        <p:grpSpPr>
          <a:xfrm>
            <a:off x="10471553" y="5701432"/>
            <a:ext cx="1720447" cy="1156568"/>
            <a:chOff x="0" y="0"/>
            <a:chExt cx="679683" cy="456916"/>
          </a:xfrm>
        </p:grpSpPr>
        <p:sp>
          <p:nvSpPr>
            <p:cNvPr id="15" name="Freeform 15"/>
            <p:cNvSpPr/>
            <p:nvPr/>
          </p:nvSpPr>
          <p:spPr>
            <a:xfrm>
              <a:off x="0" y="0"/>
              <a:ext cx="679683" cy="456916"/>
            </a:xfrm>
            <a:custGeom>
              <a:avLst/>
              <a:gdLst/>
              <a:ahLst/>
              <a:cxnLst/>
              <a:rect l="l" t="t" r="r" b="b"/>
              <a:pathLst>
                <a:path w="679683" h="456916">
                  <a:moveTo>
                    <a:pt x="0" y="0"/>
                  </a:moveTo>
                  <a:lnTo>
                    <a:pt x="679683" y="0"/>
                  </a:lnTo>
                  <a:lnTo>
                    <a:pt x="679683" y="456916"/>
                  </a:lnTo>
                  <a:lnTo>
                    <a:pt x="0" y="456916"/>
                  </a:lnTo>
                  <a:close/>
                </a:path>
              </a:pathLst>
            </a:custGeom>
            <a:solidFill>
              <a:srgbClr val="839BB2"/>
            </a:solidFill>
          </p:spPr>
        </p:sp>
        <p:sp>
          <p:nvSpPr>
            <p:cNvPr id="16" name="TextBox 16"/>
            <p:cNvSpPr txBox="1"/>
            <p:nvPr/>
          </p:nvSpPr>
          <p:spPr>
            <a:xfrm>
              <a:off x="0" y="-38100"/>
              <a:ext cx="679683" cy="495016"/>
            </a:xfrm>
            <a:prstGeom prst="rect">
              <a:avLst/>
            </a:prstGeom>
          </p:spPr>
          <p:txBody>
            <a:bodyPr lIns="33867" tIns="33867" rIns="33867" bIns="33867" rtlCol="0" anchor="ctr"/>
            <a:lstStyle/>
            <a:p>
              <a:pPr algn="ctr">
                <a:lnSpc>
                  <a:spcPts val="1773"/>
                </a:lnSpc>
                <a:spcBef>
                  <a:spcPct val="0"/>
                </a:spcBef>
              </a:pPr>
              <a:endParaRPr sz="1200"/>
            </a:p>
          </p:txBody>
        </p:sp>
      </p:grpSp>
      <p:sp>
        <p:nvSpPr>
          <p:cNvPr id="23" name="TextBox 23"/>
          <p:cNvSpPr txBox="1"/>
          <p:nvPr/>
        </p:nvSpPr>
        <p:spPr>
          <a:xfrm>
            <a:off x="5901247" y="4207127"/>
            <a:ext cx="1603779" cy="330347"/>
          </a:xfrm>
          <a:prstGeom prst="rect">
            <a:avLst/>
          </a:prstGeom>
        </p:spPr>
        <p:txBody>
          <a:bodyPr lIns="0" tIns="0" rIns="0" bIns="0" rtlCol="0" anchor="t">
            <a:spAutoFit/>
          </a:bodyPr>
          <a:lstStyle/>
          <a:p>
            <a:pPr>
              <a:lnSpc>
                <a:spcPts val="2800"/>
              </a:lnSpc>
            </a:pPr>
            <a:r>
              <a:rPr lang="zh-CN" altLang="en-US" sz="20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第</a:t>
            </a:r>
            <a:r>
              <a:rPr lang="en-US" altLang="zh-CN" sz="20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14</a:t>
            </a:r>
            <a:r>
              <a:rPr lang="zh-CN" altLang="en-US" sz="20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rPr>
              <a:t>组</a:t>
            </a:r>
            <a:endParaRPr lang="en-US" sz="2000">
              <a:solidFill>
                <a:srgbClr val="FFFFFF"/>
              </a:solidFill>
              <a:latin typeface="思源黑体 1" panose="020B0500000000000000" charset="-122"/>
              <a:ea typeface="思源黑体 1" panose="020B0500000000000000" charset="-122"/>
              <a:cs typeface="思源黑体 1" panose="020B0500000000000000" charset="-122"/>
              <a:sym typeface="思源黑体 1" panose="020B0500000000000000" charset="-122"/>
            </a:endParaRPr>
          </a:p>
        </p:txBody>
      </p:sp>
      <p:sp>
        <p:nvSpPr>
          <p:cNvPr id="24" name="TextBox 24"/>
          <p:cNvSpPr txBox="1"/>
          <p:nvPr/>
        </p:nvSpPr>
        <p:spPr>
          <a:xfrm>
            <a:off x="1426887" y="2296435"/>
            <a:ext cx="9338227" cy="1250792"/>
          </a:xfrm>
          <a:prstGeom prst="rect">
            <a:avLst/>
          </a:prstGeom>
        </p:spPr>
        <p:txBody>
          <a:bodyPr lIns="0" tIns="0" rIns="0" bIns="0" rtlCol="0" anchor="t">
            <a:spAutoFit/>
          </a:bodyPr>
          <a:lstStyle/>
          <a:p>
            <a:pPr algn="ctr">
              <a:lnSpc>
                <a:spcPts val="11201"/>
              </a:lnSpc>
              <a:spcBef>
                <a:spcPct val="0"/>
              </a:spcBef>
            </a:pPr>
            <a:r>
              <a:rPr lang="en-US" sz="8000" spc="479">
                <a:solidFill>
                  <a:srgbClr val="374756"/>
                </a:solidFill>
                <a:latin typeface="字由点字倔强黑" panose="00020600040101010101" charset="-122"/>
                <a:ea typeface="字由点字倔强黑" panose="00020600040101010101" charset="-122"/>
                <a:cs typeface="字由点字倔强黑" panose="00020600040101010101" charset="-122"/>
                <a:sym typeface="字由点字倔强黑" panose="00020600040101010101" charset="-122"/>
              </a:rPr>
              <a:t>非常感谢您的观看</a:t>
            </a:r>
          </a:p>
        </p:txBody>
      </p:sp>
      <p:sp>
        <p:nvSpPr>
          <p:cNvPr id="26" name="TextBox 26"/>
          <p:cNvSpPr txBox="1"/>
          <p:nvPr/>
        </p:nvSpPr>
        <p:spPr>
          <a:xfrm>
            <a:off x="2407474" y="3638130"/>
            <a:ext cx="7377052" cy="421526"/>
          </a:xfrm>
          <a:prstGeom prst="rect">
            <a:avLst/>
          </a:prstGeom>
        </p:spPr>
        <p:txBody>
          <a:bodyPr lIns="0" tIns="0" rIns="0" bIns="0" rtlCol="0" anchor="t">
            <a:spAutoFit/>
          </a:bodyPr>
          <a:lstStyle/>
          <a:p>
            <a:pPr algn="ctr">
              <a:lnSpc>
                <a:spcPts val="3510"/>
              </a:lnSpc>
              <a:spcBef>
                <a:spcPct val="0"/>
              </a:spcBef>
            </a:pPr>
            <a:r>
              <a:rPr lang="en-US" sz="2507" b="1" spc="150">
                <a:solidFill>
                  <a:srgbClr val="374756">
                    <a:alpha val="64706"/>
                  </a:srgbClr>
                </a:solidFill>
                <a:latin typeface="Agrandir Medium" panose="00000600000000000000"/>
                <a:ea typeface="Agrandir Medium" panose="00000600000000000000"/>
                <a:cs typeface="Agrandir Medium" panose="00000600000000000000"/>
                <a:sym typeface="Agrandir Medium" panose="00000600000000000000"/>
              </a:rPr>
              <a:t>THANK YOU SO MUCH FOR WATCHING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950130ec-93db-49a0-95f3-ada8eea92594"/>
  <p:tag name="COMMONDATA" val="eyJoZGlkIjoiZmUzOGI0MmY3OTMxZDc4NWE4NDhjNDZhYTEwZDQ0Zm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38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38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5385"/>
  <p:tag name="KSO_WM_TEMPLATE_SUBCATEGORY" val="0"/>
  <p:tag name="KSO_WM_TEMPLATE_MASTER_TYPE" val="1"/>
  <p:tag name="KSO_WM_TEMPLATE_COLOR_TYPE" val="1"/>
  <p:tag name="KSO_WM_TEMPLATE_MASTER_THUMB_INDEX" val="12"/>
  <p:tag name="KSO_WM_TEMPLATE_THUMBS_INDEX" val="1、4、7、9、11、12、14、15、16、17、20、24、29、32、33、34"/>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general"/>
  <p:tag name="KSO_WM_SLIDE_BK_DARK_LIGHT" val="2"/>
  <p:tag name="KSO_WM_UNIT_HIGHLIGHT" val="0"/>
  <p:tag name="KSO_WM_UNIT_COMPATIBLE" val="0"/>
  <p:tag name="KSO_WM_UNIT_DIAGRAM_ISNUMVISUAL" val="0"/>
  <p:tag name="KSO_WM_UNIT_DIAGRAM_ISREFERUNIT" val="0"/>
  <p:tag name="KSO_WM_UNIT_INDEX" val="1"/>
  <p:tag name="KSO_WM_UNIT_ID" val="_12*i*1"/>
  <p:tag name="KSO_WM_UNIT_BK_DARK_LIGHT" val="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BK_DARK_LIGHT" val="2"/>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2"/>
  <p:tag name="KSO_WM_UNIT_ID" val="_14*i*2"/>
  <p:tag name="KSO_WM_UNIT_BK_DARK_LIGHT" val="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BK_DARK_LIGHT" val="2"/>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2"/>
  <p:tag name="KSO_WM_UNIT_ID" val="_15*i*2"/>
  <p:tag name="KSO_WM_UNIT_BK_DARK_LIGHT" val="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BK_DARK_LIGHT" val="2"/>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2"/>
  <p:tag name="KSO_WM_UNIT_ID" val="_16*i*2"/>
  <p:tag name="KSO_WM_UNIT_BK_DARK_LIGHT" val="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BK_DARK_LIGHT" val="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2"/>
  <p:tag name="KSO_WM_UNIT_ID" val="_17*i*2"/>
  <p:tag name="KSO_WM_UNIT_BK_DARK_LIGHT" val="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4.xml><?xml version="1.0" encoding="utf-8"?>
<p:tagLst xmlns:a="http://schemas.openxmlformats.org/drawingml/2006/main" xmlns:r="http://schemas.openxmlformats.org/officeDocument/2006/relationships" xmlns:p="http://schemas.openxmlformats.org/presentationml/2006/main">
  <p:tag name="KSO_WM_SLIDE_ID" val="custom2020538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5385"/>
  <p:tag name="KSO_WM_SLIDE_LAYOUT" val="a_b"/>
  <p:tag name="KSO_WM_SLIDE_LAYOUT_CNT" val="1_1"/>
  <p:tag name="KSO_WM_UNIT_SHOW_EDIT_AREA_INDICATION" val="1"/>
  <p:tag name="KSO_WM_TEMPLATE_THUMBS_INDEX" val="1、4、7、9、11、12、14、15、16、17、20、24、29、32、33、34"/>
  <p:tag name="KSO_WM_TEMPLATE_MASTER_THUMB_INDEX" val="12"/>
</p:tagLst>
</file>

<file path=ppt/tags/tag14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LAYERLEVEL" val="1"/>
  <p:tag name="KSO_WM_TAG_VERSION" val="1.0"/>
  <p:tag name="KSO_WM_BEAUTIFY_FLAG" val="#wm#"/>
  <p:tag name="KSO_WM_UNIT_PRESET_TEXT" val="单击此处添加副标题内容"/>
  <p:tag name="KSO_WM_TEMPLATE_CATEGORY" val="custom"/>
  <p:tag name="KSO_WM_TEMPLATE_INDEX" val="20205385"/>
  <p:tag name="KSO_WM_UNIT_ID" val="custom20205385_1*b*1"/>
  <p:tag name="KSO_WM_UNIT_ISNUMDGMTITLE" val="0"/>
  <p:tag name="KSO_WM_UNIT_TEXT_FILL_FORE_SCHEMECOLOR_INDEX_BRIGHTNESS" val="0"/>
  <p:tag name="KSO_WM_UNIT_TEXT_FILL_FORE_SCHEMECOLOR_INDEX" val="14"/>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简约工作汇报"/>
  <p:tag name="KSO_WM_TEMPLATE_CATEGORY" val="custom"/>
  <p:tag name="KSO_WM_TEMPLATE_INDEX" val="20205385"/>
  <p:tag name="KSO_WM_UNIT_ID" val="custom20205385_1*a*1"/>
  <p:tag name="KSO_WM_UNIT_ISNUMDGMTITLE" val="0"/>
  <p:tag name="KSO_WM_UNIT_TEXT_FILL_FORE_SCHEMECOLOR_INDEX_BRIGHTNESS" val="0"/>
  <p:tag name="KSO_WM_UNIT_TEXT_FILL_FORE_SCHEMECOLOR_INDEX" val="14"/>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2.xml><?xml version="1.0" encoding="utf-8"?>
<p:tagLst xmlns:a="http://schemas.openxmlformats.org/drawingml/2006/main" xmlns:r="http://schemas.openxmlformats.org/officeDocument/2006/relationships" xmlns:p="http://schemas.openxmlformats.org/presentationml/2006/main">
  <p:tag name="KSO_WM_UNIT_TABLE_BEAUTIFY" val="smartTable{ddeffa11-9509-4ef4-a7d1-fa3903da785e}"/>
  <p:tag name="TABLE_ENDDRAG_ORIGIN_RECT" val="615*116"/>
  <p:tag name="TABLE_ENDDRAG_RECT" val="166*312*615*116"/>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385"/>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542.5861417322834,&quot;left&quot;:180.09889763779526,&quot;top&quot;:142.01889763779528,&quot;width&quot;:1110.0945669291339}"/>
</p:tagLst>
</file>

<file path=ppt/theme/theme1.xml><?xml version="1.0" encoding="utf-8"?>
<a:theme xmlns:a="http://schemas.openxmlformats.org/drawingml/2006/main" name="1_Office 主题​​">
  <a:themeElements>
    <a:clrScheme name="">
      <a:dk1>
        <a:srgbClr val="000000"/>
      </a:dk1>
      <a:lt1>
        <a:srgbClr val="FFFFFF"/>
      </a:lt1>
      <a:dk2>
        <a:srgbClr val="F7FFFE"/>
      </a:dk2>
      <a:lt2>
        <a:srgbClr val="FFFFFF"/>
      </a:lt2>
      <a:accent1>
        <a:srgbClr val="4FABC3"/>
      </a:accent1>
      <a:accent2>
        <a:srgbClr val="6699BE"/>
      </a:accent2>
      <a:accent3>
        <a:srgbClr val="7D86B9"/>
      </a:accent3>
      <a:accent4>
        <a:srgbClr val="9574B5"/>
      </a:accent4>
      <a:accent5>
        <a:srgbClr val="AC61B0"/>
      </a:accent5>
      <a:accent6>
        <a:srgbClr val="C34FAB"/>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4029</Words>
  <Application>Microsoft Office PowerPoint</Application>
  <PresentationFormat>宽屏</PresentationFormat>
  <Paragraphs>344</Paragraphs>
  <Slides>34</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Agrandir</vt:lpstr>
      <vt:lpstr>Agrandir Bold</vt:lpstr>
      <vt:lpstr>Agrandir Medium</vt:lpstr>
      <vt:lpstr>方正公文小标宋</vt:lpstr>
      <vt:lpstr>黑体</vt:lpstr>
      <vt:lpstr>思源黑体 1</vt:lpstr>
      <vt:lpstr>思源黑体 2</vt:lpstr>
      <vt:lpstr>思源黑体 2 Bold</vt:lpstr>
      <vt:lpstr>微软雅黑</vt:lpstr>
      <vt:lpstr>字由点字倔强黑</vt:lpstr>
      <vt:lpstr>Arial</vt:lpstr>
      <vt:lpstr>Calibri</vt:lpstr>
      <vt:lpstr>1_Office 主题​​</vt:lpstr>
      <vt:lpstr>专注高校场景的C2C闲置交易平台</vt:lpstr>
      <vt:lpstr>平台概述</vt:lpstr>
      <vt:lpstr>PowerPoint 演示文稿</vt:lpstr>
      <vt:lpstr>PowerPoint 演示文稿</vt:lpstr>
      <vt:lpstr>平台特点</vt:lpstr>
      <vt:lpstr>PowerPoint 演示文稿</vt:lpstr>
      <vt:lpstr>PowerPoint 演示文稿</vt:lpstr>
      <vt:lpstr>技术实现</vt:lpstr>
      <vt:lpstr>PowerPoint 演示文稿</vt:lpstr>
      <vt:lpstr>竞争对手</vt:lpstr>
      <vt:lpstr>机会和市场</vt:lpstr>
      <vt:lpstr>竞争对手</vt:lpstr>
      <vt:lpstr>市场营销</vt:lpstr>
      <vt:lpstr>基本盈利</vt:lpstr>
      <vt:lpstr>营销策略</vt:lpstr>
      <vt:lpstr>团队介绍</vt:lpstr>
      <vt:lpstr>PowerPoint 演示文稿</vt:lpstr>
      <vt:lpstr>PowerPoint 演示文稿</vt:lpstr>
      <vt:lpstr>PowerPoint 演示文稿</vt:lpstr>
      <vt:lpstr>感谢！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何泽辉</dc:creator>
  <cp:lastModifiedBy>泽辉</cp:lastModifiedBy>
  <cp:revision>239</cp:revision>
  <dcterms:created xsi:type="dcterms:W3CDTF">2019-06-19T02:08:00Z</dcterms:created>
  <dcterms:modified xsi:type="dcterms:W3CDTF">2026-03-19T08:13:12Z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DD12F89B9D2D43EE9833F62BCC88392E_12</vt:lpwstr>
  </property>
</Properties>
</file>